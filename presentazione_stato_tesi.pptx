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Immagine reale del dataset sintetico finale curiosity_wheel_hole_v1_10000, 1200×900. Nessun crop o deformazione nella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Sintesi della pipeline. Segmentazione e anomaly detection restano progetti software distinti.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Fonti: dataset card https://huggingface.co/datasets/Mirali33/mb-s5mars e paper S5Mars https://arxiv.org/abs/2207.01200. Il paper originale riporta 6.000 immagini, split 5.000/200/800; la versione Mars-Bench/Hugging Face usata nella tesi contiene 4.997/200/800 immagini e unisce Soil+Sand.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scelta dell’architettura è trattata come ablazione a livello di modello. I run finali includono SegFormer-B0, U-Net ResNet34, DeepLabV3 ResNet34 e DeepLabV3+ MobileNetV2. U-Net MobileNetV2, LCNet3_7 e LCNet3_11 appartengono alla campagna esplorativa.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Paper S5Mars, Table III: supervised 75,04% e metodo proposto 80,15% con DeepLabV3+ ResNet50. Protocollo paper: 240 epoche, crop train 512², test center-crop 1024², RTX 3090. Risultati tesi da artefatti finali Google Drive. Non trattare i valori come una graduatoria diretta.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Risultati finali: test_metrics.json dei quattro run finali su Google Drive. Risultati esplorativi: Timeline Google Drive. LCNet3_7 e LCNet3_11 usano 60 epoche e non sono direttamente confrontabili con la campagna finale. U-Net MobileNetV2 è una prova esplorativa.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Timeline degli esperimenti. Cosa spiegare: la cross-entropy misura l’errore di classificazione pixel per pixel; la componente Dice misura la sovrapposizione tra maschera prevista e reale e aiuta sulle classi meno presenti. Alpha 0,5 assegna lo stesso peso alle due componenti. Il numero di epoche controlla la durata del training: più epoche favoriscono la convergenza ma aumentano costo e rischio di overfitting. Full fine-tuning significa aggiornare anche il backbone, invece di mantenerlo congelato. I valori sono esplorativi e arrotondati.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Timeline Google Drive e analisi modello LCNet3_7. Cosa spiegare: uniform assegna lo stesso peso alle classi presenti; simple usa l’inverso della loro area; square usa l’inverso del quadrato e aumenta ulteriormente il peso delle classi piccole. Il pretraining inizializza il backbone con feature ImageNet e facilita convergenza e generalizzazione. LCNet3_7 e LCNet3_11 cambiano la capacità della rete per misurare il compromesso tra leggerezza e accuratezza. La latenza LCNet è CPU e non è confrontabile con i benchmark T4. La configurazione square con pretraining è la scelta finale, ma il run differisce anche in altri dettagli.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Metriche validation ONNX dai run PTQ su Google Drive. Tutti i valori nella tabella sono sullo stesso split validation. I manifest dei quattro run finali riportano final_test_enabled=false; non sono disponibili metriche PTQ sul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Stime teoriche calcolate dal numero di parametri: 4 byte/peso in FP32, 2 in FP16 e 1 in INT8. I MiB indicano qui la sola memoria dei pesi, non il picco end-to-end: attivazioni, workspace e overhead non sono inclusi. PTQ INT8 e QAT INT8 hanno lo stesso costo teorico dei pesi. Gli speedup sono limiti ideali se l'inferenza è vincolata dalla banda di memoria; dipendono da hardware, operatori e runtime e non sostituiscono un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QAT test: mIoU dei test_metrics.json sul checkpoint QAT. TensorRT test: mIoU dei tensorrt_test_metrics.json sul motore INT8. Latenza TensorRT su Tesla T4, batch 1, 100 warmup e 1.000 misure per trial. FPS = 1000/latenza_ms. Le metriche sono tutte sul test e non vanno confrontate direttamente con la validation PTQ della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Esempi dal dataset finale, selezionati tramite manifest. Le immagini sono mostrate intere in rapporto 4:3, senza crop né deformazione. Campione paired pair_dr_200240.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Conteggi esatti calcolati sul manifest finale: A_overhead 4.000; C_leading_three_quarter 2.750; C_trailing_three_quarter 2.750; D_upper_detail 500. Immagini complete 1200×900, fit contain.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Crop approvati dal preprocessing ML: A_overhead [top 90, left 240, 720×720]; C_leading_three_quarter [top 0, left 148, 900×900]; C_trailing_three_quarter [top 0, left 153, 900×900]; D_upper_detail senza crop. Le immagini sorgente restano i PNG reali 1200×900 del dataset; la slide applica gli stessi crop con coordinate normalizzate.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Conteggi esatti dal manifest: mars_dusty_refined 7.500; mars_clear_refined 2.500. Immagini complete 1200×900, nessun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Conteggi esatti dal manifest: surface_current 2.000, wear_light 4.500, wear_evident 3.500. Immagini complete 1200×900, nessun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 percentuali small/medium/large sono calcolate sulle 1.250 immagini anomaly, non sulle 10.000 immagini totali. Conteggi dal manifest finale. Immagini complete 1200×900.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dataset.json e image_manifest.jsonl del dataset curiosity_wheel_hole_v1_10000. Conteggi calcolati direttamente sul manifest. Risoluzione di produzione: 1200×900.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confronto tra famiglie è parte dell’ablazione metodologica. PatchCore Light usa ResNet18; PatchCore Reference usa WideResNet50-2. TinyGLASS usa ResNet18. SuperSimpleNet usa WideResNet50-2. EfficientAD-S usa PDN-S per teacher e student, insieme a un autoencoder.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Fonti: experiment_history.md e artefatti Google Drive. Configurazioni: SuperSimpleNet Perlin 0,2 unrestricted; PatchCore reference bank 50k; TinyGLASS 512 layer3 sigma4; EfficientAD-S A_overhead crop720, global max, training fisso 70k. I protocolli e gli scope non sono perfettamente uniformi. Il test è stato consultato durante molte configurazioni e non è più un holdout incontaminato.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Valori test da experiment_history.md. Cosa spiegare: la memory bank è l’insieme di feature normali usate come riferimento. Una bank più grande copre più variazioni normali, ma aumenta memoria e costo della ricerca nearest-neighbour. Max train limita quante patch candidate vengono considerate prima della selezione del coreset. La bank 100k non migliora la Reference rispetto a 50k; Light usa ResNet18; Reference usa WideResNet50-2 e segue il preset del repository originale.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Valori test da experiment_history.md. Cosa spiegare: la risoluzione determina il dettaglio disponibile e il costo del backbone. Layer2 produce una griglia più densa e precisa ma più costosa; layer3 usa feature più profonde e una griglia più piccola. Sigma controlla lo smoothing gaussiano della mappa: valori alti riducono il rumore ma possono sfumare difetti piccoli. Il numero di patch determina il costo della parte patch-wise e della cache. Le cache riportate non sono memoria end-to-end.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experiment_history.md. Cosa spiegare: score max usa il pixel più anomalo, mentre top 1% media l’uno per cento dei valori più alti ed è meno sensibile a un singolo pixel rumoroso. La soglia Perlin cambia estensione e densità delle anomalie sintetiche; 0,6 porta al collasso, 0,2 è stabile. Restricted limita le anomalie sintetiche alla ruota target; unrestricted non applica questo vincolo. Sigma controlla lo smoothing finale. Il crop riduce il contesto e rende la ruota più grande nell’input. Top 1% è una rivalutazione dello stesso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Fonti: metrics.json e run_manifest.json dei sei run EfficientAD-S su Google Drive. Cosa spiegare: pose e crop cambiano la variabilità e la scala apparente della ruota; concentrarsi su A_overhead riduce la variabilità del problema. Gli step indicano il numero di aggiornamenti di training; 67k è il checkpoint selezionato, 70k una durata fissa. Le prime due righe usano tutte le pose e non sono direttamente confrontabili con le quattro righe A_overhead.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Fonti: run_manifest.json e metrics.json dei run con calibrazione spatial e global max su Google Drive. Cosa spiegare: global max usa il massimo score dell’intera mappa. Spatial max calibra lo score in base alla posizione. Spatial top-k media solo la frazione più anomala della mappa; 0,05% usa una regione molto piccola. La selezione spatial migliora la validation ma non generalizza al test; global max con 70k step ottiene il miglior test EfficientAD-S.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compromessi sono descritti direttamente tramite qualità, dimensione e costo. Il benchmark PTQ manca: è un prossimo passo esplicito. Per anomaly detection serve un nuovo holdout perché il test corrente è stato consultato durante molte configurazioni.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1A4671CE-3E9C-4426-9DE8-2E0F52923625}"/>
              </a:ext>
            </a:extLst>
          </p:cNvPr>
          <p:cNvSpPr>
            <a:spLocks noGrp="1"/>
          </p:cNvSpPr>
          <p:nvPr/>
        </p:nvSpPr>
        <p:spPr>
          <a:xfrm>
            <a:off x="7029450" y="981075"/>
            <a:ext cx="4610100" cy="3467100"/>
          </a:xfrm>
          <a:prstGeom prst="roundRect">
            <a:avLst>
              <a:gd name="adj" fmla="val 549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48500" y="1000125"/>
            <a:ext cx="4572000" cy="3429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1C9701AC-9AB6-4D14-80C6-F65D3DA0F007}"/>
              </a:ext>
            </a:extLst>
          </p:cNvPr>
          <p:cNvSpPr>
            <a:spLocks noGrp="1"/>
          </p:cNvSpPr>
          <p:nvPr/>
        </p:nvSpPr>
        <p:spPr>
          <a:xfrm>
            <a:off x="533400" y="876300"/>
            <a:ext cx="95250" cy="4762500"/>
          </a:xfrm>
          <a:prstGeom prst="rect">
            <a:avLst/>
          </a:prstGeom>
          <a:solidFill>
            <a:srgbClr val="C75B3D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237E094-449F-4DE5-AF56-705B9C291B54}"/>
              </a:ext>
            </a:extLst>
          </p:cNvPr>
          <p:cNvSpPr>
            <a:spLocks noGrp="1"/>
          </p:cNvSpPr>
          <p:nvPr/>
        </p:nvSpPr>
        <p:spPr>
          <a:xfrm>
            <a:off x="914400" y="1162050"/>
            <a:ext cx="5619750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Percezione visuale</a:t>
            </a:r>
          </a:p>
          <a:p>
            <a: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 rover marziani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592BD88-85B2-48B9-AF2D-80B515B023E4}"/>
              </a:ext>
            </a:extLst>
          </p:cNvPr>
          <p:cNvSpPr>
            <a:spLocks noGrp="1"/>
          </p:cNvSpPr>
          <p:nvPr/>
        </p:nvSpPr>
        <p:spPr>
          <a:xfrm>
            <a:off x="914400" y="2895600"/>
            <a:ext cx="53340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E8E0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8E0D2"/>
                </a:solidFill>
                <a:latin typeface="Arial"/>
                <a:ea typeface="Arial"/>
                <a:cs typeface="Arial"/>
              </a:rPr>
              <a:t>Segmentazione del terreno · dataset sintetico · anomalie delle ruote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5CCF057-4CEC-470D-A507-9B6A2CB86A49}"/>
              </a:ext>
            </a:extLst>
          </p:cNvPr>
          <p:cNvSpPr>
            <a:spLocks noGrp="1"/>
          </p:cNvSpPr>
          <p:nvPr/>
        </p:nvSpPr>
        <p:spPr>
          <a:xfrm>
            <a:off x="914400" y="49530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E7A18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A184"/>
                </a:solidFill>
                <a:latin typeface="Arial"/>
                <a:ea typeface="Arial"/>
                <a:cs typeface="Arial"/>
              </a:rPr>
              <a:t>STATO DELLA TESI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0917102-2A1E-468C-A586-FBECB7F9CACA}"/>
              </a:ext>
            </a:extLst>
          </p:cNvPr>
          <p:cNvSpPr>
            <a:spLocks noGrp="1"/>
          </p:cNvSpPr>
          <p:nvPr/>
        </p:nvSpPr>
        <p:spPr>
          <a:xfrm>
            <a:off x="914400" y="531495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0">
                <a:solidFill>
                  <a:srgbClr val="AFC9C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9C3"/>
                </a:solidFill>
                <a:latin typeface="Arial"/>
                <a:ea typeface="Arial"/>
                <a:cs typeface="Arial"/>
              </a:rPr>
              <a:t>Aggiornamento tecnico · settembre 2026</a:t>
            </a:r>
          </a:p>
        </p:txBody>
      </p:sp>
    </p:spTree>
    <p:extLst>
      <p:ext uri="{BB962C8B-B14F-4D97-AF65-F5344CB8AC3E}">
        <p14:creationId xmlns:p14="http://schemas.microsoft.com/office/powerpoint/2010/main" val="1879222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ED404B29-F9AA-46AA-9121-44B9035BCC43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PROGETTO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4119417B-578D-4421-AE57-76D61F6482BD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Panoramica del progetto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50FDB304-F287-47C3-9F8F-8A8A6C9054C8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0590B35-F309-4E8B-B61A-59269266287B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9A5EF16B-A5CD-427C-863F-402A49113942}"/>
              </a:ext>
            </a:extLst>
          </p:cNvPr>
          <p:cNvSpPr>
            <a:spLocks noGrp="1"/>
          </p:cNvSpPr>
          <p:nvPr/>
        </p:nvSpPr>
        <p:spPr>
          <a:xfrm>
            <a:off x="647700" y="1543050"/>
            <a:ext cx="3143250" cy="2857500"/>
          </a:xfrm>
          <a:prstGeom prst="roundRect">
            <a:avLst>
              <a:gd name="adj" fmla="val 2667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FA596DC-5EFA-470A-8C26-17FC4DE14B70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685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477B7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77B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1EFA9AA-7543-457D-A9A2-EE260053165B}"/>
              </a:ext>
            </a:extLst>
          </p:cNvPr>
          <p:cNvSpPr>
            <a:spLocks noGrp="1"/>
          </p:cNvSpPr>
          <p:nvPr/>
        </p:nvSpPr>
        <p:spPr>
          <a:xfrm>
            <a:off x="857250" y="2305050"/>
            <a:ext cx="27241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lang="it-IT" sz="1725" b="1" dirty="0">
                <a:solidFill>
                  <a:srgbClr val="20272B"/>
                </a:solidFill>
                <a:latin typeface="Arial"/>
                <a:ea typeface="Arial"/>
                <a:cs typeface="Arial"/>
              </a:rPr>
              <a:t>Mars-Bench / </a:t>
            </a:r>
            <a:r>
              <a:rPr sz="1725" b="1" dirty="0">
                <a:solidFill>
                  <a:srgbClr val="20272B"/>
                </a:solidFill>
                <a:latin typeface="Arial"/>
                <a:ea typeface="Arial"/>
                <a:cs typeface="Arial"/>
              </a:rPr>
              <a:t>S5Mars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0ED1E4E-6A70-4533-91AB-138449A85581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477B78"/>
                </a:solidFill>
                <a:latin typeface="Arial"/>
                <a:ea typeface="Arial"/>
                <a:cs typeface="Arial"/>
              </a:defRPr>
            </a:pPr>
            <a:r>
              <a:rPr lang="it-IT" sz="1275" b="1" dirty="0">
                <a:solidFill>
                  <a:srgbClr val="477B78"/>
                </a:solidFill>
                <a:latin typeface="Arial"/>
                <a:ea typeface="Arial"/>
                <a:cs typeface="Arial"/>
              </a:rPr>
              <a:t>S</a:t>
            </a:r>
            <a:r>
              <a:rPr sz="1275" b="1" dirty="0" err="1">
                <a:solidFill>
                  <a:srgbClr val="477B78"/>
                </a:solidFill>
                <a:latin typeface="Arial"/>
                <a:ea typeface="Arial"/>
                <a:cs typeface="Arial"/>
              </a:rPr>
              <a:t>egmentazione</a:t>
            </a:r>
            <a:r>
              <a:rPr lang="it-IT" sz="1275" b="1" dirty="0">
                <a:solidFill>
                  <a:srgbClr val="477B78"/>
                </a:solidFill>
                <a:latin typeface="Arial"/>
                <a:ea typeface="Arial"/>
                <a:cs typeface="Arial"/>
              </a:rPr>
              <a:t> del terreno</a:t>
            </a:r>
            <a:endParaRPr sz="1275" b="1" dirty="0">
              <a:solidFill>
                <a:srgbClr val="477B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B7DC44FB-0690-463A-8F19-50D5C54BEE29}"/>
              </a:ext>
            </a:extLst>
          </p:cNvPr>
          <p:cNvSpPr>
            <a:spLocks noGrp="1"/>
          </p:cNvSpPr>
          <p:nvPr/>
        </p:nvSpPr>
        <p:spPr>
          <a:xfrm>
            <a:off x="4267200" y="1543050"/>
            <a:ext cx="3143250" cy="2857500"/>
          </a:xfrm>
          <a:prstGeom prst="roundRect">
            <a:avLst>
              <a:gd name="adj" fmla="val 2667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847A328-80BC-40E9-84DB-AC4A80651058}"/>
              </a:ext>
            </a:extLst>
          </p:cNvPr>
          <p:cNvSpPr>
            <a:spLocks noGrp="1"/>
          </p:cNvSpPr>
          <p:nvPr/>
        </p:nvSpPr>
        <p:spPr>
          <a:xfrm>
            <a:off x="4476750" y="1695450"/>
            <a:ext cx="685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0591EEB-E388-4EE8-9CF8-1EB2466F258A}"/>
              </a:ext>
            </a:extLst>
          </p:cNvPr>
          <p:cNvSpPr>
            <a:spLocks noGrp="1"/>
          </p:cNvSpPr>
          <p:nvPr/>
        </p:nvSpPr>
        <p:spPr>
          <a:xfrm>
            <a:off x="4476750" y="2305050"/>
            <a:ext cx="27241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20272B"/>
                </a:solidFill>
                <a:latin typeface="Arial"/>
                <a:ea typeface="Arial"/>
                <a:cs typeface="Arial"/>
              </a:rPr>
              <a:t>Blender Curiosity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1AB20D4-41AD-4F17-B22B-1805A77482F1}"/>
              </a:ext>
            </a:extLst>
          </p:cNvPr>
          <p:cNvSpPr>
            <a:spLocks noGrp="1"/>
          </p:cNvSpPr>
          <p:nvPr/>
        </p:nvSpPr>
        <p:spPr>
          <a:xfrm>
            <a:off x="4476750" y="2857500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C75B3D"/>
                </a:solidFill>
                <a:latin typeface="Arial"/>
                <a:ea typeface="Arial"/>
                <a:cs typeface="Arial"/>
              </a:rPr>
              <a:t>dataset </a:t>
            </a:r>
            <a:r>
              <a:rPr sz="1275" b="1" dirty="0" err="1">
                <a:solidFill>
                  <a:srgbClr val="C75B3D"/>
                </a:solidFill>
                <a:latin typeface="Arial"/>
                <a:ea typeface="Arial"/>
                <a:cs typeface="Arial"/>
              </a:rPr>
              <a:t>controllato</a:t>
            </a:r>
            <a:endParaRPr sz="1275" b="1" dirty="0">
              <a:solidFill>
                <a:srgbClr val="C75B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21832C0D-F5D0-4123-88B1-C746BDBA898C}"/>
              </a:ext>
            </a:extLst>
          </p:cNvPr>
          <p:cNvSpPr>
            <a:spLocks noGrp="1"/>
          </p:cNvSpPr>
          <p:nvPr/>
        </p:nvSpPr>
        <p:spPr>
          <a:xfrm>
            <a:off x="7886700" y="1543050"/>
            <a:ext cx="3143250" cy="2857500"/>
          </a:xfrm>
          <a:prstGeom prst="roundRect">
            <a:avLst>
              <a:gd name="adj" fmla="val 2667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AA4BA1FC-E780-407B-B2A5-F3BBB5F6817F}"/>
              </a:ext>
            </a:extLst>
          </p:cNvPr>
          <p:cNvSpPr>
            <a:spLocks noGrp="1"/>
          </p:cNvSpPr>
          <p:nvPr/>
        </p:nvSpPr>
        <p:spPr>
          <a:xfrm>
            <a:off x="8096250" y="1695450"/>
            <a:ext cx="685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E6AA384-E804-41E9-A4F3-1D60017A1398}"/>
              </a:ext>
            </a:extLst>
          </p:cNvPr>
          <p:cNvSpPr>
            <a:spLocks noGrp="1"/>
          </p:cNvSpPr>
          <p:nvPr/>
        </p:nvSpPr>
        <p:spPr>
          <a:xfrm>
            <a:off x="8096250" y="2305050"/>
            <a:ext cx="27241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Ruote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7DB8F907-B26D-49C9-A345-546AB0817BAB}"/>
              </a:ext>
            </a:extLst>
          </p:cNvPr>
          <p:cNvSpPr>
            <a:spLocks noGrp="1"/>
          </p:cNvSpPr>
          <p:nvPr/>
        </p:nvSpPr>
        <p:spPr>
          <a:xfrm>
            <a:off x="8096250" y="2857500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anomaly detection</a:t>
            </a:r>
          </a:p>
        </p:txBody>
      </p:sp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FA046D78-EEE4-4237-BC9F-FE32B373E34E}"/>
              </a:ext>
            </a:extLst>
          </p:cNvPr>
          <p:cNvSpPr>
            <a:spLocks noGrp="1"/>
          </p:cNvSpPr>
          <p:nvPr/>
        </p:nvSpPr>
        <p:spPr>
          <a:xfrm>
            <a:off x="3829050" y="2800350"/>
            <a:ext cx="381000" cy="228600"/>
          </a:xfrm>
          <a:prstGeom prst="rightArrow">
            <a:avLst/>
          </a:prstGeom>
          <a:solidFill>
            <a:srgbClr val="C75B3D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1C40E260-CCB7-4AD2-AF32-EA87F7002F97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381000" cy="228600"/>
          </a:xfrm>
          <a:prstGeom prst="rightArrow">
            <a:avLst/>
          </a:prstGeom>
          <a:solidFill>
            <a:srgbClr val="C75B3D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38" name="Tabella 37"/>
          <p:cNvGraphicFramePr/>
          <p:nvPr/>
        </p:nvGraphicFramePr>
        <p:xfrm>
          <a:off x="2190750" y="4762500"/>
          <a:ext cx="7810500" cy="1314452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8613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Risultato corrente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Terreno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75,55% </a:t>
                      </a:r>
                      <a:r>
                        <a:rPr sz="1200" dirty="0" err="1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mIoU</a:t>
                      </a:r>
                      <a:r>
                        <a:rPr sz="12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 · SegFormer-B0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10.000 RGB · 1200×900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Ruote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4 </a:t>
                      </a:r>
                      <a:r>
                        <a:rPr sz="1200" dirty="0" err="1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famiglie</a:t>
                      </a:r>
                      <a:r>
                        <a:rPr sz="12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dirty="0" err="1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valutate</a:t>
                      </a:r>
                      <a:endParaRPr sz="1200" dirty="0">
                        <a:solidFill>
                          <a:srgbClr val="20272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65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B2C9E9A1-FC98-40BB-9719-B3A5C720A839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SEGMENTAZIONE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A8B9FF5F-7A5D-48F7-99F1-D1E7DB9CDD27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Dataset S5Mars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94713393-F916-4326-AC5F-C8E756A20C83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429BA09-1539-449B-B508-BCED69C76308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2" name="Tabella 11"/>
          <p:cNvGraphicFramePr/>
          <p:nvPr/>
        </p:nvGraphicFramePr>
        <p:xfrm>
          <a:off x="590550" y="1409700"/>
          <a:ext cx="5429250" cy="40005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Voce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Valore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Repository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Mirali33/mb-s5mars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Origine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Mastcam Curiosity (MSL)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Risoluzione originale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1200 × 1200 RGB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4.997 train · 200 val · 800 test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Annotazione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sparsa · 48,9% dei pixel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Training tesi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resize 512 × 512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3" name="Tabella 12"/>
          <p:cNvGraphicFramePr/>
          <p:nvPr/>
        </p:nvGraphicFramePr>
        <p:xfrm>
          <a:off x="6343650" y="1409700"/>
          <a:ext cx="5219700" cy="40005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Classe Mars-Bench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Background · ignorato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Bedrock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Hole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Ridge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Rock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Rover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Sand / Soil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Sky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Track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ttangolo 6">
            <a:extLst>
              <a:ext uri="{FF2B5EF4-FFF2-40B4-BE49-F238E27FC236}">
                <a16:creationId xmlns:a16="http://schemas.microsoft.com/office/drawing/2014/main" id="{6DEF1922-F6D0-49BB-A93C-64EDC4E6B8E8}"/>
              </a:ext>
            </a:extLst>
          </p:cNvPr>
          <p:cNvSpPr>
            <a:spLocks noGrp="1"/>
          </p:cNvSpPr>
          <p:nvPr/>
        </p:nvSpPr>
        <p:spPr>
          <a:xfrm>
            <a:off x="1524000" y="5734050"/>
            <a:ext cx="9144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477B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77B78"/>
                </a:solidFill>
                <a:latin typeface="Arial"/>
                <a:ea typeface="Arial"/>
                <a:cs typeface="Arial"/>
              </a:rPr>
              <a:t>mIoU calcolata sulle 8 classi valutate; background escluso</a:t>
            </a:r>
          </a:p>
        </p:txBody>
      </p:sp>
    </p:spTree>
    <p:extLst>
      <p:ext uri="{BB962C8B-B14F-4D97-AF65-F5344CB8AC3E}">
        <p14:creationId xmlns:p14="http://schemas.microsoft.com/office/powerpoint/2010/main" val="267302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E313E60-9452-4293-B597-1E7103B8A315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SEGMENTAZIONE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9C0769A9-DE75-4388-ADB4-4E91531A461B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Modelli valutati per la segmentazione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1CA1CF09-762A-4C1D-BD0C-18D513005352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E0316C1-8A87-439F-9D0E-9DB7B844CD48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E9E1035-158C-48A1-A790-8B8ADA090531}"/>
              </a:ext>
            </a:extLst>
          </p:cNvPr>
          <p:cNvSpPr>
            <a:spLocks noGrp="1"/>
          </p:cNvSpPr>
          <p:nvPr/>
        </p:nvSpPr>
        <p:spPr>
          <a:xfrm>
            <a:off x="1143000" y="1476375"/>
            <a:ext cx="9906000" cy="409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79400" indent="-139700">
              <a:spcAft>
                <a:spcPts val="1500"/>
              </a:spcAft>
              <a:buChar char="•"/>
              <a:defRPr sz="1950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72B"/>
                </a:solidFill>
                <a:latin typeface="Arial"/>
                <a:ea typeface="Arial"/>
                <a:cs typeface="Arial"/>
              </a:rPr>
              <a:t>SegFormer-B0 con backbone MiT-B0</a:t>
            </a:r>
          </a:p>
          <a:p>
            <a:pPr marL="279400" indent="-139700">
              <a:spcAft>
                <a:spcPts val="1500"/>
              </a:spcAft>
              <a:buChar char="•"/>
              <a:defRPr sz="1950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72B"/>
                </a:solidFill>
                <a:latin typeface="Arial"/>
                <a:ea typeface="Arial"/>
                <a:cs typeface="Arial"/>
              </a:rPr>
              <a:t>U-Net con backbone ResNet34 e MobileNetV2</a:t>
            </a:r>
          </a:p>
          <a:p>
            <a:pPr marL="279400" indent="-139700">
              <a:spcAft>
                <a:spcPts val="1500"/>
              </a:spcAft>
              <a:buChar char="•"/>
              <a:defRPr sz="1950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72B"/>
                </a:solidFill>
                <a:latin typeface="Arial"/>
                <a:ea typeface="Arial"/>
                <a:cs typeface="Arial"/>
              </a:rPr>
              <a:t>DeepLabV3 con backbone ResNet34</a:t>
            </a:r>
          </a:p>
          <a:p>
            <a:pPr marL="279400" indent="-139700">
              <a:spcAft>
                <a:spcPts val="1500"/>
              </a:spcAft>
              <a:buChar char="•"/>
              <a:defRPr sz="1950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72B"/>
                </a:solidFill>
                <a:latin typeface="Arial"/>
                <a:ea typeface="Arial"/>
                <a:cs typeface="Arial"/>
              </a:rPr>
              <a:t>DeepLabV3+ con backbone MobileNetV2</a:t>
            </a:r>
          </a:p>
          <a:p>
            <a:pPr marL="279400" indent="-139700">
              <a:spcAft>
                <a:spcPts val="1500"/>
              </a:spcAft>
              <a:buChar char="•"/>
              <a:defRPr sz="1950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72B"/>
                </a:solidFill>
                <a:latin typeface="Arial"/>
                <a:ea typeface="Arial"/>
                <a:cs typeface="Arial"/>
              </a:rPr>
              <a:t>LCNet3_7, variante ultraleggera</a:t>
            </a:r>
          </a:p>
          <a:p>
            <a:pPr marL="279400" indent="-139700">
              <a:spcAft>
                <a:spcPts val="1500"/>
              </a:spcAft>
              <a:buChar char="•"/>
              <a:defRPr sz="1950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72B"/>
                </a:solidFill>
                <a:latin typeface="Arial"/>
                <a:ea typeface="Arial"/>
                <a:cs typeface="Arial"/>
              </a:rPr>
              <a:t>LCNet3_11, variante ultraleggera più profonda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BD001CD-1F57-41EC-AEC4-6DA050754B66}"/>
              </a:ext>
            </a:extLst>
          </p:cNvPr>
          <p:cNvSpPr>
            <a:spLocks noGrp="1"/>
          </p:cNvSpPr>
          <p:nvPr/>
        </p:nvSpPr>
        <p:spPr>
          <a:xfrm>
            <a:off x="1428750" y="5810250"/>
            <a:ext cx="933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477B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77B78"/>
                </a:solidFill>
                <a:latin typeface="Arial"/>
                <a:ea typeface="Arial"/>
                <a:cs typeface="Arial"/>
              </a:rPr>
              <a:t>Il confronto tra architetture è parte dello studio di ablazione</a:t>
            </a:r>
          </a:p>
        </p:txBody>
      </p:sp>
    </p:spTree>
    <p:extLst>
      <p:ext uri="{BB962C8B-B14F-4D97-AF65-F5344CB8AC3E}">
        <p14:creationId xmlns:p14="http://schemas.microsoft.com/office/powerpoint/2010/main" val="1465232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C43AA27C-31F2-4237-86A5-81A9ED8AA766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SEGMENTAZIONE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1C411ECE-2B3C-4789-9CFA-664FBAC5CA2B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Confronto con il paper S5Mars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25315B64-13D4-43F0-B894-E7426CD8EC49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A0678A3-3DC4-40B6-B8E0-F42ACF743244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2" name="Tabella 11"/>
          <p:cNvGraphicFramePr/>
          <p:nvPr>
            <p:extLst>
              <p:ext uri="{D42A27DB-BD31-4B8C-83A1-F6EECF244321}">
                <p14:modId xmlns:p14="http://schemas.microsoft.com/office/powerpoint/2010/main" val="1018161091"/>
              </p:ext>
            </p:extLst>
          </p:nvPr>
        </p:nvGraphicFramePr>
        <p:xfrm>
          <a:off x="419100" y="1524000"/>
          <a:ext cx="10382250" cy="3381378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Esperimento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Architettura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Dati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 / test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mIoU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Paper · supervised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DeepLabV3+ ResNet50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 err="1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supervised</a:t>
                      </a:r>
                      <a:endParaRPr sz="1050" dirty="0">
                        <a:solidFill>
                          <a:srgbClr val="20272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240 ep · test 1024²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75,04%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Paper · metodo S5Mars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DeepLabV3+ ResNet50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supervised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240 ep · test 1024²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80,15%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Tesi · finale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SegFormer-B0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supervised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30 ep · test 512²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75,55%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Tesi · finale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DeepLabV3 ResNet34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supervised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30 ep · test 512²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73,79%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Tesi · finale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DeepLabV3+ MobileNetV2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supervised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30 ep · test 512²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64,07%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4765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8C012819-103A-46B7-BCCC-1D887F8E0B67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SEGMENTAZIONE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4D36777-6BB3-4001-A389-CC057F144FC3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Risultati dei modelli di segmentazione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8EE3B7EC-245A-4AB1-A5CC-60F25AA7D81F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A38BC9A-9111-4D4A-A20C-727B0D73E911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1" name="Tabella 10"/>
          <p:cNvGraphicFramePr/>
          <p:nvPr>
            <p:extLst>
              <p:ext uri="{D42A27DB-BD31-4B8C-83A1-F6EECF244321}">
                <p14:modId xmlns:p14="http://schemas.microsoft.com/office/powerpoint/2010/main" val="372525679"/>
              </p:ext>
            </p:extLst>
          </p:nvPr>
        </p:nvGraphicFramePr>
        <p:xfrm>
          <a:off x="2095500" y="1435100"/>
          <a:ext cx="8001000" cy="4333872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73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Modello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Backbone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Parametri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mIoU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test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SegFormer-B0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MiT-B0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3,72 M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75,55%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DeepLabV3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ResNet34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26,01 M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73,79%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U-Net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ResNet34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24,44 M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64,55%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DeepLabV3+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4,38 M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64,07%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U-Net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≈ 6,0 M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65,0%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LCNet3_7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custom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0,509 M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63,4%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LCNet3_11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custom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0,729 M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62,2%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ttangolo 5">
            <a:extLst>
              <a:ext uri="{FF2B5EF4-FFF2-40B4-BE49-F238E27FC236}">
                <a16:creationId xmlns:a16="http://schemas.microsoft.com/office/drawing/2014/main" id="{7853D098-5E31-4D61-9C9C-AF5E5C0BDACA}"/>
              </a:ext>
            </a:extLst>
          </p:cNvPr>
          <p:cNvSpPr>
            <a:spLocks noGrp="1"/>
          </p:cNvSpPr>
          <p:nvPr/>
        </p:nvSpPr>
        <p:spPr>
          <a:xfrm>
            <a:off x="1619250" y="6203946"/>
            <a:ext cx="8953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477B78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477B78"/>
                </a:solidFill>
                <a:latin typeface="Arial"/>
                <a:ea typeface="Arial"/>
                <a:cs typeface="Arial"/>
              </a:rPr>
              <a:t>SegFormer-B0: </a:t>
            </a:r>
            <a:r>
              <a:rPr sz="1650" b="1" dirty="0" err="1">
                <a:solidFill>
                  <a:srgbClr val="477B78"/>
                </a:solidFill>
                <a:latin typeface="Arial"/>
                <a:ea typeface="Arial"/>
                <a:cs typeface="Arial"/>
              </a:rPr>
              <a:t>qualità</a:t>
            </a:r>
            <a:r>
              <a:rPr sz="1650" b="1" dirty="0">
                <a:solidFill>
                  <a:srgbClr val="477B78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477B78"/>
                </a:solidFill>
                <a:latin typeface="Arial"/>
                <a:ea typeface="Arial"/>
                <a:cs typeface="Arial"/>
              </a:rPr>
              <a:t>più</a:t>
            </a:r>
            <a:r>
              <a:rPr sz="1650" b="1" dirty="0">
                <a:solidFill>
                  <a:srgbClr val="477B78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477B78"/>
                </a:solidFill>
                <a:latin typeface="Arial"/>
                <a:ea typeface="Arial"/>
                <a:cs typeface="Arial"/>
              </a:rPr>
              <a:t>alta</a:t>
            </a:r>
            <a:r>
              <a:rPr sz="1650" b="1" dirty="0">
                <a:solidFill>
                  <a:srgbClr val="477B78"/>
                </a:solidFill>
                <a:latin typeface="Arial"/>
                <a:ea typeface="Arial"/>
                <a:cs typeface="Arial"/>
              </a:rPr>
              <a:t> con 3,72 M </a:t>
            </a:r>
            <a:r>
              <a:rPr sz="1650" b="1" dirty="0" err="1">
                <a:solidFill>
                  <a:srgbClr val="477B78"/>
                </a:solidFill>
                <a:latin typeface="Arial"/>
                <a:ea typeface="Arial"/>
                <a:cs typeface="Arial"/>
              </a:rPr>
              <a:t>parametri</a:t>
            </a:r>
            <a:endParaRPr sz="1650" b="1" dirty="0">
              <a:solidFill>
                <a:srgbClr val="477B7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7057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0004DEE3-FAF8-40A0-92A3-E4279B7790A6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SEGMENTAZIONE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92577E5A-AA88-4F6B-940D-30FEDA4019A8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Ablazioni sulla loss e sul training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FB53BFA8-C017-48F8-AAA5-2BF38B788694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05757AA-ED4E-487D-8D99-0132C914FA1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3" name="Tabella 12"/>
          <p:cNvGraphicFramePr/>
          <p:nvPr>
            <p:extLst>
              <p:ext uri="{D42A27DB-BD31-4B8C-83A1-F6EECF244321}">
                <p14:modId xmlns:p14="http://schemas.microsoft.com/office/powerpoint/2010/main" val="2460343200"/>
              </p:ext>
            </p:extLst>
          </p:nvPr>
        </p:nvGraphicFramePr>
        <p:xfrm>
          <a:off x="762000" y="1476375"/>
          <a:ext cx="10668000" cy="161925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Modello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Cross-entropy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CE–Dice α=0,5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Δ mIoU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SegFormer-B0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69%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r>
                        <a:rPr lang="it-IT" sz="12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r>
                        <a:rPr sz="12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%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r>
                        <a:rPr lang="it-IT" sz="12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r>
                        <a:rPr sz="12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 pt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U-Net ResNet34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64%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70%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+6 pt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ella 13"/>
          <p:cNvGraphicFramePr/>
          <p:nvPr>
            <p:extLst>
              <p:ext uri="{D42A27DB-BD31-4B8C-83A1-F6EECF244321}">
                <p14:modId xmlns:p14="http://schemas.microsoft.com/office/powerpoint/2010/main" val="451017724"/>
              </p:ext>
            </p:extLst>
          </p:nvPr>
        </p:nvGraphicFramePr>
        <p:xfrm>
          <a:off x="2476500" y="3676650"/>
          <a:ext cx="7239000" cy="1952624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15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SegFormer-B0 full fine-tuning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mIoU test osservata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8 epoche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60%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20 epoche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r>
                        <a:rPr lang="it-IT" sz="12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r>
                        <a:rPr sz="12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30 epoche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r>
                        <a:rPr lang="it-IT" sz="12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r>
                        <a:rPr sz="12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134F73C1-A724-4199-B54A-9D01AE56501C}"/>
              </a:ext>
            </a:extLst>
          </p:cNvPr>
          <p:cNvSpPr>
            <a:spLocks noGrp="1"/>
          </p:cNvSpPr>
          <p:nvPr/>
        </p:nvSpPr>
        <p:spPr>
          <a:xfrm>
            <a:off x="4191000" y="5905500"/>
            <a:ext cx="3810000" cy="304800"/>
          </a:xfrm>
          <a:prstGeom prst="roundRect">
            <a:avLst>
              <a:gd name="adj" fmla="val 18750"/>
            </a:avLst>
          </a:prstGeom>
          <a:solidFill>
            <a:srgbClr val="C75B3D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05CBA42-0316-4F30-A8FE-16FFAD825B21}"/>
              </a:ext>
            </a:extLst>
          </p:cNvPr>
          <p:cNvSpPr>
            <a:spLocks noGrp="1"/>
          </p:cNvSpPr>
          <p:nvPr/>
        </p:nvSpPr>
        <p:spPr>
          <a:xfrm>
            <a:off x="4191000" y="5905500"/>
            <a:ext cx="3810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SCELTA: 30 epoche + CE–Dice</a:t>
            </a:r>
          </a:p>
        </p:txBody>
      </p:sp>
    </p:spTree>
    <p:extLst>
      <p:ext uri="{BB962C8B-B14F-4D97-AF65-F5344CB8AC3E}">
        <p14:creationId xmlns:p14="http://schemas.microsoft.com/office/powerpoint/2010/main" val="1853232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D203BDDF-899C-4DAB-B083-D4DF855587C2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SEGMENTAZIONE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B8C096D0-BC03-4348-8ECB-370FF0C7B119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Ablazioni su pesi e pretraining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0C493DF8-9F7F-4B67-801D-C6EB07EB658E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26B7DC4-295A-4600-9E9F-15FC7BBF2027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2" name="Tabella 11"/>
          <p:cNvGraphicFramePr/>
          <p:nvPr>
            <p:extLst>
              <p:ext uri="{D42A27DB-BD31-4B8C-83A1-F6EECF244321}">
                <p14:modId xmlns:p14="http://schemas.microsoft.com/office/powerpoint/2010/main" val="304643311"/>
              </p:ext>
            </p:extLst>
          </p:nvPr>
        </p:nvGraphicFramePr>
        <p:xfrm>
          <a:off x="514350" y="2209800"/>
          <a:ext cx="6191250" cy="31432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U-Net ResNet34 · variante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mIoU osservata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Esito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Pesi classe uniform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64,2%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baseline pesi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Pesi classe simple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57,2%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−7,0 pt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Senza pretraining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51,6%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−12,6 pt vs uniform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Pesi square + pretraining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scelta finale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dirty="0" err="1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adottata</a:t>
                      </a:r>
                      <a:endParaRPr sz="1125" dirty="0">
                        <a:solidFill>
                          <a:srgbClr val="20272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Tabella 13"/>
          <p:cNvGraphicFramePr/>
          <p:nvPr>
            <p:extLst>
              <p:ext uri="{D42A27DB-BD31-4B8C-83A1-F6EECF244321}">
                <p14:modId xmlns:p14="http://schemas.microsoft.com/office/powerpoint/2010/main" val="668169022"/>
              </p:ext>
            </p:extLst>
          </p:nvPr>
        </p:nvGraphicFramePr>
        <p:xfrm>
          <a:off x="6991350" y="2717800"/>
          <a:ext cx="4686300" cy="2238375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LCNet3_7 · analisi CPU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Valore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FLOPs conteggiati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3,95 G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Pesi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1,94 MiB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Latenza media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134,77 ms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Throughput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7,42 FPS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538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9FEF20A5-6635-4AFE-804E-F41F7726F000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SEGMENTAZIONE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6EB0248-E86D-4CD4-9CF8-40D838F4E620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Accuratezza dopo la quantizzazione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3603A5DE-2DA1-48EA-9E4A-7E3845A3A0EF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541E463-1358-49DD-8722-398DE446E484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1" name="Tabella 10"/>
          <p:cNvGraphicFramePr/>
          <p:nvPr/>
        </p:nvGraphicFramePr>
        <p:xfrm>
          <a:off x="457200" y="1504950"/>
          <a:ext cx="11277600" cy="31432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Modello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FP32 val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FP16 val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PTQ INT8 val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Δ PTQ vs FP32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SegFormer-B0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80,280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80,285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79,968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−0,312 pt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U-Net ResNet34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81,520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81,517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18,372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−63,148 pt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DeepLabV3+ MobileNetV2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80,813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80,812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7,391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−73,422 pt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DeepLabV3 ResNet34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83,135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83,134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22,428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−60,707 pt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ella 11"/>
          <p:cNvGraphicFramePr/>
          <p:nvPr>
            <p:extLst>
              <p:ext uri="{D42A27DB-BD31-4B8C-83A1-F6EECF244321}">
                <p14:modId xmlns:p14="http://schemas.microsoft.com/office/powerpoint/2010/main" val="553031186"/>
              </p:ext>
            </p:extLst>
          </p:nvPr>
        </p:nvGraphicFramePr>
        <p:xfrm>
          <a:off x="2286000" y="4905375"/>
          <a:ext cx="7620000" cy="1381124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281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Formato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Risultato sui 4 modelli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281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FP16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Δ assoluto ≤ 0,005 punti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281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PTQ INT8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stabile solo su SegFormer-B0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281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Test PTQ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non </a:t>
                      </a:r>
                      <a:r>
                        <a:rPr sz="1125" dirty="0" err="1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eseguito</a:t>
                      </a:r>
                      <a:r>
                        <a:rPr sz="112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25" dirty="0" err="1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nei</a:t>
                      </a:r>
                      <a:r>
                        <a:rPr sz="112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 run </a:t>
                      </a:r>
                      <a:r>
                        <a:rPr sz="1125" dirty="0" err="1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salvati</a:t>
                      </a:r>
                      <a:r>
                        <a:rPr lang="it-IT" sz="112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 -&gt; Da eseguire</a:t>
                      </a:r>
                      <a:endParaRPr sz="1125" dirty="0">
                        <a:solidFill>
                          <a:srgbClr val="20272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2420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DAD129E0-2009-4569-A8FD-CD18CE52CCB0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SEGMENTAZIONE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E20F2B4B-717F-4F8A-A759-67C8A5B272B5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Memoria e speedup teorici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6CA1DB7B-2852-429B-BCCC-FA5FEE51887B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804D2B6-6EDA-42DE-BFC5-001118F3582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1" name="Tabella 10"/>
          <p:cNvGraphicFramePr/>
          <p:nvPr/>
        </p:nvGraphicFramePr>
        <p:xfrm>
          <a:off x="361950" y="1381125"/>
          <a:ext cx="11468100" cy="314325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5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Modello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Pesi FP32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Pesi FP16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Pesi INT8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Speedup FP16*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Speedup INT8*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SegFormer-B0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≈14,2 MiB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≈7,1 MiB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≈3,5 MiB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fino a 2×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fino a 4×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U-Net ResNet34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≈93,2 MiB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≈46,6 MiB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≈23,3 MiB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fino a 2×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fino a 4×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DeepLabV3+ MobileNetV2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≈16,7 MiB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≈8,4 MiB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≈4,2 MiB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fino a 2×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fino a 4×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DeepLabV3 ResNet34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≈99,2 MiB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≈49,6 MiB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≈24,8 MiB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fino a 2×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fino a 4×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ella 11"/>
          <p:cNvGraphicFramePr/>
          <p:nvPr>
            <p:extLst>
              <p:ext uri="{D42A27DB-BD31-4B8C-83A1-F6EECF244321}">
                <p14:modId xmlns:p14="http://schemas.microsoft.com/office/powerpoint/2010/main" val="3389811404"/>
              </p:ext>
            </p:extLst>
          </p:nvPr>
        </p:nvGraphicFramePr>
        <p:xfrm>
          <a:off x="2000250" y="4686300"/>
          <a:ext cx="8191500" cy="161925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Stima teorica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Valore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Memoria dei soli pesi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FP16 −50% · INT8 −75%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Limite bandwidth-bound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FP16 fino a 2× · INT8 fino a 4×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RAM / VRAM totale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Da calcolare</a:t>
                      </a:r>
                      <a:endParaRPr sz="1050" dirty="0">
                        <a:solidFill>
                          <a:srgbClr val="20272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Latenza / FPS PTQ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Da calcolare</a:t>
                      </a:r>
                      <a:endParaRPr sz="1050" dirty="0">
                        <a:solidFill>
                          <a:srgbClr val="20272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9054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F2A1DE85-C664-4302-A413-72A7C2987CBC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SEGMENTAZIONE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E935B77-7F47-4E7D-B732-8859914559D9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Risultati QAT INT8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53011A2A-590F-4E87-AAE4-FD65B5690A32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D662700E-EE97-4054-A88B-23994208BA2D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2" name="Tabella 11"/>
          <p:cNvGraphicFramePr/>
          <p:nvPr/>
        </p:nvGraphicFramePr>
        <p:xfrm>
          <a:off x="428625" y="1428750"/>
          <a:ext cx="11334750" cy="3381375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Modello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QAT test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TensorRT test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Δ export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Latenza T4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FPS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SegFormer-B0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76,06%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58,03%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−18,03 pt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7,34 ms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136,3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U-Net ResNet34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65,99%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39,24%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−26,74 pt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4,01 ms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249,7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DeepLabV3+ MobileNetV2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63,46%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43,08%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−20,39 pt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3,00 ms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333,4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DeepLabV3 ResNet34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73,43%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39,85%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−33,58 pt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39,07 ms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25,6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87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>
            <a:extLst>
              <a:ext uri="{FF2B5EF4-FFF2-40B4-BE49-F238E27FC236}">
                <a16:creationId xmlns:a16="http://schemas.microsoft.com/office/drawing/2014/main" id="{202E8800-4A90-482C-BBC7-C161FB4A9CB1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AF39B62D-F2F2-47D2-8E5F-EDB11E65C353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Esempio clean, anomaly e mask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35834048-659E-49FC-9771-7B82417C8355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24F5DF4-E0B8-42F2-8E3E-A088D535FB4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706332D3-5034-4983-86BA-E56BB8CE1D5B}"/>
              </a:ext>
            </a:extLst>
          </p:cNvPr>
          <p:cNvSpPr>
            <a:spLocks noGrp="1"/>
          </p:cNvSpPr>
          <p:nvPr/>
        </p:nvSpPr>
        <p:spPr>
          <a:xfrm>
            <a:off x="504825" y="1457325"/>
            <a:ext cx="3467100" cy="2609850"/>
          </a:xfrm>
          <a:prstGeom prst="roundRect">
            <a:avLst>
              <a:gd name="adj" fmla="val 730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magin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476375"/>
            <a:ext cx="3429000" cy="2571750"/>
          </a:xfrm>
          <a:prstGeom prst="rect">
            <a:avLst/>
          </a:prstGeom>
        </p:spPr>
      </p:pic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1F36AB39-E252-4048-8884-5D06804E7FAB}"/>
              </a:ext>
            </a:extLst>
          </p:cNvPr>
          <p:cNvSpPr>
            <a:spLocks noGrp="1"/>
          </p:cNvSpPr>
          <p:nvPr/>
        </p:nvSpPr>
        <p:spPr>
          <a:xfrm>
            <a:off x="1476375" y="4238625"/>
            <a:ext cx="1524000" cy="304800"/>
          </a:xfrm>
          <a:prstGeom prst="roundRect">
            <a:avLst>
              <a:gd name="adj" fmla="val 18750"/>
            </a:avLst>
          </a:prstGeom>
          <a:solidFill>
            <a:srgbClr val="477B78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2D2382C-3CBB-4554-ADD0-3A4F240754B7}"/>
              </a:ext>
            </a:extLst>
          </p:cNvPr>
          <p:cNvSpPr>
            <a:spLocks noGrp="1"/>
          </p:cNvSpPr>
          <p:nvPr/>
        </p:nvSpPr>
        <p:spPr>
          <a:xfrm>
            <a:off x="1476375" y="4238625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DAE24F98-8A76-422F-9F63-3D450CD90DF4}"/>
              </a:ext>
            </a:extLst>
          </p:cNvPr>
          <p:cNvSpPr>
            <a:spLocks noGrp="1"/>
          </p:cNvSpPr>
          <p:nvPr/>
        </p:nvSpPr>
        <p:spPr>
          <a:xfrm>
            <a:off x="4362450" y="1457325"/>
            <a:ext cx="3467100" cy="2609850"/>
          </a:xfrm>
          <a:prstGeom prst="roundRect">
            <a:avLst>
              <a:gd name="adj" fmla="val 730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magine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81500" y="1476375"/>
            <a:ext cx="3429000" cy="2571750"/>
          </a:xfrm>
          <a:prstGeom prst="rect">
            <a:avLst/>
          </a:prstGeom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7B71725E-27EB-4CF3-8102-867790AB96C4}"/>
              </a:ext>
            </a:extLst>
          </p:cNvPr>
          <p:cNvSpPr>
            <a:spLocks noGrp="1"/>
          </p:cNvSpPr>
          <p:nvPr/>
        </p:nvSpPr>
        <p:spPr>
          <a:xfrm>
            <a:off x="5334000" y="4238625"/>
            <a:ext cx="1524000" cy="304800"/>
          </a:xfrm>
          <a:prstGeom prst="roundRect">
            <a:avLst>
              <a:gd name="adj" fmla="val 18750"/>
            </a:avLst>
          </a:prstGeom>
          <a:solidFill>
            <a:srgbClr val="C75B3D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EF187CB-DB4B-47ED-B337-2D3AA97DB66B}"/>
              </a:ext>
            </a:extLst>
          </p:cNvPr>
          <p:cNvSpPr>
            <a:spLocks noGrp="1"/>
          </p:cNvSpPr>
          <p:nvPr/>
        </p:nvSpPr>
        <p:spPr>
          <a:xfrm>
            <a:off x="5334000" y="4238625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ANOMALY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2CDFDB95-3875-4000-AA19-89E04F165045}"/>
              </a:ext>
            </a:extLst>
          </p:cNvPr>
          <p:cNvSpPr>
            <a:spLocks noGrp="1"/>
          </p:cNvSpPr>
          <p:nvPr/>
        </p:nvSpPr>
        <p:spPr>
          <a:xfrm>
            <a:off x="8220075" y="1457325"/>
            <a:ext cx="3467100" cy="2609850"/>
          </a:xfrm>
          <a:prstGeom prst="roundRect">
            <a:avLst>
              <a:gd name="adj" fmla="val 730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31" name="Immagine 3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39125" y="1476375"/>
            <a:ext cx="3429000" cy="2571750"/>
          </a:xfrm>
          <a:prstGeom prst="rect">
            <a:avLst/>
          </a:prstGeom>
        </p:spPr>
      </p:pic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E93032FF-AB03-402A-A400-9B92BCC88993}"/>
              </a:ext>
            </a:extLst>
          </p:cNvPr>
          <p:cNvSpPr>
            <a:spLocks noGrp="1"/>
          </p:cNvSpPr>
          <p:nvPr/>
        </p:nvSpPr>
        <p:spPr>
          <a:xfrm>
            <a:off x="9191625" y="4238625"/>
            <a:ext cx="1524000" cy="304800"/>
          </a:xfrm>
          <a:prstGeom prst="roundRect">
            <a:avLst>
              <a:gd name="adj" fmla="val 18750"/>
            </a:avLst>
          </a:prstGeom>
          <a:solidFill>
            <a:srgbClr val="C75B3D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8E4B5304-E70E-461D-86F8-87C57E3F9E43}"/>
              </a:ext>
            </a:extLst>
          </p:cNvPr>
          <p:cNvSpPr>
            <a:spLocks noGrp="1"/>
          </p:cNvSpPr>
          <p:nvPr/>
        </p:nvSpPr>
        <p:spPr>
          <a:xfrm>
            <a:off x="9191625" y="4238625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MASK</a:t>
            </a:r>
          </a:p>
        </p:txBody>
      </p:sp>
      <p:graphicFrame>
        <p:nvGraphicFramePr>
          <p:cNvPr id="34" name="Tabella 33"/>
          <p:cNvGraphicFramePr/>
          <p:nvPr/>
        </p:nvGraphicFramePr>
        <p:xfrm>
          <a:off x="2143125" y="5000625"/>
          <a:ext cx="7905750" cy="12573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Contratto finale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Valore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RGB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1200 × 900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Rendering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Eevee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Associazione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clean / anomaly / mask via pair-lock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181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tangolo 21">
            <a:extLst>
              <a:ext uri="{FF2B5EF4-FFF2-40B4-BE49-F238E27FC236}">
                <a16:creationId xmlns:a16="http://schemas.microsoft.com/office/drawing/2014/main" id="{487C8BE5-9876-4A82-B297-D22A8B90B71B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D2611ED-7480-426E-847C-A61D6A1028AB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Distribuzione delle pose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E7E203F3-CA83-4AF7-AE9F-371BFBFEF9A7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16C480C0-9513-40DB-8223-32657483B40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7D9A70D8-6668-4734-A2F9-CB7AD7CAE78B}"/>
              </a:ext>
            </a:extLst>
          </p:cNvPr>
          <p:cNvSpPr>
            <a:spLocks noGrp="1"/>
          </p:cNvSpPr>
          <p:nvPr/>
        </p:nvSpPr>
        <p:spPr>
          <a:xfrm>
            <a:off x="438150" y="1485900"/>
            <a:ext cx="2705100" cy="2038350"/>
          </a:xfrm>
          <a:prstGeom prst="roundRect">
            <a:avLst>
              <a:gd name="adj" fmla="val 935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magin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504950"/>
            <a:ext cx="2667000" cy="200025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AF565BCF-5103-403D-8E22-43AEA6E6B5F8}"/>
              </a:ext>
            </a:extLst>
          </p:cNvPr>
          <p:cNvSpPr>
            <a:spLocks noGrp="1"/>
          </p:cNvSpPr>
          <p:nvPr/>
        </p:nvSpPr>
        <p:spPr>
          <a:xfrm>
            <a:off x="457200" y="36385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A · overhead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E451E75-4766-4940-89E2-CDE15D3C7827}"/>
              </a:ext>
            </a:extLst>
          </p:cNvPr>
          <p:cNvSpPr>
            <a:spLocks noGrp="1"/>
          </p:cNvSpPr>
          <p:nvPr/>
        </p:nvSpPr>
        <p:spPr>
          <a:xfrm>
            <a:off x="457200" y="39433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40,0% · 4.000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DD577A40-BE6F-4EFB-973D-45A6F651EE4C}"/>
              </a:ext>
            </a:extLst>
          </p:cNvPr>
          <p:cNvSpPr>
            <a:spLocks noGrp="1"/>
          </p:cNvSpPr>
          <p:nvPr/>
        </p:nvSpPr>
        <p:spPr>
          <a:xfrm>
            <a:off x="3352800" y="1485900"/>
            <a:ext cx="2705100" cy="2038350"/>
          </a:xfrm>
          <a:prstGeom prst="roundRect">
            <a:avLst>
              <a:gd name="adj" fmla="val 935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31" name="Immagine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371850" y="1504950"/>
            <a:ext cx="2667000" cy="2000250"/>
          </a:xfrm>
          <a:prstGeom prst="rect">
            <a:avLst/>
          </a:prstGeom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7E86594B-7F87-441D-936B-7FBF9AC4D320}"/>
              </a:ext>
            </a:extLst>
          </p:cNvPr>
          <p:cNvSpPr>
            <a:spLocks noGrp="1"/>
          </p:cNvSpPr>
          <p:nvPr/>
        </p:nvSpPr>
        <p:spPr>
          <a:xfrm>
            <a:off x="3371850" y="36385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C1 · leading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5F50AA0-0D8E-4BBF-B391-9B573D4A2D06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27,5% · 2.750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43CDF531-7AE4-46F6-A46F-42AA7136E0FF}"/>
              </a:ext>
            </a:extLst>
          </p:cNvPr>
          <p:cNvSpPr>
            <a:spLocks noGrp="1"/>
          </p:cNvSpPr>
          <p:nvPr/>
        </p:nvSpPr>
        <p:spPr>
          <a:xfrm>
            <a:off x="6267450" y="1485900"/>
            <a:ext cx="2705100" cy="2038350"/>
          </a:xfrm>
          <a:prstGeom prst="roundRect">
            <a:avLst>
              <a:gd name="adj" fmla="val 935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35" name="Immagine 3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86500" y="1504950"/>
            <a:ext cx="2667000" cy="2000250"/>
          </a:xfrm>
          <a:prstGeom prst="rect">
            <a:avLst/>
          </a:prstGeom>
        </p:spPr>
      </p:pic>
      <p:sp>
        <p:nvSpPr>
          <p:cNvPr id="15" name="Rettangolo 14">
            <a:extLst>
              <a:ext uri="{FF2B5EF4-FFF2-40B4-BE49-F238E27FC236}">
                <a16:creationId xmlns:a16="http://schemas.microsoft.com/office/drawing/2014/main" id="{C7EE24E2-5E03-408E-96C6-A712C3A224AB}"/>
              </a:ext>
            </a:extLst>
          </p:cNvPr>
          <p:cNvSpPr>
            <a:spLocks noGrp="1"/>
          </p:cNvSpPr>
          <p:nvPr/>
        </p:nvSpPr>
        <p:spPr>
          <a:xfrm>
            <a:off x="6286500" y="36385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C2 · trailing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3F92E20A-54F2-4BD7-B777-7148BCAD6E31}"/>
              </a:ext>
            </a:extLst>
          </p:cNvPr>
          <p:cNvSpPr>
            <a:spLocks noGrp="1"/>
          </p:cNvSpPr>
          <p:nvPr/>
        </p:nvSpPr>
        <p:spPr>
          <a:xfrm>
            <a:off x="6286500" y="39433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27,5% · 2.750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21EEF64E-D197-4F13-A4E2-0BCA722A9AE1}"/>
              </a:ext>
            </a:extLst>
          </p:cNvPr>
          <p:cNvSpPr>
            <a:spLocks noGrp="1"/>
          </p:cNvSpPr>
          <p:nvPr/>
        </p:nvSpPr>
        <p:spPr>
          <a:xfrm>
            <a:off x="9182100" y="1485900"/>
            <a:ext cx="2705100" cy="2038350"/>
          </a:xfrm>
          <a:prstGeom prst="roundRect">
            <a:avLst>
              <a:gd name="adj" fmla="val 935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39" name="Immagine 3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01150" y="1504950"/>
            <a:ext cx="2667000" cy="2000250"/>
          </a:xfrm>
          <a:prstGeom prst="rect">
            <a:avLst/>
          </a:prstGeom>
        </p:spPr>
      </p:pic>
      <p:sp>
        <p:nvSpPr>
          <p:cNvPr id="19" name="Rettangolo 18">
            <a:extLst>
              <a:ext uri="{FF2B5EF4-FFF2-40B4-BE49-F238E27FC236}">
                <a16:creationId xmlns:a16="http://schemas.microsoft.com/office/drawing/2014/main" id="{6F00D81B-73C4-48E6-A6BE-9B2492E43BB6}"/>
              </a:ext>
            </a:extLst>
          </p:cNvPr>
          <p:cNvSpPr>
            <a:spLocks noGrp="1"/>
          </p:cNvSpPr>
          <p:nvPr/>
        </p:nvSpPr>
        <p:spPr>
          <a:xfrm>
            <a:off x="9201150" y="36385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D · detail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87197DAF-0091-41D6-B550-07C8FCB12E53}"/>
              </a:ext>
            </a:extLst>
          </p:cNvPr>
          <p:cNvSpPr>
            <a:spLocks noGrp="1"/>
          </p:cNvSpPr>
          <p:nvPr/>
        </p:nvSpPr>
        <p:spPr>
          <a:xfrm>
            <a:off x="9201150" y="39433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5,0% · 500</a:t>
            </a:r>
          </a:p>
        </p:txBody>
      </p:sp>
      <p:graphicFrame>
        <p:nvGraphicFramePr>
          <p:cNvPr id="42" name="Tabella 41"/>
          <p:cNvGraphicFramePr/>
          <p:nvPr/>
        </p:nvGraphicFramePr>
        <p:xfrm>
          <a:off x="1809750" y="4953000"/>
          <a:ext cx="8572500" cy="9525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Totale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C1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10.000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4.000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2.750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2.750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500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908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tangolo 21">
            <a:extLst>
              <a:ext uri="{FF2B5EF4-FFF2-40B4-BE49-F238E27FC236}">
                <a16:creationId xmlns:a16="http://schemas.microsoft.com/office/drawing/2014/main" id="{F32782BD-3B94-4033-A38A-88BD6E6C8E01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DBCCA4DF-41DC-44EB-BF8F-01320CE22937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Pose dopo il crop approvato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1E77C40B-41AD-4DDD-81B2-BF30810B613C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80936215-ECC1-4371-A4A6-53B89E75127F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E8CD472-6F55-4055-9C5A-4265AC1E6636}"/>
              </a:ext>
            </a:extLst>
          </p:cNvPr>
          <p:cNvSpPr>
            <a:spLocks noGrp="1"/>
          </p:cNvSpPr>
          <p:nvPr/>
        </p:nvSpPr>
        <p:spPr>
          <a:xfrm>
            <a:off x="438150" y="1457325"/>
            <a:ext cx="2705100" cy="2705100"/>
          </a:xfrm>
          <a:prstGeom prst="roundRect">
            <a:avLst>
              <a:gd name="adj" fmla="val 704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magine 26"/>
          <p:cNvPicPr>
            <a:picLocks noChangeAspect="1"/>
          </p:cNvPicPr>
          <p:nvPr/>
        </p:nvPicPr>
        <p:blipFill>
          <a:blip r:embed="rId3"/>
          <a:srcRect l="12500" r="12500"/>
          <a:stretch>
            <a:fillRect/>
          </a:stretch>
        </p:blipFill>
        <p:spPr>
          <a:xfrm>
            <a:off x="457200" y="1476375"/>
            <a:ext cx="2667000" cy="266700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C8B67E7B-C505-4EC8-AD6D-ED27F8E81952}"/>
              </a:ext>
            </a:extLst>
          </p:cNvPr>
          <p:cNvSpPr>
            <a:spLocks noGrp="1"/>
          </p:cNvSpPr>
          <p:nvPr/>
        </p:nvSpPr>
        <p:spPr>
          <a:xfrm>
            <a:off x="457200" y="430530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A · overhead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C6EDD11-B955-43D6-BE65-0E88B0C50107}"/>
              </a:ext>
            </a:extLst>
          </p:cNvPr>
          <p:cNvSpPr>
            <a:spLocks noGrp="1"/>
          </p:cNvSpPr>
          <p:nvPr/>
        </p:nvSpPr>
        <p:spPr>
          <a:xfrm>
            <a:off x="457200" y="46291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720 × 720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8CB30CAB-D2D3-4511-B16E-D6B325DB4367}"/>
              </a:ext>
            </a:extLst>
          </p:cNvPr>
          <p:cNvSpPr>
            <a:spLocks noGrp="1"/>
          </p:cNvSpPr>
          <p:nvPr/>
        </p:nvSpPr>
        <p:spPr>
          <a:xfrm>
            <a:off x="3352800" y="1457325"/>
            <a:ext cx="2705100" cy="2705100"/>
          </a:xfrm>
          <a:prstGeom prst="roundRect">
            <a:avLst>
              <a:gd name="adj" fmla="val 704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31" name="Immagine 30"/>
          <p:cNvPicPr>
            <a:picLocks noChangeAspect="1"/>
          </p:cNvPicPr>
          <p:nvPr/>
        </p:nvPicPr>
        <p:blipFill>
          <a:blip r:embed="rId4"/>
          <a:srcRect l="12500" r="12500"/>
          <a:stretch>
            <a:fillRect/>
          </a:stretch>
        </p:blipFill>
        <p:spPr>
          <a:xfrm>
            <a:off x="3371850" y="1476375"/>
            <a:ext cx="2667000" cy="2667000"/>
          </a:xfrm>
          <a:prstGeom prst="rect">
            <a:avLst/>
          </a:prstGeom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568AA4FC-F8F1-4532-BDC1-1D268D36C019}"/>
              </a:ext>
            </a:extLst>
          </p:cNvPr>
          <p:cNvSpPr>
            <a:spLocks noGrp="1"/>
          </p:cNvSpPr>
          <p:nvPr/>
        </p:nvSpPr>
        <p:spPr>
          <a:xfrm>
            <a:off x="3371850" y="430530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C1 · leading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B295020-E62B-4042-8BED-38D337D4B9DB}"/>
              </a:ext>
            </a:extLst>
          </p:cNvPr>
          <p:cNvSpPr>
            <a:spLocks noGrp="1"/>
          </p:cNvSpPr>
          <p:nvPr/>
        </p:nvSpPr>
        <p:spPr>
          <a:xfrm>
            <a:off x="3371850" y="46291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900 × 900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E2ADEBC6-0AB2-4388-AAD9-AD9EADA6C089}"/>
              </a:ext>
            </a:extLst>
          </p:cNvPr>
          <p:cNvSpPr>
            <a:spLocks noGrp="1"/>
          </p:cNvSpPr>
          <p:nvPr/>
        </p:nvSpPr>
        <p:spPr>
          <a:xfrm>
            <a:off x="6267450" y="1457325"/>
            <a:ext cx="2705100" cy="2705100"/>
          </a:xfrm>
          <a:prstGeom prst="roundRect">
            <a:avLst>
              <a:gd name="adj" fmla="val 704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35" name="Immagine 34"/>
          <p:cNvPicPr>
            <a:picLocks noChangeAspect="1"/>
          </p:cNvPicPr>
          <p:nvPr/>
        </p:nvPicPr>
        <p:blipFill>
          <a:blip r:embed="rId5"/>
          <a:srcRect l="12500" r="12500"/>
          <a:stretch>
            <a:fillRect/>
          </a:stretch>
        </p:blipFill>
        <p:spPr>
          <a:xfrm>
            <a:off x="6286500" y="1476375"/>
            <a:ext cx="2667000" cy="2667000"/>
          </a:xfrm>
          <a:prstGeom prst="rect">
            <a:avLst/>
          </a:prstGeom>
        </p:spPr>
      </p:pic>
      <p:sp>
        <p:nvSpPr>
          <p:cNvPr id="15" name="Rettangolo 14">
            <a:extLst>
              <a:ext uri="{FF2B5EF4-FFF2-40B4-BE49-F238E27FC236}">
                <a16:creationId xmlns:a16="http://schemas.microsoft.com/office/drawing/2014/main" id="{BEDC9CEF-4F9F-48ED-9DCE-16F95CA11EE3}"/>
              </a:ext>
            </a:extLst>
          </p:cNvPr>
          <p:cNvSpPr>
            <a:spLocks noGrp="1"/>
          </p:cNvSpPr>
          <p:nvPr/>
        </p:nvSpPr>
        <p:spPr>
          <a:xfrm>
            <a:off x="6286500" y="430530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C2 · trailing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BE972DF2-56A1-4B0B-9851-9F9CED52F02A}"/>
              </a:ext>
            </a:extLst>
          </p:cNvPr>
          <p:cNvSpPr>
            <a:spLocks noGrp="1"/>
          </p:cNvSpPr>
          <p:nvPr/>
        </p:nvSpPr>
        <p:spPr>
          <a:xfrm>
            <a:off x="6286500" y="46291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900 × 900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ED6191BD-8DA5-418F-9FE4-A66125141186}"/>
              </a:ext>
            </a:extLst>
          </p:cNvPr>
          <p:cNvSpPr>
            <a:spLocks noGrp="1"/>
          </p:cNvSpPr>
          <p:nvPr/>
        </p:nvSpPr>
        <p:spPr>
          <a:xfrm>
            <a:off x="9182100" y="1790700"/>
            <a:ext cx="2705100" cy="2038350"/>
          </a:xfrm>
          <a:prstGeom prst="roundRect">
            <a:avLst>
              <a:gd name="adj" fmla="val 935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39" name="Immagine 3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01150" y="1809750"/>
            <a:ext cx="2667000" cy="2000250"/>
          </a:xfrm>
          <a:prstGeom prst="rect">
            <a:avLst/>
          </a:prstGeom>
        </p:spPr>
      </p:pic>
      <p:sp>
        <p:nvSpPr>
          <p:cNvPr id="19" name="Rettangolo 18">
            <a:extLst>
              <a:ext uri="{FF2B5EF4-FFF2-40B4-BE49-F238E27FC236}">
                <a16:creationId xmlns:a16="http://schemas.microsoft.com/office/drawing/2014/main" id="{193A2E69-A735-493A-8B89-D3732E1512DB}"/>
              </a:ext>
            </a:extLst>
          </p:cNvPr>
          <p:cNvSpPr>
            <a:spLocks noGrp="1"/>
          </p:cNvSpPr>
          <p:nvPr/>
        </p:nvSpPr>
        <p:spPr>
          <a:xfrm>
            <a:off x="9201150" y="430530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D · detail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F24EB9CD-15C3-434E-8FAF-4CCFC3EBDF13}"/>
              </a:ext>
            </a:extLst>
          </p:cNvPr>
          <p:cNvSpPr>
            <a:spLocks noGrp="1"/>
          </p:cNvSpPr>
          <p:nvPr/>
        </p:nvSpPr>
        <p:spPr>
          <a:xfrm>
            <a:off x="9201150" y="46291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nessun crop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30E182D3-AAF5-4269-9E32-2948168AA04E}"/>
              </a:ext>
            </a:extLst>
          </p:cNvPr>
          <p:cNvSpPr>
            <a:spLocks noGrp="1"/>
          </p:cNvSpPr>
          <p:nvPr/>
        </p:nvSpPr>
        <p:spPr>
          <a:xfrm>
            <a:off x="1619250" y="5476875"/>
            <a:ext cx="8953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477B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77B78"/>
                </a:solidFill>
                <a:latin typeface="Arial"/>
                <a:ea typeface="Arial"/>
                <a:cs typeface="Arial"/>
              </a:rPr>
              <a:t>Crop applicato prima del resize usato dal modello</a:t>
            </a:r>
          </a:p>
        </p:txBody>
      </p:sp>
    </p:spTree>
    <p:extLst>
      <p:ext uri="{BB962C8B-B14F-4D97-AF65-F5344CB8AC3E}">
        <p14:creationId xmlns:p14="http://schemas.microsoft.com/office/powerpoint/2010/main" val="1159166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DE403EA9-A060-4B50-83DC-7D2D4F69B5C7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041D4CDF-6BDE-4469-BFC9-00476AAA242F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Distribuzione della luce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1C5E4794-F21C-485B-A4A9-1AB34A494073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E23D90DC-1AF8-4D74-B1A7-7EF5CD92215B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51E11445-1A43-4857-B453-4DC26A0687DC}"/>
              </a:ext>
            </a:extLst>
          </p:cNvPr>
          <p:cNvSpPr>
            <a:spLocks noGrp="1"/>
          </p:cNvSpPr>
          <p:nvPr/>
        </p:nvSpPr>
        <p:spPr>
          <a:xfrm>
            <a:off x="762000" y="1409700"/>
            <a:ext cx="4800600" cy="3609975"/>
          </a:xfrm>
          <a:prstGeom prst="roundRect">
            <a:avLst>
              <a:gd name="adj" fmla="val 528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magin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" y="1428750"/>
            <a:ext cx="4762500" cy="3571875"/>
          </a:xfrm>
          <a:prstGeom prst="rect">
            <a:avLst/>
          </a:prstGeom>
        </p:spPr>
      </p:pic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C1E277B7-7076-40EA-960F-3AD3593EF15B}"/>
              </a:ext>
            </a:extLst>
          </p:cNvPr>
          <p:cNvSpPr>
            <a:spLocks noGrp="1"/>
          </p:cNvSpPr>
          <p:nvPr/>
        </p:nvSpPr>
        <p:spPr>
          <a:xfrm>
            <a:off x="6629400" y="1409700"/>
            <a:ext cx="4800600" cy="3609975"/>
          </a:xfrm>
          <a:prstGeom prst="roundRect">
            <a:avLst>
              <a:gd name="adj" fmla="val 528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magine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48450" y="1428750"/>
            <a:ext cx="4762500" cy="3571875"/>
          </a:xfrm>
          <a:prstGeom prst="rect">
            <a:avLst/>
          </a:prstGeom>
        </p:spPr>
      </p:pic>
      <p:graphicFrame>
        <p:nvGraphicFramePr>
          <p:cNvPr id="18" name="Tabella 17"/>
          <p:cNvGraphicFramePr/>
          <p:nvPr/>
        </p:nvGraphicFramePr>
        <p:xfrm>
          <a:off x="3238500" y="5286375"/>
          <a:ext cx="5715000" cy="100012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Preset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Percentuale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Immagini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Dusty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75%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7.500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Clear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25%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2.500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7160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>
            <a:extLst>
              <a:ext uri="{FF2B5EF4-FFF2-40B4-BE49-F238E27FC236}">
                <a16:creationId xmlns:a16="http://schemas.microsoft.com/office/drawing/2014/main" id="{84C0C823-C8C7-43AC-9536-936362901701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1DD1681B-3529-40B0-9607-8A4EB376115F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Livelli di usura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66C0F271-A766-4281-8115-9B3BC3F2F7CF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7E068FA-D42A-4A11-AB95-2534F1347B2D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6436511D-F1EB-4E18-9E69-642DC0F6B8DC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3562350" cy="2686050"/>
          </a:xfrm>
          <a:prstGeom prst="roundRect">
            <a:avLst>
              <a:gd name="adj" fmla="val 709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magin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478756"/>
            <a:ext cx="3524250" cy="2643188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ABF17AAD-8494-4D84-96D7-5F81104373D0}"/>
              </a:ext>
            </a:extLst>
          </p:cNvPr>
          <p:cNvSpPr>
            <a:spLocks noGrp="1"/>
          </p:cNvSpPr>
          <p:nvPr/>
        </p:nvSpPr>
        <p:spPr>
          <a:xfrm>
            <a:off x="552450" y="4276725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DF620F4-A7FD-44F1-B811-33ED1AAA2D20}"/>
              </a:ext>
            </a:extLst>
          </p:cNvPr>
          <p:cNvSpPr>
            <a:spLocks noGrp="1"/>
          </p:cNvSpPr>
          <p:nvPr/>
        </p:nvSpPr>
        <p:spPr>
          <a:xfrm>
            <a:off x="552450" y="4600575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20% · 2.000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40C3C822-B37A-43E4-8D14-451CF9862E5B}"/>
              </a:ext>
            </a:extLst>
          </p:cNvPr>
          <p:cNvSpPr>
            <a:spLocks noGrp="1"/>
          </p:cNvSpPr>
          <p:nvPr/>
        </p:nvSpPr>
        <p:spPr>
          <a:xfrm>
            <a:off x="4438650" y="1457325"/>
            <a:ext cx="3562350" cy="2686050"/>
          </a:xfrm>
          <a:prstGeom prst="roundRect">
            <a:avLst>
              <a:gd name="adj" fmla="val 709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magine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57700" y="1478756"/>
            <a:ext cx="3524250" cy="2643188"/>
          </a:xfrm>
          <a:prstGeom prst="rect">
            <a:avLst/>
          </a:prstGeom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E730FC04-BFC5-4BEC-9509-A6D83FFAC3B1}"/>
              </a:ext>
            </a:extLst>
          </p:cNvPr>
          <p:cNvSpPr>
            <a:spLocks noGrp="1"/>
          </p:cNvSpPr>
          <p:nvPr/>
        </p:nvSpPr>
        <p:spPr>
          <a:xfrm>
            <a:off x="4457700" y="4276725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Light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AA81CD32-CCAC-43B2-92B8-5514918442F6}"/>
              </a:ext>
            </a:extLst>
          </p:cNvPr>
          <p:cNvSpPr>
            <a:spLocks noGrp="1"/>
          </p:cNvSpPr>
          <p:nvPr/>
        </p:nvSpPr>
        <p:spPr>
          <a:xfrm>
            <a:off x="4457700" y="4600575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45% · 4.500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65E42F8E-A550-496C-8BD2-D6F0CB6CF9A3}"/>
              </a:ext>
            </a:extLst>
          </p:cNvPr>
          <p:cNvSpPr>
            <a:spLocks noGrp="1"/>
          </p:cNvSpPr>
          <p:nvPr/>
        </p:nvSpPr>
        <p:spPr>
          <a:xfrm>
            <a:off x="8343900" y="1457325"/>
            <a:ext cx="3562350" cy="2686050"/>
          </a:xfrm>
          <a:prstGeom prst="roundRect">
            <a:avLst>
              <a:gd name="adj" fmla="val 709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31" name="Immagine 3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362950" y="1478756"/>
            <a:ext cx="3524250" cy="2643188"/>
          </a:xfrm>
          <a:prstGeom prst="rect">
            <a:avLst/>
          </a:prstGeom>
        </p:spPr>
      </p:pic>
      <p:sp>
        <p:nvSpPr>
          <p:cNvPr id="15" name="Rettangolo 14">
            <a:extLst>
              <a:ext uri="{FF2B5EF4-FFF2-40B4-BE49-F238E27FC236}">
                <a16:creationId xmlns:a16="http://schemas.microsoft.com/office/drawing/2014/main" id="{2E62DC78-4027-4ECC-B921-BB64CB3165D3}"/>
              </a:ext>
            </a:extLst>
          </p:cNvPr>
          <p:cNvSpPr>
            <a:spLocks noGrp="1"/>
          </p:cNvSpPr>
          <p:nvPr/>
        </p:nvSpPr>
        <p:spPr>
          <a:xfrm>
            <a:off x="8362950" y="4276725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Evident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92712045-ADAB-4512-A0E9-BF5D75F9FBD1}"/>
              </a:ext>
            </a:extLst>
          </p:cNvPr>
          <p:cNvSpPr>
            <a:spLocks noGrp="1"/>
          </p:cNvSpPr>
          <p:nvPr/>
        </p:nvSpPr>
        <p:spPr>
          <a:xfrm>
            <a:off x="8362950" y="4600575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35% · 3.500</a:t>
            </a:r>
          </a:p>
        </p:txBody>
      </p:sp>
      <p:graphicFrame>
        <p:nvGraphicFramePr>
          <p:cNvPr id="34" name="Tabella 33"/>
          <p:cNvGraphicFramePr/>
          <p:nvPr/>
        </p:nvGraphicFramePr>
        <p:xfrm>
          <a:off x="2095500" y="5381625"/>
          <a:ext cx="8001000" cy="85725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Totale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Light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Evident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10.000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4.500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3.500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542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>
            <a:extLst>
              <a:ext uri="{FF2B5EF4-FFF2-40B4-BE49-F238E27FC236}">
                <a16:creationId xmlns:a16="http://schemas.microsoft.com/office/drawing/2014/main" id="{0C97F3CB-7599-463C-84A2-EC0B6DFD1F26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CAFB82F-6127-4ACF-A55B-E8642C3F8524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Gradi di anomalia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72AFF714-8250-4601-8208-8A5CE75F31C4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8C729E81-8947-47CF-8943-ECC78A9F059F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C352ECD2-B0E2-425E-B44C-A48E02A5F920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3562350" cy="2686050"/>
          </a:xfrm>
          <a:prstGeom prst="roundRect">
            <a:avLst>
              <a:gd name="adj" fmla="val 709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magin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478756"/>
            <a:ext cx="3524250" cy="2643188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C0CC0EBD-22A5-4C9A-8233-DF69CC176EA8}"/>
              </a:ext>
            </a:extLst>
          </p:cNvPr>
          <p:cNvSpPr>
            <a:spLocks noGrp="1"/>
          </p:cNvSpPr>
          <p:nvPr/>
        </p:nvSpPr>
        <p:spPr>
          <a:xfrm>
            <a:off x="552450" y="4276725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Small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FF12090-36FB-4C20-8B17-8C320954713B}"/>
              </a:ext>
            </a:extLst>
          </p:cNvPr>
          <p:cNvSpPr>
            <a:spLocks noGrp="1"/>
          </p:cNvSpPr>
          <p:nvPr/>
        </p:nvSpPr>
        <p:spPr>
          <a:xfrm>
            <a:off x="552450" y="4600575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50% · 625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9AD2B0C2-E0DE-49FB-A203-887798773216}"/>
              </a:ext>
            </a:extLst>
          </p:cNvPr>
          <p:cNvSpPr>
            <a:spLocks noGrp="1"/>
          </p:cNvSpPr>
          <p:nvPr/>
        </p:nvSpPr>
        <p:spPr>
          <a:xfrm>
            <a:off x="4438650" y="1457325"/>
            <a:ext cx="3562350" cy="2686050"/>
          </a:xfrm>
          <a:prstGeom prst="roundRect">
            <a:avLst>
              <a:gd name="adj" fmla="val 709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magine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57700" y="1478756"/>
            <a:ext cx="3524250" cy="2643188"/>
          </a:xfrm>
          <a:prstGeom prst="rect">
            <a:avLst/>
          </a:prstGeom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21B9C7C0-575B-4E00-9215-8DA6C40B7070}"/>
              </a:ext>
            </a:extLst>
          </p:cNvPr>
          <p:cNvSpPr>
            <a:spLocks noGrp="1"/>
          </p:cNvSpPr>
          <p:nvPr/>
        </p:nvSpPr>
        <p:spPr>
          <a:xfrm>
            <a:off x="4457700" y="4276725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38F6A2A-66EF-4930-9C0E-5FBA4CC153A2}"/>
              </a:ext>
            </a:extLst>
          </p:cNvPr>
          <p:cNvSpPr>
            <a:spLocks noGrp="1"/>
          </p:cNvSpPr>
          <p:nvPr/>
        </p:nvSpPr>
        <p:spPr>
          <a:xfrm>
            <a:off x="4457700" y="4600575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40% · 500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9992A07A-A231-4118-8A86-2F5D92CD476A}"/>
              </a:ext>
            </a:extLst>
          </p:cNvPr>
          <p:cNvSpPr>
            <a:spLocks noGrp="1"/>
          </p:cNvSpPr>
          <p:nvPr/>
        </p:nvSpPr>
        <p:spPr>
          <a:xfrm>
            <a:off x="8343900" y="1457325"/>
            <a:ext cx="3562350" cy="2686050"/>
          </a:xfrm>
          <a:prstGeom prst="roundRect">
            <a:avLst>
              <a:gd name="adj" fmla="val 709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pic>
        <p:nvPicPr>
          <p:cNvPr id="31" name="Immagine 3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362950" y="1478756"/>
            <a:ext cx="3524250" cy="2643188"/>
          </a:xfrm>
          <a:prstGeom prst="rect">
            <a:avLst/>
          </a:prstGeom>
        </p:spPr>
      </p:pic>
      <p:sp>
        <p:nvSpPr>
          <p:cNvPr id="15" name="Rettangolo 14">
            <a:extLst>
              <a:ext uri="{FF2B5EF4-FFF2-40B4-BE49-F238E27FC236}">
                <a16:creationId xmlns:a16="http://schemas.microsoft.com/office/drawing/2014/main" id="{4FE07AD7-43CE-49EF-91DA-133D5D5C54C2}"/>
              </a:ext>
            </a:extLst>
          </p:cNvPr>
          <p:cNvSpPr>
            <a:spLocks noGrp="1"/>
          </p:cNvSpPr>
          <p:nvPr/>
        </p:nvSpPr>
        <p:spPr>
          <a:xfrm>
            <a:off x="8362950" y="4276725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Large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0A190086-83C6-49D4-B291-C4E23F2D4778}"/>
              </a:ext>
            </a:extLst>
          </p:cNvPr>
          <p:cNvSpPr>
            <a:spLocks noGrp="1"/>
          </p:cNvSpPr>
          <p:nvPr/>
        </p:nvSpPr>
        <p:spPr>
          <a:xfrm>
            <a:off x="8362950" y="4600575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10% · 125</a:t>
            </a:r>
          </a:p>
        </p:txBody>
      </p:sp>
      <p:graphicFrame>
        <p:nvGraphicFramePr>
          <p:cNvPr id="34" name="Tabella 33"/>
          <p:cNvGraphicFramePr/>
          <p:nvPr/>
        </p:nvGraphicFramePr>
        <p:xfrm>
          <a:off x="2095500" y="5381625"/>
          <a:ext cx="8001000" cy="85725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Anomaly images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Small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Large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1.250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625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500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125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4709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28EF5294-1CDD-4222-B8EC-E8C2181644D9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FCB79C1-D937-47C2-BA7B-A1B29B81CEAA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Composizione del dataset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FFF4A797-1605-4BD9-B64E-D5E3E6B5C2A1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1A45635-16DE-40D9-B9CC-A70D4D74DD99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5" name="Tabella 14"/>
          <p:cNvGraphicFramePr/>
          <p:nvPr/>
        </p:nvGraphicFramePr>
        <p:xfrm>
          <a:off x="514350" y="1409700"/>
          <a:ext cx="5524500" cy="28575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Clean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Anomaly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Totale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Totale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8.750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1.250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10.000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Tabella 15"/>
          <p:cNvGraphicFramePr/>
          <p:nvPr>
            <p:extLst>
              <p:ext uri="{D42A27DB-BD31-4B8C-83A1-F6EECF244321}">
                <p14:modId xmlns:p14="http://schemas.microsoft.com/office/powerpoint/2010/main" val="2279276145"/>
              </p:ext>
            </p:extLst>
          </p:nvPr>
        </p:nvGraphicFramePr>
        <p:xfrm>
          <a:off x="6324600" y="1409700"/>
          <a:ext cx="5353050" cy="28575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Fattore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Livelli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Conteggi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Ruota target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1.666–1.667 ciascuna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Rotazione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1.250 ciascuna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Superficie anomaly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 gradi di anomalia</a:t>
                      </a:r>
                      <a:endParaRPr sz="1050" dirty="0">
                        <a:solidFill>
                          <a:srgbClr val="20272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1.000 / 250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Maschere ruota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tutte le immagini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10.000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Maschere anomalia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solo </a:t>
                      </a:r>
                      <a:r>
                        <a:rPr sz="1050" dirty="0" err="1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anomal</a:t>
                      </a:r>
                      <a:r>
                        <a:rPr lang="it-IT" sz="1050" dirty="0" err="1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ie</a:t>
                      </a:r>
                      <a:endParaRPr sz="1050" dirty="0">
                        <a:solidFill>
                          <a:srgbClr val="20272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1.250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3E83EDF4-9283-479F-9927-35B431428457}"/>
              </a:ext>
            </a:extLst>
          </p:cNvPr>
          <p:cNvSpPr>
            <a:spLocks noGrp="1"/>
          </p:cNvSpPr>
          <p:nvPr/>
        </p:nvSpPr>
        <p:spPr>
          <a:xfrm>
            <a:off x="1238250" y="4762500"/>
            <a:ext cx="9715500" cy="1123950"/>
          </a:xfrm>
          <a:prstGeom prst="roundRect">
            <a:avLst>
              <a:gd name="adj" fmla="val 6780"/>
            </a:avLst>
          </a:prstGeom>
          <a:solidFill>
            <a:srgbClr val="FFFDFC"/>
          </a:solidFill>
          <a:ln w="9525">
            <a:solidFill>
              <a:srgbClr val="CFC7BA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94422F5-61E3-45FD-83CC-AA5B4E3014DD}"/>
              </a:ext>
            </a:extLst>
          </p:cNvPr>
          <p:cNvSpPr>
            <a:spLocks noGrp="1"/>
          </p:cNvSpPr>
          <p:nvPr/>
        </p:nvSpPr>
        <p:spPr>
          <a:xfrm>
            <a:off x="1571625" y="49530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PAIR-LOCK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E0CA739-AF59-4F01-A1DE-BBDE5843CF98}"/>
              </a:ext>
            </a:extLst>
          </p:cNvPr>
          <p:cNvSpPr>
            <a:spLocks noGrp="1"/>
          </p:cNvSpPr>
          <p:nvPr/>
        </p:nvSpPr>
        <p:spPr>
          <a:xfrm>
            <a:off x="3286125" y="4876800"/>
            <a:ext cx="7143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Clean e anomaly correlate restano nello stesso split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42CC379-C37F-4B22-BB98-6F65B3E106E5}"/>
              </a:ext>
            </a:extLst>
          </p:cNvPr>
          <p:cNvSpPr>
            <a:spLocks noGrp="1"/>
          </p:cNvSpPr>
          <p:nvPr/>
        </p:nvSpPr>
        <p:spPr>
          <a:xfrm>
            <a:off x="1571625" y="5334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1.225 unità paired ribasate; nessuna fuga tra train, validation e test</a:t>
            </a:r>
          </a:p>
        </p:txBody>
      </p:sp>
    </p:spTree>
    <p:extLst>
      <p:ext uri="{BB962C8B-B14F-4D97-AF65-F5344CB8AC3E}">
        <p14:creationId xmlns:p14="http://schemas.microsoft.com/office/powerpoint/2010/main" val="1639323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1D59BF6A-C808-4DB5-BEC6-0ED3DBE1EFAE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ANOMALY DETECTION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FC37088-936A-47C4-BBE4-9738A8E08744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Modelli valutati per anomaly detection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926DFF09-7438-4484-AC74-AD57DBA96EE8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84F8DDD-9120-48E4-AC67-C1435F663031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817AB38-DC34-4E54-BEF6-5CCC66782AF4}"/>
              </a:ext>
            </a:extLst>
          </p:cNvPr>
          <p:cNvSpPr>
            <a:spLocks noGrp="1"/>
          </p:cNvSpPr>
          <p:nvPr/>
        </p:nvSpPr>
        <p:spPr>
          <a:xfrm>
            <a:off x="1000125" y="1619250"/>
            <a:ext cx="10191750" cy="3238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79400" indent="-139700">
              <a:spcAft>
                <a:spcPts val="2000"/>
              </a:spcAft>
              <a:buChar char="•"/>
              <a:defRPr sz="2025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025" b="1" dirty="0" err="1">
                <a:solidFill>
                  <a:srgbClr val="20272B"/>
                </a:solidFill>
                <a:latin typeface="Arial"/>
                <a:ea typeface="Arial"/>
                <a:cs typeface="Arial"/>
              </a:rPr>
              <a:t>PatchCore</a:t>
            </a:r>
            <a:r>
              <a:rPr sz="2025" dirty="0">
                <a:solidFill>
                  <a:srgbClr val="20272B"/>
                </a:solidFill>
                <a:latin typeface="Arial"/>
                <a:ea typeface="Arial"/>
                <a:cs typeface="Arial"/>
              </a:rPr>
              <a:t>: ResNet18 </a:t>
            </a:r>
            <a:r>
              <a:rPr sz="2025" dirty="0" err="1">
                <a:solidFill>
                  <a:srgbClr val="20272B"/>
                </a:solidFill>
                <a:latin typeface="Arial"/>
                <a:ea typeface="Arial"/>
                <a:cs typeface="Arial"/>
              </a:rPr>
              <a:t>nel</a:t>
            </a:r>
            <a:r>
              <a:rPr sz="2025" dirty="0">
                <a:solidFill>
                  <a:srgbClr val="20272B"/>
                </a:solidFill>
                <a:latin typeface="Arial"/>
                <a:ea typeface="Arial"/>
                <a:cs typeface="Arial"/>
              </a:rPr>
              <a:t> preset Light e WideResNet50-2 </a:t>
            </a:r>
            <a:r>
              <a:rPr sz="2025" dirty="0" err="1">
                <a:solidFill>
                  <a:srgbClr val="20272B"/>
                </a:solidFill>
                <a:latin typeface="Arial"/>
                <a:ea typeface="Arial"/>
                <a:cs typeface="Arial"/>
              </a:rPr>
              <a:t>nel</a:t>
            </a:r>
            <a:r>
              <a:rPr sz="2025" dirty="0">
                <a:solidFill>
                  <a:srgbClr val="20272B"/>
                </a:solidFill>
                <a:latin typeface="Arial"/>
                <a:ea typeface="Arial"/>
                <a:cs typeface="Arial"/>
              </a:rPr>
              <a:t> preset Reference</a:t>
            </a:r>
          </a:p>
          <a:p>
            <a:pPr marL="279400" indent="-139700">
              <a:spcAft>
                <a:spcPts val="2000"/>
              </a:spcAft>
              <a:buChar char="•"/>
              <a:defRPr sz="2025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025" b="1" dirty="0" err="1">
                <a:solidFill>
                  <a:srgbClr val="20272B"/>
                </a:solidFill>
                <a:latin typeface="Arial"/>
                <a:ea typeface="Arial"/>
                <a:cs typeface="Arial"/>
              </a:rPr>
              <a:t>TinyGLASS</a:t>
            </a:r>
            <a:r>
              <a:rPr sz="2025" dirty="0">
                <a:solidFill>
                  <a:srgbClr val="20272B"/>
                </a:solidFill>
                <a:latin typeface="Arial"/>
                <a:ea typeface="Arial"/>
                <a:cs typeface="Arial"/>
              </a:rPr>
              <a:t>: ResNet18 con feature layer2 o layer3</a:t>
            </a:r>
          </a:p>
          <a:p>
            <a:pPr marL="279400" indent="-139700">
              <a:spcAft>
                <a:spcPts val="2000"/>
              </a:spcAft>
              <a:buChar char="•"/>
              <a:defRPr sz="2025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025" b="1" dirty="0" err="1">
                <a:solidFill>
                  <a:srgbClr val="20272B"/>
                </a:solidFill>
                <a:latin typeface="Arial"/>
                <a:ea typeface="Arial"/>
                <a:cs typeface="Arial"/>
              </a:rPr>
              <a:t>SuperSimpleNet</a:t>
            </a:r>
            <a:r>
              <a:rPr sz="2025" dirty="0">
                <a:solidFill>
                  <a:srgbClr val="20272B"/>
                </a:solidFill>
                <a:latin typeface="Arial"/>
                <a:ea typeface="Arial"/>
                <a:cs typeface="Arial"/>
              </a:rPr>
              <a:t>: WideResNet50-2 con feature layer2 e layer3</a:t>
            </a:r>
          </a:p>
          <a:p>
            <a:pPr marL="279400" indent="-139700">
              <a:spcAft>
                <a:spcPts val="2000"/>
              </a:spcAft>
              <a:buChar char="•"/>
              <a:defRPr sz="2025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025" b="1" dirty="0" err="1">
                <a:solidFill>
                  <a:srgbClr val="20272B"/>
                </a:solidFill>
                <a:latin typeface="Arial"/>
                <a:ea typeface="Arial"/>
                <a:cs typeface="Arial"/>
              </a:rPr>
              <a:t>EfficientAD</a:t>
            </a:r>
            <a:r>
              <a:rPr sz="2025" b="1" dirty="0">
                <a:solidFill>
                  <a:srgbClr val="20272B"/>
                </a:solidFill>
                <a:latin typeface="Arial"/>
                <a:ea typeface="Arial"/>
                <a:cs typeface="Arial"/>
              </a:rPr>
              <a:t>-S</a:t>
            </a:r>
            <a:r>
              <a:rPr sz="2025" dirty="0">
                <a:solidFill>
                  <a:srgbClr val="20272B"/>
                </a:solidFill>
                <a:latin typeface="Arial"/>
                <a:ea typeface="Arial"/>
                <a:cs typeface="Arial"/>
              </a:rPr>
              <a:t>: </a:t>
            </a:r>
            <a:r>
              <a:rPr sz="2025" dirty="0" err="1">
                <a:solidFill>
                  <a:srgbClr val="20272B"/>
                </a:solidFill>
                <a:latin typeface="Arial"/>
                <a:ea typeface="Arial"/>
                <a:cs typeface="Arial"/>
              </a:rPr>
              <a:t>reti</a:t>
            </a:r>
            <a:r>
              <a:rPr sz="2025" dirty="0">
                <a:solidFill>
                  <a:srgbClr val="20272B"/>
                </a:solidFill>
                <a:latin typeface="Arial"/>
                <a:ea typeface="Arial"/>
                <a:cs typeface="Arial"/>
              </a:rPr>
              <a:t> PDN-S teacher-student e autoencoder</a:t>
            </a:r>
          </a:p>
        </p:txBody>
      </p:sp>
    </p:spTree>
    <p:extLst>
      <p:ext uri="{BB962C8B-B14F-4D97-AF65-F5344CB8AC3E}">
        <p14:creationId xmlns:p14="http://schemas.microsoft.com/office/powerpoint/2010/main" val="1589077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FFC354DA-3795-4B29-A57C-F6C9FF05E4B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ANOMALY DETECTION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2D1A6CE9-71E8-4ECE-94DE-4FE2948C6236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Risultati di anomaly detection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E87F3060-017F-45F4-A021-3DCFC5DD4D8D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BE959C0-CAF5-4C76-AC80-B4BE8D60E60E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11" name="Tabella 10"/>
          <p:cNvGraphicFramePr/>
          <p:nvPr/>
        </p:nvGraphicFramePr>
        <p:xfrm>
          <a:off x="361950" y="1381125"/>
          <a:ext cx="11468100" cy="314325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Metodo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I-AUROC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I-AP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P-AUROC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P-AP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AUPRO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SuperSimpleNet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0,827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0,861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0,970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0,191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0,875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PatchCore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0,779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0,797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0,985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0,309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n.d.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TinyGLASS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0,773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0,811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0,979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0,276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EfficientAD-S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0,665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0,647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0,964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0,090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n.d.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ella 11"/>
          <p:cNvGraphicFramePr/>
          <p:nvPr/>
        </p:nvGraphicFramePr>
        <p:xfrm>
          <a:off x="2095500" y="4953000"/>
          <a:ext cx="8001000" cy="1285876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46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Obiettivo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Migliore risultato osservato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69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Rilevamento immagine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SuperSimpleNet · I-AUROC 0,827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469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Precisione pixel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PatchCore · P-AP 0,309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469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Copertura regionale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TinyGLASS · AUPRO 0,920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124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9B0A6F7D-D43E-4048-913C-559DD9051431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ANOMALY DETECTION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B7554480-D410-4FA2-933B-39C883CF623C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Ablazione della memory bank di PatchCore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A3CFFEAA-E479-4850-ACBB-F8274E051FB9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472AFC1-EBBC-4844-9FBF-36C89D5ACEE8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12" name="Tabella 11"/>
          <p:cNvGraphicFramePr/>
          <p:nvPr>
            <p:extLst>
              <p:ext uri="{D42A27DB-BD31-4B8C-83A1-F6EECF244321}">
                <p14:modId xmlns:p14="http://schemas.microsoft.com/office/powerpoint/2010/main" val="1303941445"/>
              </p:ext>
            </p:extLst>
          </p:nvPr>
        </p:nvGraphicFramePr>
        <p:xfrm>
          <a:off x="438150" y="1333500"/>
          <a:ext cx="11315700" cy="433811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154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Variante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Backbone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Bank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I-AUROC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I-AP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P-AUROC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P-AP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Light 384×512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ResNet18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2.048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0,549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0,534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0,973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0,078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Light 512×512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ResNet18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5.000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0,574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0,551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0,982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0,116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Light 512×512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ResNet18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20.000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0,687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0,992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0,270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Light 512×512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ResNet18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50.000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0,728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0,995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0,276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Light 512×512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ResNet18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100.000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0,729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0,702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0,995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0,279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WideResNet50-2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4.096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0,741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0,771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0,975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0,283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WideResNet50-2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50.000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0,779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0,797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0,985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0,309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WideResNet50-2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100.000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0,776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0,985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0,304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F539978D-85DA-4880-962F-54B52019AF93}"/>
              </a:ext>
            </a:extLst>
          </p:cNvPr>
          <p:cNvSpPr>
            <a:spLocks noGrp="1"/>
          </p:cNvSpPr>
          <p:nvPr/>
        </p:nvSpPr>
        <p:spPr>
          <a:xfrm>
            <a:off x="3905250" y="5905500"/>
            <a:ext cx="4381500" cy="304800"/>
          </a:xfrm>
          <a:prstGeom prst="roundRect">
            <a:avLst>
              <a:gd name="adj" fmla="val 18750"/>
            </a:avLst>
          </a:prstGeom>
          <a:solidFill>
            <a:srgbClr val="C75B3D"/>
          </a:solidFill>
          <a:ln w="0"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823AFE3F-1449-432B-B09C-F2773A95AA8E}"/>
              </a:ext>
            </a:extLst>
          </p:cNvPr>
          <p:cNvSpPr>
            <a:spLocks noGrp="1"/>
          </p:cNvSpPr>
          <p:nvPr/>
        </p:nvSpPr>
        <p:spPr>
          <a:xfrm>
            <a:off x="3905250" y="5905500"/>
            <a:ext cx="4381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SCELTA: Reference · bank 50.000</a:t>
            </a:r>
          </a:p>
        </p:txBody>
      </p:sp>
    </p:spTree>
    <p:extLst>
      <p:ext uri="{BB962C8B-B14F-4D97-AF65-F5344CB8AC3E}">
        <p14:creationId xmlns:p14="http://schemas.microsoft.com/office/powerpoint/2010/main" val="675567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6BD7560A-87EB-4667-A285-39B825F95CE8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ANOMALY DETECTION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2FEB52C-7DCD-4A3F-9B2A-FBE490FA658C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Ablazioni di TinyGLASS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5A02A3CE-D20F-4EE6-929E-7EDF29308D5E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D8B8A4D1-648A-40CC-AEB4-C4A075FAD334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11" name="Tabella 10"/>
          <p:cNvGraphicFramePr/>
          <p:nvPr>
            <p:extLst>
              <p:ext uri="{D42A27DB-BD31-4B8C-83A1-F6EECF244321}">
                <p14:modId xmlns:p14="http://schemas.microsoft.com/office/powerpoint/2010/main" val="48433278"/>
              </p:ext>
            </p:extLst>
          </p:nvPr>
        </p:nvGraphicFramePr>
        <p:xfrm>
          <a:off x="981075" y="1393824"/>
          <a:ext cx="9734550" cy="3667125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/ layer / σ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Patch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I-AUROC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P-AP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AUPRO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256 · layer2 · σ1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1.024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0,726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0,157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n.d.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384 · layer2 · σ1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2.304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0,775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0,255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0,902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384 · layer3 · σ1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576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0,769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0,242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0,897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512 · layer2 · σ1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4.096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0,738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0,235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0,893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512 · layer3 · σ1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1.024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0,773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0,270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0,918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512 · layer3 · σ4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1.024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0,773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0,276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Tabella 11"/>
          <p:cNvGraphicFramePr/>
          <p:nvPr/>
        </p:nvGraphicFramePr>
        <p:xfrm>
          <a:off x="2428875" y="5286375"/>
          <a:ext cx="7334250" cy="1000125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Preset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Quando usarlo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384 · layer2 · σ1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qualità con costo moderato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512 · layer3 · σ4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migliori mappe, backbone più costoso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599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2FC44D84-4A1E-4089-A23B-6D3C1B96F222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ANOMALY DETECTION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552D7A79-8560-445A-85AD-1FEE86EF61AB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Ablazioni di SuperSimpleNet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AB9A22D4-451E-4A0F-B3C2-7324C68ED1C9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86B8889-0F75-431F-B38A-1D96E17AF6F0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11" name="Tabella 10"/>
          <p:cNvGraphicFramePr/>
          <p:nvPr>
            <p:extLst>
              <p:ext uri="{D42A27DB-BD31-4B8C-83A1-F6EECF244321}">
                <p14:modId xmlns:p14="http://schemas.microsoft.com/office/powerpoint/2010/main" val="4035453185"/>
              </p:ext>
            </p:extLst>
          </p:nvPr>
        </p:nvGraphicFramePr>
        <p:xfrm>
          <a:off x="419100" y="1333500"/>
          <a:ext cx="11353800" cy="3714753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Configurazione test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I-AUROC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I-AP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P-AP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AUPRO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Baseline · score max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0,697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0,724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0,195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0,890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Stesso checkpoint · top 1%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0,811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0,847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0,195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0,890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Perlin 0,6 · restricted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0,557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0,538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0,003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0,392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Perlin 0,2 · restricted · σ4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0,831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0,862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0,168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0,882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Perlin 0,2 · unrestricted · σ4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0,827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0,861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0,191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0,875</a:t>
                      </a:r>
                    </a:p>
                  </a:txBody>
                  <a:tcPr marL="47625" marR="47625" marT="28575" marB="28575">
                    <a:solidFill>
                      <a:srgbClr val="F3D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Tutte pose · crop off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0,541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0,548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0,083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0,741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Tabella 11"/>
          <p:cNvGraphicFramePr/>
          <p:nvPr/>
        </p:nvGraphicFramePr>
        <p:xfrm>
          <a:off x="1619250" y="5429250"/>
          <a:ext cx="8953500" cy="809626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4813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Benchmark T4 · batch 1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End-to-end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FPS predict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GPU alloc.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Perlin 0,2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24,40 ms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65,36 ms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40,99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81 MiB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9911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8EE64BF2-6BCC-4351-B0F0-AE5F2E37D573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ANOMALY DETECTION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41FB0527-77F4-464A-BFCA-437484F13DA5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Esperimenti con EfficientAD-S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75B6200A-2440-47DA-9752-0780F15F6B5E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B18993D-D43D-4D9A-92A4-AAF6E1CDF9C7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11" name="Tabella 10"/>
          <p:cNvGraphicFramePr/>
          <p:nvPr/>
        </p:nvGraphicFramePr>
        <p:xfrm>
          <a:off x="361950" y="1428750"/>
          <a:ext cx="11468100" cy="3714753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5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Pose / crop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I-AUROC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I-AP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P-AUROC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P-AP</a:t>
                      </a:r>
                    </a:p>
                  </a:txBody>
                  <a:tcPr marL="47625" marR="47625" marT="38100" marB="38100">
                    <a:solidFill>
                      <a:srgbClr val="20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tutte / full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70k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0,572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0,557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0,939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0,038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Pose crop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tutte / per posa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70k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0,553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0,540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0,926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0,028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Pose A · crop 900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A / 900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70k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0,636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0,631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0,973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0,075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Pose A · crop 720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A / 720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67k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0,640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0,636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0,958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0,061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 dirty="0" err="1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Calibrazione</a:t>
                      </a:r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 spatial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A / 720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70k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0,614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0,576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0,888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0,029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Score global max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A / 720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70k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0,665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0,647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0,964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0,090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Tabella 11"/>
          <p:cNvGraphicFramePr/>
          <p:nvPr/>
        </p:nvGraphicFramePr>
        <p:xfrm>
          <a:off x="1619250" y="5381625"/>
          <a:ext cx="8953500" cy="114300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Confronto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test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I-AUROC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I-AP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P-AP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Baseline tutte pose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0,572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0,557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0,038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Migliore A_overhead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0,665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0,647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0,090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Incremento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+0,094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+0,091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+0,052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46760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B22B2664-037D-4E9B-9C95-4BFFD2E5B117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ANOMALY DETECTION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24B7665-B9CF-4E37-B494-0C1C9DFE35B7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Calibrazione dello score di EfficientAD-S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ECECD626-0A0C-4D56-88A0-3078C0477F1F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CD7B578-302F-46EA-ABDA-581E9B0A6E11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13" name="Tabella 12"/>
          <p:cNvGraphicFramePr/>
          <p:nvPr>
            <p:extLst>
              <p:ext uri="{D42A27DB-BD31-4B8C-83A1-F6EECF244321}">
                <p14:modId xmlns:p14="http://schemas.microsoft.com/office/powerpoint/2010/main" val="1511495142"/>
              </p:ext>
            </p:extLst>
          </p:nvPr>
        </p:nvGraphicFramePr>
        <p:xfrm>
          <a:off x="1143000" y="1955800"/>
          <a:ext cx="4762500" cy="33337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Score </a:t>
                      </a:r>
                      <a:r>
                        <a:rPr sz="105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validation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I-AUROC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Global max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Spatial max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0,850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Spatial top 0,05%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0,850</a:t>
                      </a:r>
                    </a:p>
                  </a:txBody>
                  <a:tcPr marL="47625" marR="47625" marT="28575" marB="28575">
                    <a:solidFill>
                      <a:srgbClr val="DD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Spatial top 0,10%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0,849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Spatial top 0,25%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0,848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Spatial top 0,50%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0,846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Tabella 13"/>
          <p:cNvGraphicFramePr/>
          <p:nvPr>
            <p:extLst>
              <p:ext uri="{D42A27DB-BD31-4B8C-83A1-F6EECF244321}">
                <p14:modId xmlns:p14="http://schemas.microsoft.com/office/powerpoint/2010/main" val="2026972080"/>
              </p:ext>
            </p:extLst>
          </p:nvPr>
        </p:nvGraphicFramePr>
        <p:xfrm>
          <a:off x="6191250" y="1768475"/>
          <a:ext cx="5524500" cy="161925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Finalizzazione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test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I-AUROC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I-AP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P-AP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Spatial top 0,05%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0,614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0,576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0,029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Global max · 70k fisso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0,665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0,647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0,090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ella 14"/>
          <p:cNvGraphicFramePr/>
          <p:nvPr/>
        </p:nvGraphicFramePr>
        <p:xfrm>
          <a:off x="6858000" y="3714750"/>
          <a:ext cx="4095750" cy="1809752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Risultato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Δ vs spatial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I-AUROC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+0,051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I-AP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+0,072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P-AP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+0,061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ttangolo 7">
            <a:extLst>
              <a:ext uri="{FF2B5EF4-FFF2-40B4-BE49-F238E27FC236}">
                <a16:creationId xmlns:a16="http://schemas.microsoft.com/office/drawing/2014/main" id="{A296D03C-0317-47C7-BEBD-CFDA89A5D913}"/>
              </a:ext>
            </a:extLst>
          </p:cNvPr>
          <p:cNvSpPr>
            <a:spLocks noGrp="1"/>
          </p:cNvSpPr>
          <p:nvPr/>
        </p:nvSpPr>
        <p:spPr>
          <a:xfrm>
            <a:off x="5905500" y="6143625"/>
            <a:ext cx="6096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477B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77B78"/>
                </a:solidFill>
                <a:latin typeface="Arial"/>
                <a:ea typeface="Arial"/>
                <a:cs typeface="Arial"/>
              </a:rPr>
              <a:t>Scelta finale: global max, 70k step</a:t>
            </a:r>
          </a:p>
        </p:txBody>
      </p:sp>
    </p:spTree>
    <p:extLst>
      <p:ext uri="{BB962C8B-B14F-4D97-AF65-F5344CB8AC3E}">
        <p14:creationId xmlns:p14="http://schemas.microsoft.com/office/powerpoint/2010/main" val="353410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4150C13B-7058-4F7C-926F-4D5CF961D4B7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25" b="1">
                <a:solidFill>
                  <a:srgbClr val="C75B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5B3D"/>
                </a:solidFill>
                <a:latin typeface="Arial"/>
                <a:ea typeface="Arial"/>
                <a:cs typeface="Arial"/>
              </a:rPr>
              <a:t>CONCLUSIONI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BAF4582B-5158-4ECB-B24E-69016E0DC743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2027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2B"/>
                </a:solidFill>
                <a:latin typeface="Arial"/>
                <a:ea typeface="Arial"/>
                <a:cs typeface="Arial"/>
              </a:rPr>
              <a:t>Risultati principali e prossimi passi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61B1BC6A-76BC-449A-89DC-8931094915EA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0"/>
          </a:xfrm>
          <a:prstGeom prst="line">
            <a:avLst/>
          </a:prstGeom>
          <a:noFill/>
          <a:ln w="28575">
            <a:solidFill>
              <a:srgbClr val="C75B3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17ECC53-E3A5-4EBE-8C3F-2E878712C550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825" b="0">
                <a:solidFill>
                  <a:srgbClr val="6671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17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11" name="Tabella 10"/>
          <p:cNvGraphicFramePr/>
          <p:nvPr/>
        </p:nvGraphicFramePr>
        <p:xfrm>
          <a:off x="400050" y="1381125"/>
          <a:ext cx="11391900" cy="29527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Scelta corrente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Evidenza numerica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Limite</a:t>
                      </a:r>
                    </a:p>
                  </a:txBody>
                  <a:tcPr marL="47625" marR="47625" marT="38100" marB="38100">
                    <a:solidFill>
                      <a:srgbClr val="477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Segmentazione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SegFormer-B0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75,55% mIoU · 3,72 M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QAT: 58,03%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AD immagine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SuperSimpleNet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I-AUROC 0,827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pose multiple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AD pixel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PatchCore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P-AP 0,309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bank 50k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AD mappe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TinyGLASS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AUPRO 0,920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costo backbone/cache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ella 11"/>
          <p:cNvGraphicFramePr/>
          <p:nvPr>
            <p:extLst>
              <p:ext uri="{D42A27DB-BD31-4B8C-83A1-F6EECF244321}">
                <p14:modId xmlns:p14="http://schemas.microsoft.com/office/powerpoint/2010/main" val="2999573961"/>
              </p:ext>
            </p:extLst>
          </p:nvPr>
        </p:nvGraphicFramePr>
        <p:xfrm>
          <a:off x="1809750" y="4984750"/>
          <a:ext cx="8572500" cy="12192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Priorità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Prossimo esperimento</a:t>
                      </a:r>
                    </a:p>
                  </a:txBody>
                  <a:tcPr marL="47625" marR="47625" marT="38100" marB="38100">
                    <a:solidFill>
                      <a:srgbClr val="C75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2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Piccola prova Sym-to-Real su immagini vere per AD</a:t>
                      </a:r>
                      <a:endParaRPr sz="1125" dirty="0">
                        <a:solidFill>
                          <a:srgbClr val="20272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Benchmark uniforme FP32 / FP16 / PTQ INT8 / QAT INT8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25" dirty="0">
                          <a:solidFill>
                            <a:srgbClr val="20272B"/>
                          </a:solidFill>
                          <a:latin typeface="Arial"/>
                          <a:ea typeface="Arial"/>
                          <a:cs typeface="Arial"/>
                        </a:rPr>
                        <a:t>Più ablazioni per pose su AD</a:t>
                      </a:r>
                      <a:endParaRPr sz="1125" dirty="0">
                        <a:solidFill>
                          <a:srgbClr val="20272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47625" marR="47625" marT="28575" marB="28575"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3300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3138</Words>
  <Application>Microsoft Office PowerPoint</Application>
  <DocSecurity>0</DocSecurity>
  <PresentationFormat>Widescreen</PresentationFormat>
  <Paragraphs>813</Paragraphs>
  <Slides>26</Slides>
  <Notes>26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26</vt:i4>
      </vt:variant>
    </vt:vector>
  </HeadingPairs>
  <TitlesOfParts>
    <vt:vector size="29" baseType="lpstr">
      <vt:lpstr>Arial</vt:lpstr>
      <vt:lpstr>Calibri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Daniele Venturini</cp:lastModifiedBy>
  <cp:revision>1</cp:revision>
  <dcterms:created xsi:type="dcterms:W3CDTF">2026-09-06T19:16:20Z</dcterms:created>
  <dcterms:modified xsi:type="dcterms:W3CDTF">2026-09-06T19:40:53Z</dcterms:modified>
</cp:coreProperties>
</file>