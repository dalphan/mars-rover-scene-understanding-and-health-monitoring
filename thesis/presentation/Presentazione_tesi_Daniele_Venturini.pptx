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charts/chart2.xml" ContentType="application/vnd.openxmlformats-officedocument.drawingml.chart+xml"/>
  <Override PartName="/ppt/notesSlides/notesSlide20.xml" ContentType="application/vnd.openxmlformats-officedocument.presentationml.notesSlide+xml"/>
  <Override PartName="/ppt/charts/chart3.xml" ContentType="application/vnd.openxmlformats-officedocument.drawingml.chart+xml"/>
  <Override PartName="/ppt/notesSlides/notesSlide21.xml" ContentType="application/vnd.openxmlformats-officedocument.presentationml.notesSlide+xml"/>
  <Override PartName="/ppt/charts/chart4.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271" autoAdjust="0"/>
  </p:normalViewPr>
  <p:slideViewPr>
    <p:cSldViewPr snapToGrid="0">
      <p:cViewPr varScale="1">
        <p:scale>
          <a:sx n="84" d="100"/>
          <a:sy n="84" d="100"/>
        </p:scale>
        <p:origin x="159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bar"/>
        <c:grouping val="clustered"/>
        <c:varyColors val="0"/>
        <c:ser>
          <c:idx val="0"/>
          <c:order val="0"/>
          <c:tx>
            <c:v>mIoU test (%)</c:v>
          </c:tx>
          <c:spPr>
            <a:solidFill>
              <a:srgbClr val="A5A5A5"/>
            </a:solidFill>
          </c:spPr>
          <c:invertIfNegative val="0"/>
          <c:dPt>
            <c:idx val="4"/>
            <c:invertIfNegative val="0"/>
            <c:bubble3D val="0"/>
            <c:spPr>
              <a:solidFill>
                <a:srgbClr val="822433"/>
              </a:solidFill>
            </c:spPr>
            <c:extLst>
              <c:ext xmlns:c16="http://schemas.microsoft.com/office/drawing/2014/chart" uri="{C3380CC4-5D6E-409C-BE32-E72D297353CC}">
                <c16:uniqueId val="{00000001-D5F8-4E94-8732-6FCA12117512}"/>
              </c:ext>
            </c:extLst>
          </c:dPt>
          <c:dLbls>
            <c:numFmt formatCode="0.00" sourceLinked="0"/>
            <c:spPr>
              <a:noFill/>
              <a:ln>
                <a:noFill/>
              </a:ln>
              <a:effectLst/>
            </c:spPr>
            <c:txPr>
              <a:bodyPr anchorCtr="1"/>
              <a:lstStyle/>
              <a:p>
                <a:pPr>
                  <a:defRPr sz="1500" b="1">
                    <a:solidFill>
                      <a:srgbClr val="202124"/>
                    </a:solidFill>
                    <a:latin typeface="Roboto"/>
                    <a:ea typeface="Roboto"/>
                    <a:cs typeface="Roboto"/>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Data'!$A$2:$A$8</c:f>
              <c:strCache>
                <c:ptCount val="7"/>
                <c:pt idx="0">
                  <c:v>U-Net R34</c:v>
                </c:pt>
                <c:pt idx="1">
                  <c:v>U-Net MV2</c:v>
                </c:pt>
                <c:pt idx="2">
                  <c:v>DeepLabV3 R34</c:v>
                </c:pt>
                <c:pt idx="3">
                  <c:v>DeepLabV3+ MV2</c:v>
                </c:pt>
                <c:pt idx="4">
                  <c:v>SegFormer-B0</c:v>
                </c:pt>
                <c:pt idx="5">
                  <c:v>LCNet 3,7</c:v>
                </c:pt>
                <c:pt idx="6">
                  <c:v>LCNet 3,11</c:v>
                </c:pt>
              </c:strCache>
            </c:strRef>
          </c:cat>
          <c:val>
            <c:numRef>
              <c:f>'Chart Data'!$B$2:$B$8</c:f>
              <c:numCache>
                <c:formatCode>General</c:formatCode>
                <c:ptCount val="7"/>
                <c:pt idx="0">
                  <c:v>64.55</c:v>
                </c:pt>
                <c:pt idx="1">
                  <c:v>64.569999999999993</c:v>
                </c:pt>
                <c:pt idx="2">
                  <c:v>73.790000000000006</c:v>
                </c:pt>
                <c:pt idx="3">
                  <c:v>64.069999999999993</c:v>
                </c:pt>
                <c:pt idx="4">
                  <c:v>75.55</c:v>
                </c:pt>
                <c:pt idx="5">
                  <c:v>57.89</c:v>
                </c:pt>
                <c:pt idx="6">
                  <c:v>59.11</c:v>
                </c:pt>
              </c:numCache>
            </c:numRef>
          </c:val>
          <c:extLst>
            <c:ext xmlns:c16="http://schemas.microsoft.com/office/drawing/2014/chart" uri="{C3380CC4-5D6E-409C-BE32-E72D297353CC}">
              <c16:uniqueId val="{00000002-D5F8-4E94-8732-6FCA12117512}"/>
            </c:ext>
          </c:extLst>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l"/>
        <c:majorGridlines>
          <c:spPr>
            <a:ln w="7620">
              <a:solidFill>
                <a:srgbClr val="E8E8E8"/>
              </a:solidFill>
              <a:prstDash val="solid"/>
            </a:ln>
          </c:spPr>
        </c:majorGridlines>
        <c:numFmt formatCode="General" sourceLinked="1"/>
        <c:majorTickMark val="none"/>
        <c:minorTickMark val="none"/>
        <c:tickLblPos val="nextTo"/>
        <c:spPr>
          <a:ln w="7620">
            <a:solidFill>
              <a:srgbClr val="B8B8B8"/>
            </a:solidFill>
          </a:ln>
        </c:spPr>
        <c:txPr>
          <a:bodyPr anchorCtr="1"/>
          <a:lstStyle/>
          <a:p>
            <a:pPr>
              <a:defRPr sz="1425">
                <a:solidFill>
                  <a:srgbClr val="62666B"/>
                </a:solidFill>
                <a:latin typeface="Roboto"/>
                <a:ea typeface="Roboto"/>
                <a:cs typeface="Roboto"/>
              </a:defRPr>
            </a:pPr>
            <a:endParaRPr lang="it-IT"/>
          </a:p>
        </c:txPr>
        <c:crossAx val="48672768"/>
        <c:crosses val="autoZero"/>
        <c:auto val="1"/>
        <c:lblAlgn val="ctr"/>
        <c:lblOffset val="100"/>
        <c:tickLblSkip val="1"/>
        <c:tickMarkSkip val="1"/>
        <c:noMultiLvlLbl val="1"/>
      </c:catAx>
      <c:valAx>
        <c:axId val="48672768"/>
        <c:scaling>
          <c:orientation val="minMax"/>
          <c:max val="100"/>
          <c:min val="0"/>
        </c:scaling>
        <c:delete val="0"/>
        <c:axPos val="b"/>
        <c:numFmt formatCode="General" sourceLinked="1"/>
        <c:majorTickMark val="none"/>
        <c:minorTickMark val="none"/>
        <c:tickLblPos val="nextTo"/>
        <c:spPr>
          <a:ln w="0">
            <a:noFill/>
          </a:ln>
        </c:spPr>
        <c:txPr>
          <a:bodyPr anchorCtr="1"/>
          <a:lstStyle/>
          <a:p>
            <a:pPr>
              <a:defRPr sz="1575">
                <a:solidFill>
                  <a:srgbClr val="202124"/>
                </a:solidFill>
                <a:latin typeface="Roboto"/>
                <a:ea typeface="Roboto"/>
                <a:cs typeface="Roboto"/>
              </a:defRPr>
            </a:pPr>
            <a:endParaRPr lang="it-IT"/>
          </a:p>
        </c:txPr>
        <c:crossAx val="48650112"/>
        <c:crosses val="autoZero"/>
        <c:crossBetween val="between"/>
        <c:majorUnit val="20"/>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bar"/>
        <c:grouping val="clustered"/>
        <c:varyColors val="0"/>
        <c:ser>
          <c:idx val="0"/>
          <c:order val="0"/>
          <c:tx>
            <c:v>FP32</c:v>
          </c:tx>
          <c:spPr>
            <a:solidFill>
              <a:srgbClr val="A5A5A5"/>
            </a:solidFill>
          </c:spPr>
          <c:invertIfNegative val="0"/>
          <c:dLbls>
            <c:numFmt formatCode="0.00" sourceLinked="0"/>
            <c:spPr>
              <a:noFill/>
              <a:ln>
                <a:noFill/>
              </a:ln>
              <a:effectLst/>
            </c:spPr>
            <c:txPr>
              <a:bodyPr anchorCtr="1"/>
              <a:lstStyle/>
              <a:p>
                <a:pPr>
                  <a:defRPr sz="1500" b="1">
                    <a:solidFill>
                      <a:srgbClr val="202124"/>
                    </a:solidFill>
                    <a:latin typeface="Roboto"/>
                    <a:ea typeface="Roboto"/>
                    <a:cs typeface="Roboto"/>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SegFormer-B0</c:v>
                </c:pt>
                <c:pt idx="1">
                  <c:v>DeepLabV3+ MV2</c:v>
                </c:pt>
              </c:strCache>
            </c:strRef>
          </c:cat>
          <c:val>
            <c:numRef>
              <c:f>'Chart Data'!$B$2:$B$3</c:f>
              <c:numCache>
                <c:formatCode>General</c:formatCode>
                <c:ptCount val="2"/>
                <c:pt idx="0">
                  <c:v>835.72</c:v>
                </c:pt>
                <c:pt idx="1">
                  <c:v>653.72</c:v>
                </c:pt>
              </c:numCache>
            </c:numRef>
          </c:val>
          <c:extLst>
            <c:ext xmlns:c16="http://schemas.microsoft.com/office/drawing/2014/chart" uri="{C3380CC4-5D6E-409C-BE32-E72D297353CC}">
              <c16:uniqueId val="{00000000-8497-43D6-802F-66DA7C3830D6}"/>
            </c:ext>
          </c:extLst>
        </c:ser>
        <c:ser>
          <c:idx val="1"/>
          <c:order val="1"/>
          <c:tx>
            <c:v>QAT</c:v>
          </c:tx>
          <c:spPr>
            <a:solidFill>
              <a:srgbClr val="822433"/>
            </a:solidFill>
          </c:spPr>
          <c:invertIfNegative val="0"/>
          <c:dLbls>
            <c:numFmt formatCode="0.00" sourceLinked="0"/>
            <c:spPr>
              <a:noFill/>
              <a:ln>
                <a:noFill/>
              </a:ln>
              <a:effectLst/>
            </c:spPr>
            <c:txPr>
              <a:bodyPr anchorCtr="1"/>
              <a:lstStyle/>
              <a:p>
                <a:pPr>
                  <a:defRPr sz="1500" b="1">
                    <a:solidFill>
                      <a:srgbClr val="202124"/>
                    </a:solidFill>
                    <a:latin typeface="Roboto"/>
                    <a:ea typeface="Roboto"/>
                    <a:cs typeface="Roboto"/>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SegFormer-B0</c:v>
                </c:pt>
                <c:pt idx="1">
                  <c:v>DeepLabV3+ MV2</c:v>
                </c:pt>
              </c:strCache>
            </c:strRef>
          </c:cat>
          <c:val>
            <c:numRef>
              <c:f>'Chart Data'!$D$2:$D$3</c:f>
              <c:numCache>
                <c:formatCode>General</c:formatCode>
                <c:ptCount val="2"/>
                <c:pt idx="0">
                  <c:v>291.76</c:v>
                </c:pt>
                <c:pt idx="1">
                  <c:v>115.34</c:v>
                </c:pt>
              </c:numCache>
            </c:numRef>
          </c:val>
          <c:extLst>
            <c:ext xmlns:c16="http://schemas.microsoft.com/office/drawing/2014/chart" uri="{C3380CC4-5D6E-409C-BE32-E72D297353CC}">
              <c16:uniqueId val="{00000001-8497-43D6-802F-66DA7C3830D6}"/>
            </c:ext>
          </c:extLst>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l"/>
        <c:majorGridlines>
          <c:spPr>
            <a:ln w="7620">
              <a:solidFill>
                <a:srgbClr val="E8E8E8"/>
              </a:solidFill>
              <a:prstDash val="solid"/>
            </a:ln>
          </c:spPr>
        </c:majorGridlines>
        <c:numFmt formatCode="General" sourceLinked="1"/>
        <c:majorTickMark val="none"/>
        <c:minorTickMark val="none"/>
        <c:tickLblPos val="nextTo"/>
        <c:spPr>
          <a:ln w="7620">
            <a:solidFill>
              <a:srgbClr val="B8B8B8"/>
            </a:solidFill>
          </a:ln>
        </c:spPr>
        <c:txPr>
          <a:bodyPr anchorCtr="1"/>
          <a:lstStyle/>
          <a:p>
            <a:pPr>
              <a:defRPr sz="1425">
                <a:solidFill>
                  <a:srgbClr val="62666B"/>
                </a:solidFill>
                <a:latin typeface="Roboto"/>
                <a:ea typeface="Roboto"/>
                <a:cs typeface="Roboto"/>
              </a:defRPr>
            </a:pPr>
            <a:endParaRPr lang="it-IT"/>
          </a:p>
        </c:txPr>
        <c:crossAx val="48672768"/>
        <c:crosses val="autoZero"/>
        <c:auto val="1"/>
        <c:lblAlgn val="ctr"/>
        <c:lblOffset val="100"/>
        <c:tickLblSkip val="1"/>
        <c:tickMarkSkip val="1"/>
        <c:noMultiLvlLbl val="1"/>
      </c:catAx>
      <c:valAx>
        <c:axId val="48672768"/>
        <c:scaling>
          <c:orientation val="minMax"/>
          <c:max val="1000"/>
          <c:min val="0"/>
        </c:scaling>
        <c:delete val="0"/>
        <c:axPos val="b"/>
        <c:numFmt formatCode="General" sourceLinked="1"/>
        <c:majorTickMark val="none"/>
        <c:minorTickMark val="none"/>
        <c:tickLblPos val="nextTo"/>
        <c:spPr>
          <a:ln w="0">
            <a:noFill/>
          </a:ln>
        </c:spPr>
        <c:txPr>
          <a:bodyPr anchorCtr="1"/>
          <a:lstStyle/>
          <a:p>
            <a:pPr>
              <a:defRPr sz="1575">
                <a:solidFill>
                  <a:srgbClr val="202124"/>
                </a:solidFill>
                <a:latin typeface="Roboto"/>
                <a:ea typeface="Roboto"/>
                <a:cs typeface="Roboto"/>
              </a:defRPr>
            </a:pPr>
            <a:endParaRPr lang="it-IT"/>
          </a:p>
        </c:txPr>
        <c:crossAx val="48650112"/>
        <c:crosses val="autoZero"/>
        <c:crossBetween val="between"/>
        <c:majorUnit val="200"/>
      </c:valAx>
      <c:spPr>
        <a:solidFill>
          <a:srgbClr val="FFFFFF"/>
        </a:solidFill>
        <a:ln w="0">
          <a:noFill/>
        </a:ln>
      </c:spPr>
    </c:plotArea>
    <c:legend>
      <c:legendPos val="b"/>
      <c:overlay val="0"/>
      <c:txPr>
        <a:bodyPr anchorCtr="1"/>
        <a:lstStyle/>
        <a:p>
          <a:pPr>
            <a:defRPr sz="1500">
              <a:latin typeface="Roboto"/>
              <a:ea typeface="Roboto"/>
              <a:cs typeface="Roboto"/>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bar"/>
        <c:grouping val="clustered"/>
        <c:varyColors val="0"/>
        <c:ser>
          <c:idx val="0"/>
          <c:order val="0"/>
          <c:tx>
            <c:v>Image AUROC (%)</c:v>
          </c:tx>
          <c:spPr>
            <a:solidFill>
              <a:srgbClr val="A5A5A5"/>
            </a:solidFill>
          </c:spPr>
          <c:invertIfNegative val="0"/>
          <c:dPt>
            <c:idx val="1"/>
            <c:invertIfNegative val="0"/>
            <c:bubble3D val="0"/>
            <c:spPr>
              <a:solidFill>
                <a:srgbClr val="822433"/>
              </a:solidFill>
            </c:spPr>
            <c:extLst>
              <c:ext xmlns:c16="http://schemas.microsoft.com/office/drawing/2014/chart" uri="{C3380CC4-5D6E-409C-BE32-E72D297353CC}">
                <c16:uniqueId val="{00000001-6643-4119-A539-5A074E32C278}"/>
              </c:ext>
            </c:extLst>
          </c:dPt>
          <c:dPt>
            <c:idx val="3"/>
            <c:invertIfNegative val="0"/>
            <c:bubble3D val="0"/>
            <c:spPr>
              <a:solidFill>
                <a:srgbClr val="397F87"/>
              </a:solidFill>
            </c:spPr>
            <c:extLst>
              <c:ext xmlns:c16="http://schemas.microsoft.com/office/drawing/2014/chart" uri="{C3380CC4-5D6E-409C-BE32-E72D297353CC}">
                <c16:uniqueId val="{00000003-6643-4119-A539-5A074E32C278}"/>
              </c:ext>
            </c:extLst>
          </c:dPt>
          <c:dLbls>
            <c:numFmt formatCode="0.00" sourceLinked="0"/>
            <c:spPr>
              <a:noFill/>
              <a:ln>
                <a:noFill/>
              </a:ln>
              <a:effectLst/>
            </c:spPr>
            <c:txPr>
              <a:bodyPr anchorCtr="1"/>
              <a:lstStyle/>
              <a:p>
                <a:pPr>
                  <a:defRPr sz="1500" b="1">
                    <a:solidFill>
                      <a:srgbClr val="202124"/>
                    </a:solidFill>
                    <a:latin typeface="Roboto"/>
                    <a:ea typeface="Roboto"/>
                    <a:cs typeface="Roboto"/>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Data'!$A$2:$A$7</c:f>
              <c:strCache>
                <c:ptCount val="6"/>
                <c:pt idx="0">
                  <c:v>PatchCore-S</c:v>
                </c:pt>
                <c:pt idx="1">
                  <c:v>PatchCore-L</c:v>
                </c:pt>
                <c:pt idx="2">
                  <c:v>EfficientAD-S</c:v>
                </c:pt>
                <c:pt idx="3">
                  <c:v>SuperSimpleNet</c:v>
                </c:pt>
                <c:pt idx="4">
                  <c:v>TinyGLASS-384</c:v>
                </c:pt>
                <c:pt idx="5">
                  <c:v>TinyGLASS-512</c:v>
                </c:pt>
              </c:strCache>
            </c:strRef>
          </c:cat>
          <c:val>
            <c:numRef>
              <c:f>'Chart Data'!$B$2:$B$7</c:f>
              <c:numCache>
                <c:formatCode>General</c:formatCode>
                <c:ptCount val="6"/>
                <c:pt idx="0">
                  <c:v>79.28</c:v>
                </c:pt>
                <c:pt idx="1">
                  <c:v>86.43</c:v>
                </c:pt>
                <c:pt idx="2">
                  <c:v>66.5</c:v>
                </c:pt>
                <c:pt idx="3">
                  <c:v>82.72</c:v>
                </c:pt>
                <c:pt idx="4">
                  <c:v>77.52</c:v>
                </c:pt>
                <c:pt idx="5">
                  <c:v>77.33</c:v>
                </c:pt>
              </c:numCache>
            </c:numRef>
          </c:val>
          <c:extLst>
            <c:ext xmlns:c16="http://schemas.microsoft.com/office/drawing/2014/chart" uri="{C3380CC4-5D6E-409C-BE32-E72D297353CC}">
              <c16:uniqueId val="{00000004-6643-4119-A539-5A074E32C278}"/>
            </c:ext>
          </c:extLst>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l"/>
        <c:majorGridlines>
          <c:spPr>
            <a:ln w="7620">
              <a:solidFill>
                <a:srgbClr val="E8E8E8"/>
              </a:solidFill>
              <a:prstDash val="solid"/>
            </a:ln>
          </c:spPr>
        </c:majorGridlines>
        <c:numFmt formatCode="General" sourceLinked="1"/>
        <c:majorTickMark val="none"/>
        <c:minorTickMark val="none"/>
        <c:tickLblPos val="nextTo"/>
        <c:spPr>
          <a:ln w="7620">
            <a:solidFill>
              <a:srgbClr val="B8B8B8"/>
            </a:solidFill>
          </a:ln>
        </c:spPr>
        <c:txPr>
          <a:bodyPr anchorCtr="1"/>
          <a:lstStyle/>
          <a:p>
            <a:pPr>
              <a:defRPr sz="1425">
                <a:solidFill>
                  <a:srgbClr val="62666B"/>
                </a:solidFill>
                <a:latin typeface="Roboto"/>
                <a:ea typeface="Roboto"/>
                <a:cs typeface="Roboto"/>
              </a:defRPr>
            </a:pPr>
            <a:endParaRPr lang="it-IT"/>
          </a:p>
        </c:txPr>
        <c:crossAx val="48672768"/>
        <c:crosses val="autoZero"/>
        <c:auto val="1"/>
        <c:lblAlgn val="ctr"/>
        <c:lblOffset val="100"/>
        <c:tickLblSkip val="1"/>
        <c:tickMarkSkip val="1"/>
        <c:noMultiLvlLbl val="1"/>
      </c:catAx>
      <c:valAx>
        <c:axId val="48672768"/>
        <c:scaling>
          <c:orientation val="minMax"/>
          <c:max val="100"/>
          <c:min val="0"/>
        </c:scaling>
        <c:delete val="0"/>
        <c:axPos val="b"/>
        <c:numFmt formatCode="General" sourceLinked="1"/>
        <c:majorTickMark val="none"/>
        <c:minorTickMark val="none"/>
        <c:tickLblPos val="nextTo"/>
        <c:spPr>
          <a:ln w="0">
            <a:noFill/>
          </a:ln>
        </c:spPr>
        <c:txPr>
          <a:bodyPr anchorCtr="1"/>
          <a:lstStyle/>
          <a:p>
            <a:pPr>
              <a:defRPr sz="1575">
                <a:solidFill>
                  <a:srgbClr val="202124"/>
                </a:solidFill>
                <a:latin typeface="Roboto"/>
                <a:ea typeface="Roboto"/>
                <a:cs typeface="Roboto"/>
              </a:defRPr>
            </a:pPr>
            <a:endParaRPr lang="it-IT"/>
          </a:p>
        </c:txPr>
        <c:crossAx val="48650112"/>
        <c:crosses val="autoZero"/>
        <c:crossBetween val="between"/>
        <c:majorUnit val="20"/>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bar"/>
        <c:grouping val="clustered"/>
        <c:varyColors val="0"/>
        <c:ser>
          <c:idx val="0"/>
          <c:order val="0"/>
          <c:tx>
            <c:v>Latenza (ms)</c:v>
          </c:tx>
          <c:spPr>
            <a:solidFill>
              <a:srgbClr val="A5A5A5"/>
            </a:solidFill>
          </c:spPr>
          <c:invertIfNegative val="0"/>
          <c:dPt>
            <c:idx val="4"/>
            <c:invertIfNegative val="0"/>
            <c:bubble3D val="0"/>
            <c:spPr>
              <a:solidFill>
                <a:srgbClr val="822433"/>
              </a:solidFill>
            </c:spPr>
            <c:extLst>
              <c:ext xmlns:c16="http://schemas.microsoft.com/office/drawing/2014/chart" uri="{C3380CC4-5D6E-409C-BE32-E72D297353CC}">
                <c16:uniqueId val="{00000001-0F46-4354-940C-3EEF6B7F8FE6}"/>
              </c:ext>
            </c:extLst>
          </c:dPt>
          <c:dPt>
            <c:idx val="5"/>
            <c:invertIfNegative val="0"/>
            <c:bubble3D val="0"/>
            <c:spPr>
              <a:solidFill>
                <a:srgbClr val="397F87"/>
              </a:solidFill>
            </c:spPr>
            <c:extLst>
              <c:ext xmlns:c16="http://schemas.microsoft.com/office/drawing/2014/chart" uri="{C3380CC4-5D6E-409C-BE32-E72D297353CC}">
                <c16:uniqueId val="{00000003-0F46-4354-940C-3EEF6B7F8FE6}"/>
              </c:ext>
            </c:extLst>
          </c:dPt>
          <c:dLbls>
            <c:numFmt formatCode="0.00" sourceLinked="0"/>
            <c:spPr>
              <a:noFill/>
              <a:ln>
                <a:noFill/>
              </a:ln>
              <a:effectLst/>
            </c:spPr>
            <c:txPr>
              <a:bodyPr anchorCtr="1"/>
              <a:lstStyle/>
              <a:p>
                <a:pPr>
                  <a:defRPr sz="1500" b="1">
                    <a:solidFill>
                      <a:srgbClr val="202124"/>
                    </a:solidFill>
                    <a:latin typeface="Roboto"/>
                    <a:ea typeface="Roboto"/>
                    <a:cs typeface="Roboto"/>
                  </a:defRPr>
                </a:pPr>
                <a:endParaRPr lang="it-I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Data'!$A$2:$A$7</c:f>
              <c:strCache>
                <c:ptCount val="6"/>
                <c:pt idx="0">
                  <c:v>PatchCore-S</c:v>
                </c:pt>
                <c:pt idx="1">
                  <c:v>PatchCore-L</c:v>
                </c:pt>
                <c:pt idx="2">
                  <c:v>EfficientAD-S</c:v>
                </c:pt>
                <c:pt idx="3">
                  <c:v>SuperSimpleNet</c:v>
                </c:pt>
                <c:pt idx="4">
                  <c:v>TinyGLASS-384</c:v>
                </c:pt>
                <c:pt idx="5">
                  <c:v>TinyGLASS-512</c:v>
                </c:pt>
              </c:strCache>
            </c:strRef>
          </c:cat>
          <c:val>
            <c:numRef>
              <c:f>'Chart Data'!$B$2:$B$7</c:f>
              <c:numCache>
                <c:formatCode>General</c:formatCode>
                <c:ptCount val="6"/>
                <c:pt idx="0">
                  <c:v>101.21</c:v>
                </c:pt>
                <c:pt idx="1">
                  <c:v>62.89</c:v>
                </c:pt>
                <c:pt idx="2">
                  <c:v>57.72</c:v>
                </c:pt>
                <c:pt idx="3">
                  <c:v>27.54</c:v>
                </c:pt>
                <c:pt idx="4">
                  <c:v>5.13</c:v>
                </c:pt>
                <c:pt idx="5">
                  <c:v>6.29</c:v>
                </c:pt>
              </c:numCache>
            </c:numRef>
          </c:val>
          <c:extLst>
            <c:ext xmlns:c16="http://schemas.microsoft.com/office/drawing/2014/chart" uri="{C3380CC4-5D6E-409C-BE32-E72D297353CC}">
              <c16:uniqueId val="{00000004-0F46-4354-940C-3EEF6B7F8FE6}"/>
            </c:ext>
          </c:extLst>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l"/>
        <c:majorGridlines>
          <c:spPr>
            <a:ln w="7620">
              <a:solidFill>
                <a:srgbClr val="E8E8E8"/>
              </a:solidFill>
              <a:prstDash val="solid"/>
            </a:ln>
          </c:spPr>
        </c:majorGridlines>
        <c:numFmt formatCode="General" sourceLinked="1"/>
        <c:majorTickMark val="none"/>
        <c:minorTickMark val="none"/>
        <c:tickLblPos val="nextTo"/>
        <c:spPr>
          <a:ln w="7620">
            <a:solidFill>
              <a:srgbClr val="B8B8B8"/>
            </a:solidFill>
          </a:ln>
        </c:spPr>
        <c:txPr>
          <a:bodyPr anchorCtr="1"/>
          <a:lstStyle/>
          <a:p>
            <a:pPr>
              <a:defRPr sz="1425">
                <a:solidFill>
                  <a:srgbClr val="62666B"/>
                </a:solidFill>
                <a:latin typeface="Roboto"/>
                <a:ea typeface="Roboto"/>
                <a:cs typeface="Roboto"/>
              </a:defRPr>
            </a:pPr>
            <a:endParaRPr lang="it-IT"/>
          </a:p>
        </c:txPr>
        <c:crossAx val="48672768"/>
        <c:crosses val="autoZero"/>
        <c:auto val="1"/>
        <c:lblAlgn val="ctr"/>
        <c:lblOffset val="100"/>
        <c:tickLblSkip val="1"/>
        <c:tickMarkSkip val="1"/>
        <c:noMultiLvlLbl val="1"/>
      </c:catAx>
      <c:valAx>
        <c:axId val="48672768"/>
        <c:scaling>
          <c:orientation val="minMax"/>
          <c:max val="120"/>
          <c:min val="0"/>
        </c:scaling>
        <c:delete val="0"/>
        <c:axPos val="b"/>
        <c:numFmt formatCode="General" sourceLinked="1"/>
        <c:majorTickMark val="none"/>
        <c:minorTickMark val="none"/>
        <c:tickLblPos val="nextTo"/>
        <c:spPr>
          <a:ln w="0">
            <a:noFill/>
          </a:ln>
        </c:spPr>
        <c:txPr>
          <a:bodyPr anchorCtr="1"/>
          <a:lstStyle/>
          <a:p>
            <a:pPr>
              <a:defRPr sz="1575">
                <a:solidFill>
                  <a:srgbClr val="202124"/>
                </a:solidFill>
                <a:latin typeface="Roboto"/>
                <a:ea typeface="Roboto"/>
                <a:cs typeface="Roboto"/>
              </a:defRPr>
            </a:pPr>
            <a:endParaRPr lang="it-IT"/>
          </a:p>
        </c:txPr>
        <c:crossAx val="48650112"/>
        <c:crosses val="autoZero"/>
        <c:crossBetween val="between"/>
        <c:majorUnit val="20"/>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0:15. Intervallo: 0:00–0:15.</a:t>
            </a:r>
          </a:p>
          <a:p>
            <a:endParaRPr/>
          </a:p>
          <a:p>
            <a:r>
              <a:t>Questa tesi studia due applicazioni della visione artificiale per i rover marziani: la comprensione semantica dell’ambiente e l’ispezione visiva delle ruote. Il filo comune è il rapporto tra qualità dell’informazione e risorse necessarie per ottenerla.</a:t>
            </a:r>
          </a:p>
          <a:p>
            <a:endParaRPr/>
          </a:p>
          <a:p>
            <a:r>
              <a:t>Fonte interna: Frontespizio e abstract.</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0:35. Intervallo: 0:15–0:50.</a:t>
            </a:r>
          </a:p>
          <a:p>
            <a:endParaRPr/>
          </a:p>
          <a:p>
            <a:r>
              <a:t>Un rover deve interpretare il terreno mentre si muove in un ambiente che gli operatori non possono controllare in modo immediato. Il segnale tra Terra e Marte impiega indicativamente da quattro a ventidue minuti in una sola direzione. La percezione locale può quindi fornire informazioni utili durante la guida. In questo lavoro mi concentro sulle categorie visive della scena e considero anche il costo necessario per produrre questa descrizione.</a:t>
            </a:r>
          </a:p>
          <a:p>
            <a:endParaRPr/>
          </a:p>
          <a:p>
            <a:r>
              <a:t>Fonte interna: Cap. 1, Problem Statement; cap. 2, Task Definition.</a:t>
            </a:r>
          </a:p>
          <a:p>
            <a:endParaRPr/>
          </a:p>
          <a:p>
            <a:r>
              <a:t>[1] NASA Jet Propulsion Laboratory. How to Drive a Mars Rover. On a Mission, stagione 4, episodio 8, 25 agosto 2022. https://www.jpl.nasa.gov/podcasts/on-a-mission-season-1/season-4-mars-rovers/episode-8-how-to-drive-a-mars-rover/</a:t>
            </a:r>
          </a:p>
          <a:p>
            <a:r>
              <a:t>[4] J. Zhang et al.. S⁵Mars: Semi-Supervised Learning for Mars Semantic Segmentation. IEEE Transactions on Geoscience and Remote Sensing, vol. 62, 2024. https://doi.org/10.1109/TGRS.2024.3386756</a:t>
            </a:r>
          </a:p>
          <a:p>
            <a:r>
              <a:t>[5] M. Purohit et al.. Mars-Bench: A Benchmark for Evaluating Foundation Models for Mars Science Tasks. NeurIPS, Datasets and Benchmarks Track, 2025. https://doi.org/10.52202/085713-4098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0:35. Intervallo: 0:50–1:25.</a:t>
            </a:r>
          </a:p>
          <a:p>
            <a:endParaRPr/>
          </a:p>
          <a:p>
            <a:r>
              <a:t>La mobilità dipende anche dalle condizioni del veicolo. Le immagini reali di Curiosity mostrano perforazioni e lacerazioni della superficie delle ruote, monitorate attraverso ispezioni periodiche. Individuare osservazioni sospette e localizzare il danno potrebbe supportare la revisione delle immagini. La tesi restringe il problema alle perforazioni visibili: ombre, polvere e graffi senza un foro appartengono invece alla variabilità normale.</a:t>
            </a:r>
          </a:p>
          <a:p>
            <a:endParaRPr/>
          </a:p>
          <a:p>
            <a:r>
              <a:t>Fonte interna: Cap. 1, Problem Statement e fig. curiosity-wheel-damage.</a:t>
            </a:r>
          </a:p>
          <a:p>
            <a:endParaRPr/>
          </a:p>
          <a:p>
            <a:r>
              <a:t>[2] A. Rankin et al.. Assessing Mars Curiosity Rover Wheel Damage. IEEE Aerospace Conference, 2022, pp. 1–19. https://robotics.jpl.nasa.gov/media/documents/fmwi-rankin-2022-0225-final.pdf</a:t>
            </a:r>
          </a:p>
          <a:p>
            <a:r>
              <a:t>[3] NASA. Routine Inspection of Rover Wheel Wear and Tear. NASA Science, 27 aprile 2016. Immagine PIA20334. https://science.nasa.gov/resource/routine-inspection-of-rover-wheel-wear-and-tear/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0:35. Intervallo: 1:25–2:00.</a:t>
            </a:r>
          </a:p>
          <a:p>
            <a:endParaRPr/>
          </a:p>
          <a:p>
            <a:r>
              <a:t>L’obiettivo è valutare quali configurazioni forniscano informazioni visive utili con un costo computazionale sostenibile. Ho sviluppato due studi complementari. Il primo confronta segmentatori su immagini reali del terreno. Il secondo richiede prima un dataset sintetico delle ruote e poi la valutazione di rilevatori di anomalie. I due filoni hanno dati e protocolli separati. La loro integrazione in una pipeline completa rimane uno sviluppo futuro.</a:t>
            </a:r>
          </a:p>
          <a:p>
            <a:endParaRPr/>
          </a:p>
          <a:p>
            <a:r>
              <a:t>Fonte interna: Cap. 1, Proposed Research Framework e Main Contributions.</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0:30. Intervallo: 2:00–2:30.</a:t>
            </a:r>
          </a:p>
          <a:p>
            <a:endParaRPr/>
          </a:p>
          <a:p>
            <a:r>
              <a:t>La segmentazione assegna una categoria a ogni pixel dell’immagine. Le maschere distinguono, per esempio, roccia, substrato e sabbia o suolo. La figura affianca l’annotazione e una predizione sullo stesso campione della tesi. Questa rappresentazione conserva la posizione dei materiali e delle strutture, fornendo una base per successive analisi del terreno. La tesi misura la qualità di questa predizione, senza implementare direttamente un pianificatore di navigazione.</a:t>
            </a:r>
          </a:p>
          <a:p>
            <a:endParaRPr/>
          </a:p>
          <a:p>
            <a:r>
              <a:t>Fonte interna: Cap. 2, Task Definition; cap. 5, fig. s5mars-model-prediction-comparison.</a:t>
            </a:r>
          </a:p>
          <a:p>
            <a:endParaRPr/>
          </a:p>
          <a:p>
            <a:r>
              <a:t>[4] J. Zhang et al.. S⁵Mars: Semi-Supervised Learning for Mars Semantic Segmentation. IEEE Transactions on Geoscience and Remote Sensing, vol. 62, 2024. https://doi.org/10.1109/TGRS.2024.3386756</a:t>
            </a:r>
          </a:p>
          <a:p>
            <a:r>
              <a:t>[5] M. Purohit et al.. Mars-Bench: A Benchmark for Evaluating Foundation Models for Mars Science Tasks. NeurIPS, Datasets and Benchmarks Track, 2025. https://doi.org/10.52202/085713-4098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0:30. Intervallo: 2:30–3:00.</a:t>
            </a:r>
          </a:p>
          <a:p>
            <a:endParaRPr/>
          </a:p>
          <a:p>
            <a:r>
              <a:t>Il dataset principale contiene immagini RGB acquisite da Curiosity e annotazioni semantiche sparse. Ho usato la versione Mars-Bench, che mette a disposizione formati e split predefiniti e riunisce categorie granulari ambigue in Sand/Soil. Le partizioni contengono 4.997 immagini di training, 200 di validation e 800 di test. Le otto categorie target includono anche Rover. L’implementazione conserva inoltre l’identificatore Background previsto dalle maschere rilasciate.</a:t>
            </a:r>
          </a:p>
          <a:p>
            <a:endParaRPr/>
          </a:p>
          <a:p>
            <a:r>
              <a:t>Fonte interna: Cap. 2, Dataset e tab. mars-bench-datasets.</a:t>
            </a:r>
          </a:p>
          <a:p>
            <a:endParaRPr/>
          </a:p>
          <a:p>
            <a:r>
              <a:t>[4] J. Zhang et al.. S⁵Mars: Semi-Supervised Learning for Mars Semantic Segmentation. IEEE Transactions on Geoscience and Remote Sensing, vol. 62, 2024. https://doi.org/10.1109/TGRS.2024.3386756</a:t>
            </a:r>
          </a:p>
          <a:p>
            <a:r>
              <a:t>[5] M. Purohit et al.. Mars-Bench: A Benchmark for Evaluating Foundation Models for Mars Science Tasks. NeurIPS, Datasets and Benchmarks Track, 2025. https://doi.org/10.52202/085713-4098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0:35. Intervallo: 3:00–3:35.</a:t>
            </a:r>
          </a:p>
          <a:p>
            <a:endParaRPr/>
          </a:p>
          <a:p>
            <a:r>
              <a:t>Ho confrontato sette configurazioni appartenenti a famiglie con principi diversi. U-Net ricostruisce il dettaglio attraverso collegamenti tra encoder e decoder, DeepLab usa convoluzioni dilatate, SegFormer impiega un encoder Transformer gerarchico e LCNet esplora configurazioni molto compatte. Le varianti CNN usano ResNet34 o MobileNetV2. Il confronto riguarda configurazioni complete, con inizializzazioni e budget di training descritti nella tesi, e permette di esaminare diverse posizioni nel compromesso tra qualità e costo.</a:t>
            </a:r>
          </a:p>
          <a:p>
            <a:endParaRPr/>
          </a:p>
          <a:p>
            <a:r>
              <a:t>Fonte interna: Cap. 2, Segmentation Architectures e Architectural Comparison.</a:t>
            </a:r>
          </a:p>
          <a:p>
            <a:endParaRPr/>
          </a:p>
          <a:p>
            <a:r>
              <a:t>[6] O. Ronneberger, P. Fischer e T. Brox. U-Net: Convolutional Networks for Biomedical Image Segmentation. MICCAI, 2015, pp. 234–241. https://doi.org/10.1007/978-3-319-24574-4_28</a:t>
            </a:r>
          </a:p>
          <a:p>
            <a:r>
              <a:t>[7] L.-C. Chen et al.. Rethinking Atrous Convolution for Semantic Image Segmentation. arXiv:1706.05587, 2017. https://arxiv.org/abs/1706.05587</a:t>
            </a:r>
          </a:p>
          <a:p>
            <a:r>
              <a:t>[8] L.-C. Chen et al.. Encoder-Decoder with Atrous Separable Convolution for Semantic Image Segmentation. ECCV, 2018, pp. 833–851. https://doi.org/10.1007/978-3-030-01234-2_49</a:t>
            </a:r>
          </a:p>
          <a:p>
            <a:r>
              <a:t>[9] E. Xie et al.. SegFormer: Simple and Efficient Design for Semantic Segmentation with Transformers. NeurIPS, vol. 34, 2021, pp. 12077–12090. https://arxiv.org/abs/2105.15203</a:t>
            </a:r>
          </a:p>
          <a:p>
            <a:r>
              <a:t>[10] M. Shi et al.. Lightweight Context-Aware Network Using Partial-Channel Transformation for Real-Time Semantic Segmentation. IEEE Transactions on Intelligent Transportation Systems, 25(7), 2024. https://doi.org/10.1109/TITS.2023.3348631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0:40. Intervallo: 3:35–4:15.</a:t>
            </a:r>
          </a:p>
          <a:p>
            <a:endParaRPr/>
          </a:p>
          <a:p>
            <a:r>
              <a:t>Dopo il confronto delle architetture ho studiato la precisione numerica. FP16 riduce la precisione floating point. La PTQ quantizza un modello già addestrato usando una calibrazione, mentre la QAT comprende un ulteriore addestramento che simula gli effetti della quantizzazione. Nei deployment della tesi INT8 è selettivo, con alcune operazioni mantenute in floating point. I risultati QAT includono anche fine-tuning e distillazione, quindi descrivono l’intera procedura di ottimizzazione.</a:t>
            </a:r>
          </a:p>
          <a:p>
            <a:endParaRPr/>
          </a:p>
          <a:p>
            <a:r>
              <a:t>Fonte interna: Cap. 2, Optimization and Quantization; cap. 5, Quantization Results.</a:t>
            </a:r>
          </a:p>
          <a:p>
            <a:endParaRPr/>
          </a:p>
          <a:p>
            <a:r>
              <a:t>[11] B. Jacob et al.. Quantization and Training of Neural Networks for Efficient Integer-Arithmetic-Only Inference. CVPR, 2018, pp. 2704–2713. https://arxiv.org/abs/1712.05877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0:25. Intervallo: 4:15–4:40.</a:t>
            </a:r>
          </a:p>
          <a:p>
            <a:endParaRPr/>
          </a:p>
          <a:p>
            <a:r>
              <a:t>Per l’ispezione servono immagini delle ruote e annotazioni specifiche dei fori. Tra le risorse esaminate non è stato individuato un benchmark pronto all’uso con le maschere richieste. Ho quindi costruito un dataset sintetico: permette di generare osservazioni controllate e ricavare automaticamente le annotazioni. Il suo scopo è sostenere gli esperimenti sulle perforazioni, mantenendo esplicita la necessità di verificare il trasferimento al dominio reale.</a:t>
            </a:r>
          </a:p>
          <a:p>
            <a:endParaRPr/>
          </a:p>
          <a:p>
            <a:r>
              <a:t>Fonte interna: Cap. 1, Wheel Damage Inspection and Available Imagery; cap. 3, Design Requirements.</a:t>
            </a:r>
          </a:p>
          <a:p>
            <a:endParaRPr/>
          </a:p>
          <a:p>
            <a:r>
              <a:t>[2] A. Rankin et al.. Assessing Mars Curiosity Rover Wheel Damage. IEEE Aerospace Conference, 2022, pp. 1–19. https://robotics.jpl.nasa.gov/media/documents/fmwi-rankin-2022-0225-final.pdf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0:35. Intervallo: 4:40–5:15.</a:t>
            </a:r>
          </a:p>
          <a:p>
            <a:endParaRPr/>
          </a:p>
          <a:p>
            <a:r>
              <a:t>La scena usa un asset Curiosity distribuito dalla NASA. Le sei ruote sono indirizzabili separatamente, così da controllare rotazione, danno e annotazioni. Per l’ambiente ho impiegato terreno e orthoimmagini HiRISE del cratere Gale, integrati con una patch procedurale per il dettaglio vicino alle ruote. Il modello riproduce l’aspetto delle osservazioni per gli esperimenti di visione e non costituisce una simulazione meccanica della salute del rover.</a:t>
            </a:r>
          </a:p>
          <a:p>
            <a:endParaRPr/>
          </a:p>
          <a:p>
            <a:r>
              <a:t>Fonte interna: Cap. 3, Asset Preparation e fig. rover-terrain-scene.</a:t>
            </a:r>
          </a:p>
          <a:p>
            <a:endParaRPr/>
          </a:p>
          <a:p>
            <a:r>
              <a:t>[12] NASA Visualization Technology Applications and Development. Curiosity 3D Model. NASA Science, 22 aprile 2019. https://science.nasa.gov/resource/curiosity-3d-model/</a:t>
            </a:r>
          </a:p>
          <a:p>
            <a:r>
              <a:t>[13] HiRISE. Possible MSL Landing Site in Gale Crater. DTM e orthoimage, PSP_010573_1755 e PSP_010639_1755. https://hirise.lpl.arizona.edu/dtm/dtm.php?ID=PSP_010573_1755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0:40. Intervallo: 5:15–5:55.</a:t>
            </a:r>
          </a:p>
          <a:p>
            <a:endParaRPr/>
          </a:p>
          <a:p>
            <a:r>
              <a:t>Il danno è un foro passante nella superficie della ruota, con contorno e dimensioni variabili. La generazione produce anche la maschera binaria della regione visibile. Qui mostro una coppia del dataset: ruota normale, stessa scena con perforazione e maschera del foro. In ogni coppia camera, illuminazione, posa e usura restano condivise. Questo consente una valutazione controllata in cui la differenza prevista è la perforazione introdotta.</a:t>
            </a:r>
          </a:p>
          <a:p>
            <a:endParaRPr/>
          </a:p>
          <a:p>
            <a:r>
              <a:t>Fonte interna: Cap. 3, Synthetic Damage Generation; dataset finale, pair_dr_200008.</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0:40. Intervallo: 5:55–6:35.</a:t>
            </a:r>
          </a:p>
          <a:p>
            <a:endParaRPr/>
          </a:p>
          <a:p>
            <a:r>
              <a:t>Le immagini variano per illuminazione, punto di vista, rotazione della ruota e usura non anomala. La galleria mostra esempi di queste condizioni. L’obiettivo è evitare che il confronto riguardi soltanto un singolo aspetto visivo e aiutare a distinguere il foro dai cambiamenti normali. La variabilità è controllata e riproducibile. La domain randomization amplia il dominio sintetico, mentre la sua efficacia sul trasferimento a immagini reali richiede una verifica dedicata.</a:t>
            </a:r>
          </a:p>
          <a:p>
            <a:endParaRPr/>
          </a:p>
          <a:p>
            <a:r>
              <a:t>Fonte interna: Cap. 3, Domain Randomization.</a:t>
            </a:r>
          </a:p>
          <a:p>
            <a:endParaRPr/>
          </a:p>
          <a:p>
            <a:r>
              <a:t>[14] J. Tobin et al.. Domain Randomization for Transferring Deep Neural Networks from Simulation to the Real World. IEEE/RSJ IROS, 2017, pp. 23–30. https://doi.org/10.1109/IROS.2017.8202133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0:35. Intervallo: 6:35–7:10.</a:t>
            </a:r>
          </a:p>
          <a:p>
            <a:endParaRPr/>
          </a:p>
          <a:p>
            <a:r>
              <a:t>Il dataset finale contiene diecimila immagini. Le settemila immagini di training sono tutte normali. La validation comprende 750 normali e 250 con foro, mentre il test comprende mille immagini per condizione. Ogni immagine dispone di una maschera della ruota target e le anomalie hanno anche la maschera del danno. Le coppie restano indivisibili nello stesso split, evitando che due versioni della medesima scena finiscano tra training e valutazione.</a:t>
            </a:r>
          </a:p>
          <a:p>
            <a:endParaRPr/>
          </a:p>
          <a:p>
            <a:r>
              <a:t>Fonte interna: Cap. 3, Final Dataset Composition; docs/generation/final_dataset_assembly.md.</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0:35. Intervallo: 7:10–7:45.</a:t>
            </a:r>
          </a:p>
          <a:p>
            <a:endParaRPr/>
          </a:p>
          <a:p>
            <a:r>
              <a:t>Ho affrontato l’ispezione come anomaly detection con training normale. I modelli costruiscono una rappresentazione dell’aspetto senza perforazioni a partire dai render normali. Le immagini danneggiate del dataset servono per validation e test. Ogni metodo produce uno score dell’immagine e una mappa spaziale. La distinzione è essenziale: riconoscere che un’osservazione è sospetta non garantisce che il contorno del foro venga localizzato con precisione.</a:t>
            </a:r>
          </a:p>
          <a:p>
            <a:endParaRPr/>
          </a:p>
          <a:p>
            <a:r>
              <a:t>Fonte interna: Cap. 4, Task Definition.</a:t>
            </a:r>
          </a:p>
          <a:p>
            <a:endParaRPr/>
          </a:p>
          <a:p>
            <a:r>
              <a:t>[15] P. Bergmann et al.. MVTec AD: A Comprehensive Real-World Dataset for Unsupervised Anomaly Detection. CVPR, 2019, pp. 9584–9592. https://doi.org/10.1109/CVPR.2019.00982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0:35. Intervallo: 7:45–8:20.</a:t>
            </a:r>
          </a:p>
          <a:p>
            <a:endParaRPr/>
          </a:p>
          <a:p>
            <a:r>
              <a:t>PatchCore conserva in una memoria una selezione di caratteristiche locali delle immagini normali. In inferenza misura quanto le caratteristiche osservate si allontanino dai riferimenti memorizzati. EfficientAD-S mantiene invece un teacher e addestra uno student a riprodurne le feature normali, usando la discrepanza come segnale di anomalia. Il primo approccio richiede una ricerca nella memoria, mentre il secondo usa reti apprese e una calibrazione delle risposte.</a:t>
            </a:r>
          </a:p>
          <a:p>
            <a:endParaRPr/>
          </a:p>
          <a:p>
            <a:r>
              <a:t>Fonte interna: Cap. 4, PatchCore ed EAD-S.</a:t>
            </a:r>
          </a:p>
          <a:p>
            <a:endParaRPr/>
          </a:p>
          <a:p>
            <a:r>
              <a:t>[16] K. Roth et al.. Towards Total Recall in Industrial Anomaly Detection. CVPR, 2022, pp. 14318–14328. https://arxiv.org/abs/2106.08265</a:t>
            </a:r>
          </a:p>
          <a:p>
            <a:r>
              <a:t>[17] K. Batzner, L. Heckler e R. König. EfficientAD: Accurate Visual Anomaly Detection at Millisecond-Level Latencies. WACV, 2024, pp. 128–138. https://arxiv.org/abs/2303.14535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0:35. Intervallo: 8:20–8:55.</a:t>
            </a:r>
          </a:p>
          <a:p>
            <a:endParaRPr/>
          </a:p>
          <a:p>
            <a:r>
              <a:t>SuperSimpleNet e TinyGLASS apprendono a distinguere osservazioni normali da perturbazioni artificiali. SuperSimpleNet introduce alterazioni localizzate nelle feature. TinyGLASS usa un backbone compatto e combina perturbazioni dell’immagine e delle feature. Nella tesi ho adattato le alterazioni locali di TinyGLASS a regioni scure simili a fori. Queste perturbazioni derivano dai dati normali durante il training e sono distinte dalle perforazioni Blender riservate alla valutazione. La figura mostra l’architettura originale, mentre gli adattamenti sono descritti nella tesi.</a:t>
            </a:r>
          </a:p>
          <a:p>
            <a:endParaRPr/>
          </a:p>
          <a:p>
            <a:r>
              <a:t>Fonte interna: Cap. 4, SSN e TinyGLASS; fig. tinyglass_architecture.</a:t>
            </a:r>
          </a:p>
          <a:p>
            <a:endParaRPr/>
          </a:p>
          <a:p>
            <a:r>
              <a:t>[18] B. Rolih, M. Fučka e D. Skočaj. SuperSimpleNet: Unifying Unsupervised and Supervised Learning for Fast and Reliable Surface Defect Detection. ICPR 2024, LNCS 15310, Springer, 2025, pp. 47–65. https://doi.org/10.1007/978-3-031-78192-6_4</a:t>
            </a:r>
          </a:p>
          <a:p>
            <a:r>
              <a:t>[19] B. Rolih, M. Fučka e D. Skočaj. No Label Left Behind: A Unified Surface Defect Detection Model for All Supervision Regimes. Journal of Intelligent Manufacturing, vol. 37, 2026, pp. 3189–3209. https://doi.org/10.1007/s10845-025-02680-8</a:t>
            </a:r>
          </a:p>
          <a:p>
            <a:r>
              <a:t>[20] P. Bonazzi et al.. TinyGLASS: Real-Time Self-Supervised In-Sensor Anomaly Detection. arXiv:2603.16451v3, 2026. Accettato ad AICAS 2026. https://arxiv.org/abs/2603.16451v3</a:t>
            </a:r>
          </a:p>
          <a:p>
            <a:endParaRPr/>
          </a:p>
          <a:p>
            <a:r>
              <a:t>Figura: architettura originale TinyGLASS, Bonazzi et al. [20], licenza CC BY 4.0 (https://creativecommons.org/licenses/by/4.0/). Riprodotta dalla figura della tesi con solo ridimensionamento. La configurazione del progetto usa pooling fisso senza l’adapter separato mostrato nello schema originale.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0:35. Intervallo: 8:55–9:30.</a:t>
            </a:r>
          </a:p>
          <a:p>
            <a:endParaRPr/>
          </a:p>
          <a:p>
            <a:r>
              <a:t>Il confronto principale usa la posa A, un’acquisizione controllata che mantiene variabilità di ruota, luce e usura. Un ritaglio fisso di 720 per 720 pixel concentra il dettaglio sulla ruota e precede il preprocessing specifico di ogni modello. Il sottoinsieme contiene 2.800 immagini normali di training e 808 immagini di test. Le configurazioni vengono selezionate o calibrate con la validation. Risoluzioni e copertura spaziale differiscono fra i modelli, come indicato nel protocollo della tesi.</a:t>
            </a:r>
          </a:p>
          <a:p>
            <a:endParaRPr/>
          </a:p>
          <a:p>
            <a:r>
              <a:t>Fonte interna: Cap. 4, Preprocessing; cap. 6, Experimental Setup.</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0:40. Intervallo: 9:30–10:10.</a:t>
            </a:r>
          </a:p>
          <a:p>
            <a:endParaRPr/>
          </a:p>
          <a:p>
            <a:r>
              <a:t>La mIoU misura la sovrapposizione tra classi predette e annotazioni, mediata sulle categorie valutate. Nel confronto FP32 SegFormer-B0 raggiunge il valore più alto, 75,55%, seguito da DeepLabV3 con ResNet34. Le configurazioni LCNet scendono a circa 58–59%, ma richiedono meno di un milione di parametri. Questo confronto evidenzia il costo in qualità associato alle configurazioni più compatte e fornisce la base per studiare il deployment a precisione ridotta.</a:t>
            </a:r>
          </a:p>
          <a:p>
            <a:endParaRPr/>
          </a:p>
          <a:p>
            <a:r>
              <a:t>Fonte interna: Cap. 5, tab. s5mars-reference-accuracy.</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0:40. Intervallo: 10:10–10:50.</a:t>
            </a:r>
          </a:p>
          <a:p>
            <a:endParaRPr/>
          </a:p>
          <a:p>
            <a:r>
              <a:t>Qui mostro un estratto del confronto di deployment. Per SegFormer-B0 la procedura QAT porta la mIoU dal 75,55% al 76,93%, riducendo l’energia GPU misurata da 835,72 a 291,76 millijoule per immagine. DeepLabV3+ con MobileNetV2 richiede ancora meno energia, 115,34 millijoule, con mIoU del 65,63%. La scelta dipende dal livello di accuratezza richiesto. Queste differenze riguardano deployment completi e non isolano l’effetto della sola quantizzazione.</a:t>
            </a:r>
          </a:p>
          <a:p>
            <a:endParaRPr/>
          </a:p>
          <a:p>
            <a:r>
              <a:t>Fonte interna: Cap. 5, tab. s5mars-quantization-accuracy-efficiency.</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0:40. Intervallo: 10:50–11:30.</a:t>
            </a:r>
          </a:p>
          <a:p>
            <a:endParaRPr/>
          </a:p>
          <a:p>
            <a:r>
              <a:t>L’Image AUROC misura quanto gli score ordinino le osservazioni danneggiate sopra quelle normali, senza fissare una soglia operativa. Sul test della posa A, PC-L raggiunge l’86,43%, seguito da SuperSimpleNet con l’82,72%. Le configurazioni TinyGLASS sono intorno al 77%. Si tratta delle configurazioni specifiche confrontate nella tesi: condividono la popolazione di immagini, con input e preprocessing propri. Il risultato identifica un compromesso sperimentale e non stabilisce direttamente tassi operativi di falsi allarmi o danni mancati.</a:t>
            </a:r>
          </a:p>
          <a:p>
            <a:endParaRPr/>
          </a:p>
          <a:p>
            <a:r>
              <a:t>Fonte interna: Cap. 6, tab. damage-reference-test-results.</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0:40. Intervallo: 11:30–12:10.</a:t>
            </a:r>
          </a:p>
          <a:p>
            <a:endParaRPr/>
          </a:p>
          <a:p>
            <a:r>
              <a:t>Il costo di inferenza cambia sensibilmente. TG-384 richiede 5,13 millisecondi per immagine e presenta anche il minimo di memoria ed energia GPU misurate: 38,72 MiB e 0,239 joule per immagine. PC-L offre la migliore discriminazione delle immagini, ma richiede 62,89 millisecondi e 4,116 joule. SuperSimpleNet occupa una posizione intermedia. Le misure usano una T4 con input già sulla GPU e non comprendono caricamento, preprocessing o trasferimento.</a:t>
            </a:r>
          </a:p>
          <a:p>
            <a:endParaRPr/>
          </a:p>
          <a:p>
            <a:r>
              <a:t>Fonte interna: Cap. 6, tab. damage-reference-efficiency.</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0:40. Intervallo: 12:10–12:50.</a:t>
            </a:r>
          </a:p>
          <a:p>
            <a:endParaRPr/>
          </a:p>
          <a:p>
            <a:r>
              <a:t>Le mappe permettono di interpretare la differenza tra rilevamento e localizzazione. Nell’esempio il segnale vicino al foro coesiste con risposte su parti normali della ruota. SuperSimpleNet ottiene una discriminazione delle immagini migliore di TG-512, ma una Pixel AP inferiore: 19,10% contro 27,59%. I valori riportati sono aggregati sull’intero test, mentre la figura è un esempio. Anche i fori piccoli restano difficili e una mappa precisa richiede di controllare le risposte spurie.</a:t>
            </a:r>
          </a:p>
          <a:p>
            <a:endParaRPr/>
          </a:p>
          <a:p>
            <a:r>
              <a:t>Fonte interna: Cap. 6, fig. damage-model-map-comparison e tab. damage-reference-test-results.</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0:35. Intervallo: 12:50–13:25.</a:t>
            </a:r>
          </a:p>
          <a:p>
            <a:endParaRPr/>
          </a:p>
          <a:p>
            <a:r>
              <a:t>I risultati dell’ispezione riguardano un asset Curiosity, una classe di danno e un confronto principale su una posa controllata. Il primo passo successivo è una validazione su immagini reali annotate, eventualmente accompagnata da adattamento di dominio. Un secondo passo è misurare la pipeline completa su hardware rappresentativo, includendo preprocessing e trasferimenti. Estendere danni e condizioni di acquisizione e integrare i due filoni richiede ulteriori esperimenti, mantenendo separati risultati osservati e obiettivi futuri.</a:t>
            </a:r>
          </a:p>
          <a:p>
            <a:endParaRPr/>
          </a:p>
          <a:p>
            <a:r>
              <a:t>Fonte interna: Cap. 7, Discussion and Limitations; cap. 8, Future Work.</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Durata indicativa: 0:35. Intervallo: 13:25–14:00.</a:t>
            </a:r>
          </a:p>
          <a:p>
            <a:endParaRPr/>
          </a:p>
          <a:p>
            <a:r>
              <a:t>I contributi sono un confronto tra segmentatori e deployment efficienti, una pipeline automatica con diecimila immagini annotate delle ruote e una valutazione di quattro famiglie di anomaly detection. I risultati mostrano configurazioni adatte a priorità diverse di qualità e costo. Per le ruote emerge anche la necessità di valutare separatamente rilevamento e localizzazione. Questo lavoro offre una base sperimentale per futuri moduli di percezione che supportino la comprensione del terreno e un’ispezione più mirata.</a:t>
            </a:r>
          </a:p>
          <a:p>
            <a:endParaRPr/>
          </a:p>
          <a:p>
            <a:r>
              <a:t>Fonte interna: Cap. 8, Conclusions.</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Riferimenti citati nelle slide principali. Bibliografia di consultazione, successiva alle conclusioni.</a:t>
            </a:r>
          </a:p>
          <a:p>
            <a:endParaRPr/>
          </a:p>
          <a:p>
            <a:r>
              <a:t>[1] NASA Jet Propulsion Laboratory. How to Drive a Mars Rover. On a Mission, stagione 4, episodio 8, 25 agosto 2022. https://www.jpl.nasa.gov/podcasts/on-a-mission-season-1/season-4-mars-rovers/episode-8-how-to-drive-a-mars-rover/</a:t>
            </a:r>
          </a:p>
          <a:p>
            <a:endParaRPr/>
          </a:p>
          <a:p>
            <a:r>
              <a:t>[2] A. Rankin et al.. Assessing Mars Curiosity Rover Wheel Damage. IEEE Aerospace Conference, 2022, pp. 1–19. https://robotics.jpl.nasa.gov/media/documents/fmwi-rankin-2022-0225-final.pdf</a:t>
            </a:r>
          </a:p>
          <a:p>
            <a:endParaRPr/>
          </a:p>
          <a:p>
            <a:r>
              <a:t>[3] NASA. Routine Inspection of Rover Wheel Wear and Tear. NASA Science, 27 aprile 2016. Immagine PIA20334. https://science.nasa.gov/resource/routine-inspection-of-rover-wheel-wear-and-tear/</a:t>
            </a:r>
          </a:p>
          <a:p>
            <a:endParaRPr/>
          </a:p>
          <a:p>
            <a:r>
              <a:t>[4] J. Zhang et al.. S⁵Mars: Semi-Supervised Learning for Mars Semantic Segmentation. IEEE Transactions on Geoscience and Remote Sensing, vol. 62, 2024. https://doi.org/10.1109/TGRS.2024.3386756</a:t>
            </a:r>
          </a:p>
          <a:p>
            <a:endParaRPr/>
          </a:p>
          <a:p>
            <a:r>
              <a:t>[5] M. Purohit et al.. Mars-Bench: A Benchmark for Evaluating Foundation Models for Mars Science Tasks. NeurIPS, Datasets and Benchmarks Track, 2025. https://doi.org/10.52202/085713-4098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Riferimenti citati nelle slide principali. Bibliografia di consultazione, successiva alle conclusioni.</a:t>
            </a:r>
          </a:p>
          <a:p>
            <a:endParaRPr/>
          </a:p>
          <a:p>
            <a:r>
              <a:t>[6] O. Ronneberger, P. Fischer e T. Brox. U-Net: Convolutional Networks for Biomedical Image Segmentation. MICCAI, 2015, pp. 234–241. https://doi.org/10.1007/978-3-319-24574-4_28</a:t>
            </a:r>
          </a:p>
          <a:p>
            <a:endParaRPr/>
          </a:p>
          <a:p>
            <a:r>
              <a:t>[7] L.-C. Chen et al.. Rethinking Atrous Convolution for Semantic Image Segmentation. arXiv:1706.05587, 2017. https://arxiv.org/abs/1706.05587</a:t>
            </a:r>
          </a:p>
          <a:p>
            <a:endParaRPr/>
          </a:p>
          <a:p>
            <a:r>
              <a:t>[8] L.-C. Chen et al.. Encoder-Decoder with Atrous Separable Convolution for Semantic Image Segmentation. ECCV, 2018, pp. 833–851. https://doi.org/10.1007/978-3-030-01234-2_49</a:t>
            </a:r>
          </a:p>
          <a:p>
            <a:endParaRPr/>
          </a:p>
          <a:p>
            <a:r>
              <a:t>[9] E. Xie et al.. SegFormer: Simple and Efficient Design for Semantic Segmentation with Transformers. NeurIPS, vol. 34, 2021, pp. 12077–12090. https://arxiv.org/abs/2105.15203</a:t>
            </a:r>
          </a:p>
          <a:p>
            <a:endParaRPr/>
          </a:p>
          <a:p>
            <a:r>
              <a:t>[10] M. Shi et al.. Lightweight Context-Aware Network Using Partial-Channel Transformation for Real-Time Semantic Segmentation. IEEE Transactions on Intelligent Transportation Systems, 25(7), 2024. https://doi.org/10.1109/TITS.2023.3348631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Riferimenti citati nelle slide principali. Bibliografia di consultazione, successiva alle conclusioni.</a:t>
            </a:r>
          </a:p>
          <a:p>
            <a:endParaRPr/>
          </a:p>
          <a:p>
            <a:r>
              <a:t>[11] B. Jacob et al.. Quantization and Training of Neural Networks for Efficient Integer-Arithmetic-Only Inference. CVPR, 2018, pp. 2704–2713. https://arxiv.org/abs/1712.05877</a:t>
            </a:r>
          </a:p>
          <a:p>
            <a:endParaRPr/>
          </a:p>
          <a:p>
            <a:r>
              <a:t>[12] NASA Visualization Technology Applications and Development. Curiosity 3D Model. NASA Science, 22 aprile 2019. https://science.nasa.gov/resource/curiosity-3d-model/</a:t>
            </a:r>
          </a:p>
          <a:p>
            <a:endParaRPr/>
          </a:p>
          <a:p>
            <a:r>
              <a:t>[13] HiRISE. Possible MSL Landing Site in Gale Crater. DTM e orthoimage, PSP_010573_1755 e PSP_010639_1755. https://hirise.lpl.arizona.edu/dtm/dtm.php?ID=PSP_010573_1755</a:t>
            </a:r>
          </a:p>
          <a:p>
            <a:endParaRPr/>
          </a:p>
          <a:p>
            <a:r>
              <a:t>[14] J. Tobin et al.. Domain Randomization for Transferring Deep Neural Networks from Simulation to the Real World. IEEE/RSJ IROS, 2017, pp. 23–30. https://doi.org/10.1109/IROS.2017.8202133</a:t>
            </a:r>
          </a:p>
          <a:p>
            <a:endParaRPr/>
          </a:p>
          <a:p>
            <a:r>
              <a:t>[15] P. Bergmann et al.. MVTec AD: A Comprehensive Real-World Dataset for Unsupervised Anomaly Detection. CVPR, 2019, pp. 9584–9592. https://doi.org/10.1109/CVPR.2019.00982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Riferimenti citati nelle slide principali. Bibliografia di consultazione, successiva alle conclusioni.</a:t>
            </a:r>
          </a:p>
          <a:p>
            <a:endParaRPr/>
          </a:p>
          <a:p>
            <a:r>
              <a:t>[16] K. Roth et al.. Towards Total Recall in Industrial Anomaly Detection. CVPR, 2022, pp. 14318–14328. https://arxiv.org/abs/2106.08265</a:t>
            </a:r>
          </a:p>
          <a:p>
            <a:endParaRPr/>
          </a:p>
          <a:p>
            <a:r>
              <a:t>[17] K. Batzner, L. Heckler e R. König. EfficientAD: Accurate Visual Anomaly Detection at Millisecond-Level Latencies. WACV, 2024, pp. 128–138. https://arxiv.org/abs/2303.14535</a:t>
            </a:r>
          </a:p>
          <a:p>
            <a:endParaRPr/>
          </a:p>
          <a:p>
            <a:r>
              <a:t>[18] B. Rolih, M. Fučka e D. Skočaj. SuperSimpleNet: Unifying Unsupervised and Supervised Learning for Fast and Reliable Surface Defect Detection. ICPR 2024, LNCS 15310, Springer, 2025, pp. 47–65. https://doi.org/10.1007/978-3-031-78192-6_4</a:t>
            </a:r>
          </a:p>
          <a:p>
            <a:endParaRPr/>
          </a:p>
          <a:p>
            <a:r>
              <a:t>[19] B. Rolih, M. Fučka e D. Skočaj. No Label Left Behind: A Unified Surface Defect Detection Model for All Supervision Regimes. Journal of Intelligent Manufacturing, vol. 37, 2026, pp. 3189–3209. https://doi.org/10.1007/s10845-025-02680-8</a:t>
            </a:r>
          </a:p>
          <a:p>
            <a:endParaRPr/>
          </a:p>
          <a:p>
            <a:r>
              <a:t>[20] P. Bonazzi et al.. TinyGLASS: Real-Time Self-Supervised In-Sensor Anomaly Detection. arXiv:2603.16451v3, 2026. Accettato ad AICAS 2026. https://arxiv.org/abs/2603.16451v3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F803789-FAE9-AE5F-D149-3256DF9141E0}"/>
              </a:ext>
            </a:extLst>
          </p:cNvPr>
          <p:cNvSpPr>
            <a:spLocks noGrp="1"/>
          </p:cNvSpPr>
          <p:nvPr>
            <p:ph type="ctrTitle"/>
          </p:nvPr>
        </p:nvSpPr>
        <p:spPr>
          <a:xfrm>
            <a:off x="1524000" y="1122363"/>
            <a:ext cx="9144000" cy="2387600"/>
          </a:xfrm>
        </p:spPr>
        <p:txBody>
          <a:bodyPr anchor="b"/>
          <a:lstStyle>
            <a:lvl1pPr algn="ctr">
              <a:buNone/>
              <a:defRPr sz="6000"/>
            </a:lvl1pPr>
          </a:lstStyle>
          <a:p>
            <a:r>
              <a:t>Fare clic per modificare lo stile del titolo dello schema</a:t>
            </a:r>
          </a:p>
        </p:txBody>
      </p:sp>
      <p:sp>
        <p:nvSpPr>
          <p:cNvPr id="3" name="Sottotitolo 2">
            <a:extLst>
              <a:ext uri="{FF2B5EF4-FFF2-40B4-BE49-F238E27FC236}">
                <a16:creationId xmlns:a16="http://schemas.microsoft.com/office/drawing/2014/main" id="{BC36B48D-A499-6D9B-42D3-F50BA2FF77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Fare clic per modificare lo stile del sottotitolo dello schema</a:t>
            </a:r>
          </a:p>
        </p:txBody>
      </p:sp>
      <p:sp>
        <p:nvSpPr>
          <p:cNvPr id="4" name="Segnaposto data 3">
            <a:extLst>
              <a:ext uri="{FF2B5EF4-FFF2-40B4-BE49-F238E27FC236}">
                <a16:creationId xmlns:a16="http://schemas.microsoft.com/office/drawing/2014/main" id="{A6F88E66-1BB0-C228-8C64-9FEA351E50C1}"/>
              </a:ext>
            </a:extLst>
          </p:cNvPr>
          <p:cNvSpPr>
            <a:spLocks noGrp="1"/>
          </p:cNvSpPr>
          <p:nvPr>
            <p:ph type="dt" idx="10"/>
          </p:nvPr>
        </p:nvSpPr>
        <p:spPr/>
        <p:txBody>
          <a:bodyPr/>
          <a:lstStyle/>
          <a:p>
            <a:fld id="{79A8DD84-C996-4DFC-A6C4-7C5817C05F19}" type="datetimeFigureOut">
              <a:t>18/10/2026</a:t>
            </a:fld>
            <a:endParaRPr/>
          </a:p>
        </p:txBody>
      </p:sp>
      <p:sp>
        <p:nvSpPr>
          <p:cNvPr id="5" name="Segnaposto piè di pagina 4">
            <a:extLst>
              <a:ext uri="{FF2B5EF4-FFF2-40B4-BE49-F238E27FC236}">
                <a16:creationId xmlns:a16="http://schemas.microsoft.com/office/drawing/2014/main" id="{2486D332-8FF2-D84A-E2CB-2C81A93D1447}"/>
              </a:ext>
            </a:extLst>
          </p:cNvPr>
          <p:cNvSpPr>
            <a:spLocks noGrp="1"/>
          </p:cNvSpPr>
          <p:nvPr>
            <p:ph type="ftr" idx="11"/>
          </p:nvPr>
        </p:nvSpPr>
        <p:spPr/>
        <p:txBody>
          <a:bodyPr/>
          <a:lstStyle/>
          <a:p>
            <a:endParaRPr/>
          </a:p>
        </p:txBody>
      </p:sp>
      <p:sp>
        <p:nvSpPr>
          <p:cNvPr id="6" name="Segnaposto numero diapositiva 5">
            <a:extLst>
              <a:ext uri="{FF2B5EF4-FFF2-40B4-BE49-F238E27FC236}">
                <a16:creationId xmlns:a16="http://schemas.microsoft.com/office/drawing/2014/main" id="{154B3687-79F3-A13F-A26B-1C87C3B8AFAA}"/>
              </a:ext>
            </a:extLst>
          </p:cNvPr>
          <p:cNvSpPr>
            <a:spLocks noGrp="1"/>
          </p:cNvSpPr>
          <p:nvPr>
            <p:ph type="sldNum" idx="12"/>
          </p:nvPr>
        </p:nvSpPr>
        <p:spPr/>
        <p:txBody>
          <a:bodyPr/>
          <a:lstStyle/>
          <a:p>
            <a:fld id="{F6BC9DE0-E148-4F27-888A-35D29D0A8254}" type="slidenum">
              <a:t>‹N›</a:t>
            </a:fld>
            <a:endParaRPr/>
          </a:p>
        </p:txBody>
      </p:sp>
      <p:sp>
        <p:nvSpPr>
          <p:cNvPr id="9" name="Rettangolo 8">
            <a:extLst>
              <a:ext uri="{FF2B5EF4-FFF2-40B4-BE49-F238E27FC236}">
                <a16:creationId xmlns:a16="http://schemas.microsoft.com/office/drawing/2014/main" id="{E4DE5787-B0C3-9C56-C213-8B1D226F51A3}"/>
              </a:ext>
            </a:extLst>
          </p:cNvPr>
          <p:cNvSpPr>
            <a:spLocks noGrp="1"/>
          </p:cNvSpPr>
          <p:nvPr/>
        </p:nvSpPr>
        <p:spPr>
          <a:xfrm>
            <a:off x="10938617" y="68366"/>
            <a:ext cx="1153682" cy="1145137"/>
          </a:xfrm>
          <a:prstGeom prst="rect">
            <a:avLst/>
          </a:prstGeom>
          <a:ln>
            <a:noFill/>
          </a:ln>
        </p:spPr>
        <p:style>
          <a:lnRef idx="2">
            <a:schemeClr val="dk1"/>
          </a:lnRef>
          <a:fillRef idx="1">
            <a:schemeClr val="lt1"/>
          </a:fillRef>
          <a:effectRef idx="0">
            <a:schemeClr val="dk1"/>
          </a:effectRef>
          <a:fontRef idx="minor">
            <a:schemeClr val="dk1"/>
          </a:fontRef>
        </p:style>
        <p:txBody>
          <a:bodyPr anchor="ctr"/>
          <a:lstStyle/>
          <a:p>
            <a:pPr algn="ctr">
              <a:buNone/>
            </a:pPr>
            <a:endParaRPr/>
          </a:p>
        </p:txBody>
      </p:sp>
      <p:pic>
        <p:nvPicPr>
          <p:cNvPr id="7" name="Immagine 6">
            <a:extLst>
              <a:ext uri="{FF2B5EF4-FFF2-40B4-BE49-F238E27FC236}">
                <a16:creationId xmlns:a16="http://schemas.microsoft.com/office/drawing/2014/main" id="{D935B555-A0C2-4345-8737-E87CC6571E5C}"/>
              </a:ext>
            </a:extLst>
          </p:cNvPr>
          <p:cNvPicPr>
            <a:picLocks noChangeAspect="1"/>
          </p:cNvPicPr>
          <p:nvPr/>
        </p:nvPicPr>
        <p:blipFill>
          <a:blip r:embed="rId2"/>
          <a:stretch>
            <a:fillRect/>
          </a:stretch>
        </p:blipFill>
        <p:spPr>
          <a:xfrm>
            <a:off x="5611118" y="5322193"/>
            <a:ext cx="969764" cy="96976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816B67F-545E-F2F3-1CFA-1F8C9A68EC59}"/>
              </a:ext>
            </a:extLst>
          </p:cNvPr>
          <p:cNvSpPr>
            <a:spLocks noGrp="1"/>
          </p:cNvSpPr>
          <p:nvPr>
            <p:ph type="title"/>
          </p:nvPr>
        </p:nvSpPr>
        <p:spPr/>
        <p:txBody>
          <a:bodyPr/>
          <a:lstStyle/>
          <a:p>
            <a:r>
              <a:t>Fare clic per modificare lo stile del titolo dello schema</a:t>
            </a:r>
          </a:p>
        </p:txBody>
      </p:sp>
      <p:sp>
        <p:nvSpPr>
          <p:cNvPr id="3" name="Segnaposto contenuto 2">
            <a:extLst>
              <a:ext uri="{FF2B5EF4-FFF2-40B4-BE49-F238E27FC236}">
                <a16:creationId xmlns:a16="http://schemas.microsoft.com/office/drawing/2014/main" id="{D6620FFD-C026-E867-AD63-592D79EC4840}"/>
              </a:ext>
            </a:extLst>
          </p:cNvPr>
          <p:cNvSpPr>
            <a:spLocks noGrp="1"/>
          </p:cNvSpPr>
          <p:nvPr>
            <p:ph idx="1"/>
          </p:nvPr>
        </p:nvSpPr>
        <p:spPr/>
        <p:txBody>
          <a:bodyPr/>
          <a:lstStyle/>
          <a:p>
            <a:pPr lvl="0">
              <a:buNone/>
            </a:pPr>
            <a:r>
              <a:t>Fare clic per modificare gli stili del testo dello schema</a:t>
            </a:r>
          </a:p>
          <a:p>
            <a:pPr lvl="1">
              <a:buNone/>
            </a:pPr>
            <a:r>
              <a:t>Secondo livello</a:t>
            </a:r>
          </a:p>
          <a:p>
            <a:pPr lvl="2">
              <a:buNone/>
            </a:pPr>
            <a:r>
              <a:t>Terzo livello</a:t>
            </a:r>
          </a:p>
          <a:p>
            <a:pPr lvl="3">
              <a:buNone/>
            </a:pPr>
            <a:r>
              <a:t>Quarto livello</a:t>
            </a:r>
          </a:p>
          <a:p>
            <a:pPr lvl="4">
              <a:buNone/>
            </a:pPr>
            <a:r>
              <a:t>Quinto livello</a:t>
            </a:r>
          </a:p>
        </p:txBody>
      </p:sp>
      <p:sp>
        <p:nvSpPr>
          <p:cNvPr id="4" name="Segnaposto data 3">
            <a:extLst>
              <a:ext uri="{FF2B5EF4-FFF2-40B4-BE49-F238E27FC236}">
                <a16:creationId xmlns:a16="http://schemas.microsoft.com/office/drawing/2014/main" id="{3E1B5E04-C24B-D5D6-3D0A-F62E12A77008}"/>
              </a:ext>
            </a:extLst>
          </p:cNvPr>
          <p:cNvSpPr>
            <a:spLocks noGrp="1"/>
          </p:cNvSpPr>
          <p:nvPr>
            <p:ph type="dt" idx="10"/>
          </p:nvPr>
        </p:nvSpPr>
        <p:spPr/>
        <p:txBody>
          <a:bodyPr/>
          <a:lstStyle/>
          <a:p>
            <a:fld id="{79A8DD84-C996-4DFC-A6C4-7C5817C05F19}" type="datetimeFigureOut">
              <a:t>18/10/2026</a:t>
            </a:fld>
            <a:endParaRPr/>
          </a:p>
        </p:txBody>
      </p:sp>
      <p:sp>
        <p:nvSpPr>
          <p:cNvPr id="5" name="Segnaposto piè di pagina 4">
            <a:extLst>
              <a:ext uri="{FF2B5EF4-FFF2-40B4-BE49-F238E27FC236}">
                <a16:creationId xmlns:a16="http://schemas.microsoft.com/office/drawing/2014/main" id="{D7FE94B9-F6E8-7619-0111-44A9CEE12AE7}"/>
              </a:ext>
            </a:extLst>
          </p:cNvPr>
          <p:cNvSpPr>
            <a:spLocks noGrp="1"/>
          </p:cNvSpPr>
          <p:nvPr>
            <p:ph type="ftr" idx="11"/>
          </p:nvPr>
        </p:nvSpPr>
        <p:spPr/>
        <p:txBody>
          <a:bodyPr/>
          <a:lstStyle/>
          <a:p>
            <a:endParaRPr/>
          </a:p>
        </p:txBody>
      </p:sp>
      <p:sp>
        <p:nvSpPr>
          <p:cNvPr id="6" name="Segnaposto numero diapositiva 5">
            <a:extLst>
              <a:ext uri="{FF2B5EF4-FFF2-40B4-BE49-F238E27FC236}">
                <a16:creationId xmlns:a16="http://schemas.microsoft.com/office/drawing/2014/main" id="{F5710BEB-E9FE-213D-7360-C53330E52266}"/>
              </a:ext>
            </a:extLst>
          </p:cNvPr>
          <p:cNvSpPr>
            <a:spLocks noGrp="1"/>
          </p:cNvSpPr>
          <p:nvPr>
            <p:ph type="sldNum" idx="12"/>
          </p:nvPr>
        </p:nvSpPr>
        <p:spPr/>
        <p:txBody>
          <a:bodyPr/>
          <a:lstStyle/>
          <a:p>
            <a:fld id="{F6BC9DE0-E148-4F27-888A-35D29D0A8254}" type="slidenum">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B1D697E-21B5-1000-78EF-4B3ACD5CD864}"/>
              </a:ext>
            </a:extLst>
          </p:cNvPr>
          <p:cNvSpPr>
            <a:spLocks noGrp="1"/>
          </p:cNvSpPr>
          <p:nvPr>
            <p:ph type="title"/>
          </p:nvPr>
        </p:nvSpPr>
        <p:spPr>
          <a:xfrm>
            <a:off x="831850" y="1709738"/>
            <a:ext cx="10515600" cy="2852737"/>
          </a:xfrm>
        </p:spPr>
        <p:txBody>
          <a:bodyPr anchor="b"/>
          <a:lstStyle>
            <a:lvl1pPr>
              <a:buNone/>
              <a:defRPr sz="6000"/>
            </a:lvl1pPr>
          </a:lstStyle>
          <a:p>
            <a:r>
              <a:t>Fare clic per modificare lo stile del titolo dello schema</a:t>
            </a:r>
          </a:p>
        </p:txBody>
      </p:sp>
      <p:sp>
        <p:nvSpPr>
          <p:cNvPr id="3" name="Segnaposto testo 2">
            <a:extLst>
              <a:ext uri="{FF2B5EF4-FFF2-40B4-BE49-F238E27FC236}">
                <a16:creationId xmlns:a16="http://schemas.microsoft.com/office/drawing/2014/main" id="{3812CEF4-17FB-B235-08C1-23524B552A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Fare clic per modificare gli stili del testo dello schema</a:t>
            </a:r>
          </a:p>
        </p:txBody>
      </p:sp>
      <p:sp>
        <p:nvSpPr>
          <p:cNvPr id="4" name="Segnaposto data 3">
            <a:extLst>
              <a:ext uri="{FF2B5EF4-FFF2-40B4-BE49-F238E27FC236}">
                <a16:creationId xmlns:a16="http://schemas.microsoft.com/office/drawing/2014/main" id="{CC4A0313-0298-1377-47B1-B5F20B24602F}"/>
              </a:ext>
            </a:extLst>
          </p:cNvPr>
          <p:cNvSpPr>
            <a:spLocks noGrp="1"/>
          </p:cNvSpPr>
          <p:nvPr>
            <p:ph type="dt" idx="10"/>
          </p:nvPr>
        </p:nvSpPr>
        <p:spPr/>
        <p:txBody>
          <a:bodyPr/>
          <a:lstStyle/>
          <a:p>
            <a:fld id="{79A8DD84-C996-4DFC-A6C4-7C5817C05F19}" type="datetimeFigureOut">
              <a:t>18/10/2026</a:t>
            </a:fld>
            <a:endParaRPr/>
          </a:p>
        </p:txBody>
      </p:sp>
      <p:sp>
        <p:nvSpPr>
          <p:cNvPr id="5" name="Segnaposto piè di pagina 4">
            <a:extLst>
              <a:ext uri="{FF2B5EF4-FFF2-40B4-BE49-F238E27FC236}">
                <a16:creationId xmlns:a16="http://schemas.microsoft.com/office/drawing/2014/main" id="{4A9ABFBA-FFEB-FB63-FB52-7A183CD3312B}"/>
              </a:ext>
            </a:extLst>
          </p:cNvPr>
          <p:cNvSpPr>
            <a:spLocks noGrp="1"/>
          </p:cNvSpPr>
          <p:nvPr>
            <p:ph type="ftr" idx="11"/>
          </p:nvPr>
        </p:nvSpPr>
        <p:spPr/>
        <p:txBody>
          <a:bodyPr/>
          <a:lstStyle/>
          <a:p>
            <a:endParaRPr/>
          </a:p>
        </p:txBody>
      </p:sp>
      <p:sp>
        <p:nvSpPr>
          <p:cNvPr id="6" name="Segnaposto numero diapositiva 5">
            <a:extLst>
              <a:ext uri="{FF2B5EF4-FFF2-40B4-BE49-F238E27FC236}">
                <a16:creationId xmlns:a16="http://schemas.microsoft.com/office/drawing/2014/main" id="{1E7B181C-3C54-EFD2-F1F5-95C0D20EEB2F}"/>
              </a:ext>
            </a:extLst>
          </p:cNvPr>
          <p:cNvSpPr>
            <a:spLocks noGrp="1"/>
          </p:cNvSpPr>
          <p:nvPr>
            <p:ph type="sldNum" idx="12"/>
          </p:nvPr>
        </p:nvSpPr>
        <p:spPr/>
        <p:txBody>
          <a:bodyPr/>
          <a:lstStyle/>
          <a:p>
            <a:fld id="{F6BC9DE0-E148-4F27-888A-35D29D0A8254}" type="slidenum">
              <a:t>‹N›</a:t>
            </a:fld>
            <a:endParaRPr/>
          </a:p>
        </p:txBody>
      </p:sp>
      <p:sp>
        <p:nvSpPr>
          <p:cNvPr id="7" name="Rettangolo 6">
            <a:extLst>
              <a:ext uri="{FF2B5EF4-FFF2-40B4-BE49-F238E27FC236}">
                <a16:creationId xmlns:a16="http://schemas.microsoft.com/office/drawing/2014/main" id="{95B49CF1-81D8-D18F-93BB-B1AB52586C7C}"/>
              </a:ext>
            </a:extLst>
          </p:cNvPr>
          <p:cNvSpPr>
            <a:spLocks noGrp="1"/>
          </p:cNvSpPr>
          <p:nvPr/>
        </p:nvSpPr>
        <p:spPr>
          <a:xfrm>
            <a:off x="10938617" y="68366"/>
            <a:ext cx="1153682" cy="1145137"/>
          </a:xfrm>
          <a:prstGeom prst="rect">
            <a:avLst/>
          </a:prstGeom>
          <a:ln>
            <a:noFill/>
          </a:ln>
        </p:spPr>
        <p:style>
          <a:lnRef idx="2">
            <a:schemeClr val="dk1"/>
          </a:lnRef>
          <a:fillRef idx="1">
            <a:schemeClr val="lt1"/>
          </a:fillRef>
          <a:effectRef idx="0">
            <a:schemeClr val="dk1"/>
          </a:effectRef>
          <a:fontRef idx="minor">
            <a:schemeClr val="dk1"/>
          </a:fontRef>
        </p:style>
        <p:txBody>
          <a:bodyPr anchor="ctr"/>
          <a:lstStyle/>
          <a:p>
            <a:pPr algn="ctr">
              <a:buNone/>
            </a:pPr>
            <a:endParaRPr/>
          </a:p>
        </p:txBody>
      </p:sp>
      <p:pic>
        <p:nvPicPr>
          <p:cNvPr id="10" name="Immagine 9">
            <a:extLst>
              <a:ext uri="{FF2B5EF4-FFF2-40B4-BE49-F238E27FC236}">
                <a16:creationId xmlns:a16="http://schemas.microsoft.com/office/drawing/2014/main" id="{88CCA628-9353-4930-B3E2-534798794C81}"/>
              </a:ext>
            </a:extLst>
          </p:cNvPr>
          <p:cNvPicPr>
            <a:picLocks noChangeAspect="1"/>
          </p:cNvPicPr>
          <p:nvPr/>
        </p:nvPicPr>
        <p:blipFill>
          <a:blip r:embed="rId2"/>
          <a:stretch>
            <a:fillRect/>
          </a:stretch>
        </p:blipFill>
        <p:spPr>
          <a:xfrm>
            <a:off x="5611118" y="156052"/>
            <a:ext cx="969764" cy="96976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3A99D72-CA11-3389-C4A3-05808F01F9FC}"/>
              </a:ext>
            </a:extLst>
          </p:cNvPr>
          <p:cNvSpPr>
            <a:spLocks noGrp="1"/>
          </p:cNvSpPr>
          <p:nvPr>
            <p:ph type="title"/>
          </p:nvPr>
        </p:nvSpPr>
        <p:spPr/>
        <p:txBody>
          <a:bodyPr/>
          <a:lstStyle/>
          <a:p>
            <a:r>
              <a:t>Fare clic per modificare lo stile del titolo dello schema</a:t>
            </a:r>
          </a:p>
        </p:txBody>
      </p:sp>
      <p:sp>
        <p:nvSpPr>
          <p:cNvPr id="3" name="Segnaposto contenuto 2">
            <a:extLst>
              <a:ext uri="{FF2B5EF4-FFF2-40B4-BE49-F238E27FC236}">
                <a16:creationId xmlns:a16="http://schemas.microsoft.com/office/drawing/2014/main" id="{FD8BE8CD-CFBF-788D-048C-6E627945DA03}"/>
              </a:ext>
            </a:extLst>
          </p:cNvPr>
          <p:cNvSpPr>
            <a:spLocks noGrp="1"/>
          </p:cNvSpPr>
          <p:nvPr>
            <p:ph idx="1"/>
          </p:nvPr>
        </p:nvSpPr>
        <p:spPr>
          <a:xfrm>
            <a:off x="838200" y="1825625"/>
            <a:ext cx="5181600" cy="4351338"/>
          </a:xfrm>
        </p:spPr>
        <p:txBody>
          <a:bodyPr/>
          <a:lstStyle/>
          <a:p>
            <a:pPr lvl="0">
              <a:buNone/>
            </a:pPr>
            <a:r>
              <a:t>Fare clic per modificare gli stili del testo dello schema</a:t>
            </a:r>
          </a:p>
          <a:p>
            <a:pPr lvl="1">
              <a:buNone/>
            </a:pPr>
            <a:r>
              <a:t>Secondo livello</a:t>
            </a:r>
          </a:p>
          <a:p>
            <a:pPr lvl="2">
              <a:buNone/>
            </a:pPr>
            <a:r>
              <a:t>Terzo livello</a:t>
            </a:r>
          </a:p>
          <a:p>
            <a:pPr lvl="3">
              <a:buNone/>
            </a:pPr>
            <a:r>
              <a:t>Quarto livello</a:t>
            </a:r>
          </a:p>
          <a:p>
            <a:pPr lvl="4">
              <a:buNone/>
            </a:pPr>
            <a:r>
              <a:t>Quinto livello</a:t>
            </a:r>
          </a:p>
        </p:txBody>
      </p:sp>
      <p:sp>
        <p:nvSpPr>
          <p:cNvPr id="4" name="Segnaposto contenuto 3">
            <a:extLst>
              <a:ext uri="{FF2B5EF4-FFF2-40B4-BE49-F238E27FC236}">
                <a16:creationId xmlns:a16="http://schemas.microsoft.com/office/drawing/2014/main" id="{8ECF094A-0AD8-118A-5A5F-2BBBA770C48D}"/>
              </a:ext>
            </a:extLst>
          </p:cNvPr>
          <p:cNvSpPr>
            <a:spLocks noGrp="1"/>
          </p:cNvSpPr>
          <p:nvPr>
            <p:ph idx="2"/>
          </p:nvPr>
        </p:nvSpPr>
        <p:spPr>
          <a:xfrm>
            <a:off x="6172200" y="1825625"/>
            <a:ext cx="5181600" cy="4351338"/>
          </a:xfrm>
        </p:spPr>
        <p:txBody>
          <a:bodyPr/>
          <a:lstStyle/>
          <a:p>
            <a:pPr lvl="0">
              <a:buNone/>
            </a:pPr>
            <a:r>
              <a:t>Fare clic per modificare gli stili del testo dello schema</a:t>
            </a:r>
          </a:p>
          <a:p>
            <a:pPr lvl="1">
              <a:buNone/>
            </a:pPr>
            <a:r>
              <a:t>Secondo livello</a:t>
            </a:r>
          </a:p>
          <a:p>
            <a:pPr lvl="2">
              <a:buNone/>
            </a:pPr>
            <a:r>
              <a:t>Terzo livello</a:t>
            </a:r>
          </a:p>
          <a:p>
            <a:pPr lvl="3">
              <a:buNone/>
            </a:pPr>
            <a:r>
              <a:t>Quarto livello</a:t>
            </a:r>
          </a:p>
          <a:p>
            <a:pPr lvl="4">
              <a:buNone/>
            </a:pPr>
            <a:r>
              <a:t>Quinto livello</a:t>
            </a:r>
          </a:p>
        </p:txBody>
      </p:sp>
      <p:sp>
        <p:nvSpPr>
          <p:cNvPr id="5" name="Segnaposto data 4">
            <a:extLst>
              <a:ext uri="{FF2B5EF4-FFF2-40B4-BE49-F238E27FC236}">
                <a16:creationId xmlns:a16="http://schemas.microsoft.com/office/drawing/2014/main" id="{9096324B-A6ED-6C5C-45F5-F6534A8EDBEA}"/>
              </a:ext>
            </a:extLst>
          </p:cNvPr>
          <p:cNvSpPr>
            <a:spLocks noGrp="1"/>
          </p:cNvSpPr>
          <p:nvPr>
            <p:ph type="dt" idx="10"/>
          </p:nvPr>
        </p:nvSpPr>
        <p:spPr/>
        <p:txBody>
          <a:bodyPr/>
          <a:lstStyle/>
          <a:p>
            <a:fld id="{79A8DD84-C996-4DFC-A6C4-7C5817C05F19}" type="datetimeFigureOut">
              <a:t>18/10/2026</a:t>
            </a:fld>
            <a:endParaRPr/>
          </a:p>
        </p:txBody>
      </p:sp>
      <p:sp>
        <p:nvSpPr>
          <p:cNvPr id="6" name="Segnaposto piè di pagina 5">
            <a:extLst>
              <a:ext uri="{FF2B5EF4-FFF2-40B4-BE49-F238E27FC236}">
                <a16:creationId xmlns:a16="http://schemas.microsoft.com/office/drawing/2014/main" id="{EF3AAECC-D6F8-D811-47C2-817A1745C4BF}"/>
              </a:ext>
            </a:extLst>
          </p:cNvPr>
          <p:cNvSpPr>
            <a:spLocks noGrp="1"/>
          </p:cNvSpPr>
          <p:nvPr>
            <p:ph type="ftr" idx="11"/>
          </p:nvPr>
        </p:nvSpPr>
        <p:spPr/>
        <p:txBody>
          <a:bodyPr/>
          <a:lstStyle/>
          <a:p>
            <a:endParaRPr/>
          </a:p>
        </p:txBody>
      </p:sp>
      <p:sp>
        <p:nvSpPr>
          <p:cNvPr id="7" name="Segnaposto numero diapositiva 6">
            <a:extLst>
              <a:ext uri="{FF2B5EF4-FFF2-40B4-BE49-F238E27FC236}">
                <a16:creationId xmlns:a16="http://schemas.microsoft.com/office/drawing/2014/main" id="{BDD2689F-0EF0-256D-67D0-F67F8B2DB49D}"/>
              </a:ext>
            </a:extLst>
          </p:cNvPr>
          <p:cNvSpPr>
            <a:spLocks noGrp="1"/>
          </p:cNvSpPr>
          <p:nvPr>
            <p:ph type="sldNum" idx="12"/>
          </p:nvPr>
        </p:nvSpPr>
        <p:spPr/>
        <p:txBody>
          <a:bodyPr/>
          <a:lstStyle/>
          <a:p>
            <a:fld id="{F6BC9DE0-E148-4F27-888A-35D29D0A8254}" type="slidenum">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0BF4958-39EE-101C-CCB9-38505F5D46CB}"/>
              </a:ext>
            </a:extLst>
          </p:cNvPr>
          <p:cNvSpPr>
            <a:spLocks noGrp="1"/>
          </p:cNvSpPr>
          <p:nvPr>
            <p:ph type="title"/>
          </p:nvPr>
        </p:nvSpPr>
        <p:spPr>
          <a:xfrm>
            <a:off x="839788" y="365125"/>
            <a:ext cx="8478383" cy="1325563"/>
          </a:xfrm>
        </p:spPr>
        <p:txBody>
          <a:bodyPr/>
          <a:lstStyle/>
          <a:p>
            <a:r>
              <a:t>Fare clic per modificare lo stile del titolo dello schema</a:t>
            </a:r>
          </a:p>
        </p:txBody>
      </p:sp>
      <p:sp>
        <p:nvSpPr>
          <p:cNvPr id="3" name="Segnaposto testo 2">
            <a:extLst>
              <a:ext uri="{FF2B5EF4-FFF2-40B4-BE49-F238E27FC236}">
                <a16:creationId xmlns:a16="http://schemas.microsoft.com/office/drawing/2014/main" id="{FF6A501A-F474-9F9A-AD00-6351FF50FB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Fare clic per modificare gli stili del testo dello schema</a:t>
            </a:r>
          </a:p>
        </p:txBody>
      </p:sp>
      <p:sp>
        <p:nvSpPr>
          <p:cNvPr id="4" name="Segnaposto contenuto 3">
            <a:extLst>
              <a:ext uri="{FF2B5EF4-FFF2-40B4-BE49-F238E27FC236}">
                <a16:creationId xmlns:a16="http://schemas.microsoft.com/office/drawing/2014/main" id="{4DF36407-53B3-8A58-720F-D63BD3F3805E}"/>
              </a:ext>
            </a:extLst>
          </p:cNvPr>
          <p:cNvSpPr>
            <a:spLocks noGrp="1"/>
          </p:cNvSpPr>
          <p:nvPr>
            <p:ph idx="2"/>
          </p:nvPr>
        </p:nvSpPr>
        <p:spPr>
          <a:xfrm>
            <a:off x="839788" y="2505075"/>
            <a:ext cx="5157787" cy="3684588"/>
          </a:xfrm>
        </p:spPr>
        <p:txBody>
          <a:bodyPr/>
          <a:lstStyle/>
          <a:p>
            <a:pPr lvl="0">
              <a:buNone/>
            </a:pPr>
            <a:r>
              <a:t>Fare clic per modificare gli stili del testo dello schema</a:t>
            </a:r>
          </a:p>
          <a:p>
            <a:pPr lvl="1">
              <a:buNone/>
            </a:pPr>
            <a:r>
              <a:t>Secondo livello</a:t>
            </a:r>
          </a:p>
          <a:p>
            <a:pPr lvl="2">
              <a:buNone/>
            </a:pPr>
            <a:r>
              <a:t>Terzo livello</a:t>
            </a:r>
          </a:p>
          <a:p>
            <a:pPr lvl="3">
              <a:buNone/>
            </a:pPr>
            <a:r>
              <a:t>Quarto livello</a:t>
            </a:r>
          </a:p>
          <a:p>
            <a:pPr lvl="4">
              <a:buNone/>
            </a:pPr>
            <a:r>
              <a:t>Quinto livello</a:t>
            </a:r>
          </a:p>
        </p:txBody>
      </p:sp>
      <p:sp>
        <p:nvSpPr>
          <p:cNvPr id="5" name="Segnaposto testo 4">
            <a:extLst>
              <a:ext uri="{FF2B5EF4-FFF2-40B4-BE49-F238E27FC236}">
                <a16:creationId xmlns:a16="http://schemas.microsoft.com/office/drawing/2014/main" id="{50CE85B8-DB21-8BE8-3B07-85429916EEA1}"/>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Fare clic per modificare gli stili del testo dello schema</a:t>
            </a:r>
          </a:p>
        </p:txBody>
      </p:sp>
      <p:sp>
        <p:nvSpPr>
          <p:cNvPr id="6" name="Segnaposto contenuto 5">
            <a:extLst>
              <a:ext uri="{FF2B5EF4-FFF2-40B4-BE49-F238E27FC236}">
                <a16:creationId xmlns:a16="http://schemas.microsoft.com/office/drawing/2014/main" id="{FDACF0FB-80C3-8913-D169-E7E322010910}"/>
              </a:ext>
            </a:extLst>
          </p:cNvPr>
          <p:cNvSpPr>
            <a:spLocks noGrp="1"/>
          </p:cNvSpPr>
          <p:nvPr>
            <p:ph idx="4"/>
          </p:nvPr>
        </p:nvSpPr>
        <p:spPr>
          <a:xfrm>
            <a:off x="6172200" y="2505075"/>
            <a:ext cx="5183188" cy="3684588"/>
          </a:xfrm>
        </p:spPr>
        <p:txBody>
          <a:bodyPr/>
          <a:lstStyle/>
          <a:p>
            <a:pPr lvl="0">
              <a:buNone/>
            </a:pPr>
            <a:r>
              <a:t>Fare clic per modificare gli stili del testo dello schema</a:t>
            </a:r>
          </a:p>
          <a:p>
            <a:pPr lvl="1">
              <a:buNone/>
            </a:pPr>
            <a:r>
              <a:t>Secondo livello</a:t>
            </a:r>
          </a:p>
          <a:p>
            <a:pPr lvl="2">
              <a:buNone/>
            </a:pPr>
            <a:r>
              <a:t>Terzo livello</a:t>
            </a:r>
          </a:p>
          <a:p>
            <a:pPr lvl="3">
              <a:buNone/>
            </a:pPr>
            <a:r>
              <a:t>Quarto livello</a:t>
            </a:r>
          </a:p>
          <a:p>
            <a:pPr lvl="4">
              <a:buNone/>
            </a:pPr>
            <a:r>
              <a:t>Quinto livello</a:t>
            </a:r>
          </a:p>
        </p:txBody>
      </p:sp>
      <p:sp>
        <p:nvSpPr>
          <p:cNvPr id="7" name="Segnaposto data 6">
            <a:extLst>
              <a:ext uri="{FF2B5EF4-FFF2-40B4-BE49-F238E27FC236}">
                <a16:creationId xmlns:a16="http://schemas.microsoft.com/office/drawing/2014/main" id="{90D540B9-2A9E-CB1D-AB07-1CD8B277A533}"/>
              </a:ext>
            </a:extLst>
          </p:cNvPr>
          <p:cNvSpPr>
            <a:spLocks noGrp="1"/>
          </p:cNvSpPr>
          <p:nvPr>
            <p:ph type="dt" idx="10"/>
          </p:nvPr>
        </p:nvSpPr>
        <p:spPr/>
        <p:txBody>
          <a:bodyPr/>
          <a:lstStyle/>
          <a:p>
            <a:fld id="{79A8DD84-C996-4DFC-A6C4-7C5817C05F19}" type="datetimeFigureOut">
              <a:t>18/10/2026</a:t>
            </a:fld>
            <a:endParaRPr/>
          </a:p>
        </p:txBody>
      </p:sp>
      <p:sp>
        <p:nvSpPr>
          <p:cNvPr id="8" name="Segnaposto piè di pagina 7">
            <a:extLst>
              <a:ext uri="{FF2B5EF4-FFF2-40B4-BE49-F238E27FC236}">
                <a16:creationId xmlns:a16="http://schemas.microsoft.com/office/drawing/2014/main" id="{5EB473A4-1A5D-100C-EA7B-D0F10495EC5C}"/>
              </a:ext>
            </a:extLst>
          </p:cNvPr>
          <p:cNvSpPr>
            <a:spLocks noGrp="1"/>
          </p:cNvSpPr>
          <p:nvPr>
            <p:ph type="ftr" idx="11"/>
          </p:nvPr>
        </p:nvSpPr>
        <p:spPr/>
        <p:txBody>
          <a:bodyPr/>
          <a:lstStyle/>
          <a:p>
            <a:endParaRPr/>
          </a:p>
        </p:txBody>
      </p:sp>
      <p:sp>
        <p:nvSpPr>
          <p:cNvPr id="9" name="Segnaposto numero diapositiva 8">
            <a:extLst>
              <a:ext uri="{FF2B5EF4-FFF2-40B4-BE49-F238E27FC236}">
                <a16:creationId xmlns:a16="http://schemas.microsoft.com/office/drawing/2014/main" id="{4CF45C13-8344-AF21-0AB7-1E553E903179}"/>
              </a:ext>
            </a:extLst>
          </p:cNvPr>
          <p:cNvSpPr>
            <a:spLocks noGrp="1"/>
          </p:cNvSpPr>
          <p:nvPr>
            <p:ph type="sldNum" idx="12"/>
          </p:nvPr>
        </p:nvSpPr>
        <p:spPr/>
        <p:txBody>
          <a:bodyPr/>
          <a:lstStyle/>
          <a:p>
            <a:fld id="{F6BC9DE0-E148-4F27-888A-35D29D0A8254}" type="slidenum">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8BC0E6F-1AB5-2269-4DB4-F107B259AA89}"/>
              </a:ext>
            </a:extLst>
          </p:cNvPr>
          <p:cNvSpPr>
            <a:spLocks noGrp="1"/>
          </p:cNvSpPr>
          <p:nvPr>
            <p:ph type="title"/>
          </p:nvPr>
        </p:nvSpPr>
        <p:spPr/>
        <p:txBody>
          <a:bodyPr/>
          <a:lstStyle/>
          <a:p>
            <a:r>
              <a:t>Fare clic per modificare lo stile del titolo dello schema</a:t>
            </a:r>
          </a:p>
        </p:txBody>
      </p:sp>
      <p:sp>
        <p:nvSpPr>
          <p:cNvPr id="3" name="Segnaposto data 2">
            <a:extLst>
              <a:ext uri="{FF2B5EF4-FFF2-40B4-BE49-F238E27FC236}">
                <a16:creationId xmlns:a16="http://schemas.microsoft.com/office/drawing/2014/main" id="{EDA4CCE2-C60D-5859-1B94-A3690983CF98}"/>
              </a:ext>
            </a:extLst>
          </p:cNvPr>
          <p:cNvSpPr>
            <a:spLocks noGrp="1"/>
          </p:cNvSpPr>
          <p:nvPr>
            <p:ph type="dt" idx="10"/>
          </p:nvPr>
        </p:nvSpPr>
        <p:spPr/>
        <p:txBody>
          <a:bodyPr/>
          <a:lstStyle/>
          <a:p>
            <a:fld id="{79A8DD84-C996-4DFC-A6C4-7C5817C05F19}" type="datetimeFigureOut">
              <a:t>18/10/2026</a:t>
            </a:fld>
            <a:endParaRPr/>
          </a:p>
        </p:txBody>
      </p:sp>
      <p:sp>
        <p:nvSpPr>
          <p:cNvPr id="4" name="Segnaposto piè di pagina 3">
            <a:extLst>
              <a:ext uri="{FF2B5EF4-FFF2-40B4-BE49-F238E27FC236}">
                <a16:creationId xmlns:a16="http://schemas.microsoft.com/office/drawing/2014/main" id="{7770B1B2-CD1D-2504-DF02-2F5F8557C374}"/>
              </a:ext>
            </a:extLst>
          </p:cNvPr>
          <p:cNvSpPr>
            <a:spLocks noGrp="1"/>
          </p:cNvSpPr>
          <p:nvPr>
            <p:ph type="ftr" idx="11"/>
          </p:nvPr>
        </p:nvSpPr>
        <p:spPr/>
        <p:txBody>
          <a:bodyPr/>
          <a:lstStyle/>
          <a:p>
            <a:endParaRPr/>
          </a:p>
        </p:txBody>
      </p:sp>
      <p:sp>
        <p:nvSpPr>
          <p:cNvPr id="5" name="Segnaposto numero diapositiva 4">
            <a:extLst>
              <a:ext uri="{FF2B5EF4-FFF2-40B4-BE49-F238E27FC236}">
                <a16:creationId xmlns:a16="http://schemas.microsoft.com/office/drawing/2014/main" id="{B7879D81-A00C-5E90-ADAE-AF1FD0C13F6A}"/>
              </a:ext>
            </a:extLst>
          </p:cNvPr>
          <p:cNvSpPr>
            <a:spLocks noGrp="1"/>
          </p:cNvSpPr>
          <p:nvPr>
            <p:ph type="sldNum" idx="12"/>
          </p:nvPr>
        </p:nvSpPr>
        <p:spPr/>
        <p:txBody>
          <a:bodyPr/>
          <a:lstStyle/>
          <a:p>
            <a:fld id="{F6BC9DE0-E148-4F27-888A-35D29D0A8254}" type="slidenum">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DF40DD6-905A-20F5-B57A-190C04CED086}"/>
              </a:ext>
            </a:extLst>
          </p:cNvPr>
          <p:cNvSpPr>
            <a:spLocks noGrp="1"/>
          </p:cNvSpPr>
          <p:nvPr>
            <p:ph type="dt" idx="10"/>
          </p:nvPr>
        </p:nvSpPr>
        <p:spPr/>
        <p:txBody>
          <a:bodyPr/>
          <a:lstStyle/>
          <a:p>
            <a:fld id="{79A8DD84-C996-4DFC-A6C4-7C5817C05F19}" type="datetimeFigureOut">
              <a:t>18/10/2026</a:t>
            </a:fld>
            <a:endParaRPr/>
          </a:p>
        </p:txBody>
      </p:sp>
      <p:sp>
        <p:nvSpPr>
          <p:cNvPr id="3" name="Segnaposto piè di pagina 2">
            <a:extLst>
              <a:ext uri="{FF2B5EF4-FFF2-40B4-BE49-F238E27FC236}">
                <a16:creationId xmlns:a16="http://schemas.microsoft.com/office/drawing/2014/main" id="{35E58C8C-4759-000A-C7C3-3B7E8F622502}"/>
              </a:ext>
            </a:extLst>
          </p:cNvPr>
          <p:cNvSpPr>
            <a:spLocks noGrp="1"/>
          </p:cNvSpPr>
          <p:nvPr>
            <p:ph type="ftr" idx="11"/>
          </p:nvPr>
        </p:nvSpPr>
        <p:spPr/>
        <p:txBody>
          <a:bodyPr/>
          <a:lstStyle/>
          <a:p>
            <a:endParaRPr/>
          </a:p>
        </p:txBody>
      </p:sp>
      <p:sp>
        <p:nvSpPr>
          <p:cNvPr id="4" name="Segnaposto numero diapositiva 3">
            <a:extLst>
              <a:ext uri="{FF2B5EF4-FFF2-40B4-BE49-F238E27FC236}">
                <a16:creationId xmlns:a16="http://schemas.microsoft.com/office/drawing/2014/main" id="{B43FC90F-6229-5816-E211-B7EF3D86A197}"/>
              </a:ext>
            </a:extLst>
          </p:cNvPr>
          <p:cNvSpPr>
            <a:spLocks noGrp="1"/>
          </p:cNvSpPr>
          <p:nvPr>
            <p:ph type="sldNum" idx="12"/>
          </p:nvPr>
        </p:nvSpPr>
        <p:spPr/>
        <p:txBody>
          <a:bodyPr/>
          <a:lstStyle/>
          <a:p>
            <a:fld id="{F6BC9DE0-E148-4F27-888A-35D29D0A8254}" type="slidenum">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64C02A9-1669-E800-77AA-97376C1DDB3F}"/>
              </a:ext>
            </a:extLst>
          </p:cNvPr>
          <p:cNvSpPr>
            <a:spLocks noGrp="1"/>
          </p:cNvSpPr>
          <p:nvPr>
            <p:ph type="title"/>
          </p:nvPr>
        </p:nvSpPr>
        <p:spPr>
          <a:xfrm>
            <a:off x="839788" y="457200"/>
            <a:ext cx="3932237" cy="1600200"/>
          </a:xfrm>
        </p:spPr>
        <p:txBody>
          <a:bodyPr anchor="b"/>
          <a:lstStyle>
            <a:lvl1pPr>
              <a:buNone/>
              <a:defRPr sz="3200"/>
            </a:lvl1pPr>
          </a:lstStyle>
          <a:p>
            <a:r>
              <a:t>Fare clic per modificare lo stile del titolo dello schema</a:t>
            </a:r>
          </a:p>
        </p:txBody>
      </p:sp>
      <p:sp>
        <p:nvSpPr>
          <p:cNvPr id="3" name="Segnaposto contenuto 2">
            <a:extLst>
              <a:ext uri="{FF2B5EF4-FFF2-40B4-BE49-F238E27FC236}">
                <a16:creationId xmlns:a16="http://schemas.microsoft.com/office/drawing/2014/main" id="{918BEF98-B068-A61E-D5B8-4557933C10D7}"/>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Fare clic per modificare gli stili del testo dello schema</a:t>
            </a:r>
          </a:p>
          <a:p>
            <a:pPr lvl="1">
              <a:buNone/>
            </a:pPr>
            <a:r>
              <a:t>Secondo livello</a:t>
            </a:r>
          </a:p>
          <a:p>
            <a:pPr lvl="2">
              <a:buNone/>
            </a:pPr>
            <a:r>
              <a:t>Terzo livello</a:t>
            </a:r>
          </a:p>
          <a:p>
            <a:pPr lvl="3">
              <a:buNone/>
            </a:pPr>
            <a:r>
              <a:t>Quarto livello</a:t>
            </a:r>
          </a:p>
          <a:p>
            <a:pPr lvl="4">
              <a:buNone/>
            </a:pPr>
            <a:r>
              <a:t>Quinto livello</a:t>
            </a:r>
          </a:p>
        </p:txBody>
      </p:sp>
      <p:sp>
        <p:nvSpPr>
          <p:cNvPr id="4" name="Segnaposto testo 3">
            <a:extLst>
              <a:ext uri="{FF2B5EF4-FFF2-40B4-BE49-F238E27FC236}">
                <a16:creationId xmlns:a16="http://schemas.microsoft.com/office/drawing/2014/main" id="{0242C958-5A6C-F3A1-B573-9356F4F01A0A}"/>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Fare clic per modificare gli stili del testo dello schema</a:t>
            </a:r>
          </a:p>
        </p:txBody>
      </p:sp>
      <p:sp>
        <p:nvSpPr>
          <p:cNvPr id="5" name="Segnaposto data 4">
            <a:extLst>
              <a:ext uri="{FF2B5EF4-FFF2-40B4-BE49-F238E27FC236}">
                <a16:creationId xmlns:a16="http://schemas.microsoft.com/office/drawing/2014/main" id="{1551D153-C103-17AA-3434-4DACDDB383B3}"/>
              </a:ext>
            </a:extLst>
          </p:cNvPr>
          <p:cNvSpPr>
            <a:spLocks noGrp="1"/>
          </p:cNvSpPr>
          <p:nvPr>
            <p:ph type="dt" idx="10"/>
          </p:nvPr>
        </p:nvSpPr>
        <p:spPr/>
        <p:txBody>
          <a:bodyPr/>
          <a:lstStyle/>
          <a:p>
            <a:fld id="{79A8DD84-C996-4DFC-A6C4-7C5817C05F19}" type="datetimeFigureOut">
              <a:t>18/10/2026</a:t>
            </a:fld>
            <a:endParaRPr/>
          </a:p>
        </p:txBody>
      </p:sp>
      <p:sp>
        <p:nvSpPr>
          <p:cNvPr id="6" name="Segnaposto piè di pagina 5">
            <a:extLst>
              <a:ext uri="{FF2B5EF4-FFF2-40B4-BE49-F238E27FC236}">
                <a16:creationId xmlns:a16="http://schemas.microsoft.com/office/drawing/2014/main" id="{E48790FD-852A-D077-B247-87F825C8C068}"/>
              </a:ext>
            </a:extLst>
          </p:cNvPr>
          <p:cNvSpPr>
            <a:spLocks noGrp="1"/>
          </p:cNvSpPr>
          <p:nvPr>
            <p:ph type="ftr" idx="11"/>
          </p:nvPr>
        </p:nvSpPr>
        <p:spPr/>
        <p:txBody>
          <a:bodyPr/>
          <a:lstStyle/>
          <a:p>
            <a:endParaRPr/>
          </a:p>
        </p:txBody>
      </p:sp>
      <p:sp>
        <p:nvSpPr>
          <p:cNvPr id="7" name="Segnaposto numero diapositiva 6">
            <a:extLst>
              <a:ext uri="{FF2B5EF4-FFF2-40B4-BE49-F238E27FC236}">
                <a16:creationId xmlns:a16="http://schemas.microsoft.com/office/drawing/2014/main" id="{9BE65289-4B7C-6539-7CFF-5E0ED20D11B4}"/>
              </a:ext>
            </a:extLst>
          </p:cNvPr>
          <p:cNvSpPr>
            <a:spLocks noGrp="1"/>
          </p:cNvSpPr>
          <p:nvPr>
            <p:ph type="sldNum" idx="12"/>
          </p:nvPr>
        </p:nvSpPr>
        <p:spPr/>
        <p:txBody>
          <a:bodyPr/>
          <a:lstStyle/>
          <a:p>
            <a:fld id="{F6BC9DE0-E148-4F27-888A-35D29D0A8254}" type="slidenum">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4DF4F45-9948-E60D-7EB6-990A66FCEA6C}"/>
              </a:ext>
            </a:extLst>
          </p:cNvPr>
          <p:cNvSpPr>
            <a:spLocks noGrp="1"/>
          </p:cNvSpPr>
          <p:nvPr>
            <p:ph type="title"/>
          </p:nvPr>
        </p:nvSpPr>
        <p:spPr>
          <a:xfrm>
            <a:off x="839788" y="457200"/>
            <a:ext cx="3932237" cy="1600200"/>
          </a:xfrm>
        </p:spPr>
        <p:txBody>
          <a:bodyPr anchor="b"/>
          <a:lstStyle>
            <a:lvl1pPr>
              <a:buNone/>
              <a:defRPr sz="3200"/>
            </a:lvl1pPr>
          </a:lstStyle>
          <a:p>
            <a:r>
              <a:t>Fare clic per modificare lo stile del titolo dello schema</a:t>
            </a:r>
          </a:p>
        </p:txBody>
      </p:sp>
      <p:sp>
        <p:nvSpPr>
          <p:cNvPr id="3" name="Segnaposto immagine 2">
            <a:extLst>
              <a:ext uri="{FF2B5EF4-FFF2-40B4-BE49-F238E27FC236}">
                <a16:creationId xmlns:a16="http://schemas.microsoft.com/office/drawing/2014/main" id="{FFC80E67-55C5-5534-23CC-172522A3E7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Segnaposto testo 3">
            <a:extLst>
              <a:ext uri="{FF2B5EF4-FFF2-40B4-BE49-F238E27FC236}">
                <a16:creationId xmlns:a16="http://schemas.microsoft.com/office/drawing/2014/main" id="{7C131917-E449-3A79-2FA7-6F05DBABBAED}"/>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Fare clic per modificare gli stili del testo dello schema</a:t>
            </a:r>
          </a:p>
        </p:txBody>
      </p:sp>
      <p:sp>
        <p:nvSpPr>
          <p:cNvPr id="5" name="Segnaposto data 4">
            <a:extLst>
              <a:ext uri="{FF2B5EF4-FFF2-40B4-BE49-F238E27FC236}">
                <a16:creationId xmlns:a16="http://schemas.microsoft.com/office/drawing/2014/main" id="{262198FA-7549-8435-0AE1-1D52FC5848D1}"/>
              </a:ext>
            </a:extLst>
          </p:cNvPr>
          <p:cNvSpPr>
            <a:spLocks noGrp="1"/>
          </p:cNvSpPr>
          <p:nvPr>
            <p:ph type="dt" idx="10"/>
          </p:nvPr>
        </p:nvSpPr>
        <p:spPr/>
        <p:txBody>
          <a:bodyPr/>
          <a:lstStyle/>
          <a:p>
            <a:fld id="{79A8DD84-C996-4DFC-A6C4-7C5817C05F19}" type="datetimeFigureOut">
              <a:t>18/10/2026</a:t>
            </a:fld>
            <a:endParaRPr/>
          </a:p>
        </p:txBody>
      </p:sp>
      <p:sp>
        <p:nvSpPr>
          <p:cNvPr id="6" name="Segnaposto piè di pagina 5">
            <a:extLst>
              <a:ext uri="{FF2B5EF4-FFF2-40B4-BE49-F238E27FC236}">
                <a16:creationId xmlns:a16="http://schemas.microsoft.com/office/drawing/2014/main" id="{17C7C673-A166-AA42-CDE7-D1159F5081BF}"/>
              </a:ext>
            </a:extLst>
          </p:cNvPr>
          <p:cNvSpPr>
            <a:spLocks noGrp="1"/>
          </p:cNvSpPr>
          <p:nvPr>
            <p:ph type="ftr" idx="11"/>
          </p:nvPr>
        </p:nvSpPr>
        <p:spPr/>
        <p:txBody>
          <a:bodyPr/>
          <a:lstStyle/>
          <a:p>
            <a:endParaRPr/>
          </a:p>
        </p:txBody>
      </p:sp>
      <p:sp>
        <p:nvSpPr>
          <p:cNvPr id="7" name="Segnaposto numero diapositiva 6">
            <a:extLst>
              <a:ext uri="{FF2B5EF4-FFF2-40B4-BE49-F238E27FC236}">
                <a16:creationId xmlns:a16="http://schemas.microsoft.com/office/drawing/2014/main" id="{DA54695C-3ADA-F079-EAAE-295E7403DD1F}"/>
              </a:ext>
            </a:extLst>
          </p:cNvPr>
          <p:cNvSpPr>
            <a:spLocks noGrp="1"/>
          </p:cNvSpPr>
          <p:nvPr>
            <p:ph type="sldNum" idx="12"/>
          </p:nvPr>
        </p:nvSpPr>
        <p:spPr/>
        <p:txBody>
          <a:bodyPr/>
          <a:lstStyle/>
          <a:p>
            <a:fld id="{F6BC9DE0-E148-4F27-888A-35D29D0A8254}" type="slidenum">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3D9E4F-171B-27B6-8C6E-A7901D437023}"/>
              </a:ext>
            </a:extLst>
          </p:cNvPr>
          <p:cNvSpPr>
            <a:spLocks noGrp="1"/>
          </p:cNvSpPr>
          <p:nvPr>
            <p:ph type="title"/>
          </p:nvPr>
        </p:nvSpPr>
        <p:spPr/>
        <p:txBody>
          <a:bodyPr/>
          <a:lstStyle/>
          <a:p>
            <a:r>
              <a:t>Fare clic per modificare lo stile del titolo dello schema</a:t>
            </a:r>
          </a:p>
        </p:txBody>
      </p:sp>
      <p:sp>
        <p:nvSpPr>
          <p:cNvPr id="3" name="Segnaposto testo verticale 2">
            <a:extLst>
              <a:ext uri="{FF2B5EF4-FFF2-40B4-BE49-F238E27FC236}">
                <a16:creationId xmlns:a16="http://schemas.microsoft.com/office/drawing/2014/main" id="{A935340E-B08B-AB7E-A2B9-50E7CC3497E1}"/>
              </a:ext>
            </a:extLst>
          </p:cNvPr>
          <p:cNvSpPr>
            <a:spLocks noGrp="1"/>
          </p:cNvSpPr>
          <p:nvPr>
            <p:ph type="body" idx="1"/>
          </p:nvPr>
        </p:nvSpPr>
        <p:spPr/>
        <p:txBody>
          <a:bodyPr vert="eaVert"/>
          <a:lstStyle/>
          <a:p>
            <a:pPr lvl="0">
              <a:buNone/>
            </a:pPr>
            <a:r>
              <a:t>Fare clic per modificare gli stili del testo dello schema</a:t>
            </a:r>
          </a:p>
          <a:p>
            <a:pPr lvl="1">
              <a:buNone/>
            </a:pPr>
            <a:r>
              <a:t>Secondo livello</a:t>
            </a:r>
          </a:p>
          <a:p>
            <a:pPr lvl="2">
              <a:buNone/>
            </a:pPr>
            <a:r>
              <a:t>Terzo livello</a:t>
            </a:r>
          </a:p>
          <a:p>
            <a:pPr lvl="3">
              <a:buNone/>
            </a:pPr>
            <a:r>
              <a:t>Quarto livello</a:t>
            </a:r>
          </a:p>
          <a:p>
            <a:pPr lvl="4">
              <a:buNone/>
            </a:pPr>
            <a:r>
              <a:t>Quinto livello</a:t>
            </a:r>
          </a:p>
        </p:txBody>
      </p:sp>
      <p:sp>
        <p:nvSpPr>
          <p:cNvPr id="4" name="Segnaposto data 3">
            <a:extLst>
              <a:ext uri="{FF2B5EF4-FFF2-40B4-BE49-F238E27FC236}">
                <a16:creationId xmlns:a16="http://schemas.microsoft.com/office/drawing/2014/main" id="{34E9258E-C845-3A11-BA80-25E3AFF231F8}"/>
              </a:ext>
            </a:extLst>
          </p:cNvPr>
          <p:cNvSpPr>
            <a:spLocks noGrp="1"/>
          </p:cNvSpPr>
          <p:nvPr>
            <p:ph type="dt" idx="10"/>
          </p:nvPr>
        </p:nvSpPr>
        <p:spPr/>
        <p:txBody>
          <a:bodyPr/>
          <a:lstStyle/>
          <a:p>
            <a:fld id="{79A8DD84-C996-4DFC-A6C4-7C5817C05F19}" type="datetimeFigureOut">
              <a:t>18/10/2026</a:t>
            </a:fld>
            <a:endParaRPr/>
          </a:p>
        </p:txBody>
      </p:sp>
      <p:sp>
        <p:nvSpPr>
          <p:cNvPr id="5" name="Segnaposto piè di pagina 4">
            <a:extLst>
              <a:ext uri="{FF2B5EF4-FFF2-40B4-BE49-F238E27FC236}">
                <a16:creationId xmlns:a16="http://schemas.microsoft.com/office/drawing/2014/main" id="{E2B94E76-43A8-D6DF-7418-DBD244FC8703}"/>
              </a:ext>
            </a:extLst>
          </p:cNvPr>
          <p:cNvSpPr>
            <a:spLocks noGrp="1"/>
          </p:cNvSpPr>
          <p:nvPr>
            <p:ph type="ftr" idx="11"/>
          </p:nvPr>
        </p:nvSpPr>
        <p:spPr/>
        <p:txBody>
          <a:bodyPr/>
          <a:lstStyle/>
          <a:p>
            <a:endParaRPr/>
          </a:p>
        </p:txBody>
      </p:sp>
      <p:sp>
        <p:nvSpPr>
          <p:cNvPr id="6" name="Segnaposto numero diapositiva 5">
            <a:extLst>
              <a:ext uri="{FF2B5EF4-FFF2-40B4-BE49-F238E27FC236}">
                <a16:creationId xmlns:a16="http://schemas.microsoft.com/office/drawing/2014/main" id="{1DF37EAE-02D5-2031-35AB-D79C34BDBF45}"/>
              </a:ext>
            </a:extLst>
          </p:cNvPr>
          <p:cNvSpPr>
            <a:spLocks noGrp="1"/>
          </p:cNvSpPr>
          <p:nvPr>
            <p:ph type="sldNum" idx="12"/>
          </p:nvPr>
        </p:nvSpPr>
        <p:spPr/>
        <p:txBody>
          <a:bodyPr/>
          <a:lstStyle/>
          <a:p>
            <a:fld id="{F6BC9DE0-E148-4F27-888A-35D29D0A8254}" type="slidenum">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DB20921E-52EE-B765-0819-45540691F6A9}"/>
              </a:ext>
            </a:extLst>
          </p:cNvPr>
          <p:cNvSpPr>
            <a:spLocks noGrp="1"/>
          </p:cNvSpPr>
          <p:nvPr>
            <p:ph type="title"/>
          </p:nvPr>
        </p:nvSpPr>
        <p:spPr>
          <a:xfrm>
            <a:off x="8724900" y="1053737"/>
            <a:ext cx="2628900" cy="5123226"/>
          </a:xfrm>
        </p:spPr>
        <p:txBody>
          <a:bodyPr vert="eaVert"/>
          <a:lstStyle/>
          <a:p>
            <a:r>
              <a:t>Fare clic per modificare lo stile del titolo dello schema</a:t>
            </a:r>
          </a:p>
        </p:txBody>
      </p:sp>
      <p:sp>
        <p:nvSpPr>
          <p:cNvPr id="3" name="Segnaposto testo verticale 2">
            <a:extLst>
              <a:ext uri="{FF2B5EF4-FFF2-40B4-BE49-F238E27FC236}">
                <a16:creationId xmlns:a16="http://schemas.microsoft.com/office/drawing/2014/main" id="{F41F3A47-FCF9-78D6-41FE-4E9712B013B9}"/>
              </a:ext>
            </a:extLst>
          </p:cNvPr>
          <p:cNvSpPr>
            <a:spLocks noGrp="1"/>
          </p:cNvSpPr>
          <p:nvPr>
            <p:ph type="body" idx="1"/>
          </p:nvPr>
        </p:nvSpPr>
        <p:spPr>
          <a:xfrm>
            <a:off x="838200" y="365125"/>
            <a:ext cx="7734300" cy="5811838"/>
          </a:xfrm>
        </p:spPr>
        <p:txBody>
          <a:bodyPr vert="eaVert"/>
          <a:lstStyle/>
          <a:p>
            <a:pPr lvl="0">
              <a:buNone/>
            </a:pPr>
            <a:r>
              <a:t>Fare clic per modificare gli stili del testo dello schema</a:t>
            </a:r>
          </a:p>
          <a:p>
            <a:pPr lvl="1">
              <a:buNone/>
            </a:pPr>
            <a:r>
              <a:t>Secondo livello</a:t>
            </a:r>
          </a:p>
          <a:p>
            <a:pPr lvl="2">
              <a:buNone/>
            </a:pPr>
            <a:r>
              <a:t>Terzo livello</a:t>
            </a:r>
          </a:p>
          <a:p>
            <a:pPr lvl="3">
              <a:buNone/>
            </a:pPr>
            <a:r>
              <a:t>Quarto livello</a:t>
            </a:r>
          </a:p>
          <a:p>
            <a:pPr lvl="4">
              <a:buNone/>
            </a:pPr>
            <a:r>
              <a:t>Quinto livello</a:t>
            </a:r>
          </a:p>
        </p:txBody>
      </p:sp>
      <p:sp>
        <p:nvSpPr>
          <p:cNvPr id="4" name="Segnaposto data 3">
            <a:extLst>
              <a:ext uri="{FF2B5EF4-FFF2-40B4-BE49-F238E27FC236}">
                <a16:creationId xmlns:a16="http://schemas.microsoft.com/office/drawing/2014/main" id="{EA47E077-5D91-6763-FB8F-67027502A154}"/>
              </a:ext>
            </a:extLst>
          </p:cNvPr>
          <p:cNvSpPr>
            <a:spLocks noGrp="1"/>
          </p:cNvSpPr>
          <p:nvPr>
            <p:ph type="dt" idx="10"/>
          </p:nvPr>
        </p:nvSpPr>
        <p:spPr/>
        <p:txBody>
          <a:bodyPr/>
          <a:lstStyle/>
          <a:p>
            <a:fld id="{79A8DD84-C996-4DFC-A6C4-7C5817C05F19}" type="datetimeFigureOut">
              <a:t>18/10/2026</a:t>
            </a:fld>
            <a:endParaRPr/>
          </a:p>
        </p:txBody>
      </p:sp>
      <p:sp>
        <p:nvSpPr>
          <p:cNvPr id="5" name="Segnaposto piè di pagina 4">
            <a:extLst>
              <a:ext uri="{FF2B5EF4-FFF2-40B4-BE49-F238E27FC236}">
                <a16:creationId xmlns:a16="http://schemas.microsoft.com/office/drawing/2014/main" id="{03F9C29B-1A24-82CD-09FB-A9CDF8EC80A7}"/>
              </a:ext>
            </a:extLst>
          </p:cNvPr>
          <p:cNvSpPr>
            <a:spLocks noGrp="1"/>
          </p:cNvSpPr>
          <p:nvPr>
            <p:ph type="ftr" idx="11"/>
          </p:nvPr>
        </p:nvSpPr>
        <p:spPr/>
        <p:txBody>
          <a:bodyPr/>
          <a:lstStyle/>
          <a:p>
            <a:endParaRPr/>
          </a:p>
        </p:txBody>
      </p:sp>
      <p:sp>
        <p:nvSpPr>
          <p:cNvPr id="6" name="Segnaposto numero diapositiva 5">
            <a:extLst>
              <a:ext uri="{FF2B5EF4-FFF2-40B4-BE49-F238E27FC236}">
                <a16:creationId xmlns:a16="http://schemas.microsoft.com/office/drawing/2014/main" id="{6C09C3D8-828F-5F53-C9A0-6361273FDDDD}"/>
              </a:ext>
            </a:extLst>
          </p:cNvPr>
          <p:cNvSpPr>
            <a:spLocks noGrp="1"/>
          </p:cNvSpPr>
          <p:nvPr>
            <p:ph type="sldNum" idx="12"/>
          </p:nvPr>
        </p:nvSpPr>
        <p:spPr/>
        <p:txBody>
          <a:bodyPr/>
          <a:lstStyle/>
          <a:p>
            <a:fld id="{F6BC9DE0-E148-4F27-888A-35D29D0A8254}" type="slidenum">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28F9C211-565C-7446-42B4-063F1DDD44B1}"/>
              </a:ext>
            </a:extLst>
          </p:cNvPr>
          <p:cNvSpPr>
            <a:spLocks noGrp="1"/>
          </p:cNvSpPr>
          <p:nvPr>
            <p:ph type="title"/>
          </p:nvPr>
        </p:nvSpPr>
        <p:spPr>
          <a:xfrm>
            <a:off x="838200" y="365125"/>
            <a:ext cx="8384177" cy="1325563"/>
          </a:xfrm>
          <a:prstGeom prst="rect">
            <a:avLst/>
          </a:prstGeom>
        </p:spPr>
        <p:txBody>
          <a:bodyPr vert="horz" lIns="91440" tIns="45720" rIns="91440" bIns="45720" anchor="ctr">
            <a:normAutofit/>
          </a:bodyPr>
          <a:lstStyle/>
          <a:p>
            <a:r>
              <a:t>Fare clic per modificare lo stile del titolo dello schema</a:t>
            </a:r>
          </a:p>
        </p:txBody>
      </p:sp>
      <p:sp>
        <p:nvSpPr>
          <p:cNvPr id="3" name="Segnaposto testo 2">
            <a:extLst>
              <a:ext uri="{FF2B5EF4-FFF2-40B4-BE49-F238E27FC236}">
                <a16:creationId xmlns:a16="http://schemas.microsoft.com/office/drawing/2014/main" id="{E0FBABD3-A8AF-4F53-2D97-2679239C52ED}"/>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Fare clic per modificare gli stili del testo dello schema</a:t>
            </a:r>
          </a:p>
          <a:p>
            <a:pPr lvl="1">
              <a:buNone/>
            </a:pPr>
            <a:r>
              <a:t>Secondo livello</a:t>
            </a:r>
          </a:p>
          <a:p>
            <a:pPr lvl="2">
              <a:buNone/>
            </a:pPr>
            <a:r>
              <a:t>Terzo livello</a:t>
            </a:r>
          </a:p>
          <a:p>
            <a:pPr lvl="3">
              <a:buNone/>
            </a:pPr>
            <a:r>
              <a:t>Quarto livello</a:t>
            </a:r>
          </a:p>
          <a:p>
            <a:pPr lvl="4">
              <a:buNone/>
            </a:pPr>
            <a:r>
              <a:t>Quinto livello</a:t>
            </a:r>
          </a:p>
        </p:txBody>
      </p:sp>
      <p:sp>
        <p:nvSpPr>
          <p:cNvPr id="4" name="Segnaposto data 3">
            <a:extLst>
              <a:ext uri="{FF2B5EF4-FFF2-40B4-BE49-F238E27FC236}">
                <a16:creationId xmlns:a16="http://schemas.microsoft.com/office/drawing/2014/main" id="{61D962FE-354C-2325-C79F-CC79DE0593EF}"/>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79A8DD84-C996-4DFC-A6C4-7C5817C05F19}" type="datetimeFigureOut">
              <a:t>18/10/2026</a:t>
            </a:fld>
            <a:endParaRPr/>
          </a:p>
        </p:txBody>
      </p:sp>
      <p:sp>
        <p:nvSpPr>
          <p:cNvPr id="5" name="Segnaposto piè di pagina 4">
            <a:extLst>
              <a:ext uri="{FF2B5EF4-FFF2-40B4-BE49-F238E27FC236}">
                <a16:creationId xmlns:a16="http://schemas.microsoft.com/office/drawing/2014/main" id="{706614F3-3B6C-86DA-A785-ECCA30B6D40D}"/>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r>
              <a:t>Visionlab – Computer Vision Laboratory – Sapienza</a:t>
            </a:r>
          </a:p>
          <a:p>
            <a:r>
              <a:t>Via Salaria 113, 00198, Rome – Third Floor, Room 309</a:t>
            </a:r>
          </a:p>
        </p:txBody>
      </p:sp>
      <p:sp>
        <p:nvSpPr>
          <p:cNvPr id="6" name="Segnaposto numero diapositiva 5">
            <a:extLst>
              <a:ext uri="{FF2B5EF4-FFF2-40B4-BE49-F238E27FC236}">
                <a16:creationId xmlns:a16="http://schemas.microsoft.com/office/drawing/2014/main" id="{DFAD2367-DA27-BF1C-D722-5F0C6250B792}"/>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F6BC9DE0-E148-4F27-888A-35D29D0A8254}" type="slidenum">
              <a:t>‹N›</a:t>
            </a:fld>
            <a:endParaRPr/>
          </a:p>
        </p:txBody>
      </p:sp>
      <p:pic>
        <p:nvPicPr>
          <p:cNvPr id="10" name="Immagine 9">
            <a:extLst>
              <a:ext uri="{FF2B5EF4-FFF2-40B4-BE49-F238E27FC236}">
                <a16:creationId xmlns:a16="http://schemas.microsoft.com/office/drawing/2014/main" id="{92F9F686-C39F-497B-9DE0-CD1BA51EEAD2}"/>
              </a:ext>
            </a:extLst>
          </p:cNvPr>
          <p:cNvPicPr>
            <a:picLocks noChangeAspect="1"/>
          </p:cNvPicPr>
          <p:nvPr/>
        </p:nvPicPr>
        <p:blipFill>
          <a:blip r:embed="rId13">
            <a:alphaModFix amt="10000"/>
          </a:blip>
          <a:stretch>
            <a:fillRect/>
          </a:stretch>
        </p:blipFill>
        <p:spPr>
          <a:xfrm flipH="1">
            <a:off x="9091749" y="1233082"/>
            <a:ext cx="3100251" cy="4769711"/>
          </a:xfrm>
          <a:prstGeom prst="rect">
            <a:avLst/>
          </a:prstGeom>
        </p:spPr>
      </p:pic>
      <p:sp>
        <p:nvSpPr>
          <p:cNvPr id="12" name="Striscia diagonale 11">
            <a:extLst>
              <a:ext uri="{FF2B5EF4-FFF2-40B4-BE49-F238E27FC236}">
                <a16:creationId xmlns:a16="http://schemas.microsoft.com/office/drawing/2014/main" id="{36E41B77-6243-9A06-B22D-1DDE56864FB1}"/>
              </a:ext>
            </a:extLst>
          </p:cNvPr>
          <p:cNvSpPr>
            <a:spLocks noGrp="1"/>
          </p:cNvSpPr>
          <p:nvPr/>
        </p:nvSpPr>
        <p:spPr>
          <a:xfrm>
            <a:off x="0" y="0"/>
            <a:ext cx="360000" cy="360000"/>
          </a:xfrm>
          <a:prstGeom prst="diagStripe">
            <a:avLst>
              <a:gd name="adj" fmla="val 75796"/>
            </a:avLst>
          </a:prstGeom>
          <a:solidFill>
            <a:srgbClr val="82243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13" name="Striscia diagonale 12">
            <a:extLst>
              <a:ext uri="{FF2B5EF4-FFF2-40B4-BE49-F238E27FC236}">
                <a16:creationId xmlns:a16="http://schemas.microsoft.com/office/drawing/2014/main" id="{3906131B-CD34-FC06-2AE0-D5BFFB41216D}"/>
              </a:ext>
            </a:extLst>
          </p:cNvPr>
          <p:cNvSpPr>
            <a:spLocks noGrp="1"/>
          </p:cNvSpPr>
          <p:nvPr/>
        </p:nvSpPr>
        <p:spPr>
          <a:xfrm>
            <a:off x="0" y="0"/>
            <a:ext cx="540000" cy="540000"/>
          </a:xfrm>
          <a:prstGeom prst="diagStripe">
            <a:avLst>
              <a:gd name="adj" fmla="val 83292"/>
            </a:avLst>
          </a:prstGeom>
          <a:solidFill>
            <a:srgbClr val="82243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14" name="Rettangolo 13">
            <a:extLst>
              <a:ext uri="{FF2B5EF4-FFF2-40B4-BE49-F238E27FC236}">
                <a16:creationId xmlns:a16="http://schemas.microsoft.com/office/drawing/2014/main" id="{05CFF721-6631-1D68-8373-4422D99FEEB4}"/>
              </a:ext>
            </a:extLst>
          </p:cNvPr>
          <p:cNvSpPr>
            <a:spLocks noGrp="1"/>
          </p:cNvSpPr>
          <p:nvPr/>
        </p:nvSpPr>
        <p:spPr>
          <a:xfrm>
            <a:off x="401888" y="1943100"/>
            <a:ext cx="79200" cy="4914900"/>
          </a:xfrm>
          <a:prstGeom prst="rect">
            <a:avLst/>
          </a:prstGeom>
          <a:solidFill>
            <a:srgbClr val="82243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Rettangolo 14">
            <a:extLst>
              <a:ext uri="{FF2B5EF4-FFF2-40B4-BE49-F238E27FC236}">
                <a16:creationId xmlns:a16="http://schemas.microsoft.com/office/drawing/2014/main" id="{9947DF62-9937-FE90-1BB1-1C9C31A8ACCD}"/>
              </a:ext>
            </a:extLst>
          </p:cNvPr>
          <p:cNvSpPr>
            <a:spLocks noGrp="1"/>
          </p:cNvSpPr>
          <p:nvPr/>
        </p:nvSpPr>
        <p:spPr>
          <a:xfrm>
            <a:off x="241253" y="1441450"/>
            <a:ext cx="79200" cy="5416550"/>
          </a:xfrm>
          <a:prstGeom prst="rect">
            <a:avLst/>
          </a:prstGeom>
          <a:solidFill>
            <a:srgbClr val="82243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Arco a tutto sesto 15">
            <a:extLst>
              <a:ext uri="{FF2B5EF4-FFF2-40B4-BE49-F238E27FC236}">
                <a16:creationId xmlns:a16="http://schemas.microsoft.com/office/drawing/2014/main" id="{4684E799-00FD-E481-86E2-1EE57BBF0997}"/>
              </a:ext>
            </a:extLst>
          </p:cNvPr>
          <p:cNvSpPr>
            <a:spLocks noGrp="1"/>
          </p:cNvSpPr>
          <p:nvPr/>
        </p:nvSpPr>
        <p:spPr>
          <a:xfrm>
            <a:off x="11922000" y="6590359"/>
            <a:ext cx="540000" cy="540000"/>
          </a:xfrm>
          <a:prstGeom prst="blockArc">
            <a:avLst>
              <a:gd name="adj1" fmla="val 10825804"/>
              <a:gd name="adj2" fmla="val 16232134"/>
              <a:gd name="adj3" fmla="val 13566"/>
            </a:avLst>
          </a:prstGeom>
          <a:solidFill>
            <a:srgbClr val="82243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17" name="Arco a tutto sesto 16">
            <a:extLst>
              <a:ext uri="{FF2B5EF4-FFF2-40B4-BE49-F238E27FC236}">
                <a16:creationId xmlns:a16="http://schemas.microsoft.com/office/drawing/2014/main" id="{C7F59C59-6D08-CAE9-1107-3C400A7AEBBD}"/>
              </a:ext>
            </a:extLst>
          </p:cNvPr>
          <p:cNvSpPr>
            <a:spLocks noGrp="1"/>
          </p:cNvSpPr>
          <p:nvPr/>
        </p:nvSpPr>
        <p:spPr>
          <a:xfrm>
            <a:off x="11742000" y="6408000"/>
            <a:ext cx="900000" cy="900000"/>
          </a:xfrm>
          <a:prstGeom prst="blockArc">
            <a:avLst>
              <a:gd name="adj1" fmla="val 10778727"/>
              <a:gd name="adj2" fmla="val 16191509"/>
              <a:gd name="adj3" fmla="val 9334"/>
            </a:avLst>
          </a:prstGeom>
          <a:solidFill>
            <a:srgbClr val="82243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pic>
        <p:nvPicPr>
          <p:cNvPr id="8" name="Immagine 7">
            <a:extLst>
              <a:ext uri="{FF2B5EF4-FFF2-40B4-BE49-F238E27FC236}">
                <a16:creationId xmlns:a16="http://schemas.microsoft.com/office/drawing/2014/main" id="{78279CE6-C1E9-41CF-8CC7-E654BEC56059}"/>
              </a:ext>
            </a:extLst>
          </p:cNvPr>
          <p:cNvPicPr>
            <a:picLocks noChangeAspect="1"/>
          </p:cNvPicPr>
          <p:nvPr/>
        </p:nvPicPr>
        <p:blipFill>
          <a:blip r:embed="rId14"/>
          <a:stretch>
            <a:fillRect/>
          </a:stretch>
        </p:blipFill>
        <p:spPr>
          <a:xfrm>
            <a:off x="11054714" y="136525"/>
            <a:ext cx="969764" cy="96976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100000"/>
        </a:lnSpc>
        <a:spcBef>
          <a:spcPct val="0"/>
        </a:spcBef>
        <a:buNone/>
        <a:defRPr sz="4400" kern="1200">
          <a:solidFill>
            <a:schemeClr val="tx1"/>
          </a:solidFill>
          <a:latin typeface="Roboto"/>
          <a:ea typeface="Roboto"/>
          <a:cs typeface="Roboto"/>
        </a:defRPr>
      </a:lvl1pPr>
    </p:titleStyle>
    <p:bodyStyle>
      <a:lvl1pPr marL="228600" indent="-228600" algn="l" defTabSz="914400">
        <a:lnSpc>
          <a:spcPct val="100000"/>
        </a:lnSpc>
        <a:spcBef>
          <a:spcPts val="1000"/>
        </a:spcBef>
        <a:buFont typeface="Arial"/>
        <a:buChar char="•"/>
        <a:defRPr sz="2800" kern="1200">
          <a:solidFill>
            <a:schemeClr val="tx1"/>
          </a:solidFill>
          <a:latin typeface="Roboto"/>
          <a:ea typeface="Roboto"/>
          <a:cs typeface="Roboto"/>
        </a:defRPr>
      </a:lvl1pPr>
      <a:lvl2pPr marL="685800" indent="-228600" algn="l" defTabSz="914400">
        <a:lnSpc>
          <a:spcPct val="100000"/>
        </a:lnSpc>
        <a:spcBef>
          <a:spcPts val="500"/>
        </a:spcBef>
        <a:buFont typeface="Arial"/>
        <a:buChar char="•"/>
        <a:defRPr sz="2400" kern="1200">
          <a:solidFill>
            <a:schemeClr val="tx1"/>
          </a:solidFill>
          <a:latin typeface="Roboto"/>
          <a:ea typeface="Roboto"/>
          <a:cs typeface="Roboto"/>
        </a:defRPr>
      </a:lvl2pPr>
      <a:lvl3pPr marL="1143000" indent="-228600" algn="l" defTabSz="914400">
        <a:lnSpc>
          <a:spcPct val="100000"/>
        </a:lnSpc>
        <a:spcBef>
          <a:spcPts val="500"/>
        </a:spcBef>
        <a:buFont typeface="Arial"/>
        <a:buChar char="•"/>
        <a:defRPr sz="2000" kern="1200">
          <a:solidFill>
            <a:schemeClr val="tx1"/>
          </a:solidFill>
          <a:latin typeface="Roboto"/>
          <a:ea typeface="Roboto"/>
          <a:cs typeface="Roboto"/>
        </a:defRPr>
      </a:lvl3pPr>
      <a:lvl4pPr marL="1600200" indent="-228600" algn="l" defTabSz="914400">
        <a:lnSpc>
          <a:spcPct val="100000"/>
        </a:lnSpc>
        <a:spcBef>
          <a:spcPts val="500"/>
        </a:spcBef>
        <a:buFont typeface="Arial"/>
        <a:buChar char="•"/>
        <a:defRPr sz="1800" kern="1200">
          <a:solidFill>
            <a:schemeClr val="tx1"/>
          </a:solidFill>
          <a:latin typeface="Roboto"/>
          <a:ea typeface="Roboto"/>
          <a:cs typeface="Roboto"/>
        </a:defRPr>
      </a:lvl4pPr>
      <a:lvl5pPr marL="2057400" indent="-228600" algn="l" defTabSz="914400">
        <a:lnSpc>
          <a:spcPct val="100000"/>
        </a:lnSpc>
        <a:spcBef>
          <a:spcPts val="500"/>
        </a:spcBef>
        <a:buFont typeface="Arial"/>
        <a:buChar char="•"/>
        <a:defRPr sz="1800" kern="1200">
          <a:solidFill>
            <a:schemeClr val="tx1"/>
          </a:solidFill>
          <a:latin typeface="Roboto"/>
          <a:ea typeface="Roboto"/>
          <a:cs typeface="Roboto"/>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jpl.nasa.gov/podcasts/on-a-mission-season-1/season-4-mars-rovers/episode-8-how-to-drive-a-mars-rover/" TargetMode="External"/><Relationship Id="rId7" Type="http://schemas.openxmlformats.org/officeDocument/2006/relationships/hyperlink" Target="https://doi.org/10.52202/085713-4098"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https://doi.org/10.1109/TGRS.2024.3386756" TargetMode="External"/><Relationship Id="rId5" Type="http://schemas.openxmlformats.org/officeDocument/2006/relationships/hyperlink" Target="https://science.nasa.gov/resource/routine-inspection-of-rover-wheel-wear-and-tear/" TargetMode="External"/><Relationship Id="rId4" Type="http://schemas.openxmlformats.org/officeDocument/2006/relationships/hyperlink" Target="https://robotics.jpl.nasa.gov/media/documents/fmwi-rankin-2022-0225-final.pdf"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doi.org/10.1007/978-3-319-24574-4_28" TargetMode="External"/><Relationship Id="rId7" Type="http://schemas.openxmlformats.org/officeDocument/2006/relationships/hyperlink" Target="https://doi.org/10.1109/TITS.2023.3348631"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hyperlink" Target="https://arxiv.org/abs/2105.15203" TargetMode="External"/><Relationship Id="rId5" Type="http://schemas.openxmlformats.org/officeDocument/2006/relationships/hyperlink" Target="https://doi.org/10.1007/978-3-030-01234-2_49" TargetMode="External"/><Relationship Id="rId4" Type="http://schemas.openxmlformats.org/officeDocument/2006/relationships/hyperlink" Target="https://arxiv.org/abs/1706.05587"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arxiv.org/abs/1712.05877" TargetMode="External"/><Relationship Id="rId7" Type="http://schemas.openxmlformats.org/officeDocument/2006/relationships/hyperlink" Target="https://doi.org/10.1109/CVPR.2019.00982"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doi.org/10.1109/IROS.2017.8202133" TargetMode="External"/><Relationship Id="rId5" Type="http://schemas.openxmlformats.org/officeDocument/2006/relationships/hyperlink" Target="https://hirise.lpl.arizona.edu/dtm/dtm.php?ID=PSP_010573_1755" TargetMode="External"/><Relationship Id="rId4" Type="http://schemas.openxmlformats.org/officeDocument/2006/relationships/hyperlink" Target="https://science.nasa.gov/resource/curiosity-3d-model/"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arxiv.org/abs/2106.08265" TargetMode="External"/><Relationship Id="rId7" Type="http://schemas.openxmlformats.org/officeDocument/2006/relationships/hyperlink" Target="https://arxiv.org/abs/2603.16451v3"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hyperlink" Target="https://doi.org/10.1007/s10845-025-02680-8" TargetMode="External"/><Relationship Id="rId5" Type="http://schemas.openxmlformats.org/officeDocument/2006/relationships/hyperlink" Target="https://doi.org/10.1007/978-3-031-78192-6_4" TargetMode="External"/><Relationship Id="rId4" Type="http://schemas.openxmlformats.org/officeDocument/2006/relationships/hyperlink" Target="https://arxiv.org/abs/2303.1453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53CAEA-7F71-2F30-10DD-58B9AE8117FA}"/>
              </a:ext>
            </a:extLst>
          </p:cNvPr>
          <p:cNvSpPr>
            <a:spLocks noGrp="1"/>
          </p:cNvSpPr>
          <p:nvPr>
            <p:ph type="ctrTitle"/>
          </p:nvPr>
        </p:nvSpPr>
        <p:spPr>
          <a:xfrm>
            <a:off x="1524000" y="1122363"/>
            <a:ext cx="9144000" cy="1602549"/>
          </a:xfrm>
        </p:spPr>
        <p:txBody>
          <a:bodyPr>
            <a:normAutofit/>
          </a:bodyPr>
          <a:lstStyle/>
          <a:p>
            <a:r>
              <a:rPr sz="3000" b="1">
                <a:solidFill>
                  <a:srgbClr val="822433"/>
                </a:solidFill>
              </a:rPr>
              <a:t>Lightweight Scene Understanding and Synthetic Data-Driven Damage Inspection for Martian Rovers</a:t>
            </a:r>
          </a:p>
        </p:txBody>
      </p:sp>
      <p:sp>
        <p:nvSpPr>
          <p:cNvPr id="3" name="Sottotitolo 2">
            <a:extLst>
              <a:ext uri="{FF2B5EF4-FFF2-40B4-BE49-F238E27FC236}">
                <a16:creationId xmlns:a16="http://schemas.microsoft.com/office/drawing/2014/main" id="{28D78800-4D63-418C-4E5E-F22E3136D82A}"/>
              </a:ext>
            </a:extLst>
          </p:cNvPr>
          <p:cNvSpPr>
            <a:spLocks noGrp="1"/>
          </p:cNvSpPr>
          <p:nvPr>
            <p:ph type="subTitle" idx="1"/>
          </p:nvPr>
        </p:nvSpPr>
        <p:spPr>
          <a:xfrm>
            <a:off x="2731008" y="2883408"/>
            <a:ext cx="6729984" cy="2374392"/>
          </a:xfrm>
        </p:spPr>
        <p:txBody>
          <a:bodyPr>
            <a:normAutofit/>
          </a:bodyPr>
          <a:lstStyle/>
          <a:p>
            <a:r>
              <a:rPr sz="1600">
                <a:solidFill>
                  <a:srgbClr val="822433"/>
                </a:solidFill>
              </a:rPr>
              <a:t>Faculty of Information Engineering, Informatics, and Statistics</a:t>
            </a:r>
            <a:br>
              <a:rPr sz="1600">
                <a:solidFill>
                  <a:srgbClr val="822433"/>
                </a:solidFill>
              </a:rPr>
            </a:br>
            <a:r>
              <a:rPr sz="1600">
                <a:solidFill>
                  <a:srgbClr val="822433"/>
                </a:solidFill>
              </a:rPr>
              <a:t>Master’s Degree in Computer Science</a:t>
            </a:r>
          </a:p>
          <a:p>
            <a:endParaRPr sz="1600">
              <a:solidFill>
                <a:srgbClr val="822433"/>
              </a:solidFill>
            </a:endParaRPr>
          </a:p>
          <a:p>
            <a:pPr algn="l">
              <a:buNone/>
            </a:pPr>
            <a:r>
              <a:rPr sz="1600" b="1"/>
              <a:t>Venturini Daniele </a:t>
            </a:r>
            <a:r>
              <a:rPr sz="1600"/>
              <a:t>1991255</a:t>
            </a:r>
          </a:p>
          <a:p>
            <a:pPr algn="l">
              <a:buNone/>
            </a:pPr>
            <a:endParaRPr sz="1600"/>
          </a:p>
          <a:p>
            <a:r>
              <a:rPr sz="1200"/>
              <a:t>Academic Year 2025/2026</a:t>
            </a:r>
          </a:p>
        </p:txBody>
      </p:sp>
      <p:sp>
        <p:nvSpPr>
          <p:cNvPr id="5" name="CasellaDiTesto 4">
            <a:extLst>
              <a:ext uri="{FF2B5EF4-FFF2-40B4-BE49-F238E27FC236}">
                <a16:creationId xmlns:a16="http://schemas.microsoft.com/office/drawing/2014/main" id="{D37F6418-D425-2C7C-A304-D79E057EED07}"/>
              </a:ext>
            </a:extLst>
          </p:cNvPr>
          <p:cNvSpPr>
            <a:spLocks noGrp="1"/>
          </p:cNvSpPr>
          <p:nvPr/>
        </p:nvSpPr>
        <p:spPr>
          <a:xfrm>
            <a:off x="5279136" y="3626453"/>
            <a:ext cx="4181856" cy="584775"/>
          </a:xfrm>
          <a:prstGeom prst="rect">
            <a:avLst/>
          </a:prstGeom>
          <a:noFill/>
        </p:spPr>
        <p:txBody>
          <a:bodyPr wrap="square">
            <a:spAutoFit/>
          </a:bodyPr>
          <a:lstStyle/>
          <a:p>
            <a:pPr algn="r">
              <a:buNone/>
            </a:pPr>
            <a:r>
              <a:rPr sz="1600" b="1">
                <a:latin typeface="Roboto"/>
                <a:ea typeface="Roboto"/>
                <a:cs typeface="Roboto"/>
              </a:rPr>
              <a:t>Advisor</a:t>
            </a:r>
          </a:p>
          <a:p>
            <a:pPr algn="r">
              <a:buNone/>
            </a:pPr>
            <a:r>
              <a:rPr sz="1600">
                <a:latin typeface="Roboto"/>
                <a:ea typeface="Roboto"/>
                <a:cs typeface="Roboto"/>
              </a:rPr>
              <a:t>Prof. Marco Raoul Marini</a:t>
            </a:r>
          </a:p>
        </p:txBody>
      </p:sp>
    </p:spTree>
    <p:extLst>
      <p:ext uri="{BB962C8B-B14F-4D97-AF65-F5344CB8AC3E}">
        <p14:creationId xmlns:p14="http://schemas.microsoft.com/office/powerpoint/2010/main" val="3325099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6E3791A8-2C7D-425C-84F4-659FA7DAFA83}"/>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Comprendere l’ambiente marziano</a:t>
            </a:r>
          </a:p>
        </p:txBody>
      </p:sp>
      <p:sp>
        <p:nvSpPr>
          <p:cNvPr id="2" name="template-footer">
            <a:extLst>
              <a:ext uri="{FF2B5EF4-FFF2-40B4-BE49-F238E27FC236}">
                <a16:creationId xmlns:a16="http://schemas.microsoft.com/office/drawing/2014/main" id="{513AD648-59E4-4995-B69C-019D4542CC9E}"/>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5007AA21-8C45-4544-8800-A3E19B807991}"/>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253143D8-2DC4-4FAA-912F-D9E2CF8B1296}"/>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2/28</a:t>
            </a:r>
          </a:p>
        </p:txBody>
      </p:sp>
      <p:sp>
        <p:nvSpPr>
          <p:cNvPr id="5" name="source-citations">
            <a:extLst>
              <a:ext uri="{FF2B5EF4-FFF2-40B4-BE49-F238E27FC236}">
                <a16:creationId xmlns:a16="http://schemas.microsoft.com/office/drawing/2014/main" id="{3742F84C-9E15-4E60-9184-81F0206F8472}"/>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[1] [4] [5]</a:t>
            </a:r>
          </a:p>
        </p:txBody>
      </p:sp>
      <p:pic>
        <p:nvPicPr>
          <p:cNvPr id="6" name="Immagine 5">
            <a:extLst>
              <a:ext uri="{FF2B5EF4-FFF2-40B4-BE49-F238E27FC236}">
                <a16:creationId xmlns:a16="http://schemas.microsoft.com/office/drawing/2014/main" id="{5F17EE07-7D40-4CB3-942A-173E9B90BB21}"/>
              </a:ext>
            </a:extLst>
          </p:cNvPr>
          <p:cNvPicPr>
            <a:picLocks noChangeAspect="1"/>
          </p:cNvPicPr>
          <p:nvPr/>
        </p:nvPicPr>
        <p:blipFill>
          <a:blip r:embed="rId3"/>
          <a:stretch/>
        </p:blipFill>
        <p:spPr>
          <a:xfrm>
            <a:off x="6334125" y="1533525"/>
            <a:ext cx="4000500" cy="4000500"/>
          </a:xfrm>
          <a:prstGeom prst="rect">
            <a:avLst/>
          </a:prstGeom>
        </p:spPr>
      </p:pic>
      <p:sp>
        <p:nvSpPr>
          <p:cNvPr id="7" name="communication-time">
            <a:extLst>
              <a:ext uri="{FF2B5EF4-FFF2-40B4-BE49-F238E27FC236}">
                <a16:creationId xmlns:a16="http://schemas.microsoft.com/office/drawing/2014/main" id="{956E69DF-4B4B-498D-BF4A-D1D91D56A641}"/>
              </a:ext>
            </a:extLst>
          </p:cNvPr>
          <p:cNvSpPr>
            <a:spLocks noGrp="1"/>
          </p:cNvSpPr>
          <p:nvPr/>
        </p:nvSpPr>
        <p:spPr>
          <a:xfrm>
            <a:off x="952500" y="1971675"/>
            <a:ext cx="4572000" cy="742950"/>
          </a:xfrm>
          <a:prstGeom prst="rect">
            <a:avLst/>
          </a:prstGeom>
          <a:noFill/>
          <a:ln w="0">
            <a:noFill/>
          </a:ln>
        </p:spPr>
        <p:txBody>
          <a:bodyPr wrap="square" lIns="0" tIns="0" rIns="0" bIns="0" anchor="t">
            <a:noAutofit/>
          </a:bodyPr>
          <a:lstStyle>
            <a:defPPr algn="l">
              <a:defRPr sz="4050" b="1">
                <a:solidFill>
                  <a:srgbClr val="822433"/>
                </a:solidFill>
                <a:latin typeface="Roboto"/>
                <a:ea typeface="Roboto"/>
                <a:cs typeface="Roboto"/>
              </a:defRPr>
            </a:defPPr>
            <a:lvl1pPr algn="l">
              <a:defRPr sz="4050" b="1">
                <a:solidFill>
                  <a:srgbClr val="822433"/>
                </a:solidFill>
                <a:latin typeface="Roboto"/>
                <a:ea typeface="Roboto"/>
                <a:cs typeface="Roboto"/>
              </a:defRPr>
            </a:lvl1pPr>
            <a:lvl2pPr algn="l">
              <a:defRPr sz="4050" b="1">
                <a:solidFill>
                  <a:srgbClr val="822433"/>
                </a:solidFill>
                <a:latin typeface="Roboto"/>
                <a:ea typeface="Roboto"/>
                <a:cs typeface="Roboto"/>
              </a:defRPr>
            </a:lvl2pPr>
            <a:lvl3pPr algn="l">
              <a:defRPr sz="4050" b="1">
                <a:solidFill>
                  <a:srgbClr val="822433"/>
                </a:solidFill>
                <a:latin typeface="Roboto"/>
                <a:ea typeface="Roboto"/>
                <a:cs typeface="Roboto"/>
              </a:defRPr>
            </a:lvl3pPr>
            <a:lvl4pPr algn="l">
              <a:defRPr sz="4050" b="1">
                <a:solidFill>
                  <a:srgbClr val="822433"/>
                </a:solidFill>
                <a:latin typeface="Roboto"/>
                <a:ea typeface="Roboto"/>
                <a:cs typeface="Roboto"/>
              </a:defRPr>
            </a:lvl4pPr>
            <a:lvl5pPr algn="l">
              <a:defRPr sz="4050" b="1">
                <a:solidFill>
                  <a:srgbClr val="822433"/>
                </a:solidFill>
                <a:latin typeface="Roboto"/>
                <a:ea typeface="Roboto"/>
                <a:cs typeface="Roboto"/>
              </a:defRPr>
            </a:lvl5pPr>
            <a:lvl6pPr algn="l">
              <a:defRPr sz="4050" b="1">
                <a:solidFill>
                  <a:srgbClr val="822433"/>
                </a:solidFill>
                <a:latin typeface="Roboto"/>
                <a:ea typeface="Roboto"/>
                <a:cs typeface="Roboto"/>
              </a:defRPr>
            </a:lvl6pPr>
            <a:lvl7pPr algn="l">
              <a:defRPr sz="4050" b="1">
                <a:solidFill>
                  <a:srgbClr val="822433"/>
                </a:solidFill>
                <a:latin typeface="Roboto"/>
                <a:ea typeface="Roboto"/>
                <a:cs typeface="Roboto"/>
              </a:defRPr>
            </a:lvl7pPr>
            <a:lvl8pPr algn="l">
              <a:defRPr sz="4050" b="1">
                <a:solidFill>
                  <a:srgbClr val="822433"/>
                </a:solidFill>
                <a:latin typeface="Roboto"/>
                <a:ea typeface="Roboto"/>
                <a:cs typeface="Roboto"/>
              </a:defRPr>
            </a:lvl8pPr>
            <a:lvl9pPr algn="l">
              <a:defRPr sz="4050" b="1">
                <a:solidFill>
                  <a:srgbClr val="822433"/>
                </a:solidFill>
                <a:latin typeface="Roboto"/>
                <a:ea typeface="Roboto"/>
                <a:cs typeface="Roboto"/>
              </a:defRPr>
            </a:lvl9pPr>
          </a:lstStyle>
          <a:p>
            <a:pPr algn="l">
              <a:defRPr sz="4050" b="1">
                <a:solidFill>
                  <a:srgbClr val="822433"/>
                </a:solidFill>
                <a:latin typeface="Roboto"/>
                <a:ea typeface="Roboto"/>
                <a:cs typeface="Roboto"/>
              </a:defRPr>
            </a:pPr>
            <a:r>
              <a:rPr sz="4050" b="1">
                <a:solidFill>
                  <a:srgbClr val="822433"/>
                </a:solidFill>
                <a:latin typeface="Roboto"/>
                <a:ea typeface="Roboto"/>
                <a:cs typeface="Roboto"/>
              </a:rPr>
              <a:t>4–22 minuti</a:t>
            </a:r>
          </a:p>
        </p:txBody>
      </p:sp>
      <p:sp>
        <p:nvSpPr>
          <p:cNvPr id="8" name="communication-detail">
            <a:extLst>
              <a:ext uri="{FF2B5EF4-FFF2-40B4-BE49-F238E27FC236}">
                <a16:creationId xmlns:a16="http://schemas.microsoft.com/office/drawing/2014/main" id="{EA8115AE-DBCA-4154-ACB6-1581EFEC1777}"/>
              </a:ext>
            </a:extLst>
          </p:cNvPr>
          <p:cNvSpPr>
            <a:spLocks noGrp="1"/>
          </p:cNvSpPr>
          <p:nvPr/>
        </p:nvSpPr>
        <p:spPr>
          <a:xfrm>
            <a:off x="952500" y="2809875"/>
            <a:ext cx="4191000" cy="857250"/>
          </a:xfrm>
          <a:prstGeom prst="rect">
            <a:avLst/>
          </a:prstGeom>
          <a:noFill/>
          <a:ln w="0">
            <a:noFill/>
          </a:ln>
        </p:spPr>
        <p:txBody>
          <a:bodyPr wrap="square" lIns="0" tIns="0" rIns="0" bIns="0" anchor="t">
            <a:noAutofit/>
          </a:bodyPr>
          <a:lstStyle>
            <a:defPPr algn="l">
              <a:defRPr sz="2325" b="0">
                <a:solidFill>
                  <a:srgbClr val="202124"/>
                </a:solidFill>
                <a:latin typeface="Roboto"/>
                <a:ea typeface="Roboto"/>
                <a:cs typeface="Roboto"/>
              </a:defRPr>
            </a:defPPr>
            <a:lvl1pPr algn="l">
              <a:defRPr sz="2325" b="0">
                <a:solidFill>
                  <a:srgbClr val="202124"/>
                </a:solidFill>
                <a:latin typeface="Roboto"/>
                <a:ea typeface="Roboto"/>
                <a:cs typeface="Roboto"/>
              </a:defRPr>
            </a:lvl1pPr>
            <a:lvl2pPr algn="l">
              <a:defRPr sz="2325" b="0">
                <a:solidFill>
                  <a:srgbClr val="202124"/>
                </a:solidFill>
                <a:latin typeface="Roboto"/>
                <a:ea typeface="Roboto"/>
                <a:cs typeface="Roboto"/>
              </a:defRPr>
            </a:lvl2pPr>
            <a:lvl3pPr algn="l">
              <a:defRPr sz="2325" b="0">
                <a:solidFill>
                  <a:srgbClr val="202124"/>
                </a:solidFill>
                <a:latin typeface="Roboto"/>
                <a:ea typeface="Roboto"/>
                <a:cs typeface="Roboto"/>
              </a:defRPr>
            </a:lvl3pPr>
            <a:lvl4pPr algn="l">
              <a:defRPr sz="2325" b="0">
                <a:solidFill>
                  <a:srgbClr val="202124"/>
                </a:solidFill>
                <a:latin typeface="Roboto"/>
                <a:ea typeface="Roboto"/>
                <a:cs typeface="Roboto"/>
              </a:defRPr>
            </a:lvl4pPr>
            <a:lvl5pPr algn="l">
              <a:defRPr sz="2325" b="0">
                <a:solidFill>
                  <a:srgbClr val="202124"/>
                </a:solidFill>
                <a:latin typeface="Roboto"/>
                <a:ea typeface="Roboto"/>
                <a:cs typeface="Roboto"/>
              </a:defRPr>
            </a:lvl5pPr>
            <a:lvl6pPr algn="l">
              <a:defRPr sz="2325" b="0">
                <a:solidFill>
                  <a:srgbClr val="202124"/>
                </a:solidFill>
                <a:latin typeface="Roboto"/>
                <a:ea typeface="Roboto"/>
                <a:cs typeface="Roboto"/>
              </a:defRPr>
            </a:lvl6pPr>
            <a:lvl7pPr algn="l">
              <a:defRPr sz="2325" b="0">
                <a:solidFill>
                  <a:srgbClr val="202124"/>
                </a:solidFill>
                <a:latin typeface="Roboto"/>
                <a:ea typeface="Roboto"/>
                <a:cs typeface="Roboto"/>
              </a:defRPr>
            </a:lvl7pPr>
            <a:lvl8pPr algn="l">
              <a:defRPr sz="2325" b="0">
                <a:solidFill>
                  <a:srgbClr val="202124"/>
                </a:solidFill>
                <a:latin typeface="Roboto"/>
                <a:ea typeface="Roboto"/>
                <a:cs typeface="Roboto"/>
              </a:defRPr>
            </a:lvl8pPr>
            <a:lvl9pPr algn="l">
              <a:defRPr sz="2325" b="0">
                <a:solidFill>
                  <a:srgbClr val="202124"/>
                </a:solidFill>
                <a:latin typeface="Roboto"/>
                <a:ea typeface="Roboto"/>
                <a:cs typeface="Roboto"/>
              </a:defRPr>
            </a:lvl9pPr>
          </a:lstStyle>
          <a:p>
            <a:pPr algn="l">
              <a:defRPr sz="2325" b="0">
                <a:solidFill>
                  <a:srgbClr val="202124"/>
                </a:solidFill>
                <a:latin typeface="Roboto"/>
                <a:ea typeface="Roboto"/>
                <a:cs typeface="Roboto"/>
              </a:defRPr>
            </a:pPr>
            <a:r>
              <a:rPr sz="2325" b="0">
                <a:solidFill>
                  <a:srgbClr val="202124"/>
                </a:solidFill>
                <a:latin typeface="Roboto"/>
                <a:ea typeface="Roboto"/>
                <a:cs typeface="Roboto"/>
              </a:rPr>
              <a:t>Tempo di comunicazione</a:t>
            </a:r>
          </a:p>
          <a:p>
            <a:pPr algn="l">
              <a:defRPr sz="2325" b="0">
                <a:solidFill>
                  <a:srgbClr val="202124"/>
                </a:solidFill>
                <a:latin typeface="Roboto"/>
                <a:ea typeface="Roboto"/>
                <a:cs typeface="Roboto"/>
              </a:defRPr>
            </a:pPr>
            <a:r>
              <a:rPr sz="2325" b="0">
                <a:solidFill>
                  <a:srgbClr val="202124"/>
                </a:solidFill>
                <a:latin typeface="Roboto"/>
                <a:ea typeface="Roboto"/>
                <a:cs typeface="Roboto"/>
              </a:rPr>
              <a:t>in una sola direzione</a:t>
            </a:r>
          </a:p>
        </p:txBody>
      </p:sp>
      <p:sp>
        <p:nvSpPr>
          <p:cNvPr id="9" name="motivation">
            <a:extLst>
              <a:ext uri="{FF2B5EF4-FFF2-40B4-BE49-F238E27FC236}">
                <a16:creationId xmlns:a16="http://schemas.microsoft.com/office/drawing/2014/main" id="{9A71CD64-DCC3-4FFD-8250-63E7E0A23D52}"/>
              </a:ext>
            </a:extLst>
          </p:cNvPr>
          <p:cNvSpPr>
            <a:spLocks noGrp="1"/>
          </p:cNvSpPr>
          <p:nvPr/>
        </p:nvSpPr>
        <p:spPr>
          <a:xfrm>
            <a:off x="952500" y="4305300"/>
            <a:ext cx="4191000" cy="1047750"/>
          </a:xfrm>
          <a:prstGeom prst="rect">
            <a:avLst/>
          </a:prstGeom>
          <a:noFill/>
          <a:ln w="0">
            <a:noFill/>
          </a:ln>
        </p:spPr>
        <p:txBody>
          <a:bodyPr wrap="square" lIns="0" tIns="0" rIns="0" bIns="0" anchor="t">
            <a:noAutofit/>
          </a:bodyPr>
          <a:lstStyle>
            <a:defPPr algn="l">
              <a:defRPr sz="2400" b="0">
                <a:solidFill>
                  <a:srgbClr val="202124"/>
                </a:solidFill>
                <a:latin typeface="Roboto"/>
                <a:ea typeface="Roboto"/>
                <a:cs typeface="Roboto"/>
              </a:defRPr>
            </a:defPPr>
            <a:lvl1pPr algn="l">
              <a:defRPr sz="2400" b="0">
                <a:solidFill>
                  <a:srgbClr val="202124"/>
                </a:solidFill>
                <a:latin typeface="Roboto"/>
                <a:ea typeface="Roboto"/>
                <a:cs typeface="Roboto"/>
              </a:defRPr>
            </a:lvl1pPr>
            <a:lvl2pPr algn="l">
              <a:defRPr sz="2400" b="0">
                <a:solidFill>
                  <a:srgbClr val="202124"/>
                </a:solidFill>
                <a:latin typeface="Roboto"/>
                <a:ea typeface="Roboto"/>
                <a:cs typeface="Roboto"/>
              </a:defRPr>
            </a:lvl2pPr>
            <a:lvl3pPr algn="l">
              <a:defRPr sz="2400" b="0">
                <a:solidFill>
                  <a:srgbClr val="202124"/>
                </a:solidFill>
                <a:latin typeface="Roboto"/>
                <a:ea typeface="Roboto"/>
                <a:cs typeface="Roboto"/>
              </a:defRPr>
            </a:lvl3pPr>
            <a:lvl4pPr algn="l">
              <a:defRPr sz="2400" b="0">
                <a:solidFill>
                  <a:srgbClr val="202124"/>
                </a:solidFill>
                <a:latin typeface="Roboto"/>
                <a:ea typeface="Roboto"/>
                <a:cs typeface="Roboto"/>
              </a:defRPr>
            </a:lvl4pPr>
            <a:lvl5pPr algn="l">
              <a:defRPr sz="2400" b="0">
                <a:solidFill>
                  <a:srgbClr val="202124"/>
                </a:solidFill>
                <a:latin typeface="Roboto"/>
                <a:ea typeface="Roboto"/>
                <a:cs typeface="Roboto"/>
              </a:defRPr>
            </a:lvl5pPr>
            <a:lvl6pPr algn="l">
              <a:defRPr sz="2400" b="0">
                <a:solidFill>
                  <a:srgbClr val="202124"/>
                </a:solidFill>
                <a:latin typeface="Roboto"/>
                <a:ea typeface="Roboto"/>
                <a:cs typeface="Roboto"/>
              </a:defRPr>
            </a:lvl6pPr>
            <a:lvl7pPr algn="l">
              <a:defRPr sz="2400" b="0">
                <a:solidFill>
                  <a:srgbClr val="202124"/>
                </a:solidFill>
                <a:latin typeface="Roboto"/>
                <a:ea typeface="Roboto"/>
                <a:cs typeface="Roboto"/>
              </a:defRPr>
            </a:lvl7pPr>
            <a:lvl8pPr algn="l">
              <a:defRPr sz="2400" b="0">
                <a:solidFill>
                  <a:srgbClr val="202124"/>
                </a:solidFill>
                <a:latin typeface="Roboto"/>
                <a:ea typeface="Roboto"/>
                <a:cs typeface="Roboto"/>
              </a:defRPr>
            </a:lvl8pPr>
            <a:lvl9pPr algn="l">
              <a:defRPr sz="2400" b="0">
                <a:solidFill>
                  <a:srgbClr val="202124"/>
                </a:solidFill>
                <a:latin typeface="Roboto"/>
                <a:ea typeface="Roboto"/>
                <a:cs typeface="Roboto"/>
              </a:defRPr>
            </a:lvl9pPr>
          </a:lstStyle>
          <a:p>
            <a:pPr algn="l">
              <a:defRPr sz="2400" b="0">
                <a:solidFill>
                  <a:srgbClr val="202124"/>
                </a:solidFill>
                <a:latin typeface="Roboto"/>
                <a:ea typeface="Roboto"/>
                <a:cs typeface="Roboto"/>
              </a:defRPr>
            </a:pPr>
            <a:r>
              <a:rPr sz="2400" b="0">
                <a:solidFill>
                  <a:srgbClr val="202124"/>
                </a:solidFill>
                <a:latin typeface="Roboto"/>
                <a:ea typeface="Roboto"/>
                <a:cs typeface="Roboto"/>
              </a:rPr>
              <a:t>Percezione locale</a:t>
            </a:r>
          </a:p>
          <a:p>
            <a:pPr algn="l">
              <a:defRPr sz="2400" b="0">
                <a:solidFill>
                  <a:srgbClr val="202124"/>
                </a:solidFill>
                <a:latin typeface="Roboto"/>
                <a:ea typeface="Roboto"/>
                <a:cs typeface="Roboto"/>
              </a:defRPr>
            </a:pPr>
            <a:r>
              <a:rPr sz="2400" b="0">
                <a:solidFill>
                  <a:srgbClr val="202124"/>
                </a:solidFill>
                <a:latin typeface="Roboto"/>
                <a:ea typeface="Roboto"/>
                <a:cs typeface="Roboto"/>
              </a:rPr>
              <a:t>con risorse limitate</a:t>
            </a:r>
          </a:p>
        </p:txBody>
      </p:sp>
    </p:spTree>
    <p:extLst>
      <p:ext uri="{BB962C8B-B14F-4D97-AF65-F5344CB8AC3E}">
        <p14:creationId xmlns:p14="http://schemas.microsoft.com/office/powerpoint/2010/main" val="222343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23882AFE-0F26-42E3-8D84-4B4F0CB150AB}"/>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Monitorare le condizioni delle ruote</a:t>
            </a:r>
          </a:p>
        </p:txBody>
      </p:sp>
      <p:sp>
        <p:nvSpPr>
          <p:cNvPr id="2" name="template-footer">
            <a:extLst>
              <a:ext uri="{FF2B5EF4-FFF2-40B4-BE49-F238E27FC236}">
                <a16:creationId xmlns:a16="http://schemas.microsoft.com/office/drawing/2014/main" id="{7292E1B9-BC6E-41F2-B2CD-211FA37FB43E}"/>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6936B0EF-93A6-46BD-B12E-FE70EC3AD34B}"/>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C8378D5A-F372-4953-8373-ECF349317ECE}"/>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3/28</a:t>
            </a:r>
          </a:p>
        </p:txBody>
      </p:sp>
      <p:sp>
        <p:nvSpPr>
          <p:cNvPr id="5" name="source-citations">
            <a:extLst>
              <a:ext uri="{FF2B5EF4-FFF2-40B4-BE49-F238E27FC236}">
                <a16:creationId xmlns:a16="http://schemas.microsoft.com/office/drawing/2014/main" id="{7DA49137-A9F5-4A7C-843E-4B98A1E553B8}"/>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[2] [3]</a:t>
            </a:r>
          </a:p>
        </p:txBody>
      </p:sp>
      <p:pic>
        <p:nvPicPr>
          <p:cNvPr id="6" name="Immagine 5">
            <a:extLst>
              <a:ext uri="{FF2B5EF4-FFF2-40B4-BE49-F238E27FC236}">
                <a16:creationId xmlns:a16="http://schemas.microsoft.com/office/drawing/2014/main" id="{214FB1E1-D132-4064-9CF2-54C26D91F44D}"/>
              </a:ext>
            </a:extLst>
          </p:cNvPr>
          <p:cNvPicPr>
            <a:picLocks noChangeAspect="1"/>
          </p:cNvPicPr>
          <p:nvPr/>
        </p:nvPicPr>
        <p:blipFill>
          <a:blip r:embed="rId3"/>
          <a:stretch/>
        </p:blipFill>
        <p:spPr>
          <a:xfrm>
            <a:off x="5050401" y="1476375"/>
            <a:ext cx="6129798" cy="4286250"/>
          </a:xfrm>
          <a:prstGeom prst="rect">
            <a:avLst/>
          </a:prstGeom>
        </p:spPr>
      </p:pic>
      <p:sp>
        <p:nvSpPr>
          <p:cNvPr id="7" name="inspection">
            <a:extLst>
              <a:ext uri="{FF2B5EF4-FFF2-40B4-BE49-F238E27FC236}">
                <a16:creationId xmlns:a16="http://schemas.microsoft.com/office/drawing/2014/main" id="{44132567-DAD5-4CB5-99E2-9B643CB1C10E}"/>
              </a:ext>
            </a:extLst>
          </p:cNvPr>
          <p:cNvSpPr>
            <a:spLocks noGrp="1"/>
          </p:cNvSpPr>
          <p:nvPr/>
        </p:nvSpPr>
        <p:spPr>
          <a:xfrm>
            <a:off x="952500" y="1866900"/>
            <a:ext cx="3876675" cy="1095375"/>
          </a:xfrm>
          <a:prstGeom prst="rect">
            <a:avLst/>
          </a:prstGeom>
          <a:noFill/>
          <a:ln w="0">
            <a:noFill/>
          </a:ln>
        </p:spPr>
        <p:txBody>
          <a:bodyPr wrap="square" lIns="0" tIns="0" rIns="0" bIns="0" anchor="t">
            <a:noAutofit/>
          </a:bodyPr>
          <a:lstStyle>
            <a:defPPr algn="l">
              <a:defRPr sz="2550" b="1">
                <a:solidFill>
                  <a:srgbClr val="822433"/>
                </a:solidFill>
                <a:latin typeface="Roboto"/>
                <a:ea typeface="Roboto"/>
                <a:cs typeface="Roboto"/>
              </a:defRPr>
            </a:defPPr>
            <a:lvl1pPr algn="l">
              <a:defRPr sz="2550" b="1">
                <a:solidFill>
                  <a:srgbClr val="822433"/>
                </a:solidFill>
                <a:latin typeface="Roboto"/>
                <a:ea typeface="Roboto"/>
                <a:cs typeface="Roboto"/>
              </a:defRPr>
            </a:lvl1pPr>
            <a:lvl2pPr algn="l">
              <a:defRPr sz="2550" b="1">
                <a:solidFill>
                  <a:srgbClr val="822433"/>
                </a:solidFill>
                <a:latin typeface="Roboto"/>
                <a:ea typeface="Roboto"/>
                <a:cs typeface="Roboto"/>
              </a:defRPr>
            </a:lvl2pPr>
            <a:lvl3pPr algn="l">
              <a:defRPr sz="2550" b="1">
                <a:solidFill>
                  <a:srgbClr val="822433"/>
                </a:solidFill>
                <a:latin typeface="Roboto"/>
                <a:ea typeface="Roboto"/>
                <a:cs typeface="Roboto"/>
              </a:defRPr>
            </a:lvl3pPr>
            <a:lvl4pPr algn="l">
              <a:defRPr sz="2550" b="1">
                <a:solidFill>
                  <a:srgbClr val="822433"/>
                </a:solidFill>
                <a:latin typeface="Roboto"/>
                <a:ea typeface="Roboto"/>
                <a:cs typeface="Roboto"/>
              </a:defRPr>
            </a:lvl4pPr>
            <a:lvl5pPr algn="l">
              <a:defRPr sz="2550" b="1">
                <a:solidFill>
                  <a:srgbClr val="822433"/>
                </a:solidFill>
                <a:latin typeface="Roboto"/>
                <a:ea typeface="Roboto"/>
                <a:cs typeface="Roboto"/>
              </a:defRPr>
            </a:lvl5pPr>
            <a:lvl6pPr algn="l">
              <a:defRPr sz="2550" b="1">
                <a:solidFill>
                  <a:srgbClr val="822433"/>
                </a:solidFill>
                <a:latin typeface="Roboto"/>
                <a:ea typeface="Roboto"/>
                <a:cs typeface="Roboto"/>
              </a:defRPr>
            </a:lvl6pPr>
            <a:lvl7pPr algn="l">
              <a:defRPr sz="2550" b="1">
                <a:solidFill>
                  <a:srgbClr val="822433"/>
                </a:solidFill>
                <a:latin typeface="Roboto"/>
                <a:ea typeface="Roboto"/>
                <a:cs typeface="Roboto"/>
              </a:defRPr>
            </a:lvl7pPr>
            <a:lvl8pPr algn="l">
              <a:defRPr sz="2550" b="1">
                <a:solidFill>
                  <a:srgbClr val="822433"/>
                </a:solidFill>
                <a:latin typeface="Roboto"/>
                <a:ea typeface="Roboto"/>
                <a:cs typeface="Roboto"/>
              </a:defRPr>
            </a:lvl8pPr>
            <a:lvl9pPr algn="l">
              <a:defRPr sz="2550" b="1">
                <a:solidFill>
                  <a:srgbClr val="822433"/>
                </a:solidFill>
                <a:latin typeface="Roboto"/>
                <a:ea typeface="Roboto"/>
                <a:cs typeface="Roboto"/>
              </a:defRPr>
            </a:lvl9pPr>
          </a:lstStyle>
          <a:p>
            <a:pPr algn="l">
              <a:defRPr sz="2550" b="1">
                <a:solidFill>
                  <a:srgbClr val="822433"/>
                </a:solidFill>
                <a:latin typeface="Roboto"/>
                <a:ea typeface="Roboto"/>
                <a:cs typeface="Roboto"/>
              </a:defRPr>
            </a:pPr>
            <a:r>
              <a:rPr sz="2550" b="1">
                <a:solidFill>
                  <a:srgbClr val="822433"/>
                </a:solidFill>
                <a:latin typeface="Roboto"/>
                <a:ea typeface="Roboto"/>
                <a:cs typeface="Roboto"/>
              </a:rPr>
              <a:t>Perforazioni visibili</a:t>
            </a:r>
          </a:p>
          <a:p>
            <a:pPr algn="l">
              <a:defRPr sz="2550" b="1">
                <a:solidFill>
                  <a:srgbClr val="822433"/>
                </a:solidFill>
                <a:latin typeface="Roboto"/>
                <a:ea typeface="Roboto"/>
                <a:cs typeface="Roboto"/>
              </a:defRPr>
            </a:pPr>
            <a:r>
              <a:rPr sz="2550" b="1">
                <a:solidFill>
                  <a:srgbClr val="822433"/>
                </a:solidFill>
                <a:latin typeface="Roboto"/>
                <a:ea typeface="Roboto"/>
                <a:cs typeface="Roboto"/>
              </a:rPr>
              <a:t>nelle ruote di Curiosity</a:t>
            </a:r>
          </a:p>
        </p:txBody>
      </p:sp>
      <p:sp>
        <p:nvSpPr>
          <p:cNvPr id="8" name="inspection-purpose">
            <a:extLst>
              <a:ext uri="{FF2B5EF4-FFF2-40B4-BE49-F238E27FC236}">
                <a16:creationId xmlns:a16="http://schemas.microsoft.com/office/drawing/2014/main" id="{5BFC3A31-A0F5-4849-8C40-37FDE86B585A}"/>
              </a:ext>
            </a:extLst>
          </p:cNvPr>
          <p:cNvSpPr>
            <a:spLocks noGrp="1"/>
          </p:cNvSpPr>
          <p:nvPr/>
        </p:nvSpPr>
        <p:spPr>
          <a:xfrm>
            <a:off x="952500" y="3686175"/>
            <a:ext cx="3810000" cy="1000125"/>
          </a:xfrm>
          <a:prstGeom prst="rect">
            <a:avLst/>
          </a:prstGeom>
          <a:noFill/>
          <a:ln w="0">
            <a:noFill/>
          </a:ln>
        </p:spPr>
        <p:txBody>
          <a:bodyPr wrap="square" lIns="0" tIns="0" rIns="0" bIns="0" anchor="t">
            <a:noAutofit/>
          </a:bodyPr>
          <a:lstStyle>
            <a:defPPr algn="l">
              <a:defRPr sz="2325" b="0">
                <a:solidFill>
                  <a:srgbClr val="202124"/>
                </a:solidFill>
                <a:latin typeface="Roboto"/>
                <a:ea typeface="Roboto"/>
                <a:cs typeface="Roboto"/>
              </a:defRPr>
            </a:defPPr>
            <a:lvl1pPr algn="l">
              <a:defRPr sz="2325" b="0">
                <a:solidFill>
                  <a:srgbClr val="202124"/>
                </a:solidFill>
                <a:latin typeface="Roboto"/>
                <a:ea typeface="Roboto"/>
                <a:cs typeface="Roboto"/>
              </a:defRPr>
            </a:lvl1pPr>
            <a:lvl2pPr algn="l">
              <a:defRPr sz="2325" b="0">
                <a:solidFill>
                  <a:srgbClr val="202124"/>
                </a:solidFill>
                <a:latin typeface="Roboto"/>
                <a:ea typeface="Roboto"/>
                <a:cs typeface="Roboto"/>
              </a:defRPr>
            </a:lvl2pPr>
            <a:lvl3pPr algn="l">
              <a:defRPr sz="2325" b="0">
                <a:solidFill>
                  <a:srgbClr val="202124"/>
                </a:solidFill>
                <a:latin typeface="Roboto"/>
                <a:ea typeface="Roboto"/>
                <a:cs typeface="Roboto"/>
              </a:defRPr>
            </a:lvl3pPr>
            <a:lvl4pPr algn="l">
              <a:defRPr sz="2325" b="0">
                <a:solidFill>
                  <a:srgbClr val="202124"/>
                </a:solidFill>
                <a:latin typeface="Roboto"/>
                <a:ea typeface="Roboto"/>
                <a:cs typeface="Roboto"/>
              </a:defRPr>
            </a:lvl4pPr>
            <a:lvl5pPr algn="l">
              <a:defRPr sz="2325" b="0">
                <a:solidFill>
                  <a:srgbClr val="202124"/>
                </a:solidFill>
                <a:latin typeface="Roboto"/>
                <a:ea typeface="Roboto"/>
                <a:cs typeface="Roboto"/>
              </a:defRPr>
            </a:lvl5pPr>
            <a:lvl6pPr algn="l">
              <a:defRPr sz="2325" b="0">
                <a:solidFill>
                  <a:srgbClr val="202124"/>
                </a:solidFill>
                <a:latin typeface="Roboto"/>
                <a:ea typeface="Roboto"/>
                <a:cs typeface="Roboto"/>
              </a:defRPr>
            </a:lvl6pPr>
            <a:lvl7pPr algn="l">
              <a:defRPr sz="2325" b="0">
                <a:solidFill>
                  <a:srgbClr val="202124"/>
                </a:solidFill>
                <a:latin typeface="Roboto"/>
                <a:ea typeface="Roboto"/>
                <a:cs typeface="Roboto"/>
              </a:defRPr>
            </a:lvl7pPr>
            <a:lvl8pPr algn="l">
              <a:defRPr sz="2325" b="0">
                <a:solidFill>
                  <a:srgbClr val="202124"/>
                </a:solidFill>
                <a:latin typeface="Roboto"/>
                <a:ea typeface="Roboto"/>
                <a:cs typeface="Roboto"/>
              </a:defRPr>
            </a:lvl8pPr>
            <a:lvl9pPr algn="l">
              <a:defRPr sz="2325" b="0">
                <a:solidFill>
                  <a:srgbClr val="202124"/>
                </a:solidFill>
                <a:latin typeface="Roboto"/>
                <a:ea typeface="Roboto"/>
                <a:cs typeface="Roboto"/>
              </a:defRPr>
            </a:lvl9pPr>
          </a:lstStyle>
          <a:p>
            <a:pPr algn="l">
              <a:defRPr sz="2325" b="0">
                <a:solidFill>
                  <a:srgbClr val="202124"/>
                </a:solidFill>
                <a:latin typeface="Roboto"/>
                <a:ea typeface="Roboto"/>
                <a:cs typeface="Roboto"/>
              </a:defRPr>
            </a:pPr>
            <a:r>
              <a:rPr sz="2325" b="0">
                <a:solidFill>
                  <a:srgbClr val="202124"/>
                </a:solidFill>
                <a:latin typeface="Roboto"/>
                <a:ea typeface="Roboto"/>
                <a:cs typeface="Roboto"/>
              </a:rPr>
              <a:t>Rilevare il danno</a:t>
            </a:r>
          </a:p>
          <a:p>
            <a:pPr algn="l">
              <a:defRPr sz="2325" b="0">
                <a:solidFill>
                  <a:srgbClr val="202124"/>
                </a:solidFill>
                <a:latin typeface="Roboto"/>
                <a:ea typeface="Roboto"/>
                <a:cs typeface="Roboto"/>
              </a:defRPr>
            </a:pPr>
            <a:r>
              <a:rPr sz="2325" b="0">
                <a:solidFill>
                  <a:srgbClr val="202124"/>
                </a:solidFill>
                <a:latin typeface="Roboto"/>
                <a:ea typeface="Roboto"/>
                <a:cs typeface="Roboto"/>
              </a:rPr>
              <a:t>e indicarne la posizione</a:t>
            </a:r>
          </a:p>
        </p:txBody>
      </p:sp>
      <p:sp>
        <p:nvSpPr>
          <p:cNvPr id="9" name="image-credit">
            <a:extLst>
              <a:ext uri="{FF2B5EF4-FFF2-40B4-BE49-F238E27FC236}">
                <a16:creationId xmlns:a16="http://schemas.microsoft.com/office/drawing/2014/main" id="{3D2F45BF-3306-43AA-A808-CF0C0B71FC34}"/>
              </a:ext>
            </a:extLst>
          </p:cNvPr>
          <p:cNvSpPr>
            <a:spLocks noGrp="1"/>
          </p:cNvSpPr>
          <p:nvPr/>
        </p:nvSpPr>
        <p:spPr>
          <a:xfrm>
            <a:off x="5476875" y="5772150"/>
            <a:ext cx="5476875" cy="247650"/>
          </a:xfrm>
          <a:prstGeom prst="rect">
            <a:avLst/>
          </a:prstGeom>
          <a:noFill/>
          <a:ln w="0">
            <a:noFill/>
          </a:ln>
        </p:spPr>
        <p:txBody>
          <a:bodyPr wrap="square" lIns="0" tIns="0" rIns="0" bIns="0" anchor="t">
            <a:noAutofit/>
          </a:bodyPr>
          <a:lstStyle>
            <a:defPPr algn="ctr">
              <a:defRPr sz="1275" b="0">
                <a:solidFill>
                  <a:srgbClr val="62666B"/>
                </a:solidFill>
                <a:latin typeface="Roboto"/>
                <a:ea typeface="Roboto"/>
                <a:cs typeface="Roboto"/>
              </a:defRPr>
            </a:defPPr>
            <a:lvl1pPr algn="ctr">
              <a:defRPr sz="1275" b="0">
                <a:solidFill>
                  <a:srgbClr val="62666B"/>
                </a:solidFill>
                <a:latin typeface="Roboto"/>
                <a:ea typeface="Roboto"/>
                <a:cs typeface="Roboto"/>
              </a:defRPr>
            </a:lvl1pPr>
            <a:lvl2pPr algn="ctr">
              <a:defRPr sz="1275" b="0">
                <a:solidFill>
                  <a:srgbClr val="62666B"/>
                </a:solidFill>
                <a:latin typeface="Roboto"/>
                <a:ea typeface="Roboto"/>
                <a:cs typeface="Roboto"/>
              </a:defRPr>
            </a:lvl2pPr>
            <a:lvl3pPr algn="ctr">
              <a:defRPr sz="1275" b="0">
                <a:solidFill>
                  <a:srgbClr val="62666B"/>
                </a:solidFill>
                <a:latin typeface="Roboto"/>
                <a:ea typeface="Roboto"/>
                <a:cs typeface="Roboto"/>
              </a:defRPr>
            </a:lvl3pPr>
            <a:lvl4pPr algn="ctr">
              <a:defRPr sz="1275" b="0">
                <a:solidFill>
                  <a:srgbClr val="62666B"/>
                </a:solidFill>
                <a:latin typeface="Roboto"/>
                <a:ea typeface="Roboto"/>
                <a:cs typeface="Roboto"/>
              </a:defRPr>
            </a:lvl4pPr>
            <a:lvl5pPr algn="ctr">
              <a:defRPr sz="1275" b="0">
                <a:solidFill>
                  <a:srgbClr val="62666B"/>
                </a:solidFill>
                <a:latin typeface="Roboto"/>
                <a:ea typeface="Roboto"/>
                <a:cs typeface="Roboto"/>
              </a:defRPr>
            </a:lvl5pPr>
            <a:lvl6pPr algn="ctr">
              <a:defRPr sz="1275" b="0">
                <a:solidFill>
                  <a:srgbClr val="62666B"/>
                </a:solidFill>
                <a:latin typeface="Roboto"/>
                <a:ea typeface="Roboto"/>
                <a:cs typeface="Roboto"/>
              </a:defRPr>
            </a:lvl6pPr>
            <a:lvl7pPr algn="ctr">
              <a:defRPr sz="1275" b="0">
                <a:solidFill>
                  <a:srgbClr val="62666B"/>
                </a:solidFill>
                <a:latin typeface="Roboto"/>
                <a:ea typeface="Roboto"/>
                <a:cs typeface="Roboto"/>
              </a:defRPr>
            </a:lvl7pPr>
            <a:lvl8pPr algn="ctr">
              <a:defRPr sz="1275" b="0">
                <a:solidFill>
                  <a:srgbClr val="62666B"/>
                </a:solidFill>
                <a:latin typeface="Roboto"/>
                <a:ea typeface="Roboto"/>
                <a:cs typeface="Roboto"/>
              </a:defRPr>
            </a:lvl8pPr>
            <a:lvl9pPr algn="ctr">
              <a:defRPr sz="1275" b="0">
                <a:solidFill>
                  <a:srgbClr val="62666B"/>
                </a:solidFill>
                <a:latin typeface="Roboto"/>
                <a:ea typeface="Roboto"/>
                <a:cs typeface="Roboto"/>
              </a:defRPr>
            </a:lvl9pPr>
          </a:lstStyle>
          <a:p>
            <a:pPr algn="ctr">
              <a:defRPr sz="1275" b="0">
                <a:solidFill>
                  <a:srgbClr val="62666B"/>
                </a:solidFill>
                <a:latin typeface="Roboto"/>
                <a:ea typeface="Roboto"/>
                <a:cs typeface="Roboto"/>
              </a:defRPr>
            </a:pPr>
            <a:r>
              <a:rPr sz="1275" b="0">
                <a:solidFill>
                  <a:srgbClr val="62666B"/>
                </a:solidFill>
                <a:latin typeface="Roboto"/>
                <a:ea typeface="Roboto"/>
                <a:cs typeface="Roboto"/>
              </a:rPr>
              <a:t>NASA/JPL-Caltech/MSSS, sol 1315</a:t>
            </a:r>
          </a:p>
        </p:txBody>
      </p:sp>
    </p:spTree>
    <p:extLst>
      <p:ext uri="{BB962C8B-B14F-4D97-AF65-F5344CB8AC3E}">
        <p14:creationId xmlns:p14="http://schemas.microsoft.com/office/powerpoint/2010/main" val="222343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4B3DDD3F-DD14-4662-9B85-2B2CA2B7FA22}"/>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Obiettivo e filoni della ricerca</a:t>
            </a:r>
          </a:p>
        </p:txBody>
      </p:sp>
      <p:sp>
        <p:nvSpPr>
          <p:cNvPr id="2" name="template-footer">
            <a:extLst>
              <a:ext uri="{FF2B5EF4-FFF2-40B4-BE49-F238E27FC236}">
                <a16:creationId xmlns:a16="http://schemas.microsoft.com/office/drawing/2014/main" id="{E947CF60-117F-46C3-8B47-D284B30AA68D}"/>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0D95B736-9E58-49D5-B57B-FE4688E5CDCB}"/>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53BCFF0A-11AA-4132-BF5C-CDB71834CA6A}"/>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4/28</a:t>
            </a:r>
          </a:p>
        </p:txBody>
      </p:sp>
      <p:sp>
        <p:nvSpPr>
          <p:cNvPr id="5" name="source-citations">
            <a:extLst>
              <a:ext uri="{FF2B5EF4-FFF2-40B4-BE49-F238E27FC236}">
                <a16:creationId xmlns:a16="http://schemas.microsoft.com/office/drawing/2014/main" id="{97A609D7-1E06-4974-B9C4-80FED7DF7A8E}"/>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Elaborazione della tesi</a:t>
            </a:r>
          </a:p>
        </p:txBody>
      </p:sp>
      <p:sp>
        <p:nvSpPr>
          <p:cNvPr id="6" name="objective">
            <a:extLst>
              <a:ext uri="{FF2B5EF4-FFF2-40B4-BE49-F238E27FC236}">
                <a16:creationId xmlns:a16="http://schemas.microsoft.com/office/drawing/2014/main" id="{FBFCCFC4-AC1B-4E9D-818B-1C70B916B5A7}"/>
              </a:ext>
            </a:extLst>
          </p:cNvPr>
          <p:cNvSpPr>
            <a:spLocks noGrp="1"/>
          </p:cNvSpPr>
          <p:nvPr/>
        </p:nvSpPr>
        <p:spPr>
          <a:xfrm>
            <a:off x="952500" y="1504950"/>
            <a:ext cx="9810750" cy="1009650"/>
          </a:xfrm>
          <a:prstGeom prst="rect">
            <a:avLst/>
          </a:prstGeom>
          <a:noFill/>
          <a:ln w="0">
            <a:noFill/>
          </a:ln>
        </p:spPr>
        <p:txBody>
          <a:bodyPr wrap="square" lIns="0" tIns="0" rIns="0" bIns="0" anchor="t">
            <a:noAutofit/>
          </a:bodyPr>
          <a:lstStyle>
            <a:defPPr algn="l">
              <a:defRPr sz="2850" b="1">
                <a:solidFill>
                  <a:srgbClr val="822433"/>
                </a:solidFill>
                <a:latin typeface="Roboto"/>
                <a:ea typeface="Roboto"/>
                <a:cs typeface="Roboto"/>
              </a:defRPr>
            </a:defPPr>
            <a:lvl1pPr algn="l">
              <a:defRPr sz="2850" b="1">
                <a:solidFill>
                  <a:srgbClr val="822433"/>
                </a:solidFill>
                <a:latin typeface="Roboto"/>
                <a:ea typeface="Roboto"/>
                <a:cs typeface="Roboto"/>
              </a:defRPr>
            </a:lvl1pPr>
            <a:lvl2pPr algn="l">
              <a:defRPr sz="2850" b="1">
                <a:solidFill>
                  <a:srgbClr val="822433"/>
                </a:solidFill>
                <a:latin typeface="Roboto"/>
                <a:ea typeface="Roboto"/>
                <a:cs typeface="Roboto"/>
              </a:defRPr>
            </a:lvl2pPr>
            <a:lvl3pPr algn="l">
              <a:defRPr sz="2850" b="1">
                <a:solidFill>
                  <a:srgbClr val="822433"/>
                </a:solidFill>
                <a:latin typeface="Roboto"/>
                <a:ea typeface="Roboto"/>
                <a:cs typeface="Roboto"/>
              </a:defRPr>
            </a:lvl3pPr>
            <a:lvl4pPr algn="l">
              <a:defRPr sz="2850" b="1">
                <a:solidFill>
                  <a:srgbClr val="822433"/>
                </a:solidFill>
                <a:latin typeface="Roboto"/>
                <a:ea typeface="Roboto"/>
                <a:cs typeface="Roboto"/>
              </a:defRPr>
            </a:lvl4pPr>
            <a:lvl5pPr algn="l">
              <a:defRPr sz="2850" b="1">
                <a:solidFill>
                  <a:srgbClr val="822433"/>
                </a:solidFill>
                <a:latin typeface="Roboto"/>
                <a:ea typeface="Roboto"/>
                <a:cs typeface="Roboto"/>
              </a:defRPr>
            </a:lvl5pPr>
            <a:lvl6pPr algn="l">
              <a:defRPr sz="2850" b="1">
                <a:solidFill>
                  <a:srgbClr val="822433"/>
                </a:solidFill>
                <a:latin typeface="Roboto"/>
                <a:ea typeface="Roboto"/>
                <a:cs typeface="Roboto"/>
              </a:defRPr>
            </a:lvl6pPr>
            <a:lvl7pPr algn="l">
              <a:defRPr sz="2850" b="1">
                <a:solidFill>
                  <a:srgbClr val="822433"/>
                </a:solidFill>
                <a:latin typeface="Roboto"/>
                <a:ea typeface="Roboto"/>
                <a:cs typeface="Roboto"/>
              </a:defRPr>
            </a:lvl7pPr>
            <a:lvl8pPr algn="l">
              <a:defRPr sz="2850" b="1">
                <a:solidFill>
                  <a:srgbClr val="822433"/>
                </a:solidFill>
                <a:latin typeface="Roboto"/>
                <a:ea typeface="Roboto"/>
                <a:cs typeface="Roboto"/>
              </a:defRPr>
            </a:lvl8pPr>
            <a:lvl9pPr algn="l">
              <a:defRPr sz="2850" b="1">
                <a:solidFill>
                  <a:srgbClr val="822433"/>
                </a:solidFill>
                <a:latin typeface="Roboto"/>
                <a:ea typeface="Roboto"/>
                <a:cs typeface="Roboto"/>
              </a:defRPr>
            </a:lvl9pPr>
          </a:lstStyle>
          <a:p>
            <a:pPr algn="l">
              <a:defRPr sz="2850" b="1">
                <a:solidFill>
                  <a:srgbClr val="822433"/>
                </a:solidFill>
                <a:latin typeface="Roboto"/>
                <a:ea typeface="Roboto"/>
                <a:cs typeface="Roboto"/>
              </a:defRPr>
            </a:pPr>
            <a:r>
              <a:rPr sz="2850" b="1">
                <a:solidFill>
                  <a:srgbClr val="822433"/>
                </a:solidFill>
                <a:latin typeface="Roboto"/>
                <a:ea typeface="Roboto"/>
                <a:cs typeface="Roboto"/>
              </a:rPr>
              <a:t>Informazione visiva utile</a:t>
            </a:r>
          </a:p>
          <a:p>
            <a:pPr algn="l">
              <a:defRPr sz="2850" b="1">
                <a:solidFill>
                  <a:srgbClr val="822433"/>
                </a:solidFill>
                <a:latin typeface="Roboto"/>
                <a:ea typeface="Roboto"/>
                <a:cs typeface="Roboto"/>
              </a:defRPr>
            </a:pPr>
            <a:r>
              <a:rPr sz="2850" b="1">
                <a:solidFill>
                  <a:srgbClr val="822433"/>
                </a:solidFill>
                <a:latin typeface="Roboto"/>
                <a:ea typeface="Roboto"/>
                <a:cs typeface="Roboto"/>
              </a:rPr>
              <a:t>a un costo computazionale sostenibile</a:t>
            </a:r>
          </a:p>
        </p:txBody>
      </p:sp>
      <p:sp>
        <p:nvSpPr>
          <p:cNvPr id="7" name="branch-one-title">
            <a:extLst>
              <a:ext uri="{FF2B5EF4-FFF2-40B4-BE49-F238E27FC236}">
                <a16:creationId xmlns:a16="http://schemas.microsoft.com/office/drawing/2014/main" id="{9628EBFB-044F-4063-8D44-AA83400DE6D0}"/>
              </a:ext>
            </a:extLst>
          </p:cNvPr>
          <p:cNvSpPr>
            <a:spLocks noGrp="1"/>
          </p:cNvSpPr>
          <p:nvPr/>
        </p:nvSpPr>
        <p:spPr>
          <a:xfrm>
            <a:off x="952500" y="3190875"/>
            <a:ext cx="4953000" cy="552450"/>
          </a:xfrm>
          <a:prstGeom prst="rect">
            <a:avLst/>
          </a:prstGeom>
          <a:noFill/>
          <a:ln w="0">
            <a:noFill/>
          </a:ln>
        </p:spPr>
        <p:txBody>
          <a:bodyPr wrap="square" lIns="0" tIns="0" rIns="0" bIns="0" anchor="t">
            <a:noAutofit/>
          </a:bodyPr>
          <a:lstStyle>
            <a:defPPr algn="l">
              <a:defRPr sz="2475" b="1">
                <a:solidFill>
                  <a:srgbClr val="822433"/>
                </a:solidFill>
                <a:latin typeface="Roboto"/>
                <a:ea typeface="Roboto"/>
                <a:cs typeface="Roboto"/>
              </a:defRPr>
            </a:defPPr>
            <a:lvl1pPr algn="l">
              <a:defRPr sz="2475" b="1">
                <a:solidFill>
                  <a:srgbClr val="822433"/>
                </a:solidFill>
                <a:latin typeface="Roboto"/>
                <a:ea typeface="Roboto"/>
                <a:cs typeface="Roboto"/>
              </a:defRPr>
            </a:lvl1pPr>
            <a:lvl2pPr algn="l">
              <a:defRPr sz="2475" b="1">
                <a:solidFill>
                  <a:srgbClr val="822433"/>
                </a:solidFill>
                <a:latin typeface="Roboto"/>
                <a:ea typeface="Roboto"/>
                <a:cs typeface="Roboto"/>
              </a:defRPr>
            </a:lvl2pPr>
            <a:lvl3pPr algn="l">
              <a:defRPr sz="2475" b="1">
                <a:solidFill>
                  <a:srgbClr val="822433"/>
                </a:solidFill>
                <a:latin typeface="Roboto"/>
                <a:ea typeface="Roboto"/>
                <a:cs typeface="Roboto"/>
              </a:defRPr>
            </a:lvl3pPr>
            <a:lvl4pPr algn="l">
              <a:defRPr sz="2475" b="1">
                <a:solidFill>
                  <a:srgbClr val="822433"/>
                </a:solidFill>
                <a:latin typeface="Roboto"/>
                <a:ea typeface="Roboto"/>
                <a:cs typeface="Roboto"/>
              </a:defRPr>
            </a:lvl4pPr>
            <a:lvl5pPr algn="l">
              <a:defRPr sz="2475" b="1">
                <a:solidFill>
                  <a:srgbClr val="822433"/>
                </a:solidFill>
                <a:latin typeface="Roboto"/>
                <a:ea typeface="Roboto"/>
                <a:cs typeface="Roboto"/>
              </a:defRPr>
            </a:lvl5pPr>
            <a:lvl6pPr algn="l">
              <a:defRPr sz="2475" b="1">
                <a:solidFill>
                  <a:srgbClr val="822433"/>
                </a:solidFill>
                <a:latin typeface="Roboto"/>
                <a:ea typeface="Roboto"/>
                <a:cs typeface="Roboto"/>
              </a:defRPr>
            </a:lvl6pPr>
            <a:lvl7pPr algn="l">
              <a:defRPr sz="2475" b="1">
                <a:solidFill>
                  <a:srgbClr val="822433"/>
                </a:solidFill>
                <a:latin typeface="Roboto"/>
                <a:ea typeface="Roboto"/>
                <a:cs typeface="Roboto"/>
              </a:defRPr>
            </a:lvl7pPr>
            <a:lvl8pPr algn="l">
              <a:defRPr sz="2475" b="1">
                <a:solidFill>
                  <a:srgbClr val="822433"/>
                </a:solidFill>
                <a:latin typeface="Roboto"/>
                <a:ea typeface="Roboto"/>
                <a:cs typeface="Roboto"/>
              </a:defRPr>
            </a:lvl8pPr>
            <a:lvl9pPr algn="l">
              <a:defRPr sz="2475" b="1">
                <a:solidFill>
                  <a:srgbClr val="822433"/>
                </a:solidFill>
                <a:latin typeface="Roboto"/>
                <a:ea typeface="Roboto"/>
                <a:cs typeface="Roboto"/>
              </a:defRPr>
            </a:lvl9pPr>
          </a:lstStyle>
          <a:p>
            <a:pPr algn="l">
              <a:defRPr sz="2475" b="1">
                <a:solidFill>
                  <a:srgbClr val="822433"/>
                </a:solidFill>
                <a:latin typeface="Roboto"/>
                <a:ea typeface="Roboto"/>
                <a:cs typeface="Roboto"/>
              </a:defRPr>
            </a:pPr>
            <a:r>
              <a:rPr sz="2475" b="1">
                <a:solidFill>
                  <a:srgbClr val="822433"/>
                </a:solidFill>
                <a:latin typeface="Roboto"/>
                <a:ea typeface="Roboto"/>
                <a:cs typeface="Roboto"/>
              </a:rPr>
              <a:t>Comprensione della scena</a:t>
            </a:r>
          </a:p>
        </p:txBody>
      </p:sp>
      <p:sp>
        <p:nvSpPr>
          <p:cNvPr id="8" name="branch-one">
            <a:extLst>
              <a:ext uri="{FF2B5EF4-FFF2-40B4-BE49-F238E27FC236}">
                <a16:creationId xmlns:a16="http://schemas.microsoft.com/office/drawing/2014/main" id="{66AE4C49-EC8C-4B1B-A115-EC3CC9E47892}"/>
              </a:ext>
            </a:extLst>
          </p:cNvPr>
          <p:cNvSpPr>
            <a:spLocks noGrp="1"/>
          </p:cNvSpPr>
          <p:nvPr/>
        </p:nvSpPr>
        <p:spPr>
          <a:xfrm>
            <a:off x="952500" y="3886200"/>
            <a:ext cx="4667250" cy="952500"/>
          </a:xfrm>
          <a:prstGeom prst="rect">
            <a:avLst/>
          </a:prstGeom>
          <a:noFill/>
          <a:ln w="0">
            <a:noFill/>
          </a:ln>
        </p:spPr>
        <p:txBody>
          <a:bodyPr wrap="square" lIns="0" tIns="0" rIns="0" bIns="0" anchor="t">
            <a:noAutofit/>
          </a:bodyPr>
          <a:lstStyle>
            <a:defPPr algn="l">
              <a:defRPr sz="2325" b="0">
                <a:solidFill>
                  <a:srgbClr val="202124"/>
                </a:solidFill>
                <a:latin typeface="Roboto"/>
                <a:ea typeface="Roboto"/>
                <a:cs typeface="Roboto"/>
              </a:defRPr>
            </a:defPPr>
            <a:lvl1pPr algn="l">
              <a:defRPr sz="2325" b="0">
                <a:solidFill>
                  <a:srgbClr val="202124"/>
                </a:solidFill>
                <a:latin typeface="Roboto"/>
                <a:ea typeface="Roboto"/>
                <a:cs typeface="Roboto"/>
              </a:defRPr>
            </a:lvl1pPr>
            <a:lvl2pPr algn="l">
              <a:defRPr sz="2325" b="0">
                <a:solidFill>
                  <a:srgbClr val="202124"/>
                </a:solidFill>
                <a:latin typeface="Roboto"/>
                <a:ea typeface="Roboto"/>
                <a:cs typeface="Roboto"/>
              </a:defRPr>
            </a:lvl2pPr>
            <a:lvl3pPr algn="l">
              <a:defRPr sz="2325" b="0">
                <a:solidFill>
                  <a:srgbClr val="202124"/>
                </a:solidFill>
                <a:latin typeface="Roboto"/>
                <a:ea typeface="Roboto"/>
                <a:cs typeface="Roboto"/>
              </a:defRPr>
            </a:lvl3pPr>
            <a:lvl4pPr algn="l">
              <a:defRPr sz="2325" b="0">
                <a:solidFill>
                  <a:srgbClr val="202124"/>
                </a:solidFill>
                <a:latin typeface="Roboto"/>
                <a:ea typeface="Roboto"/>
                <a:cs typeface="Roboto"/>
              </a:defRPr>
            </a:lvl4pPr>
            <a:lvl5pPr algn="l">
              <a:defRPr sz="2325" b="0">
                <a:solidFill>
                  <a:srgbClr val="202124"/>
                </a:solidFill>
                <a:latin typeface="Roboto"/>
                <a:ea typeface="Roboto"/>
                <a:cs typeface="Roboto"/>
              </a:defRPr>
            </a:lvl5pPr>
            <a:lvl6pPr algn="l">
              <a:defRPr sz="2325" b="0">
                <a:solidFill>
                  <a:srgbClr val="202124"/>
                </a:solidFill>
                <a:latin typeface="Roboto"/>
                <a:ea typeface="Roboto"/>
                <a:cs typeface="Roboto"/>
              </a:defRPr>
            </a:lvl6pPr>
            <a:lvl7pPr algn="l">
              <a:defRPr sz="2325" b="0">
                <a:solidFill>
                  <a:srgbClr val="202124"/>
                </a:solidFill>
                <a:latin typeface="Roboto"/>
                <a:ea typeface="Roboto"/>
                <a:cs typeface="Roboto"/>
              </a:defRPr>
            </a:lvl7pPr>
            <a:lvl8pPr algn="l">
              <a:defRPr sz="2325" b="0">
                <a:solidFill>
                  <a:srgbClr val="202124"/>
                </a:solidFill>
                <a:latin typeface="Roboto"/>
                <a:ea typeface="Roboto"/>
                <a:cs typeface="Roboto"/>
              </a:defRPr>
            </a:lvl8pPr>
            <a:lvl9pPr algn="l">
              <a:defRPr sz="2325" b="0">
                <a:solidFill>
                  <a:srgbClr val="202124"/>
                </a:solidFill>
                <a:latin typeface="Roboto"/>
                <a:ea typeface="Roboto"/>
                <a:cs typeface="Roboto"/>
              </a:defRPr>
            </a:lvl9pPr>
          </a:lstStyle>
          <a:p>
            <a:pPr algn="l">
              <a:defRPr sz="2325" b="0">
                <a:solidFill>
                  <a:srgbClr val="202124"/>
                </a:solidFill>
                <a:latin typeface="Roboto"/>
                <a:ea typeface="Roboto"/>
                <a:cs typeface="Roboto"/>
              </a:defRPr>
            </a:pPr>
            <a:r>
              <a:rPr sz="2325" b="0">
                <a:solidFill>
                  <a:srgbClr val="202124"/>
                </a:solidFill>
                <a:latin typeface="Roboto"/>
                <a:ea typeface="Roboto"/>
                <a:cs typeface="Roboto"/>
              </a:rPr>
              <a:t>Segmentazione semantica</a:t>
            </a:r>
          </a:p>
          <a:p>
            <a:pPr algn="l">
              <a:defRPr sz="2325" b="0">
                <a:solidFill>
                  <a:srgbClr val="202124"/>
                </a:solidFill>
                <a:latin typeface="Roboto"/>
                <a:ea typeface="Roboto"/>
                <a:cs typeface="Roboto"/>
              </a:defRPr>
            </a:pPr>
            <a:r>
              <a:rPr sz="2325" b="0">
                <a:solidFill>
                  <a:srgbClr val="202124"/>
                </a:solidFill>
                <a:latin typeface="Roboto"/>
                <a:ea typeface="Roboto"/>
                <a:cs typeface="Roboto"/>
              </a:rPr>
              <a:t>Immagini reali di Marte</a:t>
            </a:r>
          </a:p>
        </p:txBody>
      </p:sp>
      <p:sp>
        <p:nvSpPr>
          <p:cNvPr id="9" name="branch-two-title">
            <a:extLst>
              <a:ext uri="{FF2B5EF4-FFF2-40B4-BE49-F238E27FC236}">
                <a16:creationId xmlns:a16="http://schemas.microsoft.com/office/drawing/2014/main" id="{CD458654-4812-4297-B299-46E7CD1265A0}"/>
              </a:ext>
            </a:extLst>
          </p:cNvPr>
          <p:cNvSpPr>
            <a:spLocks noGrp="1"/>
          </p:cNvSpPr>
          <p:nvPr/>
        </p:nvSpPr>
        <p:spPr>
          <a:xfrm>
            <a:off x="6572250" y="3190875"/>
            <a:ext cx="4476750" cy="552450"/>
          </a:xfrm>
          <a:prstGeom prst="rect">
            <a:avLst/>
          </a:prstGeom>
          <a:noFill/>
          <a:ln w="0">
            <a:noFill/>
          </a:ln>
        </p:spPr>
        <p:txBody>
          <a:bodyPr wrap="square" lIns="0" tIns="0" rIns="0" bIns="0" anchor="t">
            <a:noAutofit/>
          </a:bodyPr>
          <a:lstStyle>
            <a:defPPr algn="l">
              <a:defRPr sz="2475" b="1">
                <a:solidFill>
                  <a:srgbClr val="822433"/>
                </a:solidFill>
                <a:latin typeface="Roboto"/>
                <a:ea typeface="Roboto"/>
                <a:cs typeface="Roboto"/>
              </a:defRPr>
            </a:defPPr>
            <a:lvl1pPr algn="l">
              <a:defRPr sz="2475" b="1">
                <a:solidFill>
                  <a:srgbClr val="822433"/>
                </a:solidFill>
                <a:latin typeface="Roboto"/>
                <a:ea typeface="Roboto"/>
                <a:cs typeface="Roboto"/>
              </a:defRPr>
            </a:lvl1pPr>
            <a:lvl2pPr algn="l">
              <a:defRPr sz="2475" b="1">
                <a:solidFill>
                  <a:srgbClr val="822433"/>
                </a:solidFill>
                <a:latin typeface="Roboto"/>
                <a:ea typeface="Roboto"/>
                <a:cs typeface="Roboto"/>
              </a:defRPr>
            </a:lvl2pPr>
            <a:lvl3pPr algn="l">
              <a:defRPr sz="2475" b="1">
                <a:solidFill>
                  <a:srgbClr val="822433"/>
                </a:solidFill>
                <a:latin typeface="Roboto"/>
                <a:ea typeface="Roboto"/>
                <a:cs typeface="Roboto"/>
              </a:defRPr>
            </a:lvl3pPr>
            <a:lvl4pPr algn="l">
              <a:defRPr sz="2475" b="1">
                <a:solidFill>
                  <a:srgbClr val="822433"/>
                </a:solidFill>
                <a:latin typeface="Roboto"/>
                <a:ea typeface="Roboto"/>
                <a:cs typeface="Roboto"/>
              </a:defRPr>
            </a:lvl4pPr>
            <a:lvl5pPr algn="l">
              <a:defRPr sz="2475" b="1">
                <a:solidFill>
                  <a:srgbClr val="822433"/>
                </a:solidFill>
                <a:latin typeface="Roboto"/>
                <a:ea typeface="Roboto"/>
                <a:cs typeface="Roboto"/>
              </a:defRPr>
            </a:lvl5pPr>
            <a:lvl6pPr algn="l">
              <a:defRPr sz="2475" b="1">
                <a:solidFill>
                  <a:srgbClr val="822433"/>
                </a:solidFill>
                <a:latin typeface="Roboto"/>
                <a:ea typeface="Roboto"/>
                <a:cs typeface="Roboto"/>
              </a:defRPr>
            </a:lvl6pPr>
            <a:lvl7pPr algn="l">
              <a:defRPr sz="2475" b="1">
                <a:solidFill>
                  <a:srgbClr val="822433"/>
                </a:solidFill>
                <a:latin typeface="Roboto"/>
                <a:ea typeface="Roboto"/>
                <a:cs typeface="Roboto"/>
              </a:defRPr>
            </a:lvl7pPr>
            <a:lvl8pPr algn="l">
              <a:defRPr sz="2475" b="1">
                <a:solidFill>
                  <a:srgbClr val="822433"/>
                </a:solidFill>
                <a:latin typeface="Roboto"/>
                <a:ea typeface="Roboto"/>
                <a:cs typeface="Roboto"/>
              </a:defRPr>
            </a:lvl8pPr>
            <a:lvl9pPr algn="l">
              <a:defRPr sz="2475" b="1">
                <a:solidFill>
                  <a:srgbClr val="822433"/>
                </a:solidFill>
                <a:latin typeface="Roboto"/>
                <a:ea typeface="Roboto"/>
                <a:cs typeface="Roboto"/>
              </a:defRPr>
            </a:lvl9pPr>
          </a:lstStyle>
          <a:p>
            <a:pPr algn="l">
              <a:defRPr sz="2475" b="1">
                <a:solidFill>
                  <a:srgbClr val="822433"/>
                </a:solidFill>
                <a:latin typeface="Roboto"/>
                <a:ea typeface="Roboto"/>
                <a:cs typeface="Roboto"/>
              </a:defRPr>
            </a:pPr>
            <a:r>
              <a:rPr sz="2475" b="1">
                <a:solidFill>
                  <a:srgbClr val="822433"/>
                </a:solidFill>
                <a:latin typeface="Roboto"/>
                <a:ea typeface="Roboto"/>
                <a:cs typeface="Roboto"/>
              </a:rPr>
              <a:t>Ispezione delle ruote</a:t>
            </a:r>
          </a:p>
        </p:txBody>
      </p:sp>
      <p:sp>
        <p:nvSpPr>
          <p:cNvPr id="10" name="branch-two">
            <a:extLst>
              <a:ext uri="{FF2B5EF4-FFF2-40B4-BE49-F238E27FC236}">
                <a16:creationId xmlns:a16="http://schemas.microsoft.com/office/drawing/2014/main" id="{A60EF95C-2710-4512-94EC-7E3C0FD7391F}"/>
              </a:ext>
            </a:extLst>
          </p:cNvPr>
          <p:cNvSpPr>
            <a:spLocks noGrp="1"/>
          </p:cNvSpPr>
          <p:nvPr/>
        </p:nvSpPr>
        <p:spPr>
          <a:xfrm>
            <a:off x="6572250" y="3886200"/>
            <a:ext cx="4381500" cy="952500"/>
          </a:xfrm>
          <a:prstGeom prst="rect">
            <a:avLst/>
          </a:prstGeom>
          <a:noFill/>
          <a:ln w="0">
            <a:noFill/>
          </a:ln>
        </p:spPr>
        <p:txBody>
          <a:bodyPr wrap="square" lIns="0" tIns="0" rIns="0" bIns="0" anchor="t">
            <a:noAutofit/>
          </a:bodyPr>
          <a:lstStyle>
            <a:defPPr algn="l">
              <a:defRPr sz="2325" b="0">
                <a:solidFill>
                  <a:srgbClr val="202124"/>
                </a:solidFill>
                <a:latin typeface="Roboto"/>
                <a:ea typeface="Roboto"/>
                <a:cs typeface="Roboto"/>
              </a:defRPr>
            </a:defPPr>
            <a:lvl1pPr algn="l">
              <a:defRPr sz="2325" b="0">
                <a:solidFill>
                  <a:srgbClr val="202124"/>
                </a:solidFill>
                <a:latin typeface="Roboto"/>
                <a:ea typeface="Roboto"/>
                <a:cs typeface="Roboto"/>
              </a:defRPr>
            </a:lvl1pPr>
            <a:lvl2pPr algn="l">
              <a:defRPr sz="2325" b="0">
                <a:solidFill>
                  <a:srgbClr val="202124"/>
                </a:solidFill>
                <a:latin typeface="Roboto"/>
                <a:ea typeface="Roboto"/>
                <a:cs typeface="Roboto"/>
              </a:defRPr>
            </a:lvl2pPr>
            <a:lvl3pPr algn="l">
              <a:defRPr sz="2325" b="0">
                <a:solidFill>
                  <a:srgbClr val="202124"/>
                </a:solidFill>
                <a:latin typeface="Roboto"/>
                <a:ea typeface="Roboto"/>
                <a:cs typeface="Roboto"/>
              </a:defRPr>
            </a:lvl3pPr>
            <a:lvl4pPr algn="l">
              <a:defRPr sz="2325" b="0">
                <a:solidFill>
                  <a:srgbClr val="202124"/>
                </a:solidFill>
                <a:latin typeface="Roboto"/>
                <a:ea typeface="Roboto"/>
                <a:cs typeface="Roboto"/>
              </a:defRPr>
            </a:lvl4pPr>
            <a:lvl5pPr algn="l">
              <a:defRPr sz="2325" b="0">
                <a:solidFill>
                  <a:srgbClr val="202124"/>
                </a:solidFill>
                <a:latin typeface="Roboto"/>
                <a:ea typeface="Roboto"/>
                <a:cs typeface="Roboto"/>
              </a:defRPr>
            </a:lvl5pPr>
            <a:lvl6pPr algn="l">
              <a:defRPr sz="2325" b="0">
                <a:solidFill>
                  <a:srgbClr val="202124"/>
                </a:solidFill>
                <a:latin typeface="Roboto"/>
                <a:ea typeface="Roboto"/>
                <a:cs typeface="Roboto"/>
              </a:defRPr>
            </a:lvl6pPr>
            <a:lvl7pPr algn="l">
              <a:defRPr sz="2325" b="0">
                <a:solidFill>
                  <a:srgbClr val="202124"/>
                </a:solidFill>
                <a:latin typeface="Roboto"/>
                <a:ea typeface="Roboto"/>
                <a:cs typeface="Roboto"/>
              </a:defRPr>
            </a:lvl7pPr>
            <a:lvl8pPr algn="l">
              <a:defRPr sz="2325" b="0">
                <a:solidFill>
                  <a:srgbClr val="202124"/>
                </a:solidFill>
                <a:latin typeface="Roboto"/>
                <a:ea typeface="Roboto"/>
                <a:cs typeface="Roboto"/>
              </a:defRPr>
            </a:lvl8pPr>
            <a:lvl9pPr algn="l">
              <a:defRPr sz="2325" b="0">
                <a:solidFill>
                  <a:srgbClr val="202124"/>
                </a:solidFill>
                <a:latin typeface="Roboto"/>
                <a:ea typeface="Roboto"/>
                <a:cs typeface="Roboto"/>
              </a:defRPr>
            </a:lvl9pPr>
          </a:lstStyle>
          <a:p>
            <a:pPr algn="l">
              <a:defRPr sz="2325" b="0">
                <a:solidFill>
                  <a:srgbClr val="202124"/>
                </a:solidFill>
                <a:latin typeface="Roboto"/>
                <a:ea typeface="Roboto"/>
                <a:cs typeface="Roboto"/>
              </a:defRPr>
            </a:pPr>
            <a:r>
              <a:rPr sz="2325" b="0">
                <a:solidFill>
                  <a:srgbClr val="202124"/>
                </a:solidFill>
                <a:latin typeface="Roboto"/>
                <a:ea typeface="Roboto"/>
                <a:cs typeface="Roboto"/>
              </a:rPr>
              <a:t>Dataset sintetico</a:t>
            </a:r>
          </a:p>
          <a:p>
            <a:pPr algn="l">
              <a:defRPr sz="2325" b="0">
                <a:solidFill>
                  <a:srgbClr val="202124"/>
                </a:solidFill>
                <a:latin typeface="Roboto"/>
                <a:ea typeface="Roboto"/>
                <a:cs typeface="Roboto"/>
              </a:defRPr>
            </a:pPr>
            <a:r>
              <a:rPr sz="2325" b="0">
                <a:solidFill>
                  <a:srgbClr val="202124"/>
                </a:solidFill>
                <a:latin typeface="Roboto"/>
                <a:ea typeface="Roboto"/>
                <a:cs typeface="Roboto"/>
              </a:rPr>
              <a:t>Anomaly detection</a:t>
            </a:r>
          </a:p>
        </p:txBody>
      </p:sp>
      <p:sp>
        <p:nvSpPr>
          <p:cNvPr id="11" name="scope">
            <a:extLst>
              <a:ext uri="{FF2B5EF4-FFF2-40B4-BE49-F238E27FC236}">
                <a16:creationId xmlns:a16="http://schemas.microsoft.com/office/drawing/2014/main" id="{E0122150-424D-4D65-94C8-8991698E7E39}"/>
              </a:ext>
            </a:extLst>
          </p:cNvPr>
          <p:cNvSpPr>
            <a:spLocks noGrp="1"/>
          </p:cNvSpPr>
          <p:nvPr/>
        </p:nvSpPr>
        <p:spPr>
          <a:xfrm>
            <a:off x="952500" y="5514975"/>
            <a:ext cx="10001250" cy="400050"/>
          </a:xfrm>
          <a:prstGeom prst="rect">
            <a:avLst/>
          </a:prstGeom>
          <a:noFill/>
          <a:ln w="0">
            <a:noFill/>
          </a:ln>
        </p:spPr>
        <p:txBody>
          <a:bodyPr wrap="square" lIns="0" tIns="0" rIns="0" bIns="0" anchor="t">
            <a:noAutofit/>
          </a:bodyPr>
          <a:lstStyle>
            <a:defPPr algn="l">
              <a:defRPr sz="1950" b="0">
                <a:solidFill>
                  <a:srgbClr val="62666B"/>
                </a:solidFill>
                <a:latin typeface="Roboto"/>
                <a:ea typeface="Roboto"/>
                <a:cs typeface="Roboto"/>
              </a:defRPr>
            </a:defPPr>
            <a:lvl1pPr algn="l">
              <a:defRPr sz="1950" b="0">
                <a:solidFill>
                  <a:srgbClr val="62666B"/>
                </a:solidFill>
                <a:latin typeface="Roboto"/>
                <a:ea typeface="Roboto"/>
                <a:cs typeface="Roboto"/>
              </a:defRPr>
            </a:lvl1pPr>
            <a:lvl2pPr algn="l">
              <a:defRPr sz="1950" b="0">
                <a:solidFill>
                  <a:srgbClr val="62666B"/>
                </a:solidFill>
                <a:latin typeface="Roboto"/>
                <a:ea typeface="Roboto"/>
                <a:cs typeface="Roboto"/>
              </a:defRPr>
            </a:lvl2pPr>
            <a:lvl3pPr algn="l">
              <a:defRPr sz="1950" b="0">
                <a:solidFill>
                  <a:srgbClr val="62666B"/>
                </a:solidFill>
                <a:latin typeface="Roboto"/>
                <a:ea typeface="Roboto"/>
                <a:cs typeface="Roboto"/>
              </a:defRPr>
            </a:lvl3pPr>
            <a:lvl4pPr algn="l">
              <a:defRPr sz="1950" b="0">
                <a:solidFill>
                  <a:srgbClr val="62666B"/>
                </a:solidFill>
                <a:latin typeface="Roboto"/>
                <a:ea typeface="Roboto"/>
                <a:cs typeface="Roboto"/>
              </a:defRPr>
            </a:lvl4pPr>
            <a:lvl5pPr algn="l">
              <a:defRPr sz="1950" b="0">
                <a:solidFill>
                  <a:srgbClr val="62666B"/>
                </a:solidFill>
                <a:latin typeface="Roboto"/>
                <a:ea typeface="Roboto"/>
                <a:cs typeface="Roboto"/>
              </a:defRPr>
            </a:lvl5pPr>
            <a:lvl6pPr algn="l">
              <a:defRPr sz="1950" b="0">
                <a:solidFill>
                  <a:srgbClr val="62666B"/>
                </a:solidFill>
                <a:latin typeface="Roboto"/>
                <a:ea typeface="Roboto"/>
                <a:cs typeface="Roboto"/>
              </a:defRPr>
            </a:lvl6pPr>
            <a:lvl7pPr algn="l">
              <a:defRPr sz="1950" b="0">
                <a:solidFill>
                  <a:srgbClr val="62666B"/>
                </a:solidFill>
                <a:latin typeface="Roboto"/>
                <a:ea typeface="Roboto"/>
                <a:cs typeface="Roboto"/>
              </a:defRPr>
            </a:lvl7pPr>
            <a:lvl8pPr algn="l">
              <a:defRPr sz="1950" b="0">
                <a:solidFill>
                  <a:srgbClr val="62666B"/>
                </a:solidFill>
                <a:latin typeface="Roboto"/>
                <a:ea typeface="Roboto"/>
                <a:cs typeface="Roboto"/>
              </a:defRPr>
            </a:lvl8pPr>
            <a:lvl9pPr algn="l">
              <a:defRPr sz="1950" b="0">
                <a:solidFill>
                  <a:srgbClr val="62666B"/>
                </a:solidFill>
                <a:latin typeface="Roboto"/>
                <a:ea typeface="Roboto"/>
                <a:cs typeface="Roboto"/>
              </a:defRPr>
            </a:lvl9pPr>
          </a:lstStyle>
          <a:p>
            <a:pPr algn="l">
              <a:defRPr sz="1950" b="0">
                <a:solidFill>
                  <a:srgbClr val="62666B"/>
                </a:solidFill>
                <a:latin typeface="Roboto"/>
                <a:ea typeface="Roboto"/>
                <a:cs typeface="Roboto"/>
              </a:defRPr>
            </a:pPr>
            <a:r>
              <a:rPr sz="1950" b="0">
                <a:solidFill>
                  <a:srgbClr val="62666B"/>
                </a:solidFill>
                <a:latin typeface="Roboto"/>
                <a:ea typeface="Roboto"/>
                <a:cs typeface="Roboto"/>
              </a:rPr>
              <a:t>Due studi complementari con dati e valutazioni separati</a:t>
            </a:r>
          </a:p>
        </p:txBody>
      </p:sp>
    </p:spTree>
    <p:extLst>
      <p:ext uri="{BB962C8B-B14F-4D97-AF65-F5344CB8AC3E}">
        <p14:creationId xmlns:p14="http://schemas.microsoft.com/office/powerpoint/2010/main" val="222343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767BE188-8209-45C0-87DE-E9E50506F7A6}"/>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La segmentazione semantica</a:t>
            </a:r>
          </a:p>
        </p:txBody>
      </p:sp>
      <p:sp>
        <p:nvSpPr>
          <p:cNvPr id="2" name="template-footer">
            <a:extLst>
              <a:ext uri="{FF2B5EF4-FFF2-40B4-BE49-F238E27FC236}">
                <a16:creationId xmlns:a16="http://schemas.microsoft.com/office/drawing/2014/main" id="{34156630-F36E-4232-B7E6-397EB5A1F01A}"/>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A69A13B0-CDFD-4342-BDB1-084C42025090}"/>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99A4FB9D-D14B-4D20-BB2C-A46C23989D50}"/>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5/28</a:t>
            </a:r>
          </a:p>
        </p:txBody>
      </p:sp>
      <p:sp>
        <p:nvSpPr>
          <p:cNvPr id="5" name="source-citations">
            <a:extLst>
              <a:ext uri="{FF2B5EF4-FFF2-40B4-BE49-F238E27FC236}">
                <a16:creationId xmlns:a16="http://schemas.microsoft.com/office/drawing/2014/main" id="{B9CC0F9E-3382-41B5-B809-EE8B0F52F9AB}"/>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[4] [5]</a:t>
            </a:r>
          </a:p>
        </p:txBody>
      </p:sp>
      <p:pic>
        <p:nvPicPr>
          <p:cNvPr id="6" name="Immagine 5">
            <a:extLst>
              <a:ext uri="{FF2B5EF4-FFF2-40B4-BE49-F238E27FC236}">
                <a16:creationId xmlns:a16="http://schemas.microsoft.com/office/drawing/2014/main" id="{7E3C579A-3962-41CF-9DDC-8D8E5C16716C}"/>
              </a:ext>
            </a:extLst>
          </p:cNvPr>
          <p:cNvPicPr>
            <a:picLocks noChangeAspect="1"/>
          </p:cNvPicPr>
          <p:nvPr/>
        </p:nvPicPr>
        <p:blipFill>
          <a:blip r:embed="rId3"/>
          <a:stretch/>
        </p:blipFill>
        <p:spPr>
          <a:xfrm>
            <a:off x="1524000" y="1885950"/>
            <a:ext cx="3429000" cy="3429000"/>
          </a:xfrm>
          <a:prstGeom prst="rect">
            <a:avLst/>
          </a:prstGeom>
        </p:spPr>
      </p:pic>
      <p:pic>
        <p:nvPicPr>
          <p:cNvPr id="7" name="Immagine 6">
            <a:extLst>
              <a:ext uri="{FF2B5EF4-FFF2-40B4-BE49-F238E27FC236}">
                <a16:creationId xmlns:a16="http://schemas.microsoft.com/office/drawing/2014/main" id="{805D8219-217E-4649-AEF5-E4E5B47B1E38}"/>
              </a:ext>
            </a:extLst>
          </p:cNvPr>
          <p:cNvPicPr>
            <a:picLocks noChangeAspect="1"/>
          </p:cNvPicPr>
          <p:nvPr/>
        </p:nvPicPr>
        <p:blipFill>
          <a:blip r:embed="rId4"/>
          <a:stretch/>
        </p:blipFill>
        <p:spPr>
          <a:xfrm>
            <a:off x="6619875" y="1885950"/>
            <a:ext cx="3429000" cy="3429000"/>
          </a:xfrm>
          <a:prstGeom prst="rect">
            <a:avLst/>
          </a:prstGeom>
        </p:spPr>
      </p:pic>
      <p:sp>
        <p:nvSpPr>
          <p:cNvPr id="8" name="gt-label">
            <a:extLst>
              <a:ext uri="{FF2B5EF4-FFF2-40B4-BE49-F238E27FC236}">
                <a16:creationId xmlns:a16="http://schemas.microsoft.com/office/drawing/2014/main" id="{41E736DC-B042-4243-A96D-E667CE43700E}"/>
              </a:ext>
            </a:extLst>
          </p:cNvPr>
          <p:cNvSpPr>
            <a:spLocks noGrp="1"/>
          </p:cNvSpPr>
          <p:nvPr/>
        </p:nvSpPr>
        <p:spPr>
          <a:xfrm>
            <a:off x="1428750" y="1485900"/>
            <a:ext cx="3619500" cy="361950"/>
          </a:xfrm>
          <a:prstGeom prst="rect">
            <a:avLst/>
          </a:prstGeom>
          <a:noFill/>
          <a:ln w="0">
            <a:noFill/>
          </a:ln>
        </p:spPr>
        <p:txBody>
          <a:bodyPr wrap="square" lIns="0" tIns="0" rIns="0" bIns="0" anchor="t">
            <a:noAutofit/>
          </a:bodyPr>
          <a:lstStyle>
            <a:defPPr algn="ctr">
              <a:defRPr sz="2100" b="1">
                <a:solidFill>
                  <a:srgbClr val="822433"/>
                </a:solidFill>
                <a:latin typeface="Roboto"/>
                <a:ea typeface="Roboto"/>
                <a:cs typeface="Roboto"/>
              </a:defRPr>
            </a:defPPr>
            <a:lvl1pPr algn="ctr">
              <a:defRPr sz="2100" b="1">
                <a:solidFill>
                  <a:srgbClr val="822433"/>
                </a:solidFill>
                <a:latin typeface="Roboto"/>
                <a:ea typeface="Roboto"/>
                <a:cs typeface="Roboto"/>
              </a:defRPr>
            </a:lvl1pPr>
            <a:lvl2pPr algn="ctr">
              <a:defRPr sz="2100" b="1">
                <a:solidFill>
                  <a:srgbClr val="822433"/>
                </a:solidFill>
                <a:latin typeface="Roboto"/>
                <a:ea typeface="Roboto"/>
                <a:cs typeface="Roboto"/>
              </a:defRPr>
            </a:lvl2pPr>
            <a:lvl3pPr algn="ctr">
              <a:defRPr sz="2100" b="1">
                <a:solidFill>
                  <a:srgbClr val="822433"/>
                </a:solidFill>
                <a:latin typeface="Roboto"/>
                <a:ea typeface="Roboto"/>
                <a:cs typeface="Roboto"/>
              </a:defRPr>
            </a:lvl3pPr>
            <a:lvl4pPr algn="ctr">
              <a:defRPr sz="2100" b="1">
                <a:solidFill>
                  <a:srgbClr val="822433"/>
                </a:solidFill>
                <a:latin typeface="Roboto"/>
                <a:ea typeface="Roboto"/>
                <a:cs typeface="Roboto"/>
              </a:defRPr>
            </a:lvl4pPr>
            <a:lvl5pPr algn="ctr">
              <a:defRPr sz="2100" b="1">
                <a:solidFill>
                  <a:srgbClr val="822433"/>
                </a:solidFill>
                <a:latin typeface="Roboto"/>
                <a:ea typeface="Roboto"/>
                <a:cs typeface="Roboto"/>
              </a:defRPr>
            </a:lvl5pPr>
            <a:lvl6pPr algn="ctr">
              <a:defRPr sz="2100" b="1">
                <a:solidFill>
                  <a:srgbClr val="822433"/>
                </a:solidFill>
                <a:latin typeface="Roboto"/>
                <a:ea typeface="Roboto"/>
                <a:cs typeface="Roboto"/>
              </a:defRPr>
            </a:lvl6pPr>
            <a:lvl7pPr algn="ctr">
              <a:defRPr sz="2100" b="1">
                <a:solidFill>
                  <a:srgbClr val="822433"/>
                </a:solidFill>
                <a:latin typeface="Roboto"/>
                <a:ea typeface="Roboto"/>
                <a:cs typeface="Roboto"/>
              </a:defRPr>
            </a:lvl7pPr>
            <a:lvl8pPr algn="ctr">
              <a:defRPr sz="2100" b="1">
                <a:solidFill>
                  <a:srgbClr val="822433"/>
                </a:solidFill>
                <a:latin typeface="Roboto"/>
                <a:ea typeface="Roboto"/>
                <a:cs typeface="Roboto"/>
              </a:defRPr>
            </a:lvl8pPr>
            <a:lvl9pPr algn="ctr">
              <a:defRPr sz="2100" b="1">
                <a:solidFill>
                  <a:srgbClr val="822433"/>
                </a:solidFill>
                <a:latin typeface="Roboto"/>
                <a:ea typeface="Roboto"/>
                <a:cs typeface="Roboto"/>
              </a:defRPr>
            </a:lvl9pPr>
          </a:lstStyle>
          <a:p>
            <a:pPr algn="ctr">
              <a:defRPr sz="2100" b="1">
                <a:solidFill>
                  <a:srgbClr val="822433"/>
                </a:solidFill>
                <a:latin typeface="Roboto"/>
                <a:ea typeface="Roboto"/>
                <a:cs typeface="Roboto"/>
              </a:defRPr>
            </a:pPr>
            <a:r>
              <a:rPr sz="2100" b="1">
                <a:solidFill>
                  <a:srgbClr val="822433"/>
                </a:solidFill>
                <a:latin typeface="Roboto"/>
                <a:ea typeface="Roboto"/>
                <a:cs typeface="Roboto"/>
              </a:rPr>
              <a:t>Annotazione</a:t>
            </a:r>
          </a:p>
        </p:txBody>
      </p:sp>
      <p:sp>
        <p:nvSpPr>
          <p:cNvPr id="9" name="prediction-label">
            <a:extLst>
              <a:ext uri="{FF2B5EF4-FFF2-40B4-BE49-F238E27FC236}">
                <a16:creationId xmlns:a16="http://schemas.microsoft.com/office/drawing/2014/main" id="{A07138B0-6B59-4034-B398-C8DA11F9BF42}"/>
              </a:ext>
            </a:extLst>
          </p:cNvPr>
          <p:cNvSpPr>
            <a:spLocks noGrp="1"/>
          </p:cNvSpPr>
          <p:nvPr/>
        </p:nvSpPr>
        <p:spPr>
          <a:xfrm>
            <a:off x="6524625" y="1485900"/>
            <a:ext cx="3619500" cy="361950"/>
          </a:xfrm>
          <a:prstGeom prst="rect">
            <a:avLst/>
          </a:prstGeom>
          <a:noFill/>
          <a:ln w="0">
            <a:noFill/>
          </a:ln>
        </p:spPr>
        <p:txBody>
          <a:bodyPr wrap="square" lIns="0" tIns="0" rIns="0" bIns="0" anchor="t">
            <a:noAutofit/>
          </a:bodyPr>
          <a:lstStyle>
            <a:defPPr algn="ctr">
              <a:defRPr sz="2100" b="1">
                <a:solidFill>
                  <a:srgbClr val="822433"/>
                </a:solidFill>
                <a:latin typeface="Roboto"/>
                <a:ea typeface="Roboto"/>
                <a:cs typeface="Roboto"/>
              </a:defRPr>
            </a:defPPr>
            <a:lvl1pPr algn="ctr">
              <a:defRPr sz="2100" b="1">
                <a:solidFill>
                  <a:srgbClr val="822433"/>
                </a:solidFill>
                <a:latin typeface="Roboto"/>
                <a:ea typeface="Roboto"/>
                <a:cs typeface="Roboto"/>
              </a:defRPr>
            </a:lvl1pPr>
            <a:lvl2pPr algn="ctr">
              <a:defRPr sz="2100" b="1">
                <a:solidFill>
                  <a:srgbClr val="822433"/>
                </a:solidFill>
                <a:latin typeface="Roboto"/>
                <a:ea typeface="Roboto"/>
                <a:cs typeface="Roboto"/>
              </a:defRPr>
            </a:lvl2pPr>
            <a:lvl3pPr algn="ctr">
              <a:defRPr sz="2100" b="1">
                <a:solidFill>
                  <a:srgbClr val="822433"/>
                </a:solidFill>
                <a:latin typeface="Roboto"/>
                <a:ea typeface="Roboto"/>
                <a:cs typeface="Roboto"/>
              </a:defRPr>
            </a:lvl3pPr>
            <a:lvl4pPr algn="ctr">
              <a:defRPr sz="2100" b="1">
                <a:solidFill>
                  <a:srgbClr val="822433"/>
                </a:solidFill>
                <a:latin typeface="Roboto"/>
                <a:ea typeface="Roboto"/>
                <a:cs typeface="Roboto"/>
              </a:defRPr>
            </a:lvl4pPr>
            <a:lvl5pPr algn="ctr">
              <a:defRPr sz="2100" b="1">
                <a:solidFill>
                  <a:srgbClr val="822433"/>
                </a:solidFill>
                <a:latin typeface="Roboto"/>
                <a:ea typeface="Roboto"/>
                <a:cs typeface="Roboto"/>
              </a:defRPr>
            </a:lvl5pPr>
            <a:lvl6pPr algn="ctr">
              <a:defRPr sz="2100" b="1">
                <a:solidFill>
                  <a:srgbClr val="822433"/>
                </a:solidFill>
                <a:latin typeface="Roboto"/>
                <a:ea typeface="Roboto"/>
                <a:cs typeface="Roboto"/>
              </a:defRPr>
            </a:lvl6pPr>
            <a:lvl7pPr algn="ctr">
              <a:defRPr sz="2100" b="1">
                <a:solidFill>
                  <a:srgbClr val="822433"/>
                </a:solidFill>
                <a:latin typeface="Roboto"/>
                <a:ea typeface="Roboto"/>
                <a:cs typeface="Roboto"/>
              </a:defRPr>
            </a:lvl7pPr>
            <a:lvl8pPr algn="ctr">
              <a:defRPr sz="2100" b="1">
                <a:solidFill>
                  <a:srgbClr val="822433"/>
                </a:solidFill>
                <a:latin typeface="Roboto"/>
                <a:ea typeface="Roboto"/>
                <a:cs typeface="Roboto"/>
              </a:defRPr>
            </a:lvl8pPr>
            <a:lvl9pPr algn="ctr">
              <a:defRPr sz="2100" b="1">
                <a:solidFill>
                  <a:srgbClr val="822433"/>
                </a:solidFill>
                <a:latin typeface="Roboto"/>
                <a:ea typeface="Roboto"/>
                <a:cs typeface="Roboto"/>
              </a:defRPr>
            </a:lvl9pPr>
          </a:lstStyle>
          <a:p>
            <a:pPr algn="ctr">
              <a:defRPr sz="2100" b="1">
                <a:solidFill>
                  <a:srgbClr val="822433"/>
                </a:solidFill>
                <a:latin typeface="Roboto"/>
                <a:ea typeface="Roboto"/>
                <a:cs typeface="Roboto"/>
              </a:defRPr>
            </a:pPr>
            <a:r>
              <a:rPr sz="2100" b="1">
                <a:solidFill>
                  <a:srgbClr val="822433"/>
                </a:solidFill>
                <a:latin typeface="Roboto"/>
                <a:ea typeface="Roboto"/>
                <a:cs typeface="Roboto"/>
              </a:rPr>
              <a:t>Predizione</a:t>
            </a:r>
          </a:p>
        </p:txBody>
      </p:sp>
      <p:sp>
        <p:nvSpPr>
          <p:cNvPr id="10" name="semantic-meaning">
            <a:extLst>
              <a:ext uri="{FF2B5EF4-FFF2-40B4-BE49-F238E27FC236}">
                <a16:creationId xmlns:a16="http://schemas.microsoft.com/office/drawing/2014/main" id="{495E01E5-2906-4F6D-814A-A204908CD9B6}"/>
              </a:ext>
            </a:extLst>
          </p:cNvPr>
          <p:cNvSpPr>
            <a:spLocks noGrp="1"/>
          </p:cNvSpPr>
          <p:nvPr/>
        </p:nvSpPr>
        <p:spPr>
          <a:xfrm>
            <a:off x="1238250" y="5438775"/>
            <a:ext cx="9667875" cy="352425"/>
          </a:xfrm>
          <a:prstGeom prst="rect">
            <a:avLst/>
          </a:prstGeom>
          <a:noFill/>
          <a:ln w="0">
            <a:noFill/>
          </a:ln>
        </p:spPr>
        <p:txBody>
          <a:bodyPr wrap="square" lIns="0" tIns="0" rIns="0" bIns="0" anchor="t">
            <a:noAutofit/>
          </a:bodyPr>
          <a:lstStyle>
            <a:defPPr algn="ctr">
              <a:defRPr sz="2025" b="0">
                <a:solidFill>
                  <a:srgbClr val="202124"/>
                </a:solidFill>
                <a:latin typeface="Roboto"/>
                <a:ea typeface="Roboto"/>
                <a:cs typeface="Roboto"/>
              </a:defRPr>
            </a:defPPr>
            <a:lvl1pPr algn="ctr">
              <a:defRPr sz="2025" b="0">
                <a:solidFill>
                  <a:srgbClr val="202124"/>
                </a:solidFill>
                <a:latin typeface="Roboto"/>
                <a:ea typeface="Roboto"/>
                <a:cs typeface="Roboto"/>
              </a:defRPr>
            </a:lvl1pPr>
            <a:lvl2pPr algn="ctr">
              <a:defRPr sz="2025" b="0">
                <a:solidFill>
                  <a:srgbClr val="202124"/>
                </a:solidFill>
                <a:latin typeface="Roboto"/>
                <a:ea typeface="Roboto"/>
                <a:cs typeface="Roboto"/>
              </a:defRPr>
            </a:lvl2pPr>
            <a:lvl3pPr algn="ctr">
              <a:defRPr sz="2025" b="0">
                <a:solidFill>
                  <a:srgbClr val="202124"/>
                </a:solidFill>
                <a:latin typeface="Roboto"/>
                <a:ea typeface="Roboto"/>
                <a:cs typeface="Roboto"/>
              </a:defRPr>
            </a:lvl3pPr>
            <a:lvl4pPr algn="ctr">
              <a:defRPr sz="2025" b="0">
                <a:solidFill>
                  <a:srgbClr val="202124"/>
                </a:solidFill>
                <a:latin typeface="Roboto"/>
                <a:ea typeface="Roboto"/>
                <a:cs typeface="Roboto"/>
              </a:defRPr>
            </a:lvl4pPr>
            <a:lvl5pPr algn="ctr">
              <a:defRPr sz="2025" b="0">
                <a:solidFill>
                  <a:srgbClr val="202124"/>
                </a:solidFill>
                <a:latin typeface="Roboto"/>
                <a:ea typeface="Roboto"/>
                <a:cs typeface="Roboto"/>
              </a:defRPr>
            </a:lvl5pPr>
            <a:lvl6pPr algn="ctr">
              <a:defRPr sz="2025" b="0">
                <a:solidFill>
                  <a:srgbClr val="202124"/>
                </a:solidFill>
                <a:latin typeface="Roboto"/>
                <a:ea typeface="Roboto"/>
                <a:cs typeface="Roboto"/>
              </a:defRPr>
            </a:lvl6pPr>
            <a:lvl7pPr algn="ctr">
              <a:defRPr sz="2025" b="0">
                <a:solidFill>
                  <a:srgbClr val="202124"/>
                </a:solidFill>
                <a:latin typeface="Roboto"/>
                <a:ea typeface="Roboto"/>
                <a:cs typeface="Roboto"/>
              </a:defRPr>
            </a:lvl7pPr>
            <a:lvl8pPr algn="ctr">
              <a:defRPr sz="2025" b="0">
                <a:solidFill>
                  <a:srgbClr val="202124"/>
                </a:solidFill>
                <a:latin typeface="Roboto"/>
                <a:ea typeface="Roboto"/>
                <a:cs typeface="Roboto"/>
              </a:defRPr>
            </a:lvl8pPr>
            <a:lvl9pPr algn="ctr">
              <a:defRPr sz="2025" b="0">
                <a:solidFill>
                  <a:srgbClr val="202124"/>
                </a:solidFill>
                <a:latin typeface="Roboto"/>
                <a:ea typeface="Roboto"/>
                <a:cs typeface="Roboto"/>
              </a:defRPr>
            </a:lvl9pPr>
          </a:lstStyle>
          <a:p>
            <a:pPr algn="ctr">
              <a:defRPr sz="2025" b="0">
                <a:solidFill>
                  <a:srgbClr val="202124"/>
                </a:solidFill>
                <a:latin typeface="Roboto"/>
                <a:ea typeface="Roboto"/>
                <a:cs typeface="Roboto"/>
              </a:defRPr>
            </a:pPr>
            <a:r>
              <a:rPr sz="2025" b="0">
                <a:solidFill>
                  <a:srgbClr val="202124"/>
                </a:solidFill>
                <a:latin typeface="Roboto"/>
                <a:ea typeface="Roboto"/>
                <a:cs typeface="Roboto"/>
              </a:rPr>
              <a:t>Una categoria per ogni pixel dell’immagine</a:t>
            </a:r>
          </a:p>
        </p:txBody>
      </p:sp>
      <p:sp>
        <p:nvSpPr>
          <p:cNvPr id="11" name="legend-bedrock">
            <a:extLst>
              <a:ext uri="{FF2B5EF4-FFF2-40B4-BE49-F238E27FC236}">
                <a16:creationId xmlns:a16="http://schemas.microsoft.com/office/drawing/2014/main" id="{EEAEA646-154C-44E5-8977-18EC7D7FE98B}"/>
              </a:ext>
            </a:extLst>
          </p:cNvPr>
          <p:cNvSpPr>
            <a:spLocks noGrp="1"/>
          </p:cNvSpPr>
          <p:nvPr/>
        </p:nvSpPr>
        <p:spPr>
          <a:xfrm>
            <a:off x="2428875" y="5819775"/>
            <a:ext cx="2000250" cy="257175"/>
          </a:xfrm>
          <a:prstGeom prst="rect">
            <a:avLst/>
          </a:prstGeom>
          <a:noFill/>
          <a:ln w="0">
            <a:noFill/>
          </a:ln>
        </p:spPr>
        <p:txBody>
          <a:bodyPr wrap="square" lIns="0" tIns="0" rIns="0" bIns="0" anchor="t">
            <a:noAutofit/>
          </a:bodyPr>
          <a:lstStyle>
            <a:defPPr algn="ctr">
              <a:defRPr sz="1650" b="1">
                <a:solidFill>
                  <a:srgbClr val="A67A1B"/>
                </a:solidFill>
                <a:latin typeface="Roboto"/>
                <a:ea typeface="Roboto"/>
                <a:cs typeface="Roboto"/>
              </a:defRPr>
            </a:defPPr>
            <a:lvl1pPr algn="ctr">
              <a:defRPr sz="1650" b="1">
                <a:solidFill>
                  <a:srgbClr val="A67A1B"/>
                </a:solidFill>
                <a:latin typeface="Roboto"/>
                <a:ea typeface="Roboto"/>
                <a:cs typeface="Roboto"/>
              </a:defRPr>
            </a:lvl1pPr>
            <a:lvl2pPr algn="ctr">
              <a:defRPr sz="1650" b="1">
                <a:solidFill>
                  <a:srgbClr val="A67A1B"/>
                </a:solidFill>
                <a:latin typeface="Roboto"/>
                <a:ea typeface="Roboto"/>
                <a:cs typeface="Roboto"/>
              </a:defRPr>
            </a:lvl2pPr>
            <a:lvl3pPr algn="ctr">
              <a:defRPr sz="1650" b="1">
                <a:solidFill>
                  <a:srgbClr val="A67A1B"/>
                </a:solidFill>
                <a:latin typeface="Roboto"/>
                <a:ea typeface="Roboto"/>
                <a:cs typeface="Roboto"/>
              </a:defRPr>
            </a:lvl3pPr>
            <a:lvl4pPr algn="ctr">
              <a:defRPr sz="1650" b="1">
                <a:solidFill>
                  <a:srgbClr val="A67A1B"/>
                </a:solidFill>
                <a:latin typeface="Roboto"/>
                <a:ea typeface="Roboto"/>
                <a:cs typeface="Roboto"/>
              </a:defRPr>
            </a:lvl4pPr>
            <a:lvl5pPr algn="ctr">
              <a:defRPr sz="1650" b="1">
                <a:solidFill>
                  <a:srgbClr val="A67A1B"/>
                </a:solidFill>
                <a:latin typeface="Roboto"/>
                <a:ea typeface="Roboto"/>
                <a:cs typeface="Roboto"/>
              </a:defRPr>
            </a:lvl5pPr>
            <a:lvl6pPr algn="ctr">
              <a:defRPr sz="1650" b="1">
                <a:solidFill>
                  <a:srgbClr val="A67A1B"/>
                </a:solidFill>
                <a:latin typeface="Roboto"/>
                <a:ea typeface="Roboto"/>
                <a:cs typeface="Roboto"/>
              </a:defRPr>
            </a:lvl6pPr>
            <a:lvl7pPr algn="ctr">
              <a:defRPr sz="1650" b="1">
                <a:solidFill>
                  <a:srgbClr val="A67A1B"/>
                </a:solidFill>
                <a:latin typeface="Roboto"/>
                <a:ea typeface="Roboto"/>
                <a:cs typeface="Roboto"/>
              </a:defRPr>
            </a:lvl7pPr>
            <a:lvl8pPr algn="ctr">
              <a:defRPr sz="1650" b="1">
                <a:solidFill>
                  <a:srgbClr val="A67A1B"/>
                </a:solidFill>
                <a:latin typeface="Roboto"/>
                <a:ea typeface="Roboto"/>
                <a:cs typeface="Roboto"/>
              </a:defRPr>
            </a:lvl8pPr>
            <a:lvl9pPr algn="ctr">
              <a:defRPr sz="1650" b="1">
                <a:solidFill>
                  <a:srgbClr val="A67A1B"/>
                </a:solidFill>
                <a:latin typeface="Roboto"/>
                <a:ea typeface="Roboto"/>
                <a:cs typeface="Roboto"/>
              </a:defRPr>
            </a:lvl9pPr>
          </a:lstStyle>
          <a:p>
            <a:pPr algn="ctr">
              <a:defRPr sz="1650" b="1">
                <a:solidFill>
                  <a:srgbClr val="A67A1B"/>
                </a:solidFill>
                <a:latin typeface="Roboto"/>
                <a:ea typeface="Roboto"/>
                <a:cs typeface="Roboto"/>
              </a:defRPr>
            </a:pPr>
            <a:r>
              <a:rPr sz="1650" b="1">
                <a:solidFill>
                  <a:srgbClr val="A67A1B"/>
                </a:solidFill>
                <a:latin typeface="Roboto"/>
                <a:ea typeface="Roboto"/>
                <a:cs typeface="Roboto"/>
              </a:rPr>
              <a:t>Bedrock</a:t>
            </a:r>
          </a:p>
        </p:txBody>
      </p:sp>
      <p:sp>
        <p:nvSpPr>
          <p:cNvPr id="12" name="legend-sand">
            <a:extLst>
              <a:ext uri="{FF2B5EF4-FFF2-40B4-BE49-F238E27FC236}">
                <a16:creationId xmlns:a16="http://schemas.microsoft.com/office/drawing/2014/main" id="{093ADBBD-918E-4D27-BC4C-FA06A20FFE98}"/>
              </a:ext>
            </a:extLst>
          </p:cNvPr>
          <p:cNvSpPr>
            <a:spLocks noGrp="1"/>
          </p:cNvSpPr>
          <p:nvPr/>
        </p:nvSpPr>
        <p:spPr>
          <a:xfrm>
            <a:off x="5286375" y="5819775"/>
            <a:ext cx="2000250" cy="257175"/>
          </a:xfrm>
          <a:prstGeom prst="rect">
            <a:avLst/>
          </a:prstGeom>
          <a:noFill/>
          <a:ln w="0">
            <a:noFill/>
          </a:ln>
        </p:spPr>
        <p:txBody>
          <a:bodyPr wrap="square" lIns="0" tIns="0" rIns="0" bIns="0" anchor="t">
            <a:noAutofit/>
          </a:bodyPr>
          <a:lstStyle>
            <a:defPPr algn="ctr">
              <a:defRPr sz="1650" b="1">
                <a:solidFill>
                  <a:srgbClr val="279D96"/>
                </a:solidFill>
                <a:latin typeface="Roboto"/>
                <a:ea typeface="Roboto"/>
                <a:cs typeface="Roboto"/>
              </a:defRPr>
            </a:defPPr>
            <a:lvl1pPr algn="ctr">
              <a:defRPr sz="1650" b="1">
                <a:solidFill>
                  <a:srgbClr val="279D96"/>
                </a:solidFill>
                <a:latin typeface="Roboto"/>
                <a:ea typeface="Roboto"/>
                <a:cs typeface="Roboto"/>
              </a:defRPr>
            </a:lvl1pPr>
            <a:lvl2pPr algn="ctr">
              <a:defRPr sz="1650" b="1">
                <a:solidFill>
                  <a:srgbClr val="279D96"/>
                </a:solidFill>
                <a:latin typeface="Roboto"/>
                <a:ea typeface="Roboto"/>
                <a:cs typeface="Roboto"/>
              </a:defRPr>
            </a:lvl2pPr>
            <a:lvl3pPr algn="ctr">
              <a:defRPr sz="1650" b="1">
                <a:solidFill>
                  <a:srgbClr val="279D96"/>
                </a:solidFill>
                <a:latin typeface="Roboto"/>
                <a:ea typeface="Roboto"/>
                <a:cs typeface="Roboto"/>
              </a:defRPr>
            </a:lvl3pPr>
            <a:lvl4pPr algn="ctr">
              <a:defRPr sz="1650" b="1">
                <a:solidFill>
                  <a:srgbClr val="279D96"/>
                </a:solidFill>
                <a:latin typeface="Roboto"/>
                <a:ea typeface="Roboto"/>
                <a:cs typeface="Roboto"/>
              </a:defRPr>
            </a:lvl4pPr>
            <a:lvl5pPr algn="ctr">
              <a:defRPr sz="1650" b="1">
                <a:solidFill>
                  <a:srgbClr val="279D96"/>
                </a:solidFill>
                <a:latin typeface="Roboto"/>
                <a:ea typeface="Roboto"/>
                <a:cs typeface="Roboto"/>
              </a:defRPr>
            </a:lvl5pPr>
            <a:lvl6pPr algn="ctr">
              <a:defRPr sz="1650" b="1">
                <a:solidFill>
                  <a:srgbClr val="279D96"/>
                </a:solidFill>
                <a:latin typeface="Roboto"/>
                <a:ea typeface="Roboto"/>
                <a:cs typeface="Roboto"/>
              </a:defRPr>
            </a:lvl6pPr>
            <a:lvl7pPr algn="ctr">
              <a:defRPr sz="1650" b="1">
                <a:solidFill>
                  <a:srgbClr val="279D96"/>
                </a:solidFill>
                <a:latin typeface="Roboto"/>
                <a:ea typeface="Roboto"/>
                <a:cs typeface="Roboto"/>
              </a:defRPr>
            </a:lvl7pPr>
            <a:lvl8pPr algn="ctr">
              <a:defRPr sz="1650" b="1">
                <a:solidFill>
                  <a:srgbClr val="279D96"/>
                </a:solidFill>
                <a:latin typeface="Roboto"/>
                <a:ea typeface="Roboto"/>
                <a:cs typeface="Roboto"/>
              </a:defRPr>
            </a:lvl8pPr>
            <a:lvl9pPr algn="ctr">
              <a:defRPr sz="1650" b="1">
                <a:solidFill>
                  <a:srgbClr val="279D96"/>
                </a:solidFill>
                <a:latin typeface="Roboto"/>
                <a:ea typeface="Roboto"/>
                <a:cs typeface="Roboto"/>
              </a:defRPr>
            </a:lvl9pPr>
          </a:lstStyle>
          <a:p>
            <a:pPr algn="ctr">
              <a:defRPr sz="1650" b="1">
                <a:solidFill>
                  <a:srgbClr val="279D96"/>
                </a:solidFill>
                <a:latin typeface="Roboto"/>
                <a:ea typeface="Roboto"/>
                <a:cs typeface="Roboto"/>
              </a:defRPr>
            </a:pPr>
            <a:r>
              <a:rPr sz="1650" b="1">
                <a:solidFill>
                  <a:srgbClr val="279D96"/>
                </a:solidFill>
                <a:latin typeface="Roboto"/>
                <a:ea typeface="Roboto"/>
                <a:cs typeface="Roboto"/>
              </a:rPr>
              <a:t>Sand/Soil</a:t>
            </a:r>
          </a:p>
        </p:txBody>
      </p:sp>
      <p:sp>
        <p:nvSpPr>
          <p:cNvPr id="13" name="legend-rock">
            <a:extLst>
              <a:ext uri="{FF2B5EF4-FFF2-40B4-BE49-F238E27FC236}">
                <a16:creationId xmlns:a16="http://schemas.microsoft.com/office/drawing/2014/main" id="{023569D3-0433-40AE-A0D1-D335AC63C862}"/>
              </a:ext>
            </a:extLst>
          </p:cNvPr>
          <p:cNvSpPr>
            <a:spLocks noGrp="1"/>
          </p:cNvSpPr>
          <p:nvPr/>
        </p:nvSpPr>
        <p:spPr>
          <a:xfrm>
            <a:off x="8143875" y="5819775"/>
            <a:ext cx="2000250" cy="257175"/>
          </a:xfrm>
          <a:prstGeom prst="rect">
            <a:avLst/>
          </a:prstGeom>
          <a:noFill/>
          <a:ln w="0">
            <a:noFill/>
          </a:ln>
        </p:spPr>
        <p:txBody>
          <a:bodyPr wrap="square" lIns="0" tIns="0" rIns="0" bIns="0" anchor="t">
            <a:noAutofit/>
          </a:bodyPr>
          <a:lstStyle>
            <a:defPPr algn="ctr">
              <a:defRPr sz="1650" b="1">
                <a:solidFill>
                  <a:srgbClr val="E8324A"/>
                </a:solidFill>
                <a:latin typeface="Roboto"/>
                <a:ea typeface="Roboto"/>
                <a:cs typeface="Roboto"/>
              </a:defRPr>
            </a:defPPr>
            <a:lvl1pPr algn="ctr">
              <a:defRPr sz="1650" b="1">
                <a:solidFill>
                  <a:srgbClr val="E8324A"/>
                </a:solidFill>
                <a:latin typeface="Roboto"/>
                <a:ea typeface="Roboto"/>
                <a:cs typeface="Roboto"/>
              </a:defRPr>
            </a:lvl1pPr>
            <a:lvl2pPr algn="ctr">
              <a:defRPr sz="1650" b="1">
                <a:solidFill>
                  <a:srgbClr val="E8324A"/>
                </a:solidFill>
                <a:latin typeface="Roboto"/>
                <a:ea typeface="Roboto"/>
                <a:cs typeface="Roboto"/>
              </a:defRPr>
            </a:lvl2pPr>
            <a:lvl3pPr algn="ctr">
              <a:defRPr sz="1650" b="1">
                <a:solidFill>
                  <a:srgbClr val="E8324A"/>
                </a:solidFill>
                <a:latin typeface="Roboto"/>
                <a:ea typeface="Roboto"/>
                <a:cs typeface="Roboto"/>
              </a:defRPr>
            </a:lvl3pPr>
            <a:lvl4pPr algn="ctr">
              <a:defRPr sz="1650" b="1">
                <a:solidFill>
                  <a:srgbClr val="E8324A"/>
                </a:solidFill>
                <a:latin typeface="Roboto"/>
                <a:ea typeface="Roboto"/>
                <a:cs typeface="Roboto"/>
              </a:defRPr>
            </a:lvl4pPr>
            <a:lvl5pPr algn="ctr">
              <a:defRPr sz="1650" b="1">
                <a:solidFill>
                  <a:srgbClr val="E8324A"/>
                </a:solidFill>
                <a:latin typeface="Roboto"/>
                <a:ea typeface="Roboto"/>
                <a:cs typeface="Roboto"/>
              </a:defRPr>
            </a:lvl5pPr>
            <a:lvl6pPr algn="ctr">
              <a:defRPr sz="1650" b="1">
                <a:solidFill>
                  <a:srgbClr val="E8324A"/>
                </a:solidFill>
                <a:latin typeface="Roboto"/>
                <a:ea typeface="Roboto"/>
                <a:cs typeface="Roboto"/>
              </a:defRPr>
            </a:lvl6pPr>
            <a:lvl7pPr algn="ctr">
              <a:defRPr sz="1650" b="1">
                <a:solidFill>
                  <a:srgbClr val="E8324A"/>
                </a:solidFill>
                <a:latin typeface="Roboto"/>
                <a:ea typeface="Roboto"/>
                <a:cs typeface="Roboto"/>
              </a:defRPr>
            </a:lvl7pPr>
            <a:lvl8pPr algn="ctr">
              <a:defRPr sz="1650" b="1">
                <a:solidFill>
                  <a:srgbClr val="E8324A"/>
                </a:solidFill>
                <a:latin typeface="Roboto"/>
                <a:ea typeface="Roboto"/>
                <a:cs typeface="Roboto"/>
              </a:defRPr>
            </a:lvl8pPr>
            <a:lvl9pPr algn="ctr">
              <a:defRPr sz="1650" b="1">
                <a:solidFill>
                  <a:srgbClr val="E8324A"/>
                </a:solidFill>
                <a:latin typeface="Roboto"/>
                <a:ea typeface="Roboto"/>
                <a:cs typeface="Roboto"/>
              </a:defRPr>
            </a:lvl9pPr>
          </a:lstStyle>
          <a:p>
            <a:pPr algn="ctr">
              <a:defRPr sz="1650" b="1">
                <a:solidFill>
                  <a:srgbClr val="E8324A"/>
                </a:solidFill>
                <a:latin typeface="Roboto"/>
                <a:ea typeface="Roboto"/>
                <a:cs typeface="Roboto"/>
              </a:defRPr>
            </a:pPr>
            <a:r>
              <a:rPr sz="1650" b="1">
                <a:solidFill>
                  <a:srgbClr val="E8324A"/>
                </a:solidFill>
                <a:latin typeface="Roboto"/>
                <a:ea typeface="Roboto"/>
                <a:cs typeface="Roboto"/>
              </a:rPr>
              <a:t>Rock</a:t>
            </a:r>
          </a:p>
        </p:txBody>
      </p:sp>
    </p:spTree>
    <p:extLst>
      <p:ext uri="{BB962C8B-B14F-4D97-AF65-F5344CB8AC3E}">
        <p14:creationId xmlns:p14="http://schemas.microsoft.com/office/powerpoint/2010/main" val="222343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9ED13CA9-54F1-42C9-A7E8-22C8E5FFB903}"/>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S⁵Mars nella versione Mars-Bench</a:t>
            </a:r>
          </a:p>
        </p:txBody>
      </p:sp>
      <p:sp>
        <p:nvSpPr>
          <p:cNvPr id="2" name="template-footer">
            <a:extLst>
              <a:ext uri="{FF2B5EF4-FFF2-40B4-BE49-F238E27FC236}">
                <a16:creationId xmlns:a16="http://schemas.microsoft.com/office/drawing/2014/main" id="{F2818C4D-B5A0-4F9B-86B4-7F1AFF995749}"/>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145CC963-7967-4DC9-B9FB-B2532C42A890}"/>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FB70A31E-F735-4B37-9B5C-212E8847F617}"/>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6/28</a:t>
            </a:r>
          </a:p>
        </p:txBody>
      </p:sp>
      <p:sp>
        <p:nvSpPr>
          <p:cNvPr id="5" name="source-citations">
            <a:extLst>
              <a:ext uri="{FF2B5EF4-FFF2-40B4-BE49-F238E27FC236}">
                <a16:creationId xmlns:a16="http://schemas.microsoft.com/office/drawing/2014/main" id="{92BABB0E-73BF-4EB9-BCF1-806A1EF1C254}"/>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[4] [5]</a:t>
            </a:r>
          </a:p>
        </p:txBody>
      </p:sp>
      <p:sp>
        <p:nvSpPr>
          <p:cNvPr id="6" name="dataset-name">
            <a:extLst>
              <a:ext uri="{FF2B5EF4-FFF2-40B4-BE49-F238E27FC236}">
                <a16:creationId xmlns:a16="http://schemas.microsoft.com/office/drawing/2014/main" id="{FAAE05FE-E204-46DD-B659-53A57FB4E1FC}"/>
              </a:ext>
            </a:extLst>
          </p:cNvPr>
          <p:cNvSpPr>
            <a:spLocks noGrp="1"/>
          </p:cNvSpPr>
          <p:nvPr/>
        </p:nvSpPr>
        <p:spPr>
          <a:xfrm>
            <a:off x="952500" y="1571625"/>
            <a:ext cx="9620250" cy="495300"/>
          </a:xfrm>
          <a:prstGeom prst="rect">
            <a:avLst/>
          </a:prstGeom>
          <a:noFill/>
          <a:ln w="0">
            <a:noFill/>
          </a:ln>
        </p:spPr>
        <p:txBody>
          <a:bodyPr wrap="square" lIns="0" tIns="0" rIns="0" bIns="0" anchor="t">
            <a:noAutofit/>
          </a:bodyPr>
          <a:lstStyle>
            <a:defPPr algn="l">
              <a:defRPr sz="2700" b="1">
                <a:solidFill>
                  <a:srgbClr val="822433"/>
                </a:solidFill>
                <a:latin typeface="Roboto"/>
                <a:ea typeface="Roboto"/>
                <a:cs typeface="Roboto"/>
              </a:defRPr>
            </a:defPPr>
            <a:lvl1pPr algn="l">
              <a:defRPr sz="2700" b="1">
                <a:solidFill>
                  <a:srgbClr val="822433"/>
                </a:solidFill>
                <a:latin typeface="Roboto"/>
                <a:ea typeface="Roboto"/>
                <a:cs typeface="Roboto"/>
              </a:defRPr>
            </a:lvl1pPr>
            <a:lvl2pPr algn="l">
              <a:defRPr sz="2700" b="1">
                <a:solidFill>
                  <a:srgbClr val="822433"/>
                </a:solidFill>
                <a:latin typeface="Roboto"/>
                <a:ea typeface="Roboto"/>
                <a:cs typeface="Roboto"/>
              </a:defRPr>
            </a:lvl2pPr>
            <a:lvl3pPr algn="l">
              <a:defRPr sz="2700" b="1">
                <a:solidFill>
                  <a:srgbClr val="822433"/>
                </a:solidFill>
                <a:latin typeface="Roboto"/>
                <a:ea typeface="Roboto"/>
                <a:cs typeface="Roboto"/>
              </a:defRPr>
            </a:lvl3pPr>
            <a:lvl4pPr algn="l">
              <a:defRPr sz="2700" b="1">
                <a:solidFill>
                  <a:srgbClr val="822433"/>
                </a:solidFill>
                <a:latin typeface="Roboto"/>
                <a:ea typeface="Roboto"/>
                <a:cs typeface="Roboto"/>
              </a:defRPr>
            </a:lvl4pPr>
            <a:lvl5pPr algn="l">
              <a:defRPr sz="2700" b="1">
                <a:solidFill>
                  <a:srgbClr val="822433"/>
                </a:solidFill>
                <a:latin typeface="Roboto"/>
                <a:ea typeface="Roboto"/>
                <a:cs typeface="Roboto"/>
              </a:defRPr>
            </a:lvl5pPr>
            <a:lvl6pPr algn="l">
              <a:defRPr sz="2700" b="1">
                <a:solidFill>
                  <a:srgbClr val="822433"/>
                </a:solidFill>
                <a:latin typeface="Roboto"/>
                <a:ea typeface="Roboto"/>
                <a:cs typeface="Roboto"/>
              </a:defRPr>
            </a:lvl6pPr>
            <a:lvl7pPr algn="l">
              <a:defRPr sz="2700" b="1">
                <a:solidFill>
                  <a:srgbClr val="822433"/>
                </a:solidFill>
                <a:latin typeface="Roboto"/>
                <a:ea typeface="Roboto"/>
                <a:cs typeface="Roboto"/>
              </a:defRPr>
            </a:lvl7pPr>
            <a:lvl8pPr algn="l">
              <a:defRPr sz="2700" b="1">
                <a:solidFill>
                  <a:srgbClr val="822433"/>
                </a:solidFill>
                <a:latin typeface="Roboto"/>
                <a:ea typeface="Roboto"/>
                <a:cs typeface="Roboto"/>
              </a:defRPr>
            </a:lvl8pPr>
            <a:lvl9pPr algn="l">
              <a:defRPr sz="2700" b="1">
                <a:solidFill>
                  <a:srgbClr val="822433"/>
                </a:solidFill>
                <a:latin typeface="Roboto"/>
                <a:ea typeface="Roboto"/>
                <a:cs typeface="Roboto"/>
              </a:defRPr>
            </a:lvl9pPr>
          </a:lstStyle>
          <a:p>
            <a:pPr algn="l">
              <a:defRPr sz="2700" b="1">
                <a:solidFill>
                  <a:srgbClr val="822433"/>
                </a:solidFill>
                <a:latin typeface="Roboto"/>
                <a:ea typeface="Roboto"/>
                <a:cs typeface="Roboto"/>
              </a:defRPr>
            </a:pPr>
            <a:r>
              <a:rPr sz="2700" b="1">
                <a:solidFill>
                  <a:srgbClr val="822433"/>
                </a:solidFill>
                <a:latin typeface="Roboto"/>
                <a:ea typeface="Roboto"/>
                <a:cs typeface="Roboto"/>
              </a:rPr>
              <a:t>Immagini reali di Curiosity</a:t>
            </a:r>
          </a:p>
        </p:txBody>
      </p:sp>
      <p:graphicFrame>
        <p:nvGraphicFramePr>
          <p:cNvPr id="7" name="Tabella 6">
            <a:extLst>
              <a:ext uri="{FF2B5EF4-FFF2-40B4-BE49-F238E27FC236}">
                <a16:creationId xmlns:a16="http://schemas.microsoft.com/office/drawing/2014/main" id="{3E84983A-EA59-4069-B33F-46F2D9B5ED43}"/>
              </a:ext>
            </a:extLst>
          </p:cNvPr>
          <p:cNvGraphicFramePr/>
          <p:nvPr/>
        </p:nvGraphicFramePr>
        <p:xfrm>
          <a:off x="952500" y="2466975"/>
          <a:ext cx="9525000" cy="1409700"/>
        </p:xfrm>
        <a:graphic>
          <a:graphicData uri="http://schemas.openxmlformats.org/drawingml/2006/table">
            <a:tbl>
              <a:tblPr firstRow="1"/>
              <a:tblGrid>
                <a:gridCol w="3181350">
                  <a:extLst>
                    <a:ext uri="{9D8B030D-6E8A-4147-A177-3AD203B41FA5}">
                      <a16:colId xmlns:a16="http://schemas.microsoft.com/office/drawing/2014/main" val="20000"/>
                    </a:ext>
                  </a:extLst>
                </a:gridCol>
                <a:gridCol w="3171825">
                  <a:extLst>
                    <a:ext uri="{9D8B030D-6E8A-4147-A177-3AD203B41FA5}">
                      <a16:colId xmlns:a16="http://schemas.microsoft.com/office/drawing/2014/main" val="20001"/>
                    </a:ext>
                  </a:extLst>
                </a:gridCol>
                <a:gridCol w="3171825">
                  <a:extLst>
                    <a:ext uri="{9D8B030D-6E8A-4147-A177-3AD203B41FA5}">
                      <a16:colId xmlns:a16="http://schemas.microsoft.com/office/drawing/2014/main" val="20002"/>
                    </a:ext>
                  </a:extLst>
                </a:gridCol>
              </a:tblGrid>
              <a:tr h="704850">
                <a:tc>
                  <a:txBody>
                    <a:bodyPr/>
                    <a:lstStyle/>
                    <a:p>
                      <a:r>
                        <a:rPr sz="1875" b="1">
                          <a:solidFill>
                            <a:srgbClr val="FFFFFF"/>
                          </a:solidFill>
                          <a:latin typeface="Roboto"/>
                          <a:ea typeface="Roboto"/>
                          <a:cs typeface="Roboto"/>
                        </a:rPr>
                        <a:t>Training</a:t>
                      </a:r>
                    </a:p>
                  </a:txBody>
                  <a:tcPr marL="133350" marR="133350" marT="114300" marB="95250" anchor="ctr">
                    <a:lnL w="7620">
                      <a:solidFill>
                        <a:srgbClr val="D8D8D8"/>
                      </a:solidFill>
                      <a:prstDash val="solid"/>
                    </a:lnL>
                    <a:lnR w="7620">
                      <a:solidFill>
                        <a:srgbClr val="D8D8D8"/>
                      </a:solidFill>
                      <a:prstDash val="solid"/>
                    </a:lnR>
                    <a:lnT w="7620">
                      <a:solidFill>
                        <a:srgbClr val="D8D8D8"/>
                      </a:solidFill>
                      <a:prstDash val="solid"/>
                    </a:lnT>
                    <a:lnB w="7620">
                      <a:solidFill>
                        <a:srgbClr val="D8D8D8"/>
                      </a:solidFill>
                      <a:prstDash val="solid"/>
                    </a:lnB>
                    <a:solidFill>
                      <a:srgbClr val="822433"/>
                    </a:solidFill>
                  </a:tcPr>
                </a:tc>
                <a:tc>
                  <a:txBody>
                    <a:bodyPr/>
                    <a:lstStyle/>
                    <a:p>
                      <a:r>
                        <a:rPr sz="1875" b="1">
                          <a:solidFill>
                            <a:srgbClr val="FFFFFF"/>
                          </a:solidFill>
                          <a:latin typeface="Roboto"/>
                          <a:ea typeface="Roboto"/>
                          <a:cs typeface="Roboto"/>
                        </a:rPr>
                        <a:t>Validation</a:t>
                      </a:r>
                    </a:p>
                  </a:txBody>
                  <a:tcPr marL="133350" marR="133350" marT="114300" marB="95250" anchor="ctr">
                    <a:lnL w="7620" cap="flat" cmpd="sng" algn="ctr">
                      <a:solidFill>
                        <a:srgbClr val="D8D8D8"/>
                      </a:solidFill>
                      <a:prstDash val="solid"/>
                      <a:round/>
                      <a:headEnd type="none" w="med" len="med"/>
                      <a:tailEnd type="none" w="med" len="med"/>
                    </a:lnL>
                    <a:lnR w="7620">
                      <a:solidFill>
                        <a:srgbClr val="D8D8D8"/>
                      </a:solidFill>
                      <a:prstDash val="solid"/>
                    </a:lnR>
                    <a:lnT w="7620">
                      <a:solidFill>
                        <a:srgbClr val="D8D8D8"/>
                      </a:solidFill>
                      <a:prstDash val="solid"/>
                    </a:lnT>
                    <a:lnB w="7620">
                      <a:solidFill>
                        <a:srgbClr val="D8D8D8"/>
                      </a:solidFill>
                      <a:prstDash val="solid"/>
                    </a:lnB>
                    <a:solidFill>
                      <a:srgbClr val="822433"/>
                    </a:solidFill>
                  </a:tcPr>
                </a:tc>
                <a:tc>
                  <a:txBody>
                    <a:bodyPr/>
                    <a:lstStyle/>
                    <a:p>
                      <a:r>
                        <a:rPr sz="1875" b="1">
                          <a:solidFill>
                            <a:srgbClr val="FFFFFF"/>
                          </a:solidFill>
                          <a:latin typeface="Roboto"/>
                          <a:ea typeface="Roboto"/>
                          <a:cs typeface="Roboto"/>
                        </a:rPr>
                        <a:t>Test</a:t>
                      </a:r>
                    </a:p>
                  </a:txBody>
                  <a:tcPr marL="133350" marR="133350" marT="114300" marB="95250" anchor="ctr">
                    <a:lnL w="7620" cap="flat" cmpd="sng" algn="ctr">
                      <a:solidFill>
                        <a:srgbClr val="D8D8D8"/>
                      </a:solidFill>
                      <a:prstDash val="solid"/>
                      <a:round/>
                      <a:headEnd type="none" w="med" len="med"/>
                      <a:tailEnd type="none" w="med" len="med"/>
                    </a:lnL>
                    <a:lnR w="7620">
                      <a:solidFill>
                        <a:srgbClr val="D8D8D8"/>
                      </a:solidFill>
                      <a:prstDash val="solid"/>
                    </a:lnR>
                    <a:lnT w="7620">
                      <a:solidFill>
                        <a:srgbClr val="D8D8D8"/>
                      </a:solidFill>
                      <a:prstDash val="solid"/>
                    </a:lnT>
                    <a:lnB w="7620">
                      <a:solidFill>
                        <a:srgbClr val="D8D8D8"/>
                      </a:solidFill>
                      <a:prstDash val="solid"/>
                    </a:lnB>
                    <a:solidFill>
                      <a:srgbClr val="822433"/>
                    </a:solidFill>
                  </a:tcPr>
                </a:tc>
                <a:extLst>
                  <a:ext uri="{0D108BD9-81ED-4DB2-BD59-A6C34878D82A}">
                    <a16:rowId xmlns:a16="http://schemas.microsoft.com/office/drawing/2014/main" val="10000"/>
                  </a:ext>
                </a:extLst>
              </a:tr>
              <a:tr h="704850">
                <a:tc>
                  <a:txBody>
                    <a:bodyPr/>
                    <a:lstStyle/>
                    <a:p>
                      <a:r>
                        <a:rPr sz="1875">
                          <a:solidFill>
                            <a:srgbClr val="202124"/>
                          </a:solidFill>
                          <a:latin typeface="Roboto"/>
                          <a:ea typeface="Roboto"/>
                          <a:cs typeface="Roboto"/>
                        </a:rPr>
                        <a:t>4.997</a:t>
                      </a:r>
                    </a:p>
                  </a:txBody>
                  <a:tcPr marL="133350" marR="133350" marT="114300" marB="95250" anchor="ctr">
                    <a:lnL w="7620">
                      <a:solidFill>
                        <a:srgbClr val="D8D8D8"/>
                      </a:solidFill>
                      <a:prstDash val="solid"/>
                    </a:lnL>
                    <a:lnR w="7620">
                      <a:solidFill>
                        <a:srgbClr val="D8D8D8"/>
                      </a:solidFill>
                      <a:prstDash val="solid"/>
                    </a:lnR>
                    <a:lnT w="7620" cap="flat" cmpd="sng" algn="ctr">
                      <a:solidFill>
                        <a:srgbClr val="D8D8D8"/>
                      </a:solidFill>
                      <a:prstDash val="solid"/>
                      <a:round/>
                      <a:headEnd type="none" w="med" len="med"/>
                      <a:tailEnd type="none" w="med" len="med"/>
                    </a:lnT>
                    <a:lnB w="7620">
                      <a:solidFill>
                        <a:srgbClr val="D8D8D8"/>
                      </a:solidFill>
                      <a:prstDash val="solid"/>
                    </a:lnB>
                    <a:solidFill>
                      <a:srgbClr val="FFFFFF"/>
                    </a:solidFill>
                  </a:tcPr>
                </a:tc>
                <a:tc>
                  <a:txBody>
                    <a:bodyPr/>
                    <a:lstStyle/>
                    <a:p>
                      <a:r>
                        <a:rPr sz="1875">
                          <a:solidFill>
                            <a:srgbClr val="202124"/>
                          </a:solidFill>
                          <a:latin typeface="Roboto"/>
                          <a:ea typeface="Roboto"/>
                          <a:cs typeface="Roboto"/>
                        </a:rPr>
                        <a:t>200</a:t>
                      </a:r>
                    </a:p>
                  </a:txBody>
                  <a:tcPr marL="133350" marR="133350" marT="114300" marB="95250" anchor="ctr">
                    <a:lnL w="7620" cap="flat" cmpd="sng" algn="ctr">
                      <a:solidFill>
                        <a:srgbClr val="D8D8D8"/>
                      </a:solidFill>
                      <a:prstDash val="solid"/>
                      <a:round/>
                      <a:headEnd type="none" w="med" len="med"/>
                      <a:tailEnd type="none" w="med" len="med"/>
                    </a:lnL>
                    <a:lnR w="7620">
                      <a:solidFill>
                        <a:srgbClr val="D8D8D8"/>
                      </a:solidFill>
                      <a:prstDash val="solid"/>
                    </a:lnR>
                    <a:lnT w="7620" cap="flat" cmpd="sng" algn="ctr">
                      <a:solidFill>
                        <a:srgbClr val="D8D8D8"/>
                      </a:solidFill>
                      <a:prstDash val="solid"/>
                      <a:round/>
                      <a:headEnd type="none" w="med" len="med"/>
                      <a:tailEnd type="none" w="med" len="med"/>
                    </a:lnT>
                    <a:lnB w="7620">
                      <a:solidFill>
                        <a:srgbClr val="D8D8D8"/>
                      </a:solidFill>
                      <a:prstDash val="solid"/>
                    </a:lnB>
                    <a:solidFill>
                      <a:srgbClr val="FFFFFF"/>
                    </a:solidFill>
                  </a:tcPr>
                </a:tc>
                <a:tc>
                  <a:txBody>
                    <a:bodyPr/>
                    <a:lstStyle/>
                    <a:p>
                      <a:r>
                        <a:rPr sz="1875">
                          <a:solidFill>
                            <a:srgbClr val="202124"/>
                          </a:solidFill>
                          <a:latin typeface="Roboto"/>
                          <a:ea typeface="Roboto"/>
                          <a:cs typeface="Roboto"/>
                        </a:rPr>
                        <a:t>800</a:t>
                      </a:r>
                    </a:p>
                  </a:txBody>
                  <a:tcPr marL="133350" marR="133350" marT="114300" marB="95250" anchor="ctr">
                    <a:lnL w="7620" cap="flat" cmpd="sng" algn="ctr">
                      <a:solidFill>
                        <a:srgbClr val="D8D8D8"/>
                      </a:solidFill>
                      <a:prstDash val="solid"/>
                      <a:round/>
                      <a:headEnd type="none" w="med" len="med"/>
                      <a:tailEnd type="none" w="med" len="med"/>
                    </a:lnL>
                    <a:lnR w="7620">
                      <a:solidFill>
                        <a:srgbClr val="D8D8D8"/>
                      </a:solidFill>
                      <a:prstDash val="solid"/>
                    </a:lnR>
                    <a:lnT w="7620" cap="flat" cmpd="sng" algn="ctr">
                      <a:solidFill>
                        <a:srgbClr val="D8D8D8"/>
                      </a:solidFill>
                      <a:prstDash val="solid"/>
                      <a:round/>
                      <a:headEnd type="none" w="med" len="med"/>
                      <a:tailEnd type="none" w="med" len="med"/>
                    </a:lnT>
                    <a:lnB w="7620">
                      <a:solidFill>
                        <a:srgbClr val="D8D8D8"/>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8" name="target-categories">
            <a:extLst>
              <a:ext uri="{FF2B5EF4-FFF2-40B4-BE49-F238E27FC236}">
                <a16:creationId xmlns:a16="http://schemas.microsoft.com/office/drawing/2014/main" id="{F3F0CD38-D968-4A79-B8FE-BFBC545FD5F0}"/>
              </a:ext>
            </a:extLst>
          </p:cNvPr>
          <p:cNvSpPr>
            <a:spLocks noGrp="1"/>
          </p:cNvSpPr>
          <p:nvPr/>
        </p:nvSpPr>
        <p:spPr>
          <a:xfrm>
            <a:off x="952500" y="4429125"/>
            <a:ext cx="10001250" cy="885825"/>
          </a:xfrm>
          <a:prstGeom prst="rect">
            <a:avLst/>
          </a:prstGeom>
          <a:noFill/>
          <a:ln w="0">
            <a:noFill/>
          </a:ln>
        </p:spPr>
        <p:txBody>
          <a:bodyPr wrap="square" lIns="0" tIns="0" rIns="0" bIns="0" anchor="t">
            <a:noAutofit/>
          </a:bodyPr>
          <a:lstStyle>
            <a:defPPr algn="l">
              <a:defRPr sz="2175" b="0">
                <a:solidFill>
                  <a:srgbClr val="202124"/>
                </a:solidFill>
                <a:latin typeface="Roboto"/>
                <a:ea typeface="Roboto"/>
                <a:cs typeface="Roboto"/>
              </a:defRPr>
            </a:defPPr>
            <a:lvl1pPr algn="l">
              <a:defRPr sz="2175" b="0">
                <a:solidFill>
                  <a:srgbClr val="202124"/>
                </a:solidFill>
                <a:latin typeface="Roboto"/>
                <a:ea typeface="Roboto"/>
                <a:cs typeface="Roboto"/>
              </a:defRPr>
            </a:lvl1pPr>
            <a:lvl2pPr algn="l">
              <a:defRPr sz="2175" b="0">
                <a:solidFill>
                  <a:srgbClr val="202124"/>
                </a:solidFill>
                <a:latin typeface="Roboto"/>
                <a:ea typeface="Roboto"/>
                <a:cs typeface="Roboto"/>
              </a:defRPr>
            </a:lvl2pPr>
            <a:lvl3pPr algn="l">
              <a:defRPr sz="2175" b="0">
                <a:solidFill>
                  <a:srgbClr val="202124"/>
                </a:solidFill>
                <a:latin typeface="Roboto"/>
                <a:ea typeface="Roboto"/>
                <a:cs typeface="Roboto"/>
              </a:defRPr>
            </a:lvl3pPr>
            <a:lvl4pPr algn="l">
              <a:defRPr sz="2175" b="0">
                <a:solidFill>
                  <a:srgbClr val="202124"/>
                </a:solidFill>
                <a:latin typeface="Roboto"/>
                <a:ea typeface="Roboto"/>
                <a:cs typeface="Roboto"/>
              </a:defRPr>
            </a:lvl4pPr>
            <a:lvl5pPr algn="l">
              <a:defRPr sz="2175" b="0">
                <a:solidFill>
                  <a:srgbClr val="202124"/>
                </a:solidFill>
                <a:latin typeface="Roboto"/>
                <a:ea typeface="Roboto"/>
                <a:cs typeface="Roboto"/>
              </a:defRPr>
            </a:lvl5pPr>
            <a:lvl6pPr algn="l">
              <a:defRPr sz="2175" b="0">
                <a:solidFill>
                  <a:srgbClr val="202124"/>
                </a:solidFill>
                <a:latin typeface="Roboto"/>
                <a:ea typeface="Roboto"/>
                <a:cs typeface="Roboto"/>
              </a:defRPr>
            </a:lvl6pPr>
            <a:lvl7pPr algn="l">
              <a:defRPr sz="2175" b="0">
                <a:solidFill>
                  <a:srgbClr val="202124"/>
                </a:solidFill>
                <a:latin typeface="Roboto"/>
                <a:ea typeface="Roboto"/>
                <a:cs typeface="Roboto"/>
              </a:defRPr>
            </a:lvl7pPr>
            <a:lvl8pPr algn="l">
              <a:defRPr sz="2175" b="0">
                <a:solidFill>
                  <a:srgbClr val="202124"/>
                </a:solidFill>
                <a:latin typeface="Roboto"/>
                <a:ea typeface="Roboto"/>
                <a:cs typeface="Roboto"/>
              </a:defRPr>
            </a:lvl8pPr>
            <a:lvl9pPr algn="l">
              <a:defRPr sz="2175" b="0">
                <a:solidFill>
                  <a:srgbClr val="202124"/>
                </a:solidFill>
                <a:latin typeface="Roboto"/>
                <a:ea typeface="Roboto"/>
                <a:cs typeface="Roboto"/>
              </a:defRPr>
            </a:lvl9pPr>
          </a:lstStyle>
          <a:p>
            <a:pPr algn="l">
              <a:defRPr sz="2175" b="0">
                <a:solidFill>
                  <a:srgbClr val="202124"/>
                </a:solidFill>
                <a:latin typeface="Roboto"/>
                <a:ea typeface="Roboto"/>
                <a:cs typeface="Roboto"/>
              </a:defRPr>
            </a:pPr>
            <a:r>
              <a:rPr sz="2175" b="0">
                <a:solidFill>
                  <a:srgbClr val="202124"/>
                </a:solidFill>
                <a:latin typeface="Roboto"/>
                <a:ea typeface="Roboto"/>
                <a:cs typeface="Roboto"/>
              </a:rPr>
              <a:t>Bedrock, Hole, Ridge, Rock, Rover,</a:t>
            </a:r>
          </a:p>
          <a:p>
            <a:pPr algn="l">
              <a:defRPr sz="2175" b="0">
                <a:solidFill>
                  <a:srgbClr val="202124"/>
                </a:solidFill>
                <a:latin typeface="Roboto"/>
                <a:ea typeface="Roboto"/>
                <a:cs typeface="Roboto"/>
              </a:defRPr>
            </a:pPr>
            <a:r>
              <a:rPr sz="2175" b="0">
                <a:solidFill>
                  <a:srgbClr val="202124"/>
                </a:solidFill>
                <a:latin typeface="Roboto"/>
                <a:ea typeface="Roboto"/>
                <a:cs typeface="Roboto"/>
              </a:rPr>
              <a:t>Sand/Soil, Sky, Track</a:t>
            </a:r>
          </a:p>
        </p:txBody>
      </p:sp>
      <p:sp>
        <p:nvSpPr>
          <p:cNvPr id="9" name="dataset-detail">
            <a:extLst>
              <a:ext uri="{FF2B5EF4-FFF2-40B4-BE49-F238E27FC236}">
                <a16:creationId xmlns:a16="http://schemas.microsoft.com/office/drawing/2014/main" id="{E0E99242-8F69-480A-BFFC-798EE3B75269}"/>
              </a:ext>
            </a:extLst>
          </p:cNvPr>
          <p:cNvSpPr>
            <a:spLocks noGrp="1"/>
          </p:cNvSpPr>
          <p:nvPr/>
        </p:nvSpPr>
        <p:spPr>
          <a:xfrm>
            <a:off x="952500" y="5581650"/>
            <a:ext cx="10001250" cy="352425"/>
          </a:xfrm>
          <a:prstGeom prst="rect">
            <a:avLst/>
          </a:prstGeom>
          <a:noFill/>
          <a:ln w="0">
            <a:noFill/>
          </a:ln>
        </p:spPr>
        <p:txBody>
          <a:bodyPr wrap="square" lIns="0" tIns="0" rIns="0" bIns="0" anchor="t">
            <a:noAutofit/>
          </a:bodyPr>
          <a:lstStyle>
            <a:defPPr algn="l">
              <a:defRPr sz="2025" b="0">
                <a:solidFill>
                  <a:srgbClr val="62666B"/>
                </a:solidFill>
                <a:latin typeface="Roboto"/>
                <a:ea typeface="Roboto"/>
                <a:cs typeface="Roboto"/>
              </a:defRPr>
            </a:defPPr>
            <a:lvl1pPr algn="l">
              <a:defRPr sz="2025" b="0">
                <a:solidFill>
                  <a:srgbClr val="62666B"/>
                </a:solidFill>
                <a:latin typeface="Roboto"/>
                <a:ea typeface="Roboto"/>
                <a:cs typeface="Roboto"/>
              </a:defRPr>
            </a:lvl1pPr>
            <a:lvl2pPr algn="l">
              <a:defRPr sz="2025" b="0">
                <a:solidFill>
                  <a:srgbClr val="62666B"/>
                </a:solidFill>
                <a:latin typeface="Roboto"/>
                <a:ea typeface="Roboto"/>
                <a:cs typeface="Roboto"/>
              </a:defRPr>
            </a:lvl2pPr>
            <a:lvl3pPr algn="l">
              <a:defRPr sz="2025" b="0">
                <a:solidFill>
                  <a:srgbClr val="62666B"/>
                </a:solidFill>
                <a:latin typeface="Roboto"/>
                <a:ea typeface="Roboto"/>
                <a:cs typeface="Roboto"/>
              </a:defRPr>
            </a:lvl3pPr>
            <a:lvl4pPr algn="l">
              <a:defRPr sz="2025" b="0">
                <a:solidFill>
                  <a:srgbClr val="62666B"/>
                </a:solidFill>
                <a:latin typeface="Roboto"/>
                <a:ea typeface="Roboto"/>
                <a:cs typeface="Roboto"/>
              </a:defRPr>
            </a:lvl4pPr>
            <a:lvl5pPr algn="l">
              <a:defRPr sz="2025" b="0">
                <a:solidFill>
                  <a:srgbClr val="62666B"/>
                </a:solidFill>
                <a:latin typeface="Roboto"/>
                <a:ea typeface="Roboto"/>
                <a:cs typeface="Roboto"/>
              </a:defRPr>
            </a:lvl5pPr>
            <a:lvl6pPr algn="l">
              <a:defRPr sz="2025" b="0">
                <a:solidFill>
                  <a:srgbClr val="62666B"/>
                </a:solidFill>
                <a:latin typeface="Roboto"/>
                <a:ea typeface="Roboto"/>
                <a:cs typeface="Roboto"/>
              </a:defRPr>
            </a:lvl6pPr>
            <a:lvl7pPr algn="l">
              <a:defRPr sz="2025" b="0">
                <a:solidFill>
                  <a:srgbClr val="62666B"/>
                </a:solidFill>
                <a:latin typeface="Roboto"/>
                <a:ea typeface="Roboto"/>
                <a:cs typeface="Roboto"/>
              </a:defRPr>
            </a:lvl7pPr>
            <a:lvl8pPr algn="l">
              <a:defRPr sz="2025" b="0">
                <a:solidFill>
                  <a:srgbClr val="62666B"/>
                </a:solidFill>
                <a:latin typeface="Roboto"/>
                <a:ea typeface="Roboto"/>
                <a:cs typeface="Roboto"/>
              </a:defRPr>
            </a:lvl8pPr>
            <a:lvl9pPr algn="l">
              <a:defRPr sz="2025" b="0">
                <a:solidFill>
                  <a:srgbClr val="62666B"/>
                </a:solidFill>
                <a:latin typeface="Roboto"/>
                <a:ea typeface="Roboto"/>
                <a:cs typeface="Roboto"/>
              </a:defRPr>
            </a:lvl9pPr>
          </a:lstStyle>
          <a:p>
            <a:pPr algn="l">
              <a:defRPr sz="2025" b="0">
                <a:solidFill>
                  <a:srgbClr val="62666B"/>
                </a:solidFill>
                <a:latin typeface="Roboto"/>
                <a:ea typeface="Roboto"/>
                <a:cs typeface="Roboto"/>
              </a:defRPr>
            </a:pPr>
            <a:r>
              <a:rPr sz="2025" b="0">
                <a:solidFill>
                  <a:srgbClr val="62666B"/>
                </a:solidFill>
                <a:latin typeface="Roboto"/>
                <a:ea typeface="Roboto"/>
                <a:cs typeface="Roboto"/>
              </a:rPr>
              <a:t>Annotazioni sparse e split predefiniti</a:t>
            </a:r>
          </a:p>
        </p:txBody>
      </p:sp>
    </p:spTree>
    <p:extLst>
      <p:ext uri="{BB962C8B-B14F-4D97-AF65-F5344CB8AC3E}">
        <p14:creationId xmlns:p14="http://schemas.microsoft.com/office/powerpoint/2010/main" val="222343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C0E1AC76-90F8-48BA-AA61-9E4E1CF3074E}"/>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Le architetture confrontate</a:t>
            </a:r>
          </a:p>
        </p:txBody>
      </p:sp>
      <p:sp>
        <p:nvSpPr>
          <p:cNvPr id="2" name="template-footer">
            <a:extLst>
              <a:ext uri="{FF2B5EF4-FFF2-40B4-BE49-F238E27FC236}">
                <a16:creationId xmlns:a16="http://schemas.microsoft.com/office/drawing/2014/main" id="{B4B85723-B82A-4D3A-911B-FB1B3DE6FB22}"/>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AE8806D4-2BA1-4404-91D4-91F7F2AADC6B}"/>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FC66B0ED-40A3-4218-AA15-D8CE93DD7C3F}"/>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7/28</a:t>
            </a:r>
          </a:p>
        </p:txBody>
      </p:sp>
      <p:sp>
        <p:nvSpPr>
          <p:cNvPr id="5" name="source-citations">
            <a:extLst>
              <a:ext uri="{FF2B5EF4-FFF2-40B4-BE49-F238E27FC236}">
                <a16:creationId xmlns:a16="http://schemas.microsoft.com/office/drawing/2014/main" id="{B75A05BB-D7BC-46B4-95B1-9E4FA21B61CC}"/>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[6] [7] [8] [9] [10]</a:t>
            </a:r>
          </a:p>
        </p:txBody>
      </p:sp>
      <p:graphicFrame>
        <p:nvGraphicFramePr>
          <p:cNvPr id="6" name="Tabella 5">
            <a:extLst>
              <a:ext uri="{FF2B5EF4-FFF2-40B4-BE49-F238E27FC236}">
                <a16:creationId xmlns:a16="http://schemas.microsoft.com/office/drawing/2014/main" id="{BFDBC97D-F647-496A-9B7B-5F319D74A24D}"/>
              </a:ext>
            </a:extLst>
          </p:cNvPr>
          <p:cNvGraphicFramePr/>
          <p:nvPr/>
        </p:nvGraphicFramePr>
        <p:xfrm>
          <a:off x="952500" y="1590675"/>
          <a:ext cx="9858375" cy="3314700"/>
        </p:xfrm>
        <a:graphic>
          <a:graphicData uri="http://schemas.openxmlformats.org/drawingml/2006/table">
            <a:tbl>
              <a:tblPr firstRow="1"/>
              <a:tblGrid>
                <a:gridCol w="2857500">
                  <a:extLst>
                    <a:ext uri="{9D8B030D-6E8A-4147-A177-3AD203B41FA5}">
                      <a16:colId xmlns:a16="http://schemas.microsoft.com/office/drawing/2014/main" val="20000"/>
                    </a:ext>
                  </a:extLst>
                </a:gridCol>
                <a:gridCol w="7000875">
                  <a:extLst>
                    <a:ext uri="{9D8B030D-6E8A-4147-A177-3AD203B41FA5}">
                      <a16:colId xmlns:a16="http://schemas.microsoft.com/office/drawing/2014/main" val="20001"/>
                    </a:ext>
                  </a:extLst>
                </a:gridCol>
              </a:tblGrid>
              <a:tr h="662940">
                <a:tc>
                  <a:txBody>
                    <a:bodyPr/>
                    <a:lstStyle/>
                    <a:p>
                      <a:r>
                        <a:rPr sz="1875" b="1">
                          <a:solidFill>
                            <a:srgbClr val="FFFFFF"/>
                          </a:solidFill>
                          <a:latin typeface="Roboto"/>
                          <a:ea typeface="Roboto"/>
                          <a:cs typeface="Roboto"/>
                        </a:rPr>
                        <a:t>Famiglia</a:t>
                      </a:r>
                    </a:p>
                  </a:txBody>
                  <a:tcPr marL="133350" marR="133350" marT="114300" marB="95250" anchor="ctr">
                    <a:lnL w="7620">
                      <a:solidFill>
                        <a:srgbClr val="D8D8D8"/>
                      </a:solidFill>
                      <a:prstDash val="solid"/>
                    </a:lnL>
                    <a:lnR w="7620">
                      <a:solidFill>
                        <a:srgbClr val="D8D8D8"/>
                      </a:solidFill>
                      <a:prstDash val="solid"/>
                    </a:lnR>
                    <a:lnT w="7620">
                      <a:solidFill>
                        <a:srgbClr val="D8D8D8"/>
                      </a:solidFill>
                      <a:prstDash val="solid"/>
                    </a:lnT>
                    <a:lnB w="7620">
                      <a:solidFill>
                        <a:srgbClr val="D8D8D8"/>
                      </a:solidFill>
                      <a:prstDash val="solid"/>
                    </a:lnB>
                    <a:solidFill>
                      <a:srgbClr val="822433"/>
                    </a:solidFill>
                  </a:tcPr>
                </a:tc>
                <a:tc>
                  <a:txBody>
                    <a:bodyPr/>
                    <a:lstStyle/>
                    <a:p>
                      <a:r>
                        <a:rPr sz="1875" b="1">
                          <a:solidFill>
                            <a:srgbClr val="FFFFFF"/>
                          </a:solidFill>
                          <a:latin typeface="Roboto"/>
                          <a:ea typeface="Roboto"/>
                          <a:cs typeface="Roboto"/>
                        </a:rPr>
                        <a:t>Configurazioni</a:t>
                      </a:r>
                    </a:p>
                  </a:txBody>
                  <a:tcPr marL="133350" marR="133350" marT="114300" marB="95250" anchor="ctr">
                    <a:lnL w="7620" cap="flat" cmpd="sng" algn="ctr">
                      <a:solidFill>
                        <a:srgbClr val="D8D8D8"/>
                      </a:solidFill>
                      <a:prstDash val="solid"/>
                      <a:round/>
                      <a:headEnd type="none" w="med" len="med"/>
                      <a:tailEnd type="none" w="med" len="med"/>
                    </a:lnL>
                    <a:lnR w="7620">
                      <a:solidFill>
                        <a:srgbClr val="D8D8D8"/>
                      </a:solidFill>
                      <a:prstDash val="solid"/>
                    </a:lnR>
                    <a:lnT w="7620">
                      <a:solidFill>
                        <a:srgbClr val="D8D8D8"/>
                      </a:solidFill>
                      <a:prstDash val="solid"/>
                    </a:lnT>
                    <a:lnB w="7620">
                      <a:solidFill>
                        <a:srgbClr val="D8D8D8"/>
                      </a:solidFill>
                      <a:prstDash val="solid"/>
                    </a:lnB>
                    <a:solidFill>
                      <a:srgbClr val="822433"/>
                    </a:solidFill>
                  </a:tcPr>
                </a:tc>
                <a:extLst>
                  <a:ext uri="{0D108BD9-81ED-4DB2-BD59-A6C34878D82A}">
                    <a16:rowId xmlns:a16="http://schemas.microsoft.com/office/drawing/2014/main" val="10000"/>
                  </a:ext>
                </a:extLst>
              </a:tr>
              <a:tr h="662940">
                <a:tc>
                  <a:txBody>
                    <a:bodyPr/>
                    <a:lstStyle/>
                    <a:p>
                      <a:r>
                        <a:rPr sz="1875">
                          <a:solidFill>
                            <a:srgbClr val="202124"/>
                          </a:solidFill>
                          <a:latin typeface="Roboto"/>
                          <a:ea typeface="Roboto"/>
                          <a:cs typeface="Roboto"/>
                        </a:rPr>
                        <a:t>U-Net</a:t>
                      </a:r>
                    </a:p>
                  </a:txBody>
                  <a:tcPr marL="133350" marR="133350" marT="114300" marB="95250" anchor="ctr">
                    <a:lnL w="7620">
                      <a:solidFill>
                        <a:srgbClr val="D8D8D8"/>
                      </a:solidFill>
                      <a:prstDash val="solid"/>
                    </a:lnL>
                    <a:lnR w="7620">
                      <a:solidFill>
                        <a:srgbClr val="D8D8D8"/>
                      </a:solidFill>
                      <a:prstDash val="solid"/>
                    </a:lnR>
                    <a:lnT w="7620" cap="flat" cmpd="sng" algn="ctr">
                      <a:solidFill>
                        <a:srgbClr val="D8D8D8"/>
                      </a:solidFill>
                      <a:prstDash val="solid"/>
                      <a:round/>
                      <a:headEnd type="none" w="med" len="med"/>
                      <a:tailEnd type="none" w="med" len="med"/>
                    </a:lnT>
                    <a:lnB w="7620">
                      <a:solidFill>
                        <a:srgbClr val="D8D8D8"/>
                      </a:solidFill>
                      <a:prstDash val="solid"/>
                    </a:lnB>
                    <a:solidFill>
                      <a:srgbClr val="FFFFFF"/>
                    </a:solidFill>
                  </a:tcPr>
                </a:tc>
                <a:tc>
                  <a:txBody>
                    <a:bodyPr/>
                    <a:lstStyle/>
                    <a:p>
                      <a:r>
                        <a:rPr sz="1875">
                          <a:solidFill>
                            <a:srgbClr val="202124"/>
                          </a:solidFill>
                          <a:latin typeface="Roboto"/>
                          <a:ea typeface="Roboto"/>
                          <a:cs typeface="Roboto"/>
                        </a:rPr>
                        <a:t>ResNet34 / MobileNetV2</a:t>
                      </a:r>
                    </a:p>
                  </a:txBody>
                  <a:tcPr marL="133350" marR="133350" marT="114300" marB="95250" anchor="ctr">
                    <a:lnL w="7620" cap="flat" cmpd="sng" algn="ctr">
                      <a:solidFill>
                        <a:srgbClr val="D8D8D8"/>
                      </a:solidFill>
                      <a:prstDash val="solid"/>
                      <a:round/>
                      <a:headEnd type="none" w="med" len="med"/>
                      <a:tailEnd type="none" w="med" len="med"/>
                    </a:lnL>
                    <a:lnR w="7620">
                      <a:solidFill>
                        <a:srgbClr val="D8D8D8"/>
                      </a:solidFill>
                      <a:prstDash val="solid"/>
                    </a:lnR>
                    <a:lnT w="7620" cap="flat" cmpd="sng" algn="ctr">
                      <a:solidFill>
                        <a:srgbClr val="D8D8D8"/>
                      </a:solidFill>
                      <a:prstDash val="solid"/>
                      <a:round/>
                      <a:headEnd type="none" w="med" len="med"/>
                      <a:tailEnd type="none" w="med" len="med"/>
                    </a:lnT>
                    <a:lnB w="7620">
                      <a:solidFill>
                        <a:srgbClr val="D8D8D8"/>
                      </a:solidFill>
                      <a:prstDash val="solid"/>
                    </a:lnB>
                    <a:solidFill>
                      <a:srgbClr val="FFFFFF"/>
                    </a:solidFill>
                  </a:tcPr>
                </a:tc>
                <a:extLst>
                  <a:ext uri="{0D108BD9-81ED-4DB2-BD59-A6C34878D82A}">
                    <a16:rowId xmlns:a16="http://schemas.microsoft.com/office/drawing/2014/main" val="10001"/>
                  </a:ext>
                </a:extLst>
              </a:tr>
              <a:tr h="662940">
                <a:tc>
                  <a:txBody>
                    <a:bodyPr/>
                    <a:lstStyle/>
                    <a:p>
                      <a:r>
                        <a:rPr sz="1875">
                          <a:solidFill>
                            <a:srgbClr val="202124"/>
                          </a:solidFill>
                          <a:latin typeface="Roboto"/>
                          <a:ea typeface="Roboto"/>
                          <a:cs typeface="Roboto"/>
                        </a:rPr>
                        <a:t>DeepLab</a:t>
                      </a:r>
                    </a:p>
                  </a:txBody>
                  <a:tcPr marL="133350" marR="133350" marT="114300" marB="95250" anchor="ctr">
                    <a:lnL w="7620">
                      <a:solidFill>
                        <a:srgbClr val="D8D8D8"/>
                      </a:solidFill>
                      <a:prstDash val="solid"/>
                    </a:lnL>
                    <a:lnR w="7620">
                      <a:solidFill>
                        <a:srgbClr val="D8D8D8"/>
                      </a:solidFill>
                      <a:prstDash val="solid"/>
                    </a:lnR>
                    <a:lnT w="7620" cap="flat" cmpd="sng" algn="ctr">
                      <a:solidFill>
                        <a:srgbClr val="D8D8D8"/>
                      </a:solidFill>
                      <a:prstDash val="solid"/>
                      <a:round/>
                      <a:headEnd type="none" w="med" len="med"/>
                      <a:tailEnd type="none" w="med" len="med"/>
                    </a:lnT>
                    <a:lnB w="7620">
                      <a:solidFill>
                        <a:srgbClr val="D8D8D8"/>
                      </a:solidFill>
                      <a:prstDash val="solid"/>
                    </a:lnB>
                    <a:solidFill>
                      <a:srgbClr val="FFFFFF"/>
                    </a:solidFill>
                  </a:tcPr>
                </a:tc>
                <a:tc>
                  <a:txBody>
                    <a:bodyPr/>
                    <a:lstStyle/>
                    <a:p>
                      <a:r>
                        <a:rPr sz="1875">
                          <a:solidFill>
                            <a:srgbClr val="202124"/>
                          </a:solidFill>
                          <a:latin typeface="Roboto"/>
                          <a:ea typeface="Roboto"/>
                          <a:cs typeface="Roboto"/>
                        </a:rPr>
                        <a:t>V3–ResNet34 / V3+–MobileNetV2</a:t>
                      </a:r>
                    </a:p>
                  </a:txBody>
                  <a:tcPr marL="133350" marR="133350" marT="114300" marB="95250" anchor="ctr">
                    <a:lnL w="7620" cap="flat" cmpd="sng" algn="ctr">
                      <a:solidFill>
                        <a:srgbClr val="D8D8D8"/>
                      </a:solidFill>
                      <a:prstDash val="solid"/>
                      <a:round/>
                      <a:headEnd type="none" w="med" len="med"/>
                      <a:tailEnd type="none" w="med" len="med"/>
                    </a:lnL>
                    <a:lnR w="7620">
                      <a:solidFill>
                        <a:srgbClr val="D8D8D8"/>
                      </a:solidFill>
                      <a:prstDash val="solid"/>
                    </a:lnR>
                    <a:lnT w="7620" cap="flat" cmpd="sng" algn="ctr">
                      <a:solidFill>
                        <a:srgbClr val="D8D8D8"/>
                      </a:solidFill>
                      <a:prstDash val="solid"/>
                      <a:round/>
                      <a:headEnd type="none" w="med" len="med"/>
                      <a:tailEnd type="none" w="med" len="med"/>
                    </a:lnT>
                    <a:lnB w="7620">
                      <a:solidFill>
                        <a:srgbClr val="D8D8D8"/>
                      </a:solidFill>
                      <a:prstDash val="solid"/>
                    </a:lnB>
                    <a:solidFill>
                      <a:srgbClr val="FFFFFF"/>
                    </a:solidFill>
                  </a:tcPr>
                </a:tc>
                <a:extLst>
                  <a:ext uri="{0D108BD9-81ED-4DB2-BD59-A6C34878D82A}">
                    <a16:rowId xmlns:a16="http://schemas.microsoft.com/office/drawing/2014/main" val="10002"/>
                  </a:ext>
                </a:extLst>
              </a:tr>
              <a:tr h="662940">
                <a:tc>
                  <a:txBody>
                    <a:bodyPr/>
                    <a:lstStyle/>
                    <a:p>
                      <a:r>
                        <a:rPr sz="1875">
                          <a:solidFill>
                            <a:srgbClr val="202124"/>
                          </a:solidFill>
                          <a:latin typeface="Roboto"/>
                          <a:ea typeface="Roboto"/>
                          <a:cs typeface="Roboto"/>
                        </a:rPr>
                        <a:t>SegFormer</a:t>
                      </a:r>
                    </a:p>
                  </a:txBody>
                  <a:tcPr marL="133350" marR="133350" marT="114300" marB="95250" anchor="ctr">
                    <a:lnL w="7620">
                      <a:solidFill>
                        <a:srgbClr val="D8D8D8"/>
                      </a:solidFill>
                      <a:prstDash val="solid"/>
                    </a:lnL>
                    <a:lnR w="7620">
                      <a:solidFill>
                        <a:srgbClr val="D8D8D8"/>
                      </a:solidFill>
                      <a:prstDash val="solid"/>
                    </a:lnR>
                    <a:lnT w="7620" cap="flat" cmpd="sng" algn="ctr">
                      <a:solidFill>
                        <a:srgbClr val="D8D8D8"/>
                      </a:solidFill>
                      <a:prstDash val="solid"/>
                      <a:round/>
                      <a:headEnd type="none" w="med" len="med"/>
                      <a:tailEnd type="none" w="med" len="med"/>
                    </a:lnT>
                    <a:lnB w="7620">
                      <a:solidFill>
                        <a:srgbClr val="D8D8D8"/>
                      </a:solidFill>
                      <a:prstDash val="solid"/>
                    </a:lnB>
                    <a:solidFill>
                      <a:srgbClr val="FFFFFF"/>
                    </a:solidFill>
                  </a:tcPr>
                </a:tc>
                <a:tc>
                  <a:txBody>
                    <a:bodyPr/>
                    <a:lstStyle/>
                    <a:p>
                      <a:r>
                        <a:rPr sz="1875">
                          <a:solidFill>
                            <a:srgbClr val="202124"/>
                          </a:solidFill>
                          <a:latin typeface="Roboto"/>
                          <a:ea typeface="Roboto"/>
                          <a:cs typeface="Roboto"/>
                        </a:rPr>
                        <a:t>B0</a:t>
                      </a:r>
                    </a:p>
                  </a:txBody>
                  <a:tcPr marL="133350" marR="133350" marT="114300" marB="95250" anchor="ctr">
                    <a:lnL w="7620" cap="flat" cmpd="sng" algn="ctr">
                      <a:solidFill>
                        <a:srgbClr val="D8D8D8"/>
                      </a:solidFill>
                      <a:prstDash val="solid"/>
                      <a:round/>
                      <a:headEnd type="none" w="med" len="med"/>
                      <a:tailEnd type="none" w="med" len="med"/>
                    </a:lnL>
                    <a:lnR w="7620">
                      <a:solidFill>
                        <a:srgbClr val="D8D8D8"/>
                      </a:solidFill>
                      <a:prstDash val="solid"/>
                    </a:lnR>
                    <a:lnT w="7620" cap="flat" cmpd="sng" algn="ctr">
                      <a:solidFill>
                        <a:srgbClr val="D8D8D8"/>
                      </a:solidFill>
                      <a:prstDash val="solid"/>
                      <a:round/>
                      <a:headEnd type="none" w="med" len="med"/>
                      <a:tailEnd type="none" w="med" len="med"/>
                    </a:lnT>
                    <a:lnB w="7620">
                      <a:solidFill>
                        <a:srgbClr val="D8D8D8"/>
                      </a:solidFill>
                      <a:prstDash val="solid"/>
                    </a:lnB>
                    <a:solidFill>
                      <a:srgbClr val="FFFFFF"/>
                    </a:solidFill>
                  </a:tcPr>
                </a:tc>
                <a:extLst>
                  <a:ext uri="{0D108BD9-81ED-4DB2-BD59-A6C34878D82A}">
                    <a16:rowId xmlns:a16="http://schemas.microsoft.com/office/drawing/2014/main" val="10003"/>
                  </a:ext>
                </a:extLst>
              </a:tr>
              <a:tr h="662940">
                <a:tc>
                  <a:txBody>
                    <a:bodyPr/>
                    <a:lstStyle/>
                    <a:p>
                      <a:r>
                        <a:rPr sz="1875">
                          <a:solidFill>
                            <a:srgbClr val="202124"/>
                          </a:solidFill>
                          <a:latin typeface="Roboto"/>
                          <a:ea typeface="Roboto"/>
                          <a:cs typeface="Roboto"/>
                        </a:rPr>
                        <a:t>LCNet</a:t>
                      </a:r>
                    </a:p>
                  </a:txBody>
                  <a:tcPr marL="133350" marR="133350" marT="114300" marB="95250" anchor="ctr">
                    <a:lnL w="7620">
                      <a:solidFill>
                        <a:srgbClr val="D8D8D8"/>
                      </a:solidFill>
                      <a:prstDash val="solid"/>
                    </a:lnL>
                    <a:lnR w="7620">
                      <a:solidFill>
                        <a:srgbClr val="D8D8D8"/>
                      </a:solidFill>
                      <a:prstDash val="solid"/>
                    </a:lnR>
                    <a:lnT w="7620" cap="flat" cmpd="sng" algn="ctr">
                      <a:solidFill>
                        <a:srgbClr val="D8D8D8"/>
                      </a:solidFill>
                      <a:prstDash val="solid"/>
                      <a:round/>
                      <a:headEnd type="none" w="med" len="med"/>
                      <a:tailEnd type="none" w="med" len="med"/>
                    </a:lnT>
                    <a:lnB w="7620">
                      <a:solidFill>
                        <a:srgbClr val="D8D8D8"/>
                      </a:solidFill>
                      <a:prstDash val="solid"/>
                    </a:lnB>
                    <a:solidFill>
                      <a:srgbClr val="FFFFFF"/>
                    </a:solidFill>
                  </a:tcPr>
                </a:tc>
                <a:tc>
                  <a:txBody>
                    <a:bodyPr/>
                    <a:lstStyle/>
                    <a:p>
                      <a:r>
                        <a:rPr sz="1875">
                          <a:solidFill>
                            <a:srgbClr val="202124"/>
                          </a:solidFill>
                          <a:latin typeface="Roboto"/>
                          <a:ea typeface="Roboto"/>
                          <a:cs typeface="Roboto"/>
                        </a:rPr>
                        <a:t>3,7 / 3,11</a:t>
                      </a:r>
                    </a:p>
                  </a:txBody>
                  <a:tcPr marL="133350" marR="133350" marT="114300" marB="95250" anchor="ctr">
                    <a:lnL w="7620" cap="flat" cmpd="sng" algn="ctr">
                      <a:solidFill>
                        <a:srgbClr val="D8D8D8"/>
                      </a:solidFill>
                      <a:prstDash val="solid"/>
                      <a:round/>
                      <a:headEnd type="none" w="med" len="med"/>
                      <a:tailEnd type="none" w="med" len="med"/>
                    </a:lnL>
                    <a:lnR w="7620">
                      <a:solidFill>
                        <a:srgbClr val="D8D8D8"/>
                      </a:solidFill>
                      <a:prstDash val="solid"/>
                    </a:lnR>
                    <a:lnT w="7620" cap="flat" cmpd="sng" algn="ctr">
                      <a:solidFill>
                        <a:srgbClr val="D8D8D8"/>
                      </a:solidFill>
                      <a:prstDash val="solid"/>
                      <a:round/>
                      <a:headEnd type="none" w="med" len="med"/>
                      <a:tailEnd type="none" w="med" len="med"/>
                    </a:lnT>
                    <a:lnB w="7620">
                      <a:solidFill>
                        <a:srgbClr val="D8D8D8"/>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7" name="model-count">
            <a:extLst>
              <a:ext uri="{FF2B5EF4-FFF2-40B4-BE49-F238E27FC236}">
                <a16:creationId xmlns:a16="http://schemas.microsoft.com/office/drawing/2014/main" id="{96FB3C92-EF3D-40B0-B051-36876DCD622A}"/>
              </a:ext>
            </a:extLst>
          </p:cNvPr>
          <p:cNvSpPr>
            <a:spLocks noGrp="1"/>
          </p:cNvSpPr>
          <p:nvPr/>
        </p:nvSpPr>
        <p:spPr>
          <a:xfrm>
            <a:off x="952500" y="5314950"/>
            <a:ext cx="9715500" cy="476250"/>
          </a:xfrm>
          <a:prstGeom prst="rect">
            <a:avLst/>
          </a:prstGeom>
          <a:noFill/>
          <a:ln w="0">
            <a:noFill/>
          </a:ln>
        </p:spPr>
        <p:txBody>
          <a:bodyPr wrap="square" lIns="0" tIns="0" rIns="0" bIns="0" anchor="t">
            <a:noAutofit/>
          </a:bodyPr>
          <a:lstStyle>
            <a:defPPr algn="l">
              <a:defRPr sz="2475" b="1">
                <a:solidFill>
                  <a:srgbClr val="822433"/>
                </a:solidFill>
                <a:latin typeface="Roboto"/>
                <a:ea typeface="Roboto"/>
                <a:cs typeface="Roboto"/>
              </a:defRPr>
            </a:defPPr>
            <a:lvl1pPr algn="l">
              <a:defRPr sz="2475" b="1">
                <a:solidFill>
                  <a:srgbClr val="822433"/>
                </a:solidFill>
                <a:latin typeface="Roboto"/>
                <a:ea typeface="Roboto"/>
                <a:cs typeface="Roboto"/>
              </a:defRPr>
            </a:lvl1pPr>
            <a:lvl2pPr algn="l">
              <a:defRPr sz="2475" b="1">
                <a:solidFill>
                  <a:srgbClr val="822433"/>
                </a:solidFill>
                <a:latin typeface="Roboto"/>
                <a:ea typeface="Roboto"/>
                <a:cs typeface="Roboto"/>
              </a:defRPr>
            </a:lvl2pPr>
            <a:lvl3pPr algn="l">
              <a:defRPr sz="2475" b="1">
                <a:solidFill>
                  <a:srgbClr val="822433"/>
                </a:solidFill>
                <a:latin typeface="Roboto"/>
                <a:ea typeface="Roboto"/>
                <a:cs typeface="Roboto"/>
              </a:defRPr>
            </a:lvl3pPr>
            <a:lvl4pPr algn="l">
              <a:defRPr sz="2475" b="1">
                <a:solidFill>
                  <a:srgbClr val="822433"/>
                </a:solidFill>
                <a:latin typeface="Roboto"/>
                <a:ea typeface="Roboto"/>
                <a:cs typeface="Roboto"/>
              </a:defRPr>
            </a:lvl4pPr>
            <a:lvl5pPr algn="l">
              <a:defRPr sz="2475" b="1">
                <a:solidFill>
                  <a:srgbClr val="822433"/>
                </a:solidFill>
                <a:latin typeface="Roboto"/>
                <a:ea typeface="Roboto"/>
                <a:cs typeface="Roboto"/>
              </a:defRPr>
            </a:lvl5pPr>
            <a:lvl6pPr algn="l">
              <a:defRPr sz="2475" b="1">
                <a:solidFill>
                  <a:srgbClr val="822433"/>
                </a:solidFill>
                <a:latin typeface="Roboto"/>
                <a:ea typeface="Roboto"/>
                <a:cs typeface="Roboto"/>
              </a:defRPr>
            </a:lvl6pPr>
            <a:lvl7pPr algn="l">
              <a:defRPr sz="2475" b="1">
                <a:solidFill>
                  <a:srgbClr val="822433"/>
                </a:solidFill>
                <a:latin typeface="Roboto"/>
                <a:ea typeface="Roboto"/>
                <a:cs typeface="Roboto"/>
              </a:defRPr>
            </a:lvl7pPr>
            <a:lvl8pPr algn="l">
              <a:defRPr sz="2475" b="1">
                <a:solidFill>
                  <a:srgbClr val="822433"/>
                </a:solidFill>
                <a:latin typeface="Roboto"/>
                <a:ea typeface="Roboto"/>
                <a:cs typeface="Roboto"/>
              </a:defRPr>
            </a:lvl8pPr>
            <a:lvl9pPr algn="l">
              <a:defRPr sz="2475" b="1">
                <a:solidFill>
                  <a:srgbClr val="822433"/>
                </a:solidFill>
                <a:latin typeface="Roboto"/>
                <a:ea typeface="Roboto"/>
                <a:cs typeface="Roboto"/>
              </a:defRPr>
            </a:lvl9pPr>
          </a:lstStyle>
          <a:p>
            <a:pPr algn="l">
              <a:defRPr sz="2475" b="1">
                <a:solidFill>
                  <a:srgbClr val="822433"/>
                </a:solidFill>
                <a:latin typeface="Roboto"/>
                <a:ea typeface="Roboto"/>
                <a:cs typeface="Roboto"/>
              </a:defRPr>
            </a:pPr>
            <a:r>
              <a:rPr sz="2475" b="1">
                <a:solidFill>
                  <a:srgbClr val="822433"/>
                </a:solidFill>
                <a:latin typeface="Roboto"/>
                <a:ea typeface="Roboto"/>
                <a:cs typeface="Roboto"/>
              </a:rPr>
              <a:t>7 configurazioni sullo stesso compito</a:t>
            </a:r>
          </a:p>
        </p:txBody>
      </p:sp>
    </p:spTree>
    <p:extLst>
      <p:ext uri="{BB962C8B-B14F-4D97-AF65-F5344CB8AC3E}">
        <p14:creationId xmlns:p14="http://schemas.microsoft.com/office/powerpoint/2010/main" val="222343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1122E705-67E7-43F0-AF27-3DA6494DAB3B}"/>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Precisione numerica e quantizzazione</a:t>
            </a:r>
          </a:p>
        </p:txBody>
      </p:sp>
      <p:sp>
        <p:nvSpPr>
          <p:cNvPr id="2" name="template-footer">
            <a:extLst>
              <a:ext uri="{FF2B5EF4-FFF2-40B4-BE49-F238E27FC236}">
                <a16:creationId xmlns:a16="http://schemas.microsoft.com/office/drawing/2014/main" id="{AAA65AB6-D225-40A9-8376-29ABDDF194EE}"/>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61666C9B-A835-422B-8116-D8ECD42138BC}"/>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9E285DFC-FE6E-401D-8A11-38FCCD337EE4}"/>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8/28</a:t>
            </a:r>
          </a:p>
        </p:txBody>
      </p:sp>
      <p:sp>
        <p:nvSpPr>
          <p:cNvPr id="5" name="source-citations">
            <a:extLst>
              <a:ext uri="{FF2B5EF4-FFF2-40B4-BE49-F238E27FC236}">
                <a16:creationId xmlns:a16="http://schemas.microsoft.com/office/drawing/2014/main" id="{691161A2-B3D3-421E-9101-F45120F94396}"/>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[11]</a:t>
            </a:r>
          </a:p>
        </p:txBody>
      </p:sp>
      <p:sp>
        <p:nvSpPr>
          <p:cNvPr id="6" name="fp16">
            <a:extLst>
              <a:ext uri="{FF2B5EF4-FFF2-40B4-BE49-F238E27FC236}">
                <a16:creationId xmlns:a16="http://schemas.microsoft.com/office/drawing/2014/main" id="{19CBA264-0BEA-42A2-9BA2-E9C85C286A88}"/>
              </a:ext>
            </a:extLst>
          </p:cNvPr>
          <p:cNvSpPr>
            <a:spLocks noGrp="1"/>
          </p:cNvSpPr>
          <p:nvPr/>
        </p:nvSpPr>
        <p:spPr>
          <a:xfrm>
            <a:off x="952500" y="1609725"/>
            <a:ext cx="2095500" cy="542925"/>
          </a:xfrm>
          <a:prstGeom prst="rect">
            <a:avLst/>
          </a:prstGeom>
          <a:noFill/>
          <a:ln w="0">
            <a:noFill/>
          </a:ln>
        </p:spPr>
        <p:txBody>
          <a:bodyPr wrap="square" lIns="0" tIns="0" rIns="0" bIns="0" anchor="t">
            <a:noAutofit/>
          </a:bodyPr>
          <a:lstStyle>
            <a:defPPr algn="l">
              <a:defRPr sz="2700" b="1">
                <a:solidFill>
                  <a:srgbClr val="822433"/>
                </a:solidFill>
                <a:latin typeface="Roboto"/>
                <a:ea typeface="Roboto"/>
                <a:cs typeface="Roboto"/>
              </a:defRPr>
            </a:defPPr>
            <a:lvl1pPr algn="l">
              <a:defRPr sz="2700" b="1">
                <a:solidFill>
                  <a:srgbClr val="822433"/>
                </a:solidFill>
                <a:latin typeface="Roboto"/>
                <a:ea typeface="Roboto"/>
                <a:cs typeface="Roboto"/>
              </a:defRPr>
            </a:lvl1pPr>
            <a:lvl2pPr algn="l">
              <a:defRPr sz="2700" b="1">
                <a:solidFill>
                  <a:srgbClr val="822433"/>
                </a:solidFill>
                <a:latin typeface="Roboto"/>
                <a:ea typeface="Roboto"/>
                <a:cs typeface="Roboto"/>
              </a:defRPr>
            </a:lvl2pPr>
            <a:lvl3pPr algn="l">
              <a:defRPr sz="2700" b="1">
                <a:solidFill>
                  <a:srgbClr val="822433"/>
                </a:solidFill>
                <a:latin typeface="Roboto"/>
                <a:ea typeface="Roboto"/>
                <a:cs typeface="Roboto"/>
              </a:defRPr>
            </a:lvl3pPr>
            <a:lvl4pPr algn="l">
              <a:defRPr sz="2700" b="1">
                <a:solidFill>
                  <a:srgbClr val="822433"/>
                </a:solidFill>
                <a:latin typeface="Roboto"/>
                <a:ea typeface="Roboto"/>
                <a:cs typeface="Roboto"/>
              </a:defRPr>
            </a:lvl4pPr>
            <a:lvl5pPr algn="l">
              <a:defRPr sz="2700" b="1">
                <a:solidFill>
                  <a:srgbClr val="822433"/>
                </a:solidFill>
                <a:latin typeface="Roboto"/>
                <a:ea typeface="Roboto"/>
                <a:cs typeface="Roboto"/>
              </a:defRPr>
            </a:lvl5pPr>
            <a:lvl6pPr algn="l">
              <a:defRPr sz="2700" b="1">
                <a:solidFill>
                  <a:srgbClr val="822433"/>
                </a:solidFill>
                <a:latin typeface="Roboto"/>
                <a:ea typeface="Roboto"/>
                <a:cs typeface="Roboto"/>
              </a:defRPr>
            </a:lvl6pPr>
            <a:lvl7pPr algn="l">
              <a:defRPr sz="2700" b="1">
                <a:solidFill>
                  <a:srgbClr val="822433"/>
                </a:solidFill>
                <a:latin typeface="Roboto"/>
                <a:ea typeface="Roboto"/>
                <a:cs typeface="Roboto"/>
              </a:defRPr>
            </a:lvl7pPr>
            <a:lvl8pPr algn="l">
              <a:defRPr sz="2700" b="1">
                <a:solidFill>
                  <a:srgbClr val="822433"/>
                </a:solidFill>
                <a:latin typeface="Roboto"/>
                <a:ea typeface="Roboto"/>
                <a:cs typeface="Roboto"/>
              </a:defRPr>
            </a:lvl8pPr>
            <a:lvl9pPr algn="l">
              <a:defRPr sz="2700" b="1">
                <a:solidFill>
                  <a:srgbClr val="822433"/>
                </a:solidFill>
                <a:latin typeface="Roboto"/>
                <a:ea typeface="Roboto"/>
                <a:cs typeface="Roboto"/>
              </a:defRPr>
            </a:lvl9pPr>
          </a:lstStyle>
          <a:p>
            <a:pPr algn="l">
              <a:defRPr sz="2700" b="1">
                <a:solidFill>
                  <a:srgbClr val="822433"/>
                </a:solidFill>
                <a:latin typeface="Roboto"/>
                <a:ea typeface="Roboto"/>
                <a:cs typeface="Roboto"/>
              </a:defRPr>
            </a:pPr>
            <a:r>
              <a:rPr sz="2700" b="1">
                <a:solidFill>
                  <a:srgbClr val="822433"/>
                </a:solidFill>
                <a:latin typeface="Roboto"/>
                <a:ea typeface="Roboto"/>
                <a:cs typeface="Roboto"/>
              </a:rPr>
              <a:t>FP16</a:t>
            </a:r>
          </a:p>
        </p:txBody>
      </p:sp>
      <p:sp>
        <p:nvSpPr>
          <p:cNvPr id="7" name="fp16-definition">
            <a:extLst>
              <a:ext uri="{FF2B5EF4-FFF2-40B4-BE49-F238E27FC236}">
                <a16:creationId xmlns:a16="http://schemas.microsoft.com/office/drawing/2014/main" id="{3A9EA6C9-B8C3-4B77-A59C-D2416334F089}"/>
              </a:ext>
            </a:extLst>
          </p:cNvPr>
          <p:cNvSpPr>
            <a:spLocks noGrp="1"/>
          </p:cNvSpPr>
          <p:nvPr/>
        </p:nvSpPr>
        <p:spPr>
          <a:xfrm>
            <a:off x="3143250" y="1676400"/>
            <a:ext cx="7620000" cy="495300"/>
          </a:xfrm>
          <a:prstGeom prst="rect">
            <a:avLst/>
          </a:prstGeom>
          <a:noFill/>
          <a:ln w="0">
            <a:noFill/>
          </a:ln>
        </p:spPr>
        <p:txBody>
          <a:bodyPr wrap="square" lIns="0" tIns="0" rIns="0" bIns="0" anchor="t">
            <a:noAutofit/>
          </a:bodyPr>
          <a:lstStyle>
            <a:defPPr algn="l">
              <a:defRPr sz="2250" b="0">
                <a:solidFill>
                  <a:srgbClr val="202124"/>
                </a:solidFill>
                <a:latin typeface="Roboto"/>
                <a:ea typeface="Roboto"/>
                <a:cs typeface="Roboto"/>
              </a:defRPr>
            </a:defPPr>
            <a:lvl1pPr algn="l">
              <a:defRPr sz="2250" b="0">
                <a:solidFill>
                  <a:srgbClr val="202124"/>
                </a:solidFill>
                <a:latin typeface="Roboto"/>
                <a:ea typeface="Roboto"/>
                <a:cs typeface="Roboto"/>
              </a:defRPr>
            </a:lvl1pPr>
            <a:lvl2pPr algn="l">
              <a:defRPr sz="2250" b="0">
                <a:solidFill>
                  <a:srgbClr val="202124"/>
                </a:solidFill>
                <a:latin typeface="Roboto"/>
                <a:ea typeface="Roboto"/>
                <a:cs typeface="Roboto"/>
              </a:defRPr>
            </a:lvl2pPr>
            <a:lvl3pPr algn="l">
              <a:defRPr sz="2250" b="0">
                <a:solidFill>
                  <a:srgbClr val="202124"/>
                </a:solidFill>
                <a:latin typeface="Roboto"/>
                <a:ea typeface="Roboto"/>
                <a:cs typeface="Roboto"/>
              </a:defRPr>
            </a:lvl3pPr>
            <a:lvl4pPr algn="l">
              <a:defRPr sz="2250" b="0">
                <a:solidFill>
                  <a:srgbClr val="202124"/>
                </a:solidFill>
                <a:latin typeface="Roboto"/>
                <a:ea typeface="Roboto"/>
                <a:cs typeface="Roboto"/>
              </a:defRPr>
            </a:lvl4pPr>
            <a:lvl5pPr algn="l">
              <a:defRPr sz="2250" b="0">
                <a:solidFill>
                  <a:srgbClr val="202124"/>
                </a:solidFill>
                <a:latin typeface="Roboto"/>
                <a:ea typeface="Roboto"/>
                <a:cs typeface="Roboto"/>
              </a:defRPr>
            </a:lvl5pPr>
            <a:lvl6pPr algn="l">
              <a:defRPr sz="2250" b="0">
                <a:solidFill>
                  <a:srgbClr val="202124"/>
                </a:solidFill>
                <a:latin typeface="Roboto"/>
                <a:ea typeface="Roboto"/>
                <a:cs typeface="Roboto"/>
              </a:defRPr>
            </a:lvl6pPr>
            <a:lvl7pPr algn="l">
              <a:defRPr sz="2250" b="0">
                <a:solidFill>
                  <a:srgbClr val="202124"/>
                </a:solidFill>
                <a:latin typeface="Roboto"/>
                <a:ea typeface="Roboto"/>
                <a:cs typeface="Roboto"/>
              </a:defRPr>
            </a:lvl7pPr>
            <a:lvl8pPr algn="l">
              <a:defRPr sz="2250" b="0">
                <a:solidFill>
                  <a:srgbClr val="202124"/>
                </a:solidFill>
                <a:latin typeface="Roboto"/>
                <a:ea typeface="Roboto"/>
                <a:cs typeface="Roboto"/>
              </a:defRPr>
            </a:lvl8pPr>
            <a:lvl9pPr algn="l">
              <a:defRPr sz="2250" b="0">
                <a:solidFill>
                  <a:srgbClr val="202124"/>
                </a:solidFill>
                <a:latin typeface="Roboto"/>
                <a:ea typeface="Roboto"/>
                <a:cs typeface="Roboto"/>
              </a:defRPr>
            </a:lvl9pPr>
          </a:lstStyle>
          <a:p>
            <a:pPr algn="l">
              <a:defRPr sz="2250" b="0">
                <a:solidFill>
                  <a:srgbClr val="202124"/>
                </a:solidFill>
                <a:latin typeface="Roboto"/>
                <a:ea typeface="Roboto"/>
                <a:cs typeface="Roboto"/>
              </a:defRPr>
            </a:pPr>
            <a:r>
              <a:rPr sz="2250" b="0">
                <a:solidFill>
                  <a:srgbClr val="202124"/>
                </a:solidFill>
                <a:latin typeface="Roboto"/>
                <a:ea typeface="Roboto"/>
                <a:cs typeface="Roboto"/>
              </a:rPr>
              <a:t>Precisione floating point ridotta</a:t>
            </a:r>
          </a:p>
        </p:txBody>
      </p:sp>
      <p:sp>
        <p:nvSpPr>
          <p:cNvPr id="8" name="ptq">
            <a:extLst>
              <a:ext uri="{FF2B5EF4-FFF2-40B4-BE49-F238E27FC236}">
                <a16:creationId xmlns:a16="http://schemas.microsoft.com/office/drawing/2014/main" id="{67E2AEE7-FE31-4B3A-BEF0-4C279FA4D085}"/>
              </a:ext>
            </a:extLst>
          </p:cNvPr>
          <p:cNvSpPr>
            <a:spLocks noGrp="1"/>
          </p:cNvSpPr>
          <p:nvPr/>
        </p:nvSpPr>
        <p:spPr>
          <a:xfrm>
            <a:off x="952500" y="2724150"/>
            <a:ext cx="2095500" cy="542925"/>
          </a:xfrm>
          <a:prstGeom prst="rect">
            <a:avLst/>
          </a:prstGeom>
          <a:noFill/>
          <a:ln w="0">
            <a:noFill/>
          </a:ln>
        </p:spPr>
        <p:txBody>
          <a:bodyPr wrap="square" lIns="0" tIns="0" rIns="0" bIns="0" anchor="t">
            <a:noAutofit/>
          </a:bodyPr>
          <a:lstStyle>
            <a:defPPr algn="l">
              <a:defRPr sz="2700" b="1">
                <a:solidFill>
                  <a:srgbClr val="822433"/>
                </a:solidFill>
                <a:latin typeface="Roboto"/>
                <a:ea typeface="Roboto"/>
                <a:cs typeface="Roboto"/>
              </a:defRPr>
            </a:defPPr>
            <a:lvl1pPr algn="l">
              <a:defRPr sz="2700" b="1">
                <a:solidFill>
                  <a:srgbClr val="822433"/>
                </a:solidFill>
                <a:latin typeface="Roboto"/>
                <a:ea typeface="Roboto"/>
                <a:cs typeface="Roboto"/>
              </a:defRPr>
            </a:lvl1pPr>
            <a:lvl2pPr algn="l">
              <a:defRPr sz="2700" b="1">
                <a:solidFill>
                  <a:srgbClr val="822433"/>
                </a:solidFill>
                <a:latin typeface="Roboto"/>
                <a:ea typeface="Roboto"/>
                <a:cs typeface="Roboto"/>
              </a:defRPr>
            </a:lvl2pPr>
            <a:lvl3pPr algn="l">
              <a:defRPr sz="2700" b="1">
                <a:solidFill>
                  <a:srgbClr val="822433"/>
                </a:solidFill>
                <a:latin typeface="Roboto"/>
                <a:ea typeface="Roboto"/>
                <a:cs typeface="Roboto"/>
              </a:defRPr>
            </a:lvl3pPr>
            <a:lvl4pPr algn="l">
              <a:defRPr sz="2700" b="1">
                <a:solidFill>
                  <a:srgbClr val="822433"/>
                </a:solidFill>
                <a:latin typeface="Roboto"/>
                <a:ea typeface="Roboto"/>
                <a:cs typeface="Roboto"/>
              </a:defRPr>
            </a:lvl4pPr>
            <a:lvl5pPr algn="l">
              <a:defRPr sz="2700" b="1">
                <a:solidFill>
                  <a:srgbClr val="822433"/>
                </a:solidFill>
                <a:latin typeface="Roboto"/>
                <a:ea typeface="Roboto"/>
                <a:cs typeface="Roboto"/>
              </a:defRPr>
            </a:lvl5pPr>
            <a:lvl6pPr algn="l">
              <a:defRPr sz="2700" b="1">
                <a:solidFill>
                  <a:srgbClr val="822433"/>
                </a:solidFill>
                <a:latin typeface="Roboto"/>
                <a:ea typeface="Roboto"/>
                <a:cs typeface="Roboto"/>
              </a:defRPr>
            </a:lvl6pPr>
            <a:lvl7pPr algn="l">
              <a:defRPr sz="2700" b="1">
                <a:solidFill>
                  <a:srgbClr val="822433"/>
                </a:solidFill>
                <a:latin typeface="Roboto"/>
                <a:ea typeface="Roboto"/>
                <a:cs typeface="Roboto"/>
              </a:defRPr>
            </a:lvl7pPr>
            <a:lvl8pPr algn="l">
              <a:defRPr sz="2700" b="1">
                <a:solidFill>
                  <a:srgbClr val="822433"/>
                </a:solidFill>
                <a:latin typeface="Roboto"/>
                <a:ea typeface="Roboto"/>
                <a:cs typeface="Roboto"/>
              </a:defRPr>
            </a:lvl8pPr>
            <a:lvl9pPr algn="l">
              <a:defRPr sz="2700" b="1">
                <a:solidFill>
                  <a:srgbClr val="822433"/>
                </a:solidFill>
                <a:latin typeface="Roboto"/>
                <a:ea typeface="Roboto"/>
                <a:cs typeface="Roboto"/>
              </a:defRPr>
            </a:lvl9pPr>
          </a:lstStyle>
          <a:p>
            <a:pPr algn="l">
              <a:defRPr sz="2700" b="1">
                <a:solidFill>
                  <a:srgbClr val="822433"/>
                </a:solidFill>
                <a:latin typeface="Roboto"/>
                <a:ea typeface="Roboto"/>
                <a:cs typeface="Roboto"/>
              </a:defRPr>
            </a:pPr>
            <a:r>
              <a:rPr sz="2700" b="1">
                <a:solidFill>
                  <a:srgbClr val="822433"/>
                </a:solidFill>
                <a:latin typeface="Roboto"/>
                <a:ea typeface="Roboto"/>
                <a:cs typeface="Roboto"/>
              </a:rPr>
              <a:t>PTQ</a:t>
            </a:r>
          </a:p>
        </p:txBody>
      </p:sp>
      <p:sp>
        <p:nvSpPr>
          <p:cNvPr id="9" name="ptq-definition">
            <a:extLst>
              <a:ext uri="{FF2B5EF4-FFF2-40B4-BE49-F238E27FC236}">
                <a16:creationId xmlns:a16="http://schemas.microsoft.com/office/drawing/2014/main" id="{0B0C1305-CD07-4300-AB02-31FA9DE9BEA9}"/>
              </a:ext>
            </a:extLst>
          </p:cNvPr>
          <p:cNvSpPr>
            <a:spLocks noGrp="1"/>
          </p:cNvSpPr>
          <p:nvPr/>
        </p:nvSpPr>
        <p:spPr>
          <a:xfrm>
            <a:off x="3143250" y="2790825"/>
            <a:ext cx="7620000" cy="495300"/>
          </a:xfrm>
          <a:prstGeom prst="rect">
            <a:avLst/>
          </a:prstGeom>
          <a:noFill/>
          <a:ln w="0">
            <a:noFill/>
          </a:ln>
        </p:spPr>
        <p:txBody>
          <a:bodyPr wrap="square" lIns="0" tIns="0" rIns="0" bIns="0" anchor="t">
            <a:noAutofit/>
          </a:bodyPr>
          <a:lstStyle>
            <a:defPPr algn="l">
              <a:defRPr sz="2250" b="0">
                <a:solidFill>
                  <a:srgbClr val="202124"/>
                </a:solidFill>
                <a:latin typeface="Roboto"/>
                <a:ea typeface="Roboto"/>
                <a:cs typeface="Roboto"/>
              </a:defRPr>
            </a:defPPr>
            <a:lvl1pPr algn="l">
              <a:defRPr sz="2250" b="0">
                <a:solidFill>
                  <a:srgbClr val="202124"/>
                </a:solidFill>
                <a:latin typeface="Roboto"/>
                <a:ea typeface="Roboto"/>
                <a:cs typeface="Roboto"/>
              </a:defRPr>
            </a:lvl1pPr>
            <a:lvl2pPr algn="l">
              <a:defRPr sz="2250" b="0">
                <a:solidFill>
                  <a:srgbClr val="202124"/>
                </a:solidFill>
                <a:latin typeface="Roboto"/>
                <a:ea typeface="Roboto"/>
                <a:cs typeface="Roboto"/>
              </a:defRPr>
            </a:lvl2pPr>
            <a:lvl3pPr algn="l">
              <a:defRPr sz="2250" b="0">
                <a:solidFill>
                  <a:srgbClr val="202124"/>
                </a:solidFill>
                <a:latin typeface="Roboto"/>
                <a:ea typeface="Roboto"/>
                <a:cs typeface="Roboto"/>
              </a:defRPr>
            </a:lvl3pPr>
            <a:lvl4pPr algn="l">
              <a:defRPr sz="2250" b="0">
                <a:solidFill>
                  <a:srgbClr val="202124"/>
                </a:solidFill>
                <a:latin typeface="Roboto"/>
                <a:ea typeface="Roboto"/>
                <a:cs typeface="Roboto"/>
              </a:defRPr>
            </a:lvl4pPr>
            <a:lvl5pPr algn="l">
              <a:defRPr sz="2250" b="0">
                <a:solidFill>
                  <a:srgbClr val="202124"/>
                </a:solidFill>
                <a:latin typeface="Roboto"/>
                <a:ea typeface="Roboto"/>
                <a:cs typeface="Roboto"/>
              </a:defRPr>
            </a:lvl5pPr>
            <a:lvl6pPr algn="l">
              <a:defRPr sz="2250" b="0">
                <a:solidFill>
                  <a:srgbClr val="202124"/>
                </a:solidFill>
                <a:latin typeface="Roboto"/>
                <a:ea typeface="Roboto"/>
                <a:cs typeface="Roboto"/>
              </a:defRPr>
            </a:lvl6pPr>
            <a:lvl7pPr algn="l">
              <a:defRPr sz="2250" b="0">
                <a:solidFill>
                  <a:srgbClr val="202124"/>
                </a:solidFill>
                <a:latin typeface="Roboto"/>
                <a:ea typeface="Roboto"/>
                <a:cs typeface="Roboto"/>
              </a:defRPr>
            </a:lvl7pPr>
            <a:lvl8pPr algn="l">
              <a:defRPr sz="2250" b="0">
                <a:solidFill>
                  <a:srgbClr val="202124"/>
                </a:solidFill>
                <a:latin typeface="Roboto"/>
                <a:ea typeface="Roboto"/>
                <a:cs typeface="Roboto"/>
              </a:defRPr>
            </a:lvl8pPr>
            <a:lvl9pPr algn="l">
              <a:defRPr sz="2250" b="0">
                <a:solidFill>
                  <a:srgbClr val="202124"/>
                </a:solidFill>
                <a:latin typeface="Roboto"/>
                <a:ea typeface="Roboto"/>
                <a:cs typeface="Roboto"/>
              </a:defRPr>
            </a:lvl9pPr>
          </a:lstStyle>
          <a:p>
            <a:pPr algn="l">
              <a:defRPr sz="2250" b="0">
                <a:solidFill>
                  <a:srgbClr val="202124"/>
                </a:solidFill>
                <a:latin typeface="Roboto"/>
                <a:ea typeface="Roboto"/>
                <a:cs typeface="Roboto"/>
              </a:defRPr>
            </a:pPr>
            <a:r>
              <a:rPr sz="2250" b="0">
                <a:solidFill>
                  <a:srgbClr val="202124"/>
                </a:solidFill>
                <a:latin typeface="Roboto"/>
                <a:ea typeface="Roboto"/>
                <a:cs typeface="Roboto"/>
              </a:rPr>
              <a:t>Quantizzazione dopo il training</a:t>
            </a:r>
          </a:p>
        </p:txBody>
      </p:sp>
      <p:sp>
        <p:nvSpPr>
          <p:cNvPr id="10" name="qat">
            <a:extLst>
              <a:ext uri="{FF2B5EF4-FFF2-40B4-BE49-F238E27FC236}">
                <a16:creationId xmlns:a16="http://schemas.microsoft.com/office/drawing/2014/main" id="{287330A2-456E-4FBD-AED6-E80048A90402}"/>
              </a:ext>
            </a:extLst>
          </p:cNvPr>
          <p:cNvSpPr>
            <a:spLocks noGrp="1"/>
          </p:cNvSpPr>
          <p:nvPr/>
        </p:nvSpPr>
        <p:spPr>
          <a:xfrm>
            <a:off x="952500" y="3838575"/>
            <a:ext cx="2095500" cy="542925"/>
          </a:xfrm>
          <a:prstGeom prst="rect">
            <a:avLst/>
          </a:prstGeom>
          <a:noFill/>
          <a:ln w="0">
            <a:noFill/>
          </a:ln>
        </p:spPr>
        <p:txBody>
          <a:bodyPr wrap="square" lIns="0" tIns="0" rIns="0" bIns="0" anchor="t">
            <a:noAutofit/>
          </a:bodyPr>
          <a:lstStyle>
            <a:defPPr algn="l">
              <a:defRPr sz="2700" b="1">
                <a:solidFill>
                  <a:srgbClr val="822433"/>
                </a:solidFill>
                <a:latin typeface="Roboto"/>
                <a:ea typeface="Roboto"/>
                <a:cs typeface="Roboto"/>
              </a:defRPr>
            </a:defPPr>
            <a:lvl1pPr algn="l">
              <a:defRPr sz="2700" b="1">
                <a:solidFill>
                  <a:srgbClr val="822433"/>
                </a:solidFill>
                <a:latin typeface="Roboto"/>
                <a:ea typeface="Roboto"/>
                <a:cs typeface="Roboto"/>
              </a:defRPr>
            </a:lvl1pPr>
            <a:lvl2pPr algn="l">
              <a:defRPr sz="2700" b="1">
                <a:solidFill>
                  <a:srgbClr val="822433"/>
                </a:solidFill>
                <a:latin typeface="Roboto"/>
                <a:ea typeface="Roboto"/>
                <a:cs typeface="Roboto"/>
              </a:defRPr>
            </a:lvl2pPr>
            <a:lvl3pPr algn="l">
              <a:defRPr sz="2700" b="1">
                <a:solidFill>
                  <a:srgbClr val="822433"/>
                </a:solidFill>
                <a:latin typeface="Roboto"/>
                <a:ea typeface="Roboto"/>
                <a:cs typeface="Roboto"/>
              </a:defRPr>
            </a:lvl3pPr>
            <a:lvl4pPr algn="l">
              <a:defRPr sz="2700" b="1">
                <a:solidFill>
                  <a:srgbClr val="822433"/>
                </a:solidFill>
                <a:latin typeface="Roboto"/>
                <a:ea typeface="Roboto"/>
                <a:cs typeface="Roboto"/>
              </a:defRPr>
            </a:lvl4pPr>
            <a:lvl5pPr algn="l">
              <a:defRPr sz="2700" b="1">
                <a:solidFill>
                  <a:srgbClr val="822433"/>
                </a:solidFill>
                <a:latin typeface="Roboto"/>
                <a:ea typeface="Roboto"/>
                <a:cs typeface="Roboto"/>
              </a:defRPr>
            </a:lvl5pPr>
            <a:lvl6pPr algn="l">
              <a:defRPr sz="2700" b="1">
                <a:solidFill>
                  <a:srgbClr val="822433"/>
                </a:solidFill>
                <a:latin typeface="Roboto"/>
                <a:ea typeface="Roboto"/>
                <a:cs typeface="Roboto"/>
              </a:defRPr>
            </a:lvl6pPr>
            <a:lvl7pPr algn="l">
              <a:defRPr sz="2700" b="1">
                <a:solidFill>
                  <a:srgbClr val="822433"/>
                </a:solidFill>
                <a:latin typeface="Roboto"/>
                <a:ea typeface="Roboto"/>
                <a:cs typeface="Roboto"/>
              </a:defRPr>
            </a:lvl7pPr>
            <a:lvl8pPr algn="l">
              <a:defRPr sz="2700" b="1">
                <a:solidFill>
                  <a:srgbClr val="822433"/>
                </a:solidFill>
                <a:latin typeface="Roboto"/>
                <a:ea typeface="Roboto"/>
                <a:cs typeface="Roboto"/>
              </a:defRPr>
            </a:lvl8pPr>
            <a:lvl9pPr algn="l">
              <a:defRPr sz="2700" b="1">
                <a:solidFill>
                  <a:srgbClr val="822433"/>
                </a:solidFill>
                <a:latin typeface="Roboto"/>
                <a:ea typeface="Roboto"/>
                <a:cs typeface="Roboto"/>
              </a:defRPr>
            </a:lvl9pPr>
          </a:lstStyle>
          <a:p>
            <a:pPr algn="l">
              <a:defRPr sz="2700" b="1">
                <a:solidFill>
                  <a:srgbClr val="822433"/>
                </a:solidFill>
                <a:latin typeface="Roboto"/>
                <a:ea typeface="Roboto"/>
                <a:cs typeface="Roboto"/>
              </a:defRPr>
            </a:pPr>
            <a:r>
              <a:rPr sz="2700" b="1">
                <a:solidFill>
                  <a:srgbClr val="822433"/>
                </a:solidFill>
                <a:latin typeface="Roboto"/>
                <a:ea typeface="Roboto"/>
                <a:cs typeface="Roboto"/>
              </a:rPr>
              <a:t>QAT</a:t>
            </a:r>
          </a:p>
        </p:txBody>
      </p:sp>
      <p:sp>
        <p:nvSpPr>
          <p:cNvPr id="11" name="qat-definition">
            <a:extLst>
              <a:ext uri="{FF2B5EF4-FFF2-40B4-BE49-F238E27FC236}">
                <a16:creationId xmlns:a16="http://schemas.microsoft.com/office/drawing/2014/main" id="{EABF53B3-1B21-4A1B-98FD-FA103ED44B6E}"/>
              </a:ext>
            </a:extLst>
          </p:cNvPr>
          <p:cNvSpPr>
            <a:spLocks noGrp="1"/>
          </p:cNvSpPr>
          <p:nvPr/>
        </p:nvSpPr>
        <p:spPr>
          <a:xfrm>
            <a:off x="3143250" y="3905250"/>
            <a:ext cx="7620000" cy="809625"/>
          </a:xfrm>
          <a:prstGeom prst="rect">
            <a:avLst/>
          </a:prstGeom>
          <a:noFill/>
          <a:ln w="0">
            <a:noFill/>
          </a:ln>
        </p:spPr>
        <p:txBody>
          <a:bodyPr wrap="square" lIns="0" tIns="0" rIns="0" bIns="0" anchor="t">
            <a:noAutofit/>
          </a:bodyPr>
          <a:lstStyle>
            <a:defPPr algn="l">
              <a:defRPr sz="2250" b="0">
                <a:solidFill>
                  <a:srgbClr val="202124"/>
                </a:solidFill>
                <a:latin typeface="Roboto"/>
                <a:ea typeface="Roboto"/>
                <a:cs typeface="Roboto"/>
              </a:defRPr>
            </a:defPPr>
            <a:lvl1pPr algn="l">
              <a:defRPr sz="2250" b="0">
                <a:solidFill>
                  <a:srgbClr val="202124"/>
                </a:solidFill>
                <a:latin typeface="Roboto"/>
                <a:ea typeface="Roboto"/>
                <a:cs typeface="Roboto"/>
              </a:defRPr>
            </a:lvl1pPr>
            <a:lvl2pPr algn="l">
              <a:defRPr sz="2250" b="0">
                <a:solidFill>
                  <a:srgbClr val="202124"/>
                </a:solidFill>
                <a:latin typeface="Roboto"/>
                <a:ea typeface="Roboto"/>
                <a:cs typeface="Roboto"/>
              </a:defRPr>
            </a:lvl2pPr>
            <a:lvl3pPr algn="l">
              <a:defRPr sz="2250" b="0">
                <a:solidFill>
                  <a:srgbClr val="202124"/>
                </a:solidFill>
                <a:latin typeface="Roboto"/>
                <a:ea typeface="Roboto"/>
                <a:cs typeface="Roboto"/>
              </a:defRPr>
            </a:lvl3pPr>
            <a:lvl4pPr algn="l">
              <a:defRPr sz="2250" b="0">
                <a:solidFill>
                  <a:srgbClr val="202124"/>
                </a:solidFill>
                <a:latin typeface="Roboto"/>
                <a:ea typeface="Roboto"/>
                <a:cs typeface="Roboto"/>
              </a:defRPr>
            </a:lvl4pPr>
            <a:lvl5pPr algn="l">
              <a:defRPr sz="2250" b="0">
                <a:solidFill>
                  <a:srgbClr val="202124"/>
                </a:solidFill>
                <a:latin typeface="Roboto"/>
                <a:ea typeface="Roboto"/>
                <a:cs typeface="Roboto"/>
              </a:defRPr>
            </a:lvl5pPr>
            <a:lvl6pPr algn="l">
              <a:defRPr sz="2250" b="0">
                <a:solidFill>
                  <a:srgbClr val="202124"/>
                </a:solidFill>
                <a:latin typeface="Roboto"/>
                <a:ea typeface="Roboto"/>
                <a:cs typeface="Roboto"/>
              </a:defRPr>
            </a:lvl6pPr>
            <a:lvl7pPr algn="l">
              <a:defRPr sz="2250" b="0">
                <a:solidFill>
                  <a:srgbClr val="202124"/>
                </a:solidFill>
                <a:latin typeface="Roboto"/>
                <a:ea typeface="Roboto"/>
                <a:cs typeface="Roboto"/>
              </a:defRPr>
            </a:lvl7pPr>
            <a:lvl8pPr algn="l">
              <a:defRPr sz="2250" b="0">
                <a:solidFill>
                  <a:srgbClr val="202124"/>
                </a:solidFill>
                <a:latin typeface="Roboto"/>
                <a:ea typeface="Roboto"/>
                <a:cs typeface="Roboto"/>
              </a:defRPr>
            </a:lvl8pPr>
            <a:lvl9pPr algn="l">
              <a:defRPr sz="2250" b="0">
                <a:solidFill>
                  <a:srgbClr val="202124"/>
                </a:solidFill>
                <a:latin typeface="Roboto"/>
                <a:ea typeface="Roboto"/>
                <a:cs typeface="Roboto"/>
              </a:defRPr>
            </a:lvl9pPr>
          </a:lstStyle>
          <a:p>
            <a:pPr algn="l">
              <a:defRPr sz="2250" b="0">
                <a:solidFill>
                  <a:srgbClr val="202124"/>
                </a:solidFill>
                <a:latin typeface="Roboto"/>
                <a:ea typeface="Roboto"/>
                <a:cs typeface="Roboto"/>
              </a:defRPr>
            </a:pPr>
            <a:r>
              <a:rPr sz="2250" b="0">
                <a:solidFill>
                  <a:srgbClr val="202124"/>
                </a:solidFill>
                <a:latin typeface="Roboto"/>
                <a:ea typeface="Roboto"/>
                <a:cs typeface="Roboto"/>
              </a:rPr>
              <a:t>Training con simulazione della quantizzazione</a:t>
            </a:r>
          </a:p>
        </p:txBody>
      </p:sp>
      <p:sp>
        <p:nvSpPr>
          <p:cNvPr id="12" name="mixed-precision">
            <a:extLst>
              <a:ext uri="{FF2B5EF4-FFF2-40B4-BE49-F238E27FC236}">
                <a16:creationId xmlns:a16="http://schemas.microsoft.com/office/drawing/2014/main" id="{487AA8FA-5941-4459-986B-D97CC13141F8}"/>
              </a:ext>
            </a:extLst>
          </p:cNvPr>
          <p:cNvSpPr>
            <a:spLocks noGrp="1"/>
          </p:cNvSpPr>
          <p:nvPr/>
        </p:nvSpPr>
        <p:spPr>
          <a:xfrm>
            <a:off x="952500" y="5305425"/>
            <a:ext cx="9906000" cy="400050"/>
          </a:xfrm>
          <a:prstGeom prst="rect">
            <a:avLst/>
          </a:prstGeom>
          <a:noFill/>
          <a:ln w="0">
            <a:noFill/>
          </a:ln>
        </p:spPr>
        <p:txBody>
          <a:bodyPr wrap="square" lIns="0" tIns="0" rIns="0" bIns="0" anchor="t">
            <a:noAutofit/>
          </a:bodyPr>
          <a:lstStyle>
            <a:defPPr algn="l">
              <a:defRPr sz="2025" b="0">
                <a:solidFill>
                  <a:srgbClr val="62666B"/>
                </a:solidFill>
                <a:latin typeface="Roboto"/>
                <a:ea typeface="Roboto"/>
                <a:cs typeface="Roboto"/>
              </a:defRPr>
            </a:defPPr>
            <a:lvl1pPr algn="l">
              <a:defRPr sz="2025" b="0">
                <a:solidFill>
                  <a:srgbClr val="62666B"/>
                </a:solidFill>
                <a:latin typeface="Roboto"/>
                <a:ea typeface="Roboto"/>
                <a:cs typeface="Roboto"/>
              </a:defRPr>
            </a:lvl1pPr>
            <a:lvl2pPr algn="l">
              <a:defRPr sz="2025" b="0">
                <a:solidFill>
                  <a:srgbClr val="62666B"/>
                </a:solidFill>
                <a:latin typeface="Roboto"/>
                <a:ea typeface="Roboto"/>
                <a:cs typeface="Roboto"/>
              </a:defRPr>
            </a:lvl2pPr>
            <a:lvl3pPr algn="l">
              <a:defRPr sz="2025" b="0">
                <a:solidFill>
                  <a:srgbClr val="62666B"/>
                </a:solidFill>
                <a:latin typeface="Roboto"/>
                <a:ea typeface="Roboto"/>
                <a:cs typeface="Roboto"/>
              </a:defRPr>
            </a:lvl3pPr>
            <a:lvl4pPr algn="l">
              <a:defRPr sz="2025" b="0">
                <a:solidFill>
                  <a:srgbClr val="62666B"/>
                </a:solidFill>
                <a:latin typeface="Roboto"/>
                <a:ea typeface="Roboto"/>
                <a:cs typeface="Roboto"/>
              </a:defRPr>
            </a:lvl4pPr>
            <a:lvl5pPr algn="l">
              <a:defRPr sz="2025" b="0">
                <a:solidFill>
                  <a:srgbClr val="62666B"/>
                </a:solidFill>
                <a:latin typeface="Roboto"/>
                <a:ea typeface="Roboto"/>
                <a:cs typeface="Roboto"/>
              </a:defRPr>
            </a:lvl5pPr>
            <a:lvl6pPr algn="l">
              <a:defRPr sz="2025" b="0">
                <a:solidFill>
                  <a:srgbClr val="62666B"/>
                </a:solidFill>
                <a:latin typeface="Roboto"/>
                <a:ea typeface="Roboto"/>
                <a:cs typeface="Roboto"/>
              </a:defRPr>
            </a:lvl6pPr>
            <a:lvl7pPr algn="l">
              <a:defRPr sz="2025" b="0">
                <a:solidFill>
                  <a:srgbClr val="62666B"/>
                </a:solidFill>
                <a:latin typeface="Roboto"/>
                <a:ea typeface="Roboto"/>
                <a:cs typeface="Roboto"/>
              </a:defRPr>
            </a:lvl7pPr>
            <a:lvl8pPr algn="l">
              <a:defRPr sz="2025" b="0">
                <a:solidFill>
                  <a:srgbClr val="62666B"/>
                </a:solidFill>
                <a:latin typeface="Roboto"/>
                <a:ea typeface="Roboto"/>
                <a:cs typeface="Roboto"/>
              </a:defRPr>
            </a:lvl8pPr>
            <a:lvl9pPr algn="l">
              <a:defRPr sz="2025" b="0">
                <a:solidFill>
                  <a:srgbClr val="62666B"/>
                </a:solidFill>
                <a:latin typeface="Roboto"/>
                <a:ea typeface="Roboto"/>
                <a:cs typeface="Roboto"/>
              </a:defRPr>
            </a:lvl9pPr>
          </a:lstStyle>
          <a:p>
            <a:pPr algn="l">
              <a:defRPr sz="2025" b="0">
                <a:solidFill>
                  <a:srgbClr val="62666B"/>
                </a:solidFill>
                <a:latin typeface="Roboto"/>
                <a:ea typeface="Roboto"/>
                <a:cs typeface="Roboto"/>
              </a:defRPr>
            </a:pPr>
            <a:r>
              <a:rPr sz="2025" b="0">
                <a:solidFill>
                  <a:srgbClr val="62666B"/>
                </a:solidFill>
                <a:latin typeface="Roboto"/>
                <a:ea typeface="Roboto"/>
                <a:cs typeface="Roboto"/>
              </a:rPr>
              <a:t>INT8 selettivo con operazioni in floating point</a:t>
            </a:r>
          </a:p>
        </p:txBody>
      </p:sp>
    </p:spTree>
    <p:extLst>
      <p:ext uri="{BB962C8B-B14F-4D97-AF65-F5344CB8AC3E}">
        <p14:creationId xmlns:p14="http://schemas.microsoft.com/office/powerpoint/2010/main" val="222343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7FA7D79B-59CA-4B9B-B4BE-661CFD84969A}"/>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Un dataset dedicato alle perforazioni</a:t>
            </a:r>
          </a:p>
        </p:txBody>
      </p:sp>
      <p:sp>
        <p:nvSpPr>
          <p:cNvPr id="2" name="template-footer">
            <a:extLst>
              <a:ext uri="{FF2B5EF4-FFF2-40B4-BE49-F238E27FC236}">
                <a16:creationId xmlns:a16="http://schemas.microsoft.com/office/drawing/2014/main" id="{60B4E3A8-82B5-423C-BAB7-62B1A2EB33C5}"/>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050450B7-8FCD-45F8-830B-8AD8564BB720}"/>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0E48903C-18F9-4ED2-9D86-0536AB84D32A}"/>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9/28</a:t>
            </a:r>
          </a:p>
        </p:txBody>
      </p:sp>
      <p:sp>
        <p:nvSpPr>
          <p:cNvPr id="5" name="source-citations">
            <a:extLst>
              <a:ext uri="{FF2B5EF4-FFF2-40B4-BE49-F238E27FC236}">
                <a16:creationId xmlns:a16="http://schemas.microsoft.com/office/drawing/2014/main" id="{F16BED91-1BCE-4DE5-8E0B-E3668E2B2781}"/>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[2]</a:t>
            </a:r>
          </a:p>
        </p:txBody>
      </p:sp>
      <p:sp>
        <p:nvSpPr>
          <p:cNvPr id="6" name="annotation-question">
            <a:extLst>
              <a:ext uri="{FF2B5EF4-FFF2-40B4-BE49-F238E27FC236}">
                <a16:creationId xmlns:a16="http://schemas.microsoft.com/office/drawing/2014/main" id="{87302B77-7130-4E75-B0B1-078D67A4B97A}"/>
              </a:ext>
            </a:extLst>
          </p:cNvPr>
          <p:cNvSpPr>
            <a:spLocks noGrp="1"/>
          </p:cNvSpPr>
          <p:nvPr/>
        </p:nvSpPr>
        <p:spPr>
          <a:xfrm>
            <a:off x="952500" y="1638300"/>
            <a:ext cx="9715500" cy="600075"/>
          </a:xfrm>
          <a:prstGeom prst="rect">
            <a:avLst/>
          </a:prstGeom>
          <a:noFill/>
          <a:ln w="0">
            <a:noFill/>
          </a:ln>
        </p:spPr>
        <p:txBody>
          <a:bodyPr wrap="square" lIns="0" tIns="0" rIns="0" bIns="0" anchor="t">
            <a:noAutofit/>
          </a:bodyPr>
          <a:lstStyle>
            <a:defPPr algn="l">
              <a:defRPr sz="3000" b="1">
                <a:solidFill>
                  <a:srgbClr val="822433"/>
                </a:solidFill>
                <a:latin typeface="Roboto"/>
                <a:ea typeface="Roboto"/>
                <a:cs typeface="Roboto"/>
              </a:defRPr>
            </a:defPPr>
            <a:lvl1pPr algn="l">
              <a:defRPr sz="3000" b="1">
                <a:solidFill>
                  <a:srgbClr val="822433"/>
                </a:solidFill>
                <a:latin typeface="Roboto"/>
                <a:ea typeface="Roboto"/>
                <a:cs typeface="Roboto"/>
              </a:defRPr>
            </a:lvl1pPr>
            <a:lvl2pPr algn="l">
              <a:defRPr sz="3000" b="1">
                <a:solidFill>
                  <a:srgbClr val="822433"/>
                </a:solidFill>
                <a:latin typeface="Roboto"/>
                <a:ea typeface="Roboto"/>
                <a:cs typeface="Roboto"/>
              </a:defRPr>
            </a:lvl2pPr>
            <a:lvl3pPr algn="l">
              <a:defRPr sz="3000" b="1">
                <a:solidFill>
                  <a:srgbClr val="822433"/>
                </a:solidFill>
                <a:latin typeface="Roboto"/>
                <a:ea typeface="Roboto"/>
                <a:cs typeface="Roboto"/>
              </a:defRPr>
            </a:lvl3pPr>
            <a:lvl4pPr algn="l">
              <a:defRPr sz="3000" b="1">
                <a:solidFill>
                  <a:srgbClr val="822433"/>
                </a:solidFill>
                <a:latin typeface="Roboto"/>
                <a:ea typeface="Roboto"/>
                <a:cs typeface="Roboto"/>
              </a:defRPr>
            </a:lvl4pPr>
            <a:lvl5pPr algn="l">
              <a:defRPr sz="3000" b="1">
                <a:solidFill>
                  <a:srgbClr val="822433"/>
                </a:solidFill>
                <a:latin typeface="Roboto"/>
                <a:ea typeface="Roboto"/>
                <a:cs typeface="Roboto"/>
              </a:defRPr>
            </a:lvl5pPr>
            <a:lvl6pPr algn="l">
              <a:defRPr sz="3000" b="1">
                <a:solidFill>
                  <a:srgbClr val="822433"/>
                </a:solidFill>
                <a:latin typeface="Roboto"/>
                <a:ea typeface="Roboto"/>
                <a:cs typeface="Roboto"/>
              </a:defRPr>
            </a:lvl6pPr>
            <a:lvl7pPr algn="l">
              <a:defRPr sz="3000" b="1">
                <a:solidFill>
                  <a:srgbClr val="822433"/>
                </a:solidFill>
                <a:latin typeface="Roboto"/>
                <a:ea typeface="Roboto"/>
                <a:cs typeface="Roboto"/>
              </a:defRPr>
            </a:lvl7pPr>
            <a:lvl8pPr algn="l">
              <a:defRPr sz="3000" b="1">
                <a:solidFill>
                  <a:srgbClr val="822433"/>
                </a:solidFill>
                <a:latin typeface="Roboto"/>
                <a:ea typeface="Roboto"/>
                <a:cs typeface="Roboto"/>
              </a:defRPr>
            </a:lvl8pPr>
            <a:lvl9pPr algn="l">
              <a:defRPr sz="3000" b="1">
                <a:solidFill>
                  <a:srgbClr val="822433"/>
                </a:solidFill>
                <a:latin typeface="Roboto"/>
                <a:ea typeface="Roboto"/>
                <a:cs typeface="Roboto"/>
              </a:defRPr>
            </a:lvl9pPr>
          </a:lstStyle>
          <a:p>
            <a:pPr algn="l">
              <a:defRPr sz="3000" b="1">
                <a:solidFill>
                  <a:srgbClr val="822433"/>
                </a:solidFill>
                <a:latin typeface="Roboto"/>
                <a:ea typeface="Roboto"/>
                <a:cs typeface="Roboto"/>
              </a:defRPr>
            </a:pPr>
            <a:r>
              <a:rPr sz="3000" b="1">
                <a:solidFill>
                  <a:srgbClr val="822433"/>
                </a:solidFill>
                <a:latin typeface="Roboto"/>
                <a:ea typeface="Roboto"/>
                <a:cs typeface="Roboto"/>
              </a:rPr>
              <a:t>Immagini delle ruote</a:t>
            </a:r>
          </a:p>
        </p:txBody>
      </p:sp>
      <p:sp>
        <p:nvSpPr>
          <p:cNvPr id="7" name="annotation-need">
            <a:extLst>
              <a:ext uri="{FF2B5EF4-FFF2-40B4-BE49-F238E27FC236}">
                <a16:creationId xmlns:a16="http://schemas.microsoft.com/office/drawing/2014/main" id="{D2840D83-E504-4F9A-9149-BD2E43A3B5CA}"/>
              </a:ext>
            </a:extLst>
          </p:cNvPr>
          <p:cNvSpPr>
            <a:spLocks noGrp="1"/>
          </p:cNvSpPr>
          <p:nvPr/>
        </p:nvSpPr>
        <p:spPr>
          <a:xfrm>
            <a:off x="952500" y="2533650"/>
            <a:ext cx="9620250" cy="1009650"/>
          </a:xfrm>
          <a:prstGeom prst="rect">
            <a:avLst/>
          </a:prstGeom>
          <a:noFill/>
          <a:ln w="0">
            <a:noFill/>
          </a:ln>
        </p:spPr>
        <p:txBody>
          <a:bodyPr wrap="square" lIns="0" tIns="0" rIns="0" bIns="0" anchor="t">
            <a:noAutofit/>
          </a:bodyPr>
          <a:lstStyle>
            <a:defPPr algn="l">
              <a:defRPr sz="2775" b="0">
                <a:solidFill>
                  <a:srgbClr val="202124"/>
                </a:solidFill>
                <a:latin typeface="Roboto"/>
                <a:ea typeface="Roboto"/>
                <a:cs typeface="Roboto"/>
              </a:defRPr>
            </a:defPPr>
            <a:lvl1pPr algn="l">
              <a:defRPr sz="2775" b="0">
                <a:solidFill>
                  <a:srgbClr val="202124"/>
                </a:solidFill>
                <a:latin typeface="Roboto"/>
                <a:ea typeface="Roboto"/>
                <a:cs typeface="Roboto"/>
              </a:defRPr>
            </a:lvl1pPr>
            <a:lvl2pPr algn="l">
              <a:defRPr sz="2775" b="0">
                <a:solidFill>
                  <a:srgbClr val="202124"/>
                </a:solidFill>
                <a:latin typeface="Roboto"/>
                <a:ea typeface="Roboto"/>
                <a:cs typeface="Roboto"/>
              </a:defRPr>
            </a:lvl2pPr>
            <a:lvl3pPr algn="l">
              <a:defRPr sz="2775" b="0">
                <a:solidFill>
                  <a:srgbClr val="202124"/>
                </a:solidFill>
                <a:latin typeface="Roboto"/>
                <a:ea typeface="Roboto"/>
                <a:cs typeface="Roboto"/>
              </a:defRPr>
            </a:lvl3pPr>
            <a:lvl4pPr algn="l">
              <a:defRPr sz="2775" b="0">
                <a:solidFill>
                  <a:srgbClr val="202124"/>
                </a:solidFill>
                <a:latin typeface="Roboto"/>
                <a:ea typeface="Roboto"/>
                <a:cs typeface="Roboto"/>
              </a:defRPr>
            </a:lvl4pPr>
            <a:lvl5pPr algn="l">
              <a:defRPr sz="2775" b="0">
                <a:solidFill>
                  <a:srgbClr val="202124"/>
                </a:solidFill>
                <a:latin typeface="Roboto"/>
                <a:ea typeface="Roboto"/>
                <a:cs typeface="Roboto"/>
              </a:defRPr>
            </a:lvl5pPr>
            <a:lvl6pPr algn="l">
              <a:defRPr sz="2775" b="0">
                <a:solidFill>
                  <a:srgbClr val="202124"/>
                </a:solidFill>
                <a:latin typeface="Roboto"/>
                <a:ea typeface="Roboto"/>
                <a:cs typeface="Roboto"/>
              </a:defRPr>
            </a:lvl6pPr>
            <a:lvl7pPr algn="l">
              <a:defRPr sz="2775" b="0">
                <a:solidFill>
                  <a:srgbClr val="202124"/>
                </a:solidFill>
                <a:latin typeface="Roboto"/>
                <a:ea typeface="Roboto"/>
                <a:cs typeface="Roboto"/>
              </a:defRPr>
            </a:lvl7pPr>
            <a:lvl8pPr algn="l">
              <a:defRPr sz="2775" b="0">
                <a:solidFill>
                  <a:srgbClr val="202124"/>
                </a:solidFill>
                <a:latin typeface="Roboto"/>
                <a:ea typeface="Roboto"/>
                <a:cs typeface="Roboto"/>
              </a:defRPr>
            </a:lvl8pPr>
            <a:lvl9pPr algn="l">
              <a:defRPr sz="2775" b="0">
                <a:solidFill>
                  <a:srgbClr val="202124"/>
                </a:solidFill>
                <a:latin typeface="Roboto"/>
                <a:ea typeface="Roboto"/>
                <a:cs typeface="Roboto"/>
              </a:defRPr>
            </a:lvl9pPr>
          </a:lstStyle>
          <a:p>
            <a:pPr algn="l">
              <a:defRPr sz="2775" b="0">
                <a:solidFill>
                  <a:srgbClr val="202124"/>
                </a:solidFill>
                <a:latin typeface="Roboto"/>
                <a:ea typeface="Roboto"/>
                <a:cs typeface="Roboto"/>
              </a:defRPr>
            </a:pPr>
            <a:r>
              <a:rPr sz="2775" b="0">
                <a:solidFill>
                  <a:srgbClr val="202124"/>
                </a:solidFill>
                <a:latin typeface="Roboto"/>
                <a:ea typeface="Roboto"/>
                <a:cs typeface="Roboto"/>
              </a:rPr>
              <a:t>Servono annotazioni specifiche</a:t>
            </a:r>
          </a:p>
          <a:p>
            <a:pPr algn="l">
              <a:defRPr sz="2775" b="0">
                <a:solidFill>
                  <a:srgbClr val="202124"/>
                </a:solidFill>
                <a:latin typeface="Roboto"/>
                <a:ea typeface="Roboto"/>
                <a:cs typeface="Roboto"/>
              </a:defRPr>
            </a:pPr>
            <a:r>
              <a:rPr sz="2775" b="0">
                <a:solidFill>
                  <a:srgbClr val="202124"/>
                </a:solidFill>
                <a:latin typeface="Roboto"/>
                <a:ea typeface="Roboto"/>
                <a:cs typeface="Roboto"/>
              </a:rPr>
              <a:t>delle perforazioni</a:t>
            </a:r>
          </a:p>
        </p:txBody>
      </p:sp>
      <p:sp>
        <p:nvSpPr>
          <p:cNvPr id="8" name="synthetic-answer">
            <a:extLst>
              <a:ext uri="{FF2B5EF4-FFF2-40B4-BE49-F238E27FC236}">
                <a16:creationId xmlns:a16="http://schemas.microsoft.com/office/drawing/2014/main" id="{160AA2B8-6A27-475F-B44A-003948AECA1A}"/>
              </a:ext>
            </a:extLst>
          </p:cNvPr>
          <p:cNvSpPr>
            <a:spLocks noGrp="1"/>
          </p:cNvSpPr>
          <p:nvPr/>
        </p:nvSpPr>
        <p:spPr>
          <a:xfrm>
            <a:off x="952500" y="4229100"/>
            <a:ext cx="9715500" cy="542925"/>
          </a:xfrm>
          <a:prstGeom prst="rect">
            <a:avLst/>
          </a:prstGeom>
          <a:noFill/>
          <a:ln w="0">
            <a:noFill/>
          </a:ln>
        </p:spPr>
        <p:txBody>
          <a:bodyPr wrap="square" lIns="0" tIns="0" rIns="0" bIns="0" anchor="t">
            <a:noAutofit/>
          </a:bodyPr>
          <a:lstStyle>
            <a:defPPr algn="l">
              <a:defRPr sz="2850" b="1">
                <a:solidFill>
                  <a:srgbClr val="822433"/>
                </a:solidFill>
                <a:latin typeface="Roboto"/>
                <a:ea typeface="Roboto"/>
                <a:cs typeface="Roboto"/>
              </a:defRPr>
            </a:defPPr>
            <a:lvl1pPr algn="l">
              <a:defRPr sz="2850" b="1">
                <a:solidFill>
                  <a:srgbClr val="822433"/>
                </a:solidFill>
                <a:latin typeface="Roboto"/>
                <a:ea typeface="Roboto"/>
                <a:cs typeface="Roboto"/>
              </a:defRPr>
            </a:lvl1pPr>
            <a:lvl2pPr algn="l">
              <a:defRPr sz="2850" b="1">
                <a:solidFill>
                  <a:srgbClr val="822433"/>
                </a:solidFill>
                <a:latin typeface="Roboto"/>
                <a:ea typeface="Roboto"/>
                <a:cs typeface="Roboto"/>
              </a:defRPr>
            </a:lvl2pPr>
            <a:lvl3pPr algn="l">
              <a:defRPr sz="2850" b="1">
                <a:solidFill>
                  <a:srgbClr val="822433"/>
                </a:solidFill>
                <a:latin typeface="Roboto"/>
                <a:ea typeface="Roboto"/>
                <a:cs typeface="Roboto"/>
              </a:defRPr>
            </a:lvl3pPr>
            <a:lvl4pPr algn="l">
              <a:defRPr sz="2850" b="1">
                <a:solidFill>
                  <a:srgbClr val="822433"/>
                </a:solidFill>
                <a:latin typeface="Roboto"/>
                <a:ea typeface="Roboto"/>
                <a:cs typeface="Roboto"/>
              </a:defRPr>
            </a:lvl4pPr>
            <a:lvl5pPr algn="l">
              <a:defRPr sz="2850" b="1">
                <a:solidFill>
                  <a:srgbClr val="822433"/>
                </a:solidFill>
                <a:latin typeface="Roboto"/>
                <a:ea typeface="Roboto"/>
                <a:cs typeface="Roboto"/>
              </a:defRPr>
            </a:lvl5pPr>
            <a:lvl6pPr algn="l">
              <a:defRPr sz="2850" b="1">
                <a:solidFill>
                  <a:srgbClr val="822433"/>
                </a:solidFill>
                <a:latin typeface="Roboto"/>
                <a:ea typeface="Roboto"/>
                <a:cs typeface="Roboto"/>
              </a:defRPr>
            </a:lvl6pPr>
            <a:lvl7pPr algn="l">
              <a:defRPr sz="2850" b="1">
                <a:solidFill>
                  <a:srgbClr val="822433"/>
                </a:solidFill>
                <a:latin typeface="Roboto"/>
                <a:ea typeface="Roboto"/>
                <a:cs typeface="Roboto"/>
              </a:defRPr>
            </a:lvl7pPr>
            <a:lvl8pPr algn="l">
              <a:defRPr sz="2850" b="1">
                <a:solidFill>
                  <a:srgbClr val="822433"/>
                </a:solidFill>
                <a:latin typeface="Roboto"/>
                <a:ea typeface="Roboto"/>
                <a:cs typeface="Roboto"/>
              </a:defRPr>
            </a:lvl8pPr>
            <a:lvl9pPr algn="l">
              <a:defRPr sz="2850" b="1">
                <a:solidFill>
                  <a:srgbClr val="822433"/>
                </a:solidFill>
                <a:latin typeface="Roboto"/>
                <a:ea typeface="Roboto"/>
                <a:cs typeface="Roboto"/>
              </a:defRPr>
            </a:lvl9pPr>
          </a:lstStyle>
          <a:p>
            <a:pPr algn="l">
              <a:defRPr sz="2850" b="1">
                <a:solidFill>
                  <a:srgbClr val="822433"/>
                </a:solidFill>
                <a:latin typeface="Roboto"/>
                <a:ea typeface="Roboto"/>
                <a:cs typeface="Roboto"/>
              </a:defRPr>
            </a:pPr>
            <a:r>
              <a:rPr sz="2850" b="1">
                <a:solidFill>
                  <a:srgbClr val="822433"/>
                </a:solidFill>
                <a:latin typeface="Roboto"/>
                <a:ea typeface="Roboto"/>
                <a:cs typeface="Roboto"/>
              </a:rPr>
              <a:t>Generazione sintetica</a:t>
            </a:r>
          </a:p>
        </p:txBody>
      </p:sp>
      <p:sp>
        <p:nvSpPr>
          <p:cNvPr id="9" name="synthetic-benefit">
            <a:extLst>
              <a:ext uri="{FF2B5EF4-FFF2-40B4-BE49-F238E27FC236}">
                <a16:creationId xmlns:a16="http://schemas.microsoft.com/office/drawing/2014/main" id="{422BC563-33BB-44CE-9BC3-04D7570E8A33}"/>
              </a:ext>
            </a:extLst>
          </p:cNvPr>
          <p:cNvSpPr>
            <a:spLocks noGrp="1"/>
          </p:cNvSpPr>
          <p:nvPr/>
        </p:nvSpPr>
        <p:spPr>
          <a:xfrm>
            <a:off x="952500" y="4981575"/>
            <a:ext cx="9810750" cy="552450"/>
          </a:xfrm>
          <a:prstGeom prst="rect">
            <a:avLst/>
          </a:prstGeom>
          <a:noFill/>
          <a:ln w="0">
            <a:noFill/>
          </a:ln>
        </p:spPr>
        <p:txBody>
          <a:bodyPr wrap="square" lIns="0" tIns="0" rIns="0" bIns="0" anchor="t">
            <a:noAutofit/>
          </a:bodyPr>
          <a:lstStyle>
            <a:defPPr algn="l">
              <a:defRPr sz="2400" b="0">
                <a:solidFill>
                  <a:srgbClr val="202124"/>
                </a:solidFill>
                <a:latin typeface="Roboto"/>
                <a:ea typeface="Roboto"/>
                <a:cs typeface="Roboto"/>
              </a:defRPr>
            </a:defPPr>
            <a:lvl1pPr algn="l">
              <a:defRPr sz="2400" b="0">
                <a:solidFill>
                  <a:srgbClr val="202124"/>
                </a:solidFill>
                <a:latin typeface="Roboto"/>
                <a:ea typeface="Roboto"/>
                <a:cs typeface="Roboto"/>
              </a:defRPr>
            </a:lvl1pPr>
            <a:lvl2pPr algn="l">
              <a:defRPr sz="2400" b="0">
                <a:solidFill>
                  <a:srgbClr val="202124"/>
                </a:solidFill>
                <a:latin typeface="Roboto"/>
                <a:ea typeface="Roboto"/>
                <a:cs typeface="Roboto"/>
              </a:defRPr>
            </a:lvl2pPr>
            <a:lvl3pPr algn="l">
              <a:defRPr sz="2400" b="0">
                <a:solidFill>
                  <a:srgbClr val="202124"/>
                </a:solidFill>
                <a:latin typeface="Roboto"/>
                <a:ea typeface="Roboto"/>
                <a:cs typeface="Roboto"/>
              </a:defRPr>
            </a:lvl3pPr>
            <a:lvl4pPr algn="l">
              <a:defRPr sz="2400" b="0">
                <a:solidFill>
                  <a:srgbClr val="202124"/>
                </a:solidFill>
                <a:latin typeface="Roboto"/>
                <a:ea typeface="Roboto"/>
                <a:cs typeface="Roboto"/>
              </a:defRPr>
            </a:lvl4pPr>
            <a:lvl5pPr algn="l">
              <a:defRPr sz="2400" b="0">
                <a:solidFill>
                  <a:srgbClr val="202124"/>
                </a:solidFill>
                <a:latin typeface="Roboto"/>
                <a:ea typeface="Roboto"/>
                <a:cs typeface="Roboto"/>
              </a:defRPr>
            </a:lvl5pPr>
            <a:lvl6pPr algn="l">
              <a:defRPr sz="2400" b="0">
                <a:solidFill>
                  <a:srgbClr val="202124"/>
                </a:solidFill>
                <a:latin typeface="Roboto"/>
                <a:ea typeface="Roboto"/>
                <a:cs typeface="Roboto"/>
              </a:defRPr>
            </a:lvl6pPr>
            <a:lvl7pPr algn="l">
              <a:defRPr sz="2400" b="0">
                <a:solidFill>
                  <a:srgbClr val="202124"/>
                </a:solidFill>
                <a:latin typeface="Roboto"/>
                <a:ea typeface="Roboto"/>
                <a:cs typeface="Roboto"/>
              </a:defRPr>
            </a:lvl7pPr>
            <a:lvl8pPr algn="l">
              <a:defRPr sz="2400" b="0">
                <a:solidFill>
                  <a:srgbClr val="202124"/>
                </a:solidFill>
                <a:latin typeface="Roboto"/>
                <a:ea typeface="Roboto"/>
                <a:cs typeface="Roboto"/>
              </a:defRPr>
            </a:lvl8pPr>
            <a:lvl9pPr algn="l">
              <a:defRPr sz="2400" b="0">
                <a:solidFill>
                  <a:srgbClr val="202124"/>
                </a:solidFill>
                <a:latin typeface="Roboto"/>
                <a:ea typeface="Roboto"/>
                <a:cs typeface="Roboto"/>
              </a:defRPr>
            </a:lvl9pPr>
          </a:lstStyle>
          <a:p>
            <a:pPr algn="l">
              <a:defRPr sz="2400" b="0">
                <a:solidFill>
                  <a:srgbClr val="202124"/>
                </a:solidFill>
                <a:latin typeface="Roboto"/>
                <a:ea typeface="Roboto"/>
                <a:cs typeface="Roboto"/>
              </a:defRPr>
            </a:pPr>
            <a:r>
              <a:rPr sz="2400" b="0">
                <a:solidFill>
                  <a:srgbClr val="202124"/>
                </a:solidFill>
                <a:latin typeface="Roboto"/>
                <a:ea typeface="Roboto"/>
                <a:cs typeface="Roboto"/>
              </a:rPr>
              <a:t>Scene controllate e maschere automatiche</a:t>
            </a:r>
          </a:p>
        </p:txBody>
      </p:sp>
    </p:spTree>
    <p:extLst>
      <p:ext uri="{BB962C8B-B14F-4D97-AF65-F5344CB8AC3E}">
        <p14:creationId xmlns:p14="http://schemas.microsoft.com/office/powerpoint/2010/main" val="222343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2F29D29B-6249-4614-AE3D-F2E013344929}"/>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La scena di generazione in Blender</a:t>
            </a:r>
          </a:p>
        </p:txBody>
      </p:sp>
      <p:sp>
        <p:nvSpPr>
          <p:cNvPr id="2" name="template-footer">
            <a:extLst>
              <a:ext uri="{FF2B5EF4-FFF2-40B4-BE49-F238E27FC236}">
                <a16:creationId xmlns:a16="http://schemas.microsoft.com/office/drawing/2014/main" id="{41C941E8-6478-4A41-AB32-AE1E8EC23DE8}"/>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EE3F5CE0-CEBC-4782-ADAD-E9B7D8C7AAD2}"/>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264752E5-2042-4288-BBC8-65433D46A67F}"/>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10/28</a:t>
            </a:r>
          </a:p>
        </p:txBody>
      </p:sp>
      <p:sp>
        <p:nvSpPr>
          <p:cNvPr id="5" name="source-citations">
            <a:extLst>
              <a:ext uri="{FF2B5EF4-FFF2-40B4-BE49-F238E27FC236}">
                <a16:creationId xmlns:a16="http://schemas.microsoft.com/office/drawing/2014/main" id="{03739BC4-4D93-4055-8E4C-C8E97DEAD84C}"/>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dirty="0">
                <a:solidFill>
                  <a:srgbClr val="62666B"/>
                </a:solidFill>
                <a:latin typeface="Roboto"/>
                <a:ea typeface="Roboto"/>
                <a:cs typeface="Roboto"/>
              </a:rPr>
              <a:t>[12] [13]</a:t>
            </a:r>
          </a:p>
        </p:txBody>
      </p:sp>
      <p:pic>
        <p:nvPicPr>
          <p:cNvPr id="6" name="Immagine 5">
            <a:extLst>
              <a:ext uri="{FF2B5EF4-FFF2-40B4-BE49-F238E27FC236}">
                <a16:creationId xmlns:a16="http://schemas.microsoft.com/office/drawing/2014/main" id="{45826249-0BA8-43CC-8544-C4EEB6C796A3}"/>
              </a:ext>
            </a:extLst>
          </p:cNvPr>
          <p:cNvPicPr>
            <a:picLocks noChangeAspect="1"/>
          </p:cNvPicPr>
          <p:nvPr/>
        </p:nvPicPr>
        <p:blipFill>
          <a:blip r:embed="rId3"/>
          <a:stretch/>
        </p:blipFill>
        <p:spPr>
          <a:xfrm>
            <a:off x="1390650" y="1476375"/>
            <a:ext cx="5791200" cy="4343400"/>
          </a:xfrm>
          <a:prstGeom prst="rect">
            <a:avLst/>
          </a:prstGeom>
        </p:spPr>
      </p:pic>
      <p:sp>
        <p:nvSpPr>
          <p:cNvPr id="7" name="asset">
            <a:extLst>
              <a:ext uri="{FF2B5EF4-FFF2-40B4-BE49-F238E27FC236}">
                <a16:creationId xmlns:a16="http://schemas.microsoft.com/office/drawing/2014/main" id="{78DFD08C-49DE-4AB3-A168-EFB065B2D727}"/>
              </a:ext>
            </a:extLst>
          </p:cNvPr>
          <p:cNvSpPr>
            <a:spLocks noGrp="1"/>
          </p:cNvSpPr>
          <p:nvPr/>
        </p:nvSpPr>
        <p:spPr>
          <a:xfrm>
            <a:off x="8001000" y="2095500"/>
            <a:ext cx="3381375" cy="847725"/>
          </a:xfrm>
          <a:prstGeom prst="rect">
            <a:avLst/>
          </a:prstGeom>
          <a:noFill/>
          <a:ln w="0">
            <a:noFill/>
          </a:ln>
        </p:spPr>
        <p:txBody>
          <a:bodyPr wrap="square" lIns="0" tIns="0" rIns="0" bIns="0" anchor="t">
            <a:noAutofit/>
          </a:bodyPr>
          <a:lstStyle>
            <a:defPPr algn="l">
              <a:defRPr sz="2325" b="1">
                <a:solidFill>
                  <a:srgbClr val="822433"/>
                </a:solidFill>
                <a:latin typeface="Roboto"/>
                <a:ea typeface="Roboto"/>
                <a:cs typeface="Roboto"/>
              </a:defRPr>
            </a:defPPr>
            <a:lvl1pPr algn="l">
              <a:defRPr sz="2325" b="1">
                <a:solidFill>
                  <a:srgbClr val="822433"/>
                </a:solidFill>
                <a:latin typeface="Roboto"/>
                <a:ea typeface="Roboto"/>
                <a:cs typeface="Roboto"/>
              </a:defRPr>
            </a:lvl1pPr>
            <a:lvl2pPr algn="l">
              <a:defRPr sz="2325" b="1">
                <a:solidFill>
                  <a:srgbClr val="822433"/>
                </a:solidFill>
                <a:latin typeface="Roboto"/>
                <a:ea typeface="Roboto"/>
                <a:cs typeface="Roboto"/>
              </a:defRPr>
            </a:lvl2pPr>
            <a:lvl3pPr algn="l">
              <a:defRPr sz="2325" b="1">
                <a:solidFill>
                  <a:srgbClr val="822433"/>
                </a:solidFill>
                <a:latin typeface="Roboto"/>
                <a:ea typeface="Roboto"/>
                <a:cs typeface="Roboto"/>
              </a:defRPr>
            </a:lvl3pPr>
            <a:lvl4pPr algn="l">
              <a:defRPr sz="2325" b="1">
                <a:solidFill>
                  <a:srgbClr val="822433"/>
                </a:solidFill>
                <a:latin typeface="Roboto"/>
                <a:ea typeface="Roboto"/>
                <a:cs typeface="Roboto"/>
              </a:defRPr>
            </a:lvl4pPr>
            <a:lvl5pPr algn="l">
              <a:defRPr sz="2325" b="1">
                <a:solidFill>
                  <a:srgbClr val="822433"/>
                </a:solidFill>
                <a:latin typeface="Roboto"/>
                <a:ea typeface="Roboto"/>
                <a:cs typeface="Roboto"/>
              </a:defRPr>
            </a:lvl5pPr>
            <a:lvl6pPr algn="l">
              <a:defRPr sz="2325" b="1">
                <a:solidFill>
                  <a:srgbClr val="822433"/>
                </a:solidFill>
                <a:latin typeface="Roboto"/>
                <a:ea typeface="Roboto"/>
                <a:cs typeface="Roboto"/>
              </a:defRPr>
            </a:lvl6pPr>
            <a:lvl7pPr algn="l">
              <a:defRPr sz="2325" b="1">
                <a:solidFill>
                  <a:srgbClr val="822433"/>
                </a:solidFill>
                <a:latin typeface="Roboto"/>
                <a:ea typeface="Roboto"/>
                <a:cs typeface="Roboto"/>
              </a:defRPr>
            </a:lvl7pPr>
            <a:lvl8pPr algn="l">
              <a:defRPr sz="2325" b="1">
                <a:solidFill>
                  <a:srgbClr val="822433"/>
                </a:solidFill>
                <a:latin typeface="Roboto"/>
                <a:ea typeface="Roboto"/>
                <a:cs typeface="Roboto"/>
              </a:defRPr>
            </a:lvl8pPr>
            <a:lvl9pPr algn="l">
              <a:defRPr sz="2325" b="1">
                <a:solidFill>
                  <a:srgbClr val="822433"/>
                </a:solidFill>
                <a:latin typeface="Roboto"/>
                <a:ea typeface="Roboto"/>
                <a:cs typeface="Roboto"/>
              </a:defRPr>
            </a:lvl9pPr>
          </a:lstStyle>
          <a:p>
            <a:pPr algn="l">
              <a:defRPr sz="2325" b="1">
                <a:solidFill>
                  <a:srgbClr val="822433"/>
                </a:solidFill>
                <a:latin typeface="Roboto"/>
                <a:ea typeface="Roboto"/>
                <a:cs typeface="Roboto"/>
              </a:defRPr>
            </a:pPr>
            <a:r>
              <a:rPr sz="2325" b="1">
                <a:solidFill>
                  <a:srgbClr val="822433"/>
                </a:solidFill>
                <a:latin typeface="Roboto"/>
                <a:ea typeface="Roboto"/>
                <a:cs typeface="Roboto"/>
              </a:rPr>
              <a:t>Asset Curiosity NASA</a:t>
            </a:r>
          </a:p>
        </p:txBody>
      </p:sp>
      <p:sp>
        <p:nvSpPr>
          <p:cNvPr id="8" name="terrain">
            <a:extLst>
              <a:ext uri="{FF2B5EF4-FFF2-40B4-BE49-F238E27FC236}">
                <a16:creationId xmlns:a16="http://schemas.microsoft.com/office/drawing/2014/main" id="{AB37F19C-59F4-4A4A-A2DA-5F2D1FC5E0DC}"/>
              </a:ext>
            </a:extLst>
          </p:cNvPr>
          <p:cNvSpPr>
            <a:spLocks noGrp="1"/>
          </p:cNvSpPr>
          <p:nvPr/>
        </p:nvSpPr>
        <p:spPr>
          <a:xfrm>
            <a:off x="8001000" y="3524250"/>
            <a:ext cx="3381375" cy="1219200"/>
          </a:xfrm>
          <a:prstGeom prst="rect">
            <a:avLst/>
          </a:prstGeom>
          <a:noFill/>
          <a:ln w="0">
            <a:noFill/>
          </a:ln>
        </p:spPr>
        <p:txBody>
          <a:bodyPr wrap="square" lIns="0" tIns="0" rIns="0" bIns="0" anchor="t">
            <a:noAutofit/>
          </a:bodyPr>
          <a:lstStyle>
            <a:defPPr algn="l">
              <a:defRPr sz="2250" b="0">
                <a:solidFill>
                  <a:srgbClr val="202124"/>
                </a:solidFill>
                <a:latin typeface="Roboto"/>
                <a:ea typeface="Roboto"/>
                <a:cs typeface="Roboto"/>
              </a:defRPr>
            </a:defPPr>
            <a:lvl1pPr algn="l">
              <a:defRPr sz="2250" b="0">
                <a:solidFill>
                  <a:srgbClr val="202124"/>
                </a:solidFill>
                <a:latin typeface="Roboto"/>
                <a:ea typeface="Roboto"/>
                <a:cs typeface="Roboto"/>
              </a:defRPr>
            </a:lvl1pPr>
            <a:lvl2pPr algn="l">
              <a:defRPr sz="2250" b="0">
                <a:solidFill>
                  <a:srgbClr val="202124"/>
                </a:solidFill>
                <a:latin typeface="Roboto"/>
                <a:ea typeface="Roboto"/>
                <a:cs typeface="Roboto"/>
              </a:defRPr>
            </a:lvl2pPr>
            <a:lvl3pPr algn="l">
              <a:defRPr sz="2250" b="0">
                <a:solidFill>
                  <a:srgbClr val="202124"/>
                </a:solidFill>
                <a:latin typeface="Roboto"/>
                <a:ea typeface="Roboto"/>
                <a:cs typeface="Roboto"/>
              </a:defRPr>
            </a:lvl3pPr>
            <a:lvl4pPr algn="l">
              <a:defRPr sz="2250" b="0">
                <a:solidFill>
                  <a:srgbClr val="202124"/>
                </a:solidFill>
                <a:latin typeface="Roboto"/>
                <a:ea typeface="Roboto"/>
                <a:cs typeface="Roboto"/>
              </a:defRPr>
            </a:lvl4pPr>
            <a:lvl5pPr algn="l">
              <a:defRPr sz="2250" b="0">
                <a:solidFill>
                  <a:srgbClr val="202124"/>
                </a:solidFill>
                <a:latin typeface="Roboto"/>
                <a:ea typeface="Roboto"/>
                <a:cs typeface="Roboto"/>
              </a:defRPr>
            </a:lvl5pPr>
            <a:lvl6pPr algn="l">
              <a:defRPr sz="2250" b="0">
                <a:solidFill>
                  <a:srgbClr val="202124"/>
                </a:solidFill>
                <a:latin typeface="Roboto"/>
                <a:ea typeface="Roboto"/>
                <a:cs typeface="Roboto"/>
              </a:defRPr>
            </a:lvl6pPr>
            <a:lvl7pPr algn="l">
              <a:defRPr sz="2250" b="0">
                <a:solidFill>
                  <a:srgbClr val="202124"/>
                </a:solidFill>
                <a:latin typeface="Roboto"/>
                <a:ea typeface="Roboto"/>
                <a:cs typeface="Roboto"/>
              </a:defRPr>
            </a:lvl7pPr>
            <a:lvl8pPr algn="l">
              <a:defRPr sz="2250" b="0">
                <a:solidFill>
                  <a:srgbClr val="202124"/>
                </a:solidFill>
                <a:latin typeface="Roboto"/>
                <a:ea typeface="Roboto"/>
                <a:cs typeface="Roboto"/>
              </a:defRPr>
            </a:lvl8pPr>
            <a:lvl9pPr algn="l">
              <a:defRPr sz="2250" b="0">
                <a:solidFill>
                  <a:srgbClr val="202124"/>
                </a:solidFill>
                <a:latin typeface="Roboto"/>
                <a:ea typeface="Roboto"/>
                <a:cs typeface="Roboto"/>
              </a:defRPr>
            </a:lvl9pPr>
          </a:lstStyle>
          <a:p>
            <a:pPr algn="l">
              <a:defRPr sz="2250" b="0">
                <a:solidFill>
                  <a:srgbClr val="202124"/>
                </a:solidFill>
                <a:latin typeface="Roboto"/>
                <a:ea typeface="Roboto"/>
                <a:cs typeface="Roboto"/>
              </a:defRPr>
            </a:pPr>
            <a:r>
              <a:rPr sz="2250" b="0">
                <a:solidFill>
                  <a:srgbClr val="202124"/>
                </a:solidFill>
                <a:latin typeface="Roboto"/>
                <a:ea typeface="Roboto"/>
                <a:cs typeface="Roboto"/>
              </a:rPr>
              <a:t>Terreno HiRISE</a:t>
            </a:r>
          </a:p>
          <a:p>
            <a:pPr algn="l">
              <a:defRPr sz="2250" b="0">
                <a:solidFill>
                  <a:srgbClr val="202124"/>
                </a:solidFill>
                <a:latin typeface="Roboto"/>
                <a:ea typeface="Roboto"/>
                <a:cs typeface="Roboto"/>
              </a:defRPr>
            </a:pPr>
            <a:r>
              <a:rPr sz="2250" b="0">
                <a:solidFill>
                  <a:srgbClr val="202124"/>
                </a:solidFill>
                <a:latin typeface="Roboto"/>
                <a:ea typeface="Roboto"/>
                <a:cs typeface="Roboto"/>
              </a:rPr>
              <a:t>e dettaglio procedurale</a:t>
            </a:r>
          </a:p>
        </p:txBody>
      </p:sp>
    </p:spTree>
    <p:extLst>
      <p:ext uri="{BB962C8B-B14F-4D97-AF65-F5344CB8AC3E}">
        <p14:creationId xmlns:p14="http://schemas.microsoft.com/office/powerpoint/2010/main" val="222343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48F48CDC-CDC4-4644-8593-826068824CEE}"/>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Danno sintetico e maschere automatiche</a:t>
            </a:r>
          </a:p>
        </p:txBody>
      </p:sp>
      <p:sp>
        <p:nvSpPr>
          <p:cNvPr id="2" name="template-footer">
            <a:extLst>
              <a:ext uri="{FF2B5EF4-FFF2-40B4-BE49-F238E27FC236}">
                <a16:creationId xmlns:a16="http://schemas.microsoft.com/office/drawing/2014/main" id="{9BB05080-8A11-410E-BF8E-30DB03621538}"/>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A04F7564-2B5F-4A31-98BD-110FC6F73FBC}"/>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C55FF587-7191-453B-8590-6616039D62D7}"/>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11/28</a:t>
            </a:r>
          </a:p>
        </p:txBody>
      </p:sp>
      <p:sp>
        <p:nvSpPr>
          <p:cNvPr id="5" name="source-citations">
            <a:extLst>
              <a:ext uri="{FF2B5EF4-FFF2-40B4-BE49-F238E27FC236}">
                <a16:creationId xmlns:a16="http://schemas.microsoft.com/office/drawing/2014/main" id="{F70055F5-1269-4C28-9DF3-1F1F6AE5771B}"/>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Elaborazione della tesi</a:t>
            </a:r>
          </a:p>
        </p:txBody>
      </p:sp>
      <p:sp>
        <p:nvSpPr>
          <p:cNvPr id="6" name="label-paired-normal.png">
            <a:extLst>
              <a:ext uri="{FF2B5EF4-FFF2-40B4-BE49-F238E27FC236}">
                <a16:creationId xmlns:a16="http://schemas.microsoft.com/office/drawing/2014/main" id="{4216CCA8-E334-4DC9-B12E-251552E898C3}"/>
              </a:ext>
            </a:extLst>
          </p:cNvPr>
          <p:cNvSpPr>
            <a:spLocks noGrp="1"/>
          </p:cNvSpPr>
          <p:nvPr/>
        </p:nvSpPr>
        <p:spPr>
          <a:xfrm>
            <a:off x="904875" y="1581150"/>
            <a:ext cx="3190875" cy="381000"/>
          </a:xfrm>
          <a:prstGeom prst="rect">
            <a:avLst/>
          </a:prstGeom>
          <a:noFill/>
          <a:ln w="0">
            <a:noFill/>
          </a:ln>
        </p:spPr>
        <p:txBody>
          <a:bodyPr wrap="square" lIns="0" tIns="0" rIns="0" bIns="0" anchor="t">
            <a:noAutofit/>
          </a:bodyPr>
          <a:lstStyle>
            <a:defPPr algn="ctr">
              <a:defRPr sz="2025" b="1">
                <a:solidFill>
                  <a:srgbClr val="822433"/>
                </a:solidFill>
                <a:latin typeface="Roboto"/>
                <a:ea typeface="Roboto"/>
                <a:cs typeface="Roboto"/>
              </a:defRPr>
            </a:defPPr>
            <a:lvl1pPr algn="ctr">
              <a:defRPr sz="2025" b="1">
                <a:solidFill>
                  <a:srgbClr val="822433"/>
                </a:solidFill>
                <a:latin typeface="Roboto"/>
                <a:ea typeface="Roboto"/>
                <a:cs typeface="Roboto"/>
              </a:defRPr>
            </a:lvl1pPr>
            <a:lvl2pPr algn="ctr">
              <a:defRPr sz="2025" b="1">
                <a:solidFill>
                  <a:srgbClr val="822433"/>
                </a:solidFill>
                <a:latin typeface="Roboto"/>
                <a:ea typeface="Roboto"/>
                <a:cs typeface="Roboto"/>
              </a:defRPr>
            </a:lvl2pPr>
            <a:lvl3pPr algn="ctr">
              <a:defRPr sz="2025" b="1">
                <a:solidFill>
                  <a:srgbClr val="822433"/>
                </a:solidFill>
                <a:latin typeface="Roboto"/>
                <a:ea typeface="Roboto"/>
                <a:cs typeface="Roboto"/>
              </a:defRPr>
            </a:lvl3pPr>
            <a:lvl4pPr algn="ctr">
              <a:defRPr sz="2025" b="1">
                <a:solidFill>
                  <a:srgbClr val="822433"/>
                </a:solidFill>
                <a:latin typeface="Roboto"/>
                <a:ea typeface="Roboto"/>
                <a:cs typeface="Roboto"/>
              </a:defRPr>
            </a:lvl4pPr>
            <a:lvl5pPr algn="ctr">
              <a:defRPr sz="2025" b="1">
                <a:solidFill>
                  <a:srgbClr val="822433"/>
                </a:solidFill>
                <a:latin typeface="Roboto"/>
                <a:ea typeface="Roboto"/>
                <a:cs typeface="Roboto"/>
              </a:defRPr>
            </a:lvl5pPr>
            <a:lvl6pPr algn="ctr">
              <a:defRPr sz="2025" b="1">
                <a:solidFill>
                  <a:srgbClr val="822433"/>
                </a:solidFill>
                <a:latin typeface="Roboto"/>
                <a:ea typeface="Roboto"/>
                <a:cs typeface="Roboto"/>
              </a:defRPr>
            </a:lvl6pPr>
            <a:lvl7pPr algn="ctr">
              <a:defRPr sz="2025" b="1">
                <a:solidFill>
                  <a:srgbClr val="822433"/>
                </a:solidFill>
                <a:latin typeface="Roboto"/>
                <a:ea typeface="Roboto"/>
                <a:cs typeface="Roboto"/>
              </a:defRPr>
            </a:lvl7pPr>
            <a:lvl8pPr algn="ctr">
              <a:defRPr sz="2025" b="1">
                <a:solidFill>
                  <a:srgbClr val="822433"/>
                </a:solidFill>
                <a:latin typeface="Roboto"/>
                <a:ea typeface="Roboto"/>
                <a:cs typeface="Roboto"/>
              </a:defRPr>
            </a:lvl8pPr>
            <a:lvl9pPr algn="ctr">
              <a:defRPr sz="2025" b="1">
                <a:solidFill>
                  <a:srgbClr val="822433"/>
                </a:solidFill>
                <a:latin typeface="Roboto"/>
                <a:ea typeface="Roboto"/>
                <a:cs typeface="Roboto"/>
              </a:defRPr>
            </a:lvl9pPr>
          </a:lstStyle>
          <a:p>
            <a:pPr algn="ctr">
              <a:defRPr sz="2025" b="1">
                <a:solidFill>
                  <a:srgbClr val="822433"/>
                </a:solidFill>
                <a:latin typeface="Roboto"/>
                <a:ea typeface="Roboto"/>
                <a:cs typeface="Roboto"/>
              </a:defRPr>
            </a:pPr>
            <a:r>
              <a:rPr sz="2025" b="1">
                <a:solidFill>
                  <a:srgbClr val="822433"/>
                </a:solidFill>
                <a:latin typeface="Roboto"/>
                <a:ea typeface="Roboto"/>
                <a:cs typeface="Roboto"/>
              </a:rPr>
              <a:t>Normale</a:t>
            </a:r>
          </a:p>
        </p:txBody>
      </p:sp>
      <p:pic>
        <p:nvPicPr>
          <p:cNvPr id="7" name="Immagine 6">
            <a:extLst>
              <a:ext uri="{FF2B5EF4-FFF2-40B4-BE49-F238E27FC236}">
                <a16:creationId xmlns:a16="http://schemas.microsoft.com/office/drawing/2014/main" id="{D13B8CA3-ACA9-4E88-8069-CC96F068D0E8}"/>
              </a:ext>
            </a:extLst>
          </p:cNvPr>
          <p:cNvPicPr>
            <a:picLocks noChangeAspect="1"/>
          </p:cNvPicPr>
          <p:nvPr/>
        </p:nvPicPr>
        <p:blipFill>
          <a:blip r:embed="rId3"/>
          <a:stretch/>
        </p:blipFill>
        <p:spPr>
          <a:xfrm>
            <a:off x="904875" y="2270522"/>
            <a:ext cx="3190875" cy="2393156"/>
          </a:xfrm>
          <a:prstGeom prst="rect">
            <a:avLst/>
          </a:prstGeom>
        </p:spPr>
      </p:pic>
      <p:sp>
        <p:nvSpPr>
          <p:cNvPr id="8" name="label-paired-hole.png">
            <a:extLst>
              <a:ext uri="{FF2B5EF4-FFF2-40B4-BE49-F238E27FC236}">
                <a16:creationId xmlns:a16="http://schemas.microsoft.com/office/drawing/2014/main" id="{1BE14879-823A-4332-9D9A-3BBD33D1DE1B}"/>
              </a:ext>
            </a:extLst>
          </p:cNvPr>
          <p:cNvSpPr>
            <a:spLocks noGrp="1"/>
          </p:cNvSpPr>
          <p:nvPr/>
        </p:nvSpPr>
        <p:spPr>
          <a:xfrm>
            <a:off x="4362450" y="1581150"/>
            <a:ext cx="3190875" cy="381000"/>
          </a:xfrm>
          <a:prstGeom prst="rect">
            <a:avLst/>
          </a:prstGeom>
          <a:noFill/>
          <a:ln w="0">
            <a:noFill/>
          </a:ln>
        </p:spPr>
        <p:txBody>
          <a:bodyPr wrap="square" lIns="0" tIns="0" rIns="0" bIns="0" anchor="t">
            <a:noAutofit/>
          </a:bodyPr>
          <a:lstStyle>
            <a:defPPr algn="ctr">
              <a:defRPr sz="2025" b="1">
                <a:solidFill>
                  <a:srgbClr val="822433"/>
                </a:solidFill>
                <a:latin typeface="Roboto"/>
                <a:ea typeface="Roboto"/>
                <a:cs typeface="Roboto"/>
              </a:defRPr>
            </a:defPPr>
            <a:lvl1pPr algn="ctr">
              <a:defRPr sz="2025" b="1">
                <a:solidFill>
                  <a:srgbClr val="822433"/>
                </a:solidFill>
                <a:latin typeface="Roboto"/>
                <a:ea typeface="Roboto"/>
                <a:cs typeface="Roboto"/>
              </a:defRPr>
            </a:lvl1pPr>
            <a:lvl2pPr algn="ctr">
              <a:defRPr sz="2025" b="1">
                <a:solidFill>
                  <a:srgbClr val="822433"/>
                </a:solidFill>
                <a:latin typeface="Roboto"/>
                <a:ea typeface="Roboto"/>
                <a:cs typeface="Roboto"/>
              </a:defRPr>
            </a:lvl2pPr>
            <a:lvl3pPr algn="ctr">
              <a:defRPr sz="2025" b="1">
                <a:solidFill>
                  <a:srgbClr val="822433"/>
                </a:solidFill>
                <a:latin typeface="Roboto"/>
                <a:ea typeface="Roboto"/>
                <a:cs typeface="Roboto"/>
              </a:defRPr>
            </a:lvl3pPr>
            <a:lvl4pPr algn="ctr">
              <a:defRPr sz="2025" b="1">
                <a:solidFill>
                  <a:srgbClr val="822433"/>
                </a:solidFill>
                <a:latin typeface="Roboto"/>
                <a:ea typeface="Roboto"/>
                <a:cs typeface="Roboto"/>
              </a:defRPr>
            </a:lvl4pPr>
            <a:lvl5pPr algn="ctr">
              <a:defRPr sz="2025" b="1">
                <a:solidFill>
                  <a:srgbClr val="822433"/>
                </a:solidFill>
                <a:latin typeface="Roboto"/>
                <a:ea typeface="Roboto"/>
                <a:cs typeface="Roboto"/>
              </a:defRPr>
            </a:lvl5pPr>
            <a:lvl6pPr algn="ctr">
              <a:defRPr sz="2025" b="1">
                <a:solidFill>
                  <a:srgbClr val="822433"/>
                </a:solidFill>
                <a:latin typeface="Roboto"/>
                <a:ea typeface="Roboto"/>
                <a:cs typeface="Roboto"/>
              </a:defRPr>
            </a:lvl6pPr>
            <a:lvl7pPr algn="ctr">
              <a:defRPr sz="2025" b="1">
                <a:solidFill>
                  <a:srgbClr val="822433"/>
                </a:solidFill>
                <a:latin typeface="Roboto"/>
                <a:ea typeface="Roboto"/>
                <a:cs typeface="Roboto"/>
              </a:defRPr>
            </a:lvl7pPr>
            <a:lvl8pPr algn="ctr">
              <a:defRPr sz="2025" b="1">
                <a:solidFill>
                  <a:srgbClr val="822433"/>
                </a:solidFill>
                <a:latin typeface="Roboto"/>
                <a:ea typeface="Roboto"/>
                <a:cs typeface="Roboto"/>
              </a:defRPr>
            </a:lvl8pPr>
            <a:lvl9pPr algn="ctr">
              <a:defRPr sz="2025" b="1">
                <a:solidFill>
                  <a:srgbClr val="822433"/>
                </a:solidFill>
                <a:latin typeface="Roboto"/>
                <a:ea typeface="Roboto"/>
                <a:cs typeface="Roboto"/>
              </a:defRPr>
            </a:lvl9pPr>
          </a:lstStyle>
          <a:p>
            <a:pPr algn="ctr">
              <a:defRPr sz="2025" b="1">
                <a:solidFill>
                  <a:srgbClr val="822433"/>
                </a:solidFill>
                <a:latin typeface="Roboto"/>
                <a:ea typeface="Roboto"/>
                <a:cs typeface="Roboto"/>
              </a:defRPr>
            </a:pPr>
            <a:r>
              <a:rPr sz="2025" b="1">
                <a:solidFill>
                  <a:srgbClr val="822433"/>
                </a:solidFill>
                <a:latin typeface="Roboto"/>
                <a:ea typeface="Roboto"/>
                <a:cs typeface="Roboto"/>
              </a:rPr>
              <a:t>Con perforazione</a:t>
            </a:r>
          </a:p>
        </p:txBody>
      </p:sp>
      <p:pic>
        <p:nvPicPr>
          <p:cNvPr id="9" name="Immagine 8">
            <a:extLst>
              <a:ext uri="{FF2B5EF4-FFF2-40B4-BE49-F238E27FC236}">
                <a16:creationId xmlns:a16="http://schemas.microsoft.com/office/drawing/2014/main" id="{360DA31F-75A1-4C41-AB1A-BE1013A601E2}"/>
              </a:ext>
            </a:extLst>
          </p:cNvPr>
          <p:cNvPicPr>
            <a:picLocks noChangeAspect="1"/>
          </p:cNvPicPr>
          <p:nvPr/>
        </p:nvPicPr>
        <p:blipFill>
          <a:blip r:embed="rId4"/>
          <a:stretch/>
        </p:blipFill>
        <p:spPr>
          <a:xfrm>
            <a:off x="4362450" y="2270522"/>
            <a:ext cx="3190875" cy="2393156"/>
          </a:xfrm>
          <a:prstGeom prst="rect">
            <a:avLst/>
          </a:prstGeom>
        </p:spPr>
      </p:pic>
      <p:sp>
        <p:nvSpPr>
          <p:cNvPr id="10" name="label-paired-hole-mask.png">
            <a:extLst>
              <a:ext uri="{FF2B5EF4-FFF2-40B4-BE49-F238E27FC236}">
                <a16:creationId xmlns:a16="http://schemas.microsoft.com/office/drawing/2014/main" id="{63E22405-3969-45DC-9E48-B05FDA4F165A}"/>
              </a:ext>
            </a:extLst>
          </p:cNvPr>
          <p:cNvSpPr>
            <a:spLocks noGrp="1"/>
          </p:cNvSpPr>
          <p:nvPr/>
        </p:nvSpPr>
        <p:spPr>
          <a:xfrm>
            <a:off x="7820025" y="1581150"/>
            <a:ext cx="3190875" cy="381000"/>
          </a:xfrm>
          <a:prstGeom prst="rect">
            <a:avLst/>
          </a:prstGeom>
          <a:noFill/>
          <a:ln w="0">
            <a:noFill/>
          </a:ln>
        </p:spPr>
        <p:txBody>
          <a:bodyPr wrap="square" lIns="0" tIns="0" rIns="0" bIns="0" anchor="t">
            <a:noAutofit/>
          </a:bodyPr>
          <a:lstStyle>
            <a:defPPr algn="ctr">
              <a:defRPr sz="2025" b="1">
                <a:solidFill>
                  <a:srgbClr val="822433"/>
                </a:solidFill>
                <a:latin typeface="Roboto"/>
                <a:ea typeface="Roboto"/>
                <a:cs typeface="Roboto"/>
              </a:defRPr>
            </a:defPPr>
            <a:lvl1pPr algn="ctr">
              <a:defRPr sz="2025" b="1">
                <a:solidFill>
                  <a:srgbClr val="822433"/>
                </a:solidFill>
                <a:latin typeface="Roboto"/>
                <a:ea typeface="Roboto"/>
                <a:cs typeface="Roboto"/>
              </a:defRPr>
            </a:lvl1pPr>
            <a:lvl2pPr algn="ctr">
              <a:defRPr sz="2025" b="1">
                <a:solidFill>
                  <a:srgbClr val="822433"/>
                </a:solidFill>
                <a:latin typeface="Roboto"/>
                <a:ea typeface="Roboto"/>
                <a:cs typeface="Roboto"/>
              </a:defRPr>
            </a:lvl2pPr>
            <a:lvl3pPr algn="ctr">
              <a:defRPr sz="2025" b="1">
                <a:solidFill>
                  <a:srgbClr val="822433"/>
                </a:solidFill>
                <a:latin typeface="Roboto"/>
                <a:ea typeface="Roboto"/>
                <a:cs typeface="Roboto"/>
              </a:defRPr>
            </a:lvl3pPr>
            <a:lvl4pPr algn="ctr">
              <a:defRPr sz="2025" b="1">
                <a:solidFill>
                  <a:srgbClr val="822433"/>
                </a:solidFill>
                <a:latin typeface="Roboto"/>
                <a:ea typeface="Roboto"/>
                <a:cs typeface="Roboto"/>
              </a:defRPr>
            </a:lvl4pPr>
            <a:lvl5pPr algn="ctr">
              <a:defRPr sz="2025" b="1">
                <a:solidFill>
                  <a:srgbClr val="822433"/>
                </a:solidFill>
                <a:latin typeface="Roboto"/>
                <a:ea typeface="Roboto"/>
                <a:cs typeface="Roboto"/>
              </a:defRPr>
            </a:lvl5pPr>
            <a:lvl6pPr algn="ctr">
              <a:defRPr sz="2025" b="1">
                <a:solidFill>
                  <a:srgbClr val="822433"/>
                </a:solidFill>
                <a:latin typeface="Roboto"/>
                <a:ea typeface="Roboto"/>
                <a:cs typeface="Roboto"/>
              </a:defRPr>
            </a:lvl6pPr>
            <a:lvl7pPr algn="ctr">
              <a:defRPr sz="2025" b="1">
                <a:solidFill>
                  <a:srgbClr val="822433"/>
                </a:solidFill>
                <a:latin typeface="Roboto"/>
                <a:ea typeface="Roboto"/>
                <a:cs typeface="Roboto"/>
              </a:defRPr>
            </a:lvl7pPr>
            <a:lvl8pPr algn="ctr">
              <a:defRPr sz="2025" b="1">
                <a:solidFill>
                  <a:srgbClr val="822433"/>
                </a:solidFill>
                <a:latin typeface="Roboto"/>
                <a:ea typeface="Roboto"/>
                <a:cs typeface="Roboto"/>
              </a:defRPr>
            </a:lvl8pPr>
            <a:lvl9pPr algn="ctr">
              <a:defRPr sz="2025" b="1">
                <a:solidFill>
                  <a:srgbClr val="822433"/>
                </a:solidFill>
                <a:latin typeface="Roboto"/>
                <a:ea typeface="Roboto"/>
                <a:cs typeface="Roboto"/>
              </a:defRPr>
            </a:lvl9pPr>
          </a:lstStyle>
          <a:p>
            <a:pPr algn="ctr">
              <a:defRPr sz="2025" b="1">
                <a:solidFill>
                  <a:srgbClr val="822433"/>
                </a:solidFill>
                <a:latin typeface="Roboto"/>
                <a:ea typeface="Roboto"/>
                <a:cs typeface="Roboto"/>
              </a:defRPr>
            </a:pPr>
            <a:r>
              <a:rPr sz="2025" b="1">
                <a:solidFill>
                  <a:srgbClr val="822433"/>
                </a:solidFill>
                <a:latin typeface="Roboto"/>
                <a:ea typeface="Roboto"/>
                <a:cs typeface="Roboto"/>
              </a:rPr>
              <a:t>Maschera del foro</a:t>
            </a:r>
          </a:p>
        </p:txBody>
      </p:sp>
      <p:pic>
        <p:nvPicPr>
          <p:cNvPr id="11" name="Immagine 10">
            <a:extLst>
              <a:ext uri="{FF2B5EF4-FFF2-40B4-BE49-F238E27FC236}">
                <a16:creationId xmlns:a16="http://schemas.microsoft.com/office/drawing/2014/main" id="{F55F6AFB-0DE4-47B3-A13F-48E377E2F966}"/>
              </a:ext>
            </a:extLst>
          </p:cNvPr>
          <p:cNvPicPr>
            <a:picLocks noChangeAspect="1"/>
          </p:cNvPicPr>
          <p:nvPr/>
        </p:nvPicPr>
        <p:blipFill>
          <a:blip r:embed="rId5"/>
          <a:stretch/>
        </p:blipFill>
        <p:spPr>
          <a:xfrm>
            <a:off x="7820025" y="2270522"/>
            <a:ext cx="3190875" cy="2393156"/>
          </a:xfrm>
          <a:prstGeom prst="rect">
            <a:avLst/>
          </a:prstGeom>
        </p:spPr>
      </p:pic>
      <p:sp>
        <p:nvSpPr>
          <p:cNvPr id="12" name="paired-controls">
            <a:extLst>
              <a:ext uri="{FF2B5EF4-FFF2-40B4-BE49-F238E27FC236}">
                <a16:creationId xmlns:a16="http://schemas.microsoft.com/office/drawing/2014/main" id="{F0640325-46CA-4FE3-B378-504B32377C2A}"/>
              </a:ext>
            </a:extLst>
          </p:cNvPr>
          <p:cNvSpPr>
            <a:spLocks noGrp="1"/>
          </p:cNvSpPr>
          <p:nvPr/>
        </p:nvSpPr>
        <p:spPr>
          <a:xfrm>
            <a:off x="952500" y="5286375"/>
            <a:ext cx="10048875" cy="457200"/>
          </a:xfrm>
          <a:prstGeom prst="rect">
            <a:avLst/>
          </a:prstGeom>
          <a:noFill/>
          <a:ln w="0">
            <a:noFill/>
          </a:ln>
        </p:spPr>
        <p:txBody>
          <a:bodyPr wrap="square" lIns="0" tIns="0" rIns="0" bIns="0" anchor="t">
            <a:noAutofit/>
          </a:bodyPr>
          <a:lstStyle>
            <a:defPPr algn="ctr">
              <a:defRPr sz="2250" b="0">
                <a:solidFill>
                  <a:srgbClr val="202124"/>
                </a:solidFill>
                <a:latin typeface="Roboto"/>
                <a:ea typeface="Roboto"/>
                <a:cs typeface="Roboto"/>
              </a:defRPr>
            </a:defPPr>
            <a:lvl1pPr algn="ctr">
              <a:defRPr sz="2250" b="0">
                <a:solidFill>
                  <a:srgbClr val="202124"/>
                </a:solidFill>
                <a:latin typeface="Roboto"/>
                <a:ea typeface="Roboto"/>
                <a:cs typeface="Roboto"/>
              </a:defRPr>
            </a:lvl1pPr>
            <a:lvl2pPr algn="ctr">
              <a:defRPr sz="2250" b="0">
                <a:solidFill>
                  <a:srgbClr val="202124"/>
                </a:solidFill>
                <a:latin typeface="Roboto"/>
                <a:ea typeface="Roboto"/>
                <a:cs typeface="Roboto"/>
              </a:defRPr>
            </a:lvl2pPr>
            <a:lvl3pPr algn="ctr">
              <a:defRPr sz="2250" b="0">
                <a:solidFill>
                  <a:srgbClr val="202124"/>
                </a:solidFill>
                <a:latin typeface="Roboto"/>
                <a:ea typeface="Roboto"/>
                <a:cs typeface="Roboto"/>
              </a:defRPr>
            </a:lvl3pPr>
            <a:lvl4pPr algn="ctr">
              <a:defRPr sz="2250" b="0">
                <a:solidFill>
                  <a:srgbClr val="202124"/>
                </a:solidFill>
                <a:latin typeface="Roboto"/>
                <a:ea typeface="Roboto"/>
                <a:cs typeface="Roboto"/>
              </a:defRPr>
            </a:lvl4pPr>
            <a:lvl5pPr algn="ctr">
              <a:defRPr sz="2250" b="0">
                <a:solidFill>
                  <a:srgbClr val="202124"/>
                </a:solidFill>
                <a:latin typeface="Roboto"/>
                <a:ea typeface="Roboto"/>
                <a:cs typeface="Roboto"/>
              </a:defRPr>
            </a:lvl5pPr>
            <a:lvl6pPr algn="ctr">
              <a:defRPr sz="2250" b="0">
                <a:solidFill>
                  <a:srgbClr val="202124"/>
                </a:solidFill>
                <a:latin typeface="Roboto"/>
                <a:ea typeface="Roboto"/>
                <a:cs typeface="Roboto"/>
              </a:defRPr>
            </a:lvl6pPr>
            <a:lvl7pPr algn="ctr">
              <a:defRPr sz="2250" b="0">
                <a:solidFill>
                  <a:srgbClr val="202124"/>
                </a:solidFill>
                <a:latin typeface="Roboto"/>
                <a:ea typeface="Roboto"/>
                <a:cs typeface="Roboto"/>
              </a:defRPr>
            </a:lvl7pPr>
            <a:lvl8pPr algn="ctr">
              <a:defRPr sz="2250" b="0">
                <a:solidFill>
                  <a:srgbClr val="202124"/>
                </a:solidFill>
                <a:latin typeface="Roboto"/>
                <a:ea typeface="Roboto"/>
                <a:cs typeface="Roboto"/>
              </a:defRPr>
            </a:lvl8pPr>
            <a:lvl9pPr algn="ctr">
              <a:defRPr sz="2250" b="0">
                <a:solidFill>
                  <a:srgbClr val="202124"/>
                </a:solidFill>
                <a:latin typeface="Roboto"/>
                <a:ea typeface="Roboto"/>
                <a:cs typeface="Roboto"/>
              </a:defRPr>
            </a:lvl9pPr>
          </a:lstStyle>
          <a:p>
            <a:pPr algn="ctr">
              <a:defRPr sz="2250" b="0">
                <a:solidFill>
                  <a:srgbClr val="202124"/>
                </a:solidFill>
                <a:latin typeface="Roboto"/>
                <a:ea typeface="Roboto"/>
                <a:cs typeface="Roboto"/>
              </a:defRPr>
            </a:pPr>
            <a:r>
              <a:rPr sz="2250" b="0">
                <a:solidFill>
                  <a:srgbClr val="202124"/>
                </a:solidFill>
                <a:latin typeface="Roboto"/>
                <a:ea typeface="Roboto"/>
                <a:cs typeface="Roboto"/>
              </a:rPr>
              <a:t>Stessa camera, illuminazione, posa e usura</a:t>
            </a:r>
          </a:p>
        </p:txBody>
      </p:sp>
    </p:spTree>
    <p:extLst>
      <p:ext uri="{BB962C8B-B14F-4D97-AF65-F5344CB8AC3E}">
        <p14:creationId xmlns:p14="http://schemas.microsoft.com/office/powerpoint/2010/main" val="222343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E973B541-175E-4462-B2E5-2DA45B87D456}"/>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Variabilità delle osservazioni</a:t>
            </a:r>
          </a:p>
        </p:txBody>
      </p:sp>
      <p:sp>
        <p:nvSpPr>
          <p:cNvPr id="2" name="template-footer">
            <a:extLst>
              <a:ext uri="{FF2B5EF4-FFF2-40B4-BE49-F238E27FC236}">
                <a16:creationId xmlns:a16="http://schemas.microsoft.com/office/drawing/2014/main" id="{3DF03523-F4F3-4D61-B2CA-5F4B416DDCBA}"/>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4E962D3E-525D-4FA3-B9B1-D256C2853945}"/>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9ACDD28D-17D5-44C8-95F4-8606CE56E4FD}"/>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12/28</a:t>
            </a:r>
          </a:p>
        </p:txBody>
      </p:sp>
      <p:sp>
        <p:nvSpPr>
          <p:cNvPr id="5" name="source-citations">
            <a:extLst>
              <a:ext uri="{FF2B5EF4-FFF2-40B4-BE49-F238E27FC236}">
                <a16:creationId xmlns:a16="http://schemas.microsoft.com/office/drawing/2014/main" id="{2EFEB382-6CD1-4D85-9C99-B3FAF1B5B4D2}"/>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[14]</a:t>
            </a:r>
          </a:p>
        </p:txBody>
      </p:sp>
      <p:sp>
        <p:nvSpPr>
          <p:cNvPr id="6" name="label-dr_lighting_clear.png">
            <a:extLst>
              <a:ext uri="{FF2B5EF4-FFF2-40B4-BE49-F238E27FC236}">
                <a16:creationId xmlns:a16="http://schemas.microsoft.com/office/drawing/2014/main" id="{6FC3844C-E955-4836-ACE9-0ACA8A0D03DD}"/>
              </a:ext>
            </a:extLst>
          </p:cNvPr>
          <p:cNvSpPr>
            <a:spLocks noGrp="1"/>
          </p:cNvSpPr>
          <p:nvPr/>
        </p:nvSpPr>
        <p:spPr>
          <a:xfrm>
            <a:off x="904875" y="1619250"/>
            <a:ext cx="3190875" cy="381000"/>
          </a:xfrm>
          <a:prstGeom prst="rect">
            <a:avLst/>
          </a:prstGeom>
          <a:noFill/>
          <a:ln w="0">
            <a:noFill/>
          </a:ln>
        </p:spPr>
        <p:txBody>
          <a:bodyPr wrap="square" lIns="0" tIns="0" rIns="0" bIns="0" anchor="t">
            <a:noAutofit/>
          </a:bodyPr>
          <a:lstStyle>
            <a:defPPr algn="ctr">
              <a:defRPr sz="2100" b="1">
                <a:solidFill>
                  <a:srgbClr val="822433"/>
                </a:solidFill>
                <a:latin typeface="Roboto"/>
                <a:ea typeface="Roboto"/>
                <a:cs typeface="Roboto"/>
              </a:defRPr>
            </a:defPPr>
            <a:lvl1pPr algn="ctr">
              <a:defRPr sz="2100" b="1">
                <a:solidFill>
                  <a:srgbClr val="822433"/>
                </a:solidFill>
                <a:latin typeface="Roboto"/>
                <a:ea typeface="Roboto"/>
                <a:cs typeface="Roboto"/>
              </a:defRPr>
            </a:lvl1pPr>
            <a:lvl2pPr algn="ctr">
              <a:defRPr sz="2100" b="1">
                <a:solidFill>
                  <a:srgbClr val="822433"/>
                </a:solidFill>
                <a:latin typeface="Roboto"/>
                <a:ea typeface="Roboto"/>
                <a:cs typeface="Roboto"/>
              </a:defRPr>
            </a:lvl2pPr>
            <a:lvl3pPr algn="ctr">
              <a:defRPr sz="2100" b="1">
                <a:solidFill>
                  <a:srgbClr val="822433"/>
                </a:solidFill>
                <a:latin typeface="Roboto"/>
                <a:ea typeface="Roboto"/>
                <a:cs typeface="Roboto"/>
              </a:defRPr>
            </a:lvl3pPr>
            <a:lvl4pPr algn="ctr">
              <a:defRPr sz="2100" b="1">
                <a:solidFill>
                  <a:srgbClr val="822433"/>
                </a:solidFill>
                <a:latin typeface="Roboto"/>
                <a:ea typeface="Roboto"/>
                <a:cs typeface="Roboto"/>
              </a:defRPr>
            </a:lvl4pPr>
            <a:lvl5pPr algn="ctr">
              <a:defRPr sz="2100" b="1">
                <a:solidFill>
                  <a:srgbClr val="822433"/>
                </a:solidFill>
                <a:latin typeface="Roboto"/>
                <a:ea typeface="Roboto"/>
                <a:cs typeface="Roboto"/>
              </a:defRPr>
            </a:lvl5pPr>
            <a:lvl6pPr algn="ctr">
              <a:defRPr sz="2100" b="1">
                <a:solidFill>
                  <a:srgbClr val="822433"/>
                </a:solidFill>
                <a:latin typeface="Roboto"/>
                <a:ea typeface="Roboto"/>
                <a:cs typeface="Roboto"/>
              </a:defRPr>
            </a:lvl6pPr>
            <a:lvl7pPr algn="ctr">
              <a:defRPr sz="2100" b="1">
                <a:solidFill>
                  <a:srgbClr val="822433"/>
                </a:solidFill>
                <a:latin typeface="Roboto"/>
                <a:ea typeface="Roboto"/>
                <a:cs typeface="Roboto"/>
              </a:defRPr>
            </a:lvl7pPr>
            <a:lvl8pPr algn="ctr">
              <a:defRPr sz="2100" b="1">
                <a:solidFill>
                  <a:srgbClr val="822433"/>
                </a:solidFill>
                <a:latin typeface="Roboto"/>
                <a:ea typeface="Roboto"/>
                <a:cs typeface="Roboto"/>
              </a:defRPr>
            </a:lvl8pPr>
            <a:lvl9pPr algn="ctr">
              <a:defRPr sz="2100" b="1">
                <a:solidFill>
                  <a:srgbClr val="822433"/>
                </a:solidFill>
                <a:latin typeface="Roboto"/>
                <a:ea typeface="Roboto"/>
                <a:cs typeface="Roboto"/>
              </a:defRPr>
            </a:lvl9pPr>
          </a:lstStyle>
          <a:p>
            <a:pPr algn="ctr">
              <a:defRPr sz="2100" b="1">
                <a:solidFill>
                  <a:srgbClr val="822433"/>
                </a:solidFill>
                <a:latin typeface="Roboto"/>
                <a:ea typeface="Roboto"/>
                <a:cs typeface="Roboto"/>
              </a:defRPr>
            </a:pPr>
            <a:r>
              <a:rPr sz="2100" b="1">
                <a:solidFill>
                  <a:srgbClr val="822433"/>
                </a:solidFill>
                <a:latin typeface="Roboto"/>
                <a:ea typeface="Roboto"/>
                <a:cs typeface="Roboto"/>
              </a:rPr>
              <a:t>Illuminazione</a:t>
            </a:r>
          </a:p>
        </p:txBody>
      </p:sp>
      <p:pic>
        <p:nvPicPr>
          <p:cNvPr id="7" name="Immagine 6">
            <a:extLst>
              <a:ext uri="{FF2B5EF4-FFF2-40B4-BE49-F238E27FC236}">
                <a16:creationId xmlns:a16="http://schemas.microsoft.com/office/drawing/2014/main" id="{B69C644C-849E-4086-AEC8-1A695472ADA8}"/>
              </a:ext>
            </a:extLst>
          </p:cNvPr>
          <p:cNvPicPr>
            <a:picLocks noChangeAspect="1"/>
          </p:cNvPicPr>
          <p:nvPr/>
        </p:nvPicPr>
        <p:blipFill>
          <a:blip r:embed="rId3"/>
          <a:stretch/>
        </p:blipFill>
        <p:spPr>
          <a:xfrm>
            <a:off x="904875" y="2337197"/>
            <a:ext cx="3190875" cy="2393156"/>
          </a:xfrm>
          <a:prstGeom prst="rect">
            <a:avLst/>
          </a:prstGeom>
        </p:spPr>
      </p:pic>
      <p:sp>
        <p:nvSpPr>
          <p:cNvPr id="8" name="label-dr_wear_evident.png">
            <a:extLst>
              <a:ext uri="{FF2B5EF4-FFF2-40B4-BE49-F238E27FC236}">
                <a16:creationId xmlns:a16="http://schemas.microsoft.com/office/drawing/2014/main" id="{1D6F733B-ACFF-4EE4-82EE-DBD58270B4E7}"/>
              </a:ext>
            </a:extLst>
          </p:cNvPr>
          <p:cNvSpPr>
            <a:spLocks noGrp="1"/>
          </p:cNvSpPr>
          <p:nvPr/>
        </p:nvSpPr>
        <p:spPr>
          <a:xfrm>
            <a:off x="4362450" y="1619250"/>
            <a:ext cx="3190875" cy="381000"/>
          </a:xfrm>
          <a:prstGeom prst="rect">
            <a:avLst/>
          </a:prstGeom>
          <a:noFill/>
          <a:ln w="0">
            <a:noFill/>
          </a:ln>
        </p:spPr>
        <p:txBody>
          <a:bodyPr wrap="square" lIns="0" tIns="0" rIns="0" bIns="0" anchor="t">
            <a:noAutofit/>
          </a:bodyPr>
          <a:lstStyle>
            <a:defPPr algn="ctr">
              <a:defRPr sz="2100" b="1">
                <a:solidFill>
                  <a:srgbClr val="822433"/>
                </a:solidFill>
                <a:latin typeface="Roboto"/>
                <a:ea typeface="Roboto"/>
                <a:cs typeface="Roboto"/>
              </a:defRPr>
            </a:defPPr>
            <a:lvl1pPr algn="ctr">
              <a:defRPr sz="2100" b="1">
                <a:solidFill>
                  <a:srgbClr val="822433"/>
                </a:solidFill>
                <a:latin typeface="Roboto"/>
                <a:ea typeface="Roboto"/>
                <a:cs typeface="Roboto"/>
              </a:defRPr>
            </a:lvl1pPr>
            <a:lvl2pPr algn="ctr">
              <a:defRPr sz="2100" b="1">
                <a:solidFill>
                  <a:srgbClr val="822433"/>
                </a:solidFill>
                <a:latin typeface="Roboto"/>
                <a:ea typeface="Roboto"/>
                <a:cs typeface="Roboto"/>
              </a:defRPr>
            </a:lvl2pPr>
            <a:lvl3pPr algn="ctr">
              <a:defRPr sz="2100" b="1">
                <a:solidFill>
                  <a:srgbClr val="822433"/>
                </a:solidFill>
                <a:latin typeface="Roboto"/>
                <a:ea typeface="Roboto"/>
                <a:cs typeface="Roboto"/>
              </a:defRPr>
            </a:lvl3pPr>
            <a:lvl4pPr algn="ctr">
              <a:defRPr sz="2100" b="1">
                <a:solidFill>
                  <a:srgbClr val="822433"/>
                </a:solidFill>
                <a:latin typeface="Roboto"/>
                <a:ea typeface="Roboto"/>
                <a:cs typeface="Roboto"/>
              </a:defRPr>
            </a:lvl4pPr>
            <a:lvl5pPr algn="ctr">
              <a:defRPr sz="2100" b="1">
                <a:solidFill>
                  <a:srgbClr val="822433"/>
                </a:solidFill>
                <a:latin typeface="Roboto"/>
                <a:ea typeface="Roboto"/>
                <a:cs typeface="Roboto"/>
              </a:defRPr>
            </a:lvl5pPr>
            <a:lvl6pPr algn="ctr">
              <a:defRPr sz="2100" b="1">
                <a:solidFill>
                  <a:srgbClr val="822433"/>
                </a:solidFill>
                <a:latin typeface="Roboto"/>
                <a:ea typeface="Roboto"/>
                <a:cs typeface="Roboto"/>
              </a:defRPr>
            </a:lvl6pPr>
            <a:lvl7pPr algn="ctr">
              <a:defRPr sz="2100" b="1">
                <a:solidFill>
                  <a:srgbClr val="822433"/>
                </a:solidFill>
                <a:latin typeface="Roboto"/>
                <a:ea typeface="Roboto"/>
                <a:cs typeface="Roboto"/>
              </a:defRPr>
            </a:lvl7pPr>
            <a:lvl8pPr algn="ctr">
              <a:defRPr sz="2100" b="1">
                <a:solidFill>
                  <a:srgbClr val="822433"/>
                </a:solidFill>
                <a:latin typeface="Roboto"/>
                <a:ea typeface="Roboto"/>
                <a:cs typeface="Roboto"/>
              </a:defRPr>
            </a:lvl8pPr>
            <a:lvl9pPr algn="ctr">
              <a:defRPr sz="2100" b="1">
                <a:solidFill>
                  <a:srgbClr val="822433"/>
                </a:solidFill>
                <a:latin typeface="Roboto"/>
                <a:ea typeface="Roboto"/>
                <a:cs typeface="Roboto"/>
              </a:defRPr>
            </a:lvl9pPr>
          </a:lstStyle>
          <a:p>
            <a:pPr algn="ctr">
              <a:defRPr sz="2100" b="1">
                <a:solidFill>
                  <a:srgbClr val="822433"/>
                </a:solidFill>
                <a:latin typeface="Roboto"/>
                <a:ea typeface="Roboto"/>
                <a:cs typeface="Roboto"/>
              </a:defRPr>
            </a:pPr>
            <a:r>
              <a:rPr sz="2100" b="1">
                <a:solidFill>
                  <a:srgbClr val="822433"/>
                </a:solidFill>
                <a:latin typeface="Roboto"/>
                <a:ea typeface="Roboto"/>
                <a:cs typeface="Roboto"/>
              </a:rPr>
              <a:t>Usura normale</a:t>
            </a:r>
          </a:p>
        </p:txBody>
      </p:sp>
      <p:pic>
        <p:nvPicPr>
          <p:cNvPr id="9" name="Immagine 8">
            <a:extLst>
              <a:ext uri="{FF2B5EF4-FFF2-40B4-BE49-F238E27FC236}">
                <a16:creationId xmlns:a16="http://schemas.microsoft.com/office/drawing/2014/main" id="{D2E47358-97AF-4342-B372-B52DDE91A50D}"/>
              </a:ext>
            </a:extLst>
          </p:cNvPr>
          <p:cNvPicPr>
            <a:picLocks noChangeAspect="1"/>
          </p:cNvPicPr>
          <p:nvPr/>
        </p:nvPicPr>
        <p:blipFill>
          <a:blip r:embed="rId4"/>
          <a:stretch/>
        </p:blipFill>
        <p:spPr>
          <a:xfrm>
            <a:off x="4362450" y="2337197"/>
            <a:ext cx="3190875" cy="2393156"/>
          </a:xfrm>
          <a:prstGeom prst="rect">
            <a:avLst/>
          </a:prstGeom>
        </p:spPr>
      </p:pic>
      <p:sp>
        <p:nvSpPr>
          <p:cNvPr id="10" name="label-dr_pose_detail.png">
            <a:extLst>
              <a:ext uri="{FF2B5EF4-FFF2-40B4-BE49-F238E27FC236}">
                <a16:creationId xmlns:a16="http://schemas.microsoft.com/office/drawing/2014/main" id="{12C02595-D52F-44E8-BCA0-279142D66914}"/>
              </a:ext>
            </a:extLst>
          </p:cNvPr>
          <p:cNvSpPr>
            <a:spLocks noGrp="1"/>
          </p:cNvSpPr>
          <p:nvPr/>
        </p:nvSpPr>
        <p:spPr>
          <a:xfrm>
            <a:off x="7820025" y="1619250"/>
            <a:ext cx="3190875" cy="381000"/>
          </a:xfrm>
          <a:prstGeom prst="rect">
            <a:avLst/>
          </a:prstGeom>
          <a:noFill/>
          <a:ln w="0">
            <a:noFill/>
          </a:ln>
        </p:spPr>
        <p:txBody>
          <a:bodyPr wrap="square" lIns="0" tIns="0" rIns="0" bIns="0" anchor="t">
            <a:noAutofit/>
          </a:bodyPr>
          <a:lstStyle>
            <a:defPPr algn="ctr">
              <a:defRPr sz="2100" b="1">
                <a:solidFill>
                  <a:srgbClr val="822433"/>
                </a:solidFill>
                <a:latin typeface="Roboto"/>
                <a:ea typeface="Roboto"/>
                <a:cs typeface="Roboto"/>
              </a:defRPr>
            </a:defPPr>
            <a:lvl1pPr algn="ctr">
              <a:defRPr sz="2100" b="1">
                <a:solidFill>
                  <a:srgbClr val="822433"/>
                </a:solidFill>
                <a:latin typeface="Roboto"/>
                <a:ea typeface="Roboto"/>
                <a:cs typeface="Roboto"/>
              </a:defRPr>
            </a:lvl1pPr>
            <a:lvl2pPr algn="ctr">
              <a:defRPr sz="2100" b="1">
                <a:solidFill>
                  <a:srgbClr val="822433"/>
                </a:solidFill>
                <a:latin typeface="Roboto"/>
                <a:ea typeface="Roboto"/>
                <a:cs typeface="Roboto"/>
              </a:defRPr>
            </a:lvl2pPr>
            <a:lvl3pPr algn="ctr">
              <a:defRPr sz="2100" b="1">
                <a:solidFill>
                  <a:srgbClr val="822433"/>
                </a:solidFill>
                <a:latin typeface="Roboto"/>
                <a:ea typeface="Roboto"/>
                <a:cs typeface="Roboto"/>
              </a:defRPr>
            </a:lvl3pPr>
            <a:lvl4pPr algn="ctr">
              <a:defRPr sz="2100" b="1">
                <a:solidFill>
                  <a:srgbClr val="822433"/>
                </a:solidFill>
                <a:latin typeface="Roboto"/>
                <a:ea typeface="Roboto"/>
                <a:cs typeface="Roboto"/>
              </a:defRPr>
            </a:lvl4pPr>
            <a:lvl5pPr algn="ctr">
              <a:defRPr sz="2100" b="1">
                <a:solidFill>
                  <a:srgbClr val="822433"/>
                </a:solidFill>
                <a:latin typeface="Roboto"/>
                <a:ea typeface="Roboto"/>
                <a:cs typeface="Roboto"/>
              </a:defRPr>
            </a:lvl5pPr>
            <a:lvl6pPr algn="ctr">
              <a:defRPr sz="2100" b="1">
                <a:solidFill>
                  <a:srgbClr val="822433"/>
                </a:solidFill>
                <a:latin typeface="Roboto"/>
                <a:ea typeface="Roboto"/>
                <a:cs typeface="Roboto"/>
              </a:defRPr>
            </a:lvl6pPr>
            <a:lvl7pPr algn="ctr">
              <a:defRPr sz="2100" b="1">
                <a:solidFill>
                  <a:srgbClr val="822433"/>
                </a:solidFill>
                <a:latin typeface="Roboto"/>
                <a:ea typeface="Roboto"/>
                <a:cs typeface="Roboto"/>
              </a:defRPr>
            </a:lvl7pPr>
            <a:lvl8pPr algn="ctr">
              <a:defRPr sz="2100" b="1">
                <a:solidFill>
                  <a:srgbClr val="822433"/>
                </a:solidFill>
                <a:latin typeface="Roboto"/>
                <a:ea typeface="Roboto"/>
                <a:cs typeface="Roboto"/>
              </a:defRPr>
            </a:lvl8pPr>
            <a:lvl9pPr algn="ctr">
              <a:defRPr sz="2100" b="1">
                <a:solidFill>
                  <a:srgbClr val="822433"/>
                </a:solidFill>
                <a:latin typeface="Roboto"/>
                <a:ea typeface="Roboto"/>
                <a:cs typeface="Roboto"/>
              </a:defRPr>
            </a:lvl9pPr>
          </a:lstStyle>
          <a:p>
            <a:pPr algn="ctr">
              <a:defRPr sz="2100" b="1">
                <a:solidFill>
                  <a:srgbClr val="822433"/>
                </a:solidFill>
                <a:latin typeface="Roboto"/>
                <a:ea typeface="Roboto"/>
                <a:cs typeface="Roboto"/>
              </a:defRPr>
            </a:pPr>
            <a:r>
              <a:rPr sz="2100" b="1">
                <a:solidFill>
                  <a:srgbClr val="822433"/>
                </a:solidFill>
                <a:latin typeface="Roboto"/>
                <a:ea typeface="Roboto"/>
                <a:cs typeface="Roboto"/>
              </a:rPr>
              <a:t>Inquadratura</a:t>
            </a:r>
          </a:p>
        </p:txBody>
      </p:sp>
      <p:pic>
        <p:nvPicPr>
          <p:cNvPr id="11" name="Immagine 10">
            <a:extLst>
              <a:ext uri="{FF2B5EF4-FFF2-40B4-BE49-F238E27FC236}">
                <a16:creationId xmlns:a16="http://schemas.microsoft.com/office/drawing/2014/main" id="{F3CEA097-A3BF-41E6-8D4E-3FBD2B511B43}"/>
              </a:ext>
            </a:extLst>
          </p:cNvPr>
          <p:cNvPicPr>
            <a:picLocks noChangeAspect="1"/>
          </p:cNvPicPr>
          <p:nvPr/>
        </p:nvPicPr>
        <p:blipFill>
          <a:blip r:embed="rId5"/>
          <a:stretch/>
        </p:blipFill>
        <p:spPr>
          <a:xfrm>
            <a:off x="7820025" y="2337197"/>
            <a:ext cx="3190875" cy="2393156"/>
          </a:xfrm>
          <a:prstGeom prst="rect">
            <a:avLst/>
          </a:prstGeom>
        </p:spPr>
      </p:pic>
      <p:sp>
        <p:nvSpPr>
          <p:cNvPr id="12" name="variability">
            <a:extLst>
              <a:ext uri="{FF2B5EF4-FFF2-40B4-BE49-F238E27FC236}">
                <a16:creationId xmlns:a16="http://schemas.microsoft.com/office/drawing/2014/main" id="{1009B2E4-1039-49F5-A4BC-3516768E95C5}"/>
              </a:ext>
            </a:extLst>
          </p:cNvPr>
          <p:cNvSpPr>
            <a:spLocks noGrp="1"/>
          </p:cNvSpPr>
          <p:nvPr/>
        </p:nvSpPr>
        <p:spPr>
          <a:xfrm>
            <a:off x="952500" y="5343525"/>
            <a:ext cx="10096500" cy="476250"/>
          </a:xfrm>
          <a:prstGeom prst="rect">
            <a:avLst/>
          </a:prstGeom>
          <a:noFill/>
          <a:ln w="0">
            <a:noFill/>
          </a:ln>
        </p:spPr>
        <p:txBody>
          <a:bodyPr wrap="square" lIns="0" tIns="0" rIns="0" bIns="0" anchor="t">
            <a:noAutofit/>
          </a:bodyPr>
          <a:lstStyle>
            <a:defPPr algn="ctr">
              <a:defRPr sz="2175" b="0">
                <a:solidFill>
                  <a:srgbClr val="202124"/>
                </a:solidFill>
                <a:latin typeface="Roboto"/>
                <a:ea typeface="Roboto"/>
                <a:cs typeface="Roboto"/>
              </a:defRPr>
            </a:defPPr>
            <a:lvl1pPr algn="ctr">
              <a:defRPr sz="2175" b="0">
                <a:solidFill>
                  <a:srgbClr val="202124"/>
                </a:solidFill>
                <a:latin typeface="Roboto"/>
                <a:ea typeface="Roboto"/>
                <a:cs typeface="Roboto"/>
              </a:defRPr>
            </a:lvl1pPr>
            <a:lvl2pPr algn="ctr">
              <a:defRPr sz="2175" b="0">
                <a:solidFill>
                  <a:srgbClr val="202124"/>
                </a:solidFill>
                <a:latin typeface="Roboto"/>
                <a:ea typeface="Roboto"/>
                <a:cs typeface="Roboto"/>
              </a:defRPr>
            </a:lvl2pPr>
            <a:lvl3pPr algn="ctr">
              <a:defRPr sz="2175" b="0">
                <a:solidFill>
                  <a:srgbClr val="202124"/>
                </a:solidFill>
                <a:latin typeface="Roboto"/>
                <a:ea typeface="Roboto"/>
                <a:cs typeface="Roboto"/>
              </a:defRPr>
            </a:lvl3pPr>
            <a:lvl4pPr algn="ctr">
              <a:defRPr sz="2175" b="0">
                <a:solidFill>
                  <a:srgbClr val="202124"/>
                </a:solidFill>
                <a:latin typeface="Roboto"/>
                <a:ea typeface="Roboto"/>
                <a:cs typeface="Roboto"/>
              </a:defRPr>
            </a:lvl4pPr>
            <a:lvl5pPr algn="ctr">
              <a:defRPr sz="2175" b="0">
                <a:solidFill>
                  <a:srgbClr val="202124"/>
                </a:solidFill>
                <a:latin typeface="Roboto"/>
                <a:ea typeface="Roboto"/>
                <a:cs typeface="Roboto"/>
              </a:defRPr>
            </a:lvl5pPr>
            <a:lvl6pPr algn="ctr">
              <a:defRPr sz="2175" b="0">
                <a:solidFill>
                  <a:srgbClr val="202124"/>
                </a:solidFill>
                <a:latin typeface="Roboto"/>
                <a:ea typeface="Roboto"/>
                <a:cs typeface="Roboto"/>
              </a:defRPr>
            </a:lvl6pPr>
            <a:lvl7pPr algn="ctr">
              <a:defRPr sz="2175" b="0">
                <a:solidFill>
                  <a:srgbClr val="202124"/>
                </a:solidFill>
                <a:latin typeface="Roboto"/>
                <a:ea typeface="Roboto"/>
                <a:cs typeface="Roboto"/>
              </a:defRPr>
            </a:lvl7pPr>
            <a:lvl8pPr algn="ctr">
              <a:defRPr sz="2175" b="0">
                <a:solidFill>
                  <a:srgbClr val="202124"/>
                </a:solidFill>
                <a:latin typeface="Roboto"/>
                <a:ea typeface="Roboto"/>
                <a:cs typeface="Roboto"/>
              </a:defRPr>
            </a:lvl8pPr>
            <a:lvl9pPr algn="ctr">
              <a:defRPr sz="2175" b="0">
                <a:solidFill>
                  <a:srgbClr val="202124"/>
                </a:solidFill>
                <a:latin typeface="Roboto"/>
                <a:ea typeface="Roboto"/>
                <a:cs typeface="Roboto"/>
              </a:defRPr>
            </a:lvl9pPr>
          </a:lstStyle>
          <a:p>
            <a:pPr algn="ctr">
              <a:defRPr sz="2175" b="0">
                <a:solidFill>
                  <a:srgbClr val="202124"/>
                </a:solidFill>
                <a:latin typeface="Roboto"/>
                <a:ea typeface="Roboto"/>
                <a:cs typeface="Roboto"/>
              </a:defRPr>
            </a:pPr>
            <a:r>
              <a:rPr sz="2175" b="0">
                <a:solidFill>
                  <a:srgbClr val="202124"/>
                </a:solidFill>
                <a:latin typeface="Roboto"/>
                <a:ea typeface="Roboto"/>
                <a:cs typeface="Roboto"/>
              </a:rPr>
              <a:t>Variazioni normali separate dalla presenza del foro</a:t>
            </a:r>
          </a:p>
        </p:txBody>
      </p:sp>
    </p:spTree>
    <p:extLst>
      <p:ext uri="{BB962C8B-B14F-4D97-AF65-F5344CB8AC3E}">
        <p14:creationId xmlns:p14="http://schemas.microsoft.com/office/powerpoint/2010/main" val="222343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90DE3171-BB71-4558-BEAC-AE5F4B453392}"/>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Composizione del dataset sintetico</a:t>
            </a:r>
          </a:p>
        </p:txBody>
      </p:sp>
      <p:sp>
        <p:nvSpPr>
          <p:cNvPr id="2" name="template-footer">
            <a:extLst>
              <a:ext uri="{FF2B5EF4-FFF2-40B4-BE49-F238E27FC236}">
                <a16:creationId xmlns:a16="http://schemas.microsoft.com/office/drawing/2014/main" id="{8E7D92D3-E6D7-4EFB-BD5B-79D08941FC55}"/>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77DD0092-8E07-4042-92FA-FA5A6CA2D8E4}"/>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678BBE9F-0D7D-4F54-85DD-D107A2495630}"/>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13/28</a:t>
            </a:r>
          </a:p>
        </p:txBody>
      </p:sp>
      <p:sp>
        <p:nvSpPr>
          <p:cNvPr id="5" name="source-citations">
            <a:extLst>
              <a:ext uri="{FF2B5EF4-FFF2-40B4-BE49-F238E27FC236}">
                <a16:creationId xmlns:a16="http://schemas.microsoft.com/office/drawing/2014/main" id="{3333E4AE-6254-43EF-B1DA-E01C1CCD3A15}"/>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Elaborazione della tesi</a:t>
            </a:r>
          </a:p>
        </p:txBody>
      </p:sp>
      <p:sp>
        <p:nvSpPr>
          <p:cNvPr id="6" name="dataset-count">
            <a:extLst>
              <a:ext uri="{FF2B5EF4-FFF2-40B4-BE49-F238E27FC236}">
                <a16:creationId xmlns:a16="http://schemas.microsoft.com/office/drawing/2014/main" id="{B9E3B8DB-6E6B-4B66-B3BA-445B954F8D6A}"/>
              </a:ext>
            </a:extLst>
          </p:cNvPr>
          <p:cNvSpPr>
            <a:spLocks noGrp="1"/>
          </p:cNvSpPr>
          <p:nvPr/>
        </p:nvSpPr>
        <p:spPr>
          <a:xfrm>
            <a:off x="952500" y="1419225"/>
            <a:ext cx="9906000" cy="619125"/>
          </a:xfrm>
          <a:prstGeom prst="rect">
            <a:avLst/>
          </a:prstGeom>
          <a:noFill/>
          <a:ln w="0">
            <a:noFill/>
          </a:ln>
        </p:spPr>
        <p:txBody>
          <a:bodyPr wrap="square" lIns="0" tIns="0" rIns="0" bIns="0" anchor="t">
            <a:noAutofit/>
          </a:bodyPr>
          <a:lstStyle>
            <a:defPPr algn="l">
              <a:defRPr sz="3300" b="1">
                <a:solidFill>
                  <a:srgbClr val="822433"/>
                </a:solidFill>
                <a:latin typeface="Roboto"/>
                <a:ea typeface="Roboto"/>
                <a:cs typeface="Roboto"/>
              </a:defRPr>
            </a:defPPr>
            <a:lvl1pPr algn="l">
              <a:defRPr sz="3300" b="1">
                <a:solidFill>
                  <a:srgbClr val="822433"/>
                </a:solidFill>
                <a:latin typeface="Roboto"/>
                <a:ea typeface="Roboto"/>
                <a:cs typeface="Roboto"/>
              </a:defRPr>
            </a:lvl1pPr>
            <a:lvl2pPr algn="l">
              <a:defRPr sz="3300" b="1">
                <a:solidFill>
                  <a:srgbClr val="822433"/>
                </a:solidFill>
                <a:latin typeface="Roboto"/>
                <a:ea typeface="Roboto"/>
                <a:cs typeface="Roboto"/>
              </a:defRPr>
            </a:lvl2pPr>
            <a:lvl3pPr algn="l">
              <a:defRPr sz="3300" b="1">
                <a:solidFill>
                  <a:srgbClr val="822433"/>
                </a:solidFill>
                <a:latin typeface="Roboto"/>
                <a:ea typeface="Roboto"/>
                <a:cs typeface="Roboto"/>
              </a:defRPr>
            </a:lvl3pPr>
            <a:lvl4pPr algn="l">
              <a:defRPr sz="3300" b="1">
                <a:solidFill>
                  <a:srgbClr val="822433"/>
                </a:solidFill>
                <a:latin typeface="Roboto"/>
                <a:ea typeface="Roboto"/>
                <a:cs typeface="Roboto"/>
              </a:defRPr>
            </a:lvl4pPr>
            <a:lvl5pPr algn="l">
              <a:defRPr sz="3300" b="1">
                <a:solidFill>
                  <a:srgbClr val="822433"/>
                </a:solidFill>
                <a:latin typeface="Roboto"/>
                <a:ea typeface="Roboto"/>
                <a:cs typeface="Roboto"/>
              </a:defRPr>
            </a:lvl5pPr>
            <a:lvl6pPr algn="l">
              <a:defRPr sz="3300" b="1">
                <a:solidFill>
                  <a:srgbClr val="822433"/>
                </a:solidFill>
                <a:latin typeface="Roboto"/>
                <a:ea typeface="Roboto"/>
                <a:cs typeface="Roboto"/>
              </a:defRPr>
            </a:lvl6pPr>
            <a:lvl7pPr algn="l">
              <a:defRPr sz="3300" b="1">
                <a:solidFill>
                  <a:srgbClr val="822433"/>
                </a:solidFill>
                <a:latin typeface="Roboto"/>
                <a:ea typeface="Roboto"/>
                <a:cs typeface="Roboto"/>
              </a:defRPr>
            </a:lvl7pPr>
            <a:lvl8pPr algn="l">
              <a:defRPr sz="3300" b="1">
                <a:solidFill>
                  <a:srgbClr val="822433"/>
                </a:solidFill>
                <a:latin typeface="Roboto"/>
                <a:ea typeface="Roboto"/>
                <a:cs typeface="Roboto"/>
              </a:defRPr>
            </a:lvl8pPr>
            <a:lvl9pPr algn="l">
              <a:defRPr sz="3300" b="1">
                <a:solidFill>
                  <a:srgbClr val="822433"/>
                </a:solidFill>
                <a:latin typeface="Roboto"/>
                <a:ea typeface="Roboto"/>
                <a:cs typeface="Roboto"/>
              </a:defRPr>
            </a:lvl9pPr>
          </a:lstStyle>
          <a:p>
            <a:pPr algn="l">
              <a:defRPr sz="3300" b="1">
                <a:solidFill>
                  <a:srgbClr val="822433"/>
                </a:solidFill>
                <a:latin typeface="Roboto"/>
                <a:ea typeface="Roboto"/>
                <a:cs typeface="Roboto"/>
              </a:defRPr>
            </a:pPr>
            <a:r>
              <a:rPr sz="3300" b="1">
                <a:solidFill>
                  <a:srgbClr val="822433"/>
                </a:solidFill>
                <a:latin typeface="Roboto"/>
                <a:ea typeface="Roboto"/>
                <a:cs typeface="Roboto"/>
              </a:rPr>
              <a:t>10.000 immagini annotate</a:t>
            </a:r>
          </a:p>
        </p:txBody>
      </p:sp>
      <p:graphicFrame>
        <p:nvGraphicFramePr>
          <p:cNvPr id="7" name="Tabella 6">
            <a:extLst>
              <a:ext uri="{FF2B5EF4-FFF2-40B4-BE49-F238E27FC236}">
                <a16:creationId xmlns:a16="http://schemas.microsoft.com/office/drawing/2014/main" id="{46367129-FB6C-425A-9ED5-C151A5E79BF7}"/>
              </a:ext>
            </a:extLst>
          </p:cNvPr>
          <p:cNvGraphicFramePr/>
          <p:nvPr/>
        </p:nvGraphicFramePr>
        <p:xfrm>
          <a:off x="952500" y="2362200"/>
          <a:ext cx="9858375" cy="2571752"/>
        </p:xfrm>
        <a:graphic>
          <a:graphicData uri="http://schemas.openxmlformats.org/drawingml/2006/table">
            <a:tbl>
              <a:tblPr firstRow="1"/>
              <a:tblGrid>
                <a:gridCol w="4143375">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tblGrid>
              <a:tr h="642938">
                <a:tc>
                  <a:txBody>
                    <a:bodyPr/>
                    <a:lstStyle/>
                    <a:p>
                      <a:r>
                        <a:rPr sz="1875" b="1">
                          <a:solidFill>
                            <a:srgbClr val="FFFFFF"/>
                          </a:solidFill>
                          <a:latin typeface="Roboto"/>
                          <a:ea typeface="Roboto"/>
                          <a:cs typeface="Roboto"/>
                        </a:rPr>
                        <a:t>Split</a:t>
                      </a:r>
                    </a:p>
                  </a:txBody>
                  <a:tcPr marL="133350" marR="133350" marT="114300" marB="95250" anchor="ctr">
                    <a:lnL w="7620">
                      <a:solidFill>
                        <a:srgbClr val="D8D8D8"/>
                      </a:solidFill>
                      <a:prstDash val="solid"/>
                    </a:lnL>
                    <a:lnR w="7620">
                      <a:solidFill>
                        <a:srgbClr val="D8D8D8"/>
                      </a:solidFill>
                      <a:prstDash val="solid"/>
                    </a:lnR>
                    <a:lnT w="7620">
                      <a:solidFill>
                        <a:srgbClr val="D8D8D8"/>
                      </a:solidFill>
                      <a:prstDash val="solid"/>
                    </a:lnT>
                    <a:lnB w="7620">
                      <a:solidFill>
                        <a:srgbClr val="D8D8D8"/>
                      </a:solidFill>
                      <a:prstDash val="solid"/>
                    </a:lnB>
                    <a:solidFill>
                      <a:srgbClr val="822433"/>
                    </a:solidFill>
                  </a:tcPr>
                </a:tc>
                <a:tc>
                  <a:txBody>
                    <a:bodyPr/>
                    <a:lstStyle/>
                    <a:p>
                      <a:r>
                        <a:rPr sz="1875" b="1">
                          <a:solidFill>
                            <a:srgbClr val="FFFFFF"/>
                          </a:solidFill>
                          <a:latin typeface="Roboto"/>
                          <a:ea typeface="Roboto"/>
                          <a:cs typeface="Roboto"/>
                        </a:rPr>
                        <a:t>Normali</a:t>
                      </a:r>
                    </a:p>
                  </a:txBody>
                  <a:tcPr marL="133350" marR="133350" marT="114300" marB="95250" anchor="ctr">
                    <a:lnL w="7620" cap="flat" cmpd="sng" algn="ctr">
                      <a:solidFill>
                        <a:srgbClr val="D8D8D8"/>
                      </a:solidFill>
                      <a:prstDash val="solid"/>
                      <a:round/>
                      <a:headEnd type="none" w="med" len="med"/>
                      <a:tailEnd type="none" w="med" len="med"/>
                    </a:lnL>
                    <a:lnR w="7620">
                      <a:solidFill>
                        <a:srgbClr val="D8D8D8"/>
                      </a:solidFill>
                      <a:prstDash val="solid"/>
                    </a:lnR>
                    <a:lnT w="7620">
                      <a:solidFill>
                        <a:srgbClr val="D8D8D8"/>
                      </a:solidFill>
                      <a:prstDash val="solid"/>
                    </a:lnT>
                    <a:lnB w="7620">
                      <a:solidFill>
                        <a:srgbClr val="D8D8D8"/>
                      </a:solidFill>
                      <a:prstDash val="solid"/>
                    </a:lnB>
                    <a:solidFill>
                      <a:srgbClr val="822433"/>
                    </a:solidFill>
                  </a:tcPr>
                </a:tc>
                <a:tc>
                  <a:txBody>
                    <a:bodyPr/>
                    <a:lstStyle/>
                    <a:p>
                      <a:r>
                        <a:rPr sz="1875" b="1">
                          <a:solidFill>
                            <a:srgbClr val="FFFFFF"/>
                          </a:solidFill>
                          <a:latin typeface="Roboto"/>
                          <a:ea typeface="Roboto"/>
                          <a:cs typeface="Roboto"/>
                        </a:rPr>
                        <a:t>Con foro</a:t>
                      </a:r>
                    </a:p>
                  </a:txBody>
                  <a:tcPr marL="133350" marR="133350" marT="114300" marB="95250" anchor="ctr">
                    <a:lnL w="7620" cap="flat" cmpd="sng" algn="ctr">
                      <a:solidFill>
                        <a:srgbClr val="D8D8D8"/>
                      </a:solidFill>
                      <a:prstDash val="solid"/>
                      <a:round/>
                      <a:headEnd type="none" w="med" len="med"/>
                      <a:tailEnd type="none" w="med" len="med"/>
                    </a:lnL>
                    <a:lnR w="7620">
                      <a:solidFill>
                        <a:srgbClr val="D8D8D8"/>
                      </a:solidFill>
                      <a:prstDash val="solid"/>
                    </a:lnR>
                    <a:lnT w="7620">
                      <a:solidFill>
                        <a:srgbClr val="D8D8D8"/>
                      </a:solidFill>
                      <a:prstDash val="solid"/>
                    </a:lnT>
                    <a:lnB w="7620">
                      <a:solidFill>
                        <a:srgbClr val="D8D8D8"/>
                      </a:solidFill>
                      <a:prstDash val="solid"/>
                    </a:lnB>
                    <a:solidFill>
                      <a:srgbClr val="822433"/>
                    </a:solidFill>
                  </a:tcPr>
                </a:tc>
                <a:extLst>
                  <a:ext uri="{0D108BD9-81ED-4DB2-BD59-A6C34878D82A}">
                    <a16:rowId xmlns:a16="http://schemas.microsoft.com/office/drawing/2014/main" val="10000"/>
                  </a:ext>
                </a:extLst>
              </a:tr>
              <a:tr h="642938">
                <a:tc>
                  <a:txBody>
                    <a:bodyPr/>
                    <a:lstStyle/>
                    <a:p>
                      <a:r>
                        <a:rPr sz="1875">
                          <a:solidFill>
                            <a:srgbClr val="202124"/>
                          </a:solidFill>
                          <a:latin typeface="Roboto"/>
                          <a:ea typeface="Roboto"/>
                          <a:cs typeface="Roboto"/>
                        </a:rPr>
                        <a:t>Training</a:t>
                      </a:r>
                    </a:p>
                  </a:txBody>
                  <a:tcPr marL="133350" marR="133350" marT="114300" marB="95250" anchor="ctr">
                    <a:lnL w="7620">
                      <a:solidFill>
                        <a:srgbClr val="D8D8D8"/>
                      </a:solidFill>
                      <a:prstDash val="solid"/>
                    </a:lnL>
                    <a:lnR w="7620">
                      <a:solidFill>
                        <a:srgbClr val="D8D8D8"/>
                      </a:solidFill>
                      <a:prstDash val="solid"/>
                    </a:lnR>
                    <a:lnT w="7620" cap="flat" cmpd="sng" algn="ctr">
                      <a:solidFill>
                        <a:srgbClr val="D8D8D8"/>
                      </a:solidFill>
                      <a:prstDash val="solid"/>
                      <a:round/>
                      <a:headEnd type="none" w="med" len="med"/>
                      <a:tailEnd type="none" w="med" len="med"/>
                    </a:lnT>
                    <a:lnB w="7620">
                      <a:solidFill>
                        <a:srgbClr val="D8D8D8"/>
                      </a:solidFill>
                      <a:prstDash val="solid"/>
                    </a:lnB>
                    <a:solidFill>
                      <a:srgbClr val="FFFFFF"/>
                    </a:solidFill>
                  </a:tcPr>
                </a:tc>
                <a:tc>
                  <a:txBody>
                    <a:bodyPr/>
                    <a:lstStyle/>
                    <a:p>
                      <a:r>
                        <a:rPr sz="1875">
                          <a:solidFill>
                            <a:srgbClr val="202124"/>
                          </a:solidFill>
                          <a:latin typeface="Roboto"/>
                          <a:ea typeface="Roboto"/>
                          <a:cs typeface="Roboto"/>
                        </a:rPr>
                        <a:t>7.000</a:t>
                      </a:r>
                    </a:p>
                  </a:txBody>
                  <a:tcPr marL="133350" marR="133350" marT="114300" marB="95250" anchor="ctr">
                    <a:lnL w="7620" cap="flat" cmpd="sng" algn="ctr">
                      <a:solidFill>
                        <a:srgbClr val="D8D8D8"/>
                      </a:solidFill>
                      <a:prstDash val="solid"/>
                      <a:round/>
                      <a:headEnd type="none" w="med" len="med"/>
                      <a:tailEnd type="none" w="med" len="med"/>
                    </a:lnL>
                    <a:lnR w="7620">
                      <a:solidFill>
                        <a:srgbClr val="D8D8D8"/>
                      </a:solidFill>
                      <a:prstDash val="solid"/>
                    </a:lnR>
                    <a:lnT w="7620" cap="flat" cmpd="sng" algn="ctr">
                      <a:solidFill>
                        <a:srgbClr val="D8D8D8"/>
                      </a:solidFill>
                      <a:prstDash val="solid"/>
                      <a:round/>
                      <a:headEnd type="none" w="med" len="med"/>
                      <a:tailEnd type="none" w="med" len="med"/>
                    </a:lnT>
                    <a:lnB w="7620">
                      <a:solidFill>
                        <a:srgbClr val="D8D8D8"/>
                      </a:solidFill>
                      <a:prstDash val="solid"/>
                    </a:lnB>
                    <a:solidFill>
                      <a:srgbClr val="FFFFFF"/>
                    </a:solidFill>
                  </a:tcPr>
                </a:tc>
                <a:tc>
                  <a:txBody>
                    <a:bodyPr/>
                    <a:lstStyle/>
                    <a:p>
                      <a:r>
                        <a:rPr sz="1875">
                          <a:solidFill>
                            <a:srgbClr val="202124"/>
                          </a:solidFill>
                          <a:latin typeface="Roboto"/>
                          <a:ea typeface="Roboto"/>
                          <a:cs typeface="Roboto"/>
                        </a:rPr>
                        <a:t>0</a:t>
                      </a:r>
                    </a:p>
                  </a:txBody>
                  <a:tcPr marL="133350" marR="133350" marT="114300" marB="95250" anchor="ctr">
                    <a:lnL w="7620" cap="flat" cmpd="sng" algn="ctr">
                      <a:solidFill>
                        <a:srgbClr val="D8D8D8"/>
                      </a:solidFill>
                      <a:prstDash val="solid"/>
                      <a:round/>
                      <a:headEnd type="none" w="med" len="med"/>
                      <a:tailEnd type="none" w="med" len="med"/>
                    </a:lnL>
                    <a:lnR w="7620">
                      <a:solidFill>
                        <a:srgbClr val="D8D8D8"/>
                      </a:solidFill>
                      <a:prstDash val="solid"/>
                    </a:lnR>
                    <a:lnT w="7620" cap="flat" cmpd="sng" algn="ctr">
                      <a:solidFill>
                        <a:srgbClr val="D8D8D8"/>
                      </a:solidFill>
                      <a:prstDash val="solid"/>
                      <a:round/>
                      <a:headEnd type="none" w="med" len="med"/>
                      <a:tailEnd type="none" w="med" len="med"/>
                    </a:lnT>
                    <a:lnB w="7620">
                      <a:solidFill>
                        <a:srgbClr val="D8D8D8"/>
                      </a:solidFill>
                      <a:prstDash val="solid"/>
                    </a:lnB>
                    <a:solidFill>
                      <a:srgbClr val="FFFFFF"/>
                    </a:solidFill>
                  </a:tcPr>
                </a:tc>
                <a:extLst>
                  <a:ext uri="{0D108BD9-81ED-4DB2-BD59-A6C34878D82A}">
                    <a16:rowId xmlns:a16="http://schemas.microsoft.com/office/drawing/2014/main" val="10001"/>
                  </a:ext>
                </a:extLst>
              </a:tr>
              <a:tr h="642938">
                <a:tc>
                  <a:txBody>
                    <a:bodyPr/>
                    <a:lstStyle/>
                    <a:p>
                      <a:r>
                        <a:rPr sz="1875">
                          <a:solidFill>
                            <a:srgbClr val="202124"/>
                          </a:solidFill>
                          <a:latin typeface="Roboto"/>
                          <a:ea typeface="Roboto"/>
                          <a:cs typeface="Roboto"/>
                        </a:rPr>
                        <a:t>Validation</a:t>
                      </a:r>
                    </a:p>
                  </a:txBody>
                  <a:tcPr marL="133350" marR="133350" marT="114300" marB="95250" anchor="ctr">
                    <a:lnL w="7620">
                      <a:solidFill>
                        <a:srgbClr val="D8D8D8"/>
                      </a:solidFill>
                      <a:prstDash val="solid"/>
                    </a:lnL>
                    <a:lnR w="7620">
                      <a:solidFill>
                        <a:srgbClr val="D8D8D8"/>
                      </a:solidFill>
                      <a:prstDash val="solid"/>
                    </a:lnR>
                    <a:lnT w="7620" cap="flat" cmpd="sng" algn="ctr">
                      <a:solidFill>
                        <a:srgbClr val="D8D8D8"/>
                      </a:solidFill>
                      <a:prstDash val="solid"/>
                      <a:round/>
                      <a:headEnd type="none" w="med" len="med"/>
                      <a:tailEnd type="none" w="med" len="med"/>
                    </a:lnT>
                    <a:lnB w="7620">
                      <a:solidFill>
                        <a:srgbClr val="D8D8D8"/>
                      </a:solidFill>
                      <a:prstDash val="solid"/>
                    </a:lnB>
                    <a:solidFill>
                      <a:srgbClr val="FFFFFF"/>
                    </a:solidFill>
                  </a:tcPr>
                </a:tc>
                <a:tc>
                  <a:txBody>
                    <a:bodyPr/>
                    <a:lstStyle/>
                    <a:p>
                      <a:r>
                        <a:rPr sz="1875">
                          <a:solidFill>
                            <a:srgbClr val="202124"/>
                          </a:solidFill>
                          <a:latin typeface="Roboto"/>
                          <a:ea typeface="Roboto"/>
                          <a:cs typeface="Roboto"/>
                        </a:rPr>
                        <a:t>750</a:t>
                      </a:r>
                    </a:p>
                  </a:txBody>
                  <a:tcPr marL="133350" marR="133350" marT="114300" marB="95250" anchor="ctr">
                    <a:lnL w="7620" cap="flat" cmpd="sng" algn="ctr">
                      <a:solidFill>
                        <a:srgbClr val="D8D8D8"/>
                      </a:solidFill>
                      <a:prstDash val="solid"/>
                      <a:round/>
                      <a:headEnd type="none" w="med" len="med"/>
                      <a:tailEnd type="none" w="med" len="med"/>
                    </a:lnL>
                    <a:lnR w="7620">
                      <a:solidFill>
                        <a:srgbClr val="D8D8D8"/>
                      </a:solidFill>
                      <a:prstDash val="solid"/>
                    </a:lnR>
                    <a:lnT w="7620" cap="flat" cmpd="sng" algn="ctr">
                      <a:solidFill>
                        <a:srgbClr val="D8D8D8"/>
                      </a:solidFill>
                      <a:prstDash val="solid"/>
                      <a:round/>
                      <a:headEnd type="none" w="med" len="med"/>
                      <a:tailEnd type="none" w="med" len="med"/>
                    </a:lnT>
                    <a:lnB w="7620">
                      <a:solidFill>
                        <a:srgbClr val="D8D8D8"/>
                      </a:solidFill>
                      <a:prstDash val="solid"/>
                    </a:lnB>
                    <a:solidFill>
                      <a:srgbClr val="FFFFFF"/>
                    </a:solidFill>
                  </a:tcPr>
                </a:tc>
                <a:tc>
                  <a:txBody>
                    <a:bodyPr/>
                    <a:lstStyle/>
                    <a:p>
                      <a:r>
                        <a:rPr sz="1875">
                          <a:solidFill>
                            <a:srgbClr val="202124"/>
                          </a:solidFill>
                          <a:latin typeface="Roboto"/>
                          <a:ea typeface="Roboto"/>
                          <a:cs typeface="Roboto"/>
                        </a:rPr>
                        <a:t>250</a:t>
                      </a:r>
                    </a:p>
                  </a:txBody>
                  <a:tcPr marL="133350" marR="133350" marT="114300" marB="95250" anchor="ctr">
                    <a:lnL w="7620" cap="flat" cmpd="sng" algn="ctr">
                      <a:solidFill>
                        <a:srgbClr val="D8D8D8"/>
                      </a:solidFill>
                      <a:prstDash val="solid"/>
                      <a:round/>
                      <a:headEnd type="none" w="med" len="med"/>
                      <a:tailEnd type="none" w="med" len="med"/>
                    </a:lnL>
                    <a:lnR w="7620">
                      <a:solidFill>
                        <a:srgbClr val="D8D8D8"/>
                      </a:solidFill>
                      <a:prstDash val="solid"/>
                    </a:lnR>
                    <a:lnT w="7620" cap="flat" cmpd="sng" algn="ctr">
                      <a:solidFill>
                        <a:srgbClr val="D8D8D8"/>
                      </a:solidFill>
                      <a:prstDash val="solid"/>
                      <a:round/>
                      <a:headEnd type="none" w="med" len="med"/>
                      <a:tailEnd type="none" w="med" len="med"/>
                    </a:lnT>
                    <a:lnB w="7620">
                      <a:solidFill>
                        <a:srgbClr val="D8D8D8"/>
                      </a:solidFill>
                      <a:prstDash val="solid"/>
                    </a:lnB>
                    <a:solidFill>
                      <a:srgbClr val="FFFFFF"/>
                    </a:solidFill>
                  </a:tcPr>
                </a:tc>
                <a:extLst>
                  <a:ext uri="{0D108BD9-81ED-4DB2-BD59-A6C34878D82A}">
                    <a16:rowId xmlns:a16="http://schemas.microsoft.com/office/drawing/2014/main" val="10002"/>
                  </a:ext>
                </a:extLst>
              </a:tr>
              <a:tr h="642938">
                <a:tc>
                  <a:txBody>
                    <a:bodyPr/>
                    <a:lstStyle/>
                    <a:p>
                      <a:r>
                        <a:rPr sz="1875">
                          <a:solidFill>
                            <a:srgbClr val="202124"/>
                          </a:solidFill>
                          <a:latin typeface="Roboto"/>
                          <a:ea typeface="Roboto"/>
                          <a:cs typeface="Roboto"/>
                        </a:rPr>
                        <a:t>Test</a:t>
                      </a:r>
                    </a:p>
                  </a:txBody>
                  <a:tcPr marL="133350" marR="133350" marT="114300" marB="95250" anchor="ctr">
                    <a:lnL w="7620">
                      <a:solidFill>
                        <a:srgbClr val="D8D8D8"/>
                      </a:solidFill>
                      <a:prstDash val="solid"/>
                    </a:lnL>
                    <a:lnR w="7620">
                      <a:solidFill>
                        <a:srgbClr val="D8D8D8"/>
                      </a:solidFill>
                      <a:prstDash val="solid"/>
                    </a:lnR>
                    <a:lnT w="7620" cap="flat" cmpd="sng" algn="ctr">
                      <a:solidFill>
                        <a:srgbClr val="D8D8D8"/>
                      </a:solidFill>
                      <a:prstDash val="solid"/>
                      <a:round/>
                      <a:headEnd type="none" w="med" len="med"/>
                      <a:tailEnd type="none" w="med" len="med"/>
                    </a:lnT>
                    <a:lnB w="7620">
                      <a:solidFill>
                        <a:srgbClr val="D8D8D8"/>
                      </a:solidFill>
                      <a:prstDash val="solid"/>
                    </a:lnB>
                    <a:solidFill>
                      <a:srgbClr val="FFFFFF"/>
                    </a:solidFill>
                  </a:tcPr>
                </a:tc>
                <a:tc>
                  <a:txBody>
                    <a:bodyPr/>
                    <a:lstStyle/>
                    <a:p>
                      <a:r>
                        <a:rPr sz="1875">
                          <a:solidFill>
                            <a:srgbClr val="202124"/>
                          </a:solidFill>
                          <a:latin typeface="Roboto"/>
                          <a:ea typeface="Roboto"/>
                          <a:cs typeface="Roboto"/>
                        </a:rPr>
                        <a:t>1.000</a:t>
                      </a:r>
                    </a:p>
                  </a:txBody>
                  <a:tcPr marL="133350" marR="133350" marT="114300" marB="95250" anchor="ctr">
                    <a:lnL w="7620" cap="flat" cmpd="sng" algn="ctr">
                      <a:solidFill>
                        <a:srgbClr val="D8D8D8"/>
                      </a:solidFill>
                      <a:prstDash val="solid"/>
                      <a:round/>
                      <a:headEnd type="none" w="med" len="med"/>
                      <a:tailEnd type="none" w="med" len="med"/>
                    </a:lnL>
                    <a:lnR w="7620">
                      <a:solidFill>
                        <a:srgbClr val="D8D8D8"/>
                      </a:solidFill>
                      <a:prstDash val="solid"/>
                    </a:lnR>
                    <a:lnT w="7620" cap="flat" cmpd="sng" algn="ctr">
                      <a:solidFill>
                        <a:srgbClr val="D8D8D8"/>
                      </a:solidFill>
                      <a:prstDash val="solid"/>
                      <a:round/>
                      <a:headEnd type="none" w="med" len="med"/>
                      <a:tailEnd type="none" w="med" len="med"/>
                    </a:lnT>
                    <a:lnB w="7620">
                      <a:solidFill>
                        <a:srgbClr val="D8D8D8"/>
                      </a:solidFill>
                      <a:prstDash val="solid"/>
                    </a:lnB>
                    <a:solidFill>
                      <a:srgbClr val="FFFFFF"/>
                    </a:solidFill>
                  </a:tcPr>
                </a:tc>
                <a:tc>
                  <a:txBody>
                    <a:bodyPr/>
                    <a:lstStyle/>
                    <a:p>
                      <a:r>
                        <a:rPr sz="1875">
                          <a:solidFill>
                            <a:srgbClr val="202124"/>
                          </a:solidFill>
                          <a:latin typeface="Roboto"/>
                          <a:ea typeface="Roboto"/>
                          <a:cs typeface="Roboto"/>
                        </a:rPr>
                        <a:t>1.000</a:t>
                      </a:r>
                    </a:p>
                  </a:txBody>
                  <a:tcPr marL="133350" marR="133350" marT="114300" marB="95250" anchor="ctr">
                    <a:lnL w="7620" cap="flat" cmpd="sng" algn="ctr">
                      <a:solidFill>
                        <a:srgbClr val="D8D8D8"/>
                      </a:solidFill>
                      <a:prstDash val="solid"/>
                      <a:round/>
                      <a:headEnd type="none" w="med" len="med"/>
                      <a:tailEnd type="none" w="med" len="med"/>
                    </a:lnL>
                    <a:lnR w="7620">
                      <a:solidFill>
                        <a:srgbClr val="D8D8D8"/>
                      </a:solidFill>
                      <a:prstDash val="solid"/>
                    </a:lnR>
                    <a:lnT w="7620" cap="flat" cmpd="sng" algn="ctr">
                      <a:solidFill>
                        <a:srgbClr val="D8D8D8"/>
                      </a:solidFill>
                      <a:prstDash val="solid"/>
                      <a:round/>
                      <a:headEnd type="none" w="med" len="med"/>
                      <a:tailEnd type="none" w="med" len="med"/>
                    </a:lnT>
                    <a:lnB w="7620">
                      <a:solidFill>
                        <a:srgbClr val="D8D8D8"/>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8" name="dataset-lock">
            <a:extLst>
              <a:ext uri="{FF2B5EF4-FFF2-40B4-BE49-F238E27FC236}">
                <a16:creationId xmlns:a16="http://schemas.microsoft.com/office/drawing/2014/main" id="{A582662E-621F-4079-86AC-B5F15F27C95D}"/>
              </a:ext>
            </a:extLst>
          </p:cNvPr>
          <p:cNvSpPr>
            <a:spLocks noGrp="1"/>
          </p:cNvSpPr>
          <p:nvPr/>
        </p:nvSpPr>
        <p:spPr>
          <a:xfrm>
            <a:off x="952500" y="5381625"/>
            <a:ext cx="9906000" cy="523875"/>
          </a:xfrm>
          <a:prstGeom prst="rect">
            <a:avLst/>
          </a:prstGeom>
          <a:noFill/>
          <a:ln w="0">
            <a:noFill/>
          </a:ln>
        </p:spPr>
        <p:txBody>
          <a:bodyPr wrap="square" lIns="0" tIns="0" rIns="0" bIns="0" anchor="t">
            <a:noAutofit/>
          </a:bodyPr>
          <a:lstStyle>
            <a:defPPr algn="l">
              <a:defRPr sz="1950" b="0">
                <a:solidFill>
                  <a:srgbClr val="62666B"/>
                </a:solidFill>
                <a:latin typeface="Roboto"/>
                <a:ea typeface="Roboto"/>
                <a:cs typeface="Roboto"/>
              </a:defRPr>
            </a:defPPr>
            <a:lvl1pPr algn="l">
              <a:defRPr sz="1950" b="0">
                <a:solidFill>
                  <a:srgbClr val="62666B"/>
                </a:solidFill>
                <a:latin typeface="Roboto"/>
                <a:ea typeface="Roboto"/>
                <a:cs typeface="Roboto"/>
              </a:defRPr>
            </a:lvl1pPr>
            <a:lvl2pPr algn="l">
              <a:defRPr sz="1950" b="0">
                <a:solidFill>
                  <a:srgbClr val="62666B"/>
                </a:solidFill>
                <a:latin typeface="Roboto"/>
                <a:ea typeface="Roboto"/>
                <a:cs typeface="Roboto"/>
              </a:defRPr>
            </a:lvl2pPr>
            <a:lvl3pPr algn="l">
              <a:defRPr sz="1950" b="0">
                <a:solidFill>
                  <a:srgbClr val="62666B"/>
                </a:solidFill>
                <a:latin typeface="Roboto"/>
                <a:ea typeface="Roboto"/>
                <a:cs typeface="Roboto"/>
              </a:defRPr>
            </a:lvl3pPr>
            <a:lvl4pPr algn="l">
              <a:defRPr sz="1950" b="0">
                <a:solidFill>
                  <a:srgbClr val="62666B"/>
                </a:solidFill>
                <a:latin typeface="Roboto"/>
                <a:ea typeface="Roboto"/>
                <a:cs typeface="Roboto"/>
              </a:defRPr>
            </a:lvl4pPr>
            <a:lvl5pPr algn="l">
              <a:defRPr sz="1950" b="0">
                <a:solidFill>
                  <a:srgbClr val="62666B"/>
                </a:solidFill>
                <a:latin typeface="Roboto"/>
                <a:ea typeface="Roboto"/>
                <a:cs typeface="Roboto"/>
              </a:defRPr>
            </a:lvl5pPr>
            <a:lvl6pPr algn="l">
              <a:defRPr sz="1950" b="0">
                <a:solidFill>
                  <a:srgbClr val="62666B"/>
                </a:solidFill>
                <a:latin typeface="Roboto"/>
                <a:ea typeface="Roboto"/>
                <a:cs typeface="Roboto"/>
              </a:defRPr>
            </a:lvl6pPr>
            <a:lvl7pPr algn="l">
              <a:defRPr sz="1950" b="0">
                <a:solidFill>
                  <a:srgbClr val="62666B"/>
                </a:solidFill>
                <a:latin typeface="Roboto"/>
                <a:ea typeface="Roboto"/>
                <a:cs typeface="Roboto"/>
              </a:defRPr>
            </a:lvl7pPr>
            <a:lvl8pPr algn="l">
              <a:defRPr sz="1950" b="0">
                <a:solidFill>
                  <a:srgbClr val="62666B"/>
                </a:solidFill>
                <a:latin typeface="Roboto"/>
                <a:ea typeface="Roboto"/>
                <a:cs typeface="Roboto"/>
              </a:defRPr>
            </a:lvl8pPr>
            <a:lvl9pPr algn="l">
              <a:defRPr sz="1950" b="0">
                <a:solidFill>
                  <a:srgbClr val="62666B"/>
                </a:solidFill>
                <a:latin typeface="Roboto"/>
                <a:ea typeface="Roboto"/>
                <a:cs typeface="Roboto"/>
              </a:defRPr>
            </a:lvl9pPr>
          </a:lstStyle>
          <a:p>
            <a:pPr algn="l">
              <a:defRPr sz="1950" b="0">
                <a:solidFill>
                  <a:srgbClr val="62666B"/>
                </a:solidFill>
                <a:latin typeface="Roboto"/>
                <a:ea typeface="Roboto"/>
                <a:cs typeface="Roboto"/>
              </a:defRPr>
            </a:pPr>
            <a:r>
              <a:rPr sz="1950" b="0">
                <a:solidFill>
                  <a:srgbClr val="62666B"/>
                </a:solidFill>
                <a:latin typeface="Roboto"/>
                <a:ea typeface="Roboto"/>
                <a:cs typeface="Roboto"/>
              </a:rPr>
              <a:t>Training normale. Coppie indivisibili in validation e test.</a:t>
            </a:r>
          </a:p>
        </p:txBody>
      </p:sp>
    </p:spTree>
    <p:extLst>
      <p:ext uri="{BB962C8B-B14F-4D97-AF65-F5344CB8AC3E}">
        <p14:creationId xmlns:p14="http://schemas.microsoft.com/office/powerpoint/2010/main" val="222343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A09A899E-3B97-45A2-BAD0-4249001555D1}"/>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Anomaly detection con training normale</a:t>
            </a:r>
          </a:p>
        </p:txBody>
      </p:sp>
      <p:sp>
        <p:nvSpPr>
          <p:cNvPr id="2" name="template-footer">
            <a:extLst>
              <a:ext uri="{FF2B5EF4-FFF2-40B4-BE49-F238E27FC236}">
                <a16:creationId xmlns:a16="http://schemas.microsoft.com/office/drawing/2014/main" id="{670D2CC0-CD13-4127-A462-7761FD066AB2}"/>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B9074925-5A7B-4CAD-BD50-12F57E6F5ACF}"/>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C8D13677-F3E1-472F-BFC6-BF2DADA7D8DD}"/>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14/28</a:t>
            </a:r>
          </a:p>
        </p:txBody>
      </p:sp>
      <p:sp>
        <p:nvSpPr>
          <p:cNvPr id="5" name="source-citations">
            <a:extLst>
              <a:ext uri="{FF2B5EF4-FFF2-40B4-BE49-F238E27FC236}">
                <a16:creationId xmlns:a16="http://schemas.microsoft.com/office/drawing/2014/main" id="{6F87EC0C-05E1-47E4-95B5-1C074AEBC189}"/>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[15]</a:t>
            </a:r>
          </a:p>
        </p:txBody>
      </p:sp>
      <p:pic>
        <p:nvPicPr>
          <p:cNvPr id="6" name="Immagine 5">
            <a:extLst>
              <a:ext uri="{FF2B5EF4-FFF2-40B4-BE49-F238E27FC236}">
                <a16:creationId xmlns:a16="http://schemas.microsoft.com/office/drawing/2014/main" id="{3A545A45-EAAF-4A9F-AA79-FB288EA0FD8B}"/>
              </a:ext>
            </a:extLst>
          </p:cNvPr>
          <p:cNvPicPr>
            <a:picLocks noChangeAspect="1"/>
          </p:cNvPicPr>
          <p:nvPr/>
        </p:nvPicPr>
        <p:blipFill>
          <a:blip r:embed="rId3"/>
          <a:stretch/>
        </p:blipFill>
        <p:spPr>
          <a:xfrm>
            <a:off x="1071563" y="1562100"/>
            <a:ext cx="5334000" cy="4000500"/>
          </a:xfrm>
          <a:prstGeom prst="rect">
            <a:avLst/>
          </a:prstGeom>
        </p:spPr>
      </p:pic>
      <p:sp>
        <p:nvSpPr>
          <p:cNvPr id="7" name="normal-only">
            <a:extLst>
              <a:ext uri="{FF2B5EF4-FFF2-40B4-BE49-F238E27FC236}">
                <a16:creationId xmlns:a16="http://schemas.microsoft.com/office/drawing/2014/main" id="{5155F612-86C7-45C9-B593-F57D23FE264E}"/>
              </a:ext>
            </a:extLst>
          </p:cNvPr>
          <p:cNvSpPr>
            <a:spLocks noGrp="1"/>
          </p:cNvSpPr>
          <p:nvPr/>
        </p:nvSpPr>
        <p:spPr>
          <a:xfrm>
            <a:off x="6905625" y="1628775"/>
            <a:ext cx="4000500" cy="914400"/>
          </a:xfrm>
          <a:prstGeom prst="rect">
            <a:avLst/>
          </a:prstGeom>
          <a:noFill/>
          <a:ln w="0">
            <a:noFill/>
          </a:ln>
        </p:spPr>
        <p:txBody>
          <a:bodyPr wrap="square" lIns="0" tIns="0" rIns="0" bIns="0" anchor="t">
            <a:noAutofit/>
          </a:bodyPr>
          <a:lstStyle>
            <a:defPPr algn="l">
              <a:defRPr sz="2550" b="1">
                <a:solidFill>
                  <a:srgbClr val="822433"/>
                </a:solidFill>
                <a:latin typeface="Roboto"/>
                <a:ea typeface="Roboto"/>
                <a:cs typeface="Roboto"/>
              </a:defRPr>
            </a:defPPr>
            <a:lvl1pPr algn="l">
              <a:defRPr sz="2550" b="1">
                <a:solidFill>
                  <a:srgbClr val="822433"/>
                </a:solidFill>
                <a:latin typeface="Roboto"/>
                <a:ea typeface="Roboto"/>
                <a:cs typeface="Roboto"/>
              </a:defRPr>
            </a:lvl1pPr>
            <a:lvl2pPr algn="l">
              <a:defRPr sz="2550" b="1">
                <a:solidFill>
                  <a:srgbClr val="822433"/>
                </a:solidFill>
                <a:latin typeface="Roboto"/>
                <a:ea typeface="Roboto"/>
                <a:cs typeface="Roboto"/>
              </a:defRPr>
            </a:lvl2pPr>
            <a:lvl3pPr algn="l">
              <a:defRPr sz="2550" b="1">
                <a:solidFill>
                  <a:srgbClr val="822433"/>
                </a:solidFill>
                <a:latin typeface="Roboto"/>
                <a:ea typeface="Roboto"/>
                <a:cs typeface="Roboto"/>
              </a:defRPr>
            </a:lvl3pPr>
            <a:lvl4pPr algn="l">
              <a:defRPr sz="2550" b="1">
                <a:solidFill>
                  <a:srgbClr val="822433"/>
                </a:solidFill>
                <a:latin typeface="Roboto"/>
                <a:ea typeface="Roboto"/>
                <a:cs typeface="Roboto"/>
              </a:defRPr>
            </a:lvl4pPr>
            <a:lvl5pPr algn="l">
              <a:defRPr sz="2550" b="1">
                <a:solidFill>
                  <a:srgbClr val="822433"/>
                </a:solidFill>
                <a:latin typeface="Roboto"/>
                <a:ea typeface="Roboto"/>
                <a:cs typeface="Roboto"/>
              </a:defRPr>
            </a:lvl5pPr>
            <a:lvl6pPr algn="l">
              <a:defRPr sz="2550" b="1">
                <a:solidFill>
                  <a:srgbClr val="822433"/>
                </a:solidFill>
                <a:latin typeface="Roboto"/>
                <a:ea typeface="Roboto"/>
                <a:cs typeface="Roboto"/>
              </a:defRPr>
            </a:lvl6pPr>
            <a:lvl7pPr algn="l">
              <a:defRPr sz="2550" b="1">
                <a:solidFill>
                  <a:srgbClr val="822433"/>
                </a:solidFill>
                <a:latin typeface="Roboto"/>
                <a:ea typeface="Roboto"/>
                <a:cs typeface="Roboto"/>
              </a:defRPr>
            </a:lvl7pPr>
            <a:lvl8pPr algn="l">
              <a:defRPr sz="2550" b="1">
                <a:solidFill>
                  <a:srgbClr val="822433"/>
                </a:solidFill>
                <a:latin typeface="Roboto"/>
                <a:ea typeface="Roboto"/>
                <a:cs typeface="Roboto"/>
              </a:defRPr>
            </a:lvl8pPr>
            <a:lvl9pPr algn="l">
              <a:defRPr sz="2550" b="1">
                <a:solidFill>
                  <a:srgbClr val="822433"/>
                </a:solidFill>
                <a:latin typeface="Roboto"/>
                <a:ea typeface="Roboto"/>
                <a:cs typeface="Roboto"/>
              </a:defRPr>
            </a:lvl9pPr>
          </a:lstStyle>
          <a:p>
            <a:pPr algn="l">
              <a:defRPr sz="2550" b="1">
                <a:solidFill>
                  <a:srgbClr val="822433"/>
                </a:solidFill>
                <a:latin typeface="Roboto"/>
                <a:ea typeface="Roboto"/>
                <a:cs typeface="Roboto"/>
              </a:defRPr>
            </a:pPr>
            <a:r>
              <a:rPr sz="2550" b="1">
                <a:solidFill>
                  <a:srgbClr val="822433"/>
                </a:solidFill>
                <a:latin typeface="Roboto"/>
                <a:ea typeface="Roboto"/>
                <a:cs typeface="Roboto"/>
              </a:rPr>
              <a:t>Training su immagini normali</a:t>
            </a:r>
          </a:p>
        </p:txBody>
      </p:sp>
      <p:sp>
        <p:nvSpPr>
          <p:cNvPr id="8" name="image-score">
            <a:extLst>
              <a:ext uri="{FF2B5EF4-FFF2-40B4-BE49-F238E27FC236}">
                <a16:creationId xmlns:a16="http://schemas.microsoft.com/office/drawing/2014/main" id="{83D527BE-A262-4DFD-B9E3-85669FCCBDC5}"/>
              </a:ext>
            </a:extLst>
          </p:cNvPr>
          <p:cNvSpPr>
            <a:spLocks noGrp="1"/>
          </p:cNvSpPr>
          <p:nvPr/>
        </p:nvSpPr>
        <p:spPr>
          <a:xfrm>
            <a:off x="6905625" y="3286125"/>
            <a:ext cx="4000500" cy="476250"/>
          </a:xfrm>
          <a:prstGeom prst="rect">
            <a:avLst/>
          </a:prstGeom>
          <a:noFill/>
          <a:ln w="0">
            <a:noFill/>
          </a:ln>
        </p:spPr>
        <p:txBody>
          <a:bodyPr wrap="square" lIns="0" tIns="0" rIns="0" bIns="0" anchor="t">
            <a:noAutofit/>
          </a:bodyPr>
          <a:lstStyle>
            <a:defPPr algn="l">
              <a:defRPr sz="2325" b="0">
                <a:solidFill>
                  <a:srgbClr val="202124"/>
                </a:solidFill>
                <a:latin typeface="Roboto"/>
                <a:ea typeface="Roboto"/>
                <a:cs typeface="Roboto"/>
              </a:defRPr>
            </a:defPPr>
            <a:lvl1pPr algn="l">
              <a:defRPr sz="2325" b="0">
                <a:solidFill>
                  <a:srgbClr val="202124"/>
                </a:solidFill>
                <a:latin typeface="Roboto"/>
                <a:ea typeface="Roboto"/>
                <a:cs typeface="Roboto"/>
              </a:defRPr>
            </a:lvl1pPr>
            <a:lvl2pPr algn="l">
              <a:defRPr sz="2325" b="0">
                <a:solidFill>
                  <a:srgbClr val="202124"/>
                </a:solidFill>
                <a:latin typeface="Roboto"/>
                <a:ea typeface="Roboto"/>
                <a:cs typeface="Roboto"/>
              </a:defRPr>
            </a:lvl2pPr>
            <a:lvl3pPr algn="l">
              <a:defRPr sz="2325" b="0">
                <a:solidFill>
                  <a:srgbClr val="202124"/>
                </a:solidFill>
                <a:latin typeface="Roboto"/>
                <a:ea typeface="Roboto"/>
                <a:cs typeface="Roboto"/>
              </a:defRPr>
            </a:lvl3pPr>
            <a:lvl4pPr algn="l">
              <a:defRPr sz="2325" b="0">
                <a:solidFill>
                  <a:srgbClr val="202124"/>
                </a:solidFill>
                <a:latin typeface="Roboto"/>
                <a:ea typeface="Roboto"/>
                <a:cs typeface="Roboto"/>
              </a:defRPr>
            </a:lvl4pPr>
            <a:lvl5pPr algn="l">
              <a:defRPr sz="2325" b="0">
                <a:solidFill>
                  <a:srgbClr val="202124"/>
                </a:solidFill>
                <a:latin typeface="Roboto"/>
                <a:ea typeface="Roboto"/>
                <a:cs typeface="Roboto"/>
              </a:defRPr>
            </a:lvl5pPr>
            <a:lvl6pPr algn="l">
              <a:defRPr sz="2325" b="0">
                <a:solidFill>
                  <a:srgbClr val="202124"/>
                </a:solidFill>
                <a:latin typeface="Roboto"/>
                <a:ea typeface="Roboto"/>
                <a:cs typeface="Roboto"/>
              </a:defRPr>
            </a:lvl6pPr>
            <a:lvl7pPr algn="l">
              <a:defRPr sz="2325" b="0">
                <a:solidFill>
                  <a:srgbClr val="202124"/>
                </a:solidFill>
                <a:latin typeface="Roboto"/>
                <a:ea typeface="Roboto"/>
                <a:cs typeface="Roboto"/>
              </a:defRPr>
            </a:lvl7pPr>
            <a:lvl8pPr algn="l">
              <a:defRPr sz="2325" b="0">
                <a:solidFill>
                  <a:srgbClr val="202124"/>
                </a:solidFill>
                <a:latin typeface="Roboto"/>
                <a:ea typeface="Roboto"/>
                <a:cs typeface="Roboto"/>
              </a:defRPr>
            </a:lvl8pPr>
            <a:lvl9pPr algn="l">
              <a:defRPr sz="2325" b="0">
                <a:solidFill>
                  <a:srgbClr val="202124"/>
                </a:solidFill>
                <a:latin typeface="Roboto"/>
                <a:ea typeface="Roboto"/>
                <a:cs typeface="Roboto"/>
              </a:defRPr>
            </a:lvl9pPr>
          </a:lstStyle>
          <a:p>
            <a:pPr algn="l">
              <a:defRPr sz="2325" b="0">
                <a:solidFill>
                  <a:srgbClr val="202124"/>
                </a:solidFill>
                <a:latin typeface="Roboto"/>
                <a:ea typeface="Roboto"/>
                <a:cs typeface="Roboto"/>
              </a:defRPr>
            </a:pPr>
            <a:r>
              <a:rPr sz="2325" b="0">
                <a:solidFill>
                  <a:srgbClr val="202124"/>
                </a:solidFill>
                <a:latin typeface="Roboto"/>
                <a:ea typeface="Roboto"/>
                <a:cs typeface="Roboto"/>
              </a:rPr>
              <a:t>Score dell’immagine</a:t>
            </a:r>
          </a:p>
        </p:txBody>
      </p:sp>
      <p:sp>
        <p:nvSpPr>
          <p:cNvPr id="9" name="anomaly-map">
            <a:extLst>
              <a:ext uri="{FF2B5EF4-FFF2-40B4-BE49-F238E27FC236}">
                <a16:creationId xmlns:a16="http://schemas.microsoft.com/office/drawing/2014/main" id="{98E39EBB-6437-4D37-81EF-1550EE6A0690}"/>
              </a:ext>
            </a:extLst>
          </p:cNvPr>
          <p:cNvSpPr>
            <a:spLocks noGrp="1"/>
          </p:cNvSpPr>
          <p:nvPr/>
        </p:nvSpPr>
        <p:spPr>
          <a:xfrm>
            <a:off x="6905625" y="4171950"/>
            <a:ext cx="4095750" cy="857250"/>
          </a:xfrm>
          <a:prstGeom prst="rect">
            <a:avLst/>
          </a:prstGeom>
          <a:noFill/>
          <a:ln w="0">
            <a:noFill/>
          </a:ln>
        </p:spPr>
        <p:txBody>
          <a:bodyPr wrap="square" lIns="0" tIns="0" rIns="0" bIns="0" anchor="t">
            <a:noAutofit/>
          </a:bodyPr>
          <a:lstStyle>
            <a:defPPr algn="l">
              <a:defRPr sz="2325" b="0">
                <a:solidFill>
                  <a:srgbClr val="202124"/>
                </a:solidFill>
                <a:latin typeface="Roboto"/>
                <a:ea typeface="Roboto"/>
                <a:cs typeface="Roboto"/>
              </a:defRPr>
            </a:defPPr>
            <a:lvl1pPr algn="l">
              <a:defRPr sz="2325" b="0">
                <a:solidFill>
                  <a:srgbClr val="202124"/>
                </a:solidFill>
                <a:latin typeface="Roboto"/>
                <a:ea typeface="Roboto"/>
                <a:cs typeface="Roboto"/>
              </a:defRPr>
            </a:lvl1pPr>
            <a:lvl2pPr algn="l">
              <a:defRPr sz="2325" b="0">
                <a:solidFill>
                  <a:srgbClr val="202124"/>
                </a:solidFill>
                <a:latin typeface="Roboto"/>
                <a:ea typeface="Roboto"/>
                <a:cs typeface="Roboto"/>
              </a:defRPr>
            </a:lvl2pPr>
            <a:lvl3pPr algn="l">
              <a:defRPr sz="2325" b="0">
                <a:solidFill>
                  <a:srgbClr val="202124"/>
                </a:solidFill>
                <a:latin typeface="Roboto"/>
                <a:ea typeface="Roboto"/>
                <a:cs typeface="Roboto"/>
              </a:defRPr>
            </a:lvl3pPr>
            <a:lvl4pPr algn="l">
              <a:defRPr sz="2325" b="0">
                <a:solidFill>
                  <a:srgbClr val="202124"/>
                </a:solidFill>
                <a:latin typeface="Roboto"/>
                <a:ea typeface="Roboto"/>
                <a:cs typeface="Roboto"/>
              </a:defRPr>
            </a:lvl4pPr>
            <a:lvl5pPr algn="l">
              <a:defRPr sz="2325" b="0">
                <a:solidFill>
                  <a:srgbClr val="202124"/>
                </a:solidFill>
                <a:latin typeface="Roboto"/>
                <a:ea typeface="Roboto"/>
                <a:cs typeface="Roboto"/>
              </a:defRPr>
            </a:lvl5pPr>
            <a:lvl6pPr algn="l">
              <a:defRPr sz="2325" b="0">
                <a:solidFill>
                  <a:srgbClr val="202124"/>
                </a:solidFill>
                <a:latin typeface="Roboto"/>
                <a:ea typeface="Roboto"/>
                <a:cs typeface="Roboto"/>
              </a:defRPr>
            </a:lvl6pPr>
            <a:lvl7pPr algn="l">
              <a:defRPr sz="2325" b="0">
                <a:solidFill>
                  <a:srgbClr val="202124"/>
                </a:solidFill>
                <a:latin typeface="Roboto"/>
                <a:ea typeface="Roboto"/>
                <a:cs typeface="Roboto"/>
              </a:defRPr>
            </a:lvl7pPr>
            <a:lvl8pPr algn="l">
              <a:defRPr sz="2325" b="0">
                <a:solidFill>
                  <a:srgbClr val="202124"/>
                </a:solidFill>
                <a:latin typeface="Roboto"/>
                <a:ea typeface="Roboto"/>
                <a:cs typeface="Roboto"/>
              </a:defRPr>
            </a:lvl8pPr>
            <a:lvl9pPr algn="l">
              <a:defRPr sz="2325" b="0">
                <a:solidFill>
                  <a:srgbClr val="202124"/>
                </a:solidFill>
                <a:latin typeface="Roboto"/>
                <a:ea typeface="Roboto"/>
                <a:cs typeface="Roboto"/>
              </a:defRPr>
            </a:lvl9pPr>
          </a:lstStyle>
          <a:p>
            <a:pPr algn="l">
              <a:defRPr sz="2325" b="0">
                <a:solidFill>
                  <a:srgbClr val="202124"/>
                </a:solidFill>
                <a:latin typeface="Roboto"/>
                <a:ea typeface="Roboto"/>
                <a:cs typeface="Roboto"/>
              </a:defRPr>
            </a:pPr>
            <a:r>
              <a:rPr sz="2325" b="0">
                <a:solidFill>
                  <a:srgbClr val="202124"/>
                </a:solidFill>
                <a:latin typeface="Roboto"/>
                <a:ea typeface="Roboto"/>
                <a:cs typeface="Roboto"/>
              </a:rPr>
              <a:t>Mappa spaziale dell’anomalia</a:t>
            </a:r>
          </a:p>
        </p:txBody>
      </p:sp>
      <p:sp>
        <p:nvSpPr>
          <p:cNvPr id="10" name="normal-scope">
            <a:extLst>
              <a:ext uri="{FF2B5EF4-FFF2-40B4-BE49-F238E27FC236}">
                <a16:creationId xmlns:a16="http://schemas.microsoft.com/office/drawing/2014/main" id="{A20F7F63-2C37-4FB4-9FF8-AD396D14545E}"/>
              </a:ext>
            </a:extLst>
          </p:cNvPr>
          <p:cNvSpPr>
            <a:spLocks noGrp="1"/>
          </p:cNvSpPr>
          <p:nvPr/>
        </p:nvSpPr>
        <p:spPr>
          <a:xfrm>
            <a:off x="952500" y="5676900"/>
            <a:ext cx="10001250" cy="304800"/>
          </a:xfrm>
          <a:prstGeom prst="rect">
            <a:avLst/>
          </a:prstGeom>
          <a:noFill/>
          <a:ln w="0">
            <a:noFill/>
          </a:ln>
        </p:spPr>
        <p:txBody>
          <a:bodyPr wrap="square" lIns="0" tIns="0" rIns="0" bIns="0" anchor="t">
            <a:noAutofit/>
          </a:bodyPr>
          <a:lstStyle>
            <a:defPPr algn="l">
              <a:defRPr sz="1800" b="0">
                <a:solidFill>
                  <a:srgbClr val="62666B"/>
                </a:solidFill>
                <a:latin typeface="Roboto"/>
                <a:ea typeface="Roboto"/>
                <a:cs typeface="Roboto"/>
              </a:defRPr>
            </a:defPPr>
            <a:lvl1pPr algn="l">
              <a:defRPr sz="1800" b="0">
                <a:solidFill>
                  <a:srgbClr val="62666B"/>
                </a:solidFill>
                <a:latin typeface="Roboto"/>
                <a:ea typeface="Roboto"/>
                <a:cs typeface="Roboto"/>
              </a:defRPr>
            </a:lvl1pPr>
            <a:lvl2pPr algn="l">
              <a:defRPr sz="1800" b="0">
                <a:solidFill>
                  <a:srgbClr val="62666B"/>
                </a:solidFill>
                <a:latin typeface="Roboto"/>
                <a:ea typeface="Roboto"/>
                <a:cs typeface="Roboto"/>
              </a:defRPr>
            </a:lvl2pPr>
            <a:lvl3pPr algn="l">
              <a:defRPr sz="1800" b="0">
                <a:solidFill>
                  <a:srgbClr val="62666B"/>
                </a:solidFill>
                <a:latin typeface="Roboto"/>
                <a:ea typeface="Roboto"/>
                <a:cs typeface="Roboto"/>
              </a:defRPr>
            </a:lvl3pPr>
            <a:lvl4pPr algn="l">
              <a:defRPr sz="1800" b="0">
                <a:solidFill>
                  <a:srgbClr val="62666B"/>
                </a:solidFill>
                <a:latin typeface="Roboto"/>
                <a:ea typeface="Roboto"/>
                <a:cs typeface="Roboto"/>
              </a:defRPr>
            </a:lvl4pPr>
            <a:lvl5pPr algn="l">
              <a:defRPr sz="1800" b="0">
                <a:solidFill>
                  <a:srgbClr val="62666B"/>
                </a:solidFill>
                <a:latin typeface="Roboto"/>
                <a:ea typeface="Roboto"/>
                <a:cs typeface="Roboto"/>
              </a:defRPr>
            </a:lvl5pPr>
            <a:lvl6pPr algn="l">
              <a:defRPr sz="1800" b="0">
                <a:solidFill>
                  <a:srgbClr val="62666B"/>
                </a:solidFill>
                <a:latin typeface="Roboto"/>
                <a:ea typeface="Roboto"/>
                <a:cs typeface="Roboto"/>
              </a:defRPr>
            </a:lvl6pPr>
            <a:lvl7pPr algn="l">
              <a:defRPr sz="1800" b="0">
                <a:solidFill>
                  <a:srgbClr val="62666B"/>
                </a:solidFill>
                <a:latin typeface="Roboto"/>
                <a:ea typeface="Roboto"/>
                <a:cs typeface="Roboto"/>
              </a:defRPr>
            </a:lvl7pPr>
            <a:lvl8pPr algn="l">
              <a:defRPr sz="1800" b="0">
                <a:solidFill>
                  <a:srgbClr val="62666B"/>
                </a:solidFill>
                <a:latin typeface="Roboto"/>
                <a:ea typeface="Roboto"/>
                <a:cs typeface="Roboto"/>
              </a:defRPr>
            </a:lvl8pPr>
            <a:lvl9pPr algn="l">
              <a:defRPr sz="1800" b="0">
                <a:solidFill>
                  <a:srgbClr val="62666B"/>
                </a:solidFill>
                <a:latin typeface="Roboto"/>
                <a:ea typeface="Roboto"/>
                <a:cs typeface="Roboto"/>
              </a:defRPr>
            </a:lvl9pPr>
          </a:lstStyle>
          <a:p>
            <a:pPr algn="l">
              <a:defRPr sz="1800" b="0">
                <a:solidFill>
                  <a:srgbClr val="62666B"/>
                </a:solidFill>
                <a:latin typeface="Roboto"/>
                <a:ea typeface="Roboto"/>
                <a:cs typeface="Roboto"/>
              </a:defRPr>
            </a:pPr>
            <a:r>
              <a:rPr sz="1800" b="0">
                <a:solidFill>
                  <a:srgbClr val="62666B"/>
                </a:solidFill>
                <a:latin typeface="Roboto"/>
                <a:ea typeface="Roboto"/>
                <a:cs typeface="Roboto"/>
              </a:rPr>
              <a:t>Polvere e graffi possono appartenere alla normalità</a:t>
            </a:r>
          </a:p>
        </p:txBody>
      </p:sp>
    </p:spTree>
    <p:extLst>
      <p:ext uri="{BB962C8B-B14F-4D97-AF65-F5344CB8AC3E}">
        <p14:creationId xmlns:p14="http://schemas.microsoft.com/office/powerpoint/2010/main" val="2223438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DEA3910D-3580-4315-BB37-4C8EA83F9F74}"/>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Memoria di feature e teacher–student</a:t>
            </a:r>
          </a:p>
        </p:txBody>
      </p:sp>
      <p:sp>
        <p:nvSpPr>
          <p:cNvPr id="2" name="template-footer">
            <a:extLst>
              <a:ext uri="{FF2B5EF4-FFF2-40B4-BE49-F238E27FC236}">
                <a16:creationId xmlns:a16="http://schemas.microsoft.com/office/drawing/2014/main" id="{8ACC2601-077B-43CC-8AB3-B440290206D6}"/>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3EAB0F69-5D55-4DDC-8227-22A12F9C186A}"/>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E209F0FE-2FB3-4A25-9D2A-8558797FA2CD}"/>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15/28</a:t>
            </a:r>
          </a:p>
        </p:txBody>
      </p:sp>
      <p:sp>
        <p:nvSpPr>
          <p:cNvPr id="5" name="source-citations">
            <a:extLst>
              <a:ext uri="{FF2B5EF4-FFF2-40B4-BE49-F238E27FC236}">
                <a16:creationId xmlns:a16="http://schemas.microsoft.com/office/drawing/2014/main" id="{A0AAE4B5-542F-4A1B-9A0F-97CBCD07636D}"/>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[16] [17]</a:t>
            </a:r>
          </a:p>
        </p:txBody>
      </p:sp>
      <p:sp>
        <p:nvSpPr>
          <p:cNvPr id="6" name="patchcore">
            <a:extLst>
              <a:ext uri="{FF2B5EF4-FFF2-40B4-BE49-F238E27FC236}">
                <a16:creationId xmlns:a16="http://schemas.microsoft.com/office/drawing/2014/main" id="{5DC5D2D0-4DE1-453B-B3B2-6A2E799D97A7}"/>
              </a:ext>
            </a:extLst>
          </p:cNvPr>
          <p:cNvSpPr>
            <a:spLocks noGrp="1"/>
          </p:cNvSpPr>
          <p:nvPr/>
        </p:nvSpPr>
        <p:spPr>
          <a:xfrm>
            <a:off x="952500" y="1571625"/>
            <a:ext cx="9239250" cy="552450"/>
          </a:xfrm>
          <a:prstGeom prst="rect">
            <a:avLst/>
          </a:prstGeom>
          <a:noFill/>
          <a:ln w="0">
            <a:noFill/>
          </a:ln>
        </p:spPr>
        <p:txBody>
          <a:bodyPr wrap="square" lIns="0" tIns="0" rIns="0" bIns="0" anchor="t">
            <a:noAutofit/>
          </a:bodyPr>
          <a:lstStyle>
            <a:defPPr algn="l">
              <a:defRPr sz="3000" b="1">
                <a:solidFill>
                  <a:srgbClr val="822433"/>
                </a:solidFill>
                <a:latin typeface="Roboto"/>
                <a:ea typeface="Roboto"/>
                <a:cs typeface="Roboto"/>
              </a:defRPr>
            </a:defPPr>
            <a:lvl1pPr algn="l">
              <a:defRPr sz="3000" b="1">
                <a:solidFill>
                  <a:srgbClr val="822433"/>
                </a:solidFill>
                <a:latin typeface="Roboto"/>
                <a:ea typeface="Roboto"/>
                <a:cs typeface="Roboto"/>
              </a:defRPr>
            </a:lvl1pPr>
            <a:lvl2pPr algn="l">
              <a:defRPr sz="3000" b="1">
                <a:solidFill>
                  <a:srgbClr val="822433"/>
                </a:solidFill>
                <a:latin typeface="Roboto"/>
                <a:ea typeface="Roboto"/>
                <a:cs typeface="Roboto"/>
              </a:defRPr>
            </a:lvl2pPr>
            <a:lvl3pPr algn="l">
              <a:defRPr sz="3000" b="1">
                <a:solidFill>
                  <a:srgbClr val="822433"/>
                </a:solidFill>
                <a:latin typeface="Roboto"/>
                <a:ea typeface="Roboto"/>
                <a:cs typeface="Roboto"/>
              </a:defRPr>
            </a:lvl3pPr>
            <a:lvl4pPr algn="l">
              <a:defRPr sz="3000" b="1">
                <a:solidFill>
                  <a:srgbClr val="822433"/>
                </a:solidFill>
                <a:latin typeface="Roboto"/>
                <a:ea typeface="Roboto"/>
                <a:cs typeface="Roboto"/>
              </a:defRPr>
            </a:lvl4pPr>
            <a:lvl5pPr algn="l">
              <a:defRPr sz="3000" b="1">
                <a:solidFill>
                  <a:srgbClr val="822433"/>
                </a:solidFill>
                <a:latin typeface="Roboto"/>
                <a:ea typeface="Roboto"/>
                <a:cs typeface="Roboto"/>
              </a:defRPr>
            </a:lvl5pPr>
            <a:lvl6pPr algn="l">
              <a:defRPr sz="3000" b="1">
                <a:solidFill>
                  <a:srgbClr val="822433"/>
                </a:solidFill>
                <a:latin typeface="Roboto"/>
                <a:ea typeface="Roboto"/>
                <a:cs typeface="Roboto"/>
              </a:defRPr>
            </a:lvl6pPr>
            <a:lvl7pPr algn="l">
              <a:defRPr sz="3000" b="1">
                <a:solidFill>
                  <a:srgbClr val="822433"/>
                </a:solidFill>
                <a:latin typeface="Roboto"/>
                <a:ea typeface="Roboto"/>
                <a:cs typeface="Roboto"/>
              </a:defRPr>
            </a:lvl7pPr>
            <a:lvl8pPr algn="l">
              <a:defRPr sz="3000" b="1">
                <a:solidFill>
                  <a:srgbClr val="822433"/>
                </a:solidFill>
                <a:latin typeface="Roboto"/>
                <a:ea typeface="Roboto"/>
                <a:cs typeface="Roboto"/>
              </a:defRPr>
            </a:lvl8pPr>
            <a:lvl9pPr algn="l">
              <a:defRPr sz="3000" b="1">
                <a:solidFill>
                  <a:srgbClr val="822433"/>
                </a:solidFill>
                <a:latin typeface="Roboto"/>
                <a:ea typeface="Roboto"/>
                <a:cs typeface="Roboto"/>
              </a:defRPr>
            </a:lvl9pPr>
          </a:lstStyle>
          <a:p>
            <a:pPr algn="l">
              <a:defRPr sz="3000" b="1">
                <a:solidFill>
                  <a:srgbClr val="822433"/>
                </a:solidFill>
                <a:latin typeface="Roboto"/>
                <a:ea typeface="Roboto"/>
                <a:cs typeface="Roboto"/>
              </a:defRPr>
            </a:pPr>
            <a:r>
              <a:rPr sz="3000" b="1">
                <a:solidFill>
                  <a:srgbClr val="822433"/>
                </a:solidFill>
                <a:latin typeface="Roboto"/>
                <a:ea typeface="Roboto"/>
                <a:cs typeface="Roboto"/>
              </a:rPr>
              <a:t>PatchCore</a:t>
            </a:r>
          </a:p>
        </p:txBody>
      </p:sp>
      <p:sp>
        <p:nvSpPr>
          <p:cNvPr id="7" name="memory">
            <a:extLst>
              <a:ext uri="{FF2B5EF4-FFF2-40B4-BE49-F238E27FC236}">
                <a16:creationId xmlns:a16="http://schemas.microsoft.com/office/drawing/2014/main" id="{887C4164-D1D0-48D4-A92C-DAF16F14D5B7}"/>
              </a:ext>
            </a:extLst>
          </p:cNvPr>
          <p:cNvSpPr>
            <a:spLocks noGrp="1"/>
          </p:cNvSpPr>
          <p:nvPr/>
        </p:nvSpPr>
        <p:spPr>
          <a:xfrm>
            <a:off x="952500" y="2314575"/>
            <a:ext cx="9810750" cy="942975"/>
          </a:xfrm>
          <a:prstGeom prst="rect">
            <a:avLst/>
          </a:prstGeom>
          <a:noFill/>
          <a:ln w="0">
            <a:noFill/>
          </a:ln>
        </p:spPr>
        <p:txBody>
          <a:bodyPr wrap="square" lIns="0" tIns="0" rIns="0" bIns="0" anchor="t">
            <a:noAutofit/>
          </a:bodyPr>
          <a:lstStyle>
            <a:defPPr algn="l">
              <a:defRPr sz="2550" b="0">
                <a:solidFill>
                  <a:srgbClr val="202124"/>
                </a:solidFill>
                <a:latin typeface="Roboto"/>
                <a:ea typeface="Roboto"/>
                <a:cs typeface="Roboto"/>
              </a:defRPr>
            </a:defPPr>
            <a:lvl1pPr algn="l">
              <a:defRPr sz="2550" b="0">
                <a:solidFill>
                  <a:srgbClr val="202124"/>
                </a:solidFill>
                <a:latin typeface="Roboto"/>
                <a:ea typeface="Roboto"/>
                <a:cs typeface="Roboto"/>
              </a:defRPr>
            </a:lvl1pPr>
            <a:lvl2pPr algn="l">
              <a:defRPr sz="2550" b="0">
                <a:solidFill>
                  <a:srgbClr val="202124"/>
                </a:solidFill>
                <a:latin typeface="Roboto"/>
                <a:ea typeface="Roboto"/>
                <a:cs typeface="Roboto"/>
              </a:defRPr>
            </a:lvl2pPr>
            <a:lvl3pPr algn="l">
              <a:defRPr sz="2550" b="0">
                <a:solidFill>
                  <a:srgbClr val="202124"/>
                </a:solidFill>
                <a:latin typeface="Roboto"/>
                <a:ea typeface="Roboto"/>
                <a:cs typeface="Roboto"/>
              </a:defRPr>
            </a:lvl3pPr>
            <a:lvl4pPr algn="l">
              <a:defRPr sz="2550" b="0">
                <a:solidFill>
                  <a:srgbClr val="202124"/>
                </a:solidFill>
                <a:latin typeface="Roboto"/>
                <a:ea typeface="Roboto"/>
                <a:cs typeface="Roboto"/>
              </a:defRPr>
            </a:lvl4pPr>
            <a:lvl5pPr algn="l">
              <a:defRPr sz="2550" b="0">
                <a:solidFill>
                  <a:srgbClr val="202124"/>
                </a:solidFill>
                <a:latin typeface="Roboto"/>
                <a:ea typeface="Roboto"/>
                <a:cs typeface="Roboto"/>
              </a:defRPr>
            </a:lvl5pPr>
            <a:lvl6pPr algn="l">
              <a:defRPr sz="2550" b="0">
                <a:solidFill>
                  <a:srgbClr val="202124"/>
                </a:solidFill>
                <a:latin typeface="Roboto"/>
                <a:ea typeface="Roboto"/>
                <a:cs typeface="Roboto"/>
              </a:defRPr>
            </a:lvl6pPr>
            <a:lvl7pPr algn="l">
              <a:defRPr sz="2550" b="0">
                <a:solidFill>
                  <a:srgbClr val="202124"/>
                </a:solidFill>
                <a:latin typeface="Roboto"/>
                <a:ea typeface="Roboto"/>
                <a:cs typeface="Roboto"/>
              </a:defRPr>
            </a:lvl7pPr>
            <a:lvl8pPr algn="l">
              <a:defRPr sz="2550" b="0">
                <a:solidFill>
                  <a:srgbClr val="202124"/>
                </a:solidFill>
                <a:latin typeface="Roboto"/>
                <a:ea typeface="Roboto"/>
                <a:cs typeface="Roboto"/>
              </a:defRPr>
            </a:lvl8pPr>
            <a:lvl9pPr algn="l">
              <a:defRPr sz="2550" b="0">
                <a:solidFill>
                  <a:srgbClr val="202124"/>
                </a:solidFill>
                <a:latin typeface="Roboto"/>
                <a:ea typeface="Roboto"/>
                <a:cs typeface="Roboto"/>
              </a:defRPr>
            </a:lvl9pPr>
          </a:lstStyle>
          <a:p>
            <a:pPr algn="l">
              <a:defRPr sz="2550" b="0">
                <a:solidFill>
                  <a:srgbClr val="202124"/>
                </a:solidFill>
                <a:latin typeface="Roboto"/>
                <a:ea typeface="Roboto"/>
                <a:cs typeface="Roboto"/>
              </a:defRPr>
            </a:pPr>
            <a:r>
              <a:rPr sz="2550" b="0">
                <a:solidFill>
                  <a:srgbClr val="202124"/>
                </a:solidFill>
                <a:latin typeface="Roboto"/>
                <a:ea typeface="Roboto"/>
                <a:cs typeface="Roboto"/>
              </a:rPr>
              <a:t>Confronto con una memoria</a:t>
            </a:r>
          </a:p>
          <a:p>
            <a:pPr algn="l">
              <a:defRPr sz="2550" b="0">
                <a:solidFill>
                  <a:srgbClr val="202124"/>
                </a:solidFill>
                <a:latin typeface="Roboto"/>
                <a:ea typeface="Roboto"/>
                <a:cs typeface="Roboto"/>
              </a:defRPr>
            </a:pPr>
            <a:r>
              <a:rPr sz="2550" b="0">
                <a:solidFill>
                  <a:srgbClr val="202124"/>
                </a:solidFill>
                <a:latin typeface="Roboto"/>
                <a:ea typeface="Roboto"/>
                <a:cs typeface="Roboto"/>
              </a:rPr>
              <a:t>di feature normali</a:t>
            </a:r>
          </a:p>
        </p:txBody>
      </p:sp>
      <p:sp>
        <p:nvSpPr>
          <p:cNvPr id="8" name="efficientad">
            <a:extLst>
              <a:ext uri="{FF2B5EF4-FFF2-40B4-BE49-F238E27FC236}">
                <a16:creationId xmlns:a16="http://schemas.microsoft.com/office/drawing/2014/main" id="{04B0482C-D4BB-4BF9-8386-3A5B3CC55A5C}"/>
              </a:ext>
            </a:extLst>
          </p:cNvPr>
          <p:cNvSpPr>
            <a:spLocks noGrp="1"/>
          </p:cNvSpPr>
          <p:nvPr/>
        </p:nvSpPr>
        <p:spPr>
          <a:xfrm>
            <a:off x="952500" y="3886200"/>
            <a:ext cx="9239250" cy="552450"/>
          </a:xfrm>
          <a:prstGeom prst="rect">
            <a:avLst/>
          </a:prstGeom>
          <a:noFill/>
          <a:ln w="0">
            <a:noFill/>
          </a:ln>
        </p:spPr>
        <p:txBody>
          <a:bodyPr wrap="square" lIns="0" tIns="0" rIns="0" bIns="0" anchor="t">
            <a:noAutofit/>
          </a:bodyPr>
          <a:lstStyle>
            <a:defPPr algn="l">
              <a:defRPr sz="3000" b="1">
                <a:solidFill>
                  <a:srgbClr val="822433"/>
                </a:solidFill>
                <a:latin typeface="Roboto"/>
                <a:ea typeface="Roboto"/>
                <a:cs typeface="Roboto"/>
              </a:defRPr>
            </a:defPPr>
            <a:lvl1pPr algn="l">
              <a:defRPr sz="3000" b="1">
                <a:solidFill>
                  <a:srgbClr val="822433"/>
                </a:solidFill>
                <a:latin typeface="Roboto"/>
                <a:ea typeface="Roboto"/>
                <a:cs typeface="Roboto"/>
              </a:defRPr>
            </a:lvl1pPr>
            <a:lvl2pPr algn="l">
              <a:defRPr sz="3000" b="1">
                <a:solidFill>
                  <a:srgbClr val="822433"/>
                </a:solidFill>
                <a:latin typeface="Roboto"/>
                <a:ea typeface="Roboto"/>
                <a:cs typeface="Roboto"/>
              </a:defRPr>
            </a:lvl2pPr>
            <a:lvl3pPr algn="l">
              <a:defRPr sz="3000" b="1">
                <a:solidFill>
                  <a:srgbClr val="822433"/>
                </a:solidFill>
                <a:latin typeface="Roboto"/>
                <a:ea typeface="Roboto"/>
                <a:cs typeface="Roboto"/>
              </a:defRPr>
            </a:lvl3pPr>
            <a:lvl4pPr algn="l">
              <a:defRPr sz="3000" b="1">
                <a:solidFill>
                  <a:srgbClr val="822433"/>
                </a:solidFill>
                <a:latin typeface="Roboto"/>
                <a:ea typeface="Roboto"/>
                <a:cs typeface="Roboto"/>
              </a:defRPr>
            </a:lvl4pPr>
            <a:lvl5pPr algn="l">
              <a:defRPr sz="3000" b="1">
                <a:solidFill>
                  <a:srgbClr val="822433"/>
                </a:solidFill>
                <a:latin typeface="Roboto"/>
                <a:ea typeface="Roboto"/>
                <a:cs typeface="Roboto"/>
              </a:defRPr>
            </a:lvl5pPr>
            <a:lvl6pPr algn="l">
              <a:defRPr sz="3000" b="1">
                <a:solidFill>
                  <a:srgbClr val="822433"/>
                </a:solidFill>
                <a:latin typeface="Roboto"/>
                <a:ea typeface="Roboto"/>
                <a:cs typeface="Roboto"/>
              </a:defRPr>
            </a:lvl6pPr>
            <a:lvl7pPr algn="l">
              <a:defRPr sz="3000" b="1">
                <a:solidFill>
                  <a:srgbClr val="822433"/>
                </a:solidFill>
                <a:latin typeface="Roboto"/>
                <a:ea typeface="Roboto"/>
                <a:cs typeface="Roboto"/>
              </a:defRPr>
            </a:lvl7pPr>
            <a:lvl8pPr algn="l">
              <a:defRPr sz="3000" b="1">
                <a:solidFill>
                  <a:srgbClr val="822433"/>
                </a:solidFill>
                <a:latin typeface="Roboto"/>
                <a:ea typeface="Roboto"/>
                <a:cs typeface="Roboto"/>
              </a:defRPr>
            </a:lvl8pPr>
            <a:lvl9pPr algn="l">
              <a:defRPr sz="3000" b="1">
                <a:solidFill>
                  <a:srgbClr val="822433"/>
                </a:solidFill>
                <a:latin typeface="Roboto"/>
                <a:ea typeface="Roboto"/>
                <a:cs typeface="Roboto"/>
              </a:defRPr>
            </a:lvl9pPr>
          </a:lstStyle>
          <a:p>
            <a:pPr algn="l">
              <a:defRPr sz="3000" b="1">
                <a:solidFill>
                  <a:srgbClr val="822433"/>
                </a:solidFill>
                <a:latin typeface="Roboto"/>
                <a:ea typeface="Roboto"/>
                <a:cs typeface="Roboto"/>
              </a:defRPr>
            </a:pPr>
            <a:r>
              <a:rPr sz="3000" b="1">
                <a:solidFill>
                  <a:srgbClr val="822433"/>
                </a:solidFill>
                <a:latin typeface="Roboto"/>
                <a:ea typeface="Roboto"/>
                <a:cs typeface="Roboto"/>
              </a:rPr>
              <a:t>EfficientAD-S</a:t>
            </a:r>
          </a:p>
        </p:txBody>
      </p:sp>
      <p:sp>
        <p:nvSpPr>
          <p:cNvPr id="9" name="student-teacher">
            <a:extLst>
              <a:ext uri="{FF2B5EF4-FFF2-40B4-BE49-F238E27FC236}">
                <a16:creationId xmlns:a16="http://schemas.microsoft.com/office/drawing/2014/main" id="{1EB289A6-E32A-4050-8D0F-98C522BE6094}"/>
              </a:ext>
            </a:extLst>
          </p:cNvPr>
          <p:cNvSpPr>
            <a:spLocks noGrp="1"/>
          </p:cNvSpPr>
          <p:nvPr/>
        </p:nvSpPr>
        <p:spPr>
          <a:xfrm>
            <a:off x="952500" y="4629150"/>
            <a:ext cx="9906000" cy="942975"/>
          </a:xfrm>
          <a:prstGeom prst="rect">
            <a:avLst/>
          </a:prstGeom>
          <a:noFill/>
          <a:ln w="0">
            <a:noFill/>
          </a:ln>
        </p:spPr>
        <p:txBody>
          <a:bodyPr wrap="square" lIns="0" tIns="0" rIns="0" bIns="0" anchor="t">
            <a:noAutofit/>
          </a:bodyPr>
          <a:lstStyle>
            <a:defPPr algn="l">
              <a:defRPr sz="2550" b="0">
                <a:solidFill>
                  <a:srgbClr val="202124"/>
                </a:solidFill>
                <a:latin typeface="Roboto"/>
                <a:ea typeface="Roboto"/>
                <a:cs typeface="Roboto"/>
              </a:defRPr>
            </a:defPPr>
            <a:lvl1pPr algn="l">
              <a:defRPr sz="2550" b="0">
                <a:solidFill>
                  <a:srgbClr val="202124"/>
                </a:solidFill>
                <a:latin typeface="Roboto"/>
                <a:ea typeface="Roboto"/>
                <a:cs typeface="Roboto"/>
              </a:defRPr>
            </a:lvl1pPr>
            <a:lvl2pPr algn="l">
              <a:defRPr sz="2550" b="0">
                <a:solidFill>
                  <a:srgbClr val="202124"/>
                </a:solidFill>
                <a:latin typeface="Roboto"/>
                <a:ea typeface="Roboto"/>
                <a:cs typeface="Roboto"/>
              </a:defRPr>
            </a:lvl2pPr>
            <a:lvl3pPr algn="l">
              <a:defRPr sz="2550" b="0">
                <a:solidFill>
                  <a:srgbClr val="202124"/>
                </a:solidFill>
                <a:latin typeface="Roboto"/>
                <a:ea typeface="Roboto"/>
                <a:cs typeface="Roboto"/>
              </a:defRPr>
            </a:lvl3pPr>
            <a:lvl4pPr algn="l">
              <a:defRPr sz="2550" b="0">
                <a:solidFill>
                  <a:srgbClr val="202124"/>
                </a:solidFill>
                <a:latin typeface="Roboto"/>
                <a:ea typeface="Roboto"/>
                <a:cs typeface="Roboto"/>
              </a:defRPr>
            </a:lvl4pPr>
            <a:lvl5pPr algn="l">
              <a:defRPr sz="2550" b="0">
                <a:solidFill>
                  <a:srgbClr val="202124"/>
                </a:solidFill>
                <a:latin typeface="Roboto"/>
                <a:ea typeface="Roboto"/>
                <a:cs typeface="Roboto"/>
              </a:defRPr>
            </a:lvl5pPr>
            <a:lvl6pPr algn="l">
              <a:defRPr sz="2550" b="0">
                <a:solidFill>
                  <a:srgbClr val="202124"/>
                </a:solidFill>
                <a:latin typeface="Roboto"/>
                <a:ea typeface="Roboto"/>
                <a:cs typeface="Roboto"/>
              </a:defRPr>
            </a:lvl6pPr>
            <a:lvl7pPr algn="l">
              <a:defRPr sz="2550" b="0">
                <a:solidFill>
                  <a:srgbClr val="202124"/>
                </a:solidFill>
                <a:latin typeface="Roboto"/>
                <a:ea typeface="Roboto"/>
                <a:cs typeface="Roboto"/>
              </a:defRPr>
            </a:lvl7pPr>
            <a:lvl8pPr algn="l">
              <a:defRPr sz="2550" b="0">
                <a:solidFill>
                  <a:srgbClr val="202124"/>
                </a:solidFill>
                <a:latin typeface="Roboto"/>
                <a:ea typeface="Roboto"/>
                <a:cs typeface="Roboto"/>
              </a:defRPr>
            </a:lvl8pPr>
            <a:lvl9pPr algn="l">
              <a:defRPr sz="2550" b="0">
                <a:solidFill>
                  <a:srgbClr val="202124"/>
                </a:solidFill>
                <a:latin typeface="Roboto"/>
                <a:ea typeface="Roboto"/>
                <a:cs typeface="Roboto"/>
              </a:defRPr>
            </a:lvl9pPr>
          </a:lstStyle>
          <a:p>
            <a:pPr algn="l">
              <a:defRPr sz="2550" b="0">
                <a:solidFill>
                  <a:srgbClr val="202124"/>
                </a:solidFill>
                <a:latin typeface="Roboto"/>
                <a:ea typeface="Roboto"/>
                <a:cs typeface="Roboto"/>
              </a:defRPr>
            </a:pPr>
            <a:r>
              <a:rPr sz="2550" b="0">
                <a:solidFill>
                  <a:srgbClr val="202124"/>
                </a:solidFill>
                <a:latin typeface="Roboto"/>
                <a:ea typeface="Roboto"/>
                <a:cs typeface="Roboto"/>
              </a:rPr>
              <a:t>Discrepanza tra teacher e student</a:t>
            </a:r>
          </a:p>
          <a:p>
            <a:pPr algn="l">
              <a:defRPr sz="2550" b="0">
                <a:solidFill>
                  <a:srgbClr val="202124"/>
                </a:solidFill>
                <a:latin typeface="Roboto"/>
                <a:ea typeface="Roboto"/>
                <a:cs typeface="Roboto"/>
              </a:defRPr>
            </a:pPr>
            <a:r>
              <a:rPr sz="2550" b="0">
                <a:solidFill>
                  <a:srgbClr val="202124"/>
                </a:solidFill>
                <a:latin typeface="Roboto"/>
                <a:ea typeface="Roboto"/>
                <a:cs typeface="Roboto"/>
              </a:rPr>
              <a:t>addestrato sulle osservazioni normali</a:t>
            </a:r>
          </a:p>
        </p:txBody>
      </p:sp>
    </p:spTree>
    <p:extLst>
      <p:ext uri="{BB962C8B-B14F-4D97-AF65-F5344CB8AC3E}">
        <p14:creationId xmlns:p14="http://schemas.microsoft.com/office/powerpoint/2010/main" val="222343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CC0173DA-E790-4715-B526-485CA8A64AC3}"/>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Apprendere con perturbazioni artificiali</a:t>
            </a:r>
          </a:p>
        </p:txBody>
      </p:sp>
      <p:sp>
        <p:nvSpPr>
          <p:cNvPr id="2" name="template-footer">
            <a:extLst>
              <a:ext uri="{FF2B5EF4-FFF2-40B4-BE49-F238E27FC236}">
                <a16:creationId xmlns:a16="http://schemas.microsoft.com/office/drawing/2014/main" id="{3DCC7C38-E27B-4CBD-A47D-F0A638E0A583}"/>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DC382603-C2CE-455A-A44D-3DE2DBB17B59}"/>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F5D3EFBB-36EF-40EC-BFA4-7FFBEFDAB528}"/>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16/28</a:t>
            </a:r>
          </a:p>
        </p:txBody>
      </p:sp>
      <p:sp>
        <p:nvSpPr>
          <p:cNvPr id="5" name="source-citations">
            <a:extLst>
              <a:ext uri="{FF2B5EF4-FFF2-40B4-BE49-F238E27FC236}">
                <a16:creationId xmlns:a16="http://schemas.microsoft.com/office/drawing/2014/main" id="{94C2BE1A-2B17-49B4-BD5F-66AD0CD7C676}"/>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[18] [19] [20]</a:t>
            </a:r>
          </a:p>
        </p:txBody>
      </p:sp>
      <p:sp>
        <p:nvSpPr>
          <p:cNvPr id="6" name="ssn">
            <a:extLst>
              <a:ext uri="{FF2B5EF4-FFF2-40B4-BE49-F238E27FC236}">
                <a16:creationId xmlns:a16="http://schemas.microsoft.com/office/drawing/2014/main" id="{BF45E145-833D-4F1D-A6B9-E3BEDD2A3F02}"/>
              </a:ext>
            </a:extLst>
          </p:cNvPr>
          <p:cNvSpPr>
            <a:spLocks noGrp="1"/>
          </p:cNvSpPr>
          <p:nvPr/>
        </p:nvSpPr>
        <p:spPr>
          <a:xfrm>
            <a:off x="952500" y="1419225"/>
            <a:ext cx="4762500" cy="457200"/>
          </a:xfrm>
          <a:prstGeom prst="rect">
            <a:avLst/>
          </a:prstGeom>
          <a:noFill/>
          <a:ln w="0">
            <a:noFill/>
          </a:ln>
        </p:spPr>
        <p:txBody>
          <a:bodyPr wrap="square" lIns="0" tIns="0" rIns="0" bIns="0" anchor="t">
            <a:noAutofit/>
          </a:bodyPr>
          <a:lstStyle>
            <a:defPPr algn="l">
              <a:defRPr sz="2400" b="1">
                <a:solidFill>
                  <a:srgbClr val="822433"/>
                </a:solidFill>
                <a:latin typeface="Roboto"/>
                <a:ea typeface="Roboto"/>
                <a:cs typeface="Roboto"/>
              </a:defRPr>
            </a:defPPr>
            <a:lvl1pPr algn="l">
              <a:defRPr sz="2400" b="1">
                <a:solidFill>
                  <a:srgbClr val="822433"/>
                </a:solidFill>
                <a:latin typeface="Roboto"/>
                <a:ea typeface="Roboto"/>
                <a:cs typeface="Roboto"/>
              </a:defRPr>
            </a:lvl1pPr>
            <a:lvl2pPr algn="l">
              <a:defRPr sz="2400" b="1">
                <a:solidFill>
                  <a:srgbClr val="822433"/>
                </a:solidFill>
                <a:latin typeface="Roboto"/>
                <a:ea typeface="Roboto"/>
                <a:cs typeface="Roboto"/>
              </a:defRPr>
            </a:lvl2pPr>
            <a:lvl3pPr algn="l">
              <a:defRPr sz="2400" b="1">
                <a:solidFill>
                  <a:srgbClr val="822433"/>
                </a:solidFill>
                <a:latin typeface="Roboto"/>
                <a:ea typeface="Roboto"/>
                <a:cs typeface="Roboto"/>
              </a:defRPr>
            </a:lvl3pPr>
            <a:lvl4pPr algn="l">
              <a:defRPr sz="2400" b="1">
                <a:solidFill>
                  <a:srgbClr val="822433"/>
                </a:solidFill>
                <a:latin typeface="Roboto"/>
                <a:ea typeface="Roboto"/>
                <a:cs typeface="Roboto"/>
              </a:defRPr>
            </a:lvl4pPr>
            <a:lvl5pPr algn="l">
              <a:defRPr sz="2400" b="1">
                <a:solidFill>
                  <a:srgbClr val="822433"/>
                </a:solidFill>
                <a:latin typeface="Roboto"/>
                <a:ea typeface="Roboto"/>
                <a:cs typeface="Roboto"/>
              </a:defRPr>
            </a:lvl5pPr>
            <a:lvl6pPr algn="l">
              <a:defRPr sz="2400" b="1">
                <a:solidFill>
                  <a:srgbClr val="822433"/>
                </a:solidFill>
                <a:latin typeface="Roboto"/>
                <a:ea typeface="Roboto"/>
                <a:cs typeface="Roboto"/>
              </a:defRPr>
            </a:lvl6pPr>
            <a:lvl7pPr algn="l">
              <a:defRPr sz="2400" b="1">
                <a:solidFill>
                  <a:srgbClr val="822433"/>
                </a:solidFill>
                <a:latin typeface="Roboto"/>
                <a:ea typeface="Roboto"/>
                <a:cs typeface="Roboto"/>
              </a:defRPr>
            </a:lvl7pPr>
            <a:lvl8pPr algn="l">
              <a:defRPr sz="2400" b="1">
                <a:solidFill>
                  <a:srgbClr val="822433"/>
                </a:solidFill>
                <a:latin typeface="Roboto"/>
                <a:ea typeface="Roboto"/>
                <a:cs typeface="Roboto"/>
              </a:defRPr>
            </a:lvl8pPr>
            <a:lvl9pPr algn="l">
              <a:defRPr sz="2400" b="1">
                <a:solidFill>
                  <a:srgbClr val="822433"/>
                </a:solidFill>
                <a:latin typeface="Roboto"/>
                <a:ea typeface="Roboto"/>
                <a:cs typeface="Roboto"/>
              </a:defRPr>
            </a:lvl9pPr>
          </a:lstStyle>
          <a:p>
            <a:pPr algn="l">
              <a:defRPr sz="2400" b="1">
                <a:solidFill>
                  <a:srgbClr val="822433"/>
                </a:solidFill>
                <a:latin typeface="Roboto"/>
                <a:ea typeface="Roboto"/>
                <a:cs typeface="Roboto"/>
              </a:defRPr>
            </a:pPr>
            <a:r>
              <a:rPr sz="2400" b="1">
                <a:solidFill>
                  <a:srgbClr val="822433"/>
                </a:solidFill>
                <a:latin typeface="Roboto"/>
                <a:ea typeface="Roboto"/>
                <a:cs typeface="Roboto"/>
              </a:rPr>
              <a:t>SuperSimpleNet</a:t>
            </a:r>
          </a:p>
        </p:txBody>
      </p:sp>
      <p:sp>
        <p:nvSpPr>
          <p:cNvPr id="7" name="ssn-detail">
            <a:extLst>
              <a:ext uri="{FF2B5EF4-FFF2-40B4-BE49-F238E27FC236}">
                <a16:creationId xmlns:a16="http://schemas.microsoft.com/office/drawing/2014/main" id="{6193EBA6-CF95-4C70-BEFE-FD2BE282E1B6}"/>
              </a:ext>
            </a:extLst>
          </p:cNvPr>
          <p:cNvSpPr>
            <a:spLocks noGrp="1"/>
          </p:cNvSpPr>
          <p:nvPr/>
        </p:nvSpPr>
        <p:spPr>
          <a:xfrm>
            <a:off x="952500" y="1971675"/>
            <a:ext cx="4857750" cy="428625"/>
          </a:xfrm>
          <a:prstGeom prst="rect">
            <a:avLst/>
          </a:prstGeom>
          <a:noFill/>
          <a:ln w="0">
            <a:noFill/>
          </a:ln>
        </p:spPr>
        <p:txBody>
          <a:bodyPr wrap="square" lIns="0" tIns="0" rIns="0" bIns="0" anchor="t">
            <a:noAutofit/>
          </a:bodyPr>
          <a:lstStyle>
            <a:defPPr algn="l">
              <a:defRPr sz="2025" b="0">
                <a:solidFill>
                  <a:srgbClr val="202124"/>
                </a:solidFill>
                <a:latin typeface="Roboto"/>
                <a:ea typeface="Roboto"/>
                <a:cs typeface="Roboto"/>
              </a:defRPr>
            </a:defPPr>
            <a:lvl1pPr algn="l">
              <a:defRPr sz="2025" b="0">
                <a:solidFill>
                  <a:srgbClr val="202124"/>
                </a:solidFill>
                <a:latin typeface="Roboto"/>
                <a:ea typeface="Roboto"/>
                <a:cs typeface="Roboto"/>
              </a:defRPr>
            </a:lvl1pPr>
            <a:lvl2pPr algn="l">
              <a:defRPr sz="2025" b="0">
                <a:solidFill>
                  <a:srgbClr val="202124"/>
                </a:solidFill>
                <a:latin typeface="Roboto"/>
                <a:ea typeface="Roboto"/>
                <a:cs typeface="Roboto"/>
              </a:defRPr>
            </a:lvl2pPr>
            <a:lvl3pPr algn="l">
              <a:defRPr sz="2025" b="0">
                <a:solidFill>
                  <a:srgbClr val="202124"/>
                </a:solidFill>
                <a:latin typeface="Roboto"/>
                <a:ea typeface="Roboto"/>
                <a:cs typeface="Roboto"/>
              </a:defRPr>
            </a:lvl3pPr>
            <a:lvl4pPr algn="l">
              <a:defRPr sz="2025" b="0">
                <a:solidFill>
                  <a:srgbClr val="202124"/>
                </a:solidFill>
                <a:latin typeface="Roboto"/>
                <a:ea typeface="Roboto"/>
                <a:cs typeface="Roboto"/>
              </a:defRPr>
            </a:lvl4pPr>
            <a:lvl5pPr algn="l">
              <a:defRPr sz="2025" b="0">
                <a:solidFill>
                  <a:srgbClr val="202124"/>
                </a:solidFill>
                <a:latin typeface="Roboto"/>
                <a:ea typeface="Roboto"/>
                <a:cs typeface="Roboto"/>
              </a:defRPr>
            </a:lvl5pPr>
            <a:lvl6pPr algn="l">
              <a:defRPr sz="2025" b="0">
                <a:solidFill>
                  <a:srgbClr val="202124"/>
                </a:solidFill>
                <a:latin typeface="Roboto"/>
                <a:ea typeface="Roboto"/>
                <a:cs typeface="Roboto"/>
              </a:defRPr>
            </a:lvl6pPr>
            <a:lvl7pPr algn="l">
              <a:defRPr sz="2025" b="0">
                <a:solidFill>
                  <a:srgbClr val="202124"/>
                </a:solidFill>
                <a:latin typeface="Roboto"/>
                <a:ea typeface="Roboto"/>
                <a:cs typeface="Roboto"/>
              </a:defRPr>
            </a:lvl7pPr>
            <a:lvl8pPr algn="l">
              <a:defRPr sz="2025" b="0">
                <a:solidFill>
                  <a:srgbClr val="202124"/>
                </a:solidFill>
                <a:latin typeface="Roboto"/>
                <a:ea typeface="Roboto"/>
                <a:cs typeface="Roboto"/>
              </a:defRPr>
            </a:lvl8pPr>
            <a:lvl9pPr algn="l">
              <a:defRPr sz="2025" b="0">
                <a:solidFill>
                  <a:srgbClr val="202124"/>
                </a:solidFill>
                <a:latin typeface="Roboto"/>
                <a:ea typeface="Roboto"/>
                <a:cs typeface="Roboto"/>
              </a:defRPr>
            </a:lvl9pPr>
          </a:lstStyle>
          <a:p>
            <a:pPr algn="l">
              <a:defRPr sz="2025" b="0">
                <a:solidFill>
                  <a:srgbClr val="202124"/>
                </a:solidFill>
                <a:latin typeface="Roboto"/>
                <a:ea typeface="Roboto"/>
                <a:cs typeface="Roboto"/>
              </a:defRPr>
            </a:pPr>
            <a:r>
              <a:rPr sz="2025" b="0">
                <a:solidFill>
                  <a:srgbClr val="202124"/>
                </a:solidFill>
                <a:latin typeface="Roboto"/>
                <a:ea typeface="Roboto"/>
                <a:cs typeface="Roboto"/>
              </a:rPr>
              <a:t>Perturbazioni nelle feature</a:t>
            </a:r>
          </a:p>
        </p:txBody>
      </p:sp>
      <p:sp>
        <p:nvSpPr>
          <p:cNvPr id="8" name="tinyglass">
            <a:extLst>
              <a:ext uri="{FF2B5EF4-FFF2-40B4-BE49-F238E27FC236}">
                <a16:creationId xmlns:a16="http://schemas.microsoft.com/office/drawing/2014/main" id="{79EF934C-37DA-44FF-855B-73DBFD247EB4}"/>
              </a:ext>
            </a:extLst>
          </p:cNvPr>
          <p:cNvSpPr>
            <a:spLocks noGrp="1"/>
          </p:cNvSpPr>
          <p:nvPr/>
        </p:nvSpPr>
        <p:spPr>
          <a:xfrm>
            <a:off x="6572250" y="1419225"/>
            <a:ext cx="4476750" cy="457200"/>
          </a:xfrm>
          <a:prstGeom prst="rect">
            <a:avLst/>
          </a:prstGeom>
          <a:noFill/>
          <a:ln w="0">
            <a:noFill/>
          </a:ln>
        </p:spPr>
        <p:txBody>
          <a:bodyPr wrap="square" lIns="0" tIns="0" rIns="0" bIns="0" anchor="t">
            <a:noAutofit/>
          </a:bodyPr>
          <a:lstStyle>
            <a:defPPr algn="l">
              <a:defRPr sz="2400" b="1">
                <a:solidFill>
                  <a:srgbClr val="822433"/>
                </a:solidFill>
                <a:latin typeface="Roboto"/>
                <a:ea typeface="Roboto"/>
                <a:cs typeface="Roboto"/>
              </a:defRPr>
            </a:defPPr>
            <a:lvl1pPr algn="l">
              <a:defRPr sz="2400" b="1">
                <a:solidFill>
                  <a:srgbClr val="822433"/>
                </a:solidFill>
                <a:latin typeface="Roboto"/>
                <a:ea typeface="Roboto"/>
                <a:cs typeface="Roboto"/>
              </a:defRPr>
            </a:lvl1pPr>
            <a:lvl2pPr algn="l">
              <a:defRPr sz="2400" b="1">
                <a:solidFill>
                  <a:srgbClr val="822433"/>
                </a:solidFill>
                <a:latin typeface="Roboto"/>
                <a:ea typeface="Roboto"/>
                <a:cs typeface="Roboto"/>
              </a:defRPr>
            </a:lvl2pPr>
            <a:lvl3pPr algn="l">
              <a:defRPr sz="2400" b="1">
                <a:solidFill>
                  <a:srgbClr val="822433"/>
                </a:solidFill>
                <a:latin typeface="Roboto"/>
                <a:ea typeface="Roboto"/>
                <a:cs typeface="Roboto"/>
              </a:defRPr>
            </a:lvl3pPr>
            <a:lvl4pPr algn="l">
              <a:defRPr sz="2400" b="1">
                <a:solidFill>
                  <a:srgbClr val="822433"/>
                </a:solidFill>
                <a:latin typeface="Roboto"/>
                <a:ea typeface="Roboto"/>
                <a:cs typeface="Roboto"/>
              </a:defRPr>
            </a:lvl4pPr>
            <a:lvl5pPr algn="l">
              <a:defRPr sz="2400" b="1">
                <a:solidFill>
                  <a:srgbClr val="822433"/>
                </a:solidFill>
                <a:latin typeface="Roboto"/>
                <a:ea typeface="Roboto"/>
                <a:cs typeface="Roboto"/>
              </a:defRPr>
            </a:lvl5pPr>
            <a:lvl6pPr algn="l">
              <a:defRPr sz="2400" b="1">
                <a:solidFill>
                  <a:srgbClr val="822433"/>
                </a:solidFill>
                <a:latin typeface="Roboto"/>
                <a:ea typeface="Roboto"/>
                <a:cs typeface="Roboto"/>
              </a:defRPr>
            </a:lvl6pPr>
            <a:lvl7pPr algn="l">
              <a:defRPr sz="2400" b="1">
                <a:solidFill>
                  <a:srgbClr val="822433"/>
                </a:solidFill>
                <a:latin typeface="Roboto"/>
                <a:ea typeface="Roboto"/>
                <a:cs typeface="Roboto"/>
              </a:defRPr>
            </a:lvl7pPr>
            <a:lvl8pPr algn="l">
              <a:defRPr sz="2400" b="1">
                <a:solidFill>
                  <a:srgbClr val="822433"/>
                </a:solidFill>
                <a:latin typeface="Roboto"/>
                <a:ea typeface="Roboto"/>
                <a:cs typeface="Roboto"/>
              </a:defRPr>
            </a:lvl8pPr>
            <a:lvl9pPr algn="l">
              <a:defRPr sz="2400" b="1">
                <a:solidFill>
                  <a:srgbClr val="822433"/>
                </a:solidFill>
                <a:latin typeface="Roboto"/>
                <a:ea typeface="Roboto"/>
                <a:cs typeface="Roboto"/>
              </a:defRPr>
            </a:lvl9pPr>
          </a:lstStyle>
          <a:p>
            <a:pPr algn="l">
              <a:defRPr sz="2400" b="1">
                <a:solidFill>
                  <a:srgbClr val="822433"/>
                </a:solidFill>
                <a:latin typeface="Roboto"/>
                <a:ea typeface="Roboto"/>
                <a:cs typeface="Roboto"/>
              </a:defRPr>
            </a:pPr>
            <a:r>
              <a:rPr sz="2400" b="1">
                <a:solidFill>
                  <a:srgbClr val="822433"/>
                </a:solidFill>
                <a:latin typeface="Roboto"/>
                <a:ea typeface="Roboto"/>
                <a:cs typeface="Roboto"/>
              </a:rPr>
              <a:t>TinyGLASS</a:t>
            </a:r>
          </a:p>
        </p:txBody>
      </p:sp>
      <p:sp>
        <p:nvSpPr>
          <p:cNvPr id="9" name="tinyglass-detail">
            <a:extLst>
              <a:ext uri="{FF2B5EF4-FFF2-40B4-BE49-F238E27FC236}">
                <a16:creationId xmlns:a16="http://schemas.microsoft.com/office/drawing/2014/main" id="{F463C209-FFF4-483F-AA21-9DB4C3A9E1A2}"/>
              </a:ext>
            </a:extLst>
          </p:cNvPr>
          <p:cNvSpPr>
            <a:spLocks noGrp="1"/>
          </p:cNvSpPr>
          <p:nvPr/>
        </p:nvSpPr>
        <p:spPr>
          <a:xfrm>
            <a:off x="6572250" y="1971675"/>
            <a:ext cx="4333875" cy="742950"/>
          </a:xfrm>
          <a:prstGeom prst="rect">
            <a:avLst/>
          </a:prstGeom>
          <a:noFill/>
          <a:ln w="0">
            <a:noFill/>
          </a:ln>
        </p:spPr>
        <p:txBody>
          <a:bodyPr wrap="square" lIns="0" tIns="0" rIns="0" bIns="0" anchor="t">
            <a:noAutofit/>
          </a:bodyPr>
          <a:lstStyle>
            <a:defPPr algn="l">
              <a:defRPr sz="2025" b="0">
                <a:solidFill>
                  <a:srgbClr val="202124"/>
                </a:solidFill>
                <a:latin typeface="Roboto"/>
                <a:ea typeface="Roboto"/>
                <a:cs typeface="Roboto"/>
              </a:defRPr>
            </a:defPPr>
            <a:lvl1pPr algn="l">
              <a:defRPr sz="2025" b="0">
                <a:solidFill>
                  <a:srgbClr val="202124"/>
                </a:solidFill>
                <a:latin typeface="Roboto"/>
                <a:ea typeface="Roboto"/>
                <a:cs typeface="Roboto"/>
              </a:defRPr>
            </a:lvl1pPr>
            <a:lvl2pPr algn="l">
              <a:defRPr sz="2025" b="0">
                <a:solidFill>
                  <a:srgbClr val="202124"/>
                </a:solidFill>
                <a:latin typeface="Roboto"/>
                <a:ea typeface="Roboto"/>
                <a:cs typeface="Roboto"/>
              </a:defRPr>
            </a:lvl2pPr>
            <a:lvl3pPr algn="l">
              <a:defRPr sz="2025" b="0">
                <a:solidFill>
                  <a:srgbClr val="202124"/>
                </a:solidFill>
                <a:latin typeface="Roboto"/>
                <a:ea typeface="Roboto"/>
                <a:cs typeface="Roboto"/>
              </a:defRPr>
            </a:lvl3pPr>
            <a:lvl4pPr algn="l">
              <a:defRPr sz="2025" b="0">
                <a:solidFill>
                  <a:srgbClr val="202124"/>
                </a:solidFill>
                <a:latin typeface="Roboto"/>
                <a:ea typeface="Roboto"/>
                <a:cs typeface="Roboto"/>
              </a:defRPr>
            </a:lvl4pPr>
            <a:lvl5pPr algn="l">
              <a:defRPr sz="2025" b="0">
                <a:solidFill>
                  <a:srgbClr val="202124"/>
                </a:solidFill>
                <a:latin typeface="Roboto"/>
                <a:ea typeface="Roboto"/>
                <a:cs typeface="Roboto"/>
              </a:defRPr>
            </a:lvl5pPr>
            <a:lvl6pPr algn="l">
              <a:defRPr sz="2025" b="0">
                <a:solidFill>
                  <a:srgbClr val="202124"/>
                </a:solidFill>
                <a:latin typeface="Roboto"/>
                <a:ea typeface="Roboto"/>
                <a:cs typeface="Roboto"/>
              </a:defRPr>
            </a:lvl6pPr>
            <a:lvl7pPr algn="l">
              <a:defRPr sz="2025" b="0">
                <a:solidFill>
                  <a:srgbClr val="202124"/>
                </a:solidFill>
                <a:latin typeface="Roboto"/>
                <a:ea typeface="Roboto"/>
                <a:cs typeface="Roboto"/>
              </a:defRPr>
            </a:lvl7pPr>
            <a:lvl8pPr algn="l">
              <a:defRPr sz="2025" b="0">
                <a:solidFill>
                  <a:srgbClr val="202124"/>
                </a:solidFill>
                <a:latin typeface="Roboto"/>
                <a:ea typeface="Roboto"/>
                <a:cs typeface="Roboto"/>
              </a:defRPr>
            </a:lvl8pPr>
            <a:lvl9pPr algn="l">
              <a:defRPr sz="2025" b="0">
                <a:solidFill>
                  <a:srgbClr val="202124"/>
                </a:solidFill>
                <a:latin typeface="Roboto"/>
                <a:ea typeface="Roboto"/>
                <a:cs typeface="Roboto"/>
              </a:defRPr>
            </a:lvl9pPr>
          </a:lstStyle>
          <a:p>
            <a:pPr algn="l">
              <a:defRPr sz="2025" b="0">
                <a:solidFill>
                  <a:srgbClr val="202124"/>
                </a:solidFill>
                <a:latin typeface="Roboto"/>
                <a:ea typeface="Roboto"/>
                <a:cs typeface="Roboto"/>
              </a:defRPr>
            </a:pPr>
            <a:r>
              <a:rPr sz="2025" b="0">
                <a:solidFill>
                  <a:srgbClr val="202124"/>
                </a:solidFill>
                <a:latin typeface="Roboto"/>
                <a:ea typeface="Roboto"/>
                <a:cs typeface="Roboto"/>
              </a:rPr>
              <a:t>Sintesi di anomalie e backbone compatto</a:t>
            </a:r>
          </a:p>
        </p:txBody>
      </p:sp>
      <p:pic>
        <p:nvPicPr>
          <p:cNvPr id="10" name="Immagine 9">
            <a:extLst>
              <a:ext uri="{FF2B5EF4-FFF2-40B4-BE49-F238E27FC236}">
                <a16:creationId xmlns:a16="http://schemas.microsoft.com/office/drawing/2014/main" id="{D4FFAC8B-38A1-43EE-A3B3-E3DA61BAFCCA}"/>
              </a:ext>
            </a:extLst>
          </p:cNvPr>
          <p:cNvPicPr>
            <a:picLocks noChangeAspect="1"/>
          </p:cNvPicPr>
          <p:nvPr/>
        </p:nvPicPr>
        <p:blipFill>
          <a:blip r:embed="rId3"/>
          <a:stretch/>
        </p:blipFill>
        <p:spPr>
          <a:xfrm>
            <a:off x="1310640" y="2943225"/>
            <a:ext cx="9189720" cy="2590800"/>
          </a:xfrm>
          <a:prstGeom prst="rect">
            <a:avLst/>
          </a:prstGeom>
        </p:spPr>
      </p:pic>
      <p:sp>
        <p:nvSpPr>
          <p:cNvPr id="11" name="adaptation">
            <a:extLst>
              <a:ext uri="{FF2B5EF4-FFF2-40B4-BE49-F238E27FC236}">
                <a16:creationId xmlns:a16="http://schemas.microsoft.com/office/drawing/2014/main" id="{D2A52FAA-74F6-43C3-8D25-24A550D039EB}"/>
              </a:ext>
            </a:extLst>
          </p:cNvPr>
          <p:cNvSpPr>
            <a:spLocks noGrp="1"/>
          </p:cNvSpPr>
          <p:nvPr/>
        </p:nvSpPr>
        <p:spPr>
          <a:xfrm>
            <a:off x="952500" y="5695950"/>
            <a:ext cx="10001250" cy="323850"/>
          </a:xfrm>
          <a:prstGeom prst="rect">
            <a:avLst/>
          </a:prstGeom>
          <a:noFill/>
          <a:ln w="0">
            <a:noFill/>
          </a:ln>
        </p:spPr>
        <p:txBody>
          <a:bodyPr wrap="square" lIns="0" tIns="0" rIns="0" bIns="0" anchor="t">
            <a:noAutofit/>
          </a:bodyPr>
          <a:lstStyle>
            <a:defPPr algn="l">
              <a:defRPr sz="1725" b="0">
                <a:solidFill>
                  <a:srgbClr val="62666B"/>
                </a:solidFill>
                <a:latin typeface="Roboto"/>
                <a:ea typeface="Roboto"/>
                <a:cs typeface="Roboto"/>
              </a:defRPr>
            </a:defPPr>
            <a:lvl1pPr algn="l">
              <a:defRPr sz="1725" b="0">
                <a:solidFill>
                  <a:srgbClr val="62666B"/>
                </a:solidFill>
                <a:latin typeface="Roboto"/>
                <a:ea typeface="Roboto"/>
                <a:cs typeface="Roboto"/>
              </a:defRPr>
            </a:lvl1pPr>
            <a:lvl2pPr algn="l">
              <a:defRPr sz="1725" b="0">
                <a:solidFill>
                  <a:srgbClr val="62666B"/>
                </a:solidFill>
                <a:latin typeface="Roboto"/>
                <a:ea typeface="Roboto"/>
                <a:cs typeface="Roboto"/>
              </a:defRPr>
            </a:lvl2pPr>
            <a:lvl3pPr algn="l">
              <a:defRPr sz="1725" b="0">
                <a:solidFill>
                  <a:srgbClr val="62666B"/>
                </a:solidFill>
                <a:latin typeface="Roboto"/>
                <a:ea typeface="Roboto"/>
                <a:cs typeface="Roboto"/>
              </a:defRPr>
            </a:lvl3pPr>
            <a:lvl4pPr algn="l">
              <a:defRPr sz="1725" b="0">
                <a:solidFill>
                  <a:srgbClr val="62666B"/>
                </a:solidFill>
                <a:latin typeface="Roboto"/>
                <a:ea typeface="Roboto"/>
                <a:cs typeface="Roboto"/>
              </a:defRPr>
            </a:lvl4pPr>
            <a:lvl5pPr algn="l">
              <a:defRPr sz="1725" b="0">
                <a:solidFill>
                  <a:srgbClr val="62666B"/>
                </a:solidFill>
                <a:latin typeface="Roboto"/>
                <a:ea typeface="Roboto"/>
                <a:cs typeface="Roboto"/>
              </a:defRPr>
            </a:lvl5pPr>
            <a:lvl6pPr algn="l">
              <a:defRPr sz="1725" b="0">
                <a:solidFill>
                  <a:srgbClr val="62666B"/>
                </a:solidFill>
                <a:latin typeface="Roboto"/>
                <a:ea typeface="Roboto"/>
                <a:cs typeface="Roboto"/>
              </a:defRPr>
            </a:lvl6pPr>
            <a:lvl7pPr algn="l">
              <a:defRPr sz="1725" b="0">
                <a:solidFill>
                  <a:srgbClr val="62666B"/>
                </a:solidFill>
                <a:latin typeface="Roboto"/>
                <a:ea typeface="Roboto"/>
                <a:cs typeface="Roboto"/>
              </a:defRPr>
            </a:lvl7pPr>
            <a:lvl8pPr algn="l">
              <a:defRPr sz="1725" b="0">
                <a:solidFill>
                  <a:srgbClr val="62666B"/>
                </a:solidFill>
                <a:latin typeface="Roboto"/>
                <a:ea typeface="Roboto"/>
                <a:cs typeface="Roboto"/>
              </a:defRPr>
            </a:lvl8pPr>
            <a:lvl9pPr algn="l">
              <a:defRPr sz="1725" b="0">
                <a:solidFill>
                  <a:srgbClr val="62666B"/>
                </a:solidFill>
                <a:latin typeface="Roboto"/>
                <a:ea typeface="Roboto"/>
                <a:cs typeface="Roboto"/>
              </a:defRPr>
            </a:lvl9pPr>
          </a:lstStyle>
          <a:p>
            <a:pPr algn="l">
              <a:defRPr sz="1725" b="0">
                <a:solidFill>
                  <a:srgbClr val="62666B"/>
                </a:solidFill>
                <a:latin typeface="Roboto"/>
                <a:ea typeface="Roboto"/>
                <a:cs typeface="Roboto"/>
              </a:defRPr>
            </a:pPr>
            <a:r>
              <a:rPr sz="1725" b="0">
                <a:solidFill>
                  <a:srgbClr val="62666B"/>
                </a:solidFill>
                <a:latin typeface="Roboto"/>
                <a:ea typeface="Roboto"/>
                <a:cs typeface="Roboto"/>
              </a:rPr>
              <a:t>Nella tesi: perturbazioni locali simili a fori su render normali</a:t>
            </a:r>
          </a:p>
        </p:txBody>
      </p:sp>
    </p:spTree>
    <p:extLst>
      <p:ext uri="{BB962C8B-B14F-4D97-AF65-F5344CB8AC3E}">
        <p14:creationId xmlns:p14="http://schemas.microsoft.com/office/powerpoint/2010/main" val="222343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76F80BAD-0E4C-49BC-8834-5D74948072E5}"/>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Il protocollo di ispezione</a:t>
            </a:r>
          </a:p>
        </p:txBody>
      </p:sp>
      <p:sp>
        <p:nvSpPr>
          <p:cNvPr id="2" name="template-footer">
            <a:extLst>
              <a:ext uri="{FF2B5EF4-FFF2-40B4-BE49-F238E27FC236}">
                <a16:creationId xmlns:a16="http://schemas.microsoft.com/office/drawing/2014/main" id="{B5AE58D5-0BAB-4D81-8AE5-985B74F0C448}"/>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4F44497D-335B-4CF0-9B0A-2DAA1526F7A2}"/>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8322A648-FBAF-4C00-BE06-8EF17CABA11B}"/>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17/28</a:t>
            </a:r>
          </a:p>
        </p:txBody>
      </p:sp>
      <p:sp>
        <p:nvSpPr>
          <p:cNvPr id="5" name="source-citations">
            <a:extLst>
              <a:ext uri="{FF2B5EF4-FFF2-40B4-BE49-F238E27FC236}">
                <a16:creationId xmlns:a16="http://schemas.microsoft.com/office/drawing/2014/main" id="{BECF7E1F-1490-4776-972F-63D8E8017BAA}"/>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Elaborazione della tesi</a:t>
            </a:r>
          </a:p>
        </p:txBody>
      </p:sp>
      <p:pic>
        <p:nvPicPr>
          <p:cNvPr id="6" name="Immagine 5">
            <a:extLst>
              <a:ext uri="{FF2B5EF4-FFF2-40B4-BE49-F238E27FC236}">
                <a16:creationId xmlns:a16="http://schemas.microsoft.com/office/drawing/2014/main" id="{4F41BD7D-3E28-4EDE-9101-CCDA18BC236E}"/>
              </a:ext>
            </a:extLst>
          </p:cNvPr>
          <p:cNvPicPr>
            <a:picLocks noChangeAspect="1"/>
          </p:cNvPicPr>
          <p:nvPr/>
        </p:nvPicPr>
        <p:blipFill>
          <a:blip r:embed="rId3"/>
          <a:stretch/>
        </p:blipFill>
        <p:spPr>
          <a:xfrm>
            <a:off x="1597429" y="1562100"/>
            <a:ext cx="8707582" cy="3990975"/>
          </a:xfrm>
          <a:prstGeom prst="rect">
            <a:avLst/>
          </a:prstGeom>
        </p:spPr>
      </p:pic>
      <p:sp>
        <p:nvSpPr>
          <p:cNvPr id="7" name="protocol-scope">
            <a:extLst>
              <a:ext uri="{FF2B5EF4-FFF2-40B4-BE49-F238E27FC236}">
                <a16:creationId xmlns:a16="http://schemas.microsoft.com/office/drawing/2014/main" id="{4FDEA6F0-8805-42A6-810C-E4ED4E533532}"/>
              </a:ext>
            </a:extLst>
          </p:cNvPr>
          <p:cNvSpPr>
            <a:spLocks noGrp="1"/>
          </p:cNvSpPr>
          <p:nvPr/>
        </p:nvSpPr>
        <p:spPr>
          <a:xfrm>
            <a:off x="952500" y="5695950"/>
            <a:ext cx="10001250" cy="314325"/>
          </a:xfrm>
          <a:prstGeom prst="rect">
            <a:avLst/>
          </a:prstGeom>
          <a:noFill/>
          <a:ln w="0">
            <a:noFill/>
          </a:ln>
        </p:spPr>
        <p:txBody>
          <a:bodyPr wrap="square" lIns="0" tIns="0" rIns="0" bIns="0" anchor="t">
            <a:noAutofit/>
          </a:bodyPr>
          <a:lstStyle>
            <a:defPPr algn="l">
              <a:defRPr sz="1725" b="0">
                <a:solidFill>
                  <a:srgbClr val="62666B"/>
                </a:solidFill>
                <a:latin typeface="Roboto"/>
                <a:ea typeface="Roboto"/>
                <a:cs typeface="Roboto"/>
              </a:defRPr>
            </a:defPPr>
            <a:lvl1pPr algn="l">
              <a:defRPr sz="1725" b="0">
                <a:solidFill>
                  <a:srgbClr val="62666B"/>
                </a:solidFill>
                <a:latin typeface="Roboto"/>
                <a:ea typeface="Roboto"/>
                <a:cs typeface="Roboto"/>
              </a:defRPr>
            </a:lvl1pPr>
            <a:lvl2pPr algn="l">
              <a:defRPr sz="1725" b="0">
                <a:solidFill>
                  <a:srgbClr val="62666B"/>
                </a:solidFill>
                <a:latin typeface="Roboto"/>
                <a:ea typeface="Roboto"/>
                <a:cs typeface="Roboto"/>
              </a:defRPr>
            </a:lvl2pPr>
            <a:lvl3pPr algn="l">
              <a:defRPr sz="1725" b="0">
                <a:solidFill>
                  <a:srgbClr val="62666B"/>
                </a:solidFill>
                <a:latin typeface="Roboto"/>
                <a:ea typeface="Roboto"/>
                <a:cs typeface="Roboto"/>
              </a:defRPr>
            </a:lvl3pPr>
            <a:lvl4pPr algn="l">
              <a:defRPr sz="1725" b="0">
                <a:solidFill>
                  <a:srgbClr val="62666B"/>
                </a:solidFill>
                <a:latin typeface="Roboto"/>
                <a:ea typeface="Roboto"/>
                <a:cs typeface="Roboto"/>
              </a:defRPr>
            </a:lvl4pPr>
            <a:lvl5pPr algn="l">
              <a:defRPr sz="1725" b="0">
                <a:solidFill>
                  <a:srgbClr val="62666B"/>
                </a:solidFill>
                <a:latin typeface="Roboto"/>
                <a:ea typeface="Roboto"/>
                <a:cs typeface="Roboto"/>
              </a:defRPr>
            </a:lvl5pPr>
            <a:lvl6pPr algn="l">
              <a:defRPr sz="1725" b="0">
                <a:solidFill>
                  <a:srgbClr val="62666B"/>
                </a:solidFill>
                <a:latin typeface="Roboto"/>
                <a:ea typeface="Roboto"/>
                <a:cs typeface="Roboto"/>
              </a:defRPr>
            </a:lvl6pPr>
            <a:lvl7pPr algn="l">
              <a:defRPr sz="1725" b="0">
                <a:solidFill>
                  <a:srgbClr val="62666B"/>
                </a:solidFill>
                <a:latin typeface="Roboto"/>
                <a:ea typeface="Roboto"/>
                <a:cs typeface="Roboto"/>
              </a:defRPr>
            </a:lvl7pPr>
            <a:lvl8pPr algn="l">
              <a:defRPr sz="1725" b="0">
                <a:solidFill>
                  <a:srgbClr val="62666B"/>
                </a:solidFill>
                <a:latin typeface="Roboto"/>
                <a:ea typeface="Roboto"/>
                <a:cs typeface="Roboto"/>
              </a:defRPr>
            </a:lvl8pPr>
            <a:lvl9pPr algn="l">
              <a:defRPr sz="1725" b="0">
                <a:solidFill>
                  <a:srgbClr val="62666B"/>
                </a:solidFill>
                <a:latin typeface="Roboto"/>
                <a:ea typeface="Roboto"/>
                <a:cs typeface="Roboto"/>
              </a:defRPr>
            </a:lvl9pPr>
          </a:lstStyle>
          <a:p>
            <a:pPr algn="l">
              <a:defRPr sz="1725" b="0">
                <a:solidFill>
                  <a:srgbClr val="62666B"/>
                </a:solidFill>
                <a:latin typeface="Roboto"/>
                <a:ea typeface="Roboto"/>
                <a:cs typeface="Roboto"/>
              </a:defRPr>
            </a:pPr>
            <a:r>
              <a:rPr sz="1725" b="0">
                <a:solidFill>
                  <a:srgbClr val="62666B"/>
                </a:solidFill>
                <a:latin typeface="Roboto"/>
                <a:ea typeface="Roboto"/>
                <a:cs typeface="Roboto"/>
              </a:rPr>
              <a:t>Posa A: 2.800 immagini normali di training e 808 immagini di test</a:t>
            </a:r>
          </a:p>
        </p:txBody>
      </p:sp>
    </p:spTree>
    <p:extLst>
      <p:ext uri="{BB962C8B-B14F-4D97-AF65-F5344CB8AC3E}">
        <p14:creationId xmlns:p14="http://schemas.microsoft.com/office/powerpoint/2010/main" val="222343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B6E08DA1-0FAA-43D6-A040-9A716DE50192}"/>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Segmentazione: qualità sul test</a:t>
            </a:r>
          </a:p>
        </p:txBody>
      </p:sp>
      <p:sp>
        <p:nvSpPr>
          <p:cNvPr id="2" name="template-footer">
            <a:extLst>
              <a:ext uri="{FF2B5EF4-FFF2-40B4-BE49-F238E27FC236}">
                <a16:creationId xmlns:a16="http://schemas.microsoft.com/office/drawing/2014/main" id="{60221CE4-7098-409A-8EE4-7759A5CD06AB}"/>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83973945-39D4-4D16-B2CE-E5C07BE8E00E}"/>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A0392896-318A-406F-95F4-A447332B456E}"/>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18/28</a:t>
            </a:r>
          </a:p>
        </p:txBody>
      </p:sp>
      <p:sp>
        <p:nvSpPr>
          <p:cNvPr id="5" name="source-citations">
            <a:extLst>
              <a:ext uri="{FF2B5EF4-FFF2-40B4-BE49-F238E27FC236}">
                <a16:creationId xmlns:a16="http://schemas.microsoft.com/office/drawing/2014/main" id="{04744854-1A1E-4B67-98FC-4F2140DB16D9}"/>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Elaborazione della tesi</a:t>
            </a:r>
          </a:p>
        </p:txBody>
      </p:sp>
      <p:graphicFrame>
        <p:nvGraphicFramePr>
          <p:cNvPr id="6" name="Chart">
            <a:extLst>
              <a:ext uri="{FF2B5EF4-FFF2-40B4-BE49-F238E27FC236}">
                <a16:creationId xmlns:a16="http://schemas.microsoft.com/office/drawing/2014/main" id="{699A532B-2C42-49ED-88A6-43D2C5A3DDDD}"/>
              </a:ext>
            </a:extLst>
          </p:cNvPr>
          <p:cNvGraphicFramePr/>
          <p:nvPr/>
        </p:nvGraphicFramePr>
        <p:xfrm>
          <a:off x="952500" y="1428750"/>
          <a:ext cx="9858375" cy="4143375"/>
        </p:xfrm>
        <a:graphic>
          <a:graphicData uri="http://schemas.openxmlformats.org/drawingml/2006/chart">
            <c:chart xmlns:c="http://schemas.openxmlformats.org/drawingml/2006/chart" xmlns:r="http://schemas.openxmlformats.org/officeDocument/2006/relationships" r:id="rId3"/>
          </a:graphicData>
        </a:graphic>
      </p:graphicFrame>
      <p:sp>
        <p:nvSpPr>
          <p:cNvPr id="7" name="seg-metric">
            <a:extLst>
              <a:ext uri="{FF2B5EF4-FFF2-40B4-BE49-F238E27FC236}">
                <a16:creationId xmlns:a16="http://schemas.microsoft.com/office/drawing/2014/main" id="{3E434E45-979D-45EB-8201-543D9C7D587E}"/>
              </a:ext>
            </a:extLst>
          </p:cNvPr>
          <p:cNvSpPr>
            <a:spLocks noGrp="1"/>
          </p:cNvSpPr>
          <p:nvPr/>
        </p:nvSpPr>
        <p:spPr>
          <a:xfrm>
            <a:off x="952500" y="5724525"/>
            <a:ext cx="10001250" cy="295275"/>
          </a:xfrm>
          <a:prstGeom prst="rect">
            <a:avLst/>
          </a:prstGeom>
          <a:noFill/>
          <a:ln w="0">
            <a:noFill/>
          </a:ln>
        </p:spPr>
        <p:txBody>
          <a:bodyPr wrap="square" lIns="0" tIns="0" rIns="0" bIns="0" anchor="t">
            <a:noAutofit/>
          </a:bodyPr>
          <a:lstStyle>
            <a:defPPr algn="l">
              <a:defRPr sz="1800" b="0">
                <a:solidFill>
                  <a:srgbClr val="62666B"/>
                </a:solidFill>
                <a:latin typeface="Roboto"/>
                <a:ea typeface="Roboto"/>
                <a:cs typeface="Roboto"/>
              </a:defRPr>
            </a:defPPr>
            <a:lvl1pPr algn="l">
              <a:defRPr sz="1800" b="0">
                <a:solidFill>
                  <a:srgbClr val="62666B"/>
                </a:solidFill>
                <a:latin typeface="Roboto"/>
                <a:ea typeface="Roboto"/>
                <a:cs typeface="Roboto"/>
              </a:defRPr>
            </a:lvl1pPr>
            <a:lvl2pPr algn="l">
              <a:defRPr sz="1800" b="0">
                <a:solidFill>
                  <a:srgbClr val="62666B"/>
                </a:solidFill>
                <a:latin typeface="Roboto"/>
                <a:ea typeface="Roboto"/>
                <a:cs typeface="Roboto"/>
              </a:defRPr>
            </a:lvl2pPr>
            <a:lvl3pPr algn="l">
              <a:defRPr sz="1800" b="0">
                <a:solidFill>
                  <a:srgbClr val="62666B"/>
                </a:solidFill>
                <a:latin typeface="Roboto"/>
                <a:ea typeface="Roboto"/>
                <a:cs typeface="Roboto"/>
              </a:defRPr>
            </a:lvl3pPr>
            <a:lvl4pPr algn="l">
              <a:defRPr sz="1800" b="0">
                <a:solidFill>
                  <a:srgbClr val="62666B"/>
                </a:solidFill>
                <a:latin typeface="Roboto"/>
                <a:ea typeface="Roboto"/>
                <a:cs typeface="Roboto"/>
              </a:defRPr>
            </a:lvl4pPr>
            <a:lvl5pPr algn="l">
              <a:defRPr sz="1800" b="0">
                <a:solidFill>
                  <a:srgbClr val="62666B"/>
                </a:solidFill>
                <a:latin typeface="Roboto"/>
                <a:ea typeface="Roboto"/>
                <a:cs typeface="Roboto"/>
              </a:defRPr>
            </a:lvl5pPr>
            <a:lvl6pPr algn="l">
              <a:defRPr sz="1800" b="0">
                <a:solidFill>
                  <a:srgbClr val="62666B"/>
                </a:solidFill>
                <a:latin typeface="Roboto"/>
                <a:ea typeface="Roboto"/>
                <a:cs typeface="Roboto"/>
              </a:defRPr>
            </a:lvl6pPr>
            <a:lvl7pPr algn="l">
              <a:defRPr sz="1800" b="0">
                <a:solidFill>
                  <a:srgbClr val="62666B"/>
                </a:solidFill>
                <a:latin typeface="Roboto"/>
                <a:ea typeface="Roboto"/>
                <a:cs typeface="Roboto"/>
              </a:defRPr>
            </a:lvl7pPr>
            <a:lvl8pPr algn="l">
              <a:defRPr sz="1800" b="0">
                <a:solidFill>
                  <a:srgbClr val="62666B"/>
                </a:solidFill>
                <a:latin typeface="Roboto"/>
                <a:ea typeface="Roboto"/>
                <a:cs typeface="Roboto"/>
              </a:defRPr>
            </a:lvl8pPr>
            <a:lvl9pPr algn="l">
              <a:defRPr sz="1800" b="0">
                <a:solidFill>
                  <a:srgbClr val="62666B"/>
                </a:solidFill>
                <a:latin typeface="Roboto"/>
                <a:ea typeface="Roboto"/>
                <a:cs typeface="Roboto"/>
              </a:defRPr>
            </a:lvl9pPr>
          </a:lstStyle>
          <a:p>
            <a:pPr algn="l">
              <a:defRPr sz="1800" b="0">
                <a:solidFill>
                  <a:srgbClr val="62666B"/>
                </a:solidFill>
                <a:latin typeface="Roboto"/>
                <a:ea typeface="Roboto"/>
                <a:cs typeface="Roboto"/>
              </a:defRPr>
            </a:pPr>
            <a:r>
              <a:rPr sz="1800" b="0" dirty="0" err="1">
                <a:solidFill>
                  <a:srgbClr val="62666B"/>
                </a:solidFill>
                <a:latin typeface="Roboto"/>
                <a:ea typeface="Roboto"/>
                <a:cs typeface="Roboto"/>
              </a:rPr>
              <a:t>mIoU</a:t>
            </a:r>
            <a:r>
              <a:rPr sz="1800" b="0" dirty="0">
                <a:solidFill>
                  <a:srgbClr val="62666B"/>
                </a:solidFill>
                <a:latin typeface="Roboto"/>
                <a:ea typeface="Roboto"/>
                <a:cs typeface="Roboto"/>
              </a:rPr>
              <a:t> test (%)   </a:t>
            </a:r>
            <a:r>
              <a:rPr sz="1800" b="0" dirty="0" err="1">
                <a:solidFill>
                  <a:srgbClr val="62666B"/>
                </a:solidFill>
                <a:latin typeface="Roboto"/>
                <a:ea typeface="Roboto"/>
                <a:cs typeface="Roboto"/>
              </a:rPr>
              <a:t>Configurazioni</a:t>
            </a:r>
            <a:r>
              <a:rPr sz="1800" b="0" dirty="0">
                <a:solidFill>
                  <a:srgbClr val="62666B"/>
                </a:solidFill>
                <a:latin typeface="Roboto"/>
                <a:ea typeface="Roboto"/>
                <a:cs typeface="Roboto"/>
              </a:rPr>
              <a:t> FP32</a:t>
            </a:r>
          </a:p>
        </p:txBody>
      </p:sp>
    </p:spTree>
    <p:extLst>
      <p:ext uri="{BB962C8B-B14F-4D97-AF65-F5344CB8AC3E}">
        <p14:creationId xmlns:p14="http://schemas.microsoft.com/office/powerpoint/2010/main" val="222343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4D2D5E60-3E38-4864-A411-EC008EDF3BC2}"/>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Segmentazione: qualità ed energia</a:t>
            </a:r>
          </a:p>
        </p:txBody>
      </p:sp>
      <p:sp>
        <p:nvSpPr>
          <p:cNvPr id="2" name="template-footer">
            <a:extLst>
              <a:ext uri="{FF2B5EF4-FFF2-40B4-BE49-F238E27FC236}">
                <a16:creationId xmlns:a16="http://schemas.microsoft.com/office/drawing/2014/main" id="{82514C9B-1DB8-4F2B-AABC-10465D3F54CC}"/>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A7513A64-A986-41D0-AD65-21A45DEBB69B}"/>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BD18E88E-C4B4-43D2-A7F2-B7669F9B29D9}"/>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19/28</a:t>
            </a:r>
          </a:p>
        </p:txBody>
      </p:sp>
      <p:sp>
        <p:nvSpPr>
          <p:cNvPr id="5" name="source-citations">
            <a:extLst>
              <a:ext uri="{FF2B5EF4-FFF2-40B4-BE49-F238E27FC236}">
                <a16:creationId xmlns:a16="http://schemas.microsoft.com/office/drawing/2014/main" id="{03C58717-974F-4494-B344-B2785317BF1D}"/>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Elaborazione della tesi</a:t>
            </a:r>
          </a:p>
        </p:txBody>
      </p:sp>
      <p:graphicFrame>
        <p:nvGraphicFramePr>
          <p:cNvPr id="6" name="Chart">
            <a:extLst>
              <a:ext uri="{FF2B5EF4-FFF2-40B4-BE49-F238E27FC236}">
                <a16:creationId xmlns:a16="http://schemas.microsoft.com/office/drawing/2014/main" id="{FD3BDAF3-4663-4D56-9FBB-53F5D9BD843B}"/>
              </a:ext>
            </a:extLst>
          </p:cNvPr>
          <p:cNvGraphicFramePr/>
          <p:nvPr/>
        </p:nvGraphicFramePr>
        <p:xfrm>
          <a:off x="952500" y="1495425"/>
          <a:ext cx="7048500" cy="3762375"/>
        </p:xfrm>
        <a:graphic>
          <a:graphicData uri="http://schemas.openxmlformats.org/drawingml/2006/chart">
            <c:chart xmlns:c="http://schemas.openxmlformats.org/drawingml/2006/chart" xmlns:r="http://schemas.openxmlformats.org/officeDocument/2006/relationships" r:id="rId3"/>
          </a:graphicData>
        </a:graphic>
      </p:graphicFrame>
      <p:sp>
        <p:nvSpPr>
          <p:cNvPr id="7" name="seg-energy-unit">
            <a:extLst>
              <a:ext uri="{FF2B5EF4-FFF2-40B4-BE49-F238E27FC236}">
                <a16:creationId xmlns:a16="http://schemas.microsoft.com/office/drawing/2014/main" id="{62945590-4FA7-41C6-9F16-94B27271AC51}"/>
              </a:ext>
            </a:extLst>
          </p:cNvPr>
          <p:cNvSpPr>
            <a:spLocks noGrp="1"/>
          </p:cNvSpPr>
          <p:nvPr/>
        </p:nvSpPr>
        <p:spPr>
          <a:xfrm>
            <a:off x="952500" y="5314950"/>
            <a:ext cx="6858000" cy="352425"/>
          </a:xfrm>
          <a:prstGeom prst="rect">
            <a:avLst/>
          </a:prstGeom>
          <a:noFill/>
          <a:ln w="0">
            <a:noFill/>
          </a:ln>
        </p:spPr>
        <p:txBody>
          <a:bodyPr wrap="square" lIns="0" tIns="0" rIns="0" bIns="0" anchor="t">
            <a:noAutofit/>
          </a:bodyPr>
          <a:lstStyle>
            <a:defPPr algn="l">
              <a:defRPr sz="1875" b="0">
                <a:solidFill>
                  <a:srgbClr val="62666B"/>
                </a:solidFill>
                <a:latin typeface="Roboto"/>
                <a:ea typeface="Roboto"/>
                <a:cs typeface="Roboto"/>
              </a:defRPr>
            </a:defPPr>
            <a:lvl1pPr algn="l">
              <a:defRPr sz="1875" b="0">
                <a:solidFill>
                  <a:srgbClr val="62666B"/>
                </a:solidFill>
                <a:latin typeface="Roboto"/>
                <a:ea typeface="Roboto"/>
                <a:cs typeface="Roboto"/>
              </a:defRPr>
            </a:lvl1pPr>
            <a:lvl2pPr algn="l">
              <a:defRPr sz="1875" b="0">
                <a:solidFill>
                  <a:srgbClr val="62666B"/>
                </a:solidFill>
                <a:latin typeface="Roboto"/>
                <a:ea typeface="Roboto"/>
                <a:cs typeface="Roboto"/>
              </a:defRPr>
            </a:lvl2pPr>
            <a:lvl3pPr algn="l">
              <a:defRPr sz="1875" b="0">
                <a:solidFill>
                  <a:srgbClr val="62666B"/>
                </a:solidFill>
                <a:latin typeface="Roboto"/>
                <a:ea typeface="Roboto"/>
                <a:cs typeface="Roboto"/>
              </a:defRPr>
            </a:lvl3pPr>
            <a:lvl4pPr algn="l">
              <a:defRPr sz="1875" b="0">
                <a:solidFill>
                  <a:srgbClr val="62666B"/>
                </a:solidFill>
                <a:latin typeface="Roboto"/>
                <a:ea typeface="Roboto"/>
                <a:cs typeface="Roboto"/>
              </a:defRPr>
            </a:lvl4pPr>
            <a:lvl5pPr algn="l">
              <a:defRPr sz="1875" b="0">
                <a:solidFill>
                  <a:srgbClr val="62666B"/>
                </a:solidFill>
                <a:latin typeface="Roboto"/>
                <a:ea typeface="Roboto"/>
                <a:cs typeface="Roboto"/>
              </a:defRPr>
            </a:lvl5pPr>
            <a:lvl6pPr algn="l">
              <a:defRPr sz="1875" b="0">
                <a:solidFill>
                  <a:srgbClr val="62666B"/>
                </a:solidFill>
                <a:latin typeface="Roboto"/>
                <a:ea typeface="Roboto"/>
                <a:cs typeface="Roboto"/>
              </a:defRPr>
            </a:lvl6pPr>
            <a:lvl7pPr algn="l">
              <a:defRPr sz="1875" b="0">
                <a:solidFill>
                  <a:srgbClr val="62666B"/>
                </a:solidFill>
                <a:latin typeface="Roboto"/>
                <a:ea typeface="Roboto"/>
                <a:cs typeface="Roboto"/>
              </a:defRPr>
            </a:lvl7pPr>
            <a:lvl8pPr algn="l">
              <a:defRPr sz="1875" b="0">
                <a:solidFill>
                  <a:srgbClr val="62666B"/>
                </a:solidFill>
                <a:latin typeface="Roboto"/>
                <a:ea typeface="Roboto"/>
                <a:cs typeface="Roboto"/>
              </a:defRPr>
            </a:lvl8pPr>
            <a:lvl9pPr algn="l">
              <a:defRPr sz="1875" b="0">
                <a:solidFill>
                  <a:srgbClr val="62666B"/>
                </a:solidFill>
                <a:latin typeface="Roboto"/>
                <a:ea typeface="Roboto"/>
                <a:cs typeface="Roboto"/>
              </a:defRPr>
            </a:lvl9pPr>
          </a:lstStyle>
          <a:p>
            <a:pPr algn="l">
              <a:defRPr sz="1875" b="0">
                <a:solidFill>
                  <a:srgbClr val="62666B"/>
                </a:solidFill>
                <a:latin typeface="Roboto"/>
                <a:ea typeface="Roboto"/>
                <a:cs typeface="Roboto"/>
              </a:defRPr>
            </a:pPr>
            <a:r>
              <a:rPr sz="1875" b="0">
                <a:solidFill>
                  <a:srgbClr val="62666B"/>
                </a:solidFill>
                <a:latin typeface="Roboto"/>
                <a:ea typeface="Roboto"/>
                <a:cs typeface="Roboto"/>
              </a:rPr>
              <a:t>Energia GPU (mJ/immagine)</a:t>
            </a:r>
          </a:p>
        </p:txBody>
      </p:sp>
      <p:sp>
        <p:nvSpPr>
          <p:cNvPr id="8" name="segformer-score">
            <a:extLst>
              <a:ext uri="{FF2B5EF4-FFF2-40B4-BE49-F238E27FC236}">
                <a16:creationId xmlns:a16="http://schemas.microsoft.com/office/drawing/2014/main" id="{7E29AA37-4E42-434D-858F-055F7923678B}"/>
              </a:ext>
            </a:extLst>
          </p:cNvPr>
          <p:cNvSpPr>
            <a:spLocks noGrp="1"/>
          </p:cNvSpPr>
          <p:nvPr/>
        </p:nvSpPr>
        <p:spPr>
          <a:xfrm>
            <a:off x="8448675" y="1724025"/>
            <a:ext cx="2857500" cy="428625"/>
          </a:xfrm>
          <a:prstGeom prst="rect">
            <a:avLst/>
          </a:prstGeom>
          <a:noFill/>
          <a:ln w="0">
            <a:noFill/>
          </a:ln>
        </p:spPr>
        <p:txBody>
          <a:bodyPr wrap="square" lIns="0" tIns="0" rIns="0" bIns="0" anchor="t">
            <a:noAutofit/>
          </a:bodyPr>
          <a:lstStyle>
            <a:defPPr algn="l">
              <a:defRPr sz="1950" b="1">
                <a:solidFill>
                  <a:srgbClr val="822433"/>
                </a:solidFill>
                <a:latin typeface="Roboto"/>
                <a:ea typeface="Roboto"/>
                <a:cs typeface="Roboto"/>
              </a:defRPr>
            </a:defPPr>
            <a:lvl1pPr algn="l">
              <a:defRPr sz="1950" b="1">
                <a:solidFill>
                  <a:srgbClr val="822433"/>
                </a:solidFill>
                <a:latin typeface="Roboto"/>
                <a:ea typeface="Roboto"/>
                <a:cs typeface="Roboto"/>
              </a:defRPr>
            </a:lvl1pPr>
            <a:lvl2pPr algn="l">
              <a:defRPr sz="1950" b="1">
                <a:solidFill>
                  <a:srgbClr val="822433"/>
                </a:solidFill>
                <a:latin typeface="Roboto"/>
                <a:ea typeface="Roboto"/>
                <a:cs typeface="Roboto"/>
              </a:defRPr>
            </a:lvl2pPr>
            <a:lvl3pPr algn="l">
              <a:defRPr sz="1950" b="1">
                <a:solidFill>
                  <a:srgbClr val="822433"/>
                </a:solidFill>
                <a:latin typeface="Roboto"/>
                <a:ea typeface="Roboto"/>
                <a:cs typeface="Roboto"/>
              </a:defRPr>
            </a:lvl3pPr>
            <a:lvl4pPr algn="l">
              <a:defRPr sz="1950" b="1">
                <a:solidFill>
                  <a:srgbClr val="822433"/>
                </a:solidFill>
                <a:latin typeface="Roboto"/>
                <a:ea typeface="Roboto"/>
                <a:cs typeface="Roboto"/>
              </a:defRPr>
            </a:lvl4pPr>
            <a:lvl5pPr algn="l">
              <a:defRPr sz="1950" b="1">
                <a:solidFill>
                  <a:srgbClr val="822433"/>
                </a:solidFill>
                <a:latin typeface="Roboto"/>
                <a:ea typeface="Roboto"/>
                <a:cs typeface="Roboto"/>
              </a:defRPr>
            </a:lvl5pPr>
            <a:lvl6pPr algn="l">
              <a:defRPr sz="1950" b="1">
                <a:solidFill>
                  <a:srgbClr val="822433"/>
                </a:solidFill>
                <a:latin typeface="Roboto"/>
                <a:ea typeface="Roboto"/>
                <a:cs typeface="Roboto"/>
              </a:defRPr>
            </a:lvl6pPr>
            <a:lvl7pPr algn="l">
              <a:defRPr sz="1950" b="1">
                <a:solidFill>
                  <a:srgbClr val="822433"/>
                </a:solidFill>
                <a:latin typeface="Roboto"/>
                <a:ea typeface="Roboto"/>
                <a:cs typeface="Roboto"/>
              </a:defRPr>
            </a:lvl7pPr>
            <a:lvl8pPr algn="l">
              <a:defRPr sz="1950" b="1">
                <a:solidFill>
                  <a:srgbClr val="822433"/>
                </a:solidFill>
                <a:latin typeface="Roboto"/>
                <a:ea typeface="Roboto"/>
                <a:cs typeface="Roboto"/>
              </a:defRPr>
            </a:lvl8pPr>
            <a:lvl9pPr algn="l">
              <a:defRPr sz="1950" b="1">
                <a:solidFill>
                  <a:srgbClr val="822433"/>
                </a:solidFill>
                <a:latin typeface="Roboto"/>
                <a:ea typeface="Roboto"/>
                <a:cs typeface="Roboto"/>
              </a:defRPr>
            </a:lvl9pPr>
          </a:lstStyle>
          <a:p>
            <a:pPr algn="l">
              <a:defRPr sz="1950" b="1">
                <a:solidFill>
                  <a:srgbClr val="822433"/>
                </a:solidFill>
                <a:latin typeface="Roboto"/>
                <a:ea typeface="Roboto"/>
                <a:cs typeface="Roboto"/>
              </a:defRPr>
            </a:pPr>
            <a:r>
              <a:rPr sz="1950" b="1">
                <a:solidFill>
                  <a:srgbClr val="822433"/>
                </a:solidFill>
                <a:latin typeface="Roboto"/>
                <a:ea typeface="Roboto"/>
                <a:cs typeface="Roboto"/>
              </a:rPr>
              <a:t>SegFormer-B0</a:t>
            </a:r>
          </a:p>
        </p:txBody>
      </p:sp>
      <p:sp>
        <p:nvSpPr>
          <p:cNvPr id="9" name="segformer-values">
            <a:extLst>
              <a:ext uri="{FF2B5EF4-FFF2-40B4-BE49-F238E27FC236}">
                <a16:creationId xmlns:a16="http://schemas.microsoft.com/office/drawing/2014/main" id="{8CA11B9E-DB32-4AD4-B7F0-AC3214DB8B59}"/>
              </a:ext>
            </a:extLst>
          </p:cNvPr>
          <p:cNvSpPr>
            <a:spLocks noGrp="1"/>
          </p:cNvSpPr>
          <p:nvPr/>
        </p:nvSpPr>
        <p:spPr>
          <a:xfrm>
            <a:off x="8448675" y="2286000"/>
            <a:ext cx="2857500" cy="457200"/>
          </a:xfrm>
          <a:prstGeom prst="rect">
            <a:avLst/>
          </a:prstGeom>
          <a:noFill/>
          <a:ln w="0">
            <a:noFill/>
          </a:ln>
        </p:spPr>
        <p:txBody>
          <a:bodyPr wrap="square" lIns="0" tIns="0" rIns="0" bIns="0" anchor="t">
            <a:noAutofit/>
          </a:bodyPr>
          <a:lstStyle>
            <a:defPPr algn="l">
              <a:defRPr sz="2400" b="1">
                <a:solidFill>
                  <a:srgbClr val="202124"/>
                </a:solidFill>
                <a:latin typeface="Roboto"/>
                <a:ea typeface="Roboto"/>
                <a:cs typeface="Roboto"/>
              </a:defRPr>
            </a:defPPr>
            <a:lvl1pPr algn="l">
              <a:defRPr sz="2400" b="1">
                <a:solidFill>
                  <a:srgbClr val="202124"/>
                </a:solidFill>
                <a:latin typeface="Roboto"/>
                <a:ea typeface="Roboto"/>
                <a:cs typeface="Roboto"/>
              </a:defRPr>
            </a:lvl1pPr>
            <a:lvl2pPr algn="l">
              <a:defRPr sz="2400" b="1">
                <a:solidFill>
                  <a:srgbClr val="202124"/>
                </a:solidFill>
                <a:latin typeface="Roboto"/>
                <a:ea typeface="Roboto"/>
                <a:cs typeface="Roboto"/>
              </a:defRPr>
            </a:lvl2pPr>
            <a:lvl3pPr algn="l">
              <a:defRPr sz="2400" b="1">
                <a:solidFill>
                  <a:srgbClr val="202124"/>
                </a:solidFill>
                <a:latin typeface="Roboto"/>
                <a:ea typeface="Roboto"/>
                <a:cs typeface="Roboto"/>
              </a:defRPr>
            </a:lvl3pPr>
            <a:lvl4pPr algn="l">
              <a:defRPr sz="2400" b="1">
                <a:solidFill>
                  <a:srgbClr val="202124"/>
                </a:solidFill>
                <a:latin typeface="Roboto"/>
                <a:ea typeface="Roboto"/>
                <a:cs typeface="Roboto"/>
              </a:defRPr>
            </a:lvl4pPr>
            <a:lvl5pPr algn="l">
              <a:defRPr sz="2400" b="1">
                <a:solidFill>
                  <a:srgbClr val="202124"/>
                </a:solidFill>
                <a:latin typeface="Roboto"/>
                <a:ea typeface="Roboto"/>
                <a:cs typeface="Roboto"/>
              </a:defRPr>
            </a:lvl5pPr>
            <a:lvl6pPr algn="l">
              <a:defRPr sz="2400" b="1">
                <a:solidFill>
                  <a:srgbClr val="202124"/>
                </a:solidFill>
                <a:latin typeface="Roboto"/>
                <a:ea typeface="Roboto"/>
                <a:cs typeface="Roboto"/>
              </a:defRPr>
            </a:lvl6pPr>
            <a:lvl7pPr algn="l">
              <a:defRPr sz="2400" b="1">
                <a:solidFill>
                  <a:srgbClr val="202124"/>
                </a:solidFill>
                <a:latin typeface="Roboto"/>
                <a:ea typeface="Roboto"/>
                <a:cs typeface="Roboto"/>
              </a:defRPr>
            </a:lvl7pPr>
            <a:lvl8pPr algn="l">
              <a:defRPr sz="2400" b="1">
                <a:solidFill>
                  <a:srgbClr val="202124"/>
                </a:solidFill>
                <a:latin typeface="Roboto"/>
                <a:ea typeface="Roboto"/>
                <a:cs typeface="Roboto"/>
              </a:defRPr>
            </a:lvl8pPr>
            <a:lvl9pPr algn="l">
              <a:defRPr sz="2400" b="1">
                <a:solidFill>
                  <a:srgbClr val="202124"/>
                </a:solidFill>
                <a:latin typeface="Roboto"/>
                <a:ea typeface="Roboto"/>
                <a:cs typeface="Roboto"/>
              </a:defRPr>
            </a:lvl9pPr>
          </a:lstStyle>
          <a:p>
            <a:pPr algn="l">
              <a:defRPr sz="2400" b="1">
                <a:solidFill>
                  <a:srgbClr val="202124"/>
                </a:solidFill>
                <a:latin typeface="Roboto"/>
                <a:ea typeface="Roboto"/>
                <a:cs typeface="Roboto"/>
              </a:defRPr>
            </a:pPr>
            <a:r>
              <a:rPr sz="2400" b="1">
                <a:solidFill>
                  <a:srgbClr val="202124"/>
                </a:solidFill>
                <a:latin typeface="Roboto"/>
                <a:ea typeface="Roboto"/>
                <a:cs typeface="Roboto"/>
              </a:rPr>
              <a:t>75,55% / 76,93%</a:t>
            </a:r>
          </a:p>
        </p:txBody>
      </p:sp>
      <p:sp>
        <p:nvSpPr>
          <p:cNvPr id="10" name="deeplab-score">
            <a:extLst>
              <a:ext uri="{FF2B5EF4-FFF2-40B4-BE49-F238E27FC236}">
                <a16:creationId xmlns:a16="http://schemas.microsoft.com/office/drawing/2014/main" id="{C95D8CA3-2382-4969-B254-4EA4F5A2F190}"/>
              </a:ext>
            </a:extLst>
          </p:cNvPr>
          <p:cNvSpPr>
            <a:spLocks noGrp="1"/>
          </p:cNvSpPr>
          <p:nvPr/>
        </p:nvSpPr>
        <p:spPr>
          <a:xfrm>
            <a:off x="8448675" y="3352800"/>
            <a:ext cx="2857500" cy="428625"/>
          </a:xfrm>
          <a:prstGeom prst="rect">
            <a:avLst/>
          </a:prstGeom>
          <a:noFill/>
          <a:ln w="0">
            <a:noFill/>
          </a:ln>
        </p:spPr>
        <p:txBody>
          <a:bodyPr wrap="square" lIns="0" tIns="0" rIns="0" bIns="0" anchor="t">
            <a:noAutofit/>
          </a:bodyPr>
          <a:lstStyle>
            <a:defPPr algn="l">
              <a:defRPr sz="1950" b="1">
                <a:solidFill>
                  <a:srgbClr val="822433"/>
                </a:solidFill>
                <a:latin typeface="Roboto"/>
                <a:ea typeface="Roboto"/>
                <a:cs typeface="Roboto"/>
              </a:defRPr>
            </a:defPPr>
            <a:lvl1pPr algn="l">
              <a:defRPr sz="1950" b="1">
                <a:solidFill>
                  <a:srgbClr val="822433"/>
                </a:solidFill>
                <a:latin typeface="Roboto"/>
                <a:ea typeface="Roboto"/>
                <a:cs typeface="Roboto"/>
              </a:defRPr>
            </a:lvl1pPr>
            <a:lvl2pPr algn="l">
              <a:defRPr sz="1950" b="1">
                <a:solidFill>
                  <a:srgbClr val="822433"/>
                </a:solidFill>
                <a:latin typeface="Roboto"/>
                <a:ea typeface="Roboto"/>
                <a:cs typeface="Roboto"/>
              </a:defRPr>
            </a:lvl2pPr>
            <a:lvl3pPr algn="l">
              <a:defRPr sz="1950" b="1">
                <a:solidFill>
                  <a:srgbClr val="822433"/>
                </a:solidFill>
                <a:latin typeface="Roboto"/>
                <a:ea typeface="Roboto"/>
                <a:cs typeface="Roboto"/>
              </a:defRPr>
            </a:lvl3pPr>
            <a:lvl4pPr algn="l">
              <a:defRPr sz="1950" b="1">
                <a:solidFill>
                  <a:srgbClr val="822433"/>
                </a:solidFill>
                <a:latin typeface="Roboto"/>
                <a:ea typeface="Roboto"/>
                <a:cs typeface="Roboto"/>
              </a:defRPr>
            </a:lvl4pPr>
            <a:lvl5pPr algn="l">
              <a:defRPr sz="1950" b="1">
                <a:solidFill>
                  <a:srgbClr val="822433"/>
                </a:solidFill>
                <a:latin typeface="Roboto"/>
                <a:ea typeface="Roboto"/>
                <a:cs typeface="Roboto"/>
              </a:defRPr>
            </a:lvl5pPr>
            <a:lvl6pPr algn="l">
              <a:defRPr sz="1950" b="1">
                <a:solidFill>
                  <a:srgbClr val="822433"/>
                </a:solidFill>
                <a:latin typeface="Roboto"/>
                <a:ea typeface="Roboto"/>
                <a:cs typeface="Roboto"/>
              </a:defRPr>
            </a:lvl6pPr>
            <a:lvl7pPr algn="l">
              <a:defRPr sz="1950" b="1">
                <a:solidFill>
                  <a:srgbClr val="822433"/>
                </a:solidFill>
                <a:latin typeface="Roboto"/>
                <a:ea typeface="Roboto"/>
                <a:cs typeface="Roboto"/>
              </a:defRPr>
            </a:lvl7pPr>
            <a:lvl8pPr algn="l">
              <a:defRPr sz="1950" b="1">
                <a:solidFill>
                  <a:srgbClr val="822433"/>
                </a:solidFill>
                <a:latin typeface="Roboto"/>
                <a:ea typeface="Roboto"/>
                <a:cs typeface="Roboto"/>
              </a:defRPr>
            </a:lvl8pPr>
            <a:lvl9pPr algn="l">
              <a:defRPr sz="1950" b="1">
                <a:solidFill>
                  <a:srgbClr val="822433"/>
                </a:solidFill>
                <a:latin typeface="Roboto"/>
                <a:ea typeface="Roboto"/>
                <a:cs typeface="Roboto"/>
              </a:defRPr>
            </a:lvl9pPr>
          </a:lstStyle>
          <a:p>
            <a:pPr algn="l">
              <a:defRPr sz="1950" b="1">
                <a:solidFill>
                  <a:srgbClr val="822433"/>
                </a:solidFill>
                <a:latin typeface="Roboto"/>
                <a:ea typeface="Roboto"/>
                <a:cs typeface="Roboto"/>
              </a:defRPr>
            </a:pPr>
            <a:r>
              <a:rPr sz="1950" b="1">
                <a:solidFill>
                  <a:srgbClr val="822433"/>
                </a:solidFill>
                <a:latin typeface="Roboto"/>
                <a:ea typeface="Roboto"/>
                <a:cs typeface="Roboto"/>
              </a:rPr>
              <a:t>DeepLabV3+ MV2</a:t>
            </a:r>
          </a:p>
        </p:txBody>
      </p:sp>
      <p:sp>
        <p:nvSpPr>
          <p:cNvPr id="11" name="deeplab-values">
            <a:extLst>
              <a:ext uri="{FF2B5EF4-FFF2-40B4-BE49-F238E27FC236}">
                <a16:creationId xmlns:a16="http://schemas.microsoft.com/office/drawing/2014/main" id="{D6034A79-8313-48E6-9982-90EA85E6C5F4}"/>
              </a:ext>
            </a:extLst>
          </p:cNvPr>
          <p:cNvSpPr>
            <a:spLocks noGrp="1"/>
          </p:cNvSpPr>
          <p:nvPr/>
        </p:nvSpPr>
        <p:spPr>
          <a:xfrm>
            <a:off x="8448675" y="3914775"/>
            <a:ext cx="2857500" cy="457200"/>
          </a:xfrm>
          <a:prstGeom prst="rect">
            <a:avLst/>
          </a:prstGeom>
          <a:noFill/>
          <a:ln w="0">
            <a:noFill/>
          </a:ln>
        </p:spPr>
        <p:txBody>
          <a:bodyPr wrap="square" lIns="0" tIns="0" rIns="0" bIns="0" anchor="t">
            <a:noAutofit/>
          </a:bodyPr>
          <a:lstStyle>
            <a:defPPr algn="l">
              <a:defRPr sz="2400" b="1">
                <a:solidFill>
                  <a:srgbClr val="202124"/>
                </a:solidFill>
                <a:latin typeface="Roboto"/>
                <a:ea typeface="Roboto"/>
                <a:cs typeface="Roboto"/>
              </a:defRPr>
            </a:defPPr>
            <a:lvl1pPr algn="l">
              <a:defRPr sz="2400" b="1">
                <a:solidFill>
                  <a:srgbClr val="202124"/>
                </a:solidFill>
                <a:latin typeface="Roboto"/>
                <a:ea typeface="Roboto"/>
                <a:cs typeface="Roboto"/>
              </a:defRPr>
            </a:lvl1pPr>
            <a:lvl2pPr algn="l">
              <a:defRPr sz="2400" b="1">
                <a:solidFill>
                  <a:srgbClr val="202124"/>
                </a:solidFill>
                <a:latin typeface="Roboto"/>
                <a:ea typeface="Roboto"/>
                <a:cs typeface="Roboto"/>
              </a:defRPr>
            </a:lvl2pPr>
            <a:lvl3pPr algn="l">
              <a:defRPr sz="2400" b="1">
                <a:solidFill>
                  <a:srgbClr val="202124"/>
                </a:solidFill>
                <a:latin typeface="Roboto"/>
                <a:ea typeface="Roboto"/>
                <a:cs typeface="Roboto"/>
              </a:defRPr>
            </a:lvl3pPr>
            <a:lvl4pPr algn="l">
              <a:defRPr sz="2400" b="1">
                <a:solidFill>
                  <a:srgbClr val="202124"/>
                </a:solidFill>
                <a:latin typeface="Roboto"/>
                <a:ea typeface="Roboto"/>
                <a:cs typeface="Roboto"/>
              </a:defRPr>
            </a:lvl4pPr>
            <a:lvl5pPr algn="l">
              <a:defRPr sz="2400" b="1">
                <a:solidFill>
                  <a:srgbClr val="202124"/>
                </a:solidFill>
                <a:latin typeface="Roboto"/>
                <a:ea typeface="Roboto"/>
                <a:cs typeface="Roboto"/>
              </a:defRPr>
            </a:lvl5pPr>
            <a:lvl6pPr algn="l">
              <a:defRPr sz="2400" b="1">
                <a:solidFill>
                  <a:srgbClr val="202124"/>
                </a:solidFill>
                <a:latin typeface="Roboto"/>
                <a:ea typeface="Roboto"/>
                <a:cs typeface="Roboto"/>
              </a:defRPr>
            </a:lvl6pPr>
            <a:lvl7pPr algn="l">
              <a:defRPr sz="2400" b="1">
                <a:solidFill>
                  <a:srgbClr val="202124"/>
                </a:solidFill>
                <a:latin typeface="Roboto"/>
                <a:ea typeface="Roboto"/>
                <a:cs typeface="Roboto"/>
              </a:defRPr>
            </a:lvl7pPr>
            <a:lvl8pPr algn="l">
              <a:defRPr sz="2400" b="1">
                <a:solidFill>
                  <a:srgbClr val="202124"/>
                </a:solidFill>
                <a:latin typeface="Roboto"/>
                <a:ea typeface="Roboto"/>
                <a:cs typeface="Roboto"/>
              </a:defRPr>
            </a:lvl8pPr>
            <a:lvl9pPr algn="l">
              <a:defRPr sz="2400" b="1">
                <a:solidFill>
                  <a:srgbClr val="202124"/>
                </a:solidFill>
                <a:latin typeface="Roboto"/>
                <a:ea typeface="Roboto"/>
                <a:cs typeface="Roboto"/>
              </a:defRPr>
            </a:lvl9pPr>
          </a:lstStyle>
          <a:p>
            <a:pPr algn="l">
              <a:defRPr sz="2400" b="1">
                <a:solidFill>
                  <a:srgbClr val="202124"/>
                </a:solidFill>
                <a:latin typeface="Roboto"/>
                <a:ea typeface="Roboto"/>
                <a:cs typeface="Roboto"/>
              </a:defRPr>
            </a:pPr>
            <a:r>
              <a:rPr sz="2400" b="1">
                <a:solidFill>
                  <a:srgbClr val="202124"/>
                </a:solidFill>
                <a:latin typeface="Roboto"/>
                <a:ea typeface="Roboto"/>
                <a:cs typeface="Roboto"/>
              </a:rPr>
              <a:t>64,07% / 65,63%</a:t>
            </a:r>
          </a:p>
        </p:txBody>
      </p:sp>
      <p:sp>
        <p:nvSpPr>
          <p:cNvPr id="12" name="score-pair-legend">
            <a:extLst>
              <a:ext uri="{FF2B5EF4-FFF2-40B4-BE49-F238E27FC236}">
                <a16:creationId xmlns:a16="http://schemas.microsoft.com/office/drawing/2014/main" id="{49DFA6E2-3945-45FC-897A-BDEEA78CD851}"/>
              </a:ext>
            </a:extLst>
          </p:cNvPr>
          <p:cNvSpPr>
            <a:spLocks noGrp="1"/>
          </p:cNvSpPr>
          <p:nvPr/>
        </p:nvSpPr>
        <p:spPr>
          <a:xfrm>
            <a:off x="8448675" y="4800600"/>
            <a:ext cx="2857500" cy="666750"/>
          </a:xfrm>
          <a:prstGeom prst="rect">
            <a:avLst/>
          </a:prstGeom>
          <a:noFill/>
          <a:ln w="0">
            <a:noFill/>
          </a:ln>
        </p:spPr>
        <p:txBody>
          <a:bodyPr wrap="square" lIns="0" tIns="0" rIns="0" bIns="0" anchor="t">
            <a:noAutofit/>
          </a:bodyPr>
          <a:lstStyle>
            <a:defPPr algn="l">
              <a:defRPr sz="1725" b="0">
                <a:solidFill>
                  <a:srgbClr val="62666B"/>
                </a:solidFill>
                <a:latin typeface="Roboto"/>
                <a:ea typeface="Roboto"/>
                <a:cs typeface="Roboto"/>
              </a:defRPr>
            </a:defPPr>
            <a:lvl1pPr algn="l">
              <a:defRPr sz="1725" b="0">
                <a:solidFill>
                  <a:srgbClr val="62666B"/>
                </a:solidFill>
                <a:latin typeface="Roboto"/>
                <a:ea typeface="Roboto"/>
                <a:cs typeface="Roboto"/>
              </a:defRPr>
            </a:lvl1pPr>
            <a:lvl2pPr algn="l">
              <a:defRPr sz="1725" b="0">
                <a:solidFill>
                  <a:srgbClr val="62666B"/>
                </a:solidFill>
                <a:latin typeface="Roboto"/>
                <a:ea typeface="Roboto"/>
                <a:cs typeface="Roboto"/>
              </a:defRPr>
            </a:lvl2pPr>
            <a:lvl3pPr algn="l">
              <a:defRPr sz="1725" b="0">
                <a:solidFill>
                  <a:srgbClr val="62666B"/>
                </a:solidFill>
                <a:latin typeface="Roboto"/>
                <a:ea typeface="Roboto"/>
                <a:cs typeface="Roboto"/>
              </a:defRPr>
            </a:lvl3pPr>
            <a:lvl4pPr algn="l">
              <a:defRPr sz="1725" b="0">
                <a:solidFill>
                  <a:srgbClr val="62666B"/>
                </a:solidFill>
                <a:latin typeface="Roboto"/>
                <a:ea typeface="Roboto"/>
                <a:cs typeface="Roboto"/>
              </a:defRPr>
            </a:lvl4pPr>
            <a:lvl5pPr algn="l">
              <a:defRPr sz="1725" b="0">
                <a:solidFill>
                  <a:srgbClr val="62666B"/>
                </a:solidFill>
                <a:latin typeface="Roboto"/>
                <a:ea typeface="Roboto"/>
                <a:cs typeface="Roboto"/>
              </a:defRPr>
            </a:lvl5pPr>
            <a:lvl6pPr algn="l">
              <a:defRPr sz="1725" b="0">
                <a:solidFill>
                  <a:srgbClr val="62666B"/>
                </a:solidFill>
                <a:latin typeface="Roboto"/>
                <a:ea typeface="Roboto"/>
                <a:cs typeface="Roboto"/>
              </a:defRPr>
            </a:lvl6pPr>
            <a:lvl7pPr algn="l">
              <a:defRPr sz="1725" b="0">
                <a:solidFill>
                  <a:srgbClr val="62666B"/>
                </a:solidFill>
                <a:latin typeface="Roboto"/>
                <a:ea typeface="Roboto"/>
                <a:cs typeface="Roboto"/>
              </a:defRPr>
            </a:lvl7pPr>
            <a:lvl8pPr algn="l">
              <a:defRPr sz="1725" b="0">
                <a:solidFill>
                  <a:srgbClr val="62666B"/>
                </a:solidFill>
                <a:latin typeface="Roboto"/>
                <a:ea typeface="Roboto"/>
                <a:cs typeface="Roboto"/>
              </a:defRPr>
            </a:lvl8pPr>
            <a:lvl9pPr algn="l">
              <a:defRPr sz="1725" b="0">
                <a:solidFill>
                  <a:srgbClr val="62666B"/>
                </a:solidFill>
                <a:latin typeface="Roboto"/>
                <a:ea typeface="Roboto"/>
                <a:cs typeface="Roboto"/>
              </a:defRPr>
            </a:lvl9pPr>
          </a:lstStyle>
          <a:p>
            <a:pPr algn="l">
              <a:defRPr sz="1725" b="0">
                <a:solidFill>
                  <a:srgbClr val="62666B"/>
                </a:solidFill>
                <a:latin typeface="Roboto"/>
                <a:ea typeface="Roboto"/>
                <a:cs typeface="Roboto"/>
              </a:defRPr>
            </a:pPr>
            <a:r>
              <a:rPr sz="1725" b="0">
                <a:solidFill>
                  <a:srgbClr val="62666B"/>
                </a:solidFill>
                <a:latin typeface="Roboto"/>
                <a:ea typeface="Roboto"/>
                <a:cs typeface="Roboto"/>
              </a:rPr>
              <a:t>mIoU test: FP32 / QAT</a:t>
            </a:r>
          </a:p>
        </p:txBody>
      </p:sp>
      <p:sp>
        <p:nvSpPr>
          <p:cNvPr id="13" name="qat-caveat">
            <a:extLst>
              <a:ext uri="{FF2B5EF4-FFF2-40B4-BE49-F238E27FC236}">
                <a16:creationId xmlns:a16="http://schemas.microsoft.com/office/drawing/2014/main" id="{1778BCFB-E7F9-40BE-9FB8-4F0A04E48DC5}"/>
              </a:ext>
            </a:extLst>
          </p:cNvPr>
          <p:cNvSpPr>
            <a:spLocks noGrp="1"/>
          </p:cNvSpPr>
          <p:nvPr/>
        </p:nvSpPr>
        <p:spPr>
          <a:xfrm>
            <a:off x="952500" y="5781675"/>
            <a:ext cx="10001250" cy="276225"/>
          </a:xfrm>
          <a:prstGeom prst="rect">
            <a:avLst/>
          </a:prstGeom>
          <a:noFill/>
          <a:ln w="0">
            <a:noFill/>
          </a:ln>
        </p:spPr>
        <p:txBody>
          <a:bodyPr wrap="square" lIns="0" tIns="0" rIns="0" bIns="0" anchor="t">
            <a:noAutofit/>
          </a:bodyPr>
          <a:lstStyle>
            <a:defPPr algn="l">
              <a:defRPr sz="1575" b="0">
                <a:solidFill>
                  <a:srgbClr val="62666B"/>
                </a:solidFill>
                <a:latin typeface="Roboto"/>
                <a:ea typeface="Roboto"/>
                <a:cs typeface="Roboto"/>
              </a:defRPr>
            </a:defPPr>
            <a:lvl1pPr algn="l">
              <a:defRPr sz="1575" b="0">
                <a:solidFill>
                  <a:srgbClr val="62666B"/>
                </a:solidFill>
                <a:latin typeface="Roboto"/>
                <a:ea typeface="Roboto"/>
                <a:cs typeface="Roboto"/>
              </a:defRPr>
            </a:lvl1pPr>
            <a:lvl2pPr algn="l">
              <a:defRPr sz="1575" b="0">
                <a:solidFill>
                  <a:srgbClr val="62666B"/>
                </a:solidFill>
                <a:latin typeface="Roboto"/>
                <a:ea typeface="Roboto"/>
                <a:cs typeface="Roboto"/>
              </a:defRPr>
            </a:lvl2pPr>
            <a:lvl3pPr algn="l">
              <a:defRPr sz="1575" b="0">
                <a:solidFill>
                  <a:srgbClr val="62666B"/>
                </a:solidFill>
                <a:latin typeface="Roboto"/>
                <a:ea typeface="Roboto"/>
                <a:cs typeface="Roboto"/>
              </a:defRPr>
            </a:lvl3pPr>
            <a:lvl4pPr algn="l">
              <a:defRPr sz="1575" b="0">
                <a:solidFill>
                  <a:srgbClr val="62666B"/>
                </a:solidFill>
                <a:latin typeface="Roboto"/>
                <a:ea typeface="Roboto"/>
                <a:cs typeface="Roboto"/>
              </a:defRPr>
            </a:lvl4pPr>
            <a:lvl5pPr algn="l">
              <a:defRPr sz="1575" b="0">
                <a:solidFill>
                  <a:srgbClr val="62666B"/>
                </a:solidFill>
                <a:latin typeface="Roboto"/>
                <a:ea typeface="Roboto"/>
                <a:cs typeface="Roboto"/>
              </a:defRPr>
            </a:lvl5pPr>
            <a:lvl6pPr algn="l">
              <a:defRPr sz="1575" b="0">
                <a:solidFill>
                  <a:srgbClr val="62666B"/>
                </a:solidFill>
                <a:latin typeface="Roboto"/>
                <a:ea typeface="Roboto"/>
                <a:cs typeface="Roboto"/>
              </a:defRPr>
            </a:lvl6pPr>
            <a:lvl7pPr algn="l">
              <a:defRPr sz="1575" b="0">
                <a:solidFill>
                  <a:srgbClr val="62666B"/>
                </a:solidFill>
                <a:latin typeface="Roboto"/>
                <a:ea typeface="Roboto"/>
                <a:cs typeface="Roboto"/>
              </a:defRPr>
            </a:lvl7pPr>
            <a:lvl8pPr algn="l">
              <a:defRPr sz="1575" b="0">
                <a:solidFill>
                  <a:srgbClr val="62666B"/>
                </a:solidFill>
                <a:latin typeface="Roboto"/>
                <a:ea typeface="Roboto"/>
                <a:cs typeface="Roboto"/>
              </a:defRPr>
            </a:lvl8pPr>
            <a:lvl9pPr algn="l">
              <a:defRPr sz="1575" b="0">
                <a:solidFill>
                  <a:srgbClr val="62666B"/>
                </a:solidFill>
                <a:latin typeface="Roboto"/>
                <a:ea typeface="Roboto"/>
                <a:cs typeface="Roboto"/>
              </a:defRPr>
            </a:lvl9pPr>
          </a:lstStyle>
          <a:p>
            <a:pPr algn="l">
              <a:defRPr sz="1575" b="0">
                <a:solidFill>
                  <a:srgbClr val="62666B"/>
                </a:solidFill>
                <a:latin typeface="Roboto"/>
                <a:ea typeface="Roboto"/>
                <a:cs typeface="Roboto"/>
              </a:defRPr>
            </a:pPr>
            <a:r>
              <a:rPr sz="1575" b="0">
                <a:solidFill>
                  <a:srgbClr val="62666B"/>
                </a:solidFill>
                <a:latin typeface="Roboto"/>
                <a:ea typeface="Roboto"/>
                <a:cs typeface="Roboto"/>
              </a:rPr>
              <a:t>NVIDIA T4. La procedura QAT include fine-tuning e distillazione.</a:t>
            </a:r>
          </a:p>
        </p:txBody>
      </p:sp>
    </p:spTree>
    <p:extLst>
      <p:ext uri="{BB962C8B-B14F-4D97-AF65-F5344CB8AC3E}">
        <p14:creationId xmlns:p14="http://schemas.microsoft.com/office/powerpoint/2010/main" val="222343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72C21E7C-B921-4E8D-9527-FD223C18C1A7}"/>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Ispezione: rilevamento del danno</a:t>
            </a:r>
          </a:p>
        </p:txBody>
      </p:sp>
      <p:sp>
        <p:nvSpPr>
          <p:cNvPr id="2" name="template-footer">
            <a:extLst>
              <a:ext uri="{FF2B5EF4-FFF2-40B4-BE49-F238E27FC236}">
                <a16:creationId xmlns:a16="http://schemas.microsoft.com/office/drawing/2014/main" id="{47EE7D3C-E182-4615-8021-231A6B9F655A}"/>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E915D528-C42D-4F3E-BD06-BBE325BDA2E3}"/>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02E27C62-07BC-4035-8B66-BAFA8406350D}"/>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20/28</a:t>
            </a:r>
          </a:p>
        </p:txBody>
      </p:sp>
      <p:sp>
        <p:nvSpPr>
          <p:cNvPr id="5" name="source-citations">
            <a:extLst>
              <a:ext uri="{FF2B5EF4-FFF2-40B4-BE49-F238E27FC236}">
                <a16:creationId xmlns:a16="http://schemas.microsoft.com/office/drawing/2014/main" id="{90124AD1-4C19-41CA-A814-D0A7E5A28380}"/>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Elaborazione della tesi</a:t>
            </a:r>
          </a:p>
        </p:txBody>
      </p:sp>
      <p:graphicFrame>
        <p:nvGraphicFramePr>
          <p:cNvPr id="6" name="Chart">
            <a:extLst>
              <a:ext uri="{FF2B5EF4-FFF2-40B4-BE49-F238E27FC236}">
                <a16:creationId xmlns:a16="http://schemas.microsoft.com/office/drawing/2014/main" id="{656872F9-5431-411F-B0A4-896920CBCEE5}"/>
              </a:ext>
            </a:extLst>
          </p:cNvPr>
          <p:cNvGraphicFramePr/>
          <p:nvPr/>
        </p:nvGraphicFramePr>
        <p:xfrm>
          <a:off x="952500" y="1428750"/>
          <a:ext cx="9858375" cy="4143375"/>
        </p:xfrm>
        <a:graphic>
          <a:graphicData uri="http://schemas.openxmlformats.org/drawingml/2006/chart">
            <c:chart xmlns:c="http://schemas.openxmlformats.org/drawingml/2006/chart" xmlns:r="http://schemas.openxmlformats.org/officeDocument/2006/relationships" r:id="rId3"/>
          </a:graphicData>
        </a:graphic>
      </p:graphicFrame>
      <p:sp>
        <p:nvSpPr>
          <p:cNvPr id="7" name="ad-detection-metric">
            <a:extLst>
              <a:ext uri="{FF2B5EF4-FFF2-40B4-BE49-F238E27FC236}">
                <a16:creationId xmlns:a16="http://schemas.microsoft.com/office/drawing/2014/main" id="{BDD468F1-1264-41E1-BEE8-AAB71B0F8CF5}"/>
              </a:ext>
            </a:extLst>
          </p:cNvPr>
          <p:cNvSpPr>
            <a:spLocks noGrp="1"/>
          </p:cNvSpPr>
          <p:nvPr/>
        </p:nvSpPr>
        <p:spPr>
          <a:xfrm>
            <a:off x="952500" y="5734050"/>
            <a:ext cx="9906000" cy="295275"/>
          </a:xfrm>
          <a:prstGeom prst="rect">
            <a:avLst/>
          </a:prstGeom>
          <a:noFill/>
          <a:ln w="0">
            <a:noFill/>
          </a:ln>
        </p:spPr>
        <p:txBody>
          <a:bodyPr wrap="square" lIns="0" tIns="0" rIns="0" bIns="0" anchor="t">
            <a:noAutofit/>
          </a:bodyPr>
          <a:lstStyle>
            <a:defPPr algn="l">
              <a:defRPr sz="1800" b="0">
                <a:solidFill>
                  <a:srgbClr val="62666B"/>
                </a:solidFill>
                <a:latin typeface="Roboto"/>
                <a:ea typeface="Roboto"/>
                <a:cs typeface="Roboto"/>
              </a:defRPr>
            </a:defPPr>
            <a:lvl1pPr algn="l">
              <a:defRPr sz="1800" b="0">
                <a:solidFill>
                  <a:srgbClr val="62666B"/>
                </a:solidFill>
                <a:latin typeface="Roboto"/>
                <a:ea typeface="Roboto"/>
                <a:cs typeface="Roboto"/>
              </a:defRPr>
            </a:lvl1pPr>
            <a:lvl2pPr algn="l">
              <a:defRPr sz="1800" b="0">
                <a:solidFill>
                  <a:srgbClr val="62666B"/>
                </a:solidFill>
                <a:latin typeface="Roboto"/>
                <a:ea typeface="Roboto"/>
                <a:cs typeface="Roboto"/>
              </a:defRPr>
            </a:lvl2pPr>
            <a:lvl3pPr algn="l">
              <a:defRPr sz="1800" b="0">
                <a:solidFill>
                  <a:srgbClr val="62666B"/>
                </a:solidFill>
                <a:latin typeface="Roboto"/>
                <a:ea typeface="Roboto"/>
                <a:cs typeface="Roboto"/>
              </a:defRPr>
            </a:lvl3pPr>
            <a:lvl4pPr algn="l">
              <a:defRPr sz="1800" b="0">
                <a:solidFill>
                  <a:srgbClr val="62666B"/>
                </a:solidFill>
                <a:latin typeface="Roboto"/>
                <a:ea typeface="Roboto"/>
                <a:cs typeface="Roboto"/>
              </a:defRPr>
            </a:lvl4pPr>
            <a:lvl5pPr algn="l">
              <a:defRPr sz="1800" b="0">
                <a:solidFill>
                  <a:srgbClr val="62666B"/>
                </a:solidFill>
                <a:latin typeface="Roboto"/>
                <a:ea typeface="Roboto"/>
                <a:cs typeface="Roboto"/>
              </a:defRPr>
            </a:lvl5pPr>
            <a:lvl6pPr algn="l">
              <a:defRPr sz="1800" b="0">
                <a:solidFill>
                  <a:srgbClr val="62666B"/>
                </a:solidFill>
                <a:latin typeface="Roboto"/>
                <a:ea typeface="Roboto"/>
                <a:cs typeface="Roboto"/>
              </a:defRPr>
            </a:lvl6pPr>
            <a:lvl7pPr algn="l">
              <a:defRPr sz="1800" b="0">
                <a:solidFill>
                  <a:srgbClr val="62666B"/>
                </a:solidFill>
                <a:latin typeface="Roboto"/>
                <a:ea typeface="Roboto"/>
                <a:cs typeface="Roboto"/>
              </a:defRPr>
            </a:lvl7pPr>
            <a:lvl8pPr algn="l">
              <a:defRPr sz="1800" b="0">
                <a:solidFill>
                  <a:srgbClr val="62666B"/>
                </a:solidFill>
                <a:latin typeface="Roboto"/>
                <a:ea typeface="Roboto"/>
                <a:cs typeface="Roboto"/>
              </a:defRPr>
            </a:lvl8pPr>
            <a:lvl9pPr algn="l">
              <a:defRPr sz="1800" b="0">
                <a:solidFill>
                  <a:srgbClr val="62666B"/>
                </a:solidFill>
                <a:latin typeface="Roboto"/>
                <a:ea typeface="Roboto"/>
                <a:cs typeface="Roboto"/>
              </a:defRPr>
            </a:lvl9pPr>
          </a:lstStyle>
          <a:p>
            <a:pPr algn="l">
              <a:defRPr sz="1800" b="0">
                <a:solidFill>
                  <a:srgbClr val="62666B"/>
                </a:solidFill>
                <a:latin typeface="Roboto"/>
                <a:ea typeface="Roboto"/>
                <a:cs typeface="Roboto"/>
              </a:defRPr>
            </a:pPr>
            <a:r>
              <a:rPr sz="1800" b="0">
                <a:solidFill>
                  <a:srgbClr val="62666B"/>
                </a:solidFill>
                <a:latin typeface="Roboto"/>
                <a:ea typeface="Roboto"/>
                <a:cs typeface="Roboto"/>
              </a:rPr>
              <a:t>Image AUROC (%)   Test sintetico della posa A</a:t>
            </a:r>
          </a:p>
        </p:txBody>
      </p:sp>
    </p:spTree>
    <p:extLst>
      <p:ext uri="{BB962C8B-B14F-4D97-AF65-F5344CB8AC3E}">
        <p14:creationId xmlns:p14="http://schemas.microsoft.com/office/powerpoint/2010/main" val="222343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C1113922-9DA9-48F6-A930-01DDBFC3EBC0}"/>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Ispezione: costo di inferenza</a:t>
            </a:r>
          </a:p>
        </p:txBody>
      </p:sp>
      <p:sp>
        <p:nvSpPr>
          <p:cNvPr id="2" name="template-footer">
            <a:extLst>
              <a:ext uri="{FF2B5EF4-FFF2-40B4-BE49-F238E27FC236}">
                <a16:creationId xmlns:a16="http://schemas.microsoft.com/office/drawing/2014/main" id="{5B676C9E-18E3-49E1-8AEE-FECA81772E23}"/>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74DF98AC-D331-4F49-A3F9-79E970BC36EF}"/>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16AF73A7-9956-4803-86F4-DAD020AD56D2}"/>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21/28</a:t>
            </a:r>
          </a:p>
        </p:txBody>
      </p:sp>
      <p:sp>
        <p:nvSpPr>
          <p:cNvPr id="5" name="source-citations">
            <a:extLst>
              <a:ext uri="{FF2B5EF4-FFF2-40B4-BE49-F238E27FC236}">
                <a16:creationId xmlns:a16="http://schemas.microsoft.com/office/drawing/2014/main" id="{4DC3BEBF-D587-427E-88BE-2F7C3B57FB0B}"/>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Elaborazione della tesi</a:t>
            </a:r>
          </a:p>
        </p:txBody>
      </p:sp>
      <p:graphicFrame>
        <p:nvGraphicFramePr>
          <p:cNvPr id="6" name="Chart">
            <a:extLst>
              <a:ext uri="{FF2B5EF4-FFF2-40B4-BE49-F238E27FC236}">
                <a16:creationId xmlns:a16="http://schemas.microsoft.com/office/drawing/2014/main" id="{CC497740-5C5E-44BC-9D11-5C4C83CA8614}"/>
              </a:ext>
            </a:extLst>
          </p:cNvPr>
          <p:cNvGraphicFramePr/>
          <p:nvPr/>
        </p:nvGraphicFramePr>
        <p:xfrm>
          <a:off x="952500" y="1438275"/>
          <a:ext cx="7810500" cy="4048125"/>
        </p:xfrm>
        <a:graphic>
          <a:graphicData uri="http://schemas.openxmlformats.org/drawingml/2006/chart">
            <c:chart xmlns:c="http://schemas.openxmlformats.org/drawingml/2006/chart" xmlns:r="http://schemas.openxmlformats.org/officeDocument/2006/relationships" r:id="rId3"/>
          </a:graphicData>
        </a:graphic>
      </p:graphicFrame>
      <p:sp>
        <p:nvSpPr>
          <p:cNvPr id="7" name="tg-resource-name">
            <a:extLst>
              <a:ext uri="{FF2B5EF4-FFF2-40B4-BE49-F238E27FC236}">
                <a16:creationId xmlns:a16="http://schemas.microsoft.com/office/drawing/2014/main" id="{A7181300-F21E-4AA0-8D08-2A1E9B67A1BB}"/>
              </a:ext>
            </a:extLst>
          </p:cNvPr>
          <p:cNvSpPr>
            <a:spLocks noGrp="1"/>
          </p:cNvSpPr>
          <p:nvPr/>
        </p:nvSpPr>
        <p:spPr>
          <a:xfrm>
            <a:off x="9020175" y="1714500"/>
            <a:ext cx="2190750" cy="428625"/>
          </a:xfrm>
          <a:prstGeom prst="rect">
            <a:avLst/>
          </a:prstGeom>
          <a:noFill/>
          <a:ln w="0">
            <a:noFill/>
          </a:ln>
        </p:spPr>
        <p:txBody>
          <a:bodyPr wrap="square" lIns="0" tIns="0" rIns="0" bIns="0" anchor="t">
            <a:noAutofit/>
          </a:bodyPr>
          <a:lstStyle>
            <a:defPPr algn="l">
              <a:defRPr sz="2325" b="1">
                <a:solidFill>
                  <a:srgbClr val="822433"/>
                </a:solidFill>
                <a:latin typeface="Roboto"/>
                <a:ea typeface="Roboto"/>
                <a:cs typeface="Roboto"/>
              </a:defRPr>
            </a:defPPr>
            <a:lvl1pPr algn="l">
              <a:defRPr sz="2325" b="1">
                <a:solidFill>
                  <a:srgbClr val="822433"/>
                </a:solidFill>
                <a:latin typeface="Roboto"/>
                <a:ea typeface="Roboto"/>
                <a:cs typeface="Roboto"/>
              </a:defRPr>
            </a:lvl1pPr>
            <a:lvl2pPr algn="l">
              <a:defRPr sz="2325" b="1">
                <a:solidFill>
                  <a:srgbClr val="822433"/>
                </a:solidFill>
                <a:latin typeface="Roboto"/>
                <a:ea typeface="Roboto"/>
                <a:cs typeface="Roboto"/>
              </a:defRPr>
            </a:lvl2pPr>
            <a:lvl3pPr algn="l">
              <a:defRPr sz="2325" b="1">
                <a:solidFill>
                  <a:srgbClr val="822433"/>
                </a:solidFill>
                <a:latin typeface="Roboto"/>
                <a:ea typeface="Roboto"/>
                <a:cs typeface="Roboto"/>
              </a:defRPr>
            </a:lvl3pPr>
            <a:lvl4pPr algn="l">
              <a:defRPr sz="2325" b="1">
                <a:solidFill>
                  <a:srgbClr val="822433"/>
                </a:solidFill>
                <a:latin typeface="Roboto"/>
                <a:ea typeface="Roboto"/>
                <a:cs typeface="Roboto"/>
              </a:defRPr>
            </a:lvl4pPr>
            <a:lvl5pPr algn="l">
              <a:defRPr sz="2325" b="1">
                <a:solidFill>
                  <a:srgbClr val="822433"/>
                </a:solidFill>
                <a:latin typeface="Roboto"/>
                <a:ea typeface="Roboto"/>
                <a:cs typeface="Roboto"/>
              </a:defRPr>
            </a:lvl5pPr>
            <a:lvl6pPr algn="l">
              <a:defRPr sz="2325" b="1">
                <a:solidFill>
                  <a:srgbClr val="822433"/>
                </a:solidFill>
                <a:latin typeface="Roboto"/>
                <a:ea typeface="Roboto"/>
                <a:cs typeface="Roboto"/>
              </a:defRPr>
            </a:lvl6pPr>
            <a:lvl7pPr algn="l">
              <a:defRPr sz="2325" b="1">
                <a:solidFill>
                  <a:srgbClr val="822433"/>
                </a:solidFill>
                <a:latin typeface="Roboto"/>
                <a:ea typeface="Roboto"/>
                <a:cs typeface="Roboto"/>
              </a:defRPr>
            </a:lvl7pPr>
            <a:lvl8pPr algn="l">
              <a:defRPr sz="2325" b="1">
                <a:solidFill>
                  <a:srgbClr val="822433"/>
                </a:solidFill>
                <a:latin typeface="Roboto"/>
                <a:ea typeface="Roboto"/>
                <a:cs typeface="Roboto"/>
              </a:defRPr>
            </a:lvl8pPr>
            <a:lvl9pPr algn="l">
              <a:defRPr sz="2325" b="1">
                <a:solidFill>
                  <a:srgbClr val="822433"/>
                </a:solidFill>
                <a:latin typeface="Roboto"/>
                <a:ea typeface="Roboto"/>
                <a:cs typeface="Roboto"/>
              </a:defRPr>
            </a:lvl9pPr>
          </a:lstStyle>
          <a:p>
            <a:pPr algn="l">
              <a:defRPr sz="2325" b="1">
                <a:solidFill>
                  <a:srgbClr val="822433"/>
                </a:solidFill>
                <a:latin typeface="Roboto"/>
                <a:ea typeface="Roboto"/>
                <a:cs typeface="Roboto"/>
              </a:defRPr>
            </a:pPr>
            <a:r>
              <a:rPr sz="2325" b="1">
                <a:solidFill>
                  <a:srgbClr val="822433"/>
                </a:solidFill>
                <a:latin typeface="Roboto"/>
                <a:ea typeface="Roboto"/>
                <a:cs typeface="Roboto"/>
              </a:rPr>
              <a:t>TG-384</a:t>
            </a:r>
          </a:p>
        </p:txBody>
      </p:sp>
      <p:sp>
        <p:nvSpPr>
          <p:cNvPr id="8" name="tg-latency">
            <a:extLst>
              <a:ext uri="{FF2B5EF4-FFF2-40B4-BE49-F238E27FC236}">
                <a16:creationId xmlns:a16="http://schemas.microsoft.com/office/drawing/2014/main" id="{AA7F25CC-9697-4FDC-B45B-F081B913009F}"/>
              </a:ext>
            </a:extLst>
          </p:cNvPr>
          <p:cNvSpPr>
            <a:spLocks noGrp="1"/>
          </p:cNvSpPr>
          <p:nvPr/>
        </p:nvSpPr>
        <p:spPr>
          <a:xfrm>
            <a:off x="9020175" y="2400300"/>
            <a:ext cx="2190750" cy="523875"/>
          </a:xfrm>
          <a:prstGeom prst="rect">
            <a:avLst/>
          </a:prstGeom>
          <a:noFill/>
          <a:ln w="0">
            <a:noFill/>
          </a:ln>
        </p:spPr>
        <p:txBody>
          <a:bodyPr wrap="square" lIns="0" tIns="0" rIns="0" bIns="0" anchor="t">
            <a:noAutofit/>
          </a:bodyPr>
          <a:lstStyle>
            <a:defPPr algn="l">
              <a:defRPr sz="3000" b="1">
                <a:solidFill>
                  <a:srgbClr val="822433"/>
                </a:solidFill>
                <a:latin typeface="Roboto"/>
                <a:ea typeface="Roboto"/>
                <a:cs typeface="Roboto"/>
              </a:defRPr>
            </a:defPPr>
            <a:lvl1pPr algn="l">
              <a:defRPr sz="3000" b="1">
                <a:solidFill>
                  <a:srgbClr val="822433"/>
                </a:solidFill>
                <a:latin typeface="Roboto"/>
                <a:ea typeface="Roboto"/>
                <a:cs typeface="Roboto"/>
              </a:defRPr>
            </a:lvl1pPr>
            <a:lvl2pPr algn="l">
              <a:defRPr sz="3000" b="1">
                <a:solidFill>
                  <a:srgbClr val="822433"/>
                </a:solidFill>
                <a:latin typeface="Roboto"/>
                <a:ea typeface="Roboto"/>
                <a:cs typeface="Roboto"/>
              </a:defRPr>
            </a:lvl2pPr>
            <a:lvl3pPr algn="l">
              <a:defRPr sz="3000" b="1">
                <a:solidFill>
                  <a:srgbClr val="822433"/>
                </a:solidFill>
                <a:latin typeface="Roboto"/>
                <a:ea typeface="Roboto"/>
                <a:cs typeface="Roboto"/>
              </a:defRPr>
            </a:lvl3pPr>
            <a:lvl4pPr algn="l">
              <a:defRPr sz="3000" b="1">
                <a:solidFill>
                  <a:srgbClr val="822433"/>
                </a:solidFill>
                <a:latin typeface="Roboto"/>
                <a:ea typeface="Roboto"/>
                <a:cs typeface="Roboto"/>
              </a:defRPr>
            </a:lvl4pPr>
            <a:lvl5pPr algn="l">
              <a:defRPr sz="3000" b="1">
                <a:solidFill>
                  <a:srgbClr val="822433"/>
                </a:solidFill>
                <a:latin typeface="Roboto"/>
                <a:ea typeface="Roboto"/>
                <a:cs typeface="Roboto"/>
              </a:defRPr>
            </a:lvl5pPr>
            <a:lvl6pPr algn="l">
              <a:defRPr sz="3000" b="1">
                <a:solidFill>
                  <a:srgbClr val="822433"/>
                </a:solidFill>
                <a:latin typeface="Roboto"/>
                <a:ea typeface="Roboto"/>
                <a:cs typeface="Roboto"/>
              </a:defRPr>
            </a:lvl6pPr>
            <a:lvl7pPr algn="l">
              <a:defRPr sz="3000" b="1">
                <a:solidFill>
                  <a:srgbClr val="822433"/>
                </a:solidFill>
                <a:latin typeface="Roboto"/>
                <a:ea typeface="Roboto"/>
                <a:cs typeface="Roboto"/>
              </a:defRPr>
            </a:lvl7pPr>
            <a:lvl8pPr algn="l">
              <a:defRPr sz="3000" b="1">
                <a:solidFill>
                  <a:srgbClr val="822433"/>
                </a:solidFill>
                <a:latin typeface="Roboto"/>
                <a:ea typeface="Roboto"/>
                <a:cs typeface="Roboto"/>
              </a:defRPr>
            </a:lvl8pPr>
            <a:lvl9pPr algn="l">
              <a:defRPr sz="3000" b="1">
                <a:solidFill>
                  <a:srgbClr val="822433"/>
                </a:solidFill>
                <a:latin typeface="Roboto"/>
                <a:ea typeface="Roboto"/>
                <a:cs typeface="Roboto"/>
              </a:defRPr>
            </a:lvl9pPr>
          </a:lstStyle>
          <a:p>
            <a:pPr algn="l">
              <a:defRPr sz="3000" b="1">
                <a:solidFill>
                  <a:srgbClr val="822433"/>
                </a:solidFill>
                <a:latin typeface="Roboto"/>
                <a:ea typeface="Roboto"/>
                <a:cs typeface="Roboto"/>
              </a:defRPr>
            </a:pPr>
            <a:r>
              <a:rPr sz="3000" b="1">
                <a:solidFill>
                  <a:srgbClr val="822433"/>
                </a:solidFill>
                <a:latin typeface="Roboto"/>
                <a:ea typeface="Roboto"/>
                <a:cs typeface="Roboto"/>
              </a:rPr>
              <a:t>5,13 ms</a:t>
            </a:r>
          </a:p>
        </p:txBody>
      </p:sp>
      <p:sp>
        <p:nvSpPr>
          <p:cNvPr id="9" name="tg-memory">
            <a:extLst>
              <a:ext uri="{FF2B5EF4-FFF2-40B4-BE49-F238E27FC236}">
                <a16:creationId xmlns:a16="http://schemas.microsoft.com/office/drawing/2014/main" id="{5C9B8898-6064-4DDF-B5C5-02B3E81EFDE1}"/>
              </a:ext>
            </a:extLst>
          </p:cNvPr>
          <p:cNvSpPr>
            <a:spLocks noGrp="1"/>
          </p:cNvSpPr>
          <p:nvPr/>
        </p:nvSpPr>
        <p:spPr>
          <a:xfrm>
            <a:off x="9020175" y="3371850"/>
            <a:ext cx="2286000" cy="466725"/>
          </a:xfrm>
          <a:prstGeom prst="rect">
            <a:avLst/>
          </a:prstGeom>
          <a:noFill/>
          <a:ln w="0">
            <a:noFill/>
          </a:ln>
        </p:spPr>
        <p:txBody>
          <a:bodyPr wrap="square" lIns="0" tIns="0" rIns="0" bIns="0" anchor="t">
            <a:noAutofit/>
          </a:bodyPr>
          <a:lstStyle>
            <a:defPPr algn="l">
              <a:defRPr sz="2250" b="0">
                <a:solidFill>
                  <a:srgbClr val="202124"/>
                </a:solidFill>
                <a:latin typeface="Roboto"/>
                <a:ea typeface="Roboto"/>
                <a:cs typeface="Roboto"/>
              </a:defRPr>
            </a:defPPr>
            <a:lvl1pPr algn="l">
              <a:defRPr sz="2250" b="0">
                <a:solidFill>
                  <a:srgbClr val="202124"/>
                </a:solidFill>
                <a:latin typeface="Roboto"/>
                <a:ea typeface="Roboto"/>
                <a:cs typeface="Roboto"/>
              </a:defRPr>
            </a:lvl1pPr>
            <a:lvl2pPr algn="l">
              <a:defRPr sz="2250" b="0">
                <a:solidFill>
                  <a:srgbClr val="202124"/>
                </a:solidFill>
                <a:latin typeface="Roboto"/>
                <a:ea typeface="Roboto"/>
                <a:cs typeface="Roboto"/>
              </a:defRPr>
            </a:lvl2pPr>
            <a:lvl3pPr algn="l">
              <a:defRPr sz="2250" b="0">
                <a:solidFill>
                  <a:srgbClr val="202124"/>
                </a:solidFill>
                <a:latin typeface="Roboto"/>
                <a:ea typeface="Roboto"/>
                <a:cs typeface="Roboto"/>
              </a:defRPr>
            </a:lvl3pPr>
            <a:lvl4pPr algn="l">
              <a:defRPr sz="2250" b="0">
                <a:solidFill>
                  <a:srgbClr val="202124"/>
                </a:solidFill>
                <a:latin typeface="Roboto"/>
                <a:ea typeface="Roboto"/>
                <a:cs typeface="Roboto"/>
              </a:defRPr>
            </a:lvl4pPr>
            <a:lvl5pPr algn="l">
              <a:defRPr sz="2250" b="0">
                <a:solidFill>
                  <a:srgbClr val="202124"/>
                </a:solidFill>
                <a:latin typeface="Roboto"/>
                <a:ea typeface="Roboto"/>
                <a:cs typeface="Roboto"/>
              </a:defRPr>
            </a:lvl5pPr>
            <a:lvl6pPr algn="l">
              <a:defRPr sz="2250" b="0">
                <a:solidFill>
                  <a:srgbClr val="202124"/>
                </a:solidFill>
                <a:latin typeface="Roboto"/>
                <a:ea typeface="Roboto"/>
                <a:cs typeface="Roboto"/>
              </a:defRPr>
            </a:lvl6pPr>
            <a:lvl7pPr algn="l">
              <a:defRPr sz="2250" b="0">
                <a:solidFill>
                  <a:srgbClr val="202124"/>
                </a:solidFill>
                <a:latin typeface="Roboto"/>
                <a:ea typeface="Roboto"/>
                <a:cs typeface="Roboto"/>
              </a:defRPr>
            </a:lvl7pPr>
            <a:lvl8pPr algn="l">
              <a:defRPr sz="2250" b="0">
                <a:solidFill>
                  <a:srgbClr val="202124"/>
                </a:solidFill>
                <a:latin typeface="Roboto"/>
                <a:ea typeface="Roboto"/>
                <a:cs typeface="Roboto"/>
              </a:defRPr>
            </a:lvl8pPr>
            <a:lvl9pPr algn="l">
              <a:defRPr sz="2250" b="0">
                <a:solidFill>
                  <a:srgbClr val="202124"/>
                </a:solidFill>
                <a:latin typeface="Roboto"/>
                <a:ea typeface="Roboto"/>
                <a:cs typeface="Roboto"/>
              </a:defRPr>
            </a:lvl9pPr>
          </a:lstStyle>
          <a:p>
            <a:pPr algn="l">
              <a:defRPr sz="2250" b="0">
                <a:solidFill>
                  <a:srgbClr val="202124"/>
                </a:solidFill>
                <a:latin typeface="Roboto"/>
                <a:ea typeface="Roboto"/>
                <a:cs typeface="Roboto"/>
              </a:defRPr>
            </a:pPr>
            <a:r>
              <a:rPr sz="2250" b="0">
                <a:solidFill>
                  <a:srgbClr val="202124"/>
                </a:solidFill>
                <a:latin typeface="Roboto"/>
                <a:ea typeface="Roboto"/>
                <a:cs typeface="Roboto"/>
              </a:rPr>
              <a:t>38,72 MiB</a:t>
            </a:r>
          </a:p>
        </p:txBody>
      </p:sp>
      <p:sp>
        <p:nvSpPr>
          <p:cNvPr id="10" name="tg-energy">
            <a:extLst>
              <a:ext uri="{FF2B5EF4-FFF2-40B4-BE49-F238E27FC236}">
                <a16:creationId xmlns:a16="http://schemas.microsoft.com/office/drawing/2014/main" id="{EF76CC71-6167-4B7D-963B-941EA15E012C}"/>
              </a:ext>
            </a:extLst>
          </p:cNvPr>
          <p:cNvSpPr>
            <a:spLocks noGrp="1"/>
          </p:cNvSpPr>
          <p:nvPr/>
        </p:nvSpPr>
        <p:spPr>
          <a:xfrm>
            <a:off x="9020175" y="4267200"/>
            <a:ext cx="2381250" cy="809625"/>
          </a:xfrm>
          <a:prstGeom prst="rect">
            <a:avLst/>
          </a:prstGeom>
          <a:noFill/>
          <a:ln w="0">
            <a:noFill/>
          </a:ln>
        </p:spPr>
        <p:txBody>
          <a:bodyPr wrap="square" lIns="0" tIns="0" rIns="0" bIns="0" anchor="t">
            <a:noAutofit/>
          </a:bodyPr>
          <a:lstStyle>
            <a:defPPr algn="l">
              <a:defRPr sz="2175" b="0">
                <a:solidFill>
                  <a:srgbClr val="202124"/>
                </a:solidFill>
                <a:latin typeface="Roboto"/>
                <a:ea typeface="Roboto"/>
                <a:cs typeface="Roboto"/>
              </a:defRPr>
            </a:defPPr>
            <a:lvl1pPr algn="l">
              <a:defRPr sz="2175" b="0">
                <a:solidFill>
                  <a:srgbClr val="202124"/>
                </a:solidFill>
                <a:latin typeface="Roboto"/>
                <a:ea typeface="Roboto"/>
                <a:cs typeface="Roboto"/>
              </a:defRPr>
            </a:lvl1pPr>
            <a:lvl2pPr algn="l">
              <a:defRPr sz="2175" b="0">
                <a:solidFill>
                  <a:srgbClr val="202124"/>
                </a:solidFill>
                <a:latin typeface="Roboto"/>
                <a:ea typeface="Roboto"/>
                <a:cs typeface="Roboto"/>
              </a:defRPr>
            </a:lvl2pPr>
            <a:lvl3pPr algn="l">
              <a:defRPr sz="2175" b="0">
                <a:solidFill>
                  <a:srgbClr val="202124"/>
                </a:solidFill>
                <a:latin typeface="Roboto"/>
                <a:ea typeface="Roboto"/>
                <a:cs typeface="Roboto"/>
              </a:defRPr>
            </a:lvl3pPr>
            <a:lvl4pPr algn="l">
              <a:defRPr sz="2175" b="0">
                <a:solidFill>
                  <a:srgbClr val="202124"/>
                </a:solidFill>
                <a:latin typeface="Roboto"/>
                <a:ea typeface="Roboto"/>
                <a:cs typeface="Roboto"/>
              </a:defRPr>
            </a:lvl4pPr>
            <a:lvl5pPr algn="l">
              <a:defRPr sz="2175" b="0">
                <a:solidFill>
                  <a:srgbClr val="202124"/>
                </a:solidFill>
                <a:latin typeface="Roboto"/>
                <a:ea typeface="Roboto"/>
                <a:cs typeface="Roboto"/>
              </a:defRPr>
            </a:lvl5pPr>
            <a:lvl6pPr algn="l">
              <a:defRPr sz="2175" b="0">
                <a:solidFill>
                  <a:srgbClr val="202124"/>
                </a:solidFill>
                <a:latin typeface="Roboto"/>
                <a:ea typeface="Roboto"/>
                <a:cs typeface="Roboto"/>
              </a:defRPr>
            </a:lvl6pPr>
            <a:lvl7pPr algn="l">
              <a:defRPr sz="2175" b="0">
                <a:solidFill>
                  <a:srgbClr val="202124"/>
                </a:solidFill>
                <a:latin typeface="Roboto"/>
                <a:ea typeface="Roboto"/>
                <a:cs typeface="Roboto"/>
              </a:defRPr>
            </a:lvl7pPr>
            <a:lvl8pPr algn="l">
              <a:defRPr sz="2175" b="0">
                <a:solidFill>
                  <a:srgbClr val="202124"/>
                </a:solidFill>
                <a:latin typeface="Roboto"/>
                <a:ea typeface="Roboto"/>
                <a:cs typeface="Roboto"/>
              </a:defRPr>
            </a:lvl8pPr>
            <a:lvl9pPr algn="l">
              <a:defRPr sz="2175" b="0">
                <a:solidFill>
                  <a:srgbClr val="202124"/>
                </a:solidFill>
                <a:latin typeface="Roboto"/>
                <a:ea typeface="Roboto"/>
                <a:cs typeface="Roboto"/>
              </a:defRPr>
            </a:lvl9pPr>
          </a:lstStyle>
          <a:p>
            <a:pPr algn="l">
              <a:defRPr sz="2175" b="0">
                <a:solidFill>
                  <a:srgbClr val="202124"/>
                </a:solidFill>
                <a:latin typeface="Roboto"/>
                <a:ea typeface="Roboto"/>
                <a:cs typeface="Roboto"/>
              </a:defRPr>
            </a:pPr>
            <a:r>
              <a:rPr sz="2175" b="0">
                <a:solidFill>
                  <a:srgbClr val="202124"/>
                </a:solidFill>
                <a:latin typeface="Roboto"/>
                <a:ea typeface="Roboto"/>
                <a:cs typeface="Roboto"/>
              </a:rPr>
              <a:t>0,239 J/immagine</a:t>
            </a:r>
          </a:p>
        </p:txBody>
      </p:sp>
      <p:sp>
        <p:nvSpPr>
          <p:cNvPr id="11" name="prediction-cost-scope">
            <a:extLst>
              <a:ext uri="{FF2B5EF4-FFF2-40B4-BE49-F238E27FC236}">
                <a16:creationId xmlns:a16="http://schemas.microsoft.com/office/drawing/2014/main" id="{93C73327-5CD4-45C5-B1A9-B45C17CE2246}"/>
              </a:ext>
            </a:extLst>
          </p:cNvPr>
          <p:cNvSpPr>
            <a:spLocks noGrp="1"/>
          </p:cNvSpPr>
          <p:nvPr/>
        </p:nvSpPr>
        <p:spPr>
          <a:xfrm>
            <a:off x="952500" y="5734050"/>
            <a:ext cx="10001250" cy="304800"/>
          </a:xfrm>
          <a:prstGeom prst="rect">
            <a:avLst/>
          </a:prstGeom>
          <a:noFill/>
          <a:ln w="0">
            <a:noFill/>
          </a:ln>
        </p:spPr>
        <p:txBody>
          <a:bodyPr wrap="square" lIns="0" tIns="0" rIns="0" bIns="0" anchor="t">
            <a:noAutofit/>
          </a:bodyPr>
          <a:lstStyle>
            <a:defPPr algn="l">
              <a:defRPr sz="1650" b="0">
                <a:solidFill>
                  <a:srgbClr val="62666B"/>
                </a:solidFill>
                <a:latin typeface="Roboto"/>
                <a:ea typeface="Roboto"/>
                <a:cs typeface="Roboto"/>
              </a:defRPr>
            </a:defPPr>
            <a:lvl1pPr algn="l">
              <a:defRPr sz="1650" b="0">
                <a:solidFill>
                  <a:srgbClr val="62666B"/>
                </a:solidFill>
                <a:latin typeface="Roboto"/>
                <a:ea typeface="Roboto"/>
                <a:cs typeface="Roboto"/>
              </a:defRPr>
            </a:lvl1pPr>
            <a:lvl2pPr algn="l">
              <a:defRPr sz="1650" b="0">
                <a:solidFill>
                  <a:srgbClr val="62666B"/>
                </a:solidFill>
                <a:latin typeface="Roboto"/>
                <a:ea typeface="Roboto"/>
                <a:cs typeface="Roboto"/>
              </a:defRPr>
            </a:lvl2pPr>
            <a:lvl3pPr algn="l">
              <a:defRPr sz="1650" b="0">
                <a:solidFill>
                  <a:srgbClr val="62666B"/>
                </a:solidFill>
                <a:latin typeface="Roboto"/>
                <a:ea typeface="Roboto"/>
                <a:cs typeface="Roboto"/>
              </a:defRPr>
            </a:lvl3pPr>
            <a:lvl4pPr algn="l">
              <a:defRPr sz="1650" b="0">
                <a:solidFill>
                  <a:srgbClr val="62666B"/>
                </a:solidFill>
                <a:latin typeface="Roboto"/>
                <a:ea typeface="Roboto"/>
                <a:cs typeface="Roboto"/>
              </a:defRPr>
            </a:lvl4pPr>
            <a:lvl5pPr algn="l">
              <a:defRPr sz="1650" b="0">
                <a:solidFill>
                  <a:srgbClr val="62666B"/>
                </a:solidFill>
                <a:latin typeface="Roboto"/>
                <a:ea typeface="Roboto"/>
                <a:cs typeface="Roboto"/>
              </a:defRPr>
            </a:lvl5pPr>
            <a:lvl6pPr algn="l">
              <a:defRPr sz="1650" b="0">
                <a:solidFill>
                  <a:srgbClr val="62666B"/>
                </a:solidFill>
                <a:latin typeface="Roboto"/>
                <a:ea typeface="Roboto"/>
                <a:cs typeface="Roboto"/>
              </a:defRPr>
            </a:lvl6pPr>
            <a:lvl7pPr algn="l">
              <a:defRPr sz="1650" b="0">
                <a:solidFill>
                  <a:srgbClr val="62666B"/>
                </a:solidFill>
                <a:latin typeface="Roboto"/>
                <a:ea typeface="Roboto"/>
                <a:cs typeface="Roboto"/>
              </a:defRPr>
            </a:lvl7pPr>
            <a:lvl8pPr algn="l">
              <a:defRPr sz="1650" b="0">
                <a:solidFill>
                  <a:srgbClr val="62666B"/>
                </a:solidFill>
                <a:latin typeface="Roboto"/>
                <a:ea typeface="Roboto"/>
                <a:cs typeface="Roboto"/>
              </a:defRPr>
            </a:lvl8pPr>
            <a:lvl9pPr algn="l">
              <a:defRPr sz="1650" b="0">
                <a:solidFill>
                  <a:srgbClr val="62666B"/>
                </a:solidFill>
                <a:latin typeface="Roboto"/>
                <a:ea typeface="Roboto"/>
                <a:cs typeface="Roboto"/>
              </a:defRPr>
            </a:lvl9pPr>
          </a:lstStyle>
          <a:p>
            <a:pPr algn="l">
              <a:defRPr sz="1650" b="0">
                <a:solidFill>
                  <a:srgbClr val="62666B"/>
                </a:solidFill>
                <a:latin typeface="Roboto"/>
                <a:ea typeface="Roboto"/>
                <a:cs typeface="Roboto"/>
              </a:defRPr>
            </a:pPr>
            <a:r>
              <a:rPr sz="1650" b="0">
                <a:solidFill>
                  <a:srgbClr val="62666B"/>
                </a:solidFill>
                <a:latin typeface="Roboto"/>
                <a:ea typeface="Roboto"/>
                <a:cs typeface="Roboto"/>
              </a:rPr>
              <a:t>Latenza su NVIDIA T4, input già sulla GPU. Preprocessing escluso.</a:t>
            </a:r>
          </a:p>
        </p:txBody>
      </p:sp>
    </p:spTree>
    <p:extLst>
      <p:ext uri="{BB962C8B-B14F-4D97-AF65-F5344CB8AC3E}">
        <p14:creationId xmlns:p14="http://schemas.microsoft.com/office/powerpoint/2010/main" val="2223438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title">
            <a:extLst>
              <a:ext uri="{FF2B5EF4-FFF2-40B4-BE49-F238E27FC236}">
                <a16:creationId xmlns:a16="http://schemas.microsoft.com/office/drawing/2014/main" id="{E1D6C88A-7EB8-4ECC-A154-45EE834B92A9}"/>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Localizzare il foro rimane più difficile</a:t>
            </a:r>
          </a:p>
        </p:txBody>
      </p:sp>
      <p:sp>
        <p:nvSpPr>
          <p:cNvPr id="2" name="template-footer">
            <a:extLst>
              <a:ext uri="{FF2B5EF4-FFF2-40B4-BE49-F238E27FC236}">
                <a16:creationId xmlns:a16="http://schemas.microsoft.com/office/drawing/2014/main" id="{BB524D2C-ED7A-4407-BDB6-23DC8D3F731C}"/>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0315BE77-4402-4221-A50C-EF832980BA67}"/>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1AF99A4C-0D1E-4835-B1CD-21C7E140A506}"/>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22/28</a:t>
            </a:r>
          </a:p>
        </p:txBody>
      </p:sp>
      <p:sp>
        <p:nvSpPr>
          <p:cNvPr id="5" name="source-citations">
            <a:extLst>
              <a:ext uri="{FF2B5EF4-FFF2-40B4-BE49-F238E27FC236}">
                <a16:creationId xmlns:a16="http://schemas.microsoft.com/office/drawing/2014/main" id="{8D543846-A010-46E8-BECD-F97D94244E09}"/>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Elaborazione della tesi</a:t>
            </a:r>
          </a:p>
        </p:txBody>
      </p:sp>
      <p:sp>
        <p:nvSpPr>
          <p:cNvPr id="6" name="label-damage-rgb.png">
            <a:extLst>
              <a:ext uri="{FF2B5EF4-FFF2-40B4-BE49-F238E27FC236}">
                <a16:creationId xmlns:a16="http://schemas.microsoft.com/office/drawing/2014/main" id="{5DC7ADB6-8D6A-4D78-9D5C-ECB5FFFB2531}"/>
              </a:ext>
            </a:extLst>
          </p:cNvPr>
          <p:cNvSpPr>
            <a:spLocks noGrp="1"/>
          </p:cNvSpPr>
          <p:nvPr/>
        </p:nvSpPr>
        <p:spPr>
          <a:xfrm>
            <a:off x="904875" y="1638300"/>
            <a:ext cx="2381250" cy="381000"/>
          </a:xfrm>
          <a:prstGeom prst="rect">
            <a:avLst/>
          </a:prstGeom>
          <a:noFill/>
          <a:ln w="0">
            <a:noFill/>
          </a:ln>
        </p:spPr>
        <p:txBody>
          <a:bodyPr wrap="square" lIns="0" tIns="0" rIns="0" bIns="0" anchor="t">
            <a:noAutofit/>
          </a:bodyPr>
          <a:lstStyle>
            <a:defPPr algn="ctr">
              <a:defRPr sz="2025" b="1">
                <a:solidFill>
                  <a:srgbClr val="822433"/>
                </a:solidFill>
                <a:latin typeface="Roboto"/>
                <a:ea typeface="Roboto"/>
                <a:cs typeface="Roboto"/>
              </a:defRPr>
            </a:defPPr>
            <a:lvl1pPr algn="ctr">
              <a:defRPr sz="2025" b="1">
                <a:solidFill>
                  <a:srgbClr val="822433"/>
                </a:solidFill>
                <a:latin typeface="Roboto"/>
                <a:ea typeface="Roboto"/>
                <a:cs typeface="Roboto"/>
              </a:defRPr>
            </a:lvl1pPr>
            <a:lvl2pPr algn="ctr">
              <a:defRPr sz="2025" b="1">
                <a:solidFill>
                  <a:srgbClr val="822433"/>
                </a:solidFill>
                <a:latin typeface="Roboto"/>
                <a:ea typeface="Roboto"/>
                <a:cs typeface="Roboto"/>
              </a:defRPr>
            </a:lvl2pPr>
            <a:lvl3pPr algn="ctr">
              <a:defRPr sz="2025" b="1">
                <a:solidFill>
                  <a:srgbClr val="822433"/>
                </a:solidFill>
                <a:latin typeface="Roboto"/>
                <a:ea typeface="Roboto"/>
                <a:cs typeface="Roboto"/>
              </a:defRPr>
            </a:lvl3pPr>
            <a:lvl4pPr algn="ctr">
              <a:defRPr sz="2025" b="1">
                <a:solidFill>
                  <a:srgbClr val="822433"/>
                </a:solidFill>
                <a:latin typeface="Roboto"/>
                <a:ea typeface="Roboto"/>
                <a:cs typeface="Roboto"/>
              </a:defRPr>
            </a:lvl4pPr>
            <a:lvl5pPr algn="ctr">
              <a:defRPr sz="2025" b="1">
                <a:solidFill>
                  <a:srgbClr val="822433"/>
                </a:solidFill>
                <a:latin typeface="Roboto"/>
                <a:ea typeface="Roboto"/>
                <a:cs typeface="Roboto"/>
              </a:defRPr>
            </a:lvl5pPr>
            <a:lvl6pPr algn="ctr">
              <a:defRPr sz="2025" b="1">
                <a:solidFill>
                  <a:srgbClr val="822433"/>
                </a:solidFill>
                <a:latin typeface="Roboto"/>
                <a:ea typeface="Roboto"/>
                <a:cs typeface="Roboto"/>
              </a:defRPr>
            </a:lvl6pPr>
            <a:lvl7pPr algn="ctr">
              <a:defRPr sz="2025" b="1">
                <a:solidFill>
                  <a:srgbClr val="822433"/>
                </a:solidFill>
                <a:latin typeface="Roboto"/>
                <a:ea typeface="Roboto"/>
                <a:cs typeface="Roboto"/>
              </a:defRPr>
            </a:lvl7pPr>
            <a:lvl8pPr algn="ctr">
              <a:defRPr sz="2025" b="1">
                <a:solidFill>
                  <a:srgbClr val="822433"/>
                </a:solidFill>
                <a:latin typeface="Roboto"/>
                <a:ea typeface="Roboto"/>
                <a:cs typeface="Roboto"/>
              </a:defRPr>
            </a:lvl8pPr>
            <a:lvl9pPr algn="ctr">
              <a:defRPr sz="2025" b="1">
                <a:solidFill>
                  <a:srgbClr val="822433"/>
                </a:solidFill>
                <a:latin typeface="Roboto"/>
                <a:ea typeface="Roboto"/>
                <a:cs typeface="Roboto"/>
              </a:defRPr>
            </a:lvl9pPr>
          </a:lstStyle>
          <a:p>
            <a:pPr algn="ctr">
              <a:defRPr sz="2025" b="1">
                <a:solidFill>
                  <a:srgbClr val="822433"/>
                </a:solidFill>
                <a:latin typeface="Roboto"/>
                <a:ea typeface="Roboto"/>
                <a:cs typeface="Roboto"/>
              </a:defRPr>
            </a:pPr>
            <a:r>
              <a:rPr sz="2025" b="1">
                <a:solidFill>
                  <a:srgbClr val="822433"/>
                </a:solidFill>
                <a:latin typeface="Roboto"/>
                <a:ea typeface="Roboto"/>
                <a:cs typeface="Roboto"/>
              </a:rPr>
              <a:t>Immagine</a:t>
            </a:r>
          </a:p>
        </p:txBody>
      </p:sp>
      <p:pic>
        <p:nvPicPr>
          <p:cNvPr id="7" name="Immagine 6">
            <a:extLst>
              <a:ext uri="{FF2B5EF4-FFF2-40B4-BE49-F238E27FC236}">
                <a16:creationId xmlns:a16="http://schemas.microsoft.com/office/drawing/2014/main" id="{0FFBC5D0-4D9B-4585-AB88-4FDD799B1C1F}"/>
              </a:ext>
            </a:extLst>
          </p:cNvPr>
          <p:cNvPicPr>
            <a:picLocks noChangeAspect="1"/>
          </p:cNvPicPr>
          <p:nvPr/>
        </p:nvPicPr>
        <p:blipFill>
          <a:blip r:embed="rId3"/>
          <a:stretch/>
        </p:blipFill>
        <p:spPr>
          <a:xfrm>
            <a:off x="904875" y="2200275"/>
            <a:ext cx="2381250" cy="2381250"/>
          </a:xfrm>
          <a:prstGeom prst="rect">
            <a:avLst/>
          </a:prstGeom>
        </p:spPr>
      </p:pic>
      <p:sp>
        <p:nvSpPr>
          <p:cNvPr id="8" name="label-damage-ground-truth.png">
            <a:extLst>
              <a:ext uri="{FF2B5EF4-FFF2-40B4-BE49-F238E27FC236}">
                <a16:creationId xmlns:a16="http://schemas.microsoft.com/office/drawing/2014/main" id="{AE28B34D-0F9C-45E1-87CB-88AC037A9AAF}"/>
              </a:ext>
            </a:extLst>
          </p:cNvPr>
          <p:cNvSpPr>
            <a:spLocks noGrp="1"/>
          </p:cNvSpPr>
          <p:nvPr/>
        </p:nvSpPr>
        <p:spPr>
          <a:xfrm>
            <a:off x="3495675" y="1638300"/>
            <a:ext cx="2381250" cy="381000"/>
          </a:xfrm>
          <a:prstGeom prst="rect">
            <a:avLst/>
          </a:prstGeom>
          <a:noFill/>
          <a:ln w="0">
            <a:noFill/>
          </a:ln>
        </p:spPr>
        <p:txBody>
          <a:bodyPr wrap="square" lIns="0" tIns="0" rIns="0" bIns="0" anchor="t">
            <a:noAutofit/>
          </a:bodyPr>
          <a:lstStyle>
            <a:defPPr algn="ctr">
              <a:defRPr sz="2025" b="1">
                <a:solidFill>
                  <a:srgbClr val="822433"/>
                </a:solidFill>
                <a:latin typeface="Roboto"/>
                <a:ea typeface="Roboto"/>
                <a:cs typeface="Roboto"/>
              </a:defRPr>
            </a:defPPr>
            <a:lvl1pPr algn="ctr">
              <a:defRPr sz="2025" b="1">
                <a:solidFill>
                  <a:srgbClr val="822433"/>
                </a:solidFill>
                <a:latin typeface="Roboto"/>
                <a:ea typeface="Roboto"/>
                <a:cs typeface="Roboto"/>
              </a:defRPr>
            </a:lvl1pPr>
            <a:lvl2pPr algn="ctr">
              <a:defRPr sz="2025" b="1">
                <a:solidFill>
                  <a:srgbClr val="822433"/>
                </a:solidFill>
                <a:latin typeface="Roboto"/>
                <a:ea typeface="Roboto"/>
                <a:cs typeface="Roboto"/>
              </a:defRPr>
            </a:lvl2pPr>
            <a:lvl3pPr algn="ctr">
              <a:defRPr sz="2025" b="1">
                <a:solidFill>
                  <a:srgbClr val="822433"/>
                </a:solidFill>
                <a:latin typeface="Roboto"/>
                <a:ea typeface="Roboto"/>
                <a:cs typeface="Roboto"/>
              </a:defRPr>
            </a:lvl3pPr>
            <a:lvl4pPr algn="ctr">
              <a:defRPr sz="2025" b="1">
                <a:solidFill>
                  <a:srgbClr val="822433"/>
                </a:solidFill>
                <a:latin typeface="Roboto"/>
                <a:ea typeface="Roboto"/>
                <a:cs typeface="Roboto"/>
              </a:defRPr>
            </a:lvl4pPr>
            <a:lvl5pPr algn="ctr">
              <a:defRPr sz="2025" b="1">
                <a:solidFill>
                  <a:srgbClr val="822433"/>
                </a:solidFill>
                <a:latin typeface="Roboto"/>
                <a:ea typeface="Roboto"/>
                <a:cs typeface="Roboto"/>
              </a:defRPr>
            </a:lvl5pPr>
            <a:lvl6pPr algn="ctr">
              <a:defRPr sz="2025" b="1">
                <a:solidFill>
                  <a:srgbClr val="822433"/>
                </a:solidFill>
                <a:latin typeface="Roboto"/>
                <a:ea typeface="Roboto"/>
                <a:cs typeface="Roboto"/>
              </a:defRPr>
            </a:lvl6pPr>
            <a:lvl7pPr algn="ctr">
              <a:defRPr sz="2025" b="1">
                <a:solidFill>
                  <a:srgbClr val="822433"/>
                </a:solidFill>
                <a:latin typeface="Roboto"/>
                <a:ea typeface="Roboto"/>
                <a:cs typeface="Roboto"/>
              </a:defRPr>
            </a:lvl7pPr>
            <a:lvl8pPr algn="ctr">
              <a:defRPr sz="2025" b="1">
                <a:solidFill>
                  <a:srgbClr val="822433"/>
                </a:solidFill>
                <a:latin typeface="Roboto"/>
                <a:ea typeface="Roboto"/>
                <a:cs typeface="Roboto"/>
              </a:defRPr>
            </a:lvl8pPr>
            <a:lvl9pPr algn="ctr">
              <a:defRPr sz="2025" b="1">
                <a:solidFill>
                  <a:srgbClr val="822433"/>
                </a:solidFill>
                <a:latin typeface="Roboto"/>
                <a:ea typeface="Roboto"/>
                <a:cs typeface="Roboto"/>
              </a:defRPr>
            </a:lvl9pPr>
          </a:lstStyle>
          <a:p>
            <a:pPr algn="ctr">
              <a:defRPr sz="2025" b="1">
                <a:solidFill>
                  <a:srgbClr val="822433"/>
                </a:solidFill>
                <a:latin typeface="Roboto"/>
                <a:ea typeface="Roboto"/>
                <a:cs typeface="Roboto"/>
              </a:defRPr>
            </a:pPr>
            <a:r>
              <a:rPr sz="2025" b="1">
                <a:solidFill>
                  <a:srgbClr val="822433"/>
                </a:solidFill>
                <a:latin typeface="Roboto"/>
                <a:ea typeface="Roboto"/>
                <a:cs typeface="Roboto"/>
              </a:rPr>
              <a:t>Annotazione</a:t>
            </a:r>
          </a:p>
        </p:txBody>
      </p:sp>
      <p:pic>
        <p:nvPicPr>
          <p:cNvPr id="9" name="Immagine 8">
            <a:extLst>
              <a:ext uri="{FF2B5EF4-FFF2-40B4-BE49-F238E27FC236}">
                <a16:creationId xmlns:a16="http://schemas.microsoft.com/office/drawing/2014/main" id="{50D0D0C6-415E-4DF2-9FA3-C45D575EE5F9}"/>
              </a:ext>
            </a:extLst>
          </p:cNvPr>
          <p:cNvPicPr>
            <a:picLocks noChangeAspect="1"/>
          </p:cNvPicPr>
          <p:nvPr/>
        </p:nvPicPr>
        <p:blipFill>
          <a:blip r:embed="rId4"/>
          <a:stretch/>
        </p:blipFill>
        <p:spPr>
          <a:xfrm>
            <a:off x="3495675" y="2200275"/>
            <a:ext cx="2381250" cy="2381250"/>
          </a:xfrm>
          <a:prstGeom prst="rect">
            <a:avLst/>
          </a:prstGeom>
        </p:spPr>
      </p:pic>
      <p:sp>
        <p:nvSpPr>
          <p:cNvPr id="10" name="label-damage-ssn.png">
            <a:extLst>
              <a:ext uri="{FF2B5EF4-FFF2-40B4-BE49-F238E27FC236}">
                <a16:creationId xmlns:a16="http://schemas.microsoft.com/office/drawing/2014/main" id="{43785F8E-B4FF-4B7E-AB32-626086D0445F}"/>
              </a:ext>
            </a:extLst>
          </p:cNvPr>
          <p:cNvSpPr>
            <a:spLocks noGrp="1"/>
          </p:cNvSpPr>
          <p:nvPr/>
        </p:nvSpPr>
        <p:spPr>
          <a:xfrm>
            <a:off x="6086475" y="1638300"/>
            <a:ext cx="2381250" cy="381000"/>
          </a:xfrm>
          <a:prstGeom prst="rect">
            <a:avLst/>
          </a:prstGeom>
          <a:noFill/>
          <a:ln w="0">
            <a:noFill/>
          </a:ln>
        </p:spPr>
        <p:txBody>
          <a:bodyPr wrap="square" lIns="0" tIns="0" rIns="0" bIns="0" anchor="t">
            <a:noAutofit/>
          </a:bodyPr>
          <a:lstStyle>
            <a:defPPr algn="ctr">
              <a:defRPr sz="2025" b="1">
                <a:solidFill>
                  <a:srgbClr val="822433"/>
                </a:solidFill>
                <a:latin typeface="Roboto"/>
                <a:ea typeface="Roboto"/>
                <a:cs typeface="Roboto"/>
              </a:defRPr>
            </a:defPPr>
            <a:lvl1pPr algn="ctr">
              <a:defRPr sz="2025" b="1">
                <a:solidFill>
                  <a:srgbClr val="822433"/>
                </a:solidFill>
                <a:latin typeface="Roboto"/>
                <a:ea typeface="Roboto"/>
                <a:cs typeface="Roboto"/>
              </a:defRPr>
            </a:lvl1pPr>
            <a:lvl2pPr algn="ctr">
              <a:defRPr sz="2025" b="1">
                <a:solidFill>
                  <a:srgbClr val="822433"/>
                </a:solidFill>
                <a:latin typeface="Roboto"/>
                <a:ea typeface="Roboto"/>
                <a:cs typeface="Roboto"/>
              </a:defRPr>
            </a:lvl2pPr>
            <a:lvl3pPr algn="ctr">
              <a:defRPr sz="2025" b="1">
                <a:solidFill>
                  <a:srgbClr val="822433"/>
                </a:solidFill>
                <a:latin typeface="Roboto"/>
                <a:ea typeface="Roboto"/>
                <a:cs typeface="Roboto"/>
              </a:defRPr>
            </a:lvl3pPr>
            <a:lvl4pPr algn="ctr">
              <a:defRPr sz="2025" b="1">
                <a:solidFill>
                  <a:srgbClr val="822433"/>
                </a:solidFill>
                <a:latin typeface="Roboto"/>
                <a:ea typeface="Roboto"/>
                <a:cs typeface="Roboto"/>
              </a:defRPr>
            </a:lvl4pPr>
            <a:lvl5pPr algn="ctr">
              <a:defRPr sz="2025" b="1">
                <a:solidFill>
                  <a:srgbClr val="822433"/>
                </a:solidFill>
                <a:latin typeface="Roboto"/>
                <a:ea typeface="Roboto"/>
                <a:cs typeface="Roboto"/>
              </a:defRPr>
            </a:lvl5pPr>
            <a:lvl6pPr algn="ctr">
              <a:defRPr sz="2025" b="1">
                <a:solidFill>
                  <a:srgbClr val="822433"/>
                </a:solidFill>
                <a:latin typeface="Roboto"/>
                <a:ea typeface="Roboto"/>
                <a:cs typeface="Roboto"/>
              </a:defRPr>
            </a:lvl6pPr>
            <a:lvl7pPr algn="ctr">
              <a:defRPr sz="2025" b="1">
                <a:solidFill>
                  <a:srgbClr val="822433"/>
                </a:solidFill>
                <a:latin typeface="Roboto"/>
                <a:ea typeface="Roboto"/>
                <a:cs typeface="Roboto"/>
              </a:defRPr>
            </a:lvl7pPr>
            <a:lvl8pPr algn="ctr">
              <a:defRPr sz="2025" b="1">
                <a:solidFill>
                  <a:srgbClr val="822433"/>
                </a:solidFill>
                <a:latin typeface="Roboto"/>
                <a:ea typeface="Roboto"/>
                <a:cs typeface="Roboto"/>
              </a:defRPr>
            </a:lvl8pPr>
            <a:lvl9pPr algn="ctr">
              <a:defRPr sz="2025" b="1">
                <a:solidFill>
                  <a:srgbClr val="822433"/>
                </a:solidFill>
                <a:latin typeface="Roboto"/>
                <a:ea typeface="Roboto"/>
                <a:cs typeface="Roboto"/>
              </a:defRPr>
            </a:lvl9pPr>
          </a:lstStyle>
          <a:p>
            <a:pPr algn="ctr">
              <a:defRPr sz="2025" b="1">
                <a:solidFill>
                  <a:srgbClr val="822433"/>
                </a:solidFill>
                <a:latin typeface="Roboto"/>
                <a:ea typeface="Roboto"/>
                <a:cs typeface="Roboto"/>
              </a:defRPr>
            </a:pPr>
            <a:r>
              <a:rPr sz="2025" b="1">
                <a:solidFill>
                  <a:srgbClr val="822433"/>
                </a:solidFill>
                <a:latin typeface="Roboto"/>
                <a:ea typeface="Roboto"/>
                <a:cs typeface="Roboto"/>
              </a:rPr>
              <a:t>SuperSimpleNet</a:t>
            </a:r>
          </a:p>
        </p:txBody>
      </p:sp>
      <p:pic>
        <p:nvPicPr>
          <p:cNvPr id="11" name="Immagine 10">
            <a:extLst>
              <a:ext uri="{FF2B5EF4-FFF2-40B4-BE49-F238E27FC236}">
                <a16:creationId xmlns:a16="http://schemas.microsoft.com/office/drawing/2014/main" id="{1F9D8F85-6B9E-4DC4-B40B-75E17DBEED50}"/>
              </a:ext>
            </a:extLst>
          </p:cNvPr>
          <p:cNvPicPr>
            <a:picLocks noChangeAspect="1"/>
          </p:cNvPicPr>
          <p:nvPr/>
        </p:nvPicPr>
        <p:blipFill>
          <a:blip r:embed="rId5"/>
          <a:stretch/>
        </p:blipFill>
        <p:spPr>
          <a:xfrm>
            <a:off x="6086475" y="2200275"/>
            <a:ext cx="2381250" cy="2381250"/>
          </a:xfrm>
          <a:prstGeom prst="rect">
            <a:avLst/>
          </a:prstGeom>
        </p:spPr>
      </p:pic>
      <p:sp>
        <p:nvSpPr>
          <p:cNvPr id="12" name="label-damage-tg512.png">
            <a:extLst>
              <a:ext uri="{FF2B5EF4-FFF2-40B4-BE49-F238E27FC236}">
                <a16:creationId xmlns:a16="http://schemas.microsoft.com/office/drawing/2014/main" id="{F20D9F09-0CDE-4F4E-9EEE-161E1CB7E6F7}"/>
              </a:ext>
            </a:extLst>
          </p:cNvPr>
          <p:cNvSpPr>
            <a:spLocks noGrp="1"/>
          </p:cNvSpPr>
          <p:nvPr/>
        </p:nvSpPr>
        <p:spPr>
          <a:xfrm>
            <a:off x="8677275" y="1638300"/>
            <a:ext cx="2381250" cy="381000"/>
          </a:xfrm>
          <a:prstGeom prst="rect">
            <a:avLst/>
          </a:prstGeom>
          <a:noFill/>
          <a:ln w="0">
            <a:noFill/>
          </a:ln>
        </p:spPr>
        <p:txBody>
          <a:bodyPr wrap="square" lIns="0" tIns="0" rIns="0" bIns="0" anchor="t">
            <a:noAutofit/>
          </a:bodyPr>
          <a:lstStyle>
            <a:defPPr algn="ctr">
              <a:defRPr sz="2025" b="1">
                <a:solidFill>
                  <a:srgbClr val="822433"/>
                </a:solidFill>
                <a:latin typeface="Roboto"/>
                <a:ea typeface="Roboto"/>
                <a:cs typeface="Roboto"/>
              </a:defRPr>
            </a:defPPr>
            <a:lvl1pPr algn="ctr">
              <a:defRPr sz="2025" b="1">
                <a:solidFill>
                  <a:srgbClr val="822433"/>
                </a:solidFill>
                <a:latin typeface="Roboto"/>
                <a:ea typeface="Roboto"/>
                <a:cs typeface="Roboto"/>
              </a:defRPr>
            </a:lvl1pPr>
            <a:lvl2pPr algn="ctr">
              <a:defRPr sz="2025" b="1">
                <a:solidFill>
                  <a:srgbClr val="822433"/>
                </a:solidFill>
                <a:latin typeface="Roboto"/>
                <a:ea typeface="Roboto"/>
                <a:cs typeface="Roboto"/>
              </a:defRPr>
            </a:lvl2pPr>
            <a:lvl3pPr algn="ctr">
              <a:defRPr sz="2025" b="1">
                <a:solidFill>
                  <a:srgbClr val="822433"/>
                </a:solidFill>
                <a:latin typeface="Roboto"/>
                <a:ea typeface="Roboto"/>
                <a:cs typeface="Roboto"/>
              </a:defRPr>
            </a:lvl3pPr>
            <a:lvl4pPr algn="ctr">
              <a:defRPr sz="2025" b="1">
                <a:solidFill>
                  <a:srgbClr val="822433"/>
                </a:solidFill>
                <a:latin typeface="Roboto"/>
                <a:ea typeface="Roboto"/>
                <a:cs typeface="Roboto"/>
              </a:defRPr>
            </a:lvl4pPr>
            <a:lvl5pPr algn="ctr">
              <a:defRPr sz="2025" b="1">
                <a:solidFill>
                  <a:srgbClr val="822433"/>
                </a:solidFill>
                <a:latin typeface="Roboto"/>
                <a:ea typeface="Roboto"/>
                <a:cs typeface="Roboto"/>
              </a:defRPr>
            </a:lvl5pPr>
            <a:lvl6pPr algn="ctr">
              <a:defRPr sz="2025" b="1">
                <a:solidFill>
                  <a:srgbClr val="822433"/>
                </a:solidFill>
                <a:latin typeface="Roboto"/>
                <a:ea typeface="Roboto"/>
                <a:cs typeface="Roboto"/>
              </a:defRPr>
            </a:lvl6pPr>
            <a:lvl7pPr algn="ctr">
              <a:defRPr sz="2025" b="1">
                <a:solidFill>
                  <a:srgbClr val="822433"/>
                </a:solidFill>
                <a:latin typeface="Roboto"/>
                <a:ea typeface="Roboto"/>
                <a:cs typeface="Roboto"/>
              </a:defRPr>
            </a:lvl7pPr>
            <a:lvl8pPr algn="ctr">
              <a:defRPr sz="2025" b="1">
                <a:solidFill>
                  <a:srgbClr val="822433"/>
                </a:solidFill>
                <a:latin typeface="Roboto"/>
                <a:ea typeface="Roboto"/>
                <a:cs typeface="Roboto"/>
              </a:defRPr>
            </a:lvl8pPr>
            <a:lvl9pPr algn="ctr">
              <a:defRPr sz="2025" b="1">
                <a:solidFill>
                  <a:srgbClr val="822433"/>
                </a:solidFill>
                <a:latin typeface="Roboto"/>
                <a:ea typeface="Roboto"/>
                <a:cs typeface="Roboto"/>
              </a:defRPr>
            </a:lvl9pPr>
          </a:lstStyle>
          <a:p>
            <a:pPr algn="ctr">
              <a:defRPr sz="2025" b="1">
                <a:solidFill>
                  <a:srgbClr val="822433"/>
                </a:solidFill>
                <a:latin typeface="Roboto"/>
                <a:ea typeface="Roboto"/>
                <a:cs typeface="Roboto"/>
              </a:defRPr>
            </a:pPr>
            <a:r>
              <a:rPr sz="2025" b="1">
                <a:solidFill>
                  <a:srgbClr val="822433"/>
                </a:solidFill>
                <a:latin typeface="Roboto"/>
                <a:ea typeface="Roboto"/>
                <a:cs typeface="Roboto"/>
              </a:rPr>
              <a:t>TinyGLASS-512</a:t>
            </a:r>
          </a:p>
        </p:txBody>
      </p:sp>
      <p:pic>
        <p:nvPicPr>
          <p:cNvPr id="13" name="Immagine 12">
            <a:extLst>
              <a:ext uri="{FF2B5EF4-FFF2-40B4-BE49-F238E27FC236}">
                <a16:creationId xmlns:a16="http://schemas.microsoft.com/office/drawing/2014/main" id="{4265DF8D-62B7-49F6-8EAE-D817E36C2BB4}"/>
              </a:ext>
            </a:extLst>
          </p:cNvPr>
          <p:cNvPicPr>
            <a:picLocks noChangeAspect="1"/>
          </p:cNvPicPr>
          <p:nvPr/>
        </p:nvPicPr>
        <p:blipFill>
          <a:blip r:embed="rId6"/>
          <a:stretch/>
        </p:blipFill>
        <p:spPr>
          <a:xfrm>
            <a:off x="8677275" y="2200275"/>
            <a:ext cx="2381250" cy="2381250"/>
          </a:xfrm>
          <a:prstGeom prst="rect">
            <a:avLst/>
          </a:prstGeom>
        </p:spPr>
      </p:pic>
      <p:sp>
        <p:nvSpPr>
          <p:cNvPr id="14" name="ssn-pixel-ap">
            <a:extLst>
              <a:ext uri="{FF2B5EF4-FFF2-40B4-BE49-F238E27FC236}">
                <a16:creationId xmlns:a16="http://schemas.microsoft.com/office/drawing/2014/main" id="{2CEBBC90-8A4B-4213-A551-3B39088F4658}"/>
              </a:ext>
            </a:extLst>
          </p:cNvPr>
          <p:cNvSpPr>
            <a:spLocks noGrp="1"/>
          </p:cNvSpPr>
          <p:nvPr/>
        </p:nvSpPr>
        <p:spPr>
          <a:xfrm>
            <a:off x="6086475" y="4857750"/>
            <a:ext cx="2381250" cy="390525"/>
          </a:xfrm>
          <a:prstGeom prst="rect">
            <a:avLst/>
          </a:prstGeom>
          <a:noFill/>
          <a:ln w="0">
            <a:noFill/>
          </a:ln>
        </p:spPr>
        <p:txBody>
          <a:bodyPr wrap="square" lIns="0" tIns="0" rIns="0" bIns="0" anchor="t">
            <a:noAutofit/>
          </a:bodyPr>
          <a:lstStyle>
            <a:defPPr algn="ctr">
              <a:defRPr sz="1725" b="0">
                <a:solidFill>
                  <a:srgbClr val="202124"/>
                </a:solidFill>
                <a:latin typeface="Roboto"/>
                <a:ea typeface="Roboto"/>
                <a:cs typeface="Roboto"/>
              </a:defRPr>
            </a:defPPr>
            <a:lvl1pPr algn="ctr">
              <a:defRPr sz="1725" b="0">
                <a:solidFill>
                  <a:srgbClr val="202124"/>
                </a:solidFill>
                <a:latin typeface="Roboto"/>
                <a:ea typeface="Roboto"/>
                <a:cs typeface="Roboto"/>
              </a:defRPr>
            </a:lvl1pPr>
            <a:lvl2pPr algn="ctr">
              <a:defRPr sz="1725" b="0">
                <a:solidFill>
                  <a:srgbClr val="202124"/>
                </a:solidFill>
                <a:latin typeface="Roboto"/>
                <a:ea typeface="Roboto"/>
                <a:cs typeface="Roboto"/>
              </a:defRPr>
            </a:lvl2pPr>
            <a:lvl3pPr algn="ctr">
              <a:defRPr sz="1725" b="0">
                <a:solidFill>
                  <a:srgbClr val="202124"/>
                </a:solidFill>
                <a:latin typeface="Roboto"/>
                <a:ea typeface="Roboto"/>
                <a:cs typeface="Roboto"/>
              </a:defRPr>
            </a:lvl3pPr>
            <a:lvl4pPr algn="ctr">
              <a:defRPr sz="1725" b="0">
                <a:solidFill>
                  <a:srgbClr val="202124"/>
                </a:solidFill>
                <a:latin typeface="Roboto"/>
                <a:ea typeface="Roboto"/>
                <a:cs typeface="Roboto"/>
              </a:defRPr>
            </a:lvl4pPr>
            <a:lvl5pPr algn="ctr">
              <a:defRPr sz="1725" b="0">
                <a:solidFill>
                  <a:srgbClr val="202124"/>
                </a:solidFill>
                <a:latin typeface="Roboto"/>
                <a:ea typeface="Roboto"/>
                <a:cs typeface="Roboto"/>
              </a:defRPr>
            </a:lvl5pPr>
            <a:lvl6pPr algn="ctr">
              <a:defRPr sz="1725" b="0">
                <a:solidFill>
                  <a:srgbClr val="202124"/>
                </a:solidFill>
                <a:latin typeface="Roboto"/>
                <a:ea typeface="Roboto"/>
                <a:cs typeface="Roboto"/>
              </a:defRPr>
            </a:lvl6pPr>
            <a:lvl7pPr algn="ctr">
              <a:defRPr sz="1725" b="0">
                <a:solidFill>
                  <a:srgbClr val="202124"/>
                </a:solidFill>
                <a:latin typeface="Roboto"/>
                <a:ea typeface="Roboto"/>
                <a:cs typeface="Roboto"/>
              </a:defRPr>
            </a:lvl7pPr>
            <a:lvl8pPr algn="ctr">
              <a:defRPr sz="1725" b="0">
                <a:solidFill>
                  <a:srgbClr val="202124"/>
                </a:solidFill>
                <a:latin typeface="Roboto"/>
                <a:ea typeface="Roboto"/>
                <a:cs typeface="Roboto"/>
              </a:defRPr>
            </a:lvl8pPr>
            <a:lvl9pPr algn="ctr">
              <a:defRPr sz="1725" b="0">
                <a:solidFill>
                  <a:srgbClr val="202124"/>
                </a:solidFill>
                <a:latin typeface="Roboto"/>
                <a:ea typeface="Roboto"/>
                <a:cs typeface="Roboto"/>
              </a:defRPr>
            </a:lvl9pPr>
          </a:lstStyle>
          <a:p>
            <a:pPr algn="ctr">
              <a:defRPr sz="1725" b="0">
                <a:solidFill>
                  <a:srgbClr val="202124"/>
                </a:solidFill>
                <a:latin typeface="Roboto"/>
                <a:ea typeface="Roboto"/>
                <a:cs typeface="Roboto"/>
              </a:defRPr>
            </a:pPr>
            <a:r>
              <a:rPr sz="1725" b="0">
                <a:solidFill>
                  <a:srgbClr val="202124"/>
                </a:solidFill>
                <a:latin typeface="Roboto"/>
                <a:ea typeface="Roboto"/>
                <a:cs typeface="Roboto"/>
              </a:rPr>
              <a:t>Pixel AP test: 19,10%</a:t>
            </a:r>
          </a:p>
        </p:txBody>
      </p:sp>
      <p:sp>
        <p:nvSpPr>
          <p:cNvPr id="15" name="tg512-pixel-ap">
            <a:extLst>
              <a:ext uri="{FF2B5EF4-FFF2-40B4-BE49-F238E27FC236}">
                <a16:creationId xmlns:a16="http://schemas.microsoft.com/office/drawing/2014/main" id="{08E4153B-FE7A-4676-B710-5A51A8F62F96}"/>
              </a:ext>
            </a:extLst>
          </p:cNvPr>
          <p:cNvSpPr>
            <a:spLocks noGrp="1"/>
          </p:cNvSpPr>
          <p:nvPr/>
        </p:nvSpPr>
        <p:spPr>
          <a:xfrm>
            <a:off x="8677275" y="4857750"/>
            <a:ext cx="2381250" cy="390525"/>
          </a:xfrm>
          <a:prstGeom prst="rect">
            <a:avLst/>
          </a:prstGeom>
          <a:noFill/>
          <a:ln w="0">
            <a:noFill/>
          </a:ln>
        </p:spPr>
        <p:txBody>
          <a:bodyPr wrap="square" lIns="0" tIns="0" rIns="0" bIns="0" anchor="t">
            <a:noAutofit/>
          </a:bodyPr>
          <a:lstStyle>
            <a:defPPr algn="ctr">
              <a:defRPr sz="1725" b="0">
                <a:solidFill>
                  <a:srgbClr val="202124"/>
                </a:solidFill>
                <a:latin typeface="Roboto"/>
                <a:ea typeface="Roboto"/>
                <a:cs typeface="Roboto"/>
              </a:defRPr>
            </a:defPPr>
            <a:lvl1pPr algn="ctr">
              <a:defRPr sz="1725" b="0">
                <a:solidFill>
                  <a:srgbClr val="202124"/>
                </a:solidFill>
                <a:latin typeface="Roboto"/>
                <a:ea typeface="Roboto"/>
                <a:cs typeface="Roboto"/>
              </a:defRPr>
            </a:lvl1pPr>
            <a:lvl2pPr algn="ctr">
              <a:defRPr sz="1725" b="0">
                <a:solidFill>
                  <a:srgbClr val="202124"/>
                </a:solidFill>
                <a:latin typeface="Roboto"/>
                <a:ea typeface="Roboto"/>
                <a:cs typeface="Roboto"/>
              </a:defRPr>
            </a:lvl2pPr>
            <a:lvl3pPr algn="ctr">
              <a:defRPr sz="1725" b="0">
                <a:solidFill>
                  <a:srgbClr val="202124"/>
                </a:solidFill>
                <a:latin typeface="Roboto"/>
                <a:ea typeface="Roboto"/>
                <a:cs typeface="Roboto"/>
              </a:defRPr>
            </a:lvl3pPr>
            <a:lvl4pPr algn="ctr">
              <a:defRPr sz="1725" b="0">
                <a:solidFill>
                  <a:srgbClr val="202124"/>
                </a:solidFill>
                <a:latin typeface="Roboto"/>
                <a:ea typeface="Roboto"/>
                <a:cs typeface="Roboto"/>
              </a:defRPr>
            </a:lvl4pPr>
            <a:lvl5pPr algn="ctr">
              <a:defRPr sz="1725" b="0">
                <a:solidFill>
                  <a:srgbClr val="202124"/>
                </a:solidFill>
                <a:latin typeface="Roboto"/>
                <a:ea typeface="Roboto"/>
                <a:cs typeface="Roboto"/>
              </a:defRPr>
            </a:lvl5pPr>
            <a:lvl6pPr algn="ctr">
              <a:defRPr sz="1725" b="0">
                <a:solidFill>
                  <a:srgbClr val="202124"/>
                </a:solidFill>
                <a:latin typeface="Roboto"/>
                <a:ea typeface="Roboto"/>
                <a:cs typeface="Roboto"/>
              </a:defRPr>
            </a:lvl6pPr>
            <a:lvl7pPr algn="ctr">
              <a:defRPr sz="1725" b="0">
                <a:solidFill>
                  <a:srgbClr val="202124"/>
                </a:solidFill>
                <a:latin typeface="Roboto"/>
                <a:ea typeface="Roboto"/>
                <a:cs typeface="Roboto"/>
              </a:defRPr>
            </a:lvl7pPr>
            <a:lvl8pPr algn="ctr">
              <a:defRPr sz="1725" b="0">
                <a:solidFill>
                  <a:srgbClr val="202124"/>
                </a:solidFill>
                <a:latin typeface="Roboto"/>
                <a:ea typeface="Roboto"/>
                <a:cs typeface="Roboto"/>
              </a:defRPr>
            </a:lvl8pPr>
            <a:lvl9pPr algn="ctr">
              <a:defRPr sz="1725" b="0">
                <a:solidFill>
                  <a:srgbClr val="202124"/>
                </a:solidFill>
                <a:latin typeface="Roboto"/>
                <a:ea typeface="Roboto"/>
                <a:cs typeface="Roboto"/>
              </a:defRPr>
            </a:lvl9pPr>
          </a:lstStyle>
          <a:p>
            <a:pPr algn="ctr">
              <a:defRPr sz="1725" b="0">
                <a:solidFill>
                  <a:srgbClr val="202124"/>
                </a:solidFill>
                <a:latin typeface="Roboto"/>
                <a:ea typeface="Roboto"/>
                <a:cs typeface="Roboto"/>
              </a:defRPr>
            </a:pPr>
            <a:r>
              <a:rPr sz="1725" b="0">
                <a:solidFill>
                  <a:srgbClr val="202124"/>
                </a:solidFill>
                <a:latin typeface="Roboto"/>
                <a:ea typeface="Roboto"/>
                <a:cs typeface="Roboto"/>
              </a:rPr>
              <a:t>Pixel AP test: 27,59%</a:t>
            </a:r>
          </a:p>
        </p:txBody>
      </p:sp>
      <p:sp>
        <p:nvSpPr>
          <p:cNvPr id="16" name="detection-localization">
            <a:extLst>
              <a:ext uri="{FF2B5EF4-FFF2-40B4-BE49-F238E27FC236}">
                <a16:creationId xmlns:a16="http://schemas.microsoft.com/office/drawing/2014/main" id="{8198D133-E268-416E-964E-2048729A06F5}"/>
              </a:ext>
            </a:extLst>
          </p:cNvPr>
          <p:cNvSpPr>
            <a:spLocks noGrp="1"/>
          </p:cNvSpPr>
          <p:nvPr/>
        </p:nvSpPr>
        <p:spPr>
          <a:xfrm>
            <a:off x="952500" y="5476875"/>
            <a:ext cx="10096500" cy="542925"/>
          </a:xfrm>
          <a:prstGeom prst="rect">
            <a:avLst/>
          </a:prstGeom>
          <a:noFill/>
          <a:ln w="0">
            <a:noFill/>
          </a:ln>
        </p:spPr>
        <p:txBody>
          <a:bodyPr wrap="square" lIns="0" tIns="0" rIns="0" bIns="0" anchor="t">
            <a:noAutofit/>
          </a:bodyPr>
          <a:lstStyle>
            <a:defPPr algn="l">
              <a:defRPr sz="1875" b="0">
                <a:solidFill>
                  <a:srgbClr val="62666B"/>
                </a:solidFill>
                <a:latin typeface="Roboto"/>
                <a:ea typeface="Roboto"/>
                <a:cs typeface="Roboto"/>
              </a:defRPr>
            </a:defPPr>
            <a:lvl1pPr algn="l">
              <a:defRPr sz="1875" b="0">
                <a:solidFill>
                  <a:srgbClr val="62666B"/>
                </a:solidFill>
                <a:latin typeface="Roboto"/>
                <a:ea typeface="Roboto"/>
                <a:cs typeface="Roboto"/>
              </a:defRPr>
            </a:lvl1pPr>
            <a:lvl2pPr algn="l">
              <a:defRPr sz="1875" b="0">
                <a:solidFill>
                  <a:srgbClr val="62666B"/>
                </a:solidFill>
                <a:latin typeface="Roboto"/>
                <a:ea typeface="Roboto"/>
                <a:cs typeface="Roboto"/>
              </a:defRPr>
            </a:lvl2pPr>
            <a:lvl3pPr algn="l">
              <a:defRPr sz="1875" b="0">
                <a:solidFill>
                  <a:srgbClr val="62666B"/>
                </a:solidFill>
                <a:latin typeface="Roboto"/>
                <a:ea typeface="Roboto"/>
                <a:cs typeface="Roboto"/>
              </a:defRPr>
            </a:lvl3pPr>
            <a:lvl4pPr algn="l">
              <a:defRPr sz="1875" b="0">
                <a:solidFill>
                  <a:srgbClr val="62666B"/>
                </a:solidFill>
                <a:latin typeface="Roboto"/>
                <a:ea typeface="Roboto"/>
                <a:cs typeface="Roboto"/>
              </a:defRPr>
            </a:lvl4pPr>
            <a:lvl5pPr algn="l">
              <a:defRPr sz="1875" b="0">
                <a:solidFill>
                  <a:srgbClr val="62666B"/>
                </a:solidFill>
                <a:latin typeface="Roboto"/>
                <a:ea typeface="Roboto"/>
                <a:cs typeface="Roboto"/>
              </a:defRPr>
            </a:lvl5pPr>
            <a:lvl6pPr algn="l">
              <a:defRPr sz="1875" b="0">
                <a:solidFill>
                  <a:srgbClr val="62666B"/>
                </a:solidFill>
                <a:latin typeface="Roboto"/>
                <a:ea typeface="Roboto"/>
                <a:cs typeface="Roboto"/>
              </a:defRPr>
            </a:lvl6pPr>
            <a:lvl7pPr algn="l">
              <a:defRPr sz="1875" b="0">
                <a:solidFill>
                  <a:srgbClr val="62666B"/>
                </a:solidFill>
                <a:latin typeface="Roboto"/>
                <a:ea typeface="Roboto"/>
                <a:cs typeface="Roboto"/>
              </a:defRPr>
            </a:lvl7pPr>
            <a:lvl8pPr algn="l">
              <a:defRPr sz="1875" b="0">
                <a:solidFill>
                  <a:srgbClr val="62666B"/>
                </a:solidFill>
                <a:latin typeface="Roboto"/>
                <a:ea typeface="Roboto"/>
                <a:cs typeface="Roboto"/>
              </a:defRPr>
            </a:lvl8pPr>
            <a:lvl9pPr algn="l">
              <a:defRPr sz="1875" b="0">
                <a:solidFill>
                  <a:srgbClr val="62666B"/>
                </a:solidFill>
                <a:latin typeface="Roboto"/>
                <a:ea typeface="Roboto"/>
                <a:cs typeface="Roboto"/>
              </a:defRPr>
            </a:lvl9pPr>
          </a:lstStyle>
          <a:p>
            <a:pPr algn="l">
              <a:defRPr sz="1875" b="0">
                <a:solidFill>
                  <a:srgbClr val="62666B"/>
                </a:solidFill>
                <a:latin typeface="Roboto"/>
                <a:ea typeface="Roboto"/>
                <a:cs typeface="Roboto"/>
              </a:defRPr>
            </a:pPr>
            <a:r>
              <a:rPr sz="1875" b="0">
                <a:solidFill>
                  <a:srgbClr val="62666B"/>
                </a:solidFill>
                <a:latin typeface="Roboto"/>
                <a:ea typeface="Roboto"/>
                <a:cs typeface="Roboto"/>
              </a:rPr>
              <a:t>Mappe normalizzate. Pixel AP calcolata sull’intero test.</a:t>
            </a:r>
          </a:p>
        </p:txBody>
      </p:sp>
    </p:spTree>
    <p:extLst>
      <p:ext uri="{BB962C8B-B14F-4D97-AF65-F5344CB8AC3E}">
        <p14:creationId xmlns:p14="http://schemas.microsoft.com/office/powerpoint/2010/main" val="222343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F70F3088-F8C8-4302-9556-1135A04C8E68}"/>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Limiti e sviluppi futuri</a:t>
            </a:r>
          </a:p>
        </p:txBody>
      </p:sp>
      <p:sp>
        <p:nvSpPr>
          <p:cNvPr id="2" name="template-footer">
            <a:extLst>
              <a:ext uri="{FF2B5EF4-FFF2-40B4-BE49-F238E27FC236}">
                <a16:creationId xmlns:a16="http://schemas.microsoft.com/office/drawing/2014/main" id="{7A3D7A7C-E62D-48F4-820D-02656D7CE86F}"/>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67F2916C-BAE5-42CF-8826-143B173468B8}"/>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0FBB4E71-009E-446F-BB79-D87E765DDBAE}"/>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23/28</a:t>
            </a:r>
          </a:p>
        </p:txBody>
      </p:sp>
      <p:sp>
        <p:nvSpPr>
          <p:cNvPr id="5" name="source-citations">
            <a:extLst>
              <a:ext uri="{FF2B5EF4-FFF2-40B4-BE49-F238E27FC236}">
                <a16:creationId xmlns:a16="http://schemas.microsoft.com/office/drawing/2014/main" id="{5674A6E5-EED2-450E-95B5-1411065366BA}"/>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Elaborazione della tesi</a:t>
            </a:r>
          </a:p>
        </p:txBody>
      </p:sp>
      <p:sp>
        <p:nvSpPr>
          <p:cNvPr id="6" name="real-heading">
            <a:extLst>
              <a:ext uri="{FF2B5EF4-FFF2-40B4-BE49-F238E27FC236}">
                <a16:creationId xmlns:a16="http://schemas.microsoft.com/office/drawing/2014/main" id="{29E23D9A-6A19-4C0F-9E2B-362B38A7AD91}"/>
              </a:ext>
            </a:extLst>
          </p:cNvPr>
          <p:cNvSpPr>
            <a:spLocks noGrp="1"/>
          </p:cNvSpPr>
          <p:nvPr/>
        </p:nvSpPr>
        <p:spPr>
          <a:xfrm>
            <a:off x="952500" y="1571625"/>
            <a:ext cx="9810750" cy="581025"/>
          </a:xfrm>
          <a:prstGeom prst="rect">
            <a:avLst/>
          </a:prstGeom>
          <a:noFill/>
          <a:ln w="0">
            <a:noFill/>
          </a:ln>
        </p:spPr>
        <p:txBody>
          <a:bodyPr wrap="square" lIns="0" tIns="0" rIns="0" bIns="0" anchor="t">
            <a:noAutofit/>
          </a:bodyPr>
          <a:lstStyle>
            <a:defPPr algn="l">
              <a:defRPr sz="2775" b="1">
                <a:solidFill>
                  <a:srgbClr val="822433"/>
                </a:solidFill>
                <a:latin typeface="Roboto"/>
                <a:ea typeface="Roboto"/>
                <a:cs typeface="Roboto"/>
              </a:defRPr>
            </a:defPPr>
            <a:lvl1pPr algn="l">
              <a:defRPr sz="2775" b="1">
                <a:solidFill>
                  <a:srgbClr val="822433"/>
                </a:solidFill>
                <a:latin typeface="Roboto"/>
                <a:ea typeface="Roboto"/>
                <a:cs typeface="Roboto"/>
              </a:defRPr>
            </a:lvl1pPr>
            <a:lvl2pPr algn="l">
              <a:defRPr sz="2775" b="1">
                <a:solidFill>
                  <a:srgbClr val="822433"/>
                </a:solidFill>
                <a:latin typeface="Roboto"/>
                <a:ea typeface="Roboto"/>
                <a:cs typeface="Roboto"/>
              </a:defRPr>
            </a:lvl2pPr>
            <a:lvl3pPr algn="l">
              <a:defRPr sz="2775" b="1">
                <a:solidFill>
                  <a:srgbClr val="822433"/>
                </a:solidFill>
                <a:latin typeface="Roboto"/>
                <a:ea typeface="Roboto"/>
                <a:cs typeface="Roboto"/>
              </a:defRPr>
            </a:lvl3pPr>
            <a:lvl4pPr algn="l">
              <a:defRPr sz="2775" b="1">
                <a:solidFill>
                  <a:srgbClr val="822433"/>
                </a:solidFill>
                <a:latin typeface="Roboto"/>
                <a:ea typeface="Roboto"/>
                <a:cs typeface="Roboto"/>
              </a:defRPr>
            </a:lvl4pPr>
            <a:lvl5pPr algn="l">
              <a:defRPr sz="2775" b="1">
                <a:solidFill>
                  <a:srgbClr val="822433"/>
                </a:solidFill>
                <a:latin typeface="Roboto"/>
                <a:ea typeface="Roboto"/>
                <a:cs typeface="Roboto"/>
              </a:defRPr>
            </a:lvl5pPr>
            <a:lvl6pPr algn="l">
              <a:defRPr sz="2775" b="1">
                <a:solidFill>
                  <a:srgbClr val="822433"/>
                </a:solidFill>
                <a:latin typeface="Roboto"/>
                <a:ea typeface="Roboto"/>
                <a:cs typeface="Roboto"/>
              </a:defRPr>
            </a:lvl6pPr>
            <a:lvl7pPr algn="l">
              <a:defRPr sz="2775" b="1">
                <a:solidFill>
                  <a:srgbClr val="822433"/>
                </a:solidFill>
                <a:latin typeface="Roboto"/>
                <a:ea typeface="Roboto"/>
                <a:cs typeface="Roboto"/>
              </a:defRPr>
            </a:lvl7pPr>
            <a:lvl8pPr algn="l">
              <a:defRPr sz="2775" b="1">
                <a:solidFill>
                  <a:srgbClr val="822433"/>
                </a:solidFill>
                <a:latin typeface="Roboto"/>
                <a:ea typeface="Roboto"/>
                <a:cs typeface="Roboto"/>
              </a:defRPr>
            </a:lvl8pPr>
            <a:lvl9pPr algn="l">
              <a:defRPr sz="2775" b="1">
                <a:solidFill>
                  <a:srgbClr val="822433"/>
                </a:solidFill>
                <a:latin typeface="Roboto"/>
                <a:ea typeface="Roboto"/>
                <a:cs typeface="Roboto"/>
              </a:defRPr>
            </a:lvl9pPr>
          </a:lstStyle>
          <a:p>
            <a:pPr algn="l">
              <a:defRPr sz="2775" b="1">
                <a:solidFill>
                  <a:srgbClr val="822433"/>
                </a:solidFill>
                <a:latin typeface="Roboto"/>
                <a:ea typeface="Roboto"/>
                <a:cs typeface="Roboto"/>
              </a:defRPr>
            </a:pPr>
            <a:r>
              <a:rPr sz="2775" b="1">
                <a:solidFill>
                  <a:srgbClr val="822433"/>
                </a:solidFill>
                <a:latin typeface="Roboto"/>
                <a:ea typeface="Roboto"/>
                <a:cs typeface="Roboto"/>
              </a:rPr>
              <a:t>Validazione su immagini reali</a:t>
            </a:r>
          </a:p>
        </p:txBody>
      </p:sp>
      <p:sp>
        <p:nvSpPr>
          <p:cNvPr id="7" name="real-detail">
            <a:extLst>
              <a:ext uri="{FF2B5EF4-FFF2-40B4-BE49-F238E27FC236}">
                <a16:creationId xmlns:a16="http://schemas.microsoft.com/office/drawing/2014/main" id="{09B448E8-7CDB-4655-B2F0-E4F047D4AD45}"/>
              </a:ext>
            </a:extLst>
          </p:cNvPr>
          <p:cNvSpPr>
            <a:spLocks noGrp="1"/>
          </p:cNvSpPr>
          <p:nvPr/>
        </p:nvSpPr>
        <p:spPr>
          <a:xfrm>
            <a:off x="952500" y="2419350"/>
            <a:ext cx="9810750" cy="962025"/>
          </a:xfrm>
          <a:prstGeom prst="rect">
            <a:avLst/>
          </a:prstGeom>
          <a:noFill/>
          <a:ln w="0">
            <a:noFill/>
          </a:ln>
        </p:spPr>
        <p:txBody>
          <a:bodyPr wrap="square" lIns="0" tIns="0" rIns="0" bIns="0" anchor="t">
            <a:noAutofit/>
          </a:bodyPr>
          <a:lstStyle>
            <a:defPPr algn="l">
              <a:defRPr sz="2400" b="0">
                <a:solidFill>
                  <a:srgbClr val="202124"/>
                </a:solidFill>
                <a:latin typeface="Roboto"/>
                <a:ea typeface="Roboto"/>
                <a:cs typeface="Roboto"/>
              </a:defRPr>
            </a:defPPr>
            <a:lvl1pPr algn="l">
              <a:defRPr sz="2400" b="0">
                <a:solidFill>
                  <a:srgbClr val="202124"/>
                </a:solidFill>
                <a:latin typeface="Roboto"/>
                <a:ea typeface="Roboto"/>
                <a:cs typeface="Roboto"/>
              </a:defRPr>
            </a:lvl1pPr>
            <a:lvl2pPr algn="l">
              <a:defRPr sz="2400" b="0">
                <a:solidFill>
                  <a:srgbClr val="202124"/>
                </a:solidFill>
                <a:latin typeface="Roboto"/>
                <a:ea typeface="Roboto"/>
                <a:cs typeface="Roboto"/>
              </a:defRPr>
            </a:lvl2pPr>
            <a:lvl3pPr algn="l">
              <a:defRPr sz="2400" b="0">
                <a:solidFill>
                  <a:srgbClr val="202124"/>
                </a:solidFill>
                <a:latin typeface="Roboto"/>
                <a:ea typeface="Roboto"/>
                <a:cs typeface="Roboto"/>
              </a:defRPr>
            </a:lvl3pPr>
            <a:lvl4pPr algn="l">
              <a:defRPr sz="2400" b="0">
                <a:solidFill>
                  <a:srgbClr val="202124"/>
                </a:solidFill>
                <a:latin typeface="Roboto"/>
                <a:ea typeface="Roboto"/>
                <a:cs typeface="Roboto"/>
              </a:defRPr>
            </a:lvl4pPr>
            <a:lvl5pPr algn="l">
              <a:defRPr sz="2400" b="0">
                <a:solidFill>
                  <a:srgbClr val="202124"/>
                </a:solidFill>
                <a:latin typeface="Roboto"/>
                <a:ea typeface="Roboto"/>
                <a:cs typeface="Roboto"/>
              </a:defRPr>
            </a:lvl5pPr>
            <a:lvl6pPr algn="l">
              <a:defRPr sz="2400" b="0">
                <a:solidFill>
                  <a:srgbClr val="202124"/>
                </a:solidFill>
                <a:latin typeface="Roboto"/>
                <a:ea typeface="Roboto"/>
                <a:cs typeface="Roboto"/>
              </a:defRPr>
            </a:lvl6pPr>
            <a:lvl7pPr algn="l">
              <a:defRPr sz="2400" b="0">
                <a:solidFill>
                  <a:srgbClr val="202124"/>
                </a:solidFill>
                <a:latin typeface="Roboto"/>
                <a:ea typeface="Roboto"/>
                <a:cs typeface="Roboto"/>
              </a:defRPr>
            </a:lvl7pPr>
            <a:lvl8pPr algn="l">
              <a:defRPr sz="2400" b="0">
                <a:solidFill>
                  <a:srgbClr val="202124"/>
                </a:solidFill>
                <a:latin typeface="Roboto"/>
                <a:ea typeface="Roboto"/>
                <a:cs typeface="Roboto"/>
              </a:defRPr>
            </a:lvl8pPr>
            <a:lvl9pPr algn="l">
              <a:defRPr sz="2400" b="0">
                <a:solidFill>
                  <a:srgbClr val="202124"/>
                </a:solidFill>
                <a:latin typeface="Roboto"/>
                <a:ea typeface="Roboto"/>
                <a:cs typeface="Roboto"/>
              </a:defRPr>
            </a:lvl9pPr>
          </a:lstStyle>
          <a:p>
            <a:pPr algn="l">
              <a:defRPr sz="2400" b="0">
                <a:solidFill>
                  <a:srgbClr val="202124"/>
                </a:solidFill>
                <a:latin typeface="Roboto"/>
                <a:ea typeface="Roboto"/>
                <a:cs typeface="Roboto"/>
              </a:defRPr>
            </a:pPr>
            <a:r>
              <a:rPr sz="2400" b="0">
                <a:solidFill>
                  <a:srgbClr val="202124"/>
                </a:solidFill>
                <a:latin typeface="Roboto"/>
                <a:ea typeface="Roboto"/>
                <a:cs typeface="Roboto"/>
              </a:rPr>
              <a:t>Un asset, una classe di danno</a:t>
            </a:r>
          </a:p>
          <a:p>
            <a:pPr algn="l">
              <a:defRPr sz="2400" b="0">
                <a:solidFill>
                  <a:srgbClr val="202124"/>
                </a:solidFill>
                <a:latin typeface="Roboto"/>
                <a:ea typeface="Roboto"/>
                <a:cs typeface="Roboto"/>
              </a:defRPr>
            </a:pPr>
            <a:r>
              <a:rPr sz="2400" b="0">
                <a:solidFill>
                  <a:srgbClr val="202124"/>
                </a:solidFill>
                <a:latin typeface="Roboto"/>
                <a:ea typeface="Roboto"/>
                <a:cs typeface="Roboto"/>
              </a:rPr>
              <a:t>e confronto principale sulla posa A</a:t>
            </a:r>
          </a:p>
        </p:txBody>
      </p:sp>
      <p:sp>
        <p:nvSpPr>
          <p:cNvPr id="8" name="hardware-heading">
            <a:extLst>
              <a:ext uri="{FF2B5EF4-FFF2-40B4-BE49-F238E27FC236}">
                <a16:creationId xmlns:a16="http://schemas.microsoft.com/office/drawing/2014/main" id="{7D4E14CC-C917-4D39-8FF8-43ED32965627}"/>
              </a:ext>
            </a:extLst>
          </p:cNvPr>
          <p:cNvSpPr>
            <a:spLocks noGrp="1"/>
          </p:cNvSpPr>
          <p:nvPr/>
        </p:nvSpPr>
        <p:spPr>
          <a:xfrm>
            <a:off x="952500" y="4010025"/>
            <a:ext cx="9810750" cy="552450"/>
          </a:xfrm>
          <a:prstGeom prst="rect">
            <a:avLst/>
          </a:prstGeom>
          <a:noFill/>
          <a:ln w="0">
            <a:noFill/>
          </a:ln>
        </p:spPr>
        <p:txBody>
          <a:bodyPr wrap="square" lIns="0" tIns="0" rIns="0" bIns="0" anchor="t">
            <a:noAutofit/>
          </a:bodyPr>
          <a:lstStyle>
            <a:defPPr algn="l">
              <a:defRPr sz="2775" b="1">
                <a:solidFill>
                  <a:srgbClr val="822433"/>
                </a:solidFill>
                <a:latin typeface="Roboto"/>
                <a:ea typeface="Roboto"/>
                <a:cs typeface="Roboto"/>
              </a:defRPr>
            </a:defPPr>
            <a:lvl1pPr algn="l">
              <a:defRPr sz="2775" b="1">
                <a:solidFill>
                  <a:srgbClr val="822433"/>
                </a:solidFill>
                <a:latin typeface="Roboto"/>
                <a:ea typeface="Roboto"/>
                <a:cs typeface="Roboto"/>
              </a:defRPr>
            </a:lvl1pPr>
            <a:lvl2pPr algn="l">
              <a:defRPr sz="2775" b="1">
                <a:solidFill>
                  <a:srgbClr val="822433"/>
                </a:solidFill>
                <a:latin typeface="Roboto"/>
                <a:ea typeface="Roboto"/>
                <a:cs typeface="Roboto"/>
              </a:defRPr>
            </a:lvl2pPr>
            <a:lvl3pPr algn="l">
              <a:defRPr sz="2775" b="1">
                <a:solidFill>
                  <a:srgbClr val="822433"/>
                </a:solidFill>
                <a:latin typeface="Roboto"/>
                <a:ea typeface="Roboto"/>
                <a:cs typeface="Roboto"/>
              </a:defRPr>
            </a:lvl3pPr>
            <a:lvl4pPr algn="l">
              <a:defRPr sz="2775" b="1">
                <a:solidFill>
                  <a:srgbClr val="822433"/>
                </a:solidFill>
                <a:latin typeface="Roboto"/>
                <a:ea typeface="Roboto"/>
                <a:cs typeface="Roboto"/>
              </a:defRPr>
            </a:lvl4pPr>
            <a:lvl5pPr algn="l">
              <a:defRPr sz="2775" b="1">
                <a:solidFill>
                  <a:srgbClr val="822433"/>
                </a:solidFill>
                <a:latin typeface="Roboto"/>
                <a:ea typeface="Roboto"/>
                <a:cs typeface="Roboto"/>
              </a:defRPr>
            </a:lvl5pPr>
            <a:lvl6pPr algn="l">
              <a:defRPr sz="2775" b="1">
                <a:solidFill>
                  <a:srgbClr val="822433"/>
                </a:solidFill>
                <a:latin typeface="Roboto"/>
                <a:ea typeface="Roboto"/>
                <a:cs typeface="Roboto"/>
              </a:defRPr>
            </a:lvl6pPr>
            <a:lvl7pPr algn="l">
              <a:defRPr sz="2775" b="1">
                <a:solidFill>
                  <a:srgbClr val="822433"/>
                </a:solidFill>
                <a:latin typeface="Roboto"/>
                <a:ea typeface="Roboto"/>
                <a:cs typeface="Roboto"/>
              </a:defRPr>
            </a:lvl7pPr>
            <a:lvl8pPr algn="l">
              <a:defRPr sz="2775" b="1">
                <a:solidFill>
                  <a:srgbClr val="822433"/>
                </a:solidFill>
                <a:latin typeface="Roboto"/>
                <a:ea typeface="Roboto"/>
                <a:cs typeface="Roboto"/>
              </a:defRPr>
            </a:lvl8pPr>
            <a:lvl9pPr algn="l">
              <a:defRPr sz="2775" b="1">
                <a:solidFill>
                  <a:srgbClr val="822433"/>
                </a:solidFill>
                <a:latin typeface="Roboto"/>
                <a:ea typeface="Roboto"/>
                <a:cs typeface="Roboto"/>
              </a:defRPr>
            </a:lvl9pPr>
          </a:lstStyle>
          <a:p>
            <a:pPr algn="l">
              <a:defRPr sz="2775" b="1">
                <a:solidFill>
                  <a:srgbClr val="822433"/>
                </a:solidFill>
                <a:latin typeface="Roboto"/>
                <a:ea typeface="Roboto"/>
                <a:cs typeface="Roboto"/>
              </a:defRPr>
            </a:pPr>
            <a:r>
              <a:rPr sz="2775" b="1">
                <a:solidFill>
                  <a:srgbClr val="822433"/>
                </a:solidFill>
                <a:latin typeface="Roboto"/>
                <a:ea typeface="Roboto"/>
                <a:cs typeface="Roboto"/>
              </a:rPr>
              <a:t>Misure sulla pipeline completa</a:t>
            </a:r>
          </a:p>
        </p:txBody>
      </p:sp>
      <p:sp>
        <p:nvSpPr>
          <p:cNvPr id="9" name="hardware-detail">
            <a:extLst>
              <a:ext uri="{FF2B5EF4-FFF2-40B4-BE49-F238E27FC236}">
                <a16:creationId xmlns:a16="http://schemas.microsoft.com/office/drawing/2014/main" id="{E80832D7-AFD5-486C-86D1-2AEFF0E173FE}"/>
              </a:ext>
            </a:extLst>
          </p:cNvPr>
          <p:cNvSpPr>
            <a:spLocks noGrp="1"/>
          </p:cNvSpPr>
          <p:nvPr/>
        </p:nvSpPr>
        <p:spPr>
          <a:xfrm>
            <a:off x="952500" y="4810125"/>
            <a:ext cx="9810750" cy="962025"/>
          </a:xfrm>
          <a:prstGeom prst="rect">
            <a:avLst/>
          </a:prstGeom>
          <a:noFill/>
          <a:ln w="0">
            <a:noFill/>
          </a:ln>
        </p:spPr>
        <p:txBody>
          <a:bodyPr wrap="square" lIns="0" tIns="0" rIns="0" bIns="0" anchor="t">
            <a:noAutofit/>
          </a:bodyPr>
          <a:lstStyle>
            <a:defPPr algn="l">
              <a:defRPr sz="2400" b="0">
                <a:solidFill>
                  <a:srgbClr val="202124"/>
                </a:solidFill>
                <a:latin typeface="Roboto"/>
                <a:ea typeface="Roboto"/>
                <a:cs typeface="Roboto"/>
              </a:defRPr>
            </a:defPPr>
            <a:lvl1pPr algn="l">
              <a:defRPr sz="2400" b="0">
                <a:solidFill>
                  <a:srgbClr val="202124"/>
                </a:solidFill>
                <a:latin typeface="Roboto"/>
                <a:ea typeface="Roboto"/>
                <a:cs typeface="Roboto"/>
              </a:defRPr>
            </a:lvl1pPr>
            <a:lvl2pPr algn="l">
              <a:defRPr sz="2400" b="0">
                <a:solidFill>
                  <a:srgbClr val="202124"/>
                </a:solidFill>
                <a:latin typeface="Roboto"/>
                <a:ea typeface="Roboto"/>
                <a:cs typeface="Roboto"/>
              </a:defRPr>
            </a:lvl2pPr>
            <a:lvl3pPr algn="l">
              <a:defRPr sz="2400" b="0">
                <a:solidFill>
                  <a:srgbClr val="202124"/>
                </a:solidFill>
                <a:latin typeface="Roboto"/>
                <a:ea typeface="Roboto"/>
                <a:cs typeface="Roboto"/>
              </a:defRPr>
            </a:lvl3pPr>
            <a:lvl4pPr algn="l">
              <a:defRPr sz="2400" b="0">
                <a:solidFill>
                  <a:srgbClr val="202124"/>
                </a:solidFill>
                <a:latin typeface="Roboto"/>
                <a:ea typeface="Roboto"/>
                <a:cs typeface="Roboto"/>
              </a:defRPr>
            </a:lvl4pPr>
            <a:lvl5pPr algn="l">
              <a:defRPr sz="2400" b="0">
                <a:solidFill>
                  <a:srgbClr val="202124"/>
                </a:solidFill>
                <a:latin typeface="Roboto"/>
                <a:ea typeface="Roboto"/>
                <a:cs typeface="Roboto"/>
              </a:defRPr>
            </a:lvl5pPr>
            <a:lvl6pPr algn="l">
              <a:defRPr sz="2400" b="0">
                <a:solidFill>
                  <a:srgbClr val="202124"/>
                </a:solidFill>
                <a:latin typeface="Roboto"/>
                <a:ea typeface="Roboto"/>
                <a:cs typeface="Roboto"/>
              </a:defRPr>
            </a:lvl6pPr>
            <a:lvl7pPr algn="l">
              <a:defRPr sz="2400" b="0">
                <a:solidFill>
                  <a:srgbClr val="202124"/>
                </a:solidFill>
                <a:latin typeface="Roboto"/>
                <a:ea typeface="Roboto"/>
                <a:cs typeface="Roboto"/>
              </a:defRPr>
            </a:lvl7pPr>
            <a:lvl8pPr algn="l">
              <a:defRPr sz="2400" b="0">
                <a:solidFill>
                  <a:srgbClr val="202124"/>
                </a:solidFill>
                <a:latin typeface="Roboto"/>
                <a:ea typeface="Roboto"/>
                <a:cs typeface="Roboto"/>
              </a:defRPr>
            </a:lvl8pPr>
            <a:lvl9pPr algn="l">
              <a:defRPr sz="2400" b="0">
                <a:solidFill>
                  <a:srgbClr val="202124"/>
                </a:solidFill>
                <a:latin typeface="Roboto"/>
                <a:ea typeface="Roboto"/>
                <a:cs typeface="Roboto"/>
              </a:defRPr>
            </a:lvl9pPr>
          </a:lstStyle>
          <a:p>
            <a:pPr algn="l">
              <a:defRPr sz="2400" b="0">
                <a:solidFill>
                  <a:srgbClr val="202124"/>
                </a:solidFill>
                <a:latin typeface="Roboto"/>
                <a:ea typeface="Roboto"/>
                <a:cs typeface="Roboto"/>
              </a:defRPr>
            </a:pPr>
            <a:r>
              <a:rPr sz="2400" b="0">
                <a:solidFill>
                  <a:srgbClr val="202124"/>
                </a:solidFill>
                <a:latin typeface="Roboto"/>
                <a:ea typeface="Roboto"/>
                <a:cs typeface="Roboto"/>
              </a:rPr>
              <a:t>Hardware rappresentativo e costi</a:t>
            </a:r>
          </a:p>
          <a:p>
            <a:pPr algn="l">
              <a:defRPr sz="2400" b="0">
                <a:solidFill>
                  <a:srgbClr val="202124"/>
                </a:solidFill>
                <a:latin typeface="Roboto"/>
                <a:ea typeface="Roboto"/>
                <a:cs typeface="Roboto"/>
              </a:defRPr>
            </a:pPr>
            <a:r>
              <a:rPr sz="2400" b="0">
                <a:solidFill>
                  <a:srgbClr val="202124"/>
                </a:solidFill>
                <a:latin typeface="Roboto"/>
                <a:ea typeface="Roboto"/>
                <a:cs typeface="Roboto"/>
              </a:rPr>
              <a:t>di preprocessing e trasferimento</a:t>
            </a:r>
          </a:p>
        </p:txBody>
      </p:sp>
    </p:spTree>
    <p:extLst>
      <p:ext uri="{BB962C8B-B14F-4D97-AF65-F5344CB8AC3E}">
        <p14:creationId xmlns:p14="http://schemas.microsoft.com/office/powerpoint/2010/main" val="2223438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F1840F4C-0C17-45F8-881D-57041FFA45D2}"/>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Conclusioni</a:t>
            </a:r>
          </a:p>
        </p:txBody>
      </p:sp>
      <p:sp>
        <p:nvSpPr>
          <p:cNvPr id="2" name="template-footer">
            <a:extLst>
              <a:ext uri="{FF2B5EF4-FFF2-40B4-BE49-F238E27FC236}">
                <a16:creationId xmlns:a16="http://schemas.microsoft.com/office/drawing/2014/main" id="{546441D8-5B14-474A-9647-A5A3047C369D}"/>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1AA62BD2-1F90-4AB6-868A-C7384ABFA5DC}"/>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9B4EDD08-1E2A-4C5F-A0DC-76AEE7FA0E29}"/>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24/28</a:t>
            </a:r>
          </a:p>
        </p:txBody>
      </p:sp>
      <p:sp>
        <p:nvSpPr>
          <p:cNvPr id="5" name="source-citations">
            <a:extLst>
              <a:ext uri="{FF2B5EF4-FFF2-40B4-BE49-F238E27FC236}">
                <a16:creationId xmlns:a16="http://schemas.microsoft.com/office/drawing/2014/main" id="{F3C72DF4-1F54-4196-9924-197A6DB7911B}"/>
              </a:ext>
            </a:extLst>
          </p:cNvPr>
          <p:cNvSpPr>
            <a:spLocks noGrp="1"/>
          </p:cNvSpPr>
          <p:nvPr/>
        </p:nvSpPr>
        <p:spPr>
          <a:xfrm>
            <a:off x="838200" y="6105525"/>
            <a:ext cx="10334625" cy="238125"/>
          </a:xfrm>
          <a:prstGeom prst="rect">
            <a:avLst/>
          </a:prstGeom>
          <a:noFill/>
          <a:ln w="0">
            <a:noFill/>
          </a:ln>
        </p:spPr>
        <p:txBody>
          <a:bodyPr wrap="square" lIns="0" tIns="0" rIns="0" bIns="0" anchor="t">
            <a:noAutofit/>
          </a:bodyPr>
          <a:lstStyle>
            <a:defPPr algn="l">
              <a:defRPr sz="1200" b="0">
                <a:solidFill>
                  <a:srgbClr val="62666B"/>
                </a:solidFill>
                <a:latin typeface="Roboto"/>
                <a:ea typeface="Roboto"/>
                <a:cs typeface="Roboto"/>
              </a:defRPr>
            </a:defPPr>
            <a:lvl1pPr algn="l">
              <a:defRPr sz="1200" b="0">
                <a:solidFill>
                  <a:srgbClr val="62666B"/>
                </a:solidFill>
                <a:latin typeface="Roboto"/>
                <a:ea typeface="Roboto"/>
                <a:cs typeface="Roboto"/>
              </a:defRPr>
            </a:lvl1pPr>
            <a:lvl2pPr algn="l">
              <a:defRPr sz="1200" b="0">
                <a:solidFill>
                  <a:srgbClr val="62666B"/>
                </a:solidFill>
                <a:latin typeface="Roboto"/>
                <a:ea typeface="Roboto"/>
                <a:cs typeface="Roboto"/>
              </a:defRPr>
            </a:lvl2pPr>
            <a:lvl3pPr algn="l">
              <a:defRPr sz="1200" b="0">
                <a:solidFill>
                  <a:srgbClr val="62666B"/>
                </a:solidFill>
                <a:latin typeface="Roboto"/>
                <a:ea typeface="Roboto"/>
                <a:cs typeface="Roboto"/>
              </a:defRPr>
            </a:lvl3pPr>
            <a:lvl4pPr algn="l">
              <a:defRPr sz="1200" b="0">
                <a:solidFill>
                  <a:srgbClr val="62666B"/>
                </a:solidFill>
                <a:latin typeface="Roboto"/>
                <a:ea typeface="Roboto"/>
                <a:cs typeface="Roboto"/>
              </a:defRPr>
            </a:lvl4pPr>
            <a:lvl5pPr algn="l">
              <a:defRPr sz="1200" b="0">
                <a:solidFill>
                  <a:srgbClr val="62666B"/>
                </a:solidFill>
                <a:latin typeface="Roboto"/>
                <a:ea typeface="Roboto"/>
                <a:cs typeface="Roboto"/>
              </a:defRPr>
            </a:lvl5pPr>
            <a:lvl6pPr algn="l">
              <a:defRPr sz="1200" b="0">
                <a:solidFill>
                  <a:srgbClr val="62666B"/>
                </a:solidFill>
                <a:latin typeface="Roboto"/>
                <a:ea typeface="Roboto"/>
                <a:cs typeface="Roboto"/>
              </a:defRPr>
            </a:lvl6pPr>
            <a:lvl7pPr algn="l">
              <a:defRPr sz="1200" b="0">
                <a:solidFill>
                  <a:srgbClr val="62666B"/>
                </a:solidFill>
                <a:latin typeface="Roboto"/>
                <a:ea typeface="Roboto"/>
                <a:cs typeface="Roboto"/>
              </a:defRPr>
            </a:lvl7pPr>
            <a:lvl8pPr algn="l">
              <a:defRPr sz="1200" b="0">
                <a:solidFill>
                  <a:srgbClr val="62666B"/>
                </a:solidFill>
                <a:latin typeface="Roboto"/>
                <a:ea typeface="Roboto"/>
                <a:cs typeface="Roboto"/>
              </a:defRPr>
            </a:lvl8pPr>
            <a:lvl9pPr algn="l">
              <a:defRPr sz="1200" b="0">
                <a:solidFill>
                  <a:srgbClr val="62666B"/>
                </a:solidFill>
                <a:latin typeface="Roboto"/>
                <a:ea typeface="Roboto"/>
                <a:cs typeface="Roboto"/>
              </a:defRPr>
            </a:lvl9pPr>
          </a:lstStyle>
          <a:p>
            <a:pPr algn="l">
              <a:defRPr sz="1200" b="0">
                <a:solidFill>
                  <a:srgbClr val="62666B"/>
                </a:solidFill>
                <a:latin typeface="Roboto"/>
                <a:ea typeface="Roboto"/>
                <a:cs typeface="Roboto"/>
              </a:defRPr>
            </a:pPr>
            <a:r>
              <a:rPr sz="1200" b="0">
                <a:solidFill>
                  <a:srgbClr val="62666B"/>
                </a:solidFill>
                <a:latin typeface="Roboto"/>
                <a:ea typeface="Roboto"/>
                <a:cs typeface="Roboto"/>
              </a:rPr>
              <a:t>Elaborazione della tesi</a:t>
            </a:r>
          </a:p>
        </p:txBody>
      </p:sp>
      <p:sp>
        <p:nvSpPr>
          <p:cNvPr id="6" name="conclusion-1">
            <a:extLst>
              <a:ext uri="{FF2B5EF4-FFF2-40B4-BE49-F238E27FC236}">
                <a16:creationId xmlns:a16="http://schemas.microsoft.com/office/drawing/2014/main" id="{FBA50BDE-7FB8-464E-9A95-39AACD979957}"/>
              </a:ext>
            </a:extLst>
          </p:cNvPr>
          <p:cNvSpPr>
            <a:spLocks noGrp="1"/>
          </p:cNvSpPr>
          <p:nvPr/>
        </p:nvSpPr>
        <p:spPr>
          <a:xfrm>
            <a:off x="952500" y="1495425"/>
            <a:ext cx="9810750" cy="504825"/>
          </a:xfrm>
          <a:prstGeom prst="rect">
            <a:avLst/>
          </a:prstGeom>
          <a:noFill/>
          <a:ln w="0">
            <a:noFill/>
          </a:ln>
        </p:spPr>
        <p:txBody>
          <a:bodyPr wrap="square" lIns="0" tIns="0" rIns="0" bIns="0" anchor="t">
            <a:noAutofit/>
          </a:bodyPr>
          <a:lstStyle>
            <a:defPPr algn="l">
              <a:defRPr sz="2775" b="1">
                <a:solidFill>
                  <a:srgbClr val="822433"/>
                </a:solidFill>
                <a:latin typeface="Roboto"/>
                <a:ea typeface="Roboto"/>
                <a:cs typeface="Roboto"/>
              </a:defRPr>
            </a:defPPr>
            <a:lvl1pPr algn="l">
              <a:defRPr sz="2775" b="1">
                <a:solidFill>
                  <a:srgbClr val="822433"/>
                </a:solidFill>
                <a:latin typeface="Roboto"/>
                <a:ea typeface="Roboto"/>
                <a:cs typeface="Roboto"/>
              </a:defRPr>
            </a:lvl1pPr>
            <a:lvl2pPr algn="l">
              <a:defRPr sz="2775" b="1">
                <a:solidFill>
                  <a:srgbClr val="822433"/>
                </a:solidFill>
                <a:latin typeface="Roboto"/>
                <a:ea typeface="Roboto"/>
                <a:cs typeface="Roboto"/>
              </a:defRPr>
            </a:lvl2pPr>
            <a:lvl3pPr algn="l">
              <a:defRPr sz="2775" b="1">
                <a:solidFill>
                  <a:srgbClr val="822433"/>
                </a:solidFill>
                <a:latin typeface="Roboto"/>
                <a:ea typeface="Roboto"/>
                <a:cs typeface="Roboto"/>
              </a:defRPr>
            </a:lvl3pPr>
            <a:lvl4pPr algn="l">
              <a:defRPr sz="2775" b="1">
                <a:solidFill>
                  <a:srgbClr val="822433"/>
                </a:solidFill>
                <a:latin typeface="Roboto"/>
                <a:ea typeface="Roboto"/>
                <a:cs typeface="Roboto"/>
              </a:defRPr>
            </a:lvl4pPr>
            <a:lvl5pPr algn="l">
              <a:defRPr sz="2775" b="1">
                <a:solidFill>
                  <a:srgbClr val="822433"/>
                </a:solidFill>
                <a:latin typeface="Roboto"/>
                <a:ea typeface="Roboto"/>
                <a:cs typeface="Roboto"/>
              </a:defRPr>
            </a:lvl5pPr>
            <a:lvl6pPr algn="l">
              <a:defRPr sz="2775" b="1">
                <a:solidFill>
                  <a:srgbClr val="822433"/>
                </a:solidFill>
                <a:latin typeface="Roboto"/>
                <a:ea typeface="Roboto"/>
                <a:cs typeface="Roboto"/>
              </a:defRPr>
            </a:lvl6pPr>
            <a:lvl7pPr algn="l">
              <a:defRPr sz="2775" b="1">
                <a:solidFill>
                  <a:srgbClr val="822433"/>
                </a:solidFill>
                <a:latin typeface="Roboto"/>
                <a:ea typeface="Roboto"/>
                <a:cs typeface="Roboto"/>
              </a:defRPr>
            </a:lvl7pPr>
            <a:lvl8pPr algn="l">
              <a:defRPr sz="2775" b="1">
                <a:solidFill>
                  <a:srgbClr val="822433"/>
                </a:solidFill>
                <a:latin typeface="Roboto"/>
                <a:ea typeface="Roboto"/>
                <a:cs typeface="Roboto"/>
              </a:defRPr>
            </a:lvl8pPr>
            <a:lvl9pPr algn="l">
              <a:defRPr sz="2775" b="1">
                <a:solidFill>
                  <a:srgbClr val="822433"/>
                </a:solidFill>
                <a:latin typeface="Roboto"/>
                <a:ea typeface="Roboto"/>
                <a:cs typeface="Roboto"/>
              </a:defRPr>
            </a:lvl9pPr>
          </a:lstStyle>
          <a:p>
            <a:pPr algn="l">
              <a:defRPr sz="2775" b="1">
                <a:solidFill>
                  <a:srgbClr val="822433"/>
                </a:solidFill>
                <a:latin typeface="Roboto"/>
                <a:ea typeface="Roboto"/>
                <a:cs typeface="Roboto"/>
              </a:defRPr>
            </a:pPr>
            <a:r>
              <a:rPr sz="2775" b="1">
                <a:solidFill>
                  <a:srgbClr val="822433"/>
                </a:solidFill>
                <a:latin typeface="Roboto"/>
                <a:ea typeface="Roboto"/>
                <a:cs typeface="Roboto"/>
              </a:rPr>
              <a:t>Segmentazione efficiente</a:t>
            </a:r>
          </a:p>
        </p:txBody>
      </p:sp>
      <p:sp>
        <p:nvSpPr>
          <p:cNvPr id="7" name="conclusion-1-body">
            <a:extLst>
              <a:ext uri="{FF2B5EF4-FFF2-40B4-BE49-F238E27FC236}">
                <a16:creationId xmlns:a16="http://schemas.microsoft.com/office/drawing/2014/main" id="{5375F4C7-AA75-4B30-8841-955C61FD7562}"/>
              </a:ext>
            </a:extLst>
          </p:cNvPr>
          <p:cNvSpPr>
            <a:spLocks noGrp="1"/>
          </p:cNvSpPr>
          <p:nvPr/>
        </p:nvSpPr>
        <p:spPr>
          <a:xfrm>
            <a:off x="952500" y="2152650"/>
            <a:ext cx="9810750" cy="533400"/>
          </a:xfrm>
          <a:prstGeom prst="rect">
            <a:avLst/>
          </a:prstGeom>
          <a:noFill/>
          <a:ln w="0">
            <a:noFill/>
          </a:ln>
        </p:spPr>
        <p:txBody>
          <a:bodyPr wrap="square" lIns="0" tIns="0" rIns="0" bIns="0" anchor="t">
            <a:noAutofit/>
          </a:bodyPr>
          <a:lstStyle>
            <a:defPPr algn="l">
              <a:defRPr sz="2175" b="0">
                <a:solidFill>
                  <a:srgbClr val="202124"/>
                </a:solidFill>
                <a:latin typeface="Roboto"/>
                <a:ea typeface="Roboto"/>
                <a:cs typeface="Roboto"/>
              </a:defRPr>
            </a:defPPr>
            <a:lvl1pPr algn="l">
              <a:defRPr sz="2175" b="0">
                <a:solidFill>
                  <a:srgbClr val="202124"/>
                </a:solidFill>
                <a:latin typeface="Roboto"/>
                <a:ea typeface="Roboto"/>
                <a:cs typeface="Roboto"/>
              </a:defRPr>
            </a:lvl1pPr>
            <a:lvl2pPr algn="l">
              <a:defRPr sz="2175" b="0">
                <a:solidFill>
                  <a:srgbClr val="202124"/>
                </a:solidFill>
                <a:latin typeface="Roboto"/>
                <a:ea typeface="Roboto"/>
                <a:cs typeface="Roboto"/>
              </a:defRPr>
            </a:lvl2pPr>
            <a:lvl3pPr algn="l">
              <a:defRPr sz="2175" b="0">
                <a:solidFill>
                  <a:srgbClr val="202124"/>
                </a:solidFill>
                <a:latin typeface="Roboto"/>
                <a:ea typeface="Roboto"/>
                <a:cs typeface="Roboto"/>
              </a:defRPr>
            </a:lvl3pPr>
            <a:lvl4pPr algn="l">
              <a:defRPr sz="2175" b="0">
                <a:solidFill>
                  <a:srgbClr val="202124"/>
                </a:solidFill>
                <a:latin typeface="Roboto"/>
                <a:ea typeface="Roboto"/>
                <a:cs typeface="Roboto"/>
              </a:defRPr>
            </a:lvl4pPr>
            <a:lvl5pPr algn="l">
              <a:defRPr sz="2175" b="0">
                <a:solidFill>
                  <a:srgbClr val="202124"/>
                </a:solidFill>
                <a:latin typeface="Roboto"/>
                <a:ea typeface="Roboto"/>
                <a:cs typeface="Roboto"/>
              </a:defRPr>
            </a:lvl5pPr>
            <a:lvl6pPr algn="l">
              <a:defRPr sz="2175" b="0">
                <a:solidFill>
                  <a:srgbClr val="202124"/>
                </a:solidFill>
                <a:latin typeface="Roboto"/>
                <a:ea typeface="Roboto"/>
                <a:cs typeface="Roboto"/>
              </a:defRPr>
            </a:lvl6pPr>
            <a:lvl7pPr algn="l">
              <a:defRPr sz="2175" b="0">
                <a:solidFill>
                  <a:srgbClr val="202124"/>
                </a:solidFill>
                <a:latin typeface="Roboto"/>
                <a:ea typeface="Roboto"/>
                <a:cs typeface="Roboto"/>
              </a:defRPr>
            </a:lvl7pPr>
            <a:lvl8pPr algn="l">
              <a:defRPr sz="2175" b="0">
                <a:solidFill>
                  <a:srgbClr val="202124"/>
                </a:solidFill>
                <a:latin typeface="Roboto"/>
                <a:ea typeface="Roboto"/>
                <a:cs typeface="Roboto"/>
              </a:defRPr>
            </a:lvl8pPr>
            <a:lvl9pPr algn="l">
              <a:defRPr sz="2175" b="0">
                <a:solidFill>
                  <a:srgbClr val="202124"/>
                </a:solidFill>
                <a:latin typeface="Roboto"/>
                <a:ea typeface="Roboto"/>
                <a:cs typeface="Roboto"/>
              </a:defRPr>
            </a:lvl9pPr>
          </a:lstStyle>
          <a:p>
            <a:pPr algn="l">
              <a:defRPr sz="2175" b="0">
                <a:solidFill>
                  <a:srgbClr val="202124"/>
                </a:solidFill>
                <a:latin typeface="Roboto"/>
                <a:ea typeface="Roboto"/>
                <a:cs typeface="Roboto"/>
              </a:defRPr>
            </a:pPr>
            <a:r>
              <a:rPr sz="2175" b="0">
                <a:solidFill>
                  <a:srgbClr val="202124"/>
                </a:solidFill>
                <a:latin typeface="Roboto"/>
                <a:ea typeface="Roboto"/>
                <a:cs typeface="Roboto"/>
              </a:rPr>
              <a:t>Configurazioni per diversi vincoli di accuratezza ed energia</a:t>
            </a:r>
          </a:p>
        </p:txBody>
      </p:sp>
      <p:sp>
        <p:nvSpPr>
          <p:cNvPr id="8" name="conclusion-2">
            <a:extLst>
              <a:ext uri="{FF2B5EF4-FFF2-40B4-BE49-F238E27FC236}">
                <a16:creationId xmlns:a16="http://schemas.microsoft.com/office/drawing/2014/main" id="{7074F15B-0681-4E80-88E8-0FF20B8760A5}"/>
              </a:ext>
            </a:extLst>
          </p:cNvPr>
          <p:cNvSpPr>
            <a:spLocks noGrp="1"/>
          </p:cNvSpPr>
          <p:nvPr/>
        </p:nvSpPr>
        <p:spPr>
          <a:xfrm>
            <a:off x="952500" y="3076575"/>
            <a:ext cx="9810750" cy="504825"/>
          </a:xfrm>
          <a:prstGeom prst="rect">
            <a:avLst/>
          </a:prstGeom>
          <a:noFill/>
          <a:ln w="0">
            <a:noFill/>
          </a:ln>
        </p:spPr>
        <p:txBody>
          <a:bodyPr wrap="square" lIns="0" tIns="0" rIns="0" bIns="0" anchor="t">
            <a:noAutofit/>
          </a:bodyPr>
          <a:lstStyle>
            <a:defPPr algn="l">
              <a:defRPr sz="2775" b="1">
                <a:solidFill>
                  <a:srgbClr val="822433"/>
                </a:solidFill>
                <a:latin typeface="Roboto"/>
                <a:ea typeface="Roboto"/>
                <a:cs typeface="Roboto"/>
              </a:defRPr>
            </a:defPPr>
            <a:lvl1pPr algn="l">
              <a:defRPr sz="2775" b="1">
                <a:solidFill>
                  <a:srgbClr val="822433"/>
                </a:solidFill>
                <a:latin typeface="Roboto"/>
                <a:ea typeface="Roboto"/>
                <a:cs typeface="Roboto"/>
              </a:defRPr>
            </a:lvl1pPr>
            <a:lvl2pPr algn="l">
              <a:defRPr sz="2775" b="1">
                <a:solidFill>
                  <a:srgbClr val="822433"/>
                </a:solidFill>
                <a:latin typeface="Roboto"/>
                <a:ea typeface="Roboto"/>
                <a:cs typeface="Roboto"/>
              </a:defRPr>
            </a:lvl2pPr>
            <a:lvl3pPr algn="l">
              <a:defRPr sz="2775" b="1">
                <a:solidFill>
                  <a:srgbClr val="822433"/>
                </a:solidFill>
                <a:latin typeface="Roboto"/>
                <a:ea typeface="Roboto"/>
                <a:cs typeface="Roboto"/>
              </a:defRPr>
            </a:lvl3pPr>
            <a:lvl4pPr algn="l">
              <a:defRPr sz="2775" b="1">
                <a:solidFill>
                  <a:srgbClr val="822433"/>
                </a:solidFill>
                <a:latin typeface="Roboto"/>
                <a:ea typeface="Roboto"/>
                <a:cs typeface="Roboto"/>
              </a:defRPr>
            </a:lvl4pPr>
            <a:lvl5pPr algn="l">
              <a:defRPr sz="2775" b="1">
                <a:solidFill>
                  <a:srgbClr val="822433"/>
                </a:solidFill>
                <a:latin typeface="Roboto"/>
                <a:ea typeface="Roboto"/>
                <a:cs typeface="Roboto"/>
              </a:defRPr>
            </a:lvl5pPr>
            <a:lvl6pPr algn="l">
              <a:defRPr sz="2775" b="1">
                <a:solidFill>
                  <a:srgbClr val="822433"/>
                </a:solidFill>
                <a:latin typeface="Roboto"/>
                <a:ea typeface="Roboto"/>
                <a:cs typeface="Roboto"/>
              </a:defRPr>
            </a:lvl6pPr>
            <a:lvl7pPr algn="l">
              <a:defRPr sz="2775" b="1">
                <a:solidFill>
                  <a:srgbClr val="822433"/>
                </a:solidFill>
                <a:latin typeface="Roboto"/>
                <a:ea typeface="Roboto"/>
                <a:cs typeface="Roboto"/>
              </a:defRPr>
            </a:lvl7pPr>
            <a:lvl8pPr algn="l">
              <a:defRPr sz="2775" b="1">
                <a:solidFill>
                  <a:srgbClr val="822433"/>
                </a:solidFill>
                <a:latin typeface="Roboto"/>
                <a:ea typeface="Roboto"/>
                <a:cs typeface="Roboto"/>
              </a:defRPr>
            </a:lvl8pPr>
            <a:lvl9pPr algn="l">
              <a:defRPr sz="2775" b="1">
                <a:solidFill>
                  <a:srgbClr val="822433"/>
                </a:solidFill>
                <a:latin typeface="Roboto"/>
                <a:ea typeface="Roboto"/>
                <a:cs typeface="Roboto"/>
              </a:defRPr>
            </a:lvl9pPr>
          </a:lstStyle>
          <a:p>
            <a:pPr algn="l">
              <a:defRPr sz="2775" b="1">
                <a:solidFill>
                  <a:srgbClr val="822433"/>
                </a:solidFill>
                <a:latin typeface="Roboto"/>
                <a:ea typeface="Roboto"/>
                <a:cs typeface="Roboto"/>
              </a:defRPr>
            </a:pPr>
            <a:r>
              <a:rPr sz="2775" b="1">
                <a:solidFill>
                  <a:srgbClr val="822433"/>
                </a:solidFill>
                <a:latin typeface="Roboto"/>
                <a:ea typeface="Roboto"/>
                <a:cs typeface="Roboto"/>
              </a:rPr>
              <a:t>Dataset sintetico annotato</a:t>
            </a:r>
          </a:p>
        </p:txBody>
      </p:sp>
      <p:sp>
        <p:nvSpPr>
          <p:cNvPr id="9" name="conclusion-2-body">
            <a:extLst>
              <a:ext uri="{FF2B5EF4-FFF2-40B4-BE49-F238E27FC236}">
                <a16:creationId xmlns:a16="http://schemas.microsoft.com/office/drawing/2014/main" id="{F5938D75-9F3C-4C43-ACD2-F4C3ADB50226}"/>
              </a:ext>
            </a:extLst>
          </p:cNvPr>
          <p:cNvSpPr>
            <a:spLocks noGrp="1"/>
          </p:cNvSpPr>
          <p:nvPr/>
        </p:nvSpPr>
        <p:spPr>
          <a:xfrm>
            <a:off x="952500" y="3733800"/>
            <a:ext cx="9810750" cy="533400"/>
          </a:xfrm>
          <a:prstGeom prst="rect">
            <a:avLst/>
          </a:prstGeom>
          <a:noFill/>
          <a:ln w="0">
            <a:noFill/>
          </a:ln>
        </p:spPr>
        <p:txBody>
          <a:bodyPr wrap="square" lIns="0" tIns="0" rIns="0" bIns="0" anchor="t">
            <a:noAutofit/>
          </a:bodyPr>
          <a:lstStyle>
            <a:defPPr algn="l">
              <a:defRPr sz="2175" b="0">
                <a:solidFill>
                  <a:srgbClr val="202124"/>
                </a:solidFill>
                <a:latin typeface="Roboto"/>
                <a:ea typeface="Roboto"/>
                <a:cs typeface="Roboto"/>
              </a:defRPr>
            </a:defPPr>
            <a:lvl1pPr algn="l">
              <a:defRPr sz="2175" b="0">
                <a:solidFill>
                  <a:srgbClr val="202124"/>
                </a:solidFill>
                <a:latin typeface="Roboto"/>
                <a:ea typeface="Roboto"/>
                <a:cs typeface="Roboto"/>
              </a:defRPr>
            </a:lvl1pPr>
            <a:lvl2pPr algn="l">
              <a:defRPr sz="2175" b="0">
                <a:solidFill>
                  <a:srgbClr val="202124"/>
                </a:solidFill>
                <a:latin typeface="Roboto"/>
                <a:ea typeface="Roboto"/>
                <a:cs typeface="Roboto"/>
              </a:defRPr>
            </a:lvl2pPr>
            <a:lvl3pPr algn="l">
              <a:defRPr sz="2175" b="0">
                <a:solidFill>
                  <a:srgbClr val="202124"/>
                </a:solidFill>
                <a:latin typeface="Roboto"/>
                <a:ea typeface="Roboto"/>
                <a:cs typeface="Roboto"/>
              </a:defRPr>
            </a:lvl3pPr>
            <a:lvl4pPr algn="l">
              <a:defRPr sz="2175" b="0">
                <a:solidFill>
                  <a:srgbClr val="202124"/>
                </a:solidFill>
                <a:latin typeface="Roboto"/>
                <a:ea typeface="Roboto"/>
                <a:cs typeface="Roboto"/>
              </a:defRPr>
            </a:lvl4pPr>
            <a:lvl5pPr algn="l">
              <a:defRPr sz="2175" b="0">
                <a:solidFill>
                  <a:srgbClr val="202124"/>
                </a:solidFill>
                <a:latin typeface="Roboto"/>
                <a:ea typeface="Roboto"/>
                <a:cs typeface="Roboto"/>
              </a:defRPr>
            </a:lvl5pPr>
            <a:lvl6pPr algn="l">
              <a:defRPr sz="2175" b="0">
                <a:solidFill>
                  <a:srgbClr val="202124"/>
                </a:solidFill>
                <a:latin typeface="Roboto"/>
                <a:ea typeface="Roboto"/>
                <a:cs typeface="Roboto"/>
              </a:defRPr>
            </a:lvl6pPr>
            <a:lvl7pPr algn="l">
              <a:defRPr sz="2175" b="0">
                <a:solidFill>
                  <a:srgbClr val="202124"/>
                </a:solidFill>
                <a:latin typeface="Roboto"/>
                <a:ea typeface="Roboto"/>
                <a:cs typeface="Roboto"/>
              </a:defRPr>
            </a:lvl7pPr>
            <a:lvl8pPr algn="l">
              <a:defRPr sz="2175" b="0">
                <a:solidFill>
                  <a:srgbClr val="202124"/>
                </a:solidFill>
                <a:latin typeface="Roboto"/>
                <a:ea typeface="Roboto"/>
                <a:cs typeface="Roboto"/>
              </a:defRPr>
            </a:lvl8pPr>
            <a:lvl9pPr algn="l">
              <a:defRPr sz="2175" b="0">
                <a:solidFill>
                  <a:srgbClr val="202124"/>
                </a:solidFill>
                <a:latin typeface="Roboto"/>
                <a:ea typeface="Roboto"/>
                <a:cs typeface="Roboto"/>
              </a:defRPr>
            </a:lvl9pPr>
          </a:lstStyle>
          <a:p>
            <a:pPr algn="l">
              <a:defRPr sz="2175" b="0">
                <a:solidFill>
                  <a:srgbClr val="202124"/>
                </a:solidFill>
                <a:latin typeface="Roboto"/>
                <a:ea typeface="Roboto"/>
                <a:cs typeface="Roboto"/>
              </a:defRPr>
            </a:pPr>
            <a:r>
              <a:rPr sz="2175" b="0">
                <a:solidFill>
                  <a:srgbClr val="202124"/>
                </a:solidFill>
                <a:latin typeface="Roboto"/>
                <a:ea typeface="Roboto"/>
                <a:cs typeface="Roboto"/>
              </a:rPr>
              <a:t>10.000 immagini e generazione controllata delle perforazioni</a:t>
            </a:r>
          </a:p>
        </p:txBody>
      </p:sp>
      <p:sp>
        <p:nvSpPr>
          <p:cNvPr id="10" name="conclusion-3">
            <a:extLst>
              <a:ext uri="{FF2B5EF4-FFF2-40B4-BE49-F238E27FC236}">
                <a16:creationId xmlns:a16="http://schemas.microsoft.com/office/drawing/2014/main" id="{93A6AD54-27DC-4B6D-99D1-0774511E3916}"/>
              </a:ext>
            </a:extLst>
          </p:cNvPr>
          <p:cNvSpPr>
            <a:spLocks noGrp="1"/>
          </p:cNvSpPr>
          <p:nvPr/>
        </p:nvSpPr>
        <p:spPr>
          <a:xfrm>
            <a:off x="952500" y="4657725"/>
            <a:ext cx="9810750" cy="504825"/>
          </a:xfrm>
          <a:prstGeom prst="rect">
            <a:avLst/>
          </a:prstGeom>
          <a:noFill/>
          <a:ln w="0">
            <a:noFill/>
          </a:ln>
        </p:spPr>
        <p:txBody>
          <a:bodyPr wrap="square" lIns="0" tIns="0" rIns="0" bIns="0" anchor="t">
            <a:noAutofit/>
          </a:bodyPr>
          <a:lstStyle>
            <a:defPPr algn="l">
              <a:defRPr sz="2775" b="1">
                <a:solidFill>
                  <a:srgbClr val="822433"/>
                </a:solidFill>
                <a:latin typeface="Roboto"/>
                <a:ea typeface="Roboto"/>
                <a:cs typeface="Roboto"/>
              </a:defRPr>
            </a:defPPr>
            <a:lvl1pPr algn="l">
              <a:defRPr sz="2775" b="1">
                <a:solidFill>
                  <a:srgbClr val="822433"/>
                </a:solidFill>
                <a:latin typeface="Roboto"/>
                <a:ea typeface="Roboto"/>
                <a:cs typeface="Roboto"/>
              </a:defRPr>
            </a:lvl1pPr>
            <a:lvl2pPr algn="l">
              <a:defRPr sz="2775" b="1">
                <a:solidFill>
                  <a:srgbClr val="822433"/>
                </a:solidFill>
                <a:latin typeface="Roboto"/>
                <a:ea typeface="Roboto"/>
                <a:cs typeface="Roboto"/>
              </a:defRPr>
            </a:lvl2pPr>
            <a:lvl3pPr algn="l">
              <a:defRPr sz="2775" b="1">
                <a:solidFill>
                  <a:srgbClr val="822433"/>
                </a:solidFill>
                <a:latin typeface="Roboto"/>
                <a:ea typeface="Roboto"/>
                <a:cs typeface="Roboto"/>
              </a:defRPr>
            </a:lvl3pPr>
            <a:lvl4pPr algn="l">
              <a:defRPr sz="2775" b="1">
                <a:solidFill>
                  <a:srgbClr val="822433"/>
                </a:solidFill>
                <a:latin typeface="Roboto"/>
                <a:ea typeface="Roboto"/>
                <a:cs typeface="Roboto"/>
              </a:defRPr>
            </a:lvl4pPr>
            <a:lvl5pPr algn="l">
              <a:defRPr sz="2775" b="1">
                <a:solidFill>
                  <a:srgbClr val="822433"/>
                </a:solidFill>
                <a:latin typeface="Roboto"/>
                <a:ea typeface="Roboto"/>
                <a:cs typeface="Roboto"/>
              </a:defRPr>
            </a:lvl5pPr>
            <a:lvl6pPr algn="l">
              <a:defRPr sz="2775" b="1">
                <a:solidFill>
                  <a:srgbClr val="822433"/>
                </a:solidFill>
                <a:latin typeface="Roboto"/>
                <a:ea typeface="Roboto"/>
                <a:cs typeface="Roboto"/>
              </a:defRPr>
            </a:lvl6pPr>
            <a:lvl7pPr algn="l">
              <a:defRPr sz="2775" b="1">
                <a:solidFill>
                  <a:srgbClr val="822433"/>
                </a:solidFill>
                <a:latin typeface="Roboto"/>
                <a:ea typeface="Roboto"/>
                <a:cs typeface="Roboto"/>
              </a:defRPr>
            </a:lvl7pPr>
            <a:lvl8pPr algn="l">
              <a:defRPr sz="2775" b="1">
                <a:solidFill>
                  <a:srgbClr val="822433"/>
                </a:solidFill>
                <a:latin typeface="Roboto"/>
                <a:ea typeface="Roboto"/>
                <a:cs typeface="Roboto"/>
              </a:defRPr>
            </a:lvl8pPr>
            <a:lvl9pPr algn="l">
              <a:defRPr sz="2775" b="1">
                <a:solidFill>
                  <a:srgbClr val="822433"/>
                </a:solidFill>
                <a:latin typeface="Roboto"/>
                <a:ea typeface="Roboto"/>
                <a:cs typeface="Roboto"/>
              </a:defRPr>
            </a:lvl9pPr>
          </a:lstStyle>
          <a:p>
            <a:pPr algn="l">
              <a:defRPr sz="2775" b="1">
                <a:solidFill>
                  <a:srgbClr val="822433"/>
                </a:solidFill>
                <a:latin typeface="Roboto"/>
                <a:ea typeface="Roboto"/>
                <a:cs typeface="Roboto"/>
              </a:defRPr>
            </a:pPr>
            <a:r>
              <a:rPr sz="2775" b="1">
                <a:solidFill>
                  <a:srgbClr val="822433"/>
                </a:solidFill>
                <a:latin typeface="Roboto"/>
                <a:ea typeface="Roboto"/>
                <a:cs typeface="Roboto"/>
              </a:rPr>
              <a:t>Ispezione delle ruote</a:t>
            </a:r>
          </a:p>
        </p:txBody>
      </p:sp>
      <p:sp>
        <p:nvSpPr>
          <p:cNvPr id="11" name="conclusion-3-body">
            <a:extLst>
              <a:ext uri="{FF2B5EF4-FFF2-40B4-BE49-F238E27FC236}">
                <a16:creationId xmlns:a16="http://schemas.microsoft.com/office/drawing/2014/main" id="{F0C4E560-6A36-415E-BC90-7062B8BF2C6C}"/>
              </a:ext>
            </a:extLst>
          </p:cNvPr>
          <p:cNvSpPr>
            <a:spLocks noGrp="1"/>
          </p:cNvSpPr>
          <p:nvPr/>
        </p:nvSpPr>
        <p:spPr>
          <a:xfrm>
            <a:off x="952500" y="5314950"/>
            <a:ext cx="9810750" cy="533400"/>
          </a:xfrm>
          <a:prstGeom prst="rect">
            <a:avLst/>
          </a:prstGeom>
          <a:noFill/>
          <a:ln w="0">
            <a:noFill/>
          </a:ln>
        </p:spPr>
        <p:txBody>
          <a:bodyPr wrap="square" lIns="0" tIns="0" rIns="0" bIns="0" anchor="t">
            <a:noAutofit/>
          </a:bodyPr>
          <a:lstStyle>
            <a:defPPr algn="l">
              <a:defRPr sz="2175" b="0">
                <a:solidFill>
                  <a:srgbClr val="202124"/>
                </a:solidFill>
                <a:latin typeface="Roboto"/>
                <a:ea typeface="Roboto"/>
                <a:cs typeface="Roboto"/>
              </a:defRPr>
            </a:defPPr>
            <a:lvl1pPr algn="l">
              <a:defRPr sz="2175" b="0">
                <a:solidFill>
                  <a:srgbClr val="202124"/>
                </a:solidFill>
                <a:latin typeface="Roboto"/>
                <a:ea typeface="Roboto"/>
                <a:cs typeface="Roboto"/>
              </a:defRPr>
            </a:lvl1pPr>
            <a:lvl2pPr algn="l">
              <a:defRPr sz="2175" b="0">
                <a:solidFill>
                  <a:srgbClr val="202124"/>
                </a:solidFill>
                <a:latin typeface="Roboto"/>
                <a:ea typeface="Roboto"/>
                <a:cs typeface="Roboto"/>
              </a:defRPr>
            </a:lvl2pPr>
            <a:lvl3pPr algn="l">
              <a:defRPr sz="2175" b="0">
                <a:solidFill>
                  <a:srgbClr val="202124"/>
                </a:solidFill>
                <a:latin typeface="Roboto"/>
                <a:ea typeface="Roboto"/>
                <a:cs typeface="Roboto"/>
              </a:defRPr>
            </a:lvl3pPr>
            <a:lvl4pPr algn="l">
              <a:defRPr sz="2175" b="0">
                <a:solidFill>
                  <a:srgbClr val="202124"/>
                </a:solidFill>
                <a:latin typeface="Roboto"/>
                <a:ea typeface="Roboto"/>
                <a:cs typeface="Roboto"/>
              </a:defRPr>
            </a:lvl4pPr>
            <a:lvl5pPr algn="l">
              <a:defRPr sz="2175" b="0">
                <a:solidFill>
                  <a:srgbClr val="202124"/>
                </a:solidFill>
                <a:latin typeface="Roboto"/>
                <a:ea typeface="Roboto"/>
                <a:cs typeface="Roboto"/>
              </a:defRPr>
            </a:lvl5pPr>
            <a:lvl6pPr algn="l">
              <a:defRPr sz="2175" b="0">
                <a:solidFill>
                  <a:srgbClr val="202124"/>
                </a:solidFill>
                <a:latin typeface="Roboto"/>
                <a:ea typeface="Roboto"/>
                <a:cs typeface="Roboto"/>
              </a:defRPr>
            </a:lvl6pPr>
            <a:lvl7pPr algn="l">
              <a:defRPr sz="2175" b="0">
                <a:solidFill>
                  <a:srgbClr val="202124"/>
                </a:solidFill>
                <a:latin typeface="Roboto"/>
                <a:ea typeface="Roboto"/>
                <a:cs typeface="Roboto"/>
              </a:defRPr>
            </a:lvl7pPr>
            <a:lvl8pPr algn="l">
              <a:defRPr sz="2175" b="0">
                <a:solidFill>
                  <a:srgbClr val="202124"/>
                </a:solidFill>
                <a:latin typeface="Roboto"/>
                <a:ea typeface="Roboto"/>
                <a:cs typeface="Roboto"/>
              </a:defRPr>
            </a:lvl8pPr>
            <a:lvl9pPr algn="l">
              <a:defRPr sz="2175" b="0">
                <a:solidFill>
                  <a:srgbClr val="202124"/>
                </a:solidFill>
                <a:latin typeface="Roboto"/>
                <a:ea typeface="Roboto"/>
                <a:cs typeface="Roboto"/>
              </a:defRPr>
            </a:lvl9pPr>
          </a:lstStyle>
          <a:p>
            <a:pPr algn="l">
              <a:defRPr sz="2175" b="0">
                <a:solidFill>
                  <a:srgbClr val="202124"/>
                </a:solidFill>
                <a:latin typeface="Roboto"/>
                <a:ea typeface="Roboto"/>
                <a:cs typeface="Roboto"/>
              </a:defRPr>
            </a:pPr>
            <a:r>
              <a:rPr sz="2175" b="0">
                <a:solidFill>
                  <a:srgbClr val="202124"/>
                </a:solidFill>
                <a:latin typeface="Roboto"/>
                <a:ea typeface="Roboto"/>
                <a:cs typeface="Roboto"/>
              </a:rPr>
              <a:t>Valutazione distinta di rilevamento, localizzazione e costo</a:t>
            </a:r>
          </a:p>
        </p:txBody>
      </p:sp>
    </p:spTree>
    <p:extLst>
      <p:ext uri="{BB962C8B-B14F-4D97-AF65-F5344CB8AC3E}">
        <p14:creationId xmlns:p14="http://schemas.microsoft.com/office/powerpoint/2010/main" val="2223438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78D63972-3F59-4125-8F47-CC99C7C7405C}"/>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Bibliografia 1/4</a:t>
            </a:r>
          </a:p>
        </p:txBody>
      </p:sp>
      <p:sp>
        <p:nvSpPr>
          <p:cNvPr id="2" name="template-footer">
            <a:extLst>
              <a:ext uri="{FF2B5EF4-FFF2-40B4-BE49-F238E27FC236}">
                <a16:creationId xmlns:a16="http://schemas.microsoft.com/office/drawing/2014/main" id="{E46BCC2A-C323-4AF0-9301-202E66A9971E}"/>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BEA01438-D227-4972-84D8-DC1317CA170F}"/>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9222625B-D3CB-42C0-9C3D-EFEBEAAC34E7}"/>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25/28</a:t>
            </a:r>
          </a:p>
        </p:txBody>
      </p:sp>
      <p:sp>
        <p:nvSpPr>
          <p:cNvPr id="5" name="ref-number-1">
            <a:extLst>
              <a:ext uri="{FF2B5EF4-FFF2-40B4-BE49-F238E27FC236}">
                <a16:creationId xmlns:a16="http://schemas.microsoft.com/office/drawing/2014/main" id="{6F81BFE4-44A8-4F40-9DED-37C6FF77656E}"/>
              </a:ext>
            </a:extLst>
          </p:cNvPr>
          <p:cNvSpPr>
            <a:spLocks noGrp="1"/>
          </p:cNvSpPr>
          <p:nvPr/>
        </p:nvSpPr>
        <p:spPr>
          <a:xfrm>
            <a:off x="857250" y="1409700"/>
            <a:ext cx="495300" cy="333375"/>
          </a:xfrm>
          <a:prstGeom prst="rect">
            <a:avLst/>
          </a:prstGeom>
          <a:noFill/>
          <a:ln w="0">
            <a:noFill/>
          </a:ln>
        </p:spPr>
        <p:txBody>
          <a:bodyPr wrap="square" lIns="0" tIns="0" rIns="0" bIns="0" anchor="t">
            <a:noAutofit/>
          </a:bodyPr>
          <a:lstStyle>
            <a:defPPr algn="l">
              <a:defRPr sz="1650" b="1">
                <a:solidFill>
                  <a:srgbClr val="822433"/>
                </a:solidFill>
                <a:latin typeface="Roboto"/>
                <a:ea typeface="Roboto"/>
                <a:cs typeface="Roboto"/>
              </a:defRPr>
            </a:defPPr>
            <a:lvl1pPr algn="l">
              <a:defRPr sz="1650" b="1">
                <a:solidFill>
                  <a:srgbClr val="822433"/>
                </a:solidFill>
                <a:latin typeface="Roboto"/>
                <a:ea typeface="Roboto"/>
                <a:cs typeface="Roboto"/>
              </a:defRPr>
            </a:lvl1pPr>
            <a:lvl2pPr algn="l">
              <a:defRPr sz="1650" b="1">
                <a:solidFill>
                  <a:srgbClr val="822433"/>
                </a:solidFill>
                <a:latin typeface="Roboto"/>
                <a:ea typeface="Roboto"/>
                <a:cs typeface="Roboto"/>
              </a:defRPr>
            </a:lvl2pPr>
            <a:lvl3pPr algn="l">
              <a:defRPr sz="1650" b="1">
                <a:solidFill>
                  <a:srgbClr val="822433"/>
                </a:solidFill>
                <a:latin typeface="Roboto"/>
                <a:ea typeface="Roboto"/>
                <a:cs typeface="Roboto"/>
              </a:defRPr>
            </a:lvl3pPr>
            <a:lvl4pPr algn="l">
              <a:defRPr sz="1650" b="1">
                <a:solidFill>
                  <a:srgbClr val="822433"/>
                </a:solidFill>
                <a:latin typeface="Roboto"/>
                <a:ea typeface="Roboto"/>
                <a:cs typeface="Roboto"/>
              </a:defRPr>
            </a:lvl4pPr>
            <a:lvl5pPr algn="l">
              <a:defRPr sz="1650" b="1">
                <a:solidFill>
                  <a:srgbClr val="822433"/>
                </a:solidFill>
                <a:latin typeface="Roboto"/>
                <a:ea typeface="Roboto"/>
                <a:cs typeface="Roboto"/>
              </a:defRPr>
            </a:lvl5pPr>
            <a:lvl6pPr algn="l">
              <a:defRPr sz="1650" b="1">
                <a:solidFill>
                  <a:srgbClr val="822433"/>
                </a:solidFill>
                <a:latin typeface="Roboto"/>
                <a:ea typeface="Roboto"/>
                <a:cs typeface="Roboto"/>
              </a:defRPr>
            </a:lvl6pPr>
            <a:lvl7pPr algn="l">
              <a:defRPr sz="1650" b="1">
                <a:solidFill>
                  <a:srgbClr val="822433"/>
                </a:solidFill>
                <a:latin typeface="Roboto"/>
                <a:ea typeface="Roboto"/>
                <a:cs typeface="Roboto"/>
              </a:defRPr>
            </a:lvl7pPr>
            <a:lvl8pPr algn="l">
              <a:defRPr sz="1650" b="1">
                <a:solidFill>
                  <a:srgbClr val="822433"/>
                </a:solidFill>
                <a:latin typeface="Roboto"/>
                <a:ea typeface="Roboto"/>
                <a:cs typeface="Roboto"/>
              </a:defRPr>
            </a:lvl8pPr>
            <a:lvl9pPr algn="l">
              <a:defRPr sz="1650" b="1">
                <a:solidFill>
                  <a:srgbClr val="822433"/>
                </a:solidFill>
                <a:latin typeface="Roboto"/>
                <a:ea typeface="Roboto"/>
                <a:cs typeface="Roboto"/>
              </a:defRPr>
            </a:lvl9pPr>
          </a:lstStyle>
          <a:p>
            <a:pPr algn="l">
              <a:defRPr sz="1650" b="1">
                <a:solidFill>
                  <a:srgbClr val="822433"/>
                </a:solidFill>
                <a:latin typeface="Roboto"/>
                <a:ea typeface="Roboto"/>
                <a:cs typeface="Roboto"/>
              </a:defRPr>
            </a:pPr>
            <a:r>
              <a:rPr sz="1650" b="1">
                <a:solidFill>
                  <a:srgbClr val="822433"/>
                </a:solidFill>
                <a:latin typeface="Roboto"/>
                <a:ea typeface="Roboto"/>
                <a:cs typeface="Roboto"/>
              </a:rPr>
              <a:t>[1]</a:t>
            </a:r>
          </a:p>
        </p:txBody>
      </p:sp>
      <p:sp>
        <p:nvSpPr>
          <p:cNvPr id="6" name="ref-title-1">
            <a:extLst>
              <a:ext uri="{FF2B5EF4-FFF2-40B4-BE49-F238E27FC236}">
                <a16:creationId xmlns:a16="http://schemas.microsoft.com/office/drawing/2014/main" id="{6328F628-1225-42AE-B899-60C7442987AD}"/>
              </a:ext>
            </a:extLst>
          </p:cNvPr>
          <p:cNvSpPr>
            <a:spLocks noGrp="1"/>
          </p:cNvSpPr>
          <p:nvPr/>
        </p:nvSpPr>
        <p:spPr>
          <a:xfrm>
            <a:off x="1409700" y="1409700"/>
            <a:ext cx="9525000" cy="495300"/>
          </a:xfrm>
          <a:prstGeom prst="rect">
            <a:avLst/>
          </a:prstGeom>
          <a:noFill/>
          <a:ln w="0">
            <a:noFill/>
          </a:ln>
        </p:spPr>
        <p:txBody>
          <a:bodyPr wrap="square" lIns="0" tIns="0" rIns="0" bIns="0" anchor="t">
            <a:noAutofit/>
          </a:bodyPr>
          <a:lstStyle>
            <a:defPPr algn="l">
              <a:defRPr sz="1538" b="0">
                <a:solidFill>
                  <a:srgbClr val="202124"/>
                </a:solidFill>
                <a:latin typeface="Roboto"/>
                <a:ea typeface="Roboto"/>
                <a:cs typeface="Roboto"/>
              </a:defRPr>
            </a:defPPr>
            <a:lvl1pPr algn="l">
              <a:defRPr sz="1538" b="0">
                <a:solidFill>
                  <a:srgbClr val="202124"/>
                </a:solidFill>
                <a:latin typeface="Roboto"/>
                <a:ea typeface="Roboto"/>
                <a:cs typeface="Roboto"/>
              </a:defRPr>
            </a:lvl1pPr>
            <a:lvl2pPr algn="l">
              <a:defRPr sz="1538" b="0">
                <a:solidFill>
                  <a:srgbClr val="202124"/>
                </a:solidFill>
                <a:latin typeface="Roboto"/>
                <a:ea typeface="Roboto"/>
                <a:cs typeface="Roboto"/>
              </a:defRPr>
            </a:lvl2pPr>
            <a:lvl3pPr algn="l">
              <a:defRPr sz="1538" b="0">
                <a:solidFill>
                  <a:srgbClr val="202124"/>
                </a:solidFill>
                <a:latin typeface="Roboto"/>
                <a:ea typeface="Roboto"/>
                <a:cs typeface="Roboto"/>
              </a:defRPr>
            </a:lvl3pPr>
            <a:lvl4pPr algn="l">
              <a:defRPr sz="1538" b="0">
                <a:solidFill>
                  <a:srgbClr val="202124"/>
                </a:solidFill>
                <a:latin typeface="Roboto"/>
                <a:ea typeface="Roboto"/>
                <a:cs typeface="Roboto"/>
              </a:defRPr>
            </a:lvl4pPr>
            <a:lvl5pPr algn="l">
              <a:defRPr sz="1538" b="0">
                <a:solidFill>
                  <a:srgbClr val="202124"/>
                </a:solidFill>
                <a:latin typeface="Roboto"/>
                <a:ea typeface="Roboto"/>
                <a:cs typeface="Roboto"/>
              </a:defRPr>
            </a:lvl5pPr>
            <a:lvl6pPr algn="l">
              <a:defRPr sz="1538" b="0">
                <a:solidFill>
                  <a:srgbClr val="202124"/>
                </a:solidFill>
                <a:latin typeface="Roboto"/>
                <a:ea typeface="Roboto"/>
                <a:cs typeface="Roboto"/>
              </a:defRPr>
            </a:lvl6pPr>
            <a:lvl7pPr algn="l">
              <a:defRPr sz="1538" b="0">
                <a:solidFill>
                  <a:srgbClr val="202124"/>
                </a:solidFill>
                <a:latin typeface="Roboto"/>
                <a:ea typeface="Roboto"/>
                <a:cs typeface="Roboto"/>
              </a:defRPr>
            </a:lvl7pPr>
            <a:lvl8pPr algn="l">
              <a:defRPr sz="1538" b="0">
                <a:solidFill>
                  <a:srgbClr val="202124"/>
                </a:solidFill>
                <a:latin typeface="Roboto"/>
                <a:ea typeface="Roboto"/>
                <a:cs typeface="Roboto"/>
              </a:defRPr>
            </a:lvl8pPr>
            <a:lvl9pPr algn="l">
              <a:defRPr sz="1538" b="0">
                <a:solidFill>
                  <a:srgbClr val="202124"/>
                </a:solidFill>
                <a:latin typeface="Roboto"/>
                <a:ea typeface="Roboto"/>
                <a:cs typeface="Roboto"/>
              </a:defRPr>
            </a:lvl9pPr>
          </a:lstStyle>
          <a:p>
            <a:pPr algn="l">
              <a:defRPr sz="1538" b="0">
                <a:solidFill>
                  <a:srgbClr val="202124"/>
                </a:solidFill>
                <a:latin typeface="Roboto"/>
                <a:ea typeface="Roboto"/>
                <a:cs typeface="Roboto"/>
              </a:defRPr>
            </a:pPr>
            <a:r>
              <a:rPr sz="1538" b="0">
                <a:solidFill>
                  <a:srgbClr val="202124"/>
                </a:solidFill>
                <a:latin typeface="Roboto"/>
                <a:ea typeface="Roboto"/>
                <a:cs typeface="Roboto"/>
              </a:rPr>
              <a:t>NASA Jet Propulsion Laboratory. How to Drive a Mars Rover.</a:t>
            </a:r>
          </a:p>
        </p:txBody>
      </p:sp>
      <p:sp>
        <p:nvSpPr>
          <p:cNvPr id="7" name="ref-venue-1">
            <a:extLst>
              <a:ext uri="{FF2B5EF4-FFF2-40B4-BE49-F238E27FC236}">
                <a16:creationId xmlns:a16="http://schemas.microsoft.com/office/drawing/2014/main" id="{22EFC4CE-329C-41C5-9D23-34877364C6A0}"/>
              </a:ext>
            </a:extLst>
          </p:cNvPr>
          <p:cNvSpPr>
            <a:spLocks noGrp="1"/>
          </p:cNvSpPr>
          <p:nvPr/>
        </p:nvSpPr>
        <p:spPr>
          <a:xfrm>
            <a:off x="1409700" y="1914525"/>
            <a:ext cx="9525000" cy="219075"/>
          </a:xfrm>
          <a:prstGeom prst="rect">
            <a:avLst/>
          </a:prstGeom>
          <a:noFill/>
          <a:ln w="0">
            <a:noFill/>
          </a:ln>
        </p:spPr>
        <p:txBody>
          <a:bodyPr wrap="square" lIns="0" tIns="0" rIns="0" bIns="0" anchor="t">
            <a:noAutofit/>
          </a:bodyPr>
          <a:lstStyle>
            <a:defPPr algn="l">
              <a:defRPr sz="1313" b="0">
                <a:solidFill>
                  <a:srgbClr val="62666B"/>
                </a:solidFill>
                <a:latin typeface="Roboto"/>
                <a:ea typeface="Roboto"/>
                <a:cs typeface="Roboto"/>
              </a:defRPr>
            </a:defPPr>
            <a:lvl1pPr algn="l">
              <a:defRPr sz="1313" b="0">
                <a:solidFill>
                  <a:srgbClr val="62666B"/>
                </a:solidFill>
                <a:latin typeface="Roboto"/>
                <a:ea typeface="Roboto"/>
                <a:cs typeface="Roboto"/>
              </a:defRPr>
            </a:lvl1pPr>
            <a:lvl2pPr algn="l">
              <a:defRPr sz="1313" b="0">
                <a:solidFill>
                  <a:srgbClr val="62666B"/>
                </a:solidFill>
                <a:latin typeface="Roboto"/>
                <a:ea typeface="Roboto"/>
                <a:cs typeface="Roboto"/>
              </a:defRPr>
            </a:lvl2pPr>
            <a:lvl3pPr algn="l">
              <a:defRPr sz="1313" b="0">
                <a:solidFill>
                  <a:srgbClr val="62666B"/>
                </a:solidFill>
                <a:latin typeface="Roboto"/>
                <a:ea typeface="Roboto"/>
                <a:cs typeface="Roboto"/>
              </a:defRPr>
            </a:lvl3pPr>
            <a:lvl4pPr algn="l">
              <a:defRPr sz="1313" b="0">
                <a:solidFill>
                  <a:srgbClr val="62666B"/>
                </a:solidFill>
                <a:latin typeface="Roboto"/>
                <a:ea typeface="Roboto"/>
                <a:cs typeface="Roboto"/>
              </a:defRPr>
            </a:lvl4pPr>
            <a:lvl5pPr algn="l">
              <a:defRPr sz="1313" b="0">
                <a:solidFill>
                  <a:srgbClr val="62666B"/>
                </a:solidFill>
                <a:latin typeface="Roboto"/>
                <a:ea typeface="Roboto"/>
                <a:cs typeface="Roboto"/>
              </a:defRPr>
            </a:lvl5pPr>
            <a:lvl6pPr algn="l">
              <a:defRPr sz="1313" b="0">
                <a:solidFill>
                  <a:srgbClr val="62666B"/>
                </a:solidFill>
                <a:latin typeface="Roboto"/>
                <a:ea typeface="Roboto"/>
                <a:cs typeface="Roboto"/>
              </a:defRPr>
            </a:lvl6pPr>
            <a:lvl7pPr algn="l">
              <a:defRPr sz="1313" b="0">
                <a:solidFill>
                  <a:srgbClr val="62666B"/>
                </a:solidFill>
                <a:latin typeface="Roboto"/>
                <a:ea typeface="Roboto"/>
                <a:cs typeface="Roboto"/>
              </a:defRPr>
            </a:lvl7pPr>
            <a:lvl8pPr algn="l">
              <a:defRPr sz="1313" b="0">
                <a:solidFill>
                  <a:srgbClr val="62666B"/>
                </a:solidFill>
                <a:latin typeface="Roboto"/>
                <a:ea typeface="Roboto"/>
                <a:cs typeface="Roboto"/>
              </a:defRPr>
            </a:lvl8pPr>
            <a:lvl9pPr algn="l">
              <a:defRPr sz="1313" b="0">
                <a:solidFill>
                  <a:srgbClr val="62666B"/>
                </a:solidFill>
                <a:latin typeface="Roboto"/>
                <a:ea typeface="Roboto"/>
                <a:cs typeface="Roboto"/>
              </a:defRPr>
            </a:lvl9pPr>
          </a:lstStyle>
          <a:p>
            <a:pPr algn="l">
              <a:defRPr sz="1313" b="0">
                <a:solidFill>
                  <a:srgbClr val="62666B"/>
                </a:solidFill>
                <a:latin typeface="Roboto"/>
                <a:ea typeface="Roboto"/>
                <a:cs typeface="Roboto"/>
              </a:defRPr>
            </a:pPr>
            <a:r>
              <a:rPr sz="1313" b="0">
                <a:solidFill>
                  <a:srgbClr val="62666B"/>
                </a:solidFill>
                <a:latin typeface="Roboto"/>
                <a:ea typeface="Roboto"/>
                <a:cs typeface="Roboto"/>
              </a:rPr>
              <a:t>On a Mission, stagione 4, episodio 8, 25 agosto 2022.</a:t>
            </a:r>
          </a:p>
        </p:txBody>
      </p:sp>
      <p:sp>
        <p:nvSpPr>
          <p:cNvPr id="8" name="ref-link-1">
            <a:extLst>
              <a:ext uri="{FF2B5EF4-FFF2-40B4-BE49-F238E27FC236}">
                <a16:creationId xmlns:a16="http://schemas.microsoft.com/office/drawing/2014/main" id="{023D4A05-F1E0-49D5-BAAF-ED58D5F2A880}"/>
              </a:ext>
            </a:extLst>
          </p:cNvPr>
          <p:cNvSpPr>
            <a:spLocks noGrp="1"/>
          </p:cNvSpPr>
          <p:nvPr/>
        </p:nvSpPr>
        <p:spPr>
          <a:xfrm>
            <a:off x="1409700" y="2133600"/>
            <a:ext cx="9525000" cy="209550"/>
          </a:xfrm>
          <a:prstGeom prst="rect">
            <a:avLst/>
          </a:prstGeom>
          <a:noFill/>
          <a:ln w="0">
            <a:noFill/>
          </a:ln>
        </p:spPr>
        <p:txBody>
          <a:bodyPr wrap="square" lIns="0" tIns="0" rIns="0" bIns="0" anchor="t">
            <a:noAutofit/>
          </a:bodyPr>
          <a:lstStyle>
            <a:defPPr algn="l">
              <a:defRPr sz="1275" b="0">
                <a:solidFill>
                  <a:srgbClr val="822433"/>
                </a:solidFill>
                <a:latin typeface="Roboto"/>
                <a:ea typeface="Roboto"/>
                <a:cs typeface="Roboto"/>
              </a:defRPr>
            </a:defPPr>
            <a:lvl1pPr algn="l">
              <a:defRPr sz="1275" b="0">
                <a:solidFill>
                  <a:srgbClr val="822433"/>
                </a:solidFill>
                <a:latin typeface="Roboto"/>
                <a:ea typeface="Roboto"/>
                <a:cs typeface="Roboto"/>
              </a:defRPr>
            </a:lvl1pPr>
            <a:lvl2pPr algn="l">
              <a:defRPr sz="1275" b="0">
                <a:solidFill>
                  <a:srgbClr val="822433"/>
                </a:solidFill>
                <a:latin typeface="Roboto"/>
                <a:ea typeface="Roboto"/>
                <a:cs typeface="Roboto"/>
              </a:defRPr>
            </a:lvl2pPr>
            <a:lvl3pPr algn="l">
              <a:defRPr sz="1275" b="0">
                <a:solidFill>
                  <a:srgbClr val="822433"/>
                </a:solidFill>
                <a:latin typeface="Roboto"/>
                <a:ea typeface="Roboto"/>
                <a:cs typeface="Roboto"/>
              </a:defRPr>
            </a:lvl3pPr>
            <a:lvl4pPr algn="l">
              <a:defRPr sz="1275" b="0">
                <a:solidFill>
                  <a:srgbClr val="822433"/>
                </a:solidFill>
                <a:latin typeface="Roboto"/>
                <a:ea typeface="Roboto"/>
                <a:cs typeface="Roboto"/>
              </a:defRPr>
            </a:lvl4pPr>
            <a:lvl5pPr algn="l">
              <a:defRPr sz="1275" b="0">
                <a:solidFill>
                  <a:srgbClr val="822433"/>
                </a:solidFill>
                <a:latin typeface="Roboto"/>
                <a:ea typeface="Roboto"/>
                <a:cs typeface="Roboto"/>
              </a:defRPr>
            </a:lvl5pPr>
            <a:lvl6pPr algn="l">
              <a:defRPr sz="1275" b="0">
                <a:solidFill>
                  <a:srgbClr val="822433"/>
                </a:solidFill>
                <a:latin typeface="Roboto"/>
                <a:ea typeface="Roboto"/>
                <a:cs typeface="Roboto"/>
              </a:defRPr>
            </a:lvl6pPr>
            <a:lvl7pPr algn="l">
              <a:defRPr sz="1275" b="0">
                <a:solidFill>
                  <a:srgbClr val="822433"/>
                </a:solidFill>
                <a:latin typeface="Roboto"/>
                <a:ea typeface="Roboto"/>
                <a:cs typeface="Roboto"/>
              </a:defRPr>
            </a:lvl7pPr>
            <a:lvl8pPr algn="l">
              <a:defRPr sz="1275" b="0">
                <a:solidFill>
                  <a:srgbClr val="822433"/>
                </a:solidFill>
                <a:latin typeface="Roboto"/>
                <a:ea typeface="Roboto"/>
                <a:cs typeface="Roboto"/>
              </a:defRPr>
            </a:lvl8pPr>
            <a:lvl9pPr algn="l">
              <a:defRPr sz="1275" b="0">
                <a:solidFill>
                  <a:srgbClr val="822433"/>
                </a:solidFill>
                <a:latin typeface="Roboto"/>
                <a:ea typeface="Roboto"/>
                <a:cs typeface="Roboto"/>
              </a:defRPr>
            </a:lvl9pPr>
          </a:lstStyle>
          <a:p>
            <a:pPr algn="l">
              <a:defRPr sz="1275" b="0">
                <a:solidFill>
                  <a:srgbClr val="822433"/>
                </a:solidFill>
                <a:latin typeface="Roboto"/>
                <a:ea typeface="Roboto"/>
                <a:cs typeface="Roboto"/>
              </a:defRPr>
            </a:pPr>
            <a:r>
              <a:rPr sz="1275" b="0">
                <a:solidFill>
                  <a:srgbClr val="822433"/>
                </a:solidFill>
                <a:latin typeface="Roboto"/>
                <a:ea typeface="Roboto"/>
                <a:cs typeface="Roboto"/>
                <a:hlinkClick r:id="rId3"/>
              </a:rPr>
              <a:t>jpl.nasa.gov, On a Mission, S4 E8</a:t>
            </a:r>
          </a:p>
        </p:txBody>
      </p:sp>
      <p:sp>
        <p:nvSpPr>
          <p:cNvPr id="9" name="ref-number-2">
            <a:extLst>
              <a:ext uri="{FF2B5EF4-FFF2-40B4-BE49-F238E27FC236}">
                <a16:creationId xmlns:a16="http://schemas.microsoft.com/office/drawing/2014/main" id="{7DB8195F-B1CD-4F3F-96FE-6270F1CC8214}"/>
              </a:ext>
            </a:extLst>
          </p:cNvPr>
          <p:cNvSpPr>
            <a:spLocks noGrp="1"/>
          </p:cNvSpPr>
          <p:nvPr/>
        </p:nvSpPr>
        <p:spPr>
          <a:xfrm>
            <a:off x="857250" y="2400300"/>
            <a:ext cx="495300" cy="333375"/>
          </a:xfrm>
          <a:prstGeom prst="rect">
            <a:avLst/>
          </a:prstGeom>
          <a:noFill/>
          <a:ln w="0">
            <a:noFill/>
          </a:ln>
        </p:spPr>
        <p:txBody>
          <a:bodyPr wrap="square" lIns="0" tIns="0" rIns="0" bIns="0" anchor="t">
            <a:noAutofit/>
          </a:bodyPr>
          <a:lstStyle>
            <a:defPPr algn="l">
              <a:defRPr sz="1650" b="1">
                <a:solidFill>
                  <a:srgbClr val="822433"/>
                </a:solidFill>
                <a:latin typeface="Roboto"/>
                <a:ea typeface="Roboto"/>
                <a:cs typeface="Roboto"/>
              </a:defRPr>
            </a:defPPr>
            <a:lvl1pPr algn="l">
              <a:defRPr sz="1650" b="1">
                <a:solidFill>
                  <a:srgbClr val="822433"/>
                </a:solidFill>
                <a:latin typeface="Roboto"/>
                <a:ea typeface="Roboto"/>
                <a:cs typeface="Roboto"/>
              </a:defRPr>
            </a:lvl1pPr>
            <a:lvl2pPr algn="l">
              <a:defRPr sz="1650" b="1">
                <a:solidFill>
                  <a:srgbClr val="822433"/>
                </a:solidFill>
                <a:latin typeface="Roboto"/>
                <a:ea typeface="Roboto"/>
                <a:cs typeface="Roboto"/>
              </a:defRPr>
            </a:lvl2pPr>
            <a:lvl3pPr algn="l">
              <a:defRPr sz="1650" b="1">
                <a:solidFill>
                  <a:srgbClr val="822433"/>
                </a:solidFill>
                <a:latin typeface="Roboto"/>
                <a:ea typeface="Roboto"/>
                <a:cs typeface="Roboto"/>
              </a:defRPr>
            </a:lvl3pPr>
            <a:lvl4pPr algn="l">
              <a:defRPr sz="1650" b="1">
                <a:solidFill>
                  <a:srgbClr val="822433"/>
                </a:solidFill>
                <a:latin typeface="Roboto"/>
                <a:ea typeface="Roboto"/>
                <a:cs typeface="Roboto"/>
              </a:defRPr>
            </a:lvl4pPr>
            <a:lvl5pPr algn="l">
              <a:defRPr sz="1650" b="1">
                <a:solidFill>
                  <a:srgbClr val="822433"/>
                </a:solidFill>
                <a:latin typeface="Roboto"/>
                <a:ea typeface="Roboto"/>
                <a:cs typeface="Roboto"/>
              </a:defRPr>
            </a:lvl5pPr>
            <a:lvl6pPr algn="l">
              <a:defRPr sz="1650" b="1">
                <a:solidFill>
                  <a:srgbClr val="822433"/>
                </a:solidFill>
                <a:latin typeface="Roboto"/>
                <a:ea typeface="Roboto"/>
                <a:cs typeface="Roboto"/>
              </a:defRPr>
            </a:lvl6pPr>
            <a:lvl7pPr algn="l">
              <a:defRPr sz="1650" b="1">
                <a:solidFill>
                  <a:srgbClr val="822433"/>
                </a:solidFill>
                <a:latin typeface="Roboto"/>
                <a:ea typeface="Roboto"/>
                <a:cs typeface="Roboto"/>
              </a:defRPr>
            </a:lvl7pPr>
            <a:lvl8pPr algn="l">
              <a:defRPr sz="1650" b="1">
                <a:solidFill>
                  <a:srgbClr val="822433"/>
                </a:solidFill>
                <a:latin typeface="Roboto"/>
                <a:ea typeface="Roboto"/>
                <a:cs typeface="Roboto"/>
              </a:defRPr>
            </a:lvl8pPr>
            <a:lvl9pPr algn="l">
              <a:defRPr sz="1650" b="1">
                <a:solidFill>
                  <a:srgbClr val="822433"/>
                </a:solidFill>
                <a:latin typeface="Roboto"/>
                <a:ea typeface="Roboto"/>
                <a:cs typeface="Roboto"/>
              </a:defRPr>
            </a:lvl9pPr>
          </a:lstStyle>
          <a:p>
            <a:pPr algn="l">
              <a:defRPr sz="1650" b="1">
                <a:solidFill>
                  <a:srgbClr val="822433"/>
                </a:solidFill>
                <a:latin typeface="Roboto"/>
                <a:ea typeface="Roboto"/>
                <a:cs typeface="Roboto"/>
              </a:defRPr>
            </a:pPr>
            <a:r>
              <a:rPr sz="1650" b="1">
                <a:solidFill>
                  <a:srgbClr val="822433"/>
                </a:solidFill>
                <a:latin typeface="Roboto"/>
                <a:ea typeface="Roboto"/>
                <a:cs typeface="Roboto"/>
              </a:rPr>
              <a:t>[2]</a:t>
            </a:r>
          </a:p>
        </p:txBody>
      </p:sp>
      <p:sp>
        <p:nvSpPr>
          <p:cNvPr id="10" name="ref-title-2">
            <a:extLst>
              <a:ext uri="{FF2B5EF4-FFF2-40B4-BE49-F238E27FC236}">
                <a16:creationId xmlns:a16="http://schemas.microsoft.com/office/drawing/2014/main" id="{5562D28D-8800-45A2-B3E5-203C79899BA8}"/>
              </a:ext>
            </a:extLst>
          </p:cNvPr>
          <p:cNvSpPr>
            <a:spLocks noGrp="1"/>
          </p:cNvSpPr>
          <p:nvPr/>
        </p:nvSpPr>
        <p:spPr>
          <a:xfrm>
            <a:off x="1409700" y="2400300"/>
            <a:ext cx="9525000" cy="495300"/>
          </a:xfrm>
          <a:prstGeom prst="rect">
            <a:avLst/>
          </a:prstGeom>
          <a:noFill/>
          <a:ln w="0">
            <a:noFill/>
          </a:ln>
        </p:spPr>
        <p:txBody>
          <a:bodyPr wrap="square" lIns="0" tIns="0" rIns="0" bIns="0" anchor="t">
            <a:noAutofit/>
          </a:bodyPr>
          <a:lstStyle>
            <a:defPPr algn="l">
              <a:defRPr sz="1538" b="0">
                <a:solidFill>
                  <a:srgbClr val="202124"/>
                </a:solidFill>
                <a:latin typeface="Roboto"/>
                <a:ea typeface="Roboto"/>
                <a:cs typeface="Roboto"/>
              </a:defRPr>
            </a:defPPr>
            <a:lvl1pPr algn="l">
              <a:defRPr sz="1538" b="0">
                <a:solidFill>
                  <a:srgbClr val="202124"/>
                </a:solidFill>
                <a:latin typeface="Roboto"/>
                <a:ea typeface="Roboto"/>
                <a:cs typeface="Roboto"/>
              </a:defRPr>
            </a:lvl1pPr>
            <a:lvl2pPr algn="l">
              <a:defRPr sz="1538" b="0">
                <a:solidFill>
                  <a:srgbClr val="202124"/>
                </a:solidFill>
                <a:latin typeface="Roboto"/>
                <a:ea typeface="Roboto"/>
                <a:cs typeface="Roboto"/>
              </a:defRPr>
            </a:lvl2pPr>
            <a:lvl3pPr algn="l">
              <a:defRPr sz="1538" b="0">
                <a:solidFill>
                  <a:srgbClr val="202124"/>
                </a:solidFill>
                <a:latin typeface="Roboto"/>
                <a:ea typeface="Roboto"/>
                <a:cs typeface="Roboto"/>
              </a:defRPr>
            </a:lvl3pPr>
            <a:lvl4pPr algn="l">
              <a:defRPr sz="1538" b="0">
                <a:solidFill>
                  <a:srgbClr val="202124"/>
                </a:solidFill>
                <a:latin typeface="Roboto"/>
                <a:ea typeface="Roboto"/>
                <a:cs typeface="Roboto"/>
              </a:defRPr>
            </a:lvl4pPr>
            <a:lvl5pPr algn="l">
              <a:defRPr sz="1538" b="0">
                <a:solidFill>
                  <a:srgbClr val="202124"/>
                </a:solidFill>
                <a:latin typeface="Roboto"/>
                <a:ea typeface="Roboto"/>
                <a:cs typeface="Roboto"/>
              </a:defRPr>
            </a:lvl5pPr>
            <a:lvl6pPr algn="l">
              <a:defRPr sz="1538" b="0">
                <a:solidFill>
                  <a:srgbClr val="202124"/>
                </a:solidFill>
                <a:latin typeface="Roboto"/>
                <a:ea typeface="Roboto"/>
                <a:cs typeface="Roboto"/>
              </a:defRPr>
            </a:lvl6pPr>
            <a:lvl7pPr algn="l">
              <a:defRPr sz="1538" b="0">
                <a:solidFill>
                  <a:srgbClr val="202124"/>
                </a:solidFill>
                <a:latin typeface="Roboto"/>
                <a:ea typeface="Roboto"/>
                <a:cs typeface="Roboto"/>
              </a:defRPr>
            </a:lvl7pPr>
            <a:lvl8pPr algn="l">
              <a:defRPr sz="1538" b="0">
                <a:solidFill>
                  <a:srgbClr val="202124"/>
                </a:solidFill>
                <a:latin typeface="Roboto"/>
                <a:ea typeface="Roboto"/>
                <a:cs typeface="Roboto"/>
              </a:defRPr>
            </a:lvl8pPr>
            <a:lvl9pPr algn="l">
              <a:defRPr sz="1538" b="0">
                <a:solidFill>
                  <a:srgbClr val="202124"/>
                </a:solidFill>
                <a:latin typeface="Roboto"/>
                <a:ea typeface="Roboto"/>
                <a:cs typeface="Roboto"/>
              </a:defRPr>
            </a:lvl9pPr>
          </a:lstStyle>
          <a:p>
            <a:pPr algn="l">
              <a:defRPr sz="1538" b="0">
                <a:solidFill>
                  <a:srgbClr val="202124"/>
                </a:solidFill>
                <a:latin typeface="Roboto"/>
                <a:ea typeface="Roboto"/>
                <a:cs typeface="Roboto"/>
              </a:defRPr>
            </a:pPr>
            <a:r>
              <a:rPr sz="1538" b="0">
                <a:solidFill>
                  <a:srgbClr val="202124"/>
                </a:solidFill>
                <a:latin typeface="Roboto"/>
                <a:ea typeface="Roboto"/>
                <a:cs typeface="Roboto"/>
              </a:rPr>
              <a:t>A. Rankin et al. Assessing Mars Curiosity Rover Wheel Damage.</a:t>
            </a:r>
          </a:p>
        </p:txBody>
      </p:sp>
      <p:sp>
        <p:nvSpPr>
          <p:cNvPr id="11" name="ref-venue-2">
            <a:extLst>
              <a:ext uri="{FF2B5EF4-FFF2-40B4-BE49-F238E27FC236}">
                <a16:creationId xmlns:a16="http://schemas.microsoft.com/office/drawing/2014/main" id="{D7F45EEC-3092-477A-BC6F-E2A165492C04}"/>
              </a:ext>
            </a:extLst>
          </p:cNvPr>
          <p:cNvSpPr>
            <a:spLocks noGrp="1"/>
          </p:cNvSpPr>
          <p:nvPr/>
        </p:nvSpPr>
        <p:spPr>
          <a:xfrm>
            <a:off x="1409700" y="2905125"/>
            <a:ext cx="9525000" cy="219075"/>
          </a:xfrm>
          <a:prstGeom prst="rect">
            <a:avLst/>
          </a:prstGeom>
          <a:noFill/>
          <a:ln w="0">
            <a:noFill/>
          </a:ln>
        </p:spPr>
        <p:txBody>
          <a:bodyPr wrap="square" lIns="0" tIns="0" rIns="0" bIns="0" anchor="t">
            <a:noAutofit/>
          </a:bodyPr>
          <a:lstStyle>
            <a:defPPr algn="l">
              <a:defRPr sz="1313" b="0">
                <a:solidFill>
                  <a:srgbClr val="62666B"/>
                </a:solidFill>
                <a:latin typeface="Roboto"/>
                <a:ea typeface="Roboto"/>
                <a:cs typeface="Roboto"/>
              </a:defRPr>
            </a:defPPr>
            <a:lvl1pPr algn="l">
              <a:defRPr sz="1313" b="0">
                <a:solidFill>
                  <a:srgbClr val="62666B"/>
                </a:solidFill>
                <a:latin typeface="Roboto"/>
                <a:ea typeface="Roboto"/>
                <a:cs typeface="Roboto"/>
              </a:defRPr>
            </a:lvl1pPr>
            <a:lvl2pPr algn="l">
              <a:defRPr sz="1313" b="0">
                <a:solidFill>
                  <a:srgbClr val="62666B"/>
                </a:solidFill>
                <a:latin typeface="Roboto"/>
                <a:ea typeface="Roboto"/>
                <a:cs typeface="Roboto"/>
              </a:defRPr>
            </a:lvl2pPr>
            <a:lvl3pPr algn="l">
              <a:defRPr sz="1313" b="0">
                <a:solidFill>
                  <a:srgbClr val="62666B"/>
                </a:solidFill>
                <a:latin typeface="Roboto"/>
                <a:ea typeface="Roboto"/>
                <a:cs typeface="Roboto"/>
              </a:defRPr>
            </a:lvl3pPr>
            <a:lvl4pPr algn="l">
              <a:defRPr sz="1313" b="0">
                <a:solidFill>
                  <a:srgbClr val="62666B"/>
                </a:solidFill>
                <a:latin typeface="Roboto"/>
                <a:ea typeface="Roboto"/>
                <a:cs typeface="Roboto"/>
              </a:defRPr>
            </a:lvl4pPr>
            <a:lvl5pPr algn="l">
              <a:defRPr sz="1313" b="0">
                <a:solidFill>
                  <a:srgbClr val="62666B"/>
                </a:solidFill>
                <a:latin typeface="Roboto"/>
                <a:ea typeface="Roboto"/>
                <a:cs typeface="Roboto"/>
              </a:defRPr>
            </a:lvl5pPr>
            <a:lvl6pPr algn="l">
              <a:defRPr sz="1313" b="0">
                <a:solidFill>
                  <a:srgbClr val="62666B"/>
                </a:solidFill>
                <a:latin typeface="Roboto"/>
                <a:ea typeface="Roboto"/>
                <a:cs typeface="Roboto"/>
              </a:defRPr>
            </a:lvl6pPr>
            <a:lvl7pPr algn="l">
              <a:defRPr sz="1313" b="0">
                <a:solidFill>
                  <a:srgbClr val="62666B"/>
                </a:solidFill>
                <a:latin typeface="Roboto"/>
                <a:ea typeface="Roboto"/>
                <a:cs typeface="Roboto"/>
              </a:defRPr>
            </a:lvl7pPr>
            <a:lvl8pPr algn="l">
              <a:defRPr sz="1313" b="0">
                <a:solidFill>
                  <a:srgbClr val="62666B"/>
                </a:solidFill>
                <a:latin typeface="Roboto"/>
                <a:ea typeface="Roboto"/>
                <a:cs typeface="Roboto"/>
              </a:defRPr>
            </a:lvl8pPr>
            <a:lvl9pPr algn="l">
              <a:defRPr sz="1313" b="0">
                <a:solidFill>
                  <a:srgbClr val="62666B"/>
                </a:solidFill>
                <a:latin typeface="Roboto"/>
                <a:ea typeface="Roboto"/>
                <a:cs typeface="Roboto"/>
              </a:defRPr>
            </a:lvl9pPr>
          </a:lstStyle>
          <a:p>
            <a:pPr algn="l">
              <a:defRPr sz="1313" b="0">
                <a:solidFill>
                  <a:srgbClr val="62666B"/>
                </a:solidFill>
                <a:latin typeface="Roboto"/>
                <a:ea typeface="Roboto"/>
                <a:cs typeface="Roboto"/>
              </a:defRPr>
            </a:pPr>
            <a:r>
              <a:rPr sz="1313" b="0">
                <a:solidFill>
                  <a:srgbClr val="62666B"/>
                </a:solidFill>
                <a:latin typeface="Roboto"/>
                <a:ea typeface="Roboto"/>
                <a:cs typeface="Roboto"/>
              </a:rPr>
              <a:t>IEEE Aerospace Conference, 2022, pp. 1–19.</a:t>
            </a:r>
          </a:p>
        </p:txBody>
      </p:sp>
      <p:sp>
        <p:nvSpPr>
          <p:cNvPr id="12" name="ref-link-2">
            <a:extLst>
              <a:ext uri="{FF2B5EF4-FFF2-40B4-BE49-F238E27FC236}">
                <a16:creationId xmlns:a16="http://schemas.microsoft.com/office/drawing/2014/main" id="{0DC093CD-71D4-4C9C-94A3-219D6D492DAA}"/>
              </a:ext>
            </a:extLst>
          </p:cNvPr>
          <p:cNvSpPr>
            <a:spLocks noGrp="1"/>
          </p:cNvSpPr>
          <p:nvPr/>
        </p:nvSpPr>
        <p:spPr>
          <a:xfrm>
            <a:off x="1409700" y="3124200"/>
            <a:ext cx="9525000" cy="209550"/>
          </a:xfrm>
          <a:prstGeom prst="rect">
            <a:avLst/>
          </a:prstGeom>
          <a:noFill/>
          <a:ln w="0">
            <a:noFill/>
          </a:ln>
        </p:spPr>
        <p:txBody>
          <a:bodyPr wrap="square" lIns="0" tIns="0" rIns="0" bIns="0" anchor="t">
            <a:noAutofit/>
          </a:bodyPr>
          <a:lstStyle>
            <a:defPPr algn="l">
              <a:defRPr sz="1275" b="0">
                <a:solidFill>
                  <a:srgbClr val="822433"/>
                </a:solidFill>
                <a:latin typeface="Roboto"/>
                <a:ea typeface="Roboto"/>
                <a:cs typeface="Roboto"/>
              </a:defRPr>
            </a:defPPr>
            <a:lvl1pPr algn="l">
              <a:defRPr sz="1275" b="0">
                <a:solidFill>
                  <a:srgbClr val="822433"/>
                </a:solidFill>
                <a:latin typeface="Roboto"/>
                <a:ea typeface="Roboto"/>
                <a:cs typeface="Roboto"/>
              </a:defRPr>
            </a:lvl1pPr>
            <a:lvl2pPr algn="l">
              <a:defRPr sz="1275" b="0">
                <a:solidFill>
                  <a:srgbClr val="822433"/>
                </a:solidFill>
                <a:latin typeface="Roboto"/>
                <a:ea typeface="Roboto"/>
                <a:cs typeface="Roboto"/>
              </a:defRPr>
            </a:lvl2pPr>
            <a:lvl3pPr algn="l">
              <a:defRPr sz="1275" b="0">
                <a:solidFill>
                  <a:srgbClr val="822433"/>
                </a:solidFill>
                <a:latin typeface="Roboto"/>
                <a:ea typeface="Roboto"/>
                <a:cs typeface="Roboto"/>
              </a:defRPr>
            </a:lvl3pPr>
            <a:lvl4pPr algn="l">
              <a:defRPr sz="1275" b="0">
                <a:solidFill>
                  <a:srgbClr val="822433"/>
                </a:solidFill>
                <a:latin typeface="Roboto"/>
                <a:ea typeface="Roboto"/>
                <a:cs typeface="Roboto"/>
              </a:defRPr>
            </a:lvl4pPr>
            <a:lvl5pPr algn="l">
              <a:defRPr sz="1275" b="0">
                <a:solidFill>
                  <a:srgbClr val="822433"/>
                </a:solidFill>
                <a:latin typeface="Roboto"/>
                <a:ea typeface="Roboto"/>
                <a:cs typeface="Roboto"/>
              </a:defRPr>
            </a:lvl5pPr>
            <a:lvl6pPr algn="l">
              <a:defRPr sz="1275" b="0">
                <a:solidFill>
                  <a:srgbClr val="822433"/>
                </a:solidFill>
                <a:latin typeface="Roboto"/>
                <a:ea typeface="Roboto"/>
                <a:cs typeface="Roboto"/>
              </a:defRPr>
            </a:lvl6pPr>
            <a:lvl7pPr algn="l">
              <a:defRPr sz="1275" b="0">
                <a:solidFill>
                  <a:srgbClr val="822433"/>
                </a:solidFill>
                <a:latin typeface="Roboto"/>
                <a:ea typeface="Roboto"/>
                <a:cs typeface="Roboto"/>
              </a:defRPr>
            </a:lvl7pPr>
            <a:lvl8pPr algn="l">
              <a:defRPr sz="1275" b="0">
                <a:solidFill>
                  <a:srgbClr val="822433"/>
                </a:solidFill>
                <a:latin typeface="Roboto"/>
                <a:ea typeface="Roboto"/>
                <a:cs typeface="Roboto"/>
              </a:defRPr>
            </a:lvl8pPr>
            <a:lvl9pPr algn="l">
              <a:defRPr sz="1275" b="0">
                <a:solidFill>
                  <a:srgbClr val="822433"/>
                </a:solidFill>
                <a:latin typeface="Roboto"/>
                <a:ea typeface="Roboto"/>
                <a:cs typeface="Roboto"/>
              </a:defRPr>
            </a:lvl9pPr>
          </a:lstStyle>
          <a:p>
            <a:pPr algn="l">
              <a:defRPr sz="1275" b="0">
                <a:solidFill>
                  <a:srgbClr val="822433"/>
                </a:solidFill>
                <a:latin typeface="Roboto"/>
                <a:ea typeface="Roboto"/>
                <a:cs typeface="Roboto"/>
              </a:defRPr>
            </a:pPr>
            <a:r>
              <a:rPr sz="1275" b="0">
                <a:solidFill>
                  <a:srgbClr val="822433"/>
                </a:solidFill>
                <a:latin typeface="Roboto"/>
                <a:ea typeface="Roboto"/>
                <a:cs typeface="Roboto"/>
                <a:hlinkClick r:id="rId4"/>
              </a:rPr>
              <a:t>robotics.jpl.nasa.gov, fmwi-rankin-2022-0225-final.pdf</a:t>
            </a:r>
          </a:p>
        </p:txBody>
      </p:sp>
      <p:sp>
        <p:nvSpPr>
          <p:cNvPr id="13" name="ref-number-3">
            <a:extLst>
              <a:ext uri="{FF2B5EF4-FFF2-40B4-BE49-F238E27FC236}">
                <a16:creationId xmlns:a16="http://schemas.microsoft.com/office/drawing/2014/main" id="{84F08D38-8029-4D12-859D-984BE8D432BA}"/>
              </a:ext>
            </a:extLst>
          </p:cNvPr>
          <p:cNvSpPr>
            <a:spLocks noGrp="1"/>
          </p:cNvSpPr>
          <p:nvPr/>
        </p:nvSpPr>
        <p:spPr>
          <a:xfrm>
            <a:off x="857250" y="3390900"/>
            <a:ext cx="495300" cy="333375"/>
          </a:xfrm>
          <a:prstGeom prst="rect">
            <a:avLst/>
          </a:prstGeom>
          <a:noFill/>
          <a:ln w="0">
            <a:noFill/>
          </a:ln>
        </p:spPr>
        <p:txBody>
          <a:bodyPr wrap="square" lIns="0" tIns="0" rIns="0" bIns="0" anchor="t">
            <a:noAutofit/>
          </a:bodyPr>
          <a:lstStyle>
            <a:defPPr algn="l">
              <a:defRPr sz="1650" b="1">
                <a:solidFill>
                  <a:srgbClr val="822433"/>
                </a:solidFill>
                <a:latin typeface="Roboto"/>
                <a:ea typeface="Roboto"/>
                <a:cs typeface="Roboto"/>
              </a:defRPr>
            </a:defPPr>
            <a:lvl1pPr algn="l">
              <a:defRPr sz="1650" b="1">
                <a:solidFill>
                  <a:srgbClr val="822433"/>
                </a:solidFill>
                <a:latin typeface="Roboto"/>
                <a:ea typeface="Roboto"/>
                <a:cs typeface="Roboto"/>
              </a:defRPr>
            </a:lvl1pPr>
            <a:lvl2pPr algn="l">
              <a:defRPr sz="1650" b="1">
                <a:solidFill>
                  <a:srgbClr val="822433"/>
                </a:solidFill>
                <a:latin typeface="Roboto"/>
                <a:ea typeface="Roboto"/>
                <a:cs typeface="Roboto"/>
              </a:defRPr>
            </a:lvl2pPr>
            <a:lvl3pPr algn="l">
              <a:defRPr sz="1650" b="1">
                <a:solidFill>
                  <a:srgbClr val="822433"/>
                </a:solidFill>
                <a:latin typeface="Roboto"/>
                <a:ea typeface="Roboto"/>
                <a:cs typeface="Roboto"/>
              </a:defRPr>
            </a:lvl3pPr>
            <a:lvl4pPr algn="l">
              <a:defRPr sz="1650" b="1">
                <a:solidFill>
                  <a:srgbClr val="822433"/>
                </a:solidFill>
                <a:latin typeface="Roboto"/>
                <a:ea typeface="Roboto"/>
                <a:cs typeface="Roboto"/>
              </a:defRPr>
            </a:lvl4pPr>
            <a:lvl5pPr algn="l">
              <a:defRPr sz="1650" b="1">
                <a:solidFill>
                  <a:srgbClr val="822433"/>
                </a:solidFill>
                <a:latin typeface="Roboto"/>
                <a:ea typeface="Roboto"/>
                <a:cs typeface="Roboto"/>
              </a:defRPr>
            </a:lvl5pPr>
            <a:lvl6pPr algn="l">
              <a:defRPr sz="1650" b="1">
                <a:solidFill>
                  <a:srgbClr val="822433"/>
                </a:solidFill>
                <a:latin typeface="Roboto"/>
                <a:ea typeface="Roboto"/>
                <a:cs typeface="Roboto"/>
              </a:defRPr>
            </a:lvl6pPr>
            <a:lvl7pPr algn="l">
              <a:defRPr sz="1650" b="1">
                <a:solidFill>
                  <a:srgbClr val="822433"/>
                </a:solidFill>
                <a:latin typeface="Roboto"/>
                <a:ea typeface="Roboto"/>
                <a:cs typeface="Roboto"/>
              </a:defRPr>
            </a:lvl7pPr>
            <a:lvl8pPr algn="l">
              <a:defRPr sz="1650" b="1">
                <a:solidFill>
                  <a:srgbClr val="822433"/>
                </a:solidFill>
                <a:latin typeface="Roboto"/>
                <a:ea typeface="Roboto"/>
                <a:cs typeface="Roboto"/>
              </a:defRPr>
            </a:lvl8pPr>
            <a:lvl9pPr algn="l">
              <a:defRPr sz="1650" b="1">
                <a:solidFill>
                  <a:srgbClr val="822433"/>
                </a:solidFill>
                <a:latin typeface="Roboto"/>
                <a:ea typeface="Roboto"/>
                <a:cs typeface="Roboto"/>
              </a:defRPr>
            </a:lvl9pPr>
          </a:lstStyle>
          <a:p>
            <a:pPr algn="l">
              <a:defRPr sz="1650" b="1">
                <a:solidFill>
                  <a:srgbClr val="822433"/>
                </a:solidFill>
                <a:latin typeface="Roboto"/>
                <a:ea typeface="Roboto"/>
                <a:cs typeface="Roboto"/>
              </a:defRPr>
            </a:pPr>
            <a:r>
              <a:rPr sz="1650" b="1">
                <a:solidFill>
                  <a:srgbClr val="822433"/>
                </a:solidFill>
                <a:latin typeface="Roboto"/>
                <a:ea typeface="Roboto"/>
                <a:cs typeface="Roboto"/>
              </a:rPr>
              <a:t>[3]</a:t>
            </a:r>
          </a:p>
        </p:txBody>
      </p:sp>
      <p:sp>
        <p:nvSpPr>
          <p:cNvPr id="14" name="ref-title-3">
            <a:extLst>
              <a:ext uri="{FF2B5EF4-FFF2-40B4-BE49-F238E27FC236}">
                <a16:creationId xmlns:a16="http://schemas.microsoft.com/office/drawing/2014/main" id="{1876A8EF-D783-40E2-83F5-FDD7EF373FAA}"/>
              </a:ext>
            </a:extLst>
          </p:cNvPr>
          <p:cNvSpPr>
            <a:spLocks noGrp="1"/>
          </p:cNvSpPr>
          <p:nvPr/>
        </p:nvSpPr>
        <p:spPr>
          <a:xfrm>
            <a:off x="1409700" y="3390900"/>
            <a:ext cx="9525000" cy="495300"/>
          </a:xfrm>
          <a:prstGeom prst="rect">
            <a:avLst/>
          </a:prstGeom>
          <a:noFill/>
          <a:ln w="0">
            <a:noFill/>
          </a:ln>
        </p:spPr>
        <p:txBody>
          <a:bodyPr wrap="square" lIns="0" tIns="0" rIns="0" bIns="0" anchor="t">
            <a:noAutofit/>
          </a:bodyPr>
          <a:lstStyle>
            <a:defPPr algn="l">
              <a:defRPr sz="1538" b="0">
                <a:solidFill>
                  <a:srgbClr val="202124"/>
                </a:solidFill>
                <a:latin typeface="Roboto"/>
                <a:ea typeface="Roboto"/>
                <a:cs typeface="Roboto"/>
              </a:defRPr>
            </a:defPPr>
            <a:lvl1pPr algn="l">
              <a:defRPr sz="1538" b="0">
                <a:solidFill>
                  <a:srgbClr val="202124"/>
                </a:solidFill>
                <a:latin typeface="Roboto"/>
                <a:ea typeface="Roboto"/>
                <a:cs typeface="Roboto"/>
              </a:defRPr>
            </a:lvl1pPr>
            <a:lvl2pPr algn="l">
              <a:defRPr sz="1538" b="0">
                <a:solidFill>
                  <a:srgbClr val="202124"/>
                </a:solidFill>
                <a:latin typeface="Roboto"/>
                <a:ea typeface="Roboto"/>
                <a:cs typeface="Roboto"/>
              </a:defRPr>
            </a:lvl2pPr>
            <a:lvl3pPr algn="l">
              <a:defRPr sz="1538" b="0">
                <a:solidFill>
                  <a:srgbClr val="202124"/>
                </a:solidFill>
                <a:latin typeface="Roboto"/>
                <a:ea typeface="Roboto"/>
                <a:cs typeface="Roboto"/>
              </a:defRPr>
            </a:lvl3pPr>
            <a:lvl4pPr algn="l">
              <a:defRPr sz="1538" b="0">
                <a:solidFill>
                  <a:srgbClr val="202124"/>
                </a:solidFill>
                <a:latin typeface="Roboto"/>
                <a:ea typeface="Roboto"/>
                <a:cs typeface="Roboto"/>
              </a:defRPr>
            </a:lvl4pPr>
            <a:lvl5pPr algn="l">
              <a:defRPr sz="1538" b="0">
                <a:solidFill>
                  <a:srgbClr val="202124"/>
                </a:solidFill>
                <a:latin typeface="Roboto"/>
                <a:ea typeface="Roboto"/>
                <a:cs typeface="Roboto"/>
              </a:defRPr>
            </a:lvl5pPr>
            <a:lvl6pPr algn="l">
              <a:defRPr sz="1538" b="0">
                <a:solidFill>
                  <a:srgbClr val="202124"/>
                </a:solidFill>
                <a:latin typeface="Roboto"/>
                <a:ea typeface="Roboto"/>
                <a:cs typeface="Roboto"/>
              </a:defRPr>
            </a:lvl6pPr>
            <a:lvl7pPr algn="l">
              <a:defRPr sz="1538" b="0">
                <a:solidFill>
                  <a:srgbClr val="202124"/>
                </a:solidFill>
                <a:latin typeface="Roboto"/>
                <a:ea typeface="Roboto"/>
                <a:cs typeface="Roboto"/>
              </a:defRPr>
            </a:lvl7pPr>
            <a:lvl8pPr algn="l">
              <a:defRPr sz="1538" b="0">
                <a:solidFill>
                  <a:srgbClr val="202124"/>
                </a:solidFill>
                <a:latin typeface="Roboto"/>
                <a:ea typeface="Roboto"/>
                <a:cs typeface="Roboto"/>
              </a:defRPr>
            </a:lvl8pPr>
            <a:lvl9pPr algn="l">
              <a:defRPr sz="1538" b="0">
                <a:solidFill>
                  <a:srgbClr val="202124"/>
                </a:solidFill>
                <a:latin typeface="Roboto"/>
                <a:ea typeface="Roboto"/>
                <a:cs typeface="Roboto"/>
              </a:defRPr>
            </a:lvl9pPr>
          </a:lstStyle>
          <a:p>
            <a:pPr algn="l">
              <a:defRPr sz="1538" b="0">
                <a:solidFill>
                  <a:srgbClr val="202124"/>
                </a:solidFill>
                <a:latin typeface="Roboto"/>
                <a:ea typeface="Roboto"/>
                <a:cs typeface="Roboto"/>
              </a:defRPr>
            </a:pPr>
            <a:r>
              <a:rPr sz="1538" b="0">
                <a:solidFill>
                  <a:srgbClr val="202124"/>
                </a:solidFill>
                <a:latin typeface="Roboto"/>
                <a:ea typeface="Roboto"/>
                <a:cs typeface="Roboto"/>
              </a:rPr>
              <a:t>NASA. Routine Inspection of Rover Wheel Wear and Tear.</a:t>
            </a:r>
          </a:p>
        </p:txBody>
      </p:sp>
      <p:sp>
        <p:nvSpPr>
          <p:cNvPr id="15" name="ref-venue-3">
            <a:extLst>
              <a:ext uri="{FF2B5EF4-FFF2-40B4-BE49-F238E27FC236}">
                <a16:creationId xmlns:a16="http://schemas.microsoft.com/office/drawing/2014/main" id="{75ED2001-5EEC-4901-A34A-6B9048EA7AC5}"/>
              </a:ext>
            </a:extLst>
          </p:cNvPr>
          <p:cNvSpPr>
            <a:spLocks noGrp="1"/>
          </p:cNvSpPr>
          <p:nvPr/>
        </p:nvSpPr>
        <p:spPr>
          <a:xfrm>
            <a:off x="1409700" y="3895725"/>
            <a:ext cx="9525000" cy="219075"/>
          </a:xfrm>
          <a:prstGeom prst="rect">
            <a:avLst/>
          </a:prstGeom>
          <a:noFill/>
          <a:ln w="0">
            <a:noFill/>
          </a:ln>
        </p:spPr>
        <p:txBody>
          <a:bodyPr wrap="square" lIns="0" tIns="0" rIns="0" bIns="0" anchor="t">
            <a:noAutofit/>
          </a:bodyPr>
          <a:lstStyle>
            <a:defPPr algn="l">
              <a:defRPr sz="1313" b="0">
                <a:solidFill>
                  <a:srgbClr val="62666B"/>
                </a:solidFill>
                <a:latin typeface="Roboto"/>
                <a:ea typeface="Roboto"/>
                <a:cs typeface="Roboto"/>
              </a:defRPr>
            </a:defPPr>
            <a:lvl1pPr algn="l">
              <a:defRPr sz="1313" b="0">
                <a:solidFill>
                  <a:srgbClr val="62666B"/>
                </a:solidFill>
                <a:latin typeface="Roboto"/>
                <a:ea typeface="Roboto"/>
                <a:cs typeface="Roboto"/>
              </a:defRPr>
            </a:lvl1pPr>
            <a:lvl2pPr algn="l">
              <a:defRPr sz="1313" b="0">
                <a:solidFill>
                  <a:srgbClr val="62666B"/>
                </a:solidFill>
                <a:latin typeface="Roboto"/>
                <a:ea typeface="Roboto"/>
                <a:cs typeface="Roboto"/>
              </a:defRPr>
            </a:lvl2pPr>
            <a:lvl3pPr algn="l">
              <a:defRPr sz="1313" b="0">
                <a:solidFill>
                  <a:srgbClr val="62666B"/>
                </a:solidFill>
                <a:latin typeface="Roboto"/>
                <a:ea typeface="Roboto"/>
                <a:cs typeface="Roboto"/>
              </a:defRPr>
            </a:lvl3pPr>
            <a:lvl4pPr algn="l">
              <a:defRPr sz="1313" b="0">
                <a:solidFill>
                  <a:srgbClr val="62666B"/>
                </a:solidFill>
                <a:latin typeface="Roboto"/>
                <a:ea typeface="Roboto"/>
                <a:cs typeface="Roboto"/>
              </a:defRPr>
            </a:lvl4pPr>
            <a:lvl5pPr algn="l">
              <a:defRPr sz="1313" b="0">
                <a:solidFill>
                  <a:srgbClr val="62666B"/>
                </a:solidFill>
                <a:latin typeface="Roboto"/>
                <a:ea typeface="Roboto"/>
                <a:cs typeface="Roboto"/>
              </a:defRPr>
            </a:lvl5pPr>
            <a:lvl6pPr algn="l">
              <a:defRPr sz="1313" b="0">
                <a:solidFill>
                  <a:srgbClr val="62666B"/>
                </a:solidFill>
                <a:latin typeface="Roboto"/>
                <a:ea typeface="Roboto"/>
                <a:cs typeface="Roboto"/>
              </a:defRPr>
            </a:lvl6pPr>
            <a:lvl7pPr algn="l">
              <a:defRPr sz="1313" b="0">
                <a:solidFill>
                  <a:srgbClr val="62666B"/>
                </a:solidFill>
                <a:latin typeface="Roboto"/>
                <a:ea typeface="Roboto"/>
                <a:cs typeface="Roboto"/>
              </a:defRPr>
            </a:lvl7pPr>
            <a:lvl8pPr algn="l">
              <a:defRPr sz="1313" b="0">
                <a:solidFill>
                  <a:srgbClr val="62666B"/>
                </a:solidFill>
                <a:latin typeface="Roboto"/>
                <a:ea typeface="Roboto"/>
                <a:cs typeface="Roboto"/>
              </a:defRPr>
            </a:lvl8pPr>
            <a:lvl9pPr algn="l">
              <a:defRPr sz="1313" b="0">
                <a:solidFill>
                  <a:srgbClr val="62666B"/>
                </a:solidFill>
                <a:latin typeface="Roboto"/>
                <a:ea typeface="Roboto"/>
                <a:cs typeface="Roboto"/>
              </a:defRPr>
            </a:lvl9pPr>
          </a:lstStyle>
          <a:p>
            <a:pPr algn="l">
              <a:defRPr sz="1313" b="0">
                <a:solidFill>
                  <a:srgbClr val="62666B"/>
                </a:solidFill>
                <a:latin typeface="Roboto"/>
                <a:ea typeface="Roboto"/>
                <a:cs typeface="Roboto"/>
              </a:defRPr>
            </a:pPr>
            <a:r>
              <a:rPr sz="1313" b="0">
                <a:solidFill>
                  <a:srgbClr val="62666B"/>
                </a:solidFill>
                <a:latin typeface="Roboto"/>
                <a:ea typeface="Roboto"/>
                <a:cs typeface="Roboto"/>
              </a:rPr>
              <a:t>NASA Science, 27 aprile 2016. Immagine PIA20334.</a:t>
            </a:r>
          </a:p>
        </p:txBody>
      </p:sp>
      <p:sp>
        <p:nvSpPr>
          <p:cNvPr id="16" name="ref-link-3">
            <a:extLst>
              <a:ext uri="{FF2B5EF4-FFF2-40B4-BE49-F238E27FC236}">
                <a16:creationId xmlns:a16="http://schemas.microsoft.com/office/drawing/2014/main" id="{E0E692E8-8855-4C2D-8703-81B743F46E02}"/>
              </a:ext>
            </a:extLst>
          </p:cNvPr>
          <p:cNvSpPr>
            <a:spLocks noGrp="1"/>
          </p:cNvSpPr>
          <p:nvPr/>
        </p:nvSpPr>
        <p:spPr>
          <a:xfrm>
            <a:off x="1409700" y="4114800"/>
            <a:ext cx="9525000" cy="209550"/>
          </a:xfrm>
          <a:prstGeom prst="rect">
            <a:avLst/>
          </a:prstGeom>
          <a:noFill/>
          <a:ln w="0">
            <a:noFill/>
          </a:ln>
        </p:spPr>
        <p:txBody>
          <a:bodyPr wrap="square" lIns="0" tIns="0" rIns="0" bIns="0" anchor="t">
            <a:noAutofit/>
          </a:bodyPr>
          <a:lstStyle>
            <a:defPPr algn="l">
              <a:defRPr sz="1275" b="0">
                <a:solidFill>
                  <a:srgbClr val="822433"/>
                </a:solidFill>
                <a:latin typeface="Roboto"/>
                <a:ea typeface="Roboto"/>
                <a:cs typeface="Roboto"/>
              </a:defRPr>
            </a:defPPr>
            <a:lvl1pPr algn="l">
              <a:defRPr sz="1275" b="0">
                <a:solidFill>
                  <a:srgbClr val="822433"/>
                </a:solidFill>
                <a:latin typeface="Roboto"/>
                <a:ea typeface="Roboto"/>
                <a:cs typeface="Roboto"/>
              </a:defRPr>
            </a:lvl1pPr>
            <a:lvl2pPr algn="l">
              <a:defRPr sz="1275" b="0">
                <a:solidFill>
                  <a:srgbClr val="822433"/>
                </a:solidFill>
                <a:latin typeface="Roboto"/>
                <a:ea typeface="Roboto"/>
                <a:cs typeface="Roboto"/>
              </a:defRPr>
            </a:lvl2pPr>
            <a:lvl3pPr algn="l">
              <a:defRPr sz="1275" b="0">
                <a:solidFill>
                  <a:srgbClr val="822433"/>
                </a:solidFill>
                <a:latin typeface="Roboto"/>
                <a:ea typeface="Roboto"/>
                <a:cs typeface="Roboto"/>
              </a:defRPr>
            </a:lvl3pPr>
            <a:lvl4pPr algn="l">
              <a:defRPr sz="1275" b="0">
                <a:solidFill>
                  <a:srgbClr val="822433"/>
                </a:solidFill>
                <a:latin typeface="Roboto"/>
                <a:ea typeface="Roboto"/>
                <a:cs typeface="Roboto"/>
              </a:defRPr>
            </a:lvl4pPr>
            <a:lvl5pPr algn="l">
              <a:defRPr sz="1275" b="0">
                <a:solidFill>
                  <a:srgbClr val="822433"/>
                </a:solidFill>
                <a:latin typeface="Roboto"/>
                <a:ea typeface="Roboto"/>
                <a:cs typeface="Roboto"/>
              </a:defRPr>
            </a:lvl5pPr>
            <a:lvl6pPr algn="l">
              <a:defRPr sz="1275" b="0">
                <a:solidFill>
                  <a:srgbClr val="822433"/>
                </a:solidFill>
                <a:latin typeface="Roboto"/>
                <a:ea typeface="Roboto"/>
                <a:cs typeface="Roboto"/>
              </a:defRPr>
            </a:lvl6pPr>
            <a:lvl7pPr algn="l">
              <a:defRPr sz="1275" b="0">
                <a:solidFill>
                  <a:srgbClr val="822433"/>
                </a:solidFill>
                <a:latin typeface="Roboto"/>
                <a:ea typeface="Roboto"/>
                <a:cs typeface="Roboto"/>
              </a:defRPr>
            </a:lvl7pPr>
            <a:lvl8pPr algn="l">
              <a:defRPr sz="1275" b="0">
                <a:solidFill>
                  <a:srgbClr val="822433"/>
                </a:solidFill>
                <a:latin typeface="Roboto"/>
                <a:ea typeface="Roboto"/>
                <a:cs typeface="Roboto"/>
              </a:defRPr>
            </a:lvl8pPr>
            <a:lvl9pPr algn="l">
              <a:defRPr sz="1275" b="0">
                <a:solidFill>
                  <a:srgbClr val="822433"/>
                </a:solidFill>
                <a:latin typeface="Roboto"/>
                <a:ea typeface="Roboto"/>
                <a:cs typeface="Roboto"/>
              </a:defRPr>
            </a:lvl9pPr>
          </a:lstStyle>
          <a:p>
            <a:pPr algn="l">
              <a:defRPr sz="1275" b="0">
                <a:solidFill>
                  <a:srgbClr val="822433"/>
                </a:solidFill>
                <a:latin typeface="Roboto"/>
                <a:ea typeface="Roboto"/>
                <a:cs typeface="Roboto"/>
              </a:defRPr>
            </a:pPr>
            <a:r>
              <a:rPr sz="1275" b="0">
                <a:solidFill>
                  <a:srgbClr val="822433"/>
                </a:solidFill>
                <a:latin typeface="Roboto"/>
                <a:ea typeface="Roboto"/>
                <a:cs typeface="Roboto"/>
                <a:hlinkClick r:id="rId5"/>
              </a:rPr>
              <a:t>science.nasa.gov/resource/routine-inspection-of-rover-wheel-wear-and-tear/</a:t>
            </a:r>
          </a:p>
        </p:txBody>
      </p:sp>
      <p:sp>
        <p:nvSpPr>
          <p:cNvPr id="17" name="ref-number-4">
            <a:extLst>
              <a:ext uri="{FF2B5EF4-FFF2-40B4-BE49-F238E27FC236}">
                <a16:creationId xmlns:a16="http://schemas.microsoft.com/office/drawing/2014/main" id="{E0BED7AA-EAC0-4690-97C9-A4CF351EBA20}"/>
              </a:ext>
            </a:extLst>
          </p:cNvPr>
          <p:cNvSpPr>
            <a:spLocks noGrp="1"/>
          </p:cNvSpPr>
          <p:nvPr/>
        </p:nvSpPr>
        <p:spPr>
          <a:xfrm>
            <a:off x="857250" y="4381500"/>
            <a:ext cx="495300" cy="333375"/>
          </a:xfrm>
          <a:prstGeom prst="rect">
            <a:avLst/>
          </a:prstGeom>
          <a:noFill/>
          <a:ln w="0">
            <a:noFill/>
          </a:ln>
        </p:spPr>
        <p:txBody>
          <a:bodyPr wrap="square" lIns="0" tIns="0" rIns="0" bIns="0" anchor="t">
            <a:noAutofit/>
          </a:bodyPr>
          <a:lstStyle>
            <a:defPPr algn="l">
              <a:defRPr sz="1650" b="1">
                <a:solidFill>
                  <a:srgbClr val="822433"/>
                </a:solidFill>
                <a:latin typeface="Roboto"/>
                <a:ea typeface="Roboto"/>
                <a:cs typeface="Roboto"/>
              </a:defRPr>
            </a:defPPr>
            <a:lvl1pPr algn="l">
              <a:defRPr sz="1650" b="1">
                <a:solidFill>
                  <a:srgbClr val="822433"/>
                </a:solidFill>
                <a:latin typeface="Roboto"/>
                <a:ea typeface="Roboto"/>
                <a:cs typeface="Roboto"/>
              </a:defRPr>
            </a:lvl1pPr>
            <a:lvl2pPr algn="l">
              <a:defRPr sz="1650" b="1">
                <a:solidFill>
                  <a:srgbClr val="822433"/>
                </a:solidFill>
                <a:latin typeface="Roboto"/>
                <a:ea typeface="Roboto"/>
                <a:cs typeface="Roboto"/>
              </a:defRPr>
            </a:lvl2pPr>
            <a:lvl3pPr algn="l">
              <a:defRPr sz="1650" b="1">
                <a:solidFill>
                  <a:srgbClr val="822433"/>
                </a:solidFill>
                <a:latin typeface="Roboto"/>
                <a:ea typeface="Roboto"/>
                <a:cs typeface="Roboto"/>
              </a:defRPr>
            </a:lvl3pPr>
            <a:lvl4pPr algn="l">
              <a:defRPr sz="1650" b="1">
                <a:solidFill>
                  <a:srgbClr val="822433"/>
                </a:solidFill>
                <a:latin typeface="Roboto"/>
                <a:ea typeface="Roboto"/>
                <a:cs typeface="Roboto"/>
              </a:defRPr>
            </a:lvl4pPr>
            <a:lvl5pPr algn="l">
              <a:defRPr sz="1650" b="1">
                <a:solidFill>
                  <a:srgbClr val="822433"/>
                </a:solidFill>
                <a:latin typeface="Roboto"/>
                <a:ea typeface="Roboto"/>
                <a:cs typeface="Roboto"/>
              </a:defRPr>
            </a:lvl5pPr>
            <a:lvl6pPr algn="l">
              <a:defRPr sz="1650" b="1">
                <a:solidFill>
                  <a:srgbClr val="822433"/>
                </a:solidFill>
                <a:latin typeface="Roboto"/>
                <a:ea typeface="Roboto"/>
                <a:cs typeface="Roboto"/>
              </a:defRPr>
            </a:lvl6pPr>
            <a:lvl7pPr algn="l">
              <a:defRPr sz="1650" b="1">
                <a:solidFill>
                  <a:srgbClr val="822433"/>
                </a:solidFill>
                <a:latin typeface="Roboto"/>
                <a:ea typeface="Roboto"/>
                <a:cs typeface="Roboto"/>
              </a:defRPr>
            </a:lvl7pPr>
            <a:lvl8pPr algn="l">
              <a:defRPr sz="1650" b="1">
                <a:solidFill>
                  <a:srgbClr val="822433"/>
                </a:solidFill>
                <a:latin typeface="Roboto"/>
                <a:ea typeface="Roboto"/>
                <a:cs typeface="Roboto"/>
              </a:defRPr>
            </a:lvl8pPr>
            <a:lvl9pPr algn="l">
              <a:defRPr sz="1650" b="1">
                <a:solidFill>
                  <a:srgbClr val="822433"/>
                </a:solidFill>
                <a:latin typeface="Roboto"/>
                <a:ea typeface="Roboto"/>
                <a:cs typeface="Roboto"/>
              </a:defRPr>
            </a:lvl9pPr>
          </a:lstStyle>
          <a:p>
            <a:pPr algn="l">
              <a:defRPr sz="1650" b="1">
                <a:solidFill>
                  <a:srgbClr val="822433"/>
                </a:solidFill>
                <a:latin typeface="Roboto"/>
                <a:ea typeface="Roboto"/>
                <a:cs typeface="Roboto"/>
              </a:defRPr>
            </a:pPr>
            <a:r>
              <a:rPr sz="1650" b="1">
                <a:solidFill>
                  <a:srgbClr val="822433"/>
                </a:solidFill>
                <a:latin typeface="Roboto"/>
                <a:ea typeface="Roboto"/>
                <a:cs typeface="Roboto"/>
              </a:rPr>
              <a:t>[4]</a:t>
            </a:r>
          </a:p>
        </p:txBody>
      </p:sp>
      <p:sp>
        <p:nvSpPr>
          <p:cNvPr id="18" name="ref-title-4">
            <a:extLst>
              <a:ext uri="{FF2B5EF4-FFF2-40B4-BE49-F238E27FC236}">
                <a16:creationId xmlns:a16="http://schemas.microsoft.com/office/drawing/2014/main" id="{86AB0A78-F6D7-4BF7-B542-E3CEBC5050F1}"/>
              </a:ext>
            </a:extLst>
          </p:cNvPr>
          <p:cNvSpPr>
            <a:spLocks noGrp="1"/>
          </p:cNvSpPr>
          <p:nvPr/>
        </p:nvSpPr>
        <p:spPr>
          <a:xfrm>
            <a:off x="1409700" y="4381500"/>
            <a:ext cx="9525000" cy="495300"/>
          </a:xfrm>
          <a:prstGeom prst="rect">
            <a:avLst/>
          </a:prstGeom>
          <a:noFill/>
          <a:ln w="0">
            <a:noFill/>
          </a:ln>
        </p:spPr>
        <p:txBody>
          <a:bodyPr wrap="square" lIns="0" tIns="0" rIns="0" bIns="0" anchor="t">
            <a:noAutofit/>
          </a:bodyPr>
          <a:lstStyle>
            <a:defPPr algn="l">
              <a:defRPr sz="1538" b="0">
                <a:solidFill>
                  <a:srgbClr val="202124"/>
                </a:solidFill>
                <a:latin typeface="Roboto"/>
                <a:ea typeface="Roboto"/>
                <a:cs typeface="Roboto"/>
              </a:defRPr>
            </a:defPPr>
            <a:lvl1pPr algn="l">
              <a:defRPr sz="1538" b="0">
                <a:solidFill>
                  <a:srgbClr val="202124"/>
                </a:solidFill>
                <a:latin typeface="Roboto"/>
                <a:ea typeface="Roboto"/>
                <a:cs typeface="Roboto"/>
              </a:defRPr>
            </a:lvl1pPr>
            <a:lvl2pPr algn="l">
              <a:defRPr sz="1538" b="0">
                <a:solidFill>
                  <a:srgbClr val="202124"/>
                </a:solidFill>
                <a:latin typeface="Roboto"/>
                <a:ea typeface="Roboto"/>
                <a:cs typeface="Roboto"/>
              </a:defRPr>
            </a:lvl2pPr>
            <a:lvl3pPr algn="l">
              <a:defRPr sz="1538" b="0">
                <a:solidFill>
                  <a:srgbClr val="202124"/>
                </a:solidFill>
                <a:latin typeface="Roboto"/>
                <a:ea typeface="Roboto"/>
                <a:cs typeface="Roboto"/>
              </a:defRPr>
            </a:lvl3pPr>
            <a:lvl4pPr algn="l">
              <a:defRPr sz="1538" b="0">
                <a:solidFill>
                  <a:srgbClr val="202124"/>
                </a:solidFill>
                <a:latin typeface="Roboto"/>
                <a:ea typeface="Roboto"/>
                <a:cs typeface="Roboto"/>
              </a:defRPr>
            </a:lvl4pPr>
            <a:lvl5pPr algn="l">
              <a:defRPr sz="1538" b="0">
                <a:solidFill>
                  <a:srgbClr val="202124"/>
                </a:solidFill>
                <a:latin typeface="Roboto"/>
                <a:ea typeface="Roboto"/>
                <a:cs typeface="Roboto"/>
              </a:defRPr>
            </a:lvl5pPr>
            <a:lvl6pPr algn="l">
              <a:defRPr sz="1538" b="0">
                <a:solidFill>
                  <a:srgbClr val="202124"/>
                </a:solidFill>
                <a:latin typeface="Roboto"/>
                <a:ea typeface="Roboto"/>
                <a:cs typeface="Roboto"/>
              </a:defRPr>
            </a:lvl6pPr>
            <a:lvl7pPr algn="l">
              <a:defRPr sz="1538" b="0">
                <a:solidFill>
                  <a:srgbClr val="202124"/>
                </a:solidFill>
                <a:latin typeface="Roboto"/>
                <a:ea typeface="Roboto"/>
                <a:cs typeface="Roboto"/>
              </a:defRPr>
            </a:lvl7pPr>
            <a:lvl8pPr algn="l">
              <a:defRPr sz="1538" b="0">
                <a:solidFill>
                  <a:srgbClr val="202124"/>
                </a:solidFill>
                <a:latin typeface="Roboto"/>
                <a:ea typeface="Roboto"/>
                <a:cs typeface="Roboto"/>
              </a:defRPr>
            </a:lvl8pPr>
            <a:lvl9pPr algn="l">
              <a:defRPr sz="1538" b="0">
                <a:solidFill>
                  <a:srgbClr val="202124"/>
                </a:solidFill>
                <a:latin typeface="Roboto"/>
                <a:ea typeface="Roboto"/>
                <a:cs typeface="Roboto"/>
              </a:defRPr>
            </a:lvl9pPr>
          </a:lstStyle>
          <a:p>
            <a:pPr algn="l">
              <a:defRPr sz="1538" b="0">
                <a:solidFill>
                  <a:srgbClr val="202124"/>
                </a:solidFill>
                <a:latin typeface="Roboto"/>
                <a:ea typeface="Roboto"/>
                <a:cs typeface="Roboto"/>
              </a:defRPr>
            </a:pPr>
            <a:r>
              <a:rPr sz="1538" b="0">
                <a:solidFill>
                  <a:srgbClr val="202124"/>
                </a:solidFill>
                <a:latin typeface="Roboto"/>
                <a:ea typeface="Roboto"/>
                <a:cs typeface="Roboto"/>
              </a:rPr>
              <a:t>J. Zhang et al. S⁵Mars: Semi-Supervised Learning for Mars Semantic Segmentation.</a:t>
            </a:r>
          </a:p>
        </p:txBody>
      </p:sp>
      <p:sp>
        <p:nvSpPr>
          <p:cNvPr id="19" name="ref-venue-4">
            <a:extLst>
              <a:ext uri="{FF2B5EF4-FFF2-40B4-BE49-F238E27FC236}">
                <a16:creationId xmlns:a16="http://schemas.microsoft.com/office/drawing/2014/main" id="{8F9FB6E1-3F14-4F06-A162-2FB2B3C21FFD}"/>
              </a:ext>
            </a:extLst>
          </p:cNvPr>
          <p:cNvSpPr>
            <a:spLocks noGrp="1"/>
          </p:cNvSpPr>
          <p:nvPr/>
        </p:nvSpPr>
        <p:spPr>
          <a:xfrm>
            <a:off x="1409700" y="4886325"/>
            <a:ext cx="9525000" cy="219075"/>
          </a:xfrm>
          <a:prstGeom prst="rect">
            <a:avLst/>
          </a:prstGeom>
          <a:noFill/>
          <a:ln w="0">
            <a:noFill/>
          </a:ln>
        </p:spPr>
        <p:txBody>
          <a:bodyPr wrap="square" lIns="0" tIns="0" rIns="0" bIns="0" anchor="t">
            <a:noAutofit/>
          </a:bodyPr>
          <a:lstStyle>
            <a:defPPr algn="l">
              <a:defRPr sz="1313" b="0">
                <a:solidFill>
                  <a:srgbClr val="62666B"/>
                </a:solidFill>
                <a:latin typeface="Roboto"/>
                <a:ea typeface="Roboto"/>
                <a:cs typeface="Roboto"/>
              </a:defRPr>
            </a:defPPr>
            <a:lvl1pPr algn="l">
              <a:defRPr sz="1313" b="0">
                <a:solidFill>
                  <a:srgbClr val="62666B"/>
                </a:solidFill>
                <a:latin typeface="Roboto"/>
                <a:ea typeface="Roboto"/>
                <a:cs typeface="Roboto"/>
              </a:defRPr>
            </a:lvl1pPr>
            <a:lvl2pPr algn="l">
              <a:defRPr sz="1313" b="0">
                <a:solidFill>
                  <a:srgbClr val="62666B"/>
                </a:solidFill>
                <a:latin typeface="Roboto"/>
                <a:ea typeface="Roboto"/>
                <a:cs typeface="Roboto"/>
              </a:defRPr>
            </a:lvl2pPr>
            <a:lvl3pPr algn="l">
              <a:defRPr sz="1313" b="0">
                <a:solidFill>
                  <a:srgbClr val="62666B"/>
                </a:solidFill>
                <a:latin typeface="Roboto"/>
                <a:ea typeface="Roboto"/>
                <a:cs typeface="Roboto"/>
              </a:defRPr>
            </a:lvl3pPr>
            <a:lvl4pPr algn="l">
              <a:defRPr sz="1313" b="0">
                <a:solidFill>
                  <a:srgbClr val="62666B"/>
                </a:solidFill>
                <a:latin typeface="Roboto"/>
                <a:ea typeface="Roboto"/>
                <a:cs typeface="Roboto"/>
              </a:defRPr>
            </a:lvl4pPr>
            <a:lvl5pPr algn="l">
              <a:defRPr sz="1313" b="0">
                <a:solidFill>
                  <a:srgbClr val="62666B"/>
                </a:solidFill>
                <a:latin typeface="Roboto"/>
                <a:ea typeface="Roboto"/>
                <a:cs typeface="Roboto"/>
              </a:defRPr>
            </a:lvl5pPr>
            <a:lvl6pPr algn="l">
              <a:defRPr sz="1313" b="0">
                <a:solidFill>
                  <a:srgbClr val="62666B"/>
                </a:solidFill>
                <a:latin typeface="Roboto"/>
                <a:ea typeface="Roboto"/>
                <a:cs typeface="Roboto"/>
              </a:defRPr>
            </a:lvl6pPr>
            <a:lvl7pPr algn="l">
              <a:defRPr sz="1313" b="0">
                <a:solidFill>
                  <a:srgbClr val="62666B"/>
                </a:solidFill>
                <a:latin typeface="Roboto"/>
                <a:ea typeface="Roboto"/>
                <a:cs typeface="Roboto"/>
              </a:defRPr>
            </a:lvl7pPr>
            <a:lvl8pPr algn="l">
              <a:defRPr sz="1313" b="0">
                <a:solidFill>
                  <a:srgbClr val="62666B"/>
                </a:solidFill>
                <a:latin typeface="Roboto"/>
                <a:ea typeface="Roboto"/>
                <a:cs typeface="Roboto"/>
              </a:defRPr>
            </a:lvl8pPr>
            <a:lvl9pPr algn="l">
              <a:defRPr sz="1313" b="0">
                <a:solidFill>
                  <a:srgbClr val="62666B"/>
                </a:solidFill>
                <a:latin typeface="Roboto"/>
                <a:ea typeface="Roboto"/>
                <a:cs typeface="Roboto"/>
              </a:defRPr>
            </a:lvl9pPr>
          </a:lstStyle>
          <a:p>
            <a:pPr algn="l">
              <a:defRPr sz="1313" b="0">
                <a:solidFill>
                  <a:srgbClr val="62666B"/>
                </a:solidFill>
                <a:latin typeface="Roboto"/>
                <a:ea typeface="Roboto"/>
                <a:cs typeface="Roboto"/>
              </a:defRPr>
            </a:pPr>
            <a:r>
              <a:rPr sz="1313" b="0">
                <a:solidFill>
                  <a:srgbClr val="62666B"/>
                </a:solidFill>
                <a:latin typeface="Roboto"/>
                <a:ea typeface="Roboto"/>
                <a:cs typeface="Roboto"/>
              </a:rPr>
              <a:t>IEEE Transactions on Geoscience and Remote Sensing, vol. 62, 2024.</a:t>
            </a:r>
          </a:p>
        </p:txBody>
      </p:sp>
      <p:sp>
        <p:nvSpPr>
          <p:cNvPr id="20" name="ref-link-4">
            <a:extLst>
              <a:ext uri="{FF2B5EF4-FFF2-40B4-BE49-F238E27FC236}">
                <a16:creationId xmlns:a16="http://schemas.microsoft.com/office/drawing/2014/main" id="{D836917C-7F9E-4D44-BDB1-D0E33552C428}"/>
              </a:ext>
            </a:extLst>
          </p:cNvPr>
          <p:cNvSpPr>
            <a:spLocks noGrp="1"/>
          </p:cNvSpPr>
          <p:nvPr/>
        </p:nvSpPr>
        <p:spPr>
          <a:xfrm>
            <a:off x="1409700" y="5105400"/>
            <a:ext cx="9525000" cy="209550"/>
          </a:xfrm>
          <a:prstGeom prst="rect">
            <a:avLst/>
          </a:prstGeom>
          <a:noFill/>
          <a:ln w="0">
            <a:noFill/>
          </a:ln>
        </p:spPr>
        <p:txBody>
          <a:bodyPr wrap="square" lIns="0" tIns="0" rIns="0" bIns="0" anchor="t">
            <a:noAutofit/>
          </a:bodyPr>
          <a:lstStyle>
            <a:defPPr algn="l">
              <a:defRPr sz="1275" b="0">
                <a:solidFill>
                  <a:srgbClr val="822433"/>
                </a:solidFill>
                <a:latin typeface="Roboto"/>
                <a:ea typeface="Roboto"/>
                <a:cs typeface="Roboto"/>
              </a:defRPr>
            </a:defPPr>
            <a:lvl1pPr algn="l">
              <a:defRPr sz="1275" b="0">
                <a:solidFill>
                  <a:srgbClr val="822433"/>
                </a:solidFill>
                <a:latin typeface="Roboto"/>
                <a:ea typeface="Roboto"/>
                <a:cs typeface="Roboto"/>
              </a:defRPr>
            </a:lvl1pPr>
            <a:lvl2pPr algn="l">
              <a:defRPr sz="1275" b="0">
                <a:solidFill>
                  <a:srgbClr val="822433"/>
                </a:solidFill>
                <a:latin typeface="Roboto"/>
                <a:ea typeface="Roboto"/>
                <a:cs typeface="Roboto"/>
              </a:defRPr>
            </a:lvl2pPr>
            <a:lvl3pPr algn="l">
              <a:defRPr sz="1275" b="0">
                <a:solidFill>
                  <a:srgbClr val="822433"/>
                </a:solidFill>
                <a:latin typeface="Roboto"/>
                <a:ea typeface="Roboto"/>
                <a:cs typeface="Roboto"/>
              </a:defRPr>
            </a:lvl3pPr>
            <a:lvl4pPr algn="l">
              <a:defRPr sz="1275" b="0">
                <a:solidFill>
                  <a:srgbClr val="822433"/>
                </a:solidFill>
                <a:latin typeface="Roboto"/>
                <a:ea typeface="Roboto"/>
                <a:cs typeface="Roboto"/>
              </a:defRPr>
            </a:lvl4pPr>
            <a:lvl5pPr algn="l">
              <a:defRPr sz="1275" b="0">
                <a:solidFill>
                  <a:srgbClr val="822433"/>
                </a:solidFill>
                <a:latin typeface="Roboto"/>
                <a:ea typeface="Roboto"/>
                <a:cs typeface="Roboto"/>
              </a:defRPr>
            </a:lvl5pPr>
            <a:lvl6pPr algn="l">
              <a:defRPr sz="1275" b="0">
                <a:solidFill>
                  <a:srgbClr val="822433"/>
                </a:solidFill>
                <a:latin typeface="Roboto"/>
                <a:ea typeface="Roboto"/>
                <a:cs typeface="Roboto"/>
              </a:defRPr>
            </a:lvl6pPr>
            <a:lvl7pPr algn="l">
              <a:defRPr sz="1275" b="0">
                <a:solidFill>
                  <a:srgbClr val="822433"/>
                </a:solidFill>
                <a:latin typeface="Roboto"/>
                <a:ea typeface="Roboto"/>
                <a:cs typeface="Roboto"/>
              </a:defRPr>
            </a:lvl7pPr>
            <a:lvl8pPr algn="l">
              <a:defRPr sz="1275" b="0">
                <a:solidFill>
                  <a:srgbClr val="822433"/>
                </a:solidFill>
                <a:latin typeface="Roboto"/>
                <a:ea typeface="Roboto"/>
                <a:cs typeface="Roboto"/>
              </a:defRPr>
            </a:lvl8pPr>
            <a:lvl9pPr algn="l">
              <a:defRPr sz="1275" b="0">
                <a:solidFill>
                  <a:srgbClr val="822433"/>
                </a:solidFill>
                <a:latin typeface="Roboto"/>
                <a:ea typeface="Roboto"/>
                <a:cs typeface="Roboto"/>
              </a:defRPr>
            </a:lvl9pPr>
          </a:lstStyle>
          <a:p>
            <a:pPr algn="l">
              <a:defRPr sz="1275" b="0">
                <a:solidFill>
                  <a:srgbClr val="822433"/>
                </a:solidFill>
                <a:latin typeface="Roboto"/>
                <a:ea typeface="Roboto"/>
                <a:cs typeface="Roboto"/>
              </a:defRPr>
            </a:pPr>
            <a:r>
              <a:rPr sz="1275" b="0">
                <a:solidFill>
                  <a:srgbClr val="822433"/>
                </a:solidFill>
                <a:latin typeface="Roboto"/>
                <a:ea typeface="Roboto"/>
                <a:cs typeface="Roboto"/>
                <a:hlinkClick r:id="rId6"/>
              </a:rPr>
              <a:t>doi: 10.1109/TGRS.2024.3386756</a:t>
            </a:r>
          </a:p>
        </p:txBody>
      </p:sp>
      <p:sp>
        <p:nvSpPr>
          <p:cNvPr id="21" name="ref-number-5">
            <a:extLst>
              <a:ext uri="{FF2B5EF4-FFF2-40B4-BE49-F238E27FC236}">
                <a16:creationId xmlns:a16="http://schemas.microsoft.com/office/drawing/2014/main" id="{E82B4AB8-3FAA-4454-8ED4-CADE964233E4}"/>
              </a:ext>
            </a:extLst>
          </p:cNvPr>
          <p:cNvSpPr>
            <a:spLocks noGrp="1"/>
          </p:cNvSpPr>
          <p:nvPr/>
        </p:nvSpPr>
        <p:spPr>
          <a:xfrm>
            <a:off x="857250" y="5372100"/>
            <a:ext cx="495300" cy="333375"/>
          </a:xfrm>
          <a:prstGeom prst="rect">
            <a:avLst/>
          </a:prstGeom>
          <a:noFill/>
          <a:ln w="0">
            <a:noFill/>
          </a:ln>
        </p:spPr>
        <p:txBody>
          <a:bodyPr wrap="square" lIns="0" tIns="0" rIns="0" bIns="0" anchor="t">
            <a:noAutofit/>
          </a:bodyPr>
          <a:lstStyle>
            <a:defPPr algn="l">
              <a:defRPr sz="1650" b="1">
                <a:solidFill>
                  <a:srgbClr val="822433"/>
                </a:solidFill>
                <a:latin typeface="Roboto"/>
                <a:ea typeface="Roboto"/>
                <a:cs typeface="Roboto"/>
              </a:defRPr>
            </a:defPPr>
            <a:lvl1pPr algn="l">
              <a:defRPr sz="1650" b="1">
                <a:solidFill>
                  <a:srgbClr val="822433"/>
                </a:solidFill>
                <a:latin typeface="Roboto"/>
                <a:ea typeface="Roboto"/>
                <a:cs typeface="Roboto"/>
              </a:defRPr>
            </a:lvl1pPr>
            <a:lvl2pPr algn="l">
              <a:defRPr sz="1650" b="1">
                <a:solidFill>
                  <a:srgbClr val="822433"/>
                </a:solidFill>
                <a:latin typeface="Roboto"/>
                <a:ea typeface="Roboto"/>
                <a:cs typeface="Roboto"/>
              </a:defRPr>
            </a:lvl2pPr>
            <a:lvl3pPr algn="l">
              <a:defRPr sz="1650" b="1">
                <a:solidFill>
                  <a:srgbClr val="822433"/>
                </a:solidFill>
                <a:latin typeface="Roboto"/>
                <a:ea typeface="Roboto"/>
                <a:cs typeface="Roboto"/>
              </a:defRPr>
            </a:lvl3pPr>
            <a:lvl4pPr algn="l">
              <a:defRPr sz="1650" b="1">
                <a:solidFill>
                  <a:srgbClr val="822433"/>
                </a:solidFill>
                <a:latin typeface="Roboto"/>
                <a:ea typeface="Roboto"/>
                <a:cs typeface="Roboto"/>
              </a:defRPr>
            </a:lvl4pPr>
            <a:lvl5pPr algn="l">
              <a:defRPr sz="1650" b="1">
                <a:solidFill>
                  <a:srgbClr val="822433"/>
                </a:solidFill>
                <a:latin typeface="Roboto"/>
                <a:ea typeface="Roboto"/>
                <a:cs typeface="Roboto"/>
              </a:defRPr>
            </a:lvl5pPr>
            <a:lvl6pPr algn="l">
              <a:defRPr sz="1650" b="1">
                <a:solidFill>
                  <a:srgbClr val="822433"/>
                </a:solidFill>
                <a:latin typeface="Roboto"/>
                <a:ea typeface="Roboto"/>
                <a:cs typeface="Roboto"/>
              </a:defRPr>
            </a:lvl6pPr>
            <a:lvl7pPr algn="l">
              <a:defRPr sz="1650" b="1">
                <a:solidFill>
                  <a:srgbClr val="822433"/>
                </a:solidFill>
                <a:latin typeface="Roboto"/>
                <a:ea typeface="Roboto"/>
                <a:cs typeface="Roboto"/>
              </a:defRPr>
            </a:lvl7pPr>
            <a:lvl8pPr algn="l">
              <a:defRPr sz="1650" b="1">
                <a:solidFill>
                  <a:srgbClr val="822433"/>
                </a:solidFill>
                <a:latin typeface="Roboto"/>
                <a:ea typeface="Roboto"/>
                <a:cs typeface="Roboto"/>
              </a:defRPr>
            </a:lvl8pPr>
            <a:lvl9pPr algn="l">
              <a:defRPr sz="1650" b="1">
                <a:solidFill>
                  <a:srgbClr val="822433"/>
                </a:solidFill>
                <a:latin typeface="Roboto"/>
                <a:ea typeface="Roboto"/>
                <a:cs typeface="Roboto"/>
              </a:defRPr>
            </a:lvl9pPr>
          </a:lstStyle>
          <a:p>
            <a:pPr algn="l">
              <a:defRPr sz="1650" b="1">
                <a:solidFill>
                  <a:srgbClr val="822433"/>
                </a:solidFill>
                <a:latin typeface="Roboto"/>
                <a:ea typeface="Roboto"/>
                <a:cs typeface="Roboto"/>
              </a:defRPr>
            </a:pPr>
            <a:r>
              <a:rPr sz="1650" b="1">
                <a:solidFill>
                  <a:srgbClr val="822433"/>
                </a:solidFill>
                <a:latin typeface="Roboto"/>
                <a:ea typeface="Roboto"/>
                <a:cs typeface="Roboto"/>
              </a:rPr>
              <a:t>[5]</a:t>
            </a:r>
          </a:p>
        </p:txBody>
      </p:sp>
      <p:sp>
        <p:nvSpPr>
          <p:cNvPr id="22" name="ref-title-5">
            <a:extLst>
              <a:ext uri="{FF2B5EF4-FFF2-40B4-BE49-F238E27FC236}">
                <a16:creationId xmlns:a16="http://schemas.microsoft.com/office/drawing/2014/main" id="{0CA6F1DA-B775-41F2-BC8F-468CD4C4BB7E}"/>
              </a:ext>
            </a:extLst>
          </p:cNvPr>
          <p:cNvSpPr>
            <a:spLocks noGrp="1"/>
          </p:cNvSpPr>
          <p:nvPr/>
        </p:nvSpPr>
        <p:spPr>
          <a:xfrm>
            <a:off x="1409700" y="5372100"/>
            <a:ext cx="9525000" cy="495300"/>
          </a:xfrm>
          <a:prstGeom prst="rect">
            <a:avLst/>
          </a:prstGeom>
          <a:noFill/>
          <a:ln w="0">
            <a:noFill/>
          </a:ln>
        </p:spPr>
        <p:txBody>
          <a:bodyPr wrap="square" lIns="0" tIns="0" rIns="0" bIns="0" anchor="t">
            <a:noAutofit/>
          </a:bodyPr>
          <a:lstStyle>
            <a:defPPr algn="l">
              <a:defRPr sz="1538" b="0">
                <a:solidFill>
                  <a:srgbClr val="202124"/>
                </a:solidFill>
                <a:latin typeface="Roboto"/>
                <a:ea typeface="Roboto"/>
                <a:cs typeface="Roboto"/>
              </a:defRPr>
            </a:defPPr>
            <a:lvl1pPr algn="l">
              <a:defRPr sz="1538" b="0">
                <a:solidFill>
                  <a:srgbClr val="202124"/>
                </a:solidFill>
                <a:latin typeface="Roboto"/>
                <a:ea typeface="Roboto"/>
                <a:cs typeface="Roboto"/>
              </a:defRPr>
            </a:lvl1pPr>
            <a:lvl2pPr algn="l">
              <a:defRPr sz="1538" b="0">
                <a:solidFill>
                  <a:srgbClr val="202124"/>
                </a:solidFill>
                <a:latin typeface="Roboto"/>
                <a:ea typeface="Roboto"/>
                <a:cs typeface="Roboto"/>
              </a:defRPr>
            </a:lvl2pPr>
            <a:lvl3pPr algn="l">
              <a:defRPr sz="1538" b="0">
                <a:solidFill>
                  <a:srgbClr val="202124"/>
                </a:solidFill>
                <a:latin typeface="Roboto"/>
                <a:ea typeface="Roboto"/>
                <a:cs typeface="Roboto"/>
              </a:defRPr>
            </a:lvl3pPr>
            <a:lvl4pPr algn="l">
              <a:defRPr sz="1538" b="0">
                <a:solidFill>
                  <a:srgbClr val="202124"/>
                </a:solidFill>
                <a:latin typeface="Roboto"/>
                <a:ea typeface="Roboto"/>
                <a:cs typeface="Roboto"/>
              </a:defRPr>
            </a:lvl4pPr>
            <a:lvl5pPr algn="l">
              <a:defRPr sz="1538" b="0">
                <a:solidFill>
                  <a:srgbClr val="202124"/>
                </a:solidFill>
                <a:latin typeface="Roboto"/>
                <a:ea typeface="Roboto"/>
                <a:cs typeface="Roboto"/>
              </a:defRPr>
            </a:lvl5pPr>
            <a:lvl6pPr algn="l">
              <a:defRPr sz="1538" b="0">
                <a:solidFill>
                  <a:srgbClr val="202124"/>
                </a:solidFill>
                <a:latin typeface="Roboto"/>
                <a:ea typeface="Roboto"/>
                <a:cs typeface="Roboto"/>
              </a:defRPr>
            </a:lvl6pPr>
            <a:lvl7pPr algn="l">
              <a:defRPr sz="1538" b="0">
                <a:solidFill>
                  <a:srgbClr val="202124"/>
                </a:solidFill>
                <a:latin typeface="Roboto"/>
                <a:ea typeface="Roboto"/>
                <a:cs typeface="Roboto"/>
              </a:defRPr>
            </a:lvl7pPr>
            <a:lvl8pPr algn="l">
              <a:defRPr sz="1538" b="0">
                <a:solidFill>
                  <a:srgbClr val="202124"/>
                </a:solidFill>
                <a:latin typeface="Roboto"/>
                <a:ea typeface="Roboto"/>
                <a:cs typeface="Roboto"/>
              </a:defRPr>
            </a:lvl8pPr>
            <a:lvl9pPr algn="l">
              <a:defRPr sz="1538" b="0">
                <a:solidFill>
                  <a:srgbClr val="202124"/>
                </a:solidFill>
                <a:latin typeface="Roboto"/>
                <a:ea typeface="Roboto"/>
                <a:cs typeface="Roboto"/>
              </a:defRPr>
            </a:lvl9pPr>
          </a:lstStyle>
          <a:p>
            <a:pPr algn="l">
              <a:defRPr sz="1538" b="0">
                <a:solidFill>
                  <a:srgbClr val="202124"/>
                </a:solidFill>
                <a:latin typeface="Roboto"/>
                <a:ea typeface="Roboto"/>
                <a:cs typeface="Roboto"/>
              </a:defRPr>
            </a:pPr>
            <a:r>
              <a:rPr sz="1538" b="0">
                <a:solidFill>
                  <a:srgbClr val="202124"/>
                </a:solidFill>
                <a:latin typeface="Roboto"/>
                <a:ea typeface="Roboto"/>
                <a:cs typeface="Roboto"/>
              </a:rPr>
              <a:t>M. Purohit et al. Mars-Bench: A Benchmark for Evaluating Foundation Models for Mars Science Tasks.</a:t>
            </a:r>
          </a:p>
        </p:txBody>
      </p:sp>
      <p:sp>
        <p:nvSpPr>
          <p:cNvPr id="23" name="ref-venue-5">
            <a:extLst>
              <a:ext uri="{FF2B5EF4-FFF2-40B4-BE49-F238E27FC236}">
                <a16:creationId xmlns:a16="http://schemas.microsoft.com/office/drawing/2014/main" id="{5AA4992C-4B38-450D-99EE-546EB2982420}"/>
              </a:ext>
            </a:extLst>
          </p:cNvPr>
          <p:cNvSpPr>
            <a:spLocks noGrp="1"/>
          </p:cNvSpPr>
          <p:nvPr/>
        </p:nvSpPr>
        <p:spPr>
          <a:xfrm>
            <a:off x="1409700" y="5876925"/>
            <a:ext cx="9525000" cy="219075"/>
          </a:xfrm>
          <a:prstGeom prst="rect">
            <a:avLst/>
          </a:prstGeom>
          <a:noFill/>
          <a:ln w="0">
            <a:noFill/>
          </a:ln>
        </p:spPr>
        <p:txBody>
          <a:bodyPr wrap="square" lIns="0" tIns="0" rIns="0" bIns="0" anchor="t">
            <a:noAutofit/>
          </a:bodyPr>
          <a:lstStyle>
            <a:defPPr algn="l">
              <a:defRPr sz="1313" b="0">
                <a:solidFill>
                  <a:srgbClr val="62666B"/>
                </a:solidFill>
                <a:latin typeface="Roboto"/>
                <a:ea typeface="Roboto"/>
                <a:cs typeface="Roboto"/>
              </a:defRPr>
            </a:defPPr>
            <a:lvl1pPr algn="l">
              <a:defRPr sz="1313" b="0">
                <a:solidFill>
                  <a:srgbClr val="62666B"/>
                </a:solidFill>
                <a:latin typeface="Roboto"/>
                <a:ea typeface="Roboto"/>
                <a:cs typeface="Roboto"/>
              </a:defRPr>
            </a:lvl1pPr>
            <a:lvl2pPr algn="l">
              <a:defRPr sz="1313" b="0">
                <a:solidFill>
                  <a:srgbClr val="62666B"/>
                </a:solidFill>
                <a:latin typeface="Roboto"/>
                <a:ea typeface="Roboto"/>
                <a:cs typeface="Roboto"/>
              </a:defRPr>
            </a:lvl2pPr>
            <a:lvl3pPr algn="l">
              <a:defRPr sz="1313" b="0">
                <a:solidFill>
                  <a:srgbClr val="62666B"/>
                </a:solidFill>
                <a:latin typeface="Roboto"/>
                <a:ea typeface="Roboto"/>
                <a:cs typeface="Roboto"/>
              </a:defRPr>
            </a:lvl3pPr>
            <a:lvl4pPr algn="l">
              <a:defRPr sz="1313" b="0">
                <a:solidFill>
                  <a:srgbClr val="62666B"/>
                </a:solidFill>
                <a:latin typeface="Roboto"/>
                <a:ea typeface="Roboto"/>
                <a:cs typeface="Roboto"/>
              </a:defRPr>
            </a:lvl4pPr>
            <a:lvl5pPr algn="l">
              <a:defRPr sz="1313" b="0">
                <a:solidFill>
                  <a:srgbClr val="62666B"/>
                </a:solidFill>
                <a:latin typeface="Roboto"/>
                <a:ea typeface="Roboto"/>
                <a:cs typeface="Roboto"/>
              </a:defRPr>
            </a:lvl5pPr>
            <a:lvl6pPr algn="l">
              <a:defRPr sz="1313" b="0">
                <a:solidFill>
                  <a:srgbClr val="62666B"/>
                </a:solidFill>
                <a:latin typeface="Roboto"/>
                <a:ea typeface="Roboto"/>
                <a:cs typeface="Roboto"/>
              </a:defRPr>
            </a:lvl6pPr>
            <a:lvl7pPr algn="l">
              <a:defRPr sz="1313" b="0">
                <a:solidFill>
                  <a:srgbClr val="62666B"/>
                </a:solidFill>
                <a:latin typeface="Roboto"/>
                <a:ea typeface="Roboto"/>
                <a:cs typeface="Roboto"/>
              </a:defRPr>
            </a:lvl7pPr>
            <a:lvl8pPr algn="l">
              <a:defRPr sz="1313" b="0">
                <a:solidFill>
                  <a:srgbClr val="62666B"/>
                </a:solidFill>
                <a:latin typeface="Roboto"/>
                <a:ea typeface="Roboto"/>
                <a:cs typeface="Roboto"/>
              </a:defRPr>
            </a:lvl8pPr>
            <a:lvl9pPr algn="l">
              <a:defRPr sz="1313" b="0">
                <a:solidFill>
                  <a:srgbClr val="62666B"/>
                </a:solidFill>
                <a:latin typeface="Roboto"/>
                <a:ea typeface="Roboto"/>
                <a:cs typeface="Roboto"/>
              </a:defRPr>
            </a:lvl9pPr>
          </a:lstStyle>
          <a:p>
            <a:pPr algn="l">
              <a:defRPr sz="1313" b="0">
                <a:solidFill>
                  <a:srgbClr val="62666B"/>
                </a:solidFill>
                <a:latin typeface="Roboto"/>
                <a:ea typeface="Roboto"/>
                <a:cs typeface="Roboto"/>
              </a:defRPr>
            </a:pPr>
            <a:r>
              <a:rPr sz="1313" b="0">
                <a:solidFill>
                  <a:srgbClr val="62666B"/>
                </a:solidFill>
                <a:latin typeface="Roboto"/>
                <a:ea typeface="Roboto"/>
                <a:cs typeface="Roboto"/>
              </a:rPr>
              <a:t>NeurIPS, Datasets and Benchmarks Track, 2025.</a:t>
            </a:r>
          </a:p>
        </p:txBody>
      </p:sp>
      <p:sp>
        <p:nvSpPr>
          <p:cNvPr id="24" name="ref-link-5">
            <a:extLst>
              <a:ext uri="{FF2B5EF4-FFF2-40B4-BE49-F238E27FC236}">
                <a16:creationId xmlns:a16="http://schemas.microsoft.com/office/drawing/2014/main" id="{487CCA0E-BA75-4BFE-B725-348DDC3CCF59}"/>
              </a:ext>
            </a:extLst>
          </p:cNvPr>
          <p:cNvSpPr>
            <a:spLocks noGrp="1"/>
          </p:cNvSpPr>
          <p:nvPr/>
        </p:nvSpPr>
        <p:spPr>
          <a:xfrm>
            <a:off x="1409700" y="6096000"/>
            <a:ext cx="9525000" cy="209550"/>
          </a:xfrm>
          <a:prstGeom prst="rect">
            <a:avLst/>
          </a:prstGeom>
          <a:noFill/>
          <a:ln w="0">
            <a:noFill/>
          </a:ln>
        </p:spPr>
        <p:txBody>
          <a:bodyPr wrap="square" lIns="0" tIns="0" rIns="0" bIns="0" anchor="t">
            <a:noAutofit/>
          </a:bodyPr>
          <a:lstStyle>
            <a:defPPr algn="l">
              <a:defRPr sz="1275" b="0">
                <a:solidFill>
                  <a:srgbClr val="822433"/>
                </a:solidFill>
                <a:latin typeface="Roboto"/>
                <a:ea typeface="Roboto"/>
                <a:cs typeface="Roboto"/>
              </a:defRPr>
            </a:defPPr>
            <a:lvl1pPr algn="l">
              <a:defRPr sz="1275" b="0">
                <a:solidFill>
                  <a:srgbClr val="822433"/>
                </a:solidFill>
                <a:latin typeface="Roboto"/>
                <a:ea typeface="Roboto"/>
                <a:cs typeface="Roboto"/>
              </a:defRPr>
            </a:lvl1pPr>
            <a:lvl2pPr algn="l">
              <a:defRPr sz="1275" b="0">
                <a:solidFill>
                  <a:srgbClr val="822433"/>
                </a:solidFill>
                <a:latin typeface="Roboto"/>
                <a:ea typeface="Roboto"/>
                <a:cs typeface="Roboto"/>
              </a:defRPr>
            </a:lvl2pPr>
            <a:lvl3pPr algn="l">
              <a:defRPr sz="1275" b="0">
                <a:solidFill>
                  <a:srgbClr val="822433"/>
                </a:solidFill>
                <a:latin typeface="Roboto"/>
                <a:ea typeface="Roboto"/>
                <a:cs typeface="Roboto"/>
              </a:defRPr>
            </a:lvl3pPr>
            <a:lvl4pPr algn="l">
              <a:defRPr sz="1275" b="0">
                <a:solidFill>
                  <a:srgbClr val="822433"/>
                </a:solidFill>
                <a:latin typeface="Roboto"/>
                <a:ea typeface="Roboto"/>
                <a:cs typeface="Roboto"/>
              </a:defRPr>
            </a:lvl4pPr>
            <a:lvl5pPr algn="l">
              <a:defRPr sz="1275" b="0">
                <a:solidFill>
                  <a:srgbClr val="822433"/>
                </a:solidFill>
                <a:latin typeface="Roboto"/>
                <a:ea typeface="Roboto"/>
                <a:cs typeface="Roboto"/>
              </a:defRPr>
            </a:lvl5pPr>
            <a:lvl6pPr algn="l">
              <a:defRPr sz="1275" b="0">
                <a:solidFill>
                  <a:srgbClr val="822433"/>
                </a:solidFill>
                <a:latin typeface="Roboto"/>
                <a:ea typeface="Roboto"/>
                <a:cs typeface="Roboto"/>
              </a:defRPr>
            </a:lvl6pPr>
            <a:lvl7pPr algn="l">
              <a:defRPr sz="1275" b="0">
                <a:solidFill>
                  <a:srgbClr val="822433"/>
                </a:solidFill>
                <a:latin typeface="Roboto"/>
                <a:ea typeface="Roboto"/>
                <a:cs typeface="Roboto"/>
              </a:defRPr>
            </a:lvl7pPr>
            <a:lvl8pPr algn="l">
              <a:defRPr sz="1275" b="0">
                <a:solidFill>
                  <a:srgbClr val="822433"/>
                </a:solidFill>
                <a:latin typeface="Roboto"/>
                <a:ea typeface="Roboto"/>
                <a:cs typeface="Roboto"/>
              </a:defRPr>
            </a:lvl8pPr>
            <a:lvl9pPr algn="l">
              <a:defRPr sz="1275" b="0">
                <a:solidFill>
                  <a:srgbClr val="822433"/>
                </a:solidFill>
                <a:latin typeface="Roboto"/>
                <a:ea typeface="Roboto"/>
                <a:cs typeface="Roboto"/>
              </a:defRPr>
            </a:lvl9pPr>
          </a:lstStyle>
          <a:p>
            <a:pPr algn="l">
              <a:defRPr sz="1275" b="0">
                <a:solidFill>
                  <a:srgbClr val="822433"/>
                </a:solidFill>
                <a:latin typeface="Roboto"/>
                <a:ea typeface="Roboto"/>
                <a:cs typeface="Roboto"/>
              </a:defRPr>
            </a:pPr>
            <a:r>
              <a:rPr sz="1275" b="0">
                <a:solidFill>
                  <a:srgbClr val="822433"/>
                </a:solidFill>
                <a:latin typeface="Roboto"/>
                <a:ea typeface="Roboto"/>
                <a:cs typeface="Roboto"/>
                <a:hlinkClick r:id="rId7"/>
              </a:rPr>
              <a:t>doi: 10.52202/085713-4098</a:t>
            </a:r>
          </a:p>
        </p:txBody>
      </p:sp>
    </p:spTree>
    <p:extLst>
      <p:ext uri="{BB962C8B-B14F-4D97-AF65-F5344CB8AC3E}">
        <p14:creationId xmlns:p14="http://schemas.microsoft.com/office/powerpoint/2010/main" val="2223438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C690957F-7BE2-4783-8852-5D423B51D709}"/>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Bibliografia 2/4</a:t>
            </a:r>
          </a:p>
        </p:txBody>
      </p:sp>
      <p:sp>
        <p:nvSpPr>
          <p:cNvPr id="2" name="template-footer">
            <a:extLst>
              <a:ext uri="{FF2B5EF4-FFF2-40B4-BE49-F238E27FC236}">
                <a16:creationId xmlns:a16="http://schemas.microsoft.com/office/drawing/2014/main" id="{81B77636-CDE0-47DA-B660-05820C1DBF00}"/>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BE381846-6F05-4D48-8649-6C8207B78564}"/>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F3418238-BC3C-4B40-9D68-9344B7925191}"/>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26/28</a:t>
            </a:r>
          </a:p>
        </p:txBody>
      </p:sp>
      <p:sp>
        <p:nvSpPr>
          <p:cNvPr id="5" name="ref-number-6">
            <a:extLst>
              <a:ext uri="{FF2B5EF4-FFF2-40B4-BE49-F238E27FC236}">
                <a16:creationId xmlns:a16="http://schemas.microsoft.com/office/drawing/2014/main" id="{CFBF16A8-0309-4236-97CF-9E3B1E228E0D}"/>
              </a:ext>
            </a:extLst>
          </p:cNvPr>
          <p:cNvSpPr>
            <a:spLocks noGrp="1"/>
          </p:cNvSpPr>
          <p:nvPr/>
        </p:nvSpPr>
        <p:spPr>
          <a:xfrm>
            <a:off x="857250" y="1409700"/>
            <a:ext cx="495300" cy="333375"/>
          </a:xfrm>
          <a:prstGeom prst="rect">
            <a:avLst/>
          </a:prstGeom>
          <a:noFill/>
          <a:ln w="0">
            <a:noFill/>
          </a:ln>
        </p:spPr>
        <p:txBody>
          <a:bodyPr wrap="square" lIns="0" tIns="0" rIns="0" bIns="0" anchor="t">
            <a:noAutofit/>
          </a:bodyPr>
          <a:lstStyle>
            <a:defPPr algn="l">
              <a:defRPr sz="1650" b="1">
                <a:solidFill>
                  <a:srgbClr val="822433"/>
                </a:solidFill>
                <a:latin typeface="Roboto"/>
                <a:ea typeface="Roboto"/>
                <a:cs typeface="Roboto"/>
              </a:defRPr>
            </a:defPPr>
            <a:lvl1pPr algn="l">
              <a:defRPr sz="1650" b="1">
                <a:solidFill>
                  <a:srgbClr val="822433"/>
                </a:solidFill>
                <a:latin typeface="Roboto"/>
                <a:ea typeface="Roboto"/>
                <a:cs typeface="Roboto"/>
              </a:defRPr>
            </a:lvl1pPr>
            <a:lvl2pPr algn="l">
              <a:defRPr sz="1650" b="1">
                <a:solidFill>
                  <a:srgbClr val="822433"/>
                </a:solidFill>
                <a:latin typeface="Roboto"/>
                <a:ea typeface="Roboto"/>
                <a:cs typeface="Roboto"/>
              </a:defRPr>
            </a:lvl2pPr>
            <a:lvl3pPr algn="l">
              <a:defRPr sz="1650" b="1">
                <a:solidFill>
                  <a:srgbClr val="822433"/>
                </a:solidFill>
                <a:latin typeface="Roboto"/>
                <a:ea typeface="Roboto"/>
                <a:cs typeface="Roboto"/>
              </a:defRPr>
            </a:lvl3pPr>
            <a:lvl4pPr algn="l">
              <a:defRPr sz="1650" b="1">
                <a:solidFill>
                  <a:srgbClr val="822433"/>
                </a:solidFill>
                <a:latin typeface="Roboto"/>
                <a:ea typeface="Roboto"/>
                <a:cs typeface="Roboto"/>
              </a:defRPr>
            </a:lvl4pPr>
            <a:lvl5pPr algn="l">
              <a:defRPr sz="1650" b="1">
                <a:solidFill>
                  <a:srgbClr val="822433"/>
                </a:solidFill>
                <a:latin typeface="Roboto"/>
                <a:ea typeface="Roboto"/>
                <a:cs typeface="Roboto"/>
              </a:defRPr>
            </a:lvl5pPr>
            <a:lvl6pPr algn="l">
              <a:defRPr sz="1650" b="1">
                <a:solidFill>
                  <a:srgbClr val="822433"/>
                </a:solidFill>
                <a:latin typeface="Roboto"/>
                <a:ea typeface="Roboto"/>
                <a:cs typeface="Roboto"/>
              </a:defRPr>
            </a:lvl6pPr>
            <a:lvl7pPr algn="l">
              <a:defRPr sz="1650" b="1">
                <a:solidFill>
                  <a:srgbClr val="822433"/>
                </a:solidFill>
                <a:latin typeface="Roboto"/>
                <a:ea typeface="Roboto"/>
                <a:cs typeface="Roboto"/>
              </a:defRPr>
            </a:lvl7pPr>
            <a:lvl8pPr algn="l">
              <a:defRPr sz="1650" b="1">
                <a:solidFill>
                  <a:srgbClr val="822433"/>
                </a:solidFill>
                <a:latin typeface="Roboto"/>
                <a:ea typeface="Roboto"/>
                <a:cs typeface="Roboto"/>
              </a:defRPr>
            </a:lvl8pPr>
            <a:lvl9pPr algn="l">
              <a:defRPr sz="1650" b="1">
                <a:solidFill>
                  <a:srgbClr val="822433"/>
                </a:solidFill>
                <a:latin typeface="Roboto"/>
                <a:ea typeface="Roboto"/>
                <a:cs typeface="Roboto"/>
              </a:defRPr>
            </a:lvl9pPr>
          </a:lstStyle>
          <a:p>
            <a:pPr algn="l">
              <a:defRPr sz="1650" b="1">
                <a:solidFill>
                  <a:srgbClr val="822433"/>
                </a:solidFill>
                <a:latin typeface="Roboto"/>
                <a:ea typeface="Roboto"/>
                <a:cs typeface="Roboto"/>
              </a:defRPr>
            </a:pPr>
            <a:r>
              <a:rPr sz="1650" b="1">
                <a:solidFill>
                  <a:srgbClr val="822433"/>
                </a:solidFill>
                <a:latin typeface="Roboto"/>
                <a:ea typeface="Roboto"/>
                <a:cs typeface="Roboto"/>
              </a:rPr>
              <a:t>[6]</a:t>
            </a:r>
          </a:p>
        </p:txBody>
      </p:sp>
      <p:sp>
        <p:nvSpPr>
          <p:cNvPr id="6" name="ref-title-6">
            <a:extLst>
              <a:ext uri="{FF2B5EF4-FFF2-40B4-BE49-F238E27FC236}">
                <a16:creationId xmlns:a16="http://schemas.microsoft.com/office/drawing/2014/main" id="{A6F86F45-0030-4C6B-9923-2771C59BA848}"/>
              </a:ext>
            </a:extLst>
          </p:cNvPr>
          <p:cNvSpPr>
            <a:spLocks noGrp="1"/>
          </p:cNvSpPr>
          <p:nvPr/>
        </p:nvSpPr>
        <p:spPr>
          <a:xfrm>
            <a:off x="1409700" y="1409700"/>
            <a:ext cx="9525000" cy="495300"/>
          </a:xfrm>
          <a:prstGeom prst="rect">
            <a:avLst/>
          </a:prstGeom>
          <a:noFill/>
          <a:ln w="0">
            <a:noFill/>
          </a:ln>
        </p:spPr>
        <p:txBody>
          <a:bodyPr wrap="square" lIns="0" tIns="0" rIns="0" bIns="0" anchor="t">
            <a:noAutofit/>
          </a:bodyPr>
          <a:lstStyle>
            <a:defPPr algn="l">
              <a:defRPr sz="1538" b="0">
                <a:solidFill>
                  <a:srgbClr val="202124"/>
                </a:solidFill>
                <a:latin typeface="Roboto"/>
                <a:ea typeface="Roboto"/>
                <a:cs typeface="Roboto"/>
              </a:defRPr>
            </a:defPPr>
            <a:lvl1pPr algn="l">
              <a:defRPr sz="1538" b="0">
                <a:solidFill>
                  <a:srgbClr val="202124"/>
                </a:solidFill>
                <a:latin typeface="Roboto"/>
                <a:ea typeface="Roboto"/>
                <a:cs typeface="Roboto"/>
              </a:defRPr>
            </a:lvl1pPr>
            <a:lvl2pPr algn="l">
              <a:defRPr sz="1538" b="0">
                <a:solidFill>
                  <a:srgbClr val="202124"/>
                </a:solidFill>
                <a:latin typeface="Roboto"/>
                <a:ea typeface="Roboto"/>
                <a:cs typeface="Roboto"/>
              </a:defRPr>
            </a:lvl2pPr>
            <a:lvl3pPr algn="l">
              <a:defRPr sz="1538" b="0">
                <a:solidFill>
                  <a:srgbClr val="202124"/>
                </a:solidFill>
                <a:latin typeface="Roboto"/>
                <a:ea typeface="Roboto"/>
                <a:cs typeface="Roboto"/>
              </a:defRPr>
            </a:lvl3pPr>
            <a:lvl4pPr algn="l">
              <a:defRPr sz="1538" b="0">
                <a:solidFill>
                  <a:srgbClr val="202124"/>
                </a:solidFill>
                <a:latin typeface="Roboto"/>
                <a:ea typeface="Roboto"/>
                <a:cs typeface="Roboto"/>
              </a:defRPr>
            </a:lvl4pPr>
            <a:lvl5pPr algn="l">
              <a:defRPr sz="1538" b="0">
                <a:solidFill>
                  <a:srgbClr val="202124"/>
                </a:solidFill>
                <a:latin typeface="Roboto"/>
                <a:ea typeface="Roboto"/>
                <a:cs typeface="Roboto"/>
              </a:defRPr>
            </a:lvl5pPr>
            <a:lvl6pPr algn="l">
              <a:defRPr sz="1538" b="0">
                <a:solidFill>
                  <a:srgbClr val="202124"/>
                </a:solidFill>
                <a:latin typeface="Roboto"/>
                <a:ea typeface="Roboto"/>
                <a:cs typeface="Roboto"/>
              </a:defRPr>
            </a:lvl6pPr>
            <a:lvl7pPr algn="l">
              <a:defRPr sz="1538" b="0">
                <a:solidFill>
                  <a:srgbClr val="202124"/>
                </a:solidFill>
                <a:latin typeface="Roboto"/>
                <a:ea typeface="Roboto"/>
                <a:cs typeface="Roboto"/>
              </a:defRPr>
            </a:lvl7pPr>
            <a:lvl8pPr algn="l">
              <a:defRPr sz="1538" b="0">
                <a:solidFill>
                  <a:srgbClr val="202124"/>
                </a:solidFill>
                <a:latin typeface="Roboto"/>
                <a:ea typeface="Roboto"/>
                <a:cs typeface="Roboto"/>
              </a:defRPr>
            </a:lvl8pPr>
            <a:lvl9pPr algn="l">
              <a:defRPr sz="1538" b="0">
                <a:solidFill>
                  <a:srgbClr val="202124"/>
                </a:solidFill>
                <a:latin typeface="Roboto"/>
                <a:ea typeface="Roboto"/>
                <a:cs typeface="Roboto"/>
              </a:defRPr>
            </a:lvl9pPr>
          </a:lstStyle>
          <a:p>
            <a:pPr algn="l">
              <a:defRPr sz="1538" b="0">
                <a:solidFill>
                  <a:srgbClr val="202124"/>
                </a:solidFill>
                <a:latin typeface="Roboto"/>
                <a:ea typeface="Roboto"/>
                <a:cs typeface="Roboto"/>
              </a:defRPr>
            </a:pPr>
            <a:r>
              <a:rPr sz="1538" b="0">
                <a:solidFill>
                  <a:srgbClr val="202124"/>
                </a:solidFill>
                <a:latin typeface="Roboto"/>
                <a:ea typeface="Roboto"/>
                <a:cs typeface="Roboto"/>
              </a:rPr>
              <a:t>O. Ronneberger, P. Fischer e T. Brox. U-Net: Convolutional Networks for Biomedical Image Segmentation.</a:t>
            </a:r>
          </a:p>
        </p:txBody>
      </p:sp>
      <p:sp>
        <p:nvSpPr>
          <p:cNvPr id="7" name="ref-venue-6">
            <a:extLst>
              <a:ext uri="{FF2B5EF4-FFF2-40B4-BE49-F238E27FC236}">
                <a16:creationId xmlns:a16="http://schemas.microsoft.com/office/drawing/2014/main" id="{E792458F-21DA-41E3-BAAF-00053E705075}"/>
              </a:ext>
            </a:extLst>
          </p:cNvPr>
          <p:cNvSpPr>
            <a:spLocks noGrp="1"/>
          </p:cNvSpPr>
          <p:nvPr/>
        </p:nvSpPr>
        <p:spPr>
          <a:xfrm>
            <a:off x="1409700" y="1914525"/>
            <a:ext cx="9525000" cy="219075"/>
          </a:xfrm>
          <a:prstGeom prst="rect">
            <a:avLst/>
          </a:prstGeom>
          <a:noFill/>
          <a:ln w="0">
            <a:noFill/>
          </a:ln>
        </p:spPr>
        <p:txBody>
          <a:bodyPr wrap="square" lIns="0" tIns="0" rIns="0" bIns="0" anchor="t">
            <a:noAutofit/>
          </a:bodyPr>
          <a:lstStyle>
            <a:defPPr algn="l">
              <a:defRPr sz="1313" b="0">
                <a:solidFill>
                  <a:srgbClr val="62666B"/>
                </a:solidFill>
                <a:latin typeface="Roboto"/>
                <a:ea typeface="Roboto"/>
                <a:cs typeface="Roboto"/>
              </a:defRPr>
            </a:defPPr>
            <a:lvl1pPr algn="l">
              <a:defRPr sz="1313" b="0">
                <a:solidFill>
                  <a:srgbClr val="62666B"/>
                </a:solidFill>
                <a:latin typeface="Roboto"/>
                <a:ea typeface="Roboto"/>
                <a:cs typeface="Roboto"/>
              </a:defRPr>
            </a:lvl1pPr>
            <a:lvl2pPr algn="l">
              <a:defRPr sz="1313" b="0">
                <a:solidFill>
                  <a:srgbClr val="62666B"/>
                </a:solidFill>
                <a:latin typeface="Roboto"/>
                <a:ea typeface="Roboto"/>
                <a:cs typeface="Roboto"/>
              </a:defRPr>
            </a:lvl2pPr>
            <a:lvl3pPr algn="l">
              <a:defRPr sz="1313" b="0">
                <a:solidFill>
                  <a:srgbClr val="62666B"/>
                </a:solidFill>
                <a:latin typeface="Roboto"/>
                <a:ea typeface="Roboto"/>
                <a:cs typeface="Roboto"/>
              </a:defRPr>
            </a:lvl3pPr>
            <a:lvl4pPr algn="l">
              <a:defRPr sz="1313" b="0">
                <a:solidFill>
                  <a:srgbClr val="62666B"/>
                </a:solidFill>
                <a:latin typeface="Roboto"/>
                <a:ea typeface="Roboto"/>
                <a:cs typeface="Roboto"/>
              </a:defRPr>
            </a:lvl4pPr>
            <a:lvl5pPr algn="l">
              <a:defRPr sz="1313" b="0">
                <a:solidFill>
                  <a:srgbClr val="62666B"/>
                </a:solidFill>
                <a:latin typeface="Roboto"/>
                <a:ea typeface="Roboto"/>
                <a:cs typeface="Roboto"/>
              </a:defRPr>
            </a:lvl5pPr>
            <a:lvl6pPr algn="l">
              <a:defRPr sz="1313" b="0">
                <a:solidFill>
                  <a:srgbClr val="62666B"/>
                </a:solidFill>
                <a:latin typeface="Roboto"/>
                <a:ea typeface="Roboto"/>
                <a:cs typeface="Roboto"/>
              </a:defRPr>
            </a:lvl6pPr>
            <a:lvl7pPr algn="l">
              <a:defRPr sz="1313" b="0">
                <a:solidFill>
                  <a:srgbClr val="62666B"/>
                </a:solidFill>
                <a:latin typeface="Roboto"/>
                <a:ea typeface="Roboto"/>
                <a:cs typeface="Roboto"/>
              </a:defRPr>
            </a:lvl7pPr>
            <a:lvl8pPr algn="l">
              <a:defRPr sz="1313" b="0">
                <a:solidFill>
                  <a:srgbClr val="62666B"/>
                </a:solidFill>
                <a:latin typeface="Roboto"/>
                <a:ea typeface="Roboto"/>
                <a:cs typeface="Roboto"/>
              </a:defRPr>
            </a:lvl8pPr>
            <a:lvl9pPr algn="l">
              <a:defRPr sz="1313" b="0">
                <a:solidFill>
                  <a:srgbClr val="62666B"/>
                </a:solidFill>
                <a:latin typeface="Roboto"/>
                <a:ea typeface="Roboto"/>
                <a:cs typeface="Roboto"/>
              </a:defRPr>
            </a:lvl9pPr>
          </a:lstStyle>
          <a:p>
            <a:pPr algn="l">
              <a:defRPr sz="1313" b="0">
                <a:solidFill>
                  <a:srgbClr val="62666B"/>
                </a:solidFill>
                <a:latin typeface="Roboto"/>
                <a:ea typeface="Roboto"/>
                <a:cs typeface="Roboto"/>
              </a:defRPr>
            </a:pPr>
            <a:r>
              <a:rPr sz="1313" b="0">
                <a:solidFill>
                  <a:srgbClr val="62666B"/>
                </a:solidFill>
                <a:latin typeface="Roboto"/>
                <a:ea typeface="Roboto"/>
                <a:cs typeface="Roboto"/>
              </a:rPr>
              <a:t>MICCAI, 2015, pp. 234–241.</a:t>
            </a:r>
          </a:p>
        </p:txBody>
      </p:sp>
      <p:sp>
        <p:nvSpPr>
          <p:cNvPr id="8" name="ref-link-6">
            <a:extLst>
              <a:ext uri="{FF2B5EF4-FFF2-40B4-BE49-F238E27FC236}">
                <a16:creationId xmlns:a16="http://schemas.microsoft.com/office/drawing/2014/main" id="{6299FD46-30E8-4E34-BBD7-E748ABE93566}"/>
              </a:ext>
            </a:extLst>
          </p:cNvPr>
          <p:cNvSpPr>
            <a:spLocks noGrp="1"/>
          </p:cNvSpPr>
          <p:nvPr/>
        </p:nvSpPr>
        <p:spPr>
          <a:xfrm>
            <a:off x="1409700" y="2133600"/>
            <a:ext cx="9525000" cy="209550"/>
          </a:xfrm>
          <a:prstGeom prst="rect">
            <a:avLst/>
          </a:prstGeom>
          <a:noFill/>
          <a:ln w="0">
            <a:noFill/>
          </a:ln>
        </p:spPr>
        <p:txBody>
          <a:bodyPr wrap="square" lIns="0" tIns="0" rIns="0" bIns="0" anchor="t">
            <a:noAutofit/>
          </a:bodyPr>
          <a:lstStyle>
            <a:defPPr algn="l">
              <a:defRPr sz="1275" b="0">
                <a:solidFill>
                  <a:srgbClr val="822433"/>
                </a:solidFill>
                <a:latin typeface="Roboto"/>
                <a:ea typeface="Roboto"/>
                <a:cs typeface="Roboto"/>
              </a:defRPr>
            </a:defPPr>
            <a:lvl1pPr algn="l">
              <a:defRPr sz="1275" b="0">
                <a:solidFill>
                  <a:srgbClr val="822433"/>
                </a:solidFill>
                <a:latin typeface="Roboto"/>
                <a:ea typeface="Roboto"/>
                <a:cs typeface="Roboto"/>
              </a:defRPr>
            </a:lvl1pPr>
            <a:lvl2pPr algn="l">
              <a:defRPr sz="1275" b="0">
                <a:solidFill>
                  <a:srgbClr val="822433"/>
                </a:solidFill>
                <a:latin typeface="Roboto"/>
                <a:ea typeface="Roboto"/>
                <a:cs typeface="Roboto"/>
              </a:defRPr>
            </a:lvl2pPr>
            <a:lvl3pPr algn="l">
              <a:defRPr sz="1275" b="0">
                <a:solidFill>
                  <a:srgbClr val="822433"/>
                </a:solidFill>
                <a:latin typeface="Roboto"/>
                <a:ea typeface="Roboto"/>
                <a:cs typeface="Roboto"/>
              </a:defRPr>
            </a:lvl3pPr>
            <a:lvl4pPr algn="l">
              <a:defRPr sz="1275" b="0">
                <a:solidFill>
                  <a:srgbClr val="822433"/>
                </a:solidFill>
                <a:latin typeface="Roboto"/>
                <a:ea typeface="Roboto"/>
                <a:cs typeface="Roboto"/>
              </a:defRPr>
            </a:lvl4pPr>
            <a:lvl5pPr algn="l">
              <a:defRPr sz="1275" b="0">
                <a:solidFill>
                  <a:srgbClr val="822433"/>
                </a:solidFill>
                <a:latin typeface="Roboto"/>
                <a:ea typeface="Roboto"/>
                <a:cs typeface="Roboto"/>
              </a:defRPr>
            </a:lvl5pPr>
            <a:lvl6pPr algn="l">
              <a:defRPr sz="1275" b="0">
                <a:solidFill>
                  <a:srgbClr val="822433"/>
                </a:solidFill>
                <a:latin typeface="Roboto"/>
                <a:ea typeface="Roboto"/>
                <a:cs typeface="Roboto"/>
              </a:defRPr>
            </a:lvl6pPr>
            <a:lvl7pPr algn="l">
              <a:defRPr sz="1275" b="0">
                <a:solidFill>
                  <a:srgbClr val="822433"/>
                </a:solidFill>
                <a:latin typeface="Roboto"/>
                <a:ea typeface="Roboto"/>
                <a:cs typeface="Roboto"/>
              </a:defRPr>
            </a:lvl7pPr>
            <a:lvl8pPr algn="l">
              <a:defRPr sz="1275" b="0">
                <a:solidFill>
                  <a:srgbClr val="822433"/>
                </a:solidFill>
                <a:latin typeface="Roboto"/>
                <a:ea typeface="Roboto"/>
                <a:cs typeface="Roboto"/>
              </a:defRPr>
            </a:lvl8pPr>
            <a:lvl9pPr algn="l">
              <a:defRPr sz="1275" b="0">
                <a:solidFill>
                  <a:srgbClr val="822433"/>
                </a:solidFill>
                <a:latin typeface="Roboto"/>
                <a:ea typeface="Roboto"/>
                <a:cs typeface="Roboto"/>
              </a:defRPr>
            </a:lvl9pPr>
          </a:lstStyle>
          <a:p>
            <a:pPr algn="l">
              <a:defRPr sz="1275" b="0">
                <a:solidFill>
                  <a:srgbClr val="822433"/>
                </a:solidFill>
                <a:latin typeface="Roboto"/>
                <a:ea typeface="Roboto"/>
                <a:cs typeface="Roboto"/>
              </a:defRPr>
            </a:pPr>
            <a:r>
              <a:rPr sz="1275" b="0">
                <a:solidFill>
                  <a:srgbClr val="822433"/>
                </a:solidFill>
                <a:latin typeface="Roboto"/>
                <a:ea typeface="Roboto"/>
                <a:cs typeface="Roboto"/>
                <a:hlinkClick r:id="rId3"/>
              </a:rPr>
              <a:t>doi: 10.1007/978-3-319-24574-4_28</a:t>
            </a:r>
          </a:p>
        </p:txBody>
      </p:sp>
      <p:sp>
        <p:nvSpPr>
          <p:cNvPr id="9" name="ref-number-7">
            <a:extLst>
              <a:ext uri="{FF2B5EF4-FFF2-40B4-BE49-F238E27FC236}">
                <a16:creationId xmlns:a16="http://schemas.microsoft.com/office/drawing/2014/main" id="{C0896507-885F-456D-A1C0-FC271F84B4EE}"/>
              </a:ext>
            </a:extLst>
          </p:cNvPr>
          <p:cNvSpPr>
            <a:spLocks noGrp="1"/>
          </p:cNvSpPr>
          <p:nvPr/>
        </p:nvSpPr>
        <p:spPr>
          <a:xfrm>
            <a:off x="857250" y="2400300"/>
            <a:ext cx="495300" cy="333375"/>
          </a:xfrm>
          <a:prstGeom prst="rect">
            <a:avLst/>
          </a:prstGeom>
          <a:noFill/>
          <a:ln w="0">
            <a:noFill/>
          </a:ln>
        </p:spPr>
        <p:txBody>
          <a:bodyPr wrap="square" lIns="0" tIns="0" rIns="0" bIns="0" anchor="t">
            <a:noAutofit/>
          </a:bodyPr>
          <a:lstStyle>
            <a:defPPr algn="l">
              <a:defRPr sz="1650" b="1">
                <a:solidFill>
                  <a:srgbClr val="822433"/>
                </a:solidFill>
                <a:latin typeface="Roboto"/>
                <a:ea typeface="Roboto"/>
                <a:cs typeface="Roboto"/>
              </a:defRPr>
            </a:defPPr>
            <a:lvl1pPr algn="l">
              <a:defRPr sz="1650" b="1">
                <a:solidFill>
                  <a:srgbClr val="822433"/>
                </a:solidFill>
                <a:latin typeface="Roboto"/>
                <a:ea typeface="Roboto"/>
                <a:cs typeface="Roboto"/>
              </a:defRPr>
            </a:lvl1pPr>
            <a:lvl2pPr algn="l">
              <a:defRPr sz="1650" b="1">
                <a:solidFill>
                  <a:srgbClr val="822433"/>
                </a:solidFill>
                <a:latin typeface="Roboto"/>
                <a:ea typeface="Roboto"/>
                <a:cs typeface="Roboto"/>
              </a:defRPr>
            </a:lvl2pPr>
            <a:lvl3pPr algn="l">
              <a:defRPr sz="1650" b="1">
                <a:solidFill>
                  <a:srgbClr val="822433"/>
                </a:solidFill>
                <a:latin typeface="Roboto"/>
                <a:ea typeface="Roboto"/>
                <a:cs typeface="Roboto"/>
              </a:defRPr>
            </a:lvl3pPr>
            <a:lvl4pPr algn="l">
              <a:defRPr sz="1650" b="1">
                <a:solidFill>
                  <a:srgbClr val="822433"/>
                </a:solidFill>
                <a:latin typeface="Roboto"/>
                <a:ea typeface="Roboto"/>
                <a:cs typeface="Roboto"/>
              </a:defRPr>
            </a:lvl4pPr>
            <a:lvl5pPr algn="l">
              <a:defRPr sz="1650" b="1">
                <a:solidFill>
                  <a:srgbClr val="822433"/>
                </a:solidFill>
                <a:latin typeface="Roboto"/>
                <a:ea typeface="Roboto"/>
                <a:cs typeface="Roboto"/>
              </a:defRPr>
            </a:lvl5pPr>
            <a:lvl6pPr algn="l">
              <a:defRPr sz="1650" b="1">
                <a:solidFill>
                  <a:srgbClr val="822433"/>
                </a:solidFill>
                <a:latin typeface="Roboto"/>
                <a:ea typeface="Roboto"/>
                <a:cs typeface="Roboto"/>
              </a:defRPr>
            </a:lvl6pPr>
            <a:lvl7pPr algn="l">
              <a:defRPr sz="1650" b="1">
                <a:solidFill>
                  <a:srgbClr val="822433"/>
                </a:solidFill>
                <a:latin typeface="Roboto"/>
                <a:ea typeface="Roboto"/>
                <a:cs typeface="Roboto"/>
              </a:defRPr>
            </a:lvl7pPr>
            <a:lvl8pPr algn="l">
              <a:defRPr sz="1650" b="1">
                <a:solidFill>
                  <a:srgbClr val="822433"/>
                </a:solidFill>
                <a:latin typeface="Roboto"/>
                <a:ea typeface="Roboto"/>
                <a:cs typeface="Roboto"/>
              </a:defRPr>
            </a:lvl8pPr>
            <a:lvl9pPr algn="l">
              <a:defRPr sz="1650" b="1">
                <a:solidFill>
                  <a:srgbClr val="822433"/>
                </a:solidFill>
                <a:latin typeface="Roboto"/>
                <a:ea typeface="Roboto"/>
                <a:cs typeface="Roboto"/>
              </a:defRPr>
            </a:lvl9pPr>
          </a:lstStyle>
          <a:p>
            <a:pPr algn="l">
              <a:defRPr sz="1650" b="1">
                <a:solidFill>
                  <a:srgbClr val="822433"/>
                </a:solidFill>
                <a:latin typeface="Roboto"/>
                <a:ea typeface="Roboto"/>
                <a:cs typeface="Roboto"/>
              </a:defRPr>
            </a:pPr>
            <a:r>
              <a:rPr sz="1650" b="1">
                <a:solidFill>
                  <a:srgbClr val="822433"/>
                </a:solidFill>
                <a:latin typeface="Roboto"/>
                <a:ea typeface="Roboto"/>
                <a:cs typeface="Roboto"/>
              </a:rPr>
              <a:t>[7]</a:t>
            </a:r>
          </a:p>
        </p:txBody>
      </p:sp>
      <p:sp>
        <p:nvSpPr>
          <p:cNvPr id="10" name="ref-title-7">
            <a:extLst>
              <a:ext uri="{FF2B5EF4-FFF2-40B4-BE49-F238E27FC236}">
                <a16:creationId xmlns:a16="http://schemas.microsoft.com/office/drawing/2014/main" id="{8563A912-498D-42F9-8AF5-461AC4E30047}"/>
              </a:ext>
            </a:extLst>
          </p:cNvPr>
          <p:cNvSpPr>
            <a:spLocks noGrp="1"/>
          </p:cNvSpPr>
          <p:nvPr/>
        </p:nvSpPr>
        <p:spPr>
          <a:xfrm>
            <a:off x="1409700" y="2400300"/>
            <a:ext cx="9525000" cy="495300"/>
          </a:xfrm>
          <a:prstGeom prst="rect">
            <a:avLst/>
          </a:prstGeom>
          <a:noFill/>
          <a:ln w="0">
            <a:noFill/>
          </a:ln>
        </p:spPr>
        <p:txBody>
          <a:bodyPr wrap="square" lIns="0" tIns="0" rIns="0" bIns="0" anchor="t">
            <a:noAutofit/>
          </a:bodyPr>
          <a:lstStyle>
            <a:defPPr algn="l">
              <a:defRPr sz="1538" b="0">
                <a:solidFill>
                  <a:srgbClr val="202124"/>
                </a:solidFill>
                <a:latin typeface="Roboto"/>
                <a:ea typeface="Roboto"/>
                <a:cs typeface="Roboto"/>
              </a:defRPr>
            </a:defPPr>
            <a:lvl1pPr algn="l">
              <a:defRPr sz="1538" b="0">
                <a:solidFill>
                  <a:srgbClr val="202124"/>
                </a:solidFill>
                <a:latin typeface="Roboto"/>
                <a:ea typeface="Roboto"/>
                <a:cs typeface="Roboto"/>
              </a:defRPr>
            </a:lvl1pPr>
            <a:lvl2pPr algn="l">
              <a:defRPr sz="1538" b="0">
                <a:solidFill>
                  <a:srgbClr val="202124"/>
                </a:solidFill>
                <a:latin typeface="Roboto"/>
                <a:ea typeface="Roboto"/>
                <a:cs typeface="Roboto"/>
              </a:defRPr>
            </a:lvl2pPr>
            <a:lvl3pPr algn="l">
              <a:defRPr sz="1538" b="0">
                <a:solidFill>
                  <a:srgbClr val="202124"/>
                </a:solidFill>
                <a:latin typeface="Roboto"/>
                <a:ea typeface="Roboto"/>
                <a:cs typeface="Roboto"/>
              </a:defRPr>
            </a:lvl3pPr>
            <a:lvl4pPr algn="l">
              <a:defRPr sz="1538" b="0">
                <a:solidFill>
                  <a:srgbClr val="202124"/>
                </a:solidFill>
                <a:latin typeface="Roboto"/>
                <a:ea typeface="Roboto"/>
                <a:cs typeface="Roboto"/>
              </a:defRPr>
            </a:lvl4pPr>
            <a:lvl5pPr algn="l">
              <a:defRPr sz="1538" b="0">
                <a:solidFill>
                  <a:srgbClr val="202124"/>
                </a:solidFill>
                <a:latin typeface="Roboto"/>
                <a:ea typeface="Roboto"/>
                <a:cs typeface="Roboto"/>
              </a:defRPr>
            </a:lvl5pPr>
            <a:lvl6pPr algn="l">
              <a:defRPr sz="1538" b="0">
                <a:solidFill>
                  <a:srgbClr val="202124"/>
                </a:solidFill>
                <a:latin typeface="Roboto"/>
                <a:ea typeface="Roboto"/>
                <a:cs typeface="Roboto"/>
              </a:defRPr>
            </a:lvl6pPr>
            <a:lvl7pPr algn="l">
              <a:defRPr sz="1538" b="0">
                <a:solidFill>
                  <a:srgbClr val="202124"/>
                </a:solidFill>
                <a:latin typeface="Roboto"/>
                <a:ea typeface="Roboto"/>
                <a:cs typeface="Roboto"/>
              </a:defRPr>
            </a:lvl7pPr>
            <a:lvl8pPr algn="l">
              <a:defRPr sz="1538" b="0">
                <a:solidFill>
                  <a:srgbClr val="202124"/>
                </a:solidFill>
                <a:latin typeface="Roboto"/>
                <a:ea typeface="Roboto"/>
                <a:cs typeface="Roboto"/>
              </a:defRPr>
            </a:lvl8pPr>
            <a:lvl9pPr algn="l">
              <a:defRPr sz="1538" b="0">
                <a:solidFill>
                  <a:srgbClr val="202124"/>
                </a:solidFill>
                <a:latin typeface="Roboto"/>
                <a:ea typeface="Roboto"/>
                <a:cs typeface="Roboto"/>
              </a:defRPr>
            </a:lvl9pPr>
          </a:lstStyle>
          <a:p>
            <a:pPr algn="l">
              <a:defRPr sz="1538" b="0">
                <a:solidFill>
                  <a:srgbClr val="202124"/>
                </a:solidFill>
                <a:latin typeface="Roboto"/>
                <a:ea typeface="Roboto"/>
                <a:cs typeface="Roboto"/>
              </a:defRPr>
            </a:pPr>
            <a:r>
              <a:rPr sz="1538" b="0">
                <a:solidFill>
                  <a:srgbClr val="202124"/>
                </a:solidFill>
                <a:latin typeface="Roboto"/>
                <a:ea typeface="Roboto"/>
                <a:cs typeface="Roboto"/>
              </a:rPr>
              <a:t>L.-C. Chen et al. Rethinking Atrous Convolution for Semantic Image Segmentation.</a:t>
            </a:r>
          </a:p>
        </p:txBody>
      </p:sp>
      <p:sp>
        <p:nvSpPr>
          <p:cNvPr id="11" name="ref-venue-7">
            <a:extLst>
              <a:ext uri="{FF2B5EF4-FFF2-40B4-BE49-F238E27FC236}">
                <a16:creationId xmlns:a16="http://schemas.microsoft.com/office/drawing/2014/main" id="{2987CA62-DD48-4917-A947-89ADA8D94192}"/>
              </a:ext>
            </a:extLst>
          </p:cNvPr>
          <p:cNvSpPr>
            <a:spLocks noGrp="1"/>
          </p:cNvSpPr>
          <p:nvPr/>
        </p:nvSpPr>
        <p:spPr>
          <a:xfrm>
            <a:off x="1409700" y="2905125"/>
            <a:ext cx="9525000" cy="219075"/>
          </a:xfrm>
          <a:prstGeom prst="rect">
            <a:avLst/>
          </a:prstGeom>
          <a:noFill/>
          <a:ln w="0">
            <a:noFill/>
          </a:ln>
        </p:spPr>
        <p:txBody>
          <a:bodyPr wrap="square" lIns="0" tIns="0" rIns="0" bIns="0" anchor="t">
            <a:noAutofit/>
          </a:bodyPr>
          <a:lstStyle>
            <a:defPPr algn="l">
              <a:defRPr sz="1313" b="0">
                <a:solidFill>
                  <a:srgbClr val="62666B"/>
                </a:solidFill>
                <a:latin typeface="Roboto"/>
                <a:ea typeface="Roboto"/>
                <a:cs typeface="Roboto"/>
              </a:defRPr>
            </a:defPPr>
            <a:lvl1pPr algn="l">
              <a:defRPr sz="1313" b="0">
                <a:solidFill>
                  <a:srgbClr val="62666B"/>
                </a:solidFill>
                <a:latin typeface="Roboto"/>
                <a:ea typeface="Roboto"/>
                <a:cs typeface="Roboto"/>
              </a:defRPr>
            </a:lvl1pPr>
            <a:lvl2pPr algn="l">
              <a:defRPr sz="1313" b="0">
                <a:solidFill>
                  <a:srgbClr val="62666B"/>
                </a:solidFill>
                <a:latin typeface="Roboto"/>
                <a:ea typeface="Roboto"/>
                <a:cs typeface="Roboto"/>
              </a:defRPr>
            </a:lvl2pPr>
            <a:lvl3pPr algn="l">
              <a:defRPr sz="1313" b="0">
                <a:solidFill>
                  <a:srgbClr val="62666B"/>
                </a:solidFill>
                <a:latin typeface="Roboto"/>
                <a:ea typeface="Roboto"/>
                <a:cs typeface="Roboto"/>
              </a:defRPr>
            </a:lvl3pPr>
            <a:lvl4pPr algn="l">
              <a:defRPr sz="1313" b="0">
                <a:solidFill>
                  <a:srgbClr val="62666B"/>
                </a:solidFill>
                <a:latin typeface="Roboto"/>
                <a:ea typeface="Roboto"/>
                <a:cs typeface="Roboto"/>
              </a:defRPr>
            </a:lvl4pPr>
            <a:lvl5pPr algn="l">
              <a:defRPr sz="1313" b="0">
                <a:solidFill>
                  <a:srgbClr val="62666B"/>
                </a:solidFill>
                <a:latin typeface="Roboto"/>
                <a:ea typeface="Roboto"/>
                <a:cs typeface="Roboto"/>
              </a:defRPr>
            </a:lvl5pPr>
            <a:lvl6pPr algn="l">
              <a:defRPr sz="1313" b="0">
                <a:solidFill>
                  <a:srgbClr val="62666B"/>
                </a:solidFill>
                <a:latin typeface="Roboto"/>
                <a:ea typeface="Roboto"/>
                <a:cs typeface="Roboto"/>
              </a:defRPr>
            </a:lvl6pPr>
            <a:lvl7pPr algn="l">
              <a:defRPr sz="1313" b="0">
                <a:solidFill>
                  <a:srgbClr val="62666B"/>
                </a:solidFill>
                <a:latin typeface="Roboto"/>
                <a:ea typeface="Roboto"/>
                <a:cs typeface="Roboto"/>
              </a:defRPr>
            </a:lvl7pPr>
            <a:lvl8pPr algn="l">
              <a:defRPr sz="1313" b="0">
                <a:solidFill>
                  <a:srgbClr val="62666B"/>
                </a:solidFill>
                <a:latin typeface="Roboto"/>
                <a:ea typeface="Roboto"/>
                <a:cs typeface="Roboto"/>
              </a:defRPr>
            </a:lvl8pPr>
            <a:lvl9pPr algn="l">
              <a:defRPr sz="1313" b="0">
                <a:solidFill>
                  <a:srgbClr val="62666B"/>
                </a:solidFill>
                <a:latin typeface="Roboto"/>
                <a:ea typeface="Roboto"/>
                <a:cs typeface="Roboto"/>
              </a:defRPr>
            </a:lvl9pPr>
          </a:lstStyle>
          <a:p>
            <a:pPr algn="l">
              <a:defRPr sz="1313" b="0">
                <a:solidFill>
                  <a:srgbClr val="62666B"/>
                </a:solidFill>
                <a:latin typeface="Roboto"/>
                <a:ea typeface="Roboto"/>
                <a:cs typeface="Roboto"/>
              </a:defRPr>
            </a:pPr>
            <a:r>
              <a:rPr sz="1313" b="0">
                <a:solidFill>
                  <a:srgbClr val="62666B"/>
                </a:solidFill>
                <a:latin typeface="Roboto"/>
                <a:ea typeface="Roboto"/>
                <a:cs typeface="Roboto"/>
              </a:rPr>
              <a:t>arXiv:1706.05587, 2017.</a:t>
            </a:r>
          </a:p>
        </p:txBody>
      </p:sp>
      <p:sp>
        <p:nvSpPr>
          <p:cNvPr id="12" name="ref-link-7">
            <a:extLst>
              <a:ext uri="{FF2B5EF4-FFF2-40B4-BE49-F238E27FC236}">
                <a16:creationId xmlns:a16="http://schemas.microsoft.com/office/drawing/2014/main" id="{3DCE2C5C-7914-4049-A565-6E7A9C3E3D69}"/>
              </a:ext>
            </a:extLst>
          </p:cNvPr>
          <p:cNvSpPr>
            <a:spLocks noGrp="1"/>
          </p:cNvSpPr>
          <p:nvPr/>
        </p:nvSpPr>
        <p:spPr>
          <a:xfrm>
            <a:off x="1409700" y="3124200"/>
            <a:ext cx="9525000" cy="209550"/>
          </a:xfrm>
          <a:prstGeom prst="rect">
            <a:avLst/>
          </a:prstGeom>
          <a:noFill/>
          <a:ln w="0">
            <a:noFill/>
          </a:ln>
        </p:spPr>
        <p:txBody>
          <a:bodyPr wrap="square" lIns="0" tIns="0" rIns="0" bIns="0" anchor="t">
            <a:noAutofit/>
          </a:bodyPr>
          <a:lstStyle>
            <a:defPPr algn="l">
              <a:defRPr sz="1275" b="0">
                <a:solidFill>
                  <a:srgbClr val="822433"/>
                </a:solidFill>
                <a:latin typeface="Roboto"/>
                <a:ea typeface="Roboto"/>
                <a:cs typeface="Roboto"/>
              </a:defRPr>
            </a:defPPr>
            <a:lvl1pPr algn="l">
              <a:defRPr sz="1275" b="0">
                <a:solidFill>
                  <a:srgbClr val="822433"/>
                </a:solidFill>
                <a:latin typeface="Roboto"/>
                <a:ea typeface="Roboto"/>
                <a:cs typeface="Roboto"/>
              </a:defRPr>
            </a:lvl1pPr>
            <a:lvl2pPr algn="l">
              <a:defRPr sz="1275" b="0">
                <a:solidFill>
                  <a:srgbClr val="822433"/>
                </a:solidFill>
                <a:latin typeface="Roboto"/>
                <a:ea typeface="Roboto"/>
                <a:cs typeface="Roboto"/>
              </a:defRPr>
            </a:lvl2pPr>
            <a:lvl3pPr algn="l">
              <a:defRPr sz="1275" b="0">
                <a:solidFill>
                  <a:srgbClr val="822433"/>
                </a:solidFill>
                <a:latin typeface="Roboto"/>
                <a:ea typeface="Roboto"/>
                <a:cs typeface="Roboto"/>
              </a:defRPr>
            </a:lvl3pPr>
            <a:lvl4pPr algn="l">
              <a:defRPr sz="1275" b="0">
                <a:solidFill>
                  <a:srgbClr val="822433"/>
                </a:solidFill>
                <a:latin typeface="Roboto"/>
                <a:ea typeface="Roboto"/>
                <a:cs typeface="Roboto"/>
              </a:defRPr>
            </a:lvl4pPr>
            <a:lvl5pPr algn="l">
              <a:defRPr sz="1275" b="0">
                <a:solidFill>
                  <a:srgbClr val="822433"/>
                </a:solidFill>
                <a:latin typeface="Roboto"/>
                <a:ea typeface="Roboto"/>
                <a:cs typeface="Roboto"/>
              </a:defRPr>
            </a:lvl5pPr>
            <a:lvl6pPr algn="l">
              <a:defRPr sz="1275" b="0">
                <a:solidFill>
                  <a:srgbClr val="822433"/>
                </a:solidFill>
                <a:latin typeface="Roboto"/>
                <a:ea typeface="Roboto"/>
                <a:cs typeface="Roboto"/>
              </a:defRPr>
            </a:lvl6pPr>
            <a:lvl7pPr algn="l">
              <a:defRPr sz="1275" b="0">
                <a:solidFill>
                  <a:srgbClr val="822433"/>
                </a:solidFill>
                <a:latin typeface="Roboto"/>
                <a:ea typeface="Roboto"/>
                <a:cs typeface="Roboto"/>
              </a:defRPr>
            </a:lvl7pPr>
            <a:lvl8pPr algn="l">
              <a:defRPr sz="1275" b="0">
                <a:solidFill>
                  <a:srgbClr val="822433"/>
                </a:solidFill>
                <a:latin typeface="Roboto"/>
                <a:ea typeface="Roboto"/>
                <a:cs typeface="Roboto"/>
              </a:defRPr>
            </a:lvl8pPr>
            <a:lvl9pPr algn="l">
              <a:defRPr sz="1275" b="0">
                <a:solidFill>
                  <a:srgbClr val="822433"/>
                </a:solidFill>
                <a:latin typeface="Roboto"/>
                <a:ea typeface="Roboto"/>
                <a:cs typeface="Roboto"/>
              </a:defRPr>
            </a:lvl9pPr>
          </a:lstStyle>
          <a:p>
            <a:pPr algn="l">
              <a:defRPr sz="1275" b="0">
                <a:solidFill>
                  <a:srgbClr val="822433"/>
                </a:solidFill>
                <a:latin typeface="Roboto"/>
                <a:ea typeface="Roboto"/>
                <a:cs typeface="Roboto"/>
              </a:defRPr>
            </a:pPr>
            <a:r>
              <a:rPr sz="1275" b="0">
                <a:solidFill>
                  <a:srgbClr val="822433"/>
                </a:solidFill>
                <a:latin typeface="Roboto"/>
                <a:ea typeface="Roboto"/>
                <a:cs typeface="Roboto"/>
                <a:hlinkClick r:id="rId4"/>
              </a:rPr>
              <a:t>arxiv.org/abs/1706.05587</a:t>
            </a:r>
          </a:p>
        </p:txBody>
      </p:sp>
      <p:sp>
        <p:nvSpPr>
          <p:cNvPr id="13" name="ref-number-8">
            <a:extLst>
              <a:ext uri="{FF2B5EF4-FFF2-40B4-BE49-F238E27FC236}">
                <a16:creationId xmlns:a16="http://schemas.microsoft.com/office/drawing/2014/main" id="{E8BBC984-FCC6-496D-8A58-E8FDB4D0C8D0}"/>
              </a:ext>
            </a:extLst>
          </p:cNvPr>
          <p:cNvSpPr>
            <a:spLocks noGrp="1"/>
          </p:cNvSpPr>
          <p:nvPr/>
        </p:nvSpPr>
        <p:spPr>
          <a:xfrm>
            <a:off x="857250" y="3390900"/>
            <a:ext cx="495300" cy="333375"/>
          </a:xfrm>
          <a:prstGeom prst="rect">
            <a:avLst/>
          </a:prstGeom>
          <a:noFill/>
          <a:ln w="0">
            <a:noFill/>
          </a:ln>
        </p:spPr>
        <p:txBody>
          <a:bodyPr wrap="square" lIns="0" tIns="0" rIns="0" bIns="0" anchor="t">
            <a:noAutofit/>
          </a:bodyPr>
          <a:lstStyle>
            <a:defPPr algn="l">
              <a:defRPr sz="1650" b="1">
                <a:solidFill>
                  <a:srgbClr val="822433"/>
                </a:solidFill>
                <a:latin typeface="Roboto"/>
                <a:ea typeface="Roboto"/>
                <a:cs typeface="Roboto"/>
              </a:defRPr>
            </a:defPPr>
            <a:lvl1pPr algn="l">
              <a:defRPr sz="1650" b="1">
                <a:solidFill>
                  <a:srgbClr val="822433"/>
                </a:solidFill>
                <a:latin typeface="Roboto"/>
                <a:ea typeface="Roboto"/>
                <a:cs typeface="Roboto"/>
              </a:defRPr>
            </a:lvl1pPr>
            <a:lvl2pPr algn="l">
              <a:defRPr sz="1650" b="1">
                <a:solidFill>
                  <a:srgbClr val="822433"/>
                </a:solidFill>
                <a:latin typeface="Roboto"/>
                <a:ea typeface="Roboto"/>
                <a:cs typeface="Roboto"/>
              </a:defRPr>
            </a:lvl2pPr>
            <a:lvl3pPr algn="l">
              <a:defRPr sz="1650" b="1">
                <a:solidFill>
                  <a:srgbClr val="822433"/>
                </a:solidFill>
                <a:latin typeface="Roboto"/>
                <a:ea typeface="Roboto"/>
                <a:cs typeface="Roboto"/>
              </a:defRPr>
            </a:lvl3pPr>
            <a:lvl4pPr algn="l">
              <a:defRPr sz="1650" b="1">
                <a:solidFill>
                  <a:srgbClr val="822433"/>
                </a:solidFill>
                <a:latin typeface="Roboto"/>
                <a:ea typeface="Roboto"/>
                <a:cs typeface="Roboto"/>
              </a:defRPr>
            </a:lvl4pPr>
            <a:lvl5pPr algn="l">
              <a:defRPr sz="1650" b="1">
                <a:solidFill>
                  <a:srgbClr val="822433"/>
                </a:solidFill>
                <a:latin typeface="Roboto"/>
                <a:ea typeface="Roboto"/>
                <a:cs typeface="Roboto"/>
              </a:defRPr>
            </a:lvl5pPr>
            <a:lvl6pPr algn="l">
              <a:defRPr sz="1650" b="1">
                <a:solidFill>
                  <a:srgbClr val="822433"/>
                </a:solidFill>
                <a:latin typeface="Roboto"/>
                <a:ea typeface="Roboto"/>
                <a:cs typeface="Roboto"/>
              </a:defRPr>
            </a:lvl6pPr>
            <a:lvl7pPr algn="l">
              <a:defRPr sz="1650" b="1">
                <a:solidFill>
                  <a:srgbClr val="822433"/>
                </a:solidFill>
                <a:latin typeface="Roboto"/>
                <a:ea typeface="Roboto"/>
                <a:cs typeface="Roboto"/>
              </a:defRPr>
            </a:lvl7pPr>
            <a:lvl8pPr algn="l">
              <a:defRPr sz="1650" b="1">
                <a:solidFill>
                  <a:srgbClr val="822433"/>
                </a:solidFill>
                <a:latin typeface="Roboto"/>
                <a:ea typeface="Roboto"/>
                <a:cs typeface="Roboto"/>
              </a:defRPr>
            </a:lvl8pPr>
            <a:lvl9pPr algn="l">
              <a:defRPr sz="1650" b="1">
                <a:solidFill>
                  <a:srgbClr val="822433"/>
                </a:solidFill>
                <a:latin typeface="Roboto"/>
                <a:ea typeface="Roboto"/>
                <a:cs typeface="Roboto"/>
              </a:defRPr>
            </a:lvl9pPr>
          </a:lstStyle>
          <a:p>
            <a:pPr algn="l">
              <a:defRPr sz="1650" b="1">
                <a:solidFill>
                  <a:srgbClr val="822433"/>
                </a:solidFill>
                <a:latin typeface="Roboto"/>
                <a:ea typeface="Roboto"/>
                <a:cs typeface="Roboto"/>
              </a:defRPr>
            </a:pPr>
            <a:r>
              <a:rPr sz="1650" b="1">
                <a:solidFill>
                  <a:srgbClr val="822433"/>
                </a:solidFill>
                <a:latin typeface="Roboto"/>
                <a:ea typeface="Roboto"/>
                <a:cs typeface="Roboto"/>
              </a:rPr>
              <a:t>[8]</a:t>
            </a:r>
          </a:p>
        </p:txBody>
      </p:sp>
      <p:sp>
        <p:nvSpPr>
          <p:cNvPr id="14" name="ref-title-8">
            <a:extLst>
              <a:ext uri="{FF2B5EF4-FFF2-40B4-BE49-F238E27FC236}">
                <a16:creationId xmlns:a16="http://schemas.microsoft.com/office/drawing/2014/main" id="{41F40B84-DF5C-4066-87D1-6552D938617E}"/>
              </a:ext>
            </a:extLst>
          </p:cNvPr>
          <p:cNvSpPr>
            <a:spLocks noGrp="1"/>
          </p:cNvSpPr>
          <p:nvPr/>
        </p:nvSpPr>
        <p:spPr>
          <a:xfrm>
            <a:off x="1409700" y="3390900"/>
            <a:ext cx="9525000" cy="495300"/>
          </a:xfrm>
          <a:prstGeom prst="rect">
            <a:avLst/>
          </a:prstGeom>
          <a:noFill/>
          <a:ln w="0">
            <a:noFill/>
          </a:ln>
        </p:spPr>
        <p:txBody>
          <a:bodyPr wrap="square" lIns="0" tIns="0" rIns="0" bIns="0" anchor="t">
            <a:noAutofit/>
          </a:bodyPr>
          <a:lstStyle>
            <a:defPPr algn="l">
              <a:defRPr sz="1538" b="0">
                <a:solidFill>
                  <a:srgbClr val="202124"/>
                </a:solidFill>
                <a:latin typeface="Roboto"/>
                <a:ea typeface="Roboto"/>
                <a:cs typeface="Roboto"/>
              </a:defRPr>
            </a:defPPr>
            <a:lvl1pPr algn="l">
              <a:defRPr sz="1538" b="0">
                <a:solidFill>
                  <a:srgbClr val="202124"/>
                </a:solidFill>
                <a:latin typeface="Roboto"/>
                <a:ea typeface="Roboto"/>
                <a:cs typeface="Roboto"/>
              </a:defRPr>
            </a:lvl1pPr>
            <a:lvl2pPr algn="l">
              <a:defRPr sz="1538" b="0">
                <a:solidFill>
                  <a:srgbClr val="202124"/>
                </a:solidFill>
                <a:latin typeface="Roboto"/>
                <a:ea typeface="Roboto"/>
                <a:cs typeface="Roboto"/>
              </a:defRPr>
            </a:lvl2pPr>
            <a:lvl3pPr algn="l">
              <a:defRPr sz="1538" b="0">
                <a:solidFill>
                  <a:srgbClr val="202124"/>
                </a:solidFill>
                <a:latin typeface="Roboto"/>
                <a:ea typeface="Roboto"/>
                <a:cs typeface="Roboto"/>
              </a:defRPr>
            </a:lvl3pPr>
            <a:lvl4pPr algn="l">
              <a:defRPr sz="1538" b="0">
                <a:solidFill>
                  <a:srgbClr val="202124"/>
                </a:solidFill>
                <a:latin typeface="Roboto"/>
                <a:ea typeface="Roboto"/>
                <a:cs typeface="Roboto"/>
              </a:defRPr>
            </a:lvl4pPr>
            <a:lvl5pPr algn="l">
              <a:defRPr sz="1538" b="0">
                <a:solidFill>
                  <a:srgbClr val="202124"/>
                </a:solidFill>
                <a:latin typeface="Roboto"/>
                <a:ea typeface="Roboto"/>
                <a:cs typeface="Roboto"/>
              </a:defRPr>
            </a:lvl5pPr>
            <a:lvl6pPr algn="l">
              <a:defRPr sz="1538" b="0">
                <a:solidFill>
                  <a:srgbClr val="202124"/>
                </a:solidFill>
                <a:latin typeface="Roboto"/>
                <a:ea typeface="Roboto"/>
                <a:cs typeface="Roboto"/>
              </a:defRPr>
            </a:lvl6pPr>
            <a:lvl7pPr algn="l">
              <a:defRPr sz="1538" b="0">
                <a:solidFill>
                  <a:srgbClr val="202124"/>
                </a:solidFill>
                <a:latin typeface="Roboto"/>
                <a:ea typeface="Roboto"/>
                <a:cs typeface="Roboto"/>
              </a:defRPr>
            </a:lvl7pPr>
            <a:lvl8pPr algn="l">
              <a:defRPr sz="1538" b="0">
                <a:solidFill>
                  <a:srgbClr val="202124"/>
                </a:solidFill>
                <a:latin typeface="Roboto"/>
                <a:ea typeface="Roboto"/>
                <a:cs typeface="Roboto"/>
              </a:defRPr>
            </a:lvl8pPr>
            <a:lvl9pPr algn="l">
              <a:defRPr sz="1538" b="0">
                <a:solidFill>
                  <a:srgbClr val="202124"/>
                </a:solidFill>
                <a:latin typeface="Roboto"/>
                <a:ea typeface="Roboto"/>
                <a:cs typeface="Roboto"/>
              </a:defRPr>
            </a:lvl9pPr>
          </a:lstStyle>
          <a:p>
            <a:pPr algn="l">
              <a:defRPr sz="1538" b="0">
                <a:solidFill>
                  <a:srgbClr val="202124"/>
                </a:solidFill>
                <a:latin typeface="Roboto"/>
                <a:ea typeface="Roboto"/>
                <a:cs typeface="Roboto"/>
              </a:defRPr>
            </a:pPr>
            <a:r>
              <a:rPr sz="1538" b="0">
                <a:solidFill>
                  <a:srgbClr val="202124"/>
                </a:solidFill>
                <a:latin typeface="Roboto"/>
                <a:ea typeface="Roboto"/>
                <a:cs typeface="Roboto"/>
              </a:rPr>
              <a:t>L.-C. Chen et al. Encoder-Decoder with Atrous Separable Convolution for Semantic Image Segmentation.</a:t>
            </a:r>
          </a:p>
        </p:txBody>
      </p:sp>
      <p:sp>
        <p:nvSpPr>
          <p:cNvPr id="15" name="ref-venue-8">
            <a:extLst>
              <a:ext uri="{FF2B5EF4-FFF2-40B4-BE49-F238E27FC236}">
                <a16:creationId xmlns:a16="http://schemas.microsoft.com/office/drawing/2014/main" id="{35A14E07-1C62-4921-8AD7-47D955B1BDAA}"/>
              </a:ext>
            </a:extLst>
          </p:cNvPr>
          <p:cNvSpPr>
            <a:spLocks noGrp="1"/>
          </p:cNvSpPr>
          <p:nvPr/>
        </p:nvSpPr>
        <p:spPr>
          <a:xfrm>
            <a:off x="1409700" y="3895725"/>
            <a:ext cx="9525000" cy="219075"/>
          </a:xfrm>
          <a:prstGeom prst="rect">
            <a:avLst/>
          </a:prstGeom>
          <a:noFill/>
          <a:ln w="0">
            <a:noFill/>
          </a:ln>
        </p:spPr>
        <p:txBody>
          <a:bodyPr wrap="square" lIns="0" tIns="0" rIns="0" bIns="0" anchor="t">
            <a:noAutofit/>
          </a:bodyPr>
          <a:lstStyle>
            <a:defPPr algn="l">
              <a:defRPr sz="1313" b="0">
                <a:solidFill>
                  <a:srgbClr val="62666B"/>
                </a:solidFill>
                <a:latin typeface="Roboto"/>
                <a:ea typeface="Roboto"/>
                <a:cs typeface="Roboto"/>
              </a:defRPr>
            </a:defPPr>
            <a:lvl1pPr algn="l">
              <a:defRPr sz="1313" b="0">
                <a:solidFill>
                  <a:srgbClr val="62666B"/>
                </a:solidFill>
                <a:latin typeface="Roboto"/>
                <a:ea typeface="Roboto"/>
                <a:cs typeface="Roboto"/>
              </a:defRPr>
            </a:lvl1pPr>
            <a:lvl2pPr algn="l">
              <a:defRPr sz="1313" b="0">
                <a:solidFill>
                  <a:srgbClr val="62666B"/>
                </a:solidFill>
                <a:latin typeface="Roboto"/>
                <a:ea typeface="Roboto"/>
                <a:cs typeface="Roboto"/>
              </a:defRPr>
            </a:lvl2pPr>
            <a:lvl3pPr algn="l">
              <a:defRPr sz="1313" b="0">
                <a:solidFill>
                  <a:srgbClr val="62666B"/>
                </a:solidFill>
                <a:latin typeface="Roboto"/>
                <a:ea typeface="Roboto"/>
                <a:cs typeface="Roboto"/>
              </a:defRPr>
            </a:lvl3pPr>
            <a:lvl4pPr algn="l">
              <a:defRPr sz="1313" b="0">
                <a:solidFill>
                  <a:srgbClr val="62666B"/>
                </a:solidFill>
                <a:latin typeface="Roboto"/>
                <a:ea typeface="Roboto"/>
                <a:cs typeface="Roboto"/>
              </a:defRPr>
            </a:lvl4pPr>
            <a:lvl5pPr algn="l">
              <a:defRPr sz="1313" b="0">
                <a:solidFill>
                  <a:srgbClr val="62666B"/>
                </a:solidFill>
                <a:latin typeface="Roboto"/>
                <a:ea typeface="Roboto"/>
                <a:cs typeface="Roboto"/>
              </a:defRPr>
            </a:lvl5pPr>
            <a:lvl6pPr algn="l">
              <a:defRPr sz="1313" b="0">
                <a:solidFill>
                  <a:srgbClr val="62666B"/>
                </a:solidFill>
                <a:latin typeface="Roboto"/>
                <a:ea typeface="Roboto"/>
                <a:cs typeface="Roboto"/>
              </a:defRPr>
            </a:lvl6pPr>
            <a:lvl7pPr algn="l">
              <a:defRPr sz="1313" b="0">
                <a:solidFill>
                  <a:srgbClr val="62666B"/>
                </a:solidFill>
                <a:latin typeface="Roboto"/>
                <a:ea typeface="Roboto"/>
                <a:cs typeface="Roboto"/>
              </a:defRPr>
            </a:lvl7pPr>
            <a:lvl8pPr algn="l">
              <a:defRPr sz="1313" b="0">
                <a:solidFill>
                  <a:srgbClr val="62666B"/>
                </a:solidFill>
                <a:latin typeface="Roboto"/>
                <a:ea typeface="Roboto"/>
                <a:cs typeface="Roboto"/>
              </a:defRPr>
            </a:lvl8pPr>
            <a:lvl9pPr algn="l">
              <a:defRPr sz="1313" b="0">
                <a:solidFill>
                  <a:srgbClr val="62666B"/>
                </a:solidFill>
                <a:latin typeface="Roboto"/>
                <a:ea typeface="Roboto"/>
                <a:cs typeface="Roboto"/>
              </a:defRPr>
            </a:lvl9pPr>
          </a:lstStyle>
          <a:p>
            <a:pPr algn="l">
              <a:defRPr sz="1313" b="0">
                <a:solidFill>
                  <a:srgbClr val="62666B"/>
                </a:solidFill>
                <a:latin typeface="Roboto"/>
                <a:ea typeface="Roboto"/>
                <a:cs typeface="Roboto"/>
              </a:defRPr>
            </a:pPr>
            <a:r>
              <a:rPr sz="1313" b="0">
                <a:solidFill>
                  <a:srgbClr val="62666B"/>
                </a:solidFill>
                <a:latin typeface="Roboto"/>
                <a:ea typeface="Roboto"/>
                <a:cs typeface="Roboto"/>
              </a:rPr>
              <a:t>ECCV, 2018, pp. 833–851.</a:t>
            </a:r>
          </a:p>
        </p:txBody>
      </p:sp>
      <p:sp>
        <p:nvSpPr>
          <p:cNvPr id="16" name="ref-link-8">
            <a:extLst>
              <a:ext uri="{FF2B5EF4-FFF2-40B4-BE49-F238E27FC236}">
                <a16:creationId xmlns:a16="http://schemas.microsoft.com/office/drawing/2014/main" id="{02A6B96A-2DA9-4DA3-AE00-8D7A480064E2}"/>
              </a:ext>
            </a:extLst>
          </p:cNvPr>
          <p:cNvSpPr>
            <a:spLocks noGrp="1"/>
          </p:cNvSpPr>
          <p:nvPr/>
        </p:nvSpPr>
        <p:spPr>
          <a:xfrm>
            <a:off x="1409700" y="4114800"/>
            <a:ext cx="9525000" cy="209550"/>
          </a:xfrm>
          <a:prstGeom prst="rect">
            <a:avLst/>
          </a:prstGeom>
          <a:noFill/>
          <a:ln w="0">
            <a:noFill/>
          </a:ln>
        </p:spPr>
        <p:txBody>
          <a:bodyPr wrap="square" lIns="0" tIns="0" rIns="0" bIns="0" anchor="t">
            <a:noAutofit/>
          </a:bodyPr>
          <a:lstStyle>
            <a:defPPr algn="l">
              <a:defRPr sz="1275" b="0">
                <a:solidFill>
                  <a:srgbClr val="822433"/>
                </a:solidFill>
                <a:latin typeface="Roboto"/>
                <a:ea typeface="Roboto"/>
                <a:cs typeface="Roboto"/>
              </a:defRPr>
            </a:defPPr>
            <a:lvl1pPr algn="l">
              <a:defRPr sz="1275" b="0">
                <a:solidFill>
                  <a:srgbClr val="822433"/>
                </a:solidFill>
                <a:latin typeface="Roboto"/>
                <a:ea typeface="Roboto"/>
                <a:cs typeface="Roboto"/>
              </a:defRPr>
            </a:lvl1pPr>
            <a:lvl2pPr algn="l">
              <a:defRPr sz="1275" b="0">
                <a:solidFill>
                  <a:srgbClr val="822433"/>
                </a:solidFill>
                <a:latin typeface="Roboto"/>
                <a:ea typeface="Roboto"/>
                <a:cs typeface="Roboto"/>
              </a:defRPr>
            </a:lvl2pPr>
            <a:lvl3pPr algn="l">
              <a:defRPr sz="1275" b="0">
                <a:solidFill>
                  <a:srgbClr val="822433"/>
                </a:solidFill>
                <a:latin typeface="Roboto"/>
                <a:ea typeface="Roboto"/>
                <a:cs typeface="Roboto"/>
              </a:defRPr>
            </a:lvl3pPr>
            <a:lvl4pPr algn="l">
              <a:defRPr sz="1275" b="0">
                <a:solidFill>
                  <a:srgbClr val="822433"/>
                </a:solidFill>
                <a:latin typeface="Roboto"/>
                <a:ea typeface="Roboto"/>
                <a:cs typeface="Roboto"/>
              </a:defRPr>
            </a:lvl4pPr>
            <a:lvl5pPr algn="l">
              <a:defRPr sz="1275" b="0">
                <a:solidFill>
                  <a:srgbClr val="822433"/>
                </a:solidFill>
                <a:latin typeface="Roboto"/>
                <a:ea typeface="Roboto"/>
                <a:cs typeface="Roboto"/>
              </a:defRPr>
            </a:lvl5pPr>
            <a:lvl6pPr algn="l">
              <a:defRPr sz="1275" b="0">
                <a:solidFill>
                  <a:srgbClr val="822433"/>
                </a:solidFill>
                <a:latin typeface="Roboto"/>
                <a:ea typeface="Roboto"/>
                <a:cs typeface="Roboto"/>
              </a:defRPr>
            </a:lvl6pPr>
            <a:lvl7pPr algn="l">
              <a:defRPr sz="1275" b="0">
                <a:solidFill>
                  <a:srgbClr val="822433"/>
                </a:solidFill>
                <a:latin typeface="Roboto"/>
                <a:ea typeface="Roboto"/>
                <a:cs typeface="Roboto"/>
              </a:defRPr>
            </a:lvl7pPr>
            <a:lvl8pPr algn="l">
              <a:defRPr sz="1275" b="0">
                <a:solidFill>
                  <a:srgbClr val="822433"/>
                </a:solidFill>
                <a:latin typeface="Roboto"/>
                <a:ea typeface="Roboto"/>
                <a:cs typeface="Roboto"/>
              </a:defRPr>
            </a:lvl8pPr>
            <a:lvl9pPr algn="l">
              <a:defRPr sz="1275" b="0">
                <a:solidFill>
                  <a:srgbClr val="822433"/>
                </a:solidFill>
                <a:latin typeface="Roboto"/>
                <a:ea typeface="Roboto"/>
                <a:cs typeface="Roboto"/>
              </a:defRPr>
            </a:lvl9pPr>
          </a:lstStyle>
          <a:p>
            <a:pPr algn="l">
              <a:defRPr sz="1275" b="0">
                <a:solidFill>
                  <a:srgbClr val="822433"/>
                </a:solidFill>
                <a:latin typeface="Roboto"/>
                <a:ea typeface="Roboto"/>
                <a:cs typeface="Roboto"/>
              </a:defRPr>
            </a:pPr>
            <a:r>
              <a:rPr sz="1275" b="0">
                <a:solidFill>
                  <a:srgbClr val="822433"/>
                </a:solidFill>
                <a:latin typeface="Roboto"/>
                <a:ea typeface="Roboto"/>
                <a:cs typeface="Roboto"/>
                <a:hlinkClick r:id="rId5"/>
              </a:rPr>
              <a:t>doi: 10.1007/978-3-030-01234-2_49</a:t>
            </a:r>
          </a:p>
        </p:txBody>
      </p:sp>
      <p:sp>
        <p:nvSpPr>
          <p:cNvPr id="17" name="ref-number-9">
            <a:extLst>
              <a:ext uri="{FF2B5EF4-FFF2-40B4-BE49-F238E27FC236}">
                <a16:creationId xmlns:a16="http://schemas.microsoft.com/office/drawing/2014/main" id="{5F41F77A-BDE3-4BED-A06E-90D4D71E2A0B}"/>
              </a:ext>
            </a:extLst>
          </p:cNvPr>
          <p:cNvSpPr>
            <a:spLocks noGrp="1"/>
          </p:cNvSpPr>
          <p:nvPr/>
        </p:nvSpPr>
        <p:spPr>
          <a:xfrm>
            <a:off x="857250" y="4381500"/>
            <a:ext cx="495300" cy="333375"/>
          </a:xfrm>
          <a:prstGeom prst="rect">
            <a:avLst/>
          </a:prstGeom>
          <a:noFill/>
          <a:ln w="0">
            <a:noFill/>
          </a:ln>
        </p:spPr>
        <p:txBody>
          <a:bodyPr wrap="square" lIns="0" tIns="0" rIns="0" bIns="0" anchor="t">
            <a:noAutofit/>
          </a:bodyPr>
          <a:lstStyle>
            <a:defPPr algn="l">
              <a:defRPr sz="1650" b="1">
                <a:solidFill>
                  <a:srgbClr val="822433"/>
                </a:solidFill>
                <a:latin typeface="Roboto"/>
                <a:ea typeface="Roboto"/>
                <a:cs typeface="Roboto"/>
              </a:defRPr>
            </a:defPPr>
            <a:lvl1pPr algn="l">
              <a:defRPr sz="1650" b="1">
                <a:solidFill>
                  <a:srgbClr val="822433"/>
                </a:solidFill>
                <a:latin typeface="Roboto"/>
                <a:ea typeface="Roboto"/>
                <a:cs typeface="Roboto"/>
              </a:defRPr>
            </a:lvl1pPr>
            <a:lvl2pPr algn="l">
              <a:defRPr sz="1650" b="1">
                <a:solidFill>
                  <a:srgbClr val="822433"/>
                </a:solidFill>
                <a:latin typeface="Roboto"/>
                <a:ea typeface="Roboto"/>
                <a:cs typeface="Roboto"/>
              </a:defRPr>
            </a:lvl2pPr>
            <a:lvl3pPr algn="l">
              <a:defRPr sz="1650" b="1">
                <a:solidFill>
                  <a:srgbClr val="822433"/>
                </a:solidFill>
                <a:latin typeface="Roboto"/>
                <a:ea typeface="Roboto"/>
                <a:cs typeface="Roboto"/>
              </a:defRPr>
            </a:lvl3pPr>
            <a:lvl4pPr algn="l">
              <a:defRPr sz="1650" b="1">
                <a:solidFill>
                  <a:srgbClr val="822433"/>
                </a:solidFill>
                <a:latin typeface="Roboto"/>
                <a:ea typeface="Roboto"/>
                <a:cs typeface="Roboto"/>
              </a:defRPr>
            </a:lvl4pPr>
            <a:lvl5pPr algn="l">
              <a:defRPr sz="1650" b="1">
                <a:solidFill>
                  <a:srgbClr val="822433"/>
                </a:solidFill>
                <a:latin typeface="Roboto"/>
                <a:ea typeface="Roboto"/>
                <a:cs typeface="Roboto"/>
              </a:defRPr>
            </a:lvl5pPr>
            <a:lvl6pPr algn="l">
              <a:defRPr sz="1650" b="1">
                <a:solidFill>
                  <a:srgbClr val="822433"/>
                </a:solidFill>
                <a:latin typeface="Roboto"/>
                <a:ea typeface="Roboto"/>
                <a:cs typeface="Roboto"/>
              </a:defRPr>
            </a:lvl6pPr>
            <a:lvl7pPr algn="l">
              <a:defRPr sz="1650" b="1">
                <a:solidFill>
                  <a:srgbClr val="822433"/>
                </a:solidFill>
                <a:latin typeface="Roboto"/>
                <a:ea typeface="Roboto"/>
                <a:cs typeface="Roboto"/>
              </a:defRPr>
            </a:lvl7pPr>
            <a:lvl8pPr algn="l">
              <a:defRPr sz="1650" b="1">
                <a:solidFill>
                  <a:srgbClr val="822433"/>
                </a:solidFill>
                <a:latin typeface="Roboto"/>
                <a:ea typeface="Roboto"/>
                <a:cs typeface="Roboto"/>
              </a:defRPr>
            </a:lvl8pPr>
            <a:lvl9pPr algn="l">
              <a:defRPr sz="1650" b="1">
                <a:solidFill>
                  <a:srgbClr val="822433"/>
                </a:solidFill>
                <a:latin typeface="Roboto"/>
                <a:ea typeface="Roboto"/>
                <a:cs typeface="Roboto"/>
              </a:defRPr>
            </a:lvl9pPr>
          </a:lstStyle>
          <a:p>
            <a:pPr algn="l">
              <a:defRPr sz="1650" b="1">
                <a:solidFill>
                  <a:srgbClr val="822433"/>
                </a:solidFill>
                <a:latin typeface="Roboto"/>
                <a:ea typeface="Roboto"/>
                <a:cs typeface="Roboto"/>
              </a:defRPr>
            </a:pPr>
            <a:r>
              <a:rPr sz="1650" b="1">
                <a:solidFill>
                  <a:srgbClr val="822433"/>
                </a:solidFill>
                <a:latin typeface="Roboto"/>
                <a:ea typeface="Roboto"/>
                <a:cs typeface="Roboto"/>
              </a:rPr>
              <a:t>[9]</a:t>
            </a:r>
          </a:p>
        </p:txBody>
      </p:sp>
      <p:sp>
        <p:nvSpPr>
          <p:cNvPr id="18" name="ref-title-9">
            <a:extLst>
              <a:ext uri="{FF2B5EF4-FFF2-40B4-BE49-F238E27FC236}">
                <a16:creationId xmlns:a16="http://schemas.microsoft.com/office/drawing/2014/main" id="{E1005B73-500F-423E-989B-3743DEC41874}"/>
              </a:ext>
            </a:extLst>
          </p:cNvPr>
          <p:cNvSpPr>
            <a:spLocks noGrp="1"/>
          </p:cNvSpPr>
          <p:nvPr/>
        </p:nvSpPr>
        <p:spPr>
          <a:xfrm>
            <a:off x="1409700" y="4381500"/>
            <a:ext cx="9525000" cy="495300"/>
          </a:xfrm>
          <a:prstGeom prst="rect">
            <a:avLst/>
          </a:prstGeom>
          <a:noFill/>
          <a:ln w="0">
            <a:noFill/>
          </a:ln>
        </p:spPr>
        <p:txBody>
          <a:bodyPr wrap="square" lIns="0" tIns="0" rIns="0" bIns="0" anchor="t">
            <a:noAutofit/>
          </a:bodyPr>
          <a:lstStyle>
            <a:defPPr algn="l">
              <a:defRPr sz="1538" b="0">
                <a:solidFill>
                  <a:srgbClr val="202124"/>
                </a:solidFill>
                <a:latin typeface="Roboto"/>
                <a:ea typeface="Roboto"/>
                <a:cs typeface="Roboto"/>
              </a:defRPr>
            </a:defPPr>
            <a:lvl1pPr algn="l">
              <a:defRPr sz="1538" b="0">
                <a:solidFill>
                  <a:srgbClr val="202124"/>
                </a:solidFill>
                <a:latin typeface="Roboto"/>
                <a:ea typeface="Roboto"/>
                <a:cs typeface="Roboto"/>
              </a:defRPr>
            </a:lvl1pPr>
            <a:lvl2pPr algn="l">
              <a:defRPr sz="1538" b="0">
                <a:solidFill>
                  <a:srgbClr val="202124"/>
                </a:solidFill>
                <a:latin typeface="Roboto"/>
                <a:ea typeface="Roboto"/>
                <a:cs typeface="Roboto"/>
              </a:defRPr>
            </a:lvl2pPr>
            <a:lvl3pPr algn="l">
              <a:defRPr sz="1538" b="0">
                <a:solidFill>
                  <a:srgbClr val="202124"/>
                </a:solidFill>
                <a:latin typeface="Roboto"/>
                <a:ea typeface="Roboto"/>
                <a:cs typeface="Roboto"/>
              </a:defRPr>
            </a:lvl3pPr>
            <a:lvl4pPr algn="l">
              <a:defRPr sz="1538" b="0">
                <a:solidFill>
                  <a:srgbClr val="202124"/>
                </a:solidFill>
                <a:latin typeface="Roboto"/>
                <a:ea typeface="Roboto"/>
                <a:cs typeface="Roboto"/>
              </a:defRPr>
            </a:lvl4pPr>
            <a:lvl5pPr algn="l">
              <a:defRPr sz="1538" b="0">
                <a:solidFill>
                  <a:srgbClr val="202124"/>
                </a:solidFill>
                <a:latin typeface="Roboto"/>
                <a:ea typeface="Roboto"/>
                <a:cs typeface="Roboto"/>
              </a:defRPr>
            </a:lvl5pPr>
            <a:lvl6pPr algn="l">
              <a:defRPr sz="1538" b="0">
                <a:solidFill>
                  <a:srgbClr val="202124"/>
                </a:solidFill>
                <a:latin typeface="Roboto"/>
                <a:ea typeface="Roboto"/>
                <a:cs typeface="Roboto"/>
              </a:defRPr>
            </a:lvl6pPr>
            <a:lvl7pPr algn="l">
              <a:defRPr sz="1538" b="0">
                <a:solidFill>
                  <a:srgbClr val="202124"/>
                </a:solidFill>
                <a:latin typeface="Roboto"/>
                <a:ea typeface="Roboto"/>
                <a:cs typeface="Roboto"/>
              </a:defRPr>
            </a:lvl7pPr>
            <a:lvl8pPr algn="l">
              <a:defRPr sz="1538" b="0">
                <a:solidFill>
                  <a:srgbClr val="202124"/>
                </a:solidFill>
                <a:latin typeface="Roboto"/>
                <a:ea typeface="Roboto"/>
                <a:cs typeface="Roboto"/>
              </a:defRPr>
            </a:lvl8pPr>
            <a:lvl9pPr algn="l">
              <a:defRPr sz="1538" b="0">
                <a:solidFill>
                  <a:srgbClr val="202124"/>
                </a:solidFill>
                <a:latin typeface="Roboto"/>
                <a:ea typeface="Roboto"/>
                <a:cs typeface="Roboto"/>
              </a:defRPr>
            </a:lvl9pPr>
          </a:lstStyle>
          <a:p>
            <a:pPr algn="l">
              <a:defRPr sz="1538" b="0">
                <a:solidFill>
                  <a:srgbClr val="202124"/>
                </a:solidFill>
                <a:latin typeface="Roboto"/>
                <a:ea typeface="Roboto"/>
                <a:cs typeface="Roboto"/>
              </a:defRPr>
            </a:pPr>
            <a:r>
              <a:rPr sz="1538" b="0">
                <a:solidFill>
                  <a:srgbClr val="202124"/>
                </a:solidFill>
                <a:latin typeface="Roboto"/>
                <a:ea typeface="Roboto"/>
                <a:cs typeface="Roboto"/>
              </a:rPr>
              <a:t>E. Xie et al. SegFormer: Simple and Efficient Design for Semantic Segmentation with Transformers.</a:t>
            </a:r>
          </a:p>
        </p:txBody>
      </p:sp>
      <p:sp>
        <p:nvSpPr>
          <p:cNvPr id="19" name="ref-venue-9">
            <a:extLst>
              <a:ext uri="{FF2B5EF4-FFF2-40B4-BE49-F238E27FC236}">
                <a16:creationId xmlns:a16="http://schemas.microsoft.com/office/drawing/2014/main" id="{91AA2670-3630-4772-9D32-5A947FEACA00}"/>
              </a:ext>
            </a:extLst>
          </p:cNvPr>
          <p:cNvSpPr>
            <a:spLocks noGrp="1"/>
          </p:cNvSpPr>
          <p:nvPr/>
        </p:nvSpPr>
        <p:spPr>
          <a:xfrm>
            <a:off x="1409700" y="4886325"/>
            <a:ext cx="9525000" cy="219075"/>
          </a:xfrm>
          <a:prstGeom prst="rect">
            <a:avLst/>
          </a:prstGeom>
          <a:noFill/>
          <a:ln w="0">
            <a:noFill/>
          </a:ln>
        </p:spPr>
        <p:txBody>
          <a:bodyPr wrap="square" lIns="0" tIns="0" rIns="0" bIns="0" anchor="t">
            <a:noAutofit/>
          </a:bodyPr>
          <a:lstStyle>
            <a:defPPr algn="l">
              <a:defRPr sz="1313" b="0">
                <a:solidFill>
                  <a:srgbClr val="62666B"/>
                </a:solidFill>
                <a:latin typeface="Roboto"/>
                <a:ea typeface="Roboto"/>
                <a:cs typeface="Roboto"/>
              </a:defRPr>
            </a:defPPr>
            <a:lvl1pPr algn="l">
              <a:defRPr sz="1313" b="0">
                <a:solidFill>
                  <a:srgbClr val="62666B"/>
                </a:solidFill>
                <a:latin typeface="Roboto"/>
                <a:ea typeface="Roboto"/>
                <a:cs typeface="Roboto"/>
              </a:defRPr>
            </a:lvl1pPr>
            <a:lvl2pPr algn="l">
              <a:defRPr sz="1313" b="0">
                <a:solidFill>
                  <a:srgbClr val="62666B"/>
                </a:solidFill>
                <a:latin typeface="Roboto"/>
                <a:ea typeface="Roboto"/>
                <a:cs typeface="Roboto"/>
              </a:defRPr>
            </a:lvl2pPr>
            <a:lvl3pPr algn="l">
              <a:defRPr sz="1313" b="0">
                <a:solidFill>
                  <a:srgbClr val="62666B"/>
                </a:solidFill>
                <a:latin typeface="Roboto"/>
                <a:ea typeface="Roboto"/>
                <a:cs typeface="Roboto"/>
              </a:defRPr>
            </a:lvl3pPr>
            <a:lvl4pPr algn="l">
              <a:defRPr sz="1313" b="0">
                <a:solidFill>
                  <a:srgbClr val="62666B"/>
                </a:solidFill>
                <a:latin typeface="Roboto"/>
                <a:ea typeface="Roboto"/>
                <a:cs typeface="Roboto"/>
              </a:defRPr>
            </a:lvl4pPr>
            <a:lvl5pPr algn="l">
              <a:defRPr sz="1313" b="0">
                <a:solidFill>
                  <a:srgbClr val="62666B"/>
                </a:solidFill>
                <a:latin typeface="Roboto"/>
                <a:ea typeface="Roboto"/>
                <a:cs typeface="Roboto"/>
              </a:defRPr>
            </a:lvl5pPr>
            <a:lvl6pPr algn="l">
              <a:defRPr sz="1313" b="0">
                <a:solidFill>
                  <a:srgbClr val="62666B"/>
                </a:solidFill>
                <a:latin typeface="Roboto"/>
                <a:ea typeface="Roboto"/>
                <a:cs typeface="Roboto"/>
              </a:defRPr>
            </a:lvl6pPr>
            <a:lvl7pPr algn="l">
              <a:defRPr sz="1313" b="0">
                <a:solidFill>
                  <a:srgbClr val="62666B"/>
                </a:solidFill>
                <a:latin typeface="Roboto"/>
                <a:ea typeface="Roboto"/>
                <a:cs typeface="Roboto"/>
              </a:defRPr>
            </a:lvl7pPr>
            <a:lvl8pPr algn="l">
              <a:defRPr sz="1313" b="0">
                <a:solidFill>
                  <a:srgbClr val="62666B"/>
                </a:solidFill>
                <a:latin typeface="Roboto"/>
                <a:ea typeface="Roboto"/>
                <a:cs typeface="Roboto"/>
              </a:defRPr>
            </a:lvl8pPr>
            <a:lvl9pPr algn="l">
              <a:defRPr sz="1313" b="0">
                <a:solidFill>
                  <a:srgbClr val="62666B"/>
                </a:solidFill>
                <a:latin typeface="Roboto"/>
                <a:ea typeface="Roboto"/>
                <a:cs typeface="Roboto"/>
              </a:defRPr>
            </a:lvl9pPr>
          </a:lstStyle>
          <a:p>
            <a:pPr algn="l">
              <a:defRPr sz="1313" b="0">
                <a:solidFill>
                  <a:srgbClr val="62666B"/>
                </a:solidFill>
                <a:latin typeface="Roboto"/>
                <a:ea typeface="Roboto"/>
                <a:cs typeface="Roboto"/>
              </a:defRPr>
            </a:pPr>
            <a:r>
              <a:rPr sz="1313" b="0">
                <a:solidFill>
                  <a:srgbClr val="62666B"/>
                </a:solidFill>
                <a:latin typeface="Roboto"/>
                <a:ea typeface="Roboto"/>
                <a:cs typeface="Roboto"/>
              </a:rPr>
              <a:t>NeurIPS, vol. 34, 2021, pp. 12077–12090.</a:t>
            </a:r>
          </a:p>
        </p:txBody>
      </p:sp>
      <p:sp>
        <p:nvSpPr>
          <p:cNvPr id="20" name="ref-link-9">
            <a:extLst>
              <a:ext uri="{FF2B5EF4-FFF2-40B4-BE49-F238E27FC236}">
                <a16:creationId xmlns:a16="http://schemas.microsoft.com/office/drawing/2014/main" id="{1DB20C61-483F-49E5-92D8-AC4B1D701A66}"/>
              </a:ext>
            </a:extLst>
          </p:cNvPr>
          <p:cNvSpPr>
            <a:spLocks noGrp="1"/>
          </p:cNvSpPr>
          <p:nvPr/>
        </p:nvSpPr>
        <p:spPr>
          <a:xfrm>
            <a:off x="1409700" y="5105400"/>
            <a:ext cx="9525000" cy="209550"/>
          </a:xfrm>
          <a:prstGeom prst="rect">
            <a:avLst/>
          </a:prstGeom>
          <a:noFill/>
          <a:ln w="0">
            <a:noFill/>
          </a:ln>
        </p:spPr>
        <p:txBody>
          <a:bodyPr wrap="square" lIns="0" tIns="0" rIns="0" bIns="0" anchor="t">
            <a:noAutofit/>
          </a:bodyPr>
          <a:lstStyle>
            <a:defPPr algn="l">
              <a:defRPr sz="1275" b="0">
                <a:solidFill>
                  <a:srgbClr val="822433"/>
                </a:solidFill>
                <a:latin typeface="Roboto"/>
                <a:ea typeface="Roboto"/>
                <a:cs typeface="Roboto"/>
              </a:defRPr>
            </a:defPPr>
            <a:lvl1pPr algn="l">
              <a:defRPr sz="1275" b="0">
                <a:solidFill>
                  <a:srgbClr val="822433"/>
                </a:solidFill>
                <a:latin typeface="Roboto"/>
                <a:ea typeface="Roboto"/>
                <a:cs typeface="Roboto"/>
              </a:defRPr>
            </a:lvl1pPr>
            <a:lvl2pPr algn="l">
              <a:defRPr sz="1275" b="0">
                <a:solidFill>
                  <a:srgbClr val="822433"/>
                </a:solidFill>
                <a:latin typeface="Roboto"/>
                <a:ea typeface="Roboto"/>
                <a:cs typeface="Roboto"/>
              </a:defRPr>
            </a:lvl2pPr>
            <a:lvl3pPr algn="l">
              <a:defRPr sz="1275" b="0">
                <a:solidFill>
                  <a:srgbClr val="822433"/>
                </a:solidFill>
                <a:latin typeface="Roboto"/>
                <a:ea typeface="Roboto"/>
                <a:cs typeface="Roboto"/>
              </a:defRPr>
            </a:lvl3pPr>
            <a:lvl4pPr algn="l">
              <a:defRPr sz="1275" b="0">
                <a:solidFill>
                  <a:srgbClr val="822433"/>
                </a:solidFill>
                <a:latin typeface="Roboto"/>
                <a:ea typeface="Roboto"/>
                <a:cs typeface="Roboto"/>
              </a:defRPr>
            </a:lvl4pPr>
            <a:lvl5pPr algn="l">
              <a:defRPr sz="1275" b="0">
                <a:solidFill>
                  <a:srgbClr val="822433"/>
                </a:solidFill>
                <a:latin typeface="Roboto"/>
                <a:ea typeface="Roboto"/>
                <a:cs typeface="Roboto"/>
              </a:defRPr>
            </a:lvl5pPr>
            <a:lvl6pPr algn="l">
              <a:defRPr sz="1275" b="0">
                <a:solidFill>
                  <a:srgbClr val="822433"/>
                </a:solidFill>
                <a:latin typeface="Roboto"/>
                <a:ea typeface="Roboto"/>
                <a:cs typeface="Roboto"/>
              </a:defRPr>
            </a:lvl6pPr>
            <a:lvl7pPr algn="l">
              <a:defRPr sz="1275" b="0">
                <a:solidFill>
                  <a:srgbClr val="822433"/>
                </a:solidFill>
                <a:latin typeface="Roboto"/>
                <a:ea typeface="Roboto"/>
                <a:cs typeface="Roboto"/>
              </a:defRPr>
            </a:lvl7pPr>
            <a:lvl8pPr algn="l">
              <a:defRPr sz="1275" b="0">
                <a:solidFill>
                  <a:srgbClr val="822433"/>
                </a:solidFill>
                <a:latin typeface="Roboto"/>
                <a:ea typeface="Roboto"/>
                <a:cs typeface="Roboto"/>
              </a:defRPr>
            </a:lvl8pPr>
            <a:lvl9pPr algn="l">
              <a:defRPr sz="1275" b="0">
                <a:solidFill>
                  <a:srgbClr val="822433"/>
                </a:solidFill>
                <a:latin typeface="Roboto"/>
                <a:ea typeface="Roboto"/>
                <a:cs typeface="Roboto"/>
              </a:defRPr>
            </a:lvl9pPr>
          </a:lstStyle>
          <a:p>
            <a:pPr algn="l">
              <a:defRPr sz="1275" b="0">
                <a:solidFill>
                  <a:srgbClr val="822433"/>
                </a:solidFill>
                <a:latin typeface="Roboto"/>
                <a:ea typeface="Roboto"/>
                <a:cs typeface="Roboto"/>
              </a:defRPr>
            </a:pPr>
            <a:r>
              <a:rPr sz="1275" b="0">
                <a:solidFill>
                  <a:srgbClr val="822433"/>
                </a:solidFill>
                <a:latin typeface="Roboto"/>
                <a:ea typeface="Roboto"/>
                <a:cs typeface="Roboto"/>
                <a:hlinkClick r:id="rId6"/>
              </a:rPr>
              <a:t>arxiv.org/abs/2105.15203</a:t>
            </a:r>
          </a:p>
        </p:txBody>
      </p:sp>
      <p:sp>
        <p:nvSpPr>
          <p:cNvPr id="21" name="ref-number-10">
            <a:extLst>
              <a:ext uri="{FF2B5EF4-FFF2-40B4-BE49-F238E27FC236}">
                <a16:creationId xmlns:a16="http://schemas.microsoft.com/office/drawing/2014/main" id="{333B1FA3-0FAB-4679-B275-382C0807156C}"/>
              </a:ext>
            </a:extLst>
          </p:cNvPr>
          <p:cNvSpPr>
            <a:spLocks noGrp="1"/>
          </p:cNvSpPr>
          <p:nvPr/>
        </p:nvSpPr>
        <p:spPr>
          <a:xfrm>
            <a:off x="857250" y="5372100"/>
            <a:ext cx="495300" cy="333375"/>
          </a:xfrm>
          <a:prstGeom prst="rect">
            <a:avLst/>
          </a:prstGeom>
          <a:noFill/>
          <a:ln w="0">
            <a:noFill/>
          </a:ln>
        </p:spPr>
        <p:txBody>
          <a:bodyPr wrap="square" lIns="0" tIns="0" rIns="0" bIns="0" anchor="t">
            <a:noAutofit/>
          </a:bodyPr>
          <a:lstStyle>
            <a:defPPr algn="l">
              <a:defRPr sz="1650" b="1">
                <a:solidFill>
                  <a:srgbClr val="822433"/>
                </a:solidFill>
                <a:latin typeface="Roboto"/>
                <a:ea typeface="Roboto"/>
                <a:cs typeface="Roboto"/>
              </a:defRPr>
            </a:defPPr>
            <a:lvl1pPr algn="l">
              <a:defRPr sz="1650" b="1">
                <a:solidFill>
                  <a:srgbClr val="822433"/>
                </a:solidFill>
                <a:latin typeface="Roboto"/>
                <a:ea typeface="Roboto"/>
                <a:cs typeface="Roboto"/>
              </a:defRPr>
            </a:lvl1pPr>
            <a:lvl2pPr algn="l">
              <a:defRPr sz="1650" b="1">
                <a:solidFill>
                  <a:srgbClr val="822433"/>
                </a:solidFill>
                <a:latin typeface="Roboto"/>
                <a:ea typeface="Roboto"/>
                <a:cs typeface="Roboto"/>
              </a:defRPr>
            </a:lvl2pPr>
            <a:lvl3pPr algn="l">
              <a:defRPr sz="1650" b="1">
                <a:solidFill>
                  <a:srgbClr val="822433"/>
                </a:solidFill>
                <a:latin typeface="Roboto"/>
                <a:ea typeface="Roboto"/>
                <a:cs typeface="Roboto"/>
              </a:defRPr>
            </a:lvl3pPr>
            <a:lvl4pPr algn="l">
              <a:defRPr sz="1650" b="1">
                <a:solidFill>
                  <a:srgbClr val="822433"/>
                </a:solidFill>
                <a:latin typeface="Roboto"/>
                <a:ea typeface="Roboto"/>
                <a:cs typeface="Roboto"/>
              </a:defRPr>
            </a:lvl4pPr>
            <a:lvl5pPr algn="l">
              <a:defRPr sz="1650" b="1">
                <a:solidFill>
                  <a:srgbClr val="822433"/>
                </a:solidFill>
                <a:latin typeface="Roboto"/>
                <a:ea typeface="Roboto"/>
                <a:cs typeface="Roboto"/>
              </a:defRPr>
            </a:lvl5pPr>
            <a:lvl6pPr algn="l">
              <a:defRPr sz="1650" b="1">
                <a:solidFill>
                  <a:srgbClr val="822433"/>
                </a:solidFill>
                <a:latin typeface="Roboto"/>
                <a:ea typeface="Roboto"/>
                <a:cs typeface="Roboto"/>
              </a:defRPr>
            </a:lvl6pPr>
            <a:lvl7pPr algn="l">
              <a:defRPr sz="1650" b="1">
                <a:solidFill>
                  <a:srgbClr val="822433"/>
                </a:solidFill>
                <a:latin typeface="Roboto"/>
                <a:ea typeface="Roboto"/>
                <a:cs typeface="Roboto"/>
              </a:defRPr>
            </a:lvl7pPr>
            <a:lvl8pPr algn="l">
              <a:defRPr sz="1650" b="1">
                <a:solidFill>
                  <a:srgbClr val="822433"/>
                </a:solidFill>
                <a:latin typeface="Roboto"/>
                <a:ea typeface="Roboto"/>
                <a:cs typeface="Roboto"/>
              </a:defRPr>
            </a:lvl8pPr>
            <a:lvl9pPr algn="l">
              <a:defRPr sz="1650" b="1">
                <a:solidFill>
                  <a:srgbClr val="822433"/>
                </a:solidFill>
                <a:latin typeface="Roboto"/>
                <a:ea typeface="Roboto"/>
                <a:cs typeface="Roboto"/>
              </a:defRPr>
            </a:lvl9pPr>
          </a:lstStyle>
          <a:p>
            <a:pPr algn="l">
              <a:defRPr sz="1650" b="1">
                <a:solidFill>
                  <a:srgbClr val="822433"/>
                </a:solidFill>
                <a:latin typeface="Roboto"/>
                <a:ea typeface="Roboto"/>
                <a:cs typeface="Roboto"/>
              </a:defRPr>
            </a:pPr>
            <a:r>
              <a:rPr sz="1650" b="1">
                <a:solidFill>
                  <a:srgbClr val="822433"/>
                </a:solidFill>
                <a:latin typeface="Roboto"/>
                <a:ea typeface="Roboto"/>
                <a:cs typeface="Roboto"/>
              </a:rPr>
              <a:t>[10]</a:t>
            </a:r>
          </a:p>
        </p:txBody>
      </p:sp>
      <p:sp>
        <p:nvSpPr>
          <p:cNvPr id="22" name="ref-title-10">
            <a:extLst>
              <a:ext uri="{FF2B5EF4-FFF2-40B4-BE49-F238E27FC236}">
                <a16:creationId xmlns:a16="http://schemas.microsoft.com/office/drawing/2014/main" id="{132D0F82-185A-4D13-A450-D5C2ED630DA7}"/>
              </a:ext>
            </a:extLst>
          </p:cNvPr>
          <p:cNvSpPr>
            <a:spLocks noGrp="1"/>
          </p:cNvSpPr>
          <p:nvPr/>
        </p:nvSpPr>
        <p:spPr>
          <a:xfrm>
            <a:off x="1409700" y="5372100"/>
            <a:ext cx="9525000" cy="495300"/>
          </a:xfrm>
          <a:prstGeom prst="rect">
            <a:avLst/>
          </a:prstGeom>
          <a:noFill/>
          <a:ln w="0">
            <a:noFill/>
          </a:ln>
        </p:spPr>
        <p:txBody>
          <a:bodyPr wrap="square" lIns="0" tIns="0" rIns="0" bIns="0" anchor="t">
            <a:noAutofit/>
          </a:bodyPr>
          <a:lstStyle>
            <a:defPPr algn="l">
              <a:defRPr sz="1538" b="0">
                <a:solidFill>
                  <a:srgbClr val="202124"/>
                </a:solidFill>
                <a:latin typeface="Roboto"/>
                <a:ea typeface="Roboto"/>
                <a:cs typeface="Roboto"/>
              </a:defRPr>
            </a:defPPr>
            <a:lvl1pPr algn="l">
              <a:defRPr sz="1538" b="0">
                <a:solidFill>
                  <a:srgbClr val="202124"/>
                </a:solidFill>
                <a:latin typeface="Roboto"/>
                <a:ea typeface="Roboto"/>
                <a:cs typeface="Roboto"/>
              </a:defRPr>
            </a:lvl1pPr>
            <a:lvl2pPr algn="l">
              <a:defRPr sz="1538" b="0">
                <a:solidFill>
                  <a:srgbClr val="202124"/>
                </a:solidFill>
                <a:latin typeface="Roboto"/>
                <a:ea typeface="Roboto"/>
                <a:cs typeface="Roboto"/>
              </a:defRPr>
            </a:lvl2pPr>
            <a:lvl3pPr algn="l">
              <a:defRPr sz="1538" b="0">
                <a:solidFill>
                  <a:srgbClr val="202124"/>
                </a:solidFill>
                <a:latin typeface="Roboto"/>
                <a:ea typeface="Roboto"/>
                <a:cs typeface="Roboto"/>
              </a:defRPr>
            </a:lvl3pPr>
            <a:lvl4pPr algn="l">
              <a:defRPr sz="1538" b="0">
                <a:solidFill>
                  <a:srgbClr val="202124"/>
                </a:solidFill>
                <a:latin typeface="Roboto"/>
                <a:ea typeface="Roboto"/>
                <a:cs typeface="Roboto"/>
              </a:defRPr>
            </a:lvl4pPr>
            <a:lvl5pPr algn="l">
              <a:defRPr sz="1538" b="0">
                <a:solidFill>
                  <a:srgbClr val="202124"/>
                </a:solidFill>
                <a:latin typeface="Roboto"/>
                <a:ea typeface="Roboto"/>
                <a:cs typeface="Roboto"/>
              </a:defRPr>
            </a:lvl5pPr>
            <a:lvl6pPr algn="l">
              <a:defRPr sz="1538" b="0">
                <a:solidFill>
                  <a:srgbClr val="202124"/>
                </a:solidFill>
                <a:latin typeface="Roboto"/>
                <a:ea typeface="Roboto"/>
                <a:cs typeface="Roboto"/>
              </a:defRPr>
            </a:lvl6pPr>
            <a:lvl7pPr algn="l">
              <a:defRPr sz="1538" b="0">
                <a:solidFill>
                  <a:srgbClr val="202124"/>
                </a:solidFill>
                <a:latin typeface="Roboto"/>
                <a:ea typeface="Roboto"/>
                <a:cs typeface="Roboto"/>
              </a:defRPr>
            </a:lvl7pPr>
            <a:lvl8pPr algn="l">
              <a:defRPr sz="1538" b="0">
                <a:solidFill>
                  <a:srgbClr val="202124"/>
                </a:solidFill>
                <a:latin typeface="Roboto"/>
                <a:ea typeface="Roboto"/>
                <a:cs typeface="Roboto"/>
              </a:defRPr>
            </a:lvl8pPr>
            <a:lvl9pPr algn="l">
              <a:defRPr sz="1538" b="0">
                <a:solidFill>
                  <a:srgbClr val="202124"/>
                </a:solidFill>
                <a:latin typeface="Roboto"/>
                <a:ea typeface="Roboto"/>
                <a:cs typeface="Roboto"/>
              </a:defRPr>
            </a:lvl9pPr>
          </a:lstStyle>
          <a:p>
            <a:pPr algn="l">
              <a:defRPr sz="1538" b="0">
                <a:solidFill>
                  <a:srgbClr val="202124"/>
                </a:solidFill>
                <a:latin typeface="Roboto"/>
                <a:ea typeface="Roboto"/>
                <a:cs typeface="Roboto"/>
              </a:defRPr>
            </a:pPr>
            <a:r>
              <a:rPr sz="1538" b="0">
                <a:solidFill>
                  <a:srgbClr val="202124"/>
                </a:solidFill>
                <a:latin typeface="Roboto"/>
                <a:ea typeface="Roboto"/>
                <a:cs typeface="Roboto"/>
              </a:rPr>
              <a:t>M. Shi et al. Lightweight Context-Aware Network Using Partial-Channel Transformation for Real-Time Semantic Segmentation.</a:t>
            </a:r>
          </a:p>
        </p:txBody>
      </p:sp>
      <p:sp>
        <p:nvSpPr>
          <p:cNvPr id="23" name="ref-venue-10">
            <a:extLst>
              <a:ext uri="{FF2B5EF4-FFF2-40B4-BE49-F238E27FC236}">
                <a16:creationId xmlns:a16="http://schemas.microsoft.com/office/drawing/2014/main" id="{FE3E9ABA-23EA-4B96-9C72-FC1FFA0FF20C}"/>
              </a:ext>
            </a:extLst>
          </p:cNvPr>
          <p:cNvSpPr>
            <a:spLocks noGrp="1"/>
          </p:cNvSpPr>
          <p:nvPr/>
        </p:nvSpPr>
        <p:spPr>
          <a:xfrm>
            <a:off x="1409700" y="5876925"/>
            <a:ext cx="9525000" cy="219075"/>
          </a:xfrm>
          <a:prstGeom prst="rect">
            <a:avLst/>
          </a:prstGeom>
          <a:noFill/>
          <a:ln w="0">
            <a:noFill/>
          </a:ln>
        </p:spPr>
        <p:txBody>
          <a:bodyPr wrap="square" lIns="0" tIns="0" rIns="0" bIns="0" anchor="t">
            <a:noAutofit/>
          </a:bodyPr>
          <a:lstStyle>
            <a:defPPr algn="l">
              <a:defRPr sz="1313" b="0">
                <a:solidFill>
                  <a:srgbClr val="62666B"/>
                </a:solidFill>
                <a:latin typeface="Roboto"/>
                <a:ea typeface="Roboto"/>
                <a:cs typeface="Roboto"/>
              </a:defRPr>
            </a:defPPr>
            <a:lvl1pPr algn="l">
              <a:defRPr sz="1313" b="0">
                <a:solidFill>
                  <a:srgbClr val="62666B"/>
                </a:solidFill>
                <a:latin typeface="Roboto"/>
                <a:ea typeface="Roboto"/>
                <a:cs typeface="Roboto"/>
              </a:defRPr>
            </a:lvl1pPr>
            <a:lvl2pPr algn="l">
              <a:defRPr sz="1313" b="0">
                <a:solidFill>
                  <a:srgbClr val="62666B"/>
                </a:solidFill>
                <a:latin typeface="Roboto"/>
                <a:ea typeface="Roboto"/>
                <a:cs typeface="Roboto"/>
              </a:defRPr>
            </a:lvl2pPr>
            <a:lvl3pPr algn="l">
              <a:defRPr sz="1313" b="0">
                <a:solidFill>
                  <a:srgbClr val="62666B"/>
                </a:solidFill>
                <a:latin typeface="Roboto"/>
                <a:ea typeface="Roboto"/>
                <a:cs typeface="Roboto"/>
              </a:defRPr>
            </a:lvl3pPr>
            <a:lvl4pPr algn="l">
              <a:defRPr sz="1313" b="0">
                <a:solidFill>
                  <a:srgbClr val="62666B"/>
                </a:solidFill>
                <a:latin typeface="Roboto"/>
                <a:ea typeface="Roboto"/>
                <a:cs typeface="Roboto"/>
              </a:defRPr>
            </a:lvl4pPr>
            <a:lvl5pPr algn="l">
              <a:defRPr sz="1313" b="0">
                <a:solidFill>
                  <a:srgbClr val="62666B"/>
                </a:solidFill>
                <a:latin typeface="Roboto"/>
                <a:ea typeface="Roboto"/>
                <a:cs typeface="Roboto"/>
              </a:defRPr>
            </a:lvl5pPr>
            <a:lvl6pPr algn="l">
              <a:defRPr sz="1313" b="0">
                <a:solidFill>
                  <a:srgbClr val="62666B"/>
                </a:solidFill>
                <a:latin typeface="Roboto"/>
                <a:ea typeface="Roboto"/>
                <a:cs typeface="Roboto"/>
              </a:defRPr>
            </a:lvl6pPr>
            <a:lvl7pPr algn="l">
              <a:defRPr sz="1313" b="0">
                <a:solidFill>
                  <a:srgbClr val="62666B"/>
                </a:solidFill>
                <a:latin typeface="Roboto"/>
                <a:ea typeface="Roboto"/>
                <a:cs typeface="Roboto"/>
              </a:defRPr>
            </a:lvl7pPr>
            <a:lvl8pPr algn="l">
              <a:defRPr sz="1313" b="0">
                <a:solidFill>
                  <a:srgbClr val="62666B"/>
                </a:solidFill>
                <a:latin typeface="Roboto"/>
                <a:ea typeface="Roboto"/>
                <a:cs typeface="Roboto"/>
              </a:defRPr>
            </a:lvl8pPr>
            <a:lvl9pPr algn="l">
              <a:defRPr sz="1313" b="0">
                <a:solidFill>
                  <a:srgbClr val="62666B"/>
                </a:solidFill>
                <a:latin typeface="Roboto"/>
                <a:ea typeface="Roboto"/>
                <a:cs typeface="Roboto"/>
              </a:defRPr>
            </a:lvl9pPr>
          </a:lstStyle>
          <a:p>
            <a:pPr algn="l">
              <a:defRPr sz="1313" b="0">
                <a:solidFill>
                  <a:srgbClr val="62666B"/>
                </a:solidFill>
                <a:latin typeface="Roboto"/>
                <a:ea typeface="Roboto"/>
                <a:cs typeface="Roboto"/>
              </a:defRPr>
            </a:pPr>
            <a:r>
              <a:rPr sz="1313" b="0">
                <a:solidFill>
                  <a:srgbClr val="62666B"/>
                </a:solidFill>
                <a:latin typeface="Roboto"/>
                <a:ea typeface="Roboto"/>
                <a:cs typeface="Roboto"/>
              </a:rPr>
              <a:t>IEEE Transactions on Intelligent Transportation Systems, 25(7), 2024.</a:t>
            </a:r>
          </a:p>
        </p:txBody>
      </p:sp>
      <p:sp>
        <p:nvSpPr>
          <p:cNvPr id="24" name="ref-link-10">
            <a:extLst>
              <a:ext uri="{FF2B5EF4-FFF2-40B4-BE49-F238E27FC236}">
                <a16:creationId xmlns:a16="http://schemas.microsoft.com/office/drawing/2014/main" id="{7F3029F1-9E3F-4742-9074-3F46614887E0}"/>
              </a:ext>
            </a:extLst>
          </p:cNvPr>
          <p:cNvSpPr>
            <a:spLocks noGrp="1"/>
          </p:cNvSpPr>
          <p:nvPr/>
        </p:nvSpPr>
        <p:spPr>
          <a:xfrm>
            <a:off x="1409700" y="6096000"/>
            <a:ext cx="9525000" cy="209550"/>
          </a:xfrm>
          <a:prstGeom prst="rect">
            <a:avLst/>
          </a:prstGeom>
          <a:noFill/>
          <a:ln w="0">
            <a:noFill/>
          </a:ln>
        </p:spPr>
        <p:txBody>
          <a:bodyPr wrap="square" lIns="0" tIns="0" rIns="0" bIns="0" anchor="t">
            <a:noAutofit/>
          </a:bodyPr>
          <a:lstStyle>
            <a:defPPr algn="l">
              <a:defRPr sz="1275" b="0">
                <a:solidFill>
                  <a:srgbClr val="822433"/>
                </a:solidFill>
                <a:latin typeface="Roboto"/>
                <a:ea typeface="Roboto"/>
                <a:cs typeface="Roboto"/>
              </a:defRPr>
            </a:defPPr>
            <a:lvl1pPr algn="l">
              <a:defRPr sz="1275" b="0">
                <a:solidFill>
                  <a:srgbClr val="822433"/>
                </a:solidFill>
                <a:latin typeface="Roboto"/>
                <a:ea typeface="Roboto"/>
                <a:cs typeface="Roboto"/>
              </a:defRPr>
            </a:lvl1pPr>
            <a:lvl2pPr algn="l">
              <a:defRPr sz="1275" b="0">
                <a:solidFill>
                  <a:srgbClr val="822433"/>
                </a:solidFill>
                <a:latin typeface="Roboto"/>
                <a:ea typeface="Roboto"/>
                <a:cs typeface="Roboto"/>
              </a:defRPr>
            </a:lvl2pPr>
            <a:lvl3pPr algn="l">
              <a:defRPr sz="1275" b="0">
                <a:solidFill>
                  <a:srgbClr val="822433"/>
                </a:solidFill>
                <a:latin typeface="Roboto"/>
                <a:ea typeface="Roboto"/>
                <a:cs typeface="Roboto"/>
              </a:defRPr>
            </a:lvl3pPr>
            <a:lvl4pPr algn="l">
              <a:defRPr sz="1275" b="0">
                <a:solidFill>
                  <a:srgbClr val="822433"/>
                </a:solidFill>
                <a:latin typeface="Roboto"/>
                <a:ea typeface="Roboto"/>
                <a:cs typeface="Roboto"/>
              </a:defRPr>
            </a:lvl4pPr>
            <a:lvl5pPr algn="l">
              <a:defRPr sz="1275" b="0">
                <a:solidFill>
                  <a:srgbClr val="822433"/>
                </a:solidFill>
                <a:latin typeface="Roboto"/>
                <a:ea typeface="Roboto"/>
                <a:cs typeface="Roboto"/>
              </a:defRPr>
            </a:lvl5pPr>
            <a:lvl6pPr algn="l">
              <a:defRPr sz="1275" b="0">
                <a:solidFill>
                  <a:srgbClr val="822433"/>
                </a:solidFill>
                <a:latin typeface="Roboto"/>
                <a:ea typeface="Roboto"/>
                <a:cs typeface="Roboto"/>
              </a:defRPr>
            </a:lvl6pPr>
            <a:lvl7pPr algn="l">
              <a:defRPr sz="1275" b="0">
                <a:solidFill>
                  <a:srgbClr val="822433"/>
                </a:solidFill>
                <a:latin typeface="Roboto"/>
                <a:ea typeface="Roboto"/>
                <a:cs typeface="Roboto"/>
              </a:defRPr>
            </a:lvl7pPr>
            <a:lvl8pPr algn="l">
              <a:defRPr sz="1275" b="0">
                <a:solidFill>
                  <a:srgbClr val="822433"/>
                </a:solidFill>
                <a:latin typeface="Roboto"/>
                <a:ea typeface="Roboto"/>
                <a:cs typeface="Roboto"/>
              </a:defRPr>
            </a:lvl8pPr>
            <a:lvl9pPr algn="l">
              <a:defRPr sz="1275" b="0">
                <a:solidFill>
                  <a:srgbClr val="822433"/>
                </a:solidFill>
                <a:latin typeface="Roboto"/>
                <a:ea typeface="Roboto"/>
                <a:cs typeface="Roboto"/>
              </a:defRPr>
            </a:lvl9pPr>
          </a:lstStyle>
          <a:p>
            <a:pPr algn="l">
              <a:defRPr sz="1275" b="0">
                <a:solidFill>
                  <a:srgbClr val="822433"/>
                </a:solidFill>
                <a:latin typeface="Roboto"/>
                <a:ea typeface="Roboto"/>
                <a:cs typeface="Roboto"/>
              </a:defRPr>
            </a:pPr>
            <a:r>
              <a:rPr sz="1275" b="0">
                <a:solidFill>
                  <a:srgbClr val="822433"/>
                </a:solidFill>
                <a:latin typeface="Roboto"/>
                <a:ea typeface="Roboto"/>
                <a:cs typeface="Roboto"/>
                <a:hlinkClick r:id="rId7"/>
              </a:rPr>
              <a:t>doi: 10.1109/TITS.2023.3348631</a:t>
            </a:r>
          </a:p>
        </p:txBody>
      </p:sp>
    </p:spTree>
    <p:extLst>
      <p:ext uri="{BB962C8B-B14F-4D97-AF65-F5344CB8AC3E}">
        <p14:creationId xmlns:p14="http://schemas.microsoft.com/office/powerpoint/2010/main" val="2223438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0E204582-55CA-49DF-88C5-4CE6000D006D}"/>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Bibliografia 3/4</a:t>
            </a:r>
          </a:p>
        </p:txBody>
      </p:sp>
      <p:sp>
        <p:nvSpPr>
          <p:cNvPr id="2" name="template-footer">
            <a:extLst>
              <a:ext uri="{FF2B5EF4-FFF2-40B4-BE49-F238E27FC236}">
                <a16:creationId xmlns:a16="http://schemas.microsoft.com/office/drawing/2014/main" id="{0C1D80A8-5E25-47A4-88AE-810939A1B2B0}"/>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B2D7F4A1-C649-4CFB-9827-7643A1C39E13}"/>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03C8A8E2-D580-4384-8712-29F6374E5D59}"/>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27/28</a:t>
            </a:r>
          </a:p>
        </p:txBody>
      </p:sp>
      <p:sp>
        <p:nvSpPr>
          <p:cNvPr id="5" name="ref-number-11">
            <a:extLst>
              <a:ext uri="{FF2B5EF4-FFF2-40B4-BE49-F238E27FC236}">
                <a16:creationId xmlns:a16="http://schemas.microsoft.com/office/drawing/2014/main" id="{E2B7D48C-DC27-4213-80EB-997A68986DBD}"/>
              </a:ext>
            </a:extLst>
          </p:cNvPr>
          <p:cNvSpPr>
            <a:spLocks noGrp="1"/>
          </p:cNvSpPr>
          <p:nvPr/>
        </p:nvSpPr>
        <p:spPr>
          <a:xfrm>
            <a:off x="857250" y="1409700"/>
            <a:ext cx="495300" cy="333375"/>
          </a:xfrm>
          <a:prstGeom prst="rect">
            <a:avLst/>
          </a:prstGeom>
          <a:noFill/>
          <a:ln w="0">
            <a:noFill/>
          </a:ln>
        </p:spPr>
        <p:txBody>
          <a:bodyPr wrap="square" lIns="0" tIns="0" rIns="0" bIns="0" anchor="t">
            <a:noAutofit/>
          </a:bodyPr>
          <a:lstStyle>
            <a:defPPr algn="l">
              <a:defRPr sz="1650" b="1">
                <a:solidFill>
                  <a:srgbClr val="822433"/>
                </a:solidFill>
                <a:latin typeface="Roboto"/>
                <a:ea typeface="Roboto"/>
                <a:cs typeface="Roboto"/>
              </a:defRPr>
            </a:defPPr>
            <a:lvl1pPr algn="l">
              <a:defRPr sz="1650" b="1">
                <a:solidFill>
                  <a:srgbClr val="822433"/>
                </a:solidFill>
                <a:latin typeface="Roboto"/>
                <a:ea typeface="Roboto"/>
                <a:cs typeface="Roboto"/>
              </a:defRPr>
            </a:lvl1pPr>
            <a:lvl2pPr algn="l">
              <a:defRPr sz="1650" b="1">
                <a:solidFill>
                  <a:srgbClr val="822433"/>
                </a:solidFill>
                <a:latin typeface="Roboto"/>
                <a:ea typeface="Roboto"/>
                <a:cs typeface="Roboto"/>
              </a:defRPr>
            </a:lvl2pPr>
            <a:lvl3pPr algn="l">
              <a:defRPr sz="1650" b="1">
                <a:solidFill>
                  <a:srgbClr val="822433"/>
                </a:solidFill>
                <a:latin typeface="Roboto"/>
                <a:ea typeface="Roboto"/>
                <a:cs typeface="Roboto"/>
              </a:defRPr>
            </a:lvl3pPr>
            <a:lvl4pPr algn="l">
              <a:defRPr sz="1650" b="1">
                <a:solidFill>
                  <a:srgbClr val="822433"/>
                </a:solidFill>
                <a:latin typeface="Roboto"/>
                <a:ea typeface="Roboto"/>
                <a:cs typeface="Roboto"/>
              </a:defRPr>
            </a:lvl4pPr>
            <a:lvl5pPr algn="l">
              <a:defRPr sz="1650" b="1">
                <a:solidFill>
                  <a:srgbClr val="822433"/>
                </a:solidFill>
                <a:latin typeface="Roboto"/>
                <a:ea typeface="Roboto"/>
                <a:cs typeface="Roboto"/>
              </a:defRPr>
            </a:lvl5pPr>
            <a:lvl6pPr algn="l">
              <a:defRPr sz="1650" b="1">
                <a:solidFill>
                  <a:srgbClr val="822433"/>
                </a:solidFill>
                <a:latin typeface="Roboto"/>
                <a:ea typeface="Roboto"/>
                <a:cs typeface="Roboto"/>
              </a:defRPr>
            </a:lvl6pPr>
            <a:lvl7pPr algn="l">
              <a:defRPr sz="1650" b="1">
                <a:solidFill>
                  <a:srgbClr val="822433"/>
                </a:solidFill>
                <a:latin typeface="Roboto"/>
                <a:ea typeface="Roboto"/>
                <a:cs typeface="Roboto"/>
              </a:defRPr>
            </a:lvl7pPr>
            <a:lvl8pPr algn="l">
              <a:defRPr sz="1650" b="1">
                <a:solidFill>
                  <a:srgbClr val="822433"/>
                </a:solidFill>
                <a:latin typeface="Roboto"/>
                <a:ea typeface="Roboto"/>
                <a:cs typeface="Roboto"/>
              </a:defRPr>
            </a:lvl8pPr>
            <a:lvl9pPr algn="l">
              <a:defRPr sz="1650" b="1">
                <a:solidFill>
                  <a:srgbClr val="822433"/>
                </a:solidFill>
                <a:latin typeface="Roboto"/>
                <a:ea typeface="Roboto"/>
                <a:cs typeface="Roboto"/>
              </a:defRPr>
            </a:lvl9pPr>
          </a:lstStyle>
          <a:p>
            <a:pPr algn="l">
              <a:defRPr sz="1650" b="1">
                <a:solidFill>
                  <a:srgbClr val="822433"/>
                </a:solidFill>
                <a:latin typeface="Roboto"/>
                <a:ea typeface="Roboto"/>
                <a:cs typeface="Roboto"/>
              </a:defRPr>
            </a:pPr>
            <a:r>
              <a:rPr sz="1650" b="1">
                <a:solidFill>
                  <a:srgbClr val="822433"/>
                </a:solidFill>
                <a:latin typeface="Roboto"/>
                <a:ea typeface="Roboto"/>
                <a:cs typeface="Roboto"/>
              </a:rPr>
              <a:t>[11]</a:t>
            </a:r>
          </a:p>
        </p:txBody>
      </p:sp>
      <p:sp>
        <p:nvSpPr>
          <p:cNvPr id="6" name="ref-title-11">
            <a:extLst>
              <a:ext uri="{FF2B5EF4-FFF2-40B4-BE49-F238E27FC236}">
                <a16:creationId xmlns:a16="http://schemas.microsoft.com/office/drawing/2014/main" id="{DB7F9CA6-CA80-43ED-A57F-B93BFE5B72C7}"/>
              </a:ext>
            </a:extLst>
          </p:cNvPr>
          <p:cNvSpPr>
            <a:spLocks noGrp="1"/>
          </p:cNvSpPr>
          <p:nvPr/>
        </p:nvSpPr>
        <p:spPr>
          <a:xfrm>
            <a:off x="1409700" y="1409700"/>
            <a:ext cx="9525000" cy="495300"/>
          </a:xfrm>
          <a:prstGeom prst="rect">
            <a:avLst/>
          </a:prstGeom>
          <a:noFill/>
          <a:ln w="0">
            <a:noFill/>
          </a:ln>
        </p:spPr>
        <p:txBody>
          <a:bodyPr wrap="square" lIns="0" tIns="0" rIns="0" bIns="0" anchor="t">
            <a:noAutofit/>
          </a:bodyPr>
          <a:lstStyle>
            <a:defPPr algn="l">
              <a:defRPr sz="1538" b="0">
                <a:solidFill>
                  <a:srgbClr val="202124"/>
                </a:solidFill>
                <a:latin typeface="Roboto"/>
                <a:ea typeface="Roboto"/>
                <a:cs typeface="Roboto"/>
              </a:defRPr>
            </a:defPPr>
            <a:lvl1pPr algn="l">
              <a:defRPr sz="1538" b="0">
                <a:solidFill>
                  <a:srgbClr val="202124"/>
                </a:solidFill>
                <a:latin typeface="Roboto"/>
                <a:ea typeface="Roboto"/>
                <a:cs typeface="Roboto"/>
              </a:defRPr>
            </a:lvl1pPr>
            <a:lvl2pPr algn="l">
              <a:defRPr sz="1538" b="0">
                <a:solidFill>
                  <a:srgbClr val="202124"/>
                </a:solidFill>
                <a:latin typeface="Roboto"/>
                <a:ea typeface="Roboto"/>
                <a:cs typeface="Roboto"/>
              </a:defRPr>
            </a:lvl2pPr>
            <a:lvl3pPr algn="l">
              <a:defRPr sz="1538" b="0">
                <a:solidFill>
                  <a:srgbClr val="202124"/>
                </a:solidFill>
                <a:latin typeface="Roboto"/>
                <a:ea typeface="Roboto"/>
                <a:cs typeface="Roboto"/>
              </a:defRPr>
            </a:lvl3pPr>
            <a:lvl4pPr algn="l">
              <a:defRPr sz="1538" b="0">
                <a:solidFill>
                  <a:srgbClr val="202124"/>
                </a:solidFill>
                <a:latin typeface="Roboto"/>
                <a:ea typeface="Roboto"/>
                <a:cs typeface="Roboto"/>
              </a:defRPr>
            </a:lvl4pPr>
            <a:lvl5pPr algn="l">
              <a:defRPr sz="1538" b="0">
                <a:solidFill>
                  <a:srgbClr val="202124"/>
                </a:solidFill>
                <a:latin typeface="Roboto"/>
                <a:ea typeface="Roboto"/>
                <a:cs typeface="Roboto"/>
              </a:defRPr>
            </a:lvl5pPr>
            <a:lvl6pPr algn="l">
              <a:defRPr sz="1538" b="0">
                <a:solidFill>
                  <a:srgbClr val="202124"/>
                </a:solidFill>
                <a:latin typeface="Roboto"/>
                <a:ea typeface="Roboto"/>
                <a:cs typeface="Roboto"/>
              </a:defRPr>
            </a:lvl6pPr>
            <a:lvl7pPr algn="l">
              <a:defRPr sz="1538" b="0">
                <a:solidFill>
                  <a:srgbClr val="202124"/>
                </a:solidFill>
                <a:latin typeface="Roboto"/>
                <a:ea typeface="Roboto"/>
                <a:cs typeface="Roboto"/>
              </a:defRPr>
            </a:lvl7pPr>
            <a:lvl8pPr algn="l">
              <a:defRPr sz="1538" b="0">
                <a:solidFill>
                  <a:srgbClr val="202124"/>
                </a:solidFill>
                <a:latin typeface="Roboto"/>
                <a:ea typeface="Roboto"/>
                <a:cs typeface="Roboto"/>
              </a:defRPr>
            </a:lvl8pPr>
            <a:lvl9pPr algn="l">
              <a:defRPr sz="1538" b="0">
                <a:solidFill>
                  <a:srgbClr val="202124"/>
                </a:solidFill>
                <a:latin typeface="Roboto"/>
                <a:ea typeface="Roboto"/>
                <a:cs typeface="Roboto"/>
              </a:defRPr>
            </a:lvl9pPr>
          </a:lstStyle>
          <a:p>
            <a:pPr algn="l">
              <a:defRPr sz="1538" b="0">
                <a:solidFill>
                  <a:srgbClr val="202124"/>
                </a:solidFill>
                <a:latin typeface="Roboto"/>
                <a:ea typeface="Roboto"/>
                <a:cs typeface="Roboto"/>
              </a:defRPr>
            </a:pPr>
            <a:r>
              <a:rPr sz="1538" b="0">
                <a:solidFill>
                  <a:srgbClr val="202124"/>
                </a:solidFill>
                <a:latin typeface="Roboto"/>
                <a:ea typeface="Roboto"/>
                <a:cs typeface="Roboto"/>
              </a:rPr>
              <a:t>B. Jacob et al. Quantization and Training of Neural Networks for Efficient Integer-Arithmetic-Only Inference.</a:t>
            </a:r>
          </a:p>
        </p:txBody>
      </p:sp>
      <p:sp>
        <p:nvSpPr>
          <p:cNvPr id="7" name="ref-venue-11">
            <a:extLst>
              <a:ext uri="{FF2B5EF4-FFF2-40B4-BE49-F238E27FC236}">
                <a16:creationId xmlns:a16="http://schemas.microsoft.com/office/drawing/2014/main" id="{254E65B7-2DF0-4DA3-BD61-5C38BD8A4ECA}"/>
              </a:ext>
            </a:extLst>
          </p:cNvPr>
          <p:cNvSpPr>
            <a:spLocks noGrp="1"/>
          </p:cNvSpPr>
          <p:nvPr/>
        </p:nvSpPr>
        <p:spPr>
          <a:xfrm>
            <a:off x="1409700" y="1914525"/>
            <a:ext cx="9525000" cy="219075"/>
          </a:xfrm>
          <a:prstGeom prst="rect">
            <a:avLst/>
          </a:prstGeom>
          <a:noFill/>
          <a:ln w="0">
            <a:noFill/>
          </a:ln>
        </p:spPr>
        <p:txBody>
          <a:bodyPr wrap="square" lIns="0" tIns="0" rIns="0" bIns="0" anchor="t">
            <a:noAutofit/>
          </a:bodyPr>
          <a:lstStyle>
            <a:defPPr algn="l">
              <a:defRPr sz="1313" b="0">
                <a:solidFill>
                  <a:srgbClr val="62666B"/>
                </a:solidFill>
                <a:latin typeface="Roboto"/>
                <a:ea typeface="Roboto"/>
                <a:cs typeface="Roboto"/>
              </a:defRPr>
            </a:defPPr>
            <a:lvl1pPr algn="l">
              <a:defRPr sz="1313" b="0">
                <a:solidFill>
                  <a:srgbClr val="62666B"/>
                </a:solidFill>
                <a:latin typeface="Roboto"/>
                <a:ea typeface="Roboto"/>
                <a:cs typeface="Roboto"/>
              </a:defRPr>
            </a:lvl1pPr>
            <a:lvl2pPr algn="l">
              <a:defRPr sz="1313" b="0">
                <a:solidFill>
                  <a:srgbClr val="62666B"/>
                </a:solidFill>
                <a:latin typeface="Roboto"/>
                <a:ea typeface="Roboto"/>
                <a:cs typeface="Roboto"/>
              </a:defRPr>
            </a:lvl2pPr>
            <a:lvl3pPr algn="l">
              <a:defRPr sz="1313" b="0">
                <a:solidFill>
                  <a:srgbClr val="62666B"/>
                </a:solidFill>
                <a:latin typeface="Roboto"/>
                <a:ea typeface="Roboto"/>
                <a:cs typeface="Roboto"/>
              </a:defRPr>
            </a:lvl3pPr>
            <a:lvl4pPr algn="l">
              <a:defRPr sz="1313" b="0">
                <a:solidFill>
                  <a:srgbClr val="62666B"/>
                </a:solidFill>
                <a:latin typeface="Roboto"/>
                <a:ea typeface="Roboto"/>
                <a:cs typeface="Roboto"/>
              </a:defRPr>
            </a:lvl4pPr>
            <a:lvl5pPr algn="l">
              <a:defRPr sz="1313" b="0">
                <a:solidFill>
                  <a:srgbClr val="62666B"/>
                </a:solidFill>
                <a:latin typeface="Roboto"/>
                <a:ea typeface="Roboto"/>
                <a:cs typeface="Roboto"/>
              </a:defRPr>
            </a:lvl5pPr>
            <a:lvl6pPr algn="l">
              <a:defRPr sz="1313" b="0">
                <a:solidFill>
                  <a:srgbClr val="62666B"/>
                </a:solidFill>
                <a:latin typeface="Roboto"/>
                <a:ea typeface="Roboto"/>
                <a:cs typeface="Roboto"/>
              </a:defRPr>
            </a:lvl6pPr>
            <a:lvl7pPr algn="l">
              <a:defRPr sz="1313" b="0">
                <a:solidFill>
                  <a:srgbClr val="62666B"/>
                </a:solidFill>
                <a:latin typeface="Roboto"/>
                <a:ea typeface="Roboto"/>
                <a:cs typeface="Roboto"/>
              </a:defRPr>
            </a:lvl7pPr>
            <a:lvl8pPr algn="l">
              <a:defRPr sz="1313" b="0">
                <a:solidFill>
                  <a:srgbClr val="62666B"/>
                </a:solidFill>
                <a:latin typeface="Roboto"/>
                <a:ea typeface="Roboto"/>
                <a:cs typeface="Roboto"/>
              </a:defRPr>
            </a:lvl8pPr>
            <a:lvl9pPr algn="l">
              <a:defRPr sz="1313" b="0">
                <a:solidFill>
                  <a:srgbClr val="62666B"/>
                </a:solidFill>
                <a:latin typeface="Roboto"/>
                <a:ea typeface="Roboto"/>
                <a:cs typeface="Roboto"/>
              </a:defRPr>
            </a:lvl9pPr>
          </a:lstStyle>
          <a:p>
            <a:pPr algn="l">
              <a:defRPr sz="1313" b="0">
                <a:solidFill>
                  <a:srgbClr val="62666B"/>
                </a:solidFill>
                <a:latin typeface="Roboto"/>
                <a:ea typeface="Roboto"/>
                <a:cs typeface="Roboto"/>
              </a:defRPr>
            </a:pPr>
            <a:r>
              <a:rPr sz="1313" b="0">
                <a:solidFill>
                  <a:srgbClr val="62666B"/>
                </a:solidFill>
                <a:latin typeface="Roboto"/>
                <a:ea typeface="Roboto"/>
                <a:cs typeface="Roboto"/>
              </a:rPr>
              <a:t>CVPR, 2018, pp. 2704–2713.</a:t>
            </a:r>
          </a:p>
        </p:txBody>
      </p:sp>
      <p:sp>
        <p:nvSpPr>
          <p:cNvPr id="8" name="ref-link-11">
            <a:extLst>
              <a:ext uri="{FF2B5EF4-FFF2-40B4-BE49-F238E27FC236}">
                <a16:creationId xmlns:a16="http://schemas.microsoft.com/office/drawing/2014/main" id="{54BC5E51-4A07-4808-B0F2-8BD90BC35752}"/>
              </a:ext>
            </a:extLst>
          </p:cNvPr>
          <p:cNvSpPr>
            <a:spLocks noGrp="1"/>
          </p:cNvSpPr>
          <p:nvPr/>
        </p:nvSpPr>
        <p:spPr>
          <a:xfrm>
            <a:off x="1409700" y="2133600"/>
            <a:ext cx="9525000" cy="209550"/>
          </a:xfrm>
          <a:prstGeom prst="rect">
            <a:avLst/>
          </a:prstGeom>
          <a:noFill/>
          <a:ln w="0">
            <a:noFill/>
          </a:ln>
        </p:spPr>
        <p:txBody>
          <a:bodyPr wrap="square" lIns="0" tIns="0" rIns="0" bIns="0" anchor="t">
            <a:noAutofit/>
          </a:bodyPr>
          <a:lstStyle>
            <a:defPPr algn="l">
              <a:defRPr sz="1275" b="0">
                <a:solidFill>
                  <a:srgbClr val="822433"/>
                </a:solidFill>
                <a:latin typeface="Roboto"/>
                <a:ea typeface="Roboto"/>
                <a:cs typeface="Roboto"/>
              </a:defRPr>
            </a:defPPr>
            <a:lvl1pPr algn="l">
              <a:defRPr sz="1275" b="0">
                <a:solidFill>
                  <a:srgbClr val="822433"/>
                </a:solidFill>
                <a:latin typeface="Roboto"/>
                <a:ea typeface="Roboto"/>
                <a:cs typeface="Roboto"/>
              </a:defRPr>
            </a:lvl1pPr>
            <a:lvl2pPr algn="l">
              <a:defRPr sz="1275" b="0">
                <a:solidFill>
                  <a:srgbClr val="822433"/>
                </a:solidFill>
                <a:latin typeface="Roboto"/>
                <a:ea typeface="Roboto"/>
                <a:cs typeface="Roboto"/>
              </a:defRPr>
            </a:lvl2pPr>
            <a:lvl3pPr algn="l">
              <a:defRPr sz="1275" b="0">
                <a:solidFill>
                  <a:srgbClr val="822433"/>
                </a:solidFill>
                <a:latin typeface="Roboto"/>
                <a:ea typeface="Roboto"/>
                <a:cs typeface="Roboto"/>
              </a:defRPr>
            </a:lvl3pPr>
            <a:lvl4pPr algn="l">
              <a:defRPr sz="1275" b="0">
                <a:solidFill>
                  <a:srgbClr val="822433"/>
                </a:solidFill>
                <a:latin typeface="Roboto"/>
                <a:ea typeface="Roboto"/>
                <a:cs typeface="Roboto"/>
              </a:defRPr>
            </a:lvl4pPr>
            <a:lvl5pPr algn="l">
              <a:defRPr sz="1275" b="0">
                <a:solidFill>
                  <a:srgbClr val="822433"/>
                </a:solidFill>
                <a:latin typeface="Roboto"/>
                <a:ea typeface="Roboto"/>
                <a:cs typeface="Roboto"/>
              </a:defRPr>
            </a:lvl5pPr>
            <a:lvl6pPr algn="l">
              <a:defRPr sz="1275" b="0">
                <a:solidFill>
                  <a:srgbClr val="822433"/>
                </a:solidFill>
                <a:latin typeface="Roboto"/>
                <a:ea typeface="Roboto"/>
                <a:cs typeface="Roboto"/>
              </a:defRPr>
            </a:lvl6pPr>
            <a:lvl7pPr algn="l">
              <a:defRPr sz="1275" b="0">
                <a:solidFill>
                  <a:srgbClr val="822433"/>
                </a:solidFill>
                <a:latin typeface="Roboto"/>
                <a:ea typeface="Roboto"/>
                <a:cs typeface="Roboto"/>
              </a:defRPr>
            </a:lvl7pPr>
            <a:lvl8pPr algn="l">
              <a:defRPr sz="1275" b="0">
                <a:solidFill>
                  <a:srgbClr val="822433"/>
                </a:solidFill>
                <a:latin typeface="Roboto"/>
                <a:ea typeface="Roboto"/>
                <a:cs typeface="Roboto"/>
              </a:defRPr>
            </a:lvl8pPr>
            <a:lvl9pPr algn="l">
              <a:defRPr sz="1275" b="0">
                <a:solidFill>
                  <a:srgbClr val="822433"/>
                </a:solidFill>
                <a:latin typeface="Roboto"/>
                <a:ea typeface="Roboto"/>
                <a:cs typeface="Roboto"/>
              </a:defRPr>
            </a:lvl9pPr>
          </a:lstStyle>
          <a:p>
            <a:pPr algn="l">
              <a:defRPr sz="1275" b="0">
                <a:solidFill>
                  <a:srgbClr val="822433"/>
                </a:solidFill>
                <a:latin typeface="Roboto"/>
                <a:ea typeface="Roboto"/>
                <a:cs typeface="Roboto"/>
              </a:defRPr>
            </a:pPr>
            <a:r>
              <a:rPr sz="1275" b="0">
                <a:solidFill>
                  <a:srgbClr val="822433"/>
                </a:solidFill>
                <a:latin typeface="Roboto"/>
                <a:ea typeface="Roboto"/>
                <a:cs typeface="Roboto"/>
                <a:hlinkClick r:id="rId3"/>
              </a:rPr>
              <a:t>arxiv.org/abs/1712.05877</a:t>
            </a:r>
          </a:p>
        </p:txBody>
      </p:sp>
      <p:sp>
        <p:nvSpPr>
          <p:cNvPr id="9" name="ref-number-12">
            <a:extLst>
              <a:ext uri="{FF2B5EF4-FFF2-40B4-BE49-F238E27FC236}">
                <a16:creationId xmlns:a16="http://schemas.microsoft.com/office/drawing/2014/main" id="{4ABF283F-A4AE-419A-A225-84DB350A497D}"/>
              </a:ext>
            </a:extLst>
          </p:cNvPr>
          <p:cNvSpPr>
            <a:spLocks noGrp="1"/>
          </p:cNvSpPr>
          <p:nvPr/>
        </p:nvSpPr>
        <p:spPr>
          <a:xfrm>
            <a:off x="857250" y="2400300"/>
            <a:ext cx="495300" cy="333375"/>
          </a:xfrm>
          <a:prstGeom prst="rect">
            <a:avLst/>
          </a:prstGeom>
          <a:noFill/>
          <a:ln w="0">
            <a:noFill/>
          </a:ln>
        </p:spPr>
        <p:txBody>
          <a:bodyPr wrap="square" lIns="0" tIns="0" rIns="0" bIns="0" anchor="t">
            <a:noAutofit/>
          </a:bodyPr>
          <a:lstStyle>
            <a:defPPr algn="l">
              <a:defRPr sz="1650" b="1">
                <a:solidFill>
                  <a:srgbClr val="822433"/>
                </a:solidFill>
                <a:latin typeface="Roboto"/>
                <a:ea typeface="Roboto"/>
                <a:cs typeface="Roboto"/>
              </a:defRPr>
            </a:defPPr>
            <a:lvl1pPr algn="l">
              <a:defRPr sz="1650" b="1">
                <a:solidFill>
                  <a:srgbClr val="822433"/>
                </a:solidFill>
                <a:latin typeface="Roboto"/>
                <a:ea typeface="Roboto"/>
                <a:cs typeface="Roboto"/>
              </a:defRPr>
            </a:lvl1pPr>
            <a:lvl2pPr algn="l">
              <a:defRPr sz="1650" b="1">
                <a:solidFill>
                  <a:srgbClr val="822433"/>
                </a:solidFill>
                <a:latin typeface="Roboto"/>
                <a:ea typeface="Roboto"/>
                <a:cs typeface="Roboto"/>
              </a:defRPr>
            </a:lvl2pPr>
            <a:lvl3pPr algn="l">
              <a:defRPr sz="1650" b="1">
                <a:solidFill>
                  <a:srgbClr val="822433"/>
                </a:solidFill>
                <a:latin typeface="Roboto"/>
                <a:ea typeface="Roboto"/>
                <a:cs typeface="Roboto"/>
              </a:defRPr>
            </a:lvl3pPr>
            <a:lvl4pPr algn="l">
              <a:defRPr sz="1650" b="1">
                <a:solidFill>
                  <a:srgbClr val="822433"/>
                </a:solidFill>
                <a:latin typeface="Roboto"/>
                <a:ea typeface="Roboto"/>
                <a:cs typeface="Roboto"/>
              </a:defRPr>
            </a:lvl4pPr>
            <a:lvl5pPr algn="l">
              <a:defRPr sz="1650" b="1">
                <a:solidFill>
                  <a:srgbClr val="822433"/>
                </a:solidFill>
                <a:latin typeface="Roboto"/>
                <a:ea typeface="Roboto"/>
                <a:cs typeface="Roboto"/>
              </a:defRPr>
            </a:lvl5pPr>
            <a:lvl6pPr algn="l">
              <a:defRPr sz="1650" b="1">
                <a:solidFill>
                  <a:srgbClr val="822433"/>
                </a:solidFill>
                <a:latin typeface="Roboto"/>
                <a:ea typeface="Roboto"/>
                <a:cs typeface="Roboto"/>
              </a:defRPr>
            </a:lvl6pPr>
            <a:lvl7pPr algn="l">
              <a:defRPr sz="1650" b="1">
                <a:solidFill>
                  <a:srgbClr val="822433"/>
                </a:solidFill>
                <a:latin typeface="Roboto"/>
                <a:ea typeface="Roboto"/>
                <a:cs typeface="Roboto"/>
              </a:defRPr>
            </a:lvl7pPr>
            <a:lvl8pPr algn="l">
              <a:defRPr sz="1650" b="1">
                <a:solidFill>
                  <a:srgbClr val="822433"/>
                </a:solidFill>
                <a:latin typeface="Roboto"/>
                <a:ea typeface="Roboto"/>
                <a:cs typeface="Roboto"/>
              </a:defRPr>
            </a:lvl8pPr>
            <a:lvl9pPr algn="l">
              <a:defRPr sz="1650" b="1">
                <a:solidFill>
                  <a:srgbClr val="822433"/>
                </a:solidFill>
                <a:latin typeface="Roboto"/>
                <a:ea typeface="Roboto"/>
                <a:cs typeface="Roboto"/>
              </a:defRPr>
            </a:lvl9pPr>
          </a:lstStyle>
          <a:p>
            <a:pPr algn="l">
              <a:defRPr sz="1650" b="1">
                <a:solidFill>
                  <a:srgbClr val="822433"/>
                </a:solidFill>
                <a:latin typeface="Roboto"/>
                <a:ea typeface="Roboto"/>
                <a:cs typeface="Roboto"/>
              </a:defRPr>
            </a:pPr>
            <a:r>
              <a:rPr sz="1650" b="1">
                <a:solidFill>
                  <a:srgbClr val="822433"/>
                </a:solidFill>
                <a:latin typeface="Roboto"/>
                <a:ea typeface="Roboto"/>
                <a:cs typeface="Roboto"/>
              </a:rPr>
              <a:t>[12]</a:t>
            </a:r>
          </a:p>
        </p:txBody>
      </p:sp>
      <p:sp>
        <p:nvSpPr>
          <p:cNvPr id="10" name="ref-title-12">
            <a:extLst>
              <a:ext uri="{FF2B5EF4-FFF2-40B4-BE49-F238E27FC236}">
                <a16:creationId xmlns:a16="http://schemas.microsoft.com/office/drawing/2014/main" id="{66DDC44D-520B-4930-A023-146A01CDA71B}"/>
              </a:ext>
            </a:extLst>
          </p:cNvPr>
          <p:cNvSpPr>
            <a:spLocks noGrp="1"/>
          </p:cNvSpPr>
          <p:nvPr/>
        </p:nvSpPr>
        <p:spPr>
          <a:xfrm>
            <a:off x="1409700" y="2400300"/>
            <a:ext cx="9525000" cy="495300"/>
          </a:xfrm>
          <a:prstGeom prst="rect">
            <a:avLst/>
          </a:prstGeom>
          <a:noFill/>
          <a:ln w="0">
            <a:noFill/>
          </a:ln>
        </p:spPr>
        <p:txBody>
          <a:bodyPr wrap="square" lIns="0" tIns="0" rIns="0" bIns="0" anchor="t">
            <a:noAutofit/>
          </a:bodyPr>
          <a:lstStyle>
            <a:defPPr algn="l">
              <a:defRPr sz="1538" b="0">
                <a:solidFill>
                  <a:srgbClr val="202124"/>
                </a:solidFill>
                <a:latin typeface="Roboto"/>
                <a:ea typeface="Roboto"/>
                <a:cs typeface="Roboto"/>
              </a:defRPr>
            </a:defPPr>
            <a:lvl1pPr algn="l">
              <a:defRPr sz="1538" b="0">
                <a:solidFill>
                  <a:srgbClr val="202124"/>
                </a:solidFill>
                <a:latin typeface="Roboto"/>
                <a:ea typeface="Roboto"/>
                <a:cs typeface="Roboto"/>
              </a:defRPr>
            </a:lvl1pPr>
            <a:lvl2pPr algn="l">
              <a:defRPr sz="1538" b="0">
                <a:solidFill>
                  <a:srgbClr val="202124"/>
                </a:solidFill>
                <a:latin typeface="Roboto"/>
                <a:ea typeface="Roboto"/>
                <a:cs typeface="Roboto"/>
              </a:defRPr>
            </a:lvl2pPr>
            <a:lvl3pPr algn="l">
              <a:defRPr sz="1538" b="0">
                <a:solidFill>
                  <a:srgbClr val="202124"/>
                </a:solidFill>
                <a:latin typeface="Roboto"/>
                <a:ea typeface="Roboto"/>
                <a:cs typeface="Roboto"/>
              </a:defRPr>
            </a:lvl3pPr>
            <a:lvl4pPr algn="l">
              <a:defRPr sz="1538" b="0">
                <a:solidFill>
                  <a:srgbClr val="202124"/>
                </a:solidFill>
                <a:latin typeface="Roboto"/>
                <a:ea typeface="Roboto"/>
                <a:cs typeface="Roboto"/>
              </a:defRPr>
            </a:lvl4pPr>
            <a:lvl5pPr algn="l">
              <a:defRPr sz="1538" b="0">
                <a:solidFill>
                  <a:srgbClr val="202124"/>
                </a:solidFill>
                <a:latin typeface="Roboto"/>
                <a:ea typeface="Roboto"/>
                <a:cs typeface="Roboto"/>
              </a:defRPr>
            </a:lvl5pPr>
            <a:lvl6pPr algn="l">
              <a:defRPr sz="1538" b="0">
                <a:solidFill>
                  <a:srgbClr val="202124"/>
                </a:solidFill>
                <a:latin typeface="Roboto"/>
                <a:ea typeface="Roboto"/>
                <a:cs typeface="Roboto"/>
              </a:defRPr>
            </a:lvl6pPr>
            <a:lvl7pPr algn="l">
              <a:defRPr sz="1538" b="0">
                <a:solidFill>
                  <a:srgbClr val="202124"/>
                </a:solidFill>
                <a:latin typeface="Roboto"/>
                <a:ea typeface="Roboto"/>
                <a:cs typeface="Roboto"/>
              </a:defRPr>
            </a:lvl7pPr>
            <a:lvl8pPr algn="l">
              <a:defRPr sz="1538" b="0">
                <a:solidFill>
                  <a:srgbClr val="202124"/>
                </a:solidFill>
                <a:latin typeface="Roboto"/>
                <a:ea typeface="Roboto"/>
                <a:cs typeface="Roboto"/>
              </a:defRPr>
            </a:lvl8pPr>
            <a:lvl9pPr algn="l">
              <a:defRPr sz="1538" b="0">
                <a:solidFill>
                  <a:srgbClr val="202124"/>
                </a:solidFill>
                <a:latin typeface="Roboto"/>
                <a:ea typeface="Roboto"/>
                <a:cs typeface="Roboto"/>
              </a:defRPr>
            </a:lvl9pPr>
          </a:lstStyle>
          <a:p>
            <a:pPr algn="l">
              <a:defRPr sz="1538" b="0">
                <a:solidFill>
                  <a:srgbClr val="202124"/>
                </a:solidFill>
                <a:latin typeface="Roboto"/>
                <a:ea typeface="Roboto"/>
                <a:cs typeface="Roboto"/>
              </a:defRPr>
            </a:pPr>
            <a:r>
              <a:rPr sz="1538" b="0">
                <a:solidFill>
                  <a:srgbClr val="202124"/>
                </a:solidFill>
                <a:latin typeface="Roboto"/>
                <a:ea typeface="Roboto"/>
                <a:cs typeface="Roboto"/>
              </a:rPr>
              <a:t>NASA Visualization Technology Applications and Development. Curiosity 3D Model.</a:t>
            </a:r>
          </a:p>
        </p:txBody>
      </p:sp>
      <p:sp>
        <p:nvSpPr>
          <p:cNvPr id="11" name="ref-venue-12">
            <a:extLst>
              <a:ext uri="{FF2B5EF4-FFF2-40B4-BE49-F238E27FC236}">
                <a16:creationId xmlns:a16="http://schemas.microsoft.com/office/drawing/2014/main" id="{AC323CE9-8EDA-4431-A0A8-010191D23574}"/>
              </a:ext>
            </a:extLst>
          </p:cNvPr>
          <p:cNvSpPr>
            <a:spLocks noGrp="1"/>
          </p:cNvSpPr>
          <p:nvPr/>
        </p:nvSpPr>
        <p:spPr>
          <a:xfrm>
            <a:off x="1409700" y="2905125"/>
            <a:ext cx="9525000" cy="219075"/>
          </a:xfrm>
          <a:prstGeom prst="rect">
            <a:avLst/>
          </a:prstGeom>
          <a:noFill/>
          <a:ln w="0">
            <a:noFill/>
          </a:ln>
        </p:spPr>
        <p:txBody>
          <a:bodyPr wrap="square" lIns="0" tIns="0" rIns="0" bIns="0" anchor="t">
            <a:noAutofit/>
          </a:bodyPr>
          <a:lstStyle>
            <a:defPPr algn="l">
              <a:defRPr sz="1313" b="0">
                <a:solidFill>
                  <a:srgbClr val="62666B"/>
                </a:solidFill>
                <a:latin typeface="Roboto"/>
                <a:ea typeface="Roboto"/>
                <a:cs typeface="Roboto"/>
              </a:defRPr>
            </a:defPPr>
            <a:lvl1pPr algn="l">
              <a:defRPr sz="1313" b="0">
                <a:solidFill>
                  <a:srgbClr val="62666B"/>
                </a:solidFill>
                <a:latin typeface="Roboto"/>
                <a:ea typeface="Roboto"/>
                <a:cs typeface="Roboto"/>
              </a:defRPr>
            </a:lvl1pPr>
            <a:lvl2pPr algn="l">
              <a:defRPr sz="1313" b="0">
                <a:solidFill>
                  <a:srgbClr val="62666B"/>
                </a:solidFill>
                <a:latin typeface="Roboto"/>
                <a:ea typeface="Roboto"/>
                <a:cs typeface="Roboto"/>
              </a:defRPr>
            </a:lvl2pPr>
            <a:lvl3pPr algn="l">
              <a:defRPr sz="1313" b="0">
                <a:solidFill>
                  <a:srgbClr val="62666B"/>
                </a:solidFill>
                <a:latin typeface="Roboto"/>
                <a:ea typeface="Roboto"/>
                <a:cs typeface="Roboto"/>
              </a:defRPr>
            </a:lvl3pPr>
            <a:lvl4pPr algn="l">
              <a:defRPr sz="1313" b="0">
                <a:solidFill>
                  <a:srgbClr val="62666B"/>
                </a:solidFill>
                <a:latin typeface="Roboto"/>
                <a:ea typeface="Roboto"/>
                <a:cs typeface="Roboto"/>
              </a:defRPr>
            </a:lvl4pPr>
            <a:lvl5pPr algn="l">
              <a:defRPr sz="1313" b="0">
                <a:solidFill>
                  <a:srgbClr val="62666B"/>
                </a:solidFill>
                <a:latin typeface="Roboto"/>
                <a:ea typeface="Roboto"/>
                <a:cs typeface="Roboto"/>
              </a:defRPr>
            </a:lvl5pPr>
            <a:lvl6pPr algn="l">
              <a:defRPr sz="1313" b="0">
                <a:solidFill>
                  <a:srgbClr val="62666B"/>
                </a:solidFill>
                <a:latin typeface="Roboto"/>
                <a:ea typeface="Roboto"/>
                <a:cs typeface="Roboto"/>
              </a:defRPr>
            </a:lvl6pPr>
            <a:lvl7pPr algn="l">
              <a:defRPr sz="1313" b="0">
                <a:solidFill>
                  <a:srgbClr val="62666B"/>
                </a:solidFill>
                <a:latin typeface="Roboto"/>
                <a:ea typeface="Roboto"/>
                <a:cs typeface="Roboto"/>
              </a:defRPr>
            </a:lvl7pPr>
            <a:lvl8pPr algn="l">
              <a:defRPr sz="1313" b="0">
                <a:solidFill>
                  <a:srgbClr val="62666B"/>
                </a:solidFill>
                <a:latin typeface="Roboto"/>
                <a:ea typeface="Roboto"/>
                <a:cs typeface="Roboto"/>
              </a:defRPr>
            </a:lvl8pPr>
            <a:lvl9pPr algn="l">
              <a:defRPr sz="1313" b="0">
                <a:solidFill>
                  <a:srgbClr val="62666B"/>
                </a:solidFill>
                <a:latin typeface="Roboto"/>
                <a:ea typeface="Roboto"/>
                <a:cs typeface="Roboto"/>
              </a:defRPr>
            </a:lvl9pPr>
          </a:lstStyle>
          <a:p>
            <a:pPr algn="l">
              <a:defRPr sz="1313" b="0">
                <a:solidFill>
                  <a:srgbClr val="62666B"/>
                </a:solidFill>
                <a:latin typeface="Roboto"/>
                <a:ea typeface="Roboto"/>
                <a:cs typeface="Roboto"/>
              </a:defRPr>
            </a:pPr>
            <a:r>
              <a:rPr sz="1313" b="0">
                <a:solidFill>
                  <a:srgbClr val="62666B"/>
                </a:solidFill>
                <a:latin typeface="Roboto"/>
                <a:ea typeface="Roboto"/>
                <a:cs typeface="Roboto"/>
              </a:rPr>
              <a:t>NASA Science, 22 aprile 2019.</a:t>
            </a:r>
          </a:p>
        </p:txBody>
      </p:sp>
      <p:sp>
        <p:nvSpPr>
          <p:cNvPr id="12" name="ref-link-12">
            <a:extLst>
              <a:ext uri="{FF2B5EF4-FFF2-40B4-BE49-F238E27FC236}">
                <a16:creationId xmlns:a16="http://schemas.microsoft.com/office/drawing/2014/main" id="{4F702E32-066E-4744-88D6-E72467571665}"/>
              </a:ext>
            </a:extLst>
          </p:cNvPr>
          <p:cNvSpPr>
            <a:spLocks noGrp="1"/>
          </p:cNvSpPr>
          <p:nvPr/>
        </p:nvSpPr>
        <p:spPr>
          <a:xfrm>
            <a:off x="1409700" y="3124200"/>
            <a:ext cx="9525000" cy="209550"/>
          </a:xfrm>
          <a:prstGeom prst="rect">
            <a:avLst/>
          </a:prstGeom>
          <a:noFill/>
          <a:ln w="0">
            <a:noFill/>
          </a:ln>
        </p:spPr>
        <p:txBody>
          <a:bodyPr wrap="square" lIns="0" tIns="0" rIns="0" bIns="0" anchor="t">
            <a:noAutofit/>
          </a:bodyPr>
          <a:lstStyle>
            <a:defPPr algn="l">
              <a:defRPr sz="1275" b="0">
                <a:solidFill>
                  <a:srgbClr val="822433"/>
                </a:solidFill>
                <a:latin typeface="Roboto"/>
                <a:ea typeface="Roboto"/>
                <a:cs typeface="Roboto"/>
              </a:defRPr>
            </a:defPPr>
            <a:lvl1pPr algn="l">
              <a:defRPr sz="1275" b="0">
                <a:solidFill>
                  <a:srgbClr val="822433"/>
                </a:solidFill>
                <a:latin typeface="Roboto"/>
                <a:ea typeface="Roboto"/>
                <a:cs typeface="Roboto"/>
              </a:defRPr>
            </a:lvl1pPr>
            <a:lvl2pPr algn="l">
              <a:defRPr sz="1275" b="0">
                <a:solidFill>
                  <a:srgbClr val="822433"/>
                </a:solidFill>
                <a:latin typeface="Roboto"/>
                <a:ea typeface="Roboto"/>
                <a:cs typeface="Roboto"/>
              </a:defRPr>
            </a:lvl2pPr>
            <a:lvl3pPr algn="l">
              <a:defRPr sz="1275" b="0">
                <a:solidFill>
                  <a:srgbClr val="822433"/>
                </a:solidFill>
                <a:latin typeface="Roboto"/>
                <a:ea typeface="Roboto"/>
                <a:cs typeface="Roboto"/>
              </a:defRPr>
            </a:lvl3pPr>
            <a:lvl4pPr algn="l">
              <a:defRPr sz="1275" b="0">
                <a:solidFill>
                  <a:srgbClr val="822433"/>
                </a:solidFill>
                <a:latin typeface="Roboto"/>
                <a:ea typeface="Roboto"/>
                <a:cs typeface="Roboto"/>
              </a:defRPr>
            </a:lvl4pPr>
            <a:lvl5pPr algn="l">
              <a:defRPr sz="1275" b="0">
                <a:solidFill>
                  <a:srgbClr val="822433"/>
                </a:solidFill>
                <a:latin typeface="Roboto"/>
                <a:ea typeface="Roboto"/>
                <a:cs typeface="Roboto"/>
              </a:defRPr>
            </a:lvl5pPr>
            <a:lvl6pPr algn="l">
              <a:defRPr sz="1275" b="0">
                <a:solidFill>
                  <a:srgbClr val="822433"/>
                </a:solidFill>
                <a:latin typeface="Roboto"/>
                <a:ea typeface="Roboto"/>
                <a:cs typeface="Roboto"/>
              </a:defRPr>
            </a:lvl6pPr>
            <a:lvl7pPr algn="l">
              <a:defRPr sz="1275" b="0">
                <a:solidFill>
                  <a:srgbClr val="822433"/>
                </a:solidFill>
                <a:latin typeface="Roboto"/>
                <a:ea typeface="Roboto"/>
                <a:cs typeface="Roboto"/>
              </a:defRPr>
            </a:lvl7pPr>
            <a:lvl8pPr algn="l">
              <a:defRPr sz="1275" b="0">
                <a:solidFill>
                  <a:srgbClr val="822433"/>
                </a:solidFill>
                <a:latin typeface="Roboto"/>
                <a:ea typeface="Roboto"/>
                <a:cs typeface="Roboto"/>
              </a:defRPr>
            </a:lvl8pPr>
            <a:lvl9pPr algn="l">
              <a:defRPr sz="1275" b="0">
                <a:solidFill>
                  <a:srgbClr val="822433"/>
                </a:solidFill>
                <a:latin typeface="Roboto"/>
                <a:ea typeface="Roboto"/>
                <a:cs typeface="Roboto"/>
              </a:defRPr>
            </a:lvl9pPr>
          </a:lstStyle>
          <a:p>
            <a:pPr algn="l">
              <a:defRPr sz="1275" b="0">
                <a:solidFill>
                  <a:srgbClr val="822433"/>
                </a:solidFill>
                <a:latin typeface="Roboto"/>
                <a:ea typeface="Roboto"/>
                <a:cs typeface="Roboto"/>
              </a:defRPr>
            </a:pPr>
            <a:r>
              <a:rPr sz="1275" b="0">
                <a:solidFill>
                  <a:srgbClr val="822433"/>
                </a:solidFill>
                <a:latin typeface="Roboto"/>
                <a:ea typeface="Roboto"/>
                <a:cs typeface="Roboto"/>
                <a:hlinkClick r:id="rId4"/>
              </a:rPr>
              <a:t>science.nasa.gov/resource/curiosity-3d-model/</a:t>
            </a:r>
          </a:p>
        </p:txBody>
      </p:sp>
      <p:sp>
        <p:nvSpPr>
          <p:cNvPr id="13" name="ref-number-13">
            <a:extLst>
              <a:ext uri="{FF2B5EF4-FFF2-40B4-BE49-F238E27FC236}">
                <a16:creationId xmlns:a16="http://schemas.microsoft.com/office/drawing/2014/main" id="{E168AD82-76DA-41F6-B6B1-E912B95E5AFF}"/>
              </a:ext>
            </a:extLst>
          </p:cNvPr>
          <p:cNvSpPr>
            <a:spLocks noGrp="1"/>
          </p:cNvSpPr>
          <p:nvPr/>
        </p:nvSpPr>
        <p:spPr>
          <a:xfrm>
            <a:off x="857250" y="3390900"/>
            <a:ext cx="495300" cy="333375"/>
          </a:xfrm>
          <a:prstGeom prst="rect">
            <a:avLst/>
          </a:prstGeom>
          <a:noFill/>
          <a:ln w="0">
            <a:noFill/>
          </a:ln>
        </p:spPr>
        <p:txBody>
          <a:bodyPr wrap="square" lIns="0" tIns="0" rIns="0" bIns="0" anchor="t">
            <a:noAutofit/>
          </a:bodyPr>
          <a:lstStyle>
            <a:defPPr algn="l">
              <a:defRPr sz="1650" b="1">
                <a:solidFill>
                  <a:srgbClr val="822433"/>
                </a:solidFill>
                <a:latin typeface="Roboto"/>
                <a:ea typeface="Roboto"/>
                <a:cs typeface="Roboto"/>
              </a:defRPr>
            </a:defPPr>
            <a:lvl1pPr algn="l">
              <a:defRPr sz="1650" b="1">
                <a:solidFill>
                  <a:srgbClr val="822433"/>
                </a:solidFill>
                <a:latin typeface="Roboto"/>
                <a:ea typeface="Roboto"/>
                <a:cs typeface="Roboto"/>
              </a:defRPr>
            </a:lvl1pPr>
            <a:lvl2pPr algn="l">
              <a:defRPr sz="1650" b="1">
                <a:solidFill>
                  <a:srgbClr val="822433"/>
                </a:solidFill>
                <a:latin typeface="Roboto"/>
                <a:ea typeface="Roboto"/>
                <a:cs typeface="Roboto"/>
              </a:defRPr>
            </a:lvl2pPr>
            <a:lvl3pPr algn="l">
              <a:defRPr sz="1650" b="1">
                <a:solidFill>
                  <a:srgbClr val="822433"/>
                </a:solidFill>
                <a:latin typeface="Roboto"/>
                <a:ea typeface="Roboto"/>
                <a:cs typeface="Roboto"/>
              </a:defRPr>
            </a:lvl3pPr>
            <a:lvl4pPr algn="l">
              <a:defRPr sz="1650" b="1">
                <a:solidFill>
                  <a:srgbClr val="822433"/>
                </a:solidFill>
                <a:latin typeface="Roboto"/>
                <a:ea typeface="Roboto"/>
                <a:cs typeface="Roboto"/>
              </a:defRPr>
            </a:lvl4pPr>
            <a:lvl5pPr algn="l">
              <a:defRPr sz="1650" b="1">
                <a:solidFill>
                  <a:srgbClr val="822433"/>
                </a:solidFill>
                <a:latin typeface="Roboto"/>
                <a:ea typeface="Roboto"/>
                <a:cs typeface="Roboto"/>
              </a:defRPr>
            </a:lvl5pPr>
            <a:lvl6pPr algn="l">
              <a:defRPr sz="1650" b="1">
                <a:solidFill>
                  <a:srgbClr val="822433"/>
                </a:solidFill>
                <a:latin typeface="Roboto"/>
                <a:ea typeface="Roboto"/>
                <a:cs typeface="Roboto"/>
              </a:defRPr>
            </a:lvl6pPr>
            <a:lvl7pPr algn="l">
              <a:defRPr sz="1650" b="1">
                <a:solidFill>
                  <a:srgbClr val="822433"/>
                </a:solidFill>
                <a:latin typeface="Roboto"/>
                <a:ea typeface="Roboto"/>
                <a:cs typeface="Roboto"/>
              </a:defRPr>
            </a:lvl7pPr>
            <a:lvl8pPr algn="l">
              <a:defRPr sz="1650" b="1">
                <a:solidFill>
                  <a:srgbClr val="822433"/>
                </a:solidFill>
                <a:latin typeface="Roboto"/>
                <a:ea typeface="Roboto"/>
                <a:cs typeface="Roboto"/>
              </a:defRPr>
            </a:lvl8pPr>
            <a:lvl9pPr algn="l">
              <a:defRPr sz="1650" b="1">
                <a:solidFill>
                  <a:srgbClr val="822433"/>
                </a:solidFill>
                <a:latin typeface="Roboto"/>
                <a:ea typeface="Roboto"/>
                <a:cs typeface="Roboto"/>
              </a:defRPr>
            </a:lvl9pPr>
          </a:lstStyle>
          <a:p>
            <a:pPr algn="l">
              <a:defRPr sz="1650" b="1">
                <a:solidFill>
                  <a:srgbClr val="822433"/>
                </a:solidFill>
                <a:latin typeface="Roboto"/>
                <a:ea typeface="Roboto"/>
                <a:cs typeface="Roboto"/>
              </a:defRPr>
            </a:pPr>
            <a:r>
              <a:rPr sz="1650" b="1">
                <a:solidFill>
                  <a:srgbClr val="822433"/>
                </a:solidFill>
                <a:latin typeface="Roboto"/>
                <a:ea typeface="Roboto"/>
                <a:cs typeface="Roboto"/>
              </a:rPr>
              <a:t>[13]</a:t>
            </a:r>
          </a:p>
        </p:txBody>
      </p:sp>
      <p:sp>
        <p:nvSpPr>
          <p:cNvPr id="14" name="ref-title-13">
            <a:extLst>
              <a:ext uri="{FF2B5EF4-FFF2-40B4-BE49-F238E27FC236}">
                <a16:creationId xmlns:a16="http://schemas.microsoft.com/office/drawing/2014/main" id="{A99799B5-BD5B-4BF5-98B0-C9A8209FA4A9}"/>
              </a:ext>
            </a:extLst>
          </p:cNvPr>
          <p:cNvSpPr>
            <a:spLocks noGrp="1"/>
          </p:cNvSpPr>
          <p:nvPr/>
        </p:nvSpPr>
        <p:spPr>
          <a:xfrm>
            <a:off x="1409700" y="3390900"/>
            <a:ext cx="9525000" cy="495300"/>
          </a:xfrm>
          <a:prstGeom prst="rect">
            <a:avLst/>
          </a:prstGeom>
          <a:noFill/>
          <a:ln w="0">
            <a:noFill/>
          </a:ln>
        </p:spPr>
        <p:txBody>
          <a:bodyPr wrap="square" lIns="0" tIns="0" rIns="0" bIns="0" anchor="t">
            <a:noAutofit/>
          </a:bodyPr>
          <a:lstStyle>
            <a:defPPr algn="l">
              <a:defRPr sz="1538" b="0">
                <a:solidFill>
                  <a:srgbClr val="202124"/>
                </a:solidFill>
                <a:latin typeface="Roboto"/>
                <a:ea typeface="Roboto"/>
                <a:cs typeface="Roboto"/>
              </a:defRPr>
            </a:defPPr>
            <a:lvl1pPr algn="l">
              <a:defRPr sz="1538" b="0">
                <a:solidFill>
                  <a:srgbClr val="202124"/>
                </a:solidFill>
                <a:latin typeface="Roboto"/>
                <a:ea typeface="Roboto"/>
                <a:cs typeface="Roboto"/>
              </a:defRPr>
            </a:lvl1pPr>
            <a:lvl2pPr algn="l">
              <a:defRPr sz="1538" b="0">
                <a:solidFill>
                  <a:srgbClr val="202124"/>
                </a:solidFill>
                <a:latin typeface="Roboto"/>
                <a:ea typeface="Roboto"/>
                <a:cs typeface="Roboto"/>
              </a:defRPr>
            </a:lvl2pPr>
            <a:lvl3pPr algn="l">
              <a:defRPr sz="1538" b="0">
                <a:solidFill>
                  <a:srgbClr val="202124"/>
                </a:solidFill>
                <a:latin typeface="Roboto"/>
                <a:ea typeface="Roboto"/>
                <a:cs typeface="Roboto"/>
              </a:defRPr>
            </a:lvl3pPr>
            <a:lvl4pPr algn="l">
              <a:defRPr sz="1538" b="0">
                <a:solidFill>
                  <a:srgbClr val="202124"/>
                </a:solidFill>
                <a:latin typeface="Roboto"/>
                <a:ea typeface="Roboto"/>
                <a:cs typeface="Roboto"/>
              </a:defRPr>
            </a:lvl4pPr>
            <a:lvl5pPr algn="l">
              <a:defRPr sz="1538" b="0">
                <a:solidFill>
                  <a:srgbClr val="202124"/>
                </a:solidFill>
                <a:latin typeface="Roboto"/>
                <a:ea typeface="Roboto"/>
                <a:cs typeface="Roboto"/>
              </a:defRPr>
            </a:lvl5pPr>
            <a:lvl6pPr algn="l">
              <a:defRPr sz="1538" b="0">
                <a:solidFill>
                  <a:srgbClr val="202124"/>
                </a:solidFill>
                <a:latin typeface="Roboto"/>
                <a:ea typeface="Roboto"/>
                <a:cs typeface="Roboto"/>
              </a:defRPr>
            </a:lvl6pPr>
            <a:lvl7pPr algn="l">
              <a:defRPr sz="1538" b="0">
                <a:solidFill>
                  <a:srgbClr val="202124"/>
                </a:solidFill>
                <a:latin typeface="Roboto"/>
                <a:ea typeface="Roboto"/>
                <a:cs typeface="Roboto"/>
              </a:defRPr>
            </a:lvl7pPr>
            <a:lvl8pPr algn="l">
              <a:defRPr sz="1538" b="0">
                <a:solidFill>
                  <a:srgbClr val="202124"/>
                </a:solidFill>
                <a:latin typeface="Roboto"/>
                <a:ea typeface="Roboto"/>
                <a:cs typeface="Roboto"/>
              </a:defRPr>
            </a:lvl8pPr>
            <a:lvl9pPr algn="l">
              <a:defRPr sz="1538" b="0">
                <a:solidFill>
                  <a:srgbClr val="202124"/>
                </a:solidFill>
                <a:latin typeface="Roboto"/>
                <a:ea typeface="Roboto"/>
                <a:cs typeface="Roboto"/>
              </a:defRPr>
            </a:lvl9pPr>
          </a:lstStyle>
          <a:p>
            <a:pPr algn="l">
              <a:defRPr sz="1538" b="0">
                <a:solidFill>
                  <a:srgbClr val="202124"/>
                </a:solidFill>
                <a:latin typeface="Roboto"/>
                <a:ea typeface="Roboto"/>
                <a:cs typeface="Roboto"/>
              </a:defRPr>
            </a:pPr>
            <a:r>
              <a:rPr sz="1538" b="0">
                <a:solidFill>
                  <a:srgbClr val="202124"/>
                </a:solidFill>
                <a:latin typeface="Roboto"/>
                <a:ea typeface="Roboto"/>
                <a:cs typeface="Roboto"/>
              </a:rPr>
              <a:t>HiRISE. Possible MSL Landing Site in Gale Crater.</a:t>
            </a:r>
          </a:p>
        </p:txBody>
      </p:sp>
      <p:sp>
        <p:nvSpPr>
          <p:cNvPr id="15" name="ref-venue-13">
            <a:extLst>
              <a:ext uri="{FF2B5EF4-FFF2-40B4-BE49-F238E27FC236}">
                <a16:creationId xmlns:a16="http://schemas.microsoft.com/office/drawing/2014/main" id="{1D3C40CA-ED66-46C4-ACF7-0260173276B6}"/>
              </a:ext>
            </a:extLst>
          </p:cNvPr>
          <p:cNvSpPr>
            <a:spLocks noGrp="1"/>
          </p:cNvSpPr>
          <p:nvPr/>
        </p:nvSpPr>
        <p:spPr>
          <a:xfrm>
            <a:off x="1409700" y="3895725"/>
            <a:ext cx="9525000" cy="219075"/>
          </a:xfrm>
          <a:prstGeom prst="rect">
            <a:avLst/>
          </a:prstGeom>
          <a:noFill/>
          <a:ln w="0">
            <a:noFill/>
          </a:ln>
        </p:spPr>
        <p:txBody>
          <a:bodyPr wrap="square" lIns="0" tIns="0" rIns="0" bIns="0" anchor="t">
            <a:noAutofit/>
          </a:bodyPr>
          <a:lstStyle>
            <a:defPPr algn="l">
              <a:defRPr sz="1313" b="0">
                <a:solidFill>
                  <a:srgbClr val="62666B"/>
                </a:solidFill>
                <a:latin typeface="Roboto"/>
                <a:ea typeface="Roboto"/>
                <a:cs typeface="Roboto"/>
              </a:defRPr>
            </a:defPPr>
            <a:lvl1pPr algn="l">
              <a:defRPr sz="1313" b="0">
                <a:solidFill>
                  <a:srgbClr val="62666B"/>
                </a:solidFill>
                <a:latin typeface="Roboto"/>
                <a:ea typeface="Roboto"/>
                <a:cs typeface="Roboto"/>
              </a:defRPr>
            </a:lvl1pPr>
            <a:lvl2pPr algn="l">
              <a:defRPr sz="1313" b="0">
                <a:solidFill>
                  <a:srgbClr val="62666B"/>
                </a:solidFill>
                <a:latin typeface="Roboto"/>
                <a:ea typeface="Roboto"/>
                <a:cs typeface="Roboto"/>
              </a:defRPr>
            </a:lvl2pPr>
            <a:lvl3pPr algn="l">
              <a:defRPr sz="1313" b="0">
                <a:solidFill>
                  <a:srgbClr val="62666B"/>
                </a:solidFill>
                <a:latin typeface="Roboto"/>
                <a:ea typeface="Roboto"/>
                <a:cs typeface="Roboto"/>
              </a:defRPr>
            </a:lvl3pPr>
            <a:lvl4pPr algn="l">
              <a:defRPr sz="1313" b="0">
                <a:solidFill>
                  <a:srgbClr val="62666B"/>
                </a:solidFill>
                <a:latin typeface="Roboto"/>
                <a:ea typeface="Roboto"/>
                <a:cs typeface="Roboto"/>
              </a:defRPr>
            </a:lvl4pPr>
            <a:lvl5pPr algn="l">
              <a:defRPr sz="1313" b="0">
                <a:solidFill>
                  <a:srgbClr val="62666B"/>
                </a:solidFill>
                <a:latin typeface="Roboto"/>
                <a:ea typeface="Roboto"/>
                <a:cs typeface="Roboto"/>
              </a:defRPr>
            </a:lvl5pPr>
            <a:lvl6pPr algn="l">
              <a:defRPr sz="1313" b="0">
                <a:solidFill>
                  <a:srgbClr val="62666B"/>
                </a:solidFill>
                <a:latin typeface="Roboto"/>
                <a:ea typeface="Roboto"/>
                <a:cs typeface="Roboto"/>
              </a:defRPr>
            </a:lvl6pPr>
            <a:lvl7pPr algn="l">
              <a:defRPr sz="1313" b="0">
                <a:solidFill>
                  <a:srgbClr val="62666B"/>
                </a:solidFill>
                <a:latin typeface="Roboto"/>
                <a:ea typeface="Roboto"/>
                <a:cs typeface="Roboto"/>
              </a:defRPr>
            </a:lvl7pPr>
            <a:lvl8pPr algn="l">
              <a:defRPr sz="1313" b="0">
                <a:solidFill>
                  <a:srgbClr val="62666B"/>
                </a:solidFill>
                <a:latin typeface="Roboto"/>
                <a:ea typeface="Roboto"/>
                <a:cs typeface="Roboto"/>
              </a:defRPr>
            </a:lvl8pPr>
            <a:lvl9pPr algn="l">
              <a:defRPr sz="1313" b="0">
                <a:solidFill>
                  <a:srgbClr val="62666B"/>
                </a:solidFill>
                <a:latin typeface="Roboto"/>
                <a:ea typeface="Roboto"/>
                <a:cs typeface="Roboto"/>
              </a:defRPr>
            </a:lvl9pPr>
          </a:lstStyle>
          <a:p>
            <a:pPr algn="l">
              <a:defRPr sz="1313" b="0">
                <a:solidFill>
                  <a:srgbClr val="62666B"/>
                </a:solidFill>
                <a:latin typeface="Roboto"/>
                <a:ea typeface="Roboto"/>
                <a:cs typeface="Roboto"/>
              </a:defRPr>
            </a:pPr>
            <a:r>
              <a:rPr sz="1313" b="0">
                <a:solidFill>
                  <a:srgbClr val="62666B"/>
                </a:solidFill>
                <a:latin typeface="Roboto"/>
                <a:ea typeface="Roboto"/>
                <a:cs typeface="Roboto"/>
              </a:rPr>
              <a:t>DTM e orthoimage, PSP_010573_1755 e PSP_010639_1755.</a:t>
            </a:r>
          </a:p>
        </p:txBody>
      </p:sp>
      <p:sp>
        <p:nvSpPr>
          <p:cNvPr id="16" name="ref-link-13">
            <a:extLst>
              <a:ext uri="{FF2B5EF4-FFF2-40B4-BE49-F238E27FC236}">
                <a16:creationId xmlns:a16="http://schemas.microsoft.com/office/drawing/2014/main" id="{F1BC0382-0BB2-4157-A408-2479D8E5B8E3}"/>
              </a:ext>
            </a:extLst>
          </p:cNvPr>
          <p:cNvSpPr>
            <a:spLocks noGrp="1"/>
          </p:cNvSpPr>
          <p:nvPr/>
        </p:nvSpPr>
        <p:spPr>
          <a:xfrm>
            <a:off x="1409700" y="4114800"/>
            <a:ext cx="9525000" cy="209550"/>
          </a:xfrm>
          <a:prstGeom prst="rect">
            <a:avLst/>
          </a:prstGeom>
          <a:noFill/>
          <a:ln w="0">
            <a:noFill/>
          </a:ln>
        </p:spPr>
        <p:txBody>
          <a:bodyPr wrap="square" lIns="0" tIns="0" rIns="0" bIns="0" anchor="t">
            <a:noAutofit/>
          </a:bodyPr>
          <a:lstStyle>
            <a:defPPr algn="l">
              <a:defRPr sz="1275" b="0">
                <a:solidFill>
                  <a:srgbClr val="822433"/>
                </a:solidFill>
                <a:latin typeface="Roboto"/>
                <a:ea typeface="Roboto"/>
                <a:cs typeface="Roboto"/>
              </a:defRPr>
            </a:defPPr>
            <a:lvl1pPr algn="l">
              <a:defRPr sz="1275" b="0">
                <a:solidFill>
                  <a:srgbClr val="822433"/>
                </a:solidFill>
                <a:latin typeface="Roboto"/>
                <a:ea typeface="Roboto"/>
                <a:cs typeface="Roboto"/>
              </a:defRPr>
            </a:lvl1pPr>
            <a:lvl2pPr algn="l">
              <a:defRPr sz="1275" b="0">
                <a:solidFill>
                  <a:srgbClr val="822433"/>
                </a:solidFill>
                <a:latin typeface="Roboto"/>
                <a:ea typeface="Roboto"/>
                <a:cs typeface="Roboto"/>
              </a:defRPr>
            </a:lvl2pPr>
            <a:lvl3pPr algn="l">
              <a:defRPr sz="1275" b="0">
                <a:solidFill>
                  <a:srgbClr val="822433"/>
                </a:solidFill>
                <a:latin typeface="Roboto"/>
                <a:ea typeface="Roboto"/>
                <a:cs typeface="Roboto"/>
              </a:defRPr>
            </a:lvl3pPr>
            <a:lvl4pPr algn="l">
              <a:defRPr sz="1275" b="0">
                <a:solidFill>
                  <a:srgbClr val="822433"/>
                </a:solidFill>
                <a:latin typeface="Roboto"/>
                <a:ea typeface="Roboto"/>
                <a:cs typeface="Roboto"/>
              </a:defRPr>
            </a:lvl4pPr>
            <a:lvl5pPr algn="l">
              <a:defRPr sz="1275" b="0">
                <a:solidFill>
                  <a:srgbClr val="822433"/>
                </a:solidFill>
                <a:latin typeface="Roboto"/>
                <a:ea typeface="Roboto"/>
                <a:cs typeface="Roboto"/>
              </a:defRPr>
            </a:lvl5pPr>
            <a:lvl6pPr algn="l">
              <a:defRPr sz="1275" b="0">
                <a:solidFill>
                  <a:srgbClr val="822433"/>
                </a:solidFill>
                <a:latin typeface="Roboto"/>
                <a:ea typeface="Roboto"/>
                <a:cs typeface="Roboto"/>
              </a:defRPr>
            </a:lvl6pPr>
            <a:lvl7pPr algn="l">
              <a:defRPr sz="1275" b="0">
                <a:solidFill>
                  <a:srgbClr val="822433"/>
                </a:solidFill>
                <a:latin typeface="Roboto"/>
                <a:ea typeface="Roboto"/>
                <a:cs typeface="Roboto"/>
              </a:defRPr>
            </a:lvl7pPr>
            <a:lvl8pPr algn="l">
              <a:defRPr sz="1275" b="0">
                <a:solidFill>
                  <a:srgbClr val="822433"/>
                </a:solidFill>
                <a:latin typeface="Roboto"/>
                <a:ea typeface="Roboto"/>
                <a:cs typeface="Roboto"/>
              </a:defRPr>
            </a:lvl8pPr>
            <a:lvl9pPr algn="l">
              <a:defRPr sz="1275" b="0">
                <a:solidFill>
                  <a:srgbClr val="822433"/>
                </a:solidFill>
                <a:latin typeface="Roboto"/>
                <a:ea typeface="Roboto"/>
                <a:cs typeface="Roboto"/>
              </a:defRPr>
            </a:lvl9pPr>
          </a:lstStyle>
          <a:p>
            <a:pPr algn="l">
              <a:defRPr sz="1275" b="0">
                <a:solidFill>
                  <a:srgbClr val="822433"/>
                </a:solidFill>
                <a:latin typeface="Roboto"/>
                <a:ea typeface="Roboto"/>
                <a:cs typeface="Roboto"/>
              </a:defRPr>
            </a:pPr>
            <a:r>
              <a:rPr sz="1275" b="0">
                <a:solidFill>
                  <a:srgbClr val="822433"/>
                </a:solidFill>
                <a:latin typeface="Roboto"/>
                <a:ea typeface="Roboto"/>
                <a:cs typeface="Roboto"/>
                <a:hlinkClick r:id="rId5"/>
              </a:rPr>
              <a:t>hirise.lpl.arizona.edu/dtm/dtm.php?ID=PSP_010573_1755</a:t>
            </a:r>
          </a:p>
        </p:txBody>
      </p:sp>
      <p:sp>
        <p:nvSpPr>
          <p:cNvPr id="17" name="ref-number-14">
            <a:extLst>
              <a:ext uri="{FF2B5EF4-FFF2-40B4-BE49-F238E27FC236}">
                <a16:creationId xmlns:a16="http://schemas.microsoft.com/office/drawing/2014/main" id="{949742DE-86AC-4613-BF7C-CBBBE39C8241}"/>
              </a:ext>
            </a:extLst>
          </p:cNvPr>
          <p:cNvSpPr>
            <a:spLocks noGrp="1"/>
          </p:cNvSpPr>
          <p:nvPr/>
        </p:nvSpPr>
        <p:spPr>
          <a:xfrm>
            <a:off x="857250" y="4381500"/>
            <a:ext cx="495300" cy="333375"/>
          </a:xfrm>
          <a:prstGeom prst="rect">
            <a:avLst/>
          </a:prstGeom>
          <a:noFill/>
          <a:ln w="0">
            <a:noFill/>
          </a:ln>
        </p:spPr>
        <p:txBody>
          <a:bodyPr wrap="square" lIns="0" tIns="0" rIns="0" bIns="0" anchor="t">
            <a:noAutofit/>
          </a:bodyPr>
          <a:lstStyle>
            <a:defPPr algn="l">
              <a:defRPr sz="1650" b="1">
                <a:solidFill>
                  <a:srgbClr val="822433"/>
                </a:solidFill>
                <a:latin typeface="Roboto"/>
                <a:ea typeface="Roboto"/>
                <a:cs typeface="Roboto"/>
              </a:defRPr>
            </a:defPPr>
            <a:lvl1pPr algn="l">
              <a:defRPr sz="1650" b="1">
                <a:solidFill>
                  <a:srgbClr val="822433"/>
                </a:solidFill>
                <a:latin typeface="Roboto"/>
                <a:ea typeface="Roboto"/>
                <a:cs typeface="Roboto"/>
              </a:defRPr>
            </a:lvl1pPr>
            <a:lvl2pPr algn="l">
              <a:defRPr sz="1650" b="1">
                <a:solidFill>
                  <a:srgbClr val="822433"/>
                </a:solidFill>
                <a:latin typeface="Roboto"/>
                <a:ea typeface="Roboto"/>
                <a:cs typeface="Roboto"/>
              </a:defRPr>
            </a:lvl2pPr>
            <a:lvl3pPr algn="l">
              <a:defRPr sz="1650" b="1">
                <a:solidFill>
                  <a:srgbClr val="822433"/>
                </a:solidFill>
                <a:latin typeface="Roboto"/>
                <a:ea typeface="Roboto"/>
                <a:cs typeface="Roboto"/>
              </a:defRPr>
            </a:lvl3pPr>
            <a:lvl4pPr algn="l">
              <a:defRPr sz="1650" b="1">
                <a:solidFill>
                  <a:srgbClr val="822433"/>
                </a:solidFill>
                <a:latin typeface="Roboto"/>
                <a:ea typeface="Roboto"/>
                <a:cs typeface="Roboto"/>
              </a:defRPr>
            </a:lvl4pPr>
            <a:lvl5pPr algn="l">
              <a:defRPr sz="1650" b="1">
                <a:solidFill>
                  <a:srgbClr val="822433"/>
                </a:solidFill>
                <a:latin typeface="Roboto"/>
                <a:ea typeface="Roboto"/>
                <a:cs typeface="Roboto"/>
              </a:defRPr>
            </a:lvl5pPr>
            <a:lvl6pPr algn="l">
              <a:defRPr sz="1650" b="1">
                <a:solidFill>
                  <a:srgbClr val="822433"/>
                </a:solidFill>
                <a:latin typeface="Roboto"/>
                <a:ea typeface="Roboto"/>
                <a:cs typeface="Roboto"/>
              </a:defRPr>
            </a:lvl6pPr>
            <a:lvl7pPr algn="l">
              <a:defRPr sz="1650" b="1">
                <a:solidFill>
                  <a:srgbClr val="822433"/>
                </a:solidFill>
                <a:latin typeface="Roboto"/>
                <a:ea typeface="Roboto"/>
                <a:cs typeface="Roboto"/>
              </a:defRPr>
            </a:lvl7pPr>
            <a:lvl8pPr algn="l">
              <a:defRPr sz="1650" b="1">
                <a:solidFill>
                  <a:srgbClr val="822433"/>
                </a:solidFill>
                <a:latin typeface="Roboto"/>
                <a:ea typeface="Roboto"/>
                <a:cs typeface="Roboto"/>
              </a:defRPr>
            </a:lvl8pPr>
            <a:lvl9pPr algn="l">
              <a:defRPr sz="1650" b="1">
                <a:solidFill>
                  <a:srgbClr val="822433"/>
                </a:solidFill>
                <a:latin typeface="Roboto"/>
                <a:ea typeface="Roboto"/>
                <a:cs typeface="Roboto"/>
              </a:defRPr>
            </a:lvl9pPr>
          </a:lstStyle>
          <a:p>
            <a:pPr algn="l">
              <a:defRPr sz="1650" b="1">
                <a:solidFill>
                  <a:srgbClr val="822433"/>
                </a:solidFill>
                <a:latin typeface="Roboto"/>
                <a:ea typeface="Roboto"/>
                <a:cs typeface="Roboto"/>
              </a:defRPr>
            </a:pPr>
            <a:r>
              <a:rPr sz="1650" b="1">
                <a:solidFill>
                  <a:srgbClr val="822433"/>
                </a:solidFill>
                <a:latin typeface="Roboto"/>
                <a:ea typeface="Roboto"/>
                <a:cs typeface="Roboto"/>
              </a:rPr>
              <a:t>[14]</a:t>
            </a:r>
          </a:p>
        </p:txBody>
      </p:sp>
      <p:sp>
        <p:nvSpPr>
          <p:cNvPr id="18" name="ref-title-14">
            <a:extLst>
              <a:ext uri="{FF2B5EF4-FFF2-40B4-BE49-F238E27FC236}">
                <a16:creationId xmlns:a16="http://schemas.microsoft.com/office/drawing/2014/main" id="{CF456D81-5FE0-4D91-883D-788386BABE6F}"/>
              </a:ext>
            </a:extLst>
          </p:cNvPr>
          <p:cNvSpPr>
            <a:spLocks noGrp="1"/>
          </p:cNvSpPr>
          <p:nvPr/>
        </p:nvSpPr>
        <p:spPr>
          <a:xfrm>
            <a:off x="1409700" y="4381500"/>
            <a:ext cx="9525000" cy="495300"/>
          </a:xfrm>
          <a:prstGeom prst="rect">
            <a:avLst/>
          </a:prstGeom>
          <a:noFill/>
          <a:ln w="0">
            <a:noFill/>
          </a:ln>
        </p:spPr>
        <p:txBody>
          <a:bodyPr wrap="square" lIns="0" tIns="0" rIns="0" bIns="0" anchor="t">
            <a:noAutofit/>
          </a:bodyPr>
          <a:lstStyle>
            <a:defPPr algn="l">
              <a:defRPr sz="1538" b="0">
                <a:solidFill>
                  <a:srgbClr val="202124"/>
                </a:solidFill>
                <a:latin typeface="Roboto"/>
                <a:ea typeface="Roboto"/>
                <a:cs typeface="Roboto"/>
              </a:defRPr>
            </a:defPPr>
            <a:lvl1pPr algn="l">
              <a:defRPr sz="1538" b="0">
                <a:solidFill>
                  <a:srgbClr val="202124"/>
                </a:solidFill>
                <a:latin typeface="Roboto"/>
                <a:ea typeface="Roboto"/>
                <a:cs typeface="Roboto"/>
              </a:defRPr>
            </a:lvl1pPr>
            <a:lvl2pPr algn="l">
              <a:defRPr sz="1538" b="0">
                <a:solidFill>
                  <a:srgbClr val="202124"/>
                </a:solidFill>
                <a:latin typeface="Roboto"/>
                <a:ea typeface="Roboto"/>
                <a:cs typeface="Roboto"/>
              </a:defRPr>
            </a:lvl2pPr>
            <a:lvl3pPr algn="l">
              <a:defRPr sz="1538" b="0">
                <a:solidFill>
                  <a:srgbClr val="202124"/>
                </a:solidFill>
                <a:latin typeface="Roboto"/>
                <a:ea typeface="Roboto"/>
                <a:cs typeface="Roboto"/>
              </a:defRPr>
            </a:lvl3pPr>
            <a:lvl4pPr algn="l">
              <a:defRPr sz="1538" b="0">
                <a:solidFill>
                  <a:srgbClr val="202124"/>
                </a:solidFill>
                <a:latin typeface="Roboto"/>
                <a:ea typeface="Roboto"/>
                <a:cs typeface="Roboto"/>
              </a:defRPr>
            </a:lvl4pPr>
            <a:lvl5pPr algn="l">
              <a:defRPr sz="1538" b="0">
                <a:solidFill>
                  <a:srgbClr val="202124"/>
                </a:solidFill>
                <a:latin typeface="Roboto"/>
                <a:ea typeface="Roboto"/>
                <a:cs typeface="Roboto"/>
              </a:defRPr>
            </a:lvl5pPr>
            <a:lvl6pPr algn="l">
              <a:defRPr sz="1538" b="0">
                <a:solidFill>
                  <a:srgbClr val="202124"/>
                </a:solidFill>
                <a:latin typeface="Roboto"/>
                <a:ea typeface="Roboto"/>
                <a:cs typeface="Roboto"/>
              </a:defRPr>
            </a:lvl6pPr>
            <a:lvl7pPr algn="l">
              <a:defRPr sz="1538" b="0">
                <a:solidFill>
                  <a:srgbClr val="202124"/>
                </a:solidFill>
                <a:latin typeface="Roboto"/>
                <a:ea typeface="Roboto"/>
                <a:cs typeface="Roboto"/>
              </a:defRPr>
            </a:lvl7pPr>
            <a:lvl8pPr algn="l">
              <a:defRPr sz="1538" b="0">
                <a:solidFill>
                  <a:srgbClr val="202124"/>
                </a:solidFill>
                <a:latin typeface="Roboto"/>
                <a:ea typeface="Roboto"/>
                <a:cs typeface="Roboto"/>
              </a:defRPr>
            </a:lvl8pPr>
            <a:lvl9pPr algn="l">
              <a:defRPr sz="1538" b="0">
                <a:solidFill>
                  <a:srgbClr val="202124"/>
                </a:solidFill>
                <a:latin typeface="Roboto"/>
                <a:ea typeface="Roboto"/>
                <a:cs typeface="Roboto"/>
              </a:defRPr>
            </a:lvl9pPr>
          </a:lstStyle>
          <a:p>
            <a:pPr algn="l">
              <a:defRPr sz="1538" b="0">
                <a:solidFill>
                  <a:srgbClr val="202124"/>
                </a:solidFill>
                <a:latin typeface="Roboto"/>
                <a:ea typeface="Roboto"/>
                <a:cs typeface="Roboto"/>
              </a:defRPr>
            </a:pPr>
            <a:r>
              <a:rPr sz="1538" b="0">
                <a:solidFill>
                  <a:srgbClr val="202124"/>
                </a:solidFill>
                <a:latin typeface="Roboto"/>
                <a:ea typeface="Roboto"/>
                <a:cs typeface="Roboto"/>
              </a:rPr>
              <a:t>J. Tobin et al. Domain Randomization for Transferring Deep Neural Networks from Simulation to the Real World.</a:t>
            </a:r>
          </a:p>
        </p:txBody>
      </p:sp>
      <p:sp>
        <p:nvSpPr>
          <p:cNvPr id="19" name="ref-venue-14">
            <a:extLst>
              <a:ext uri="{FF2B5EF4-FFF2-40B4-BE49-F238E27FC236}">
                <a16:creationId xmlns:a16="http://schemas.microsoft.com/office/drawing/2014/main" id="{284138B9-D2C4-4312-8369-FC5ABBDA7740}"/>
              </a:ext>
            </a:extLst>
          </p:cNvPr>
          <p:cNvSpPr>
            <a:spLocks noGrp="1"/>
          </p:cNvSpPr>
          <p:nvPr/>
        </p:nvSpPr>
        <p:spPr>
          <a:xfrm>
            <a:off x="1409700" y="4886325"/>
            <a:ext cx="9525000" cy="219075"/>
          </a:xfrm>
          <a:prstGeom prst="rect">
            <a:avLst/>
          </a:prstGeom>
          <a:noFill/>
          <a:ln w="0">
            <a:noFill/>
          </a:ln>
        </p:spPr>
        <p:txBody>
          <a:bodyPr wrap="square" lIns="0" tIns="0" rIns="0" bIns="0" anchor="t">
            <a:noAutofit/>
          </a:bodyPr>
          <a:lstStyle>
            <a:defPPr algn="l">
              <a:defRPr sz="1313" b="0">
                <a:solidFill>
                  <a:srgbClr val="62666B"/>
                </a:solidFill>
                <a:latin typeface="Roboto"/>
                <a:ea typeface="Roboto"/>
                <a:cs typeface="Roboto"/>
              </a:defRPr>
            </a:defPPr>
            <a:lvl1pPr algn="l">
              <a:defRPr sz="1313" b="0">
                <a:solidFill>
                  <a:srgbClr val="62666B"/>
                </a:solidFill>
                <a:latin typeface="Roboto"/>
                <a:ea typeface="Roboto"/>
                <a:cs typeface="Roboto"/>
              </a:defRPr>
            </a:lvl1pPr>
            <a:lvl2pPr algn="l">
              <a:defRPr sz="1313" b="0">
                <a:solidFill>
                  <a:srgbClr val="62666B"/>
                </a:solidFill>
                <a:latin typeface="Roboto"/>
                <a:ea typeface="Roboto"/>
                <a:cs typeface="Roboto"/>
              </a:defRPr>
            </a:lvl2pPr>
            <a:lvl3pPr algn="l">
              <a:defRPr sz="1313" b="0">
                <a:solidFill>
                  <a:srgbClr val="62666B"/>
                </a:solidFill>
                <a:latin typeface="Roboto"/>
                <a:ea typeface="Roboto"/>
                <a:cs typeface="Roboto"/>
              </a:defRPr>
            </a:lvl3pPr>
            <a:lvl4pPr algn="l">
              <a:defRPr sz="1313" b="0">
                <a:solidFill>
                  <a:srgbClr val="62666B"/>
                </a:solidFill>
                <a:latin typeface="Roboto"/>
                <a:ea typeface="Roboto"/>
                <a:cs typeface="Roboto"/>
              </a:defRPr>
            </a:lvl4pPr>
            <a:lvl5pPr algn="l">
              <a:defRPr sz="1313" b="0">
                <a:solidFill>
                  <a:srgbClr val="62666B"/>
                </a:solidFill>
                <a:latin typeface="Roboto"/>
                <a:ea typeface="Roboto"/>
                <a:cs typeface="Roboto"/>
              </a:defRPr>
            </a:lvl5pPr>
            <a:lvl6pPr algn="l">
              <a:defRPr sz="1313" b="0">
                <a:solidFill>
                  <a:srgbClr val="62666B"/>
                </a:solidFill>
                <a:latin typeface="Roboto"/>
                <a:ea typeface="Roboto"/>
                <a:cs typeface="Roboto"/>
              </a:defRPr>
            </a:lvl6pPr>
            <a:lvl7pPr algn="l">
              <a:defRPr sz="1313" b="0">
                <a:solidFill>
                  <a:srgbClr val="62666B"/>
                </a:solidFill>
                <a:latin typeface="Roboto"/>
                <a:ea typeface="Roboto"/>
                <a:cs typeface="Roboto"/>
              </a:defRPr>
            </a:lvl7pPr>
            <a:lvl8pPr algn="l">
              <a:defRPr sz="1313" b="0">
                <a:solidFill>
                  <a:srgbClr val="62666B"/>
                </a:solidFill>
                <a:latin typeface="Roboto"/>
                <a:ea typeface="Roboto"/>
                <a:cs typeface="Roboto"/>
              </a:defRPr>
            </a:lvl8pPr>
            <a:lvl9pPr algn="l">
              <a:defRPr sz="1313" b="0">
                <a:solidFill>
                  <a:srgbClr val="62666B"/>
                </a:solidFill>
                <a:latin typeface="Roboto"/>
                <a:ea typeface="Roboto"/>
                <a:cs typeface="Roboto"/>
              </a:defRPr>
            </a:lvl9pPr>
          </a:lstStyle>
          <a:p>
            <a:pPr algn="l">
              <a:defRPr sz="1313" b="0">
                <a:solidFill>
                  <a:srgbClr val="62666B"/>
                </a:solidFill>
                <a:latin typeface="Roboto"/>
                <a:ea typeface="Roboto"/>
                <a:cs typeface="Roboto"/>
              </a:defRPr>
            </a:pPr>
            <a:r>
              <a:rPr sz="1313" b="0">
                <a:solidFill>
                  <a:srgbClr val="62666B"/>
                </a:solidFill>
                <a:latin typeface="Roboto"/>
                <a:ea typeface="Roboto"/>
                <a:cs typeface="Roboto"/>
              </a:rPr>
              <a:t>IEEE/RSJ IROS, 2017, pp. 23–30.</a:t>
            </a:r>
          </a:p>
        </p:txBody>
      </p:sp>
      <p:sp>
        <p:nvSpPr>
          <p:cNvPr id="20" name="ref-link-14">
            <a:extLst>
              <a:ext uri="{FF2B5EF4-FFF2-40B4-BE49-F238E27FC236}">
                <a16:creationId xmlns:a16="http://schemas.microsoft.com/office/drawing/2014/main" id="{36759655-6702-4D1C-AF71-2AE616243CA5}"/>
              </a:ext>
            </a:extLst>
          </p:cNvPr>
          <p:cNvSpPr>
            <a:spLocks noGrp="1"/>
          </p:cNvSpPr>
          <p:nvPr/>
        </p:nvSpPr>
        <p:spPr>
          <a:xfrm>
            <a:off x="1409700" y="5105400"/>
            <a:ext cx="9525000" cy="209550"/>
          </a:xfrm>
          <a:prstGeom prst="rect">
            <a:avLst/>
          </a:prstGeom>
          <a:noFill/>
          <a:ln w="0">
            <a:noFill/>
          </a:ln>
        </p:spPr>
        <p:txBody>
          <a:bodyPr wrap="square" lIns="0" tIns="0" rIns="0" bIns="0" anchor="t">
            <a:noAutofit/>
          </a:bodyPr>
          <a:lstStyle>
            <a:defPPr algn="l">
              <a:defRPr sz="1275" b="0">
                <a:solidFill>
                  <a:srgbClr val="822433"/>
                </a:solidFill>
                <a:latin typeface="Roboto"/>
                <a:ea typeface="Roboto"/>
                <a:cs typeface="Roboto"/>
              </a:defRPr>
            </a:defPPr>
            <a:lvl1pPr algn="l">
              <a:defRPr sz="1275" b="0">
                <a:solidFill>
                  <a:srgbClr val="822433"/>
                </a:solidFill>
                <a:latin typeface="Roboto"/>
                <a:ea typeface="Roboto"/>
                <a:cs typeface="Roboto"/>
              </a:defRPr>
            </a:lvl1pPr>
            <a:lvl2pPr algn="l">
              <a:defRPr sz="1275" b="0">
                <a:solidFill>
                  <a:srgbClr val="822433"/>
                </a:solidFill>
                <a:latin typeface="Roboto"/>
                <a:ea typeface="Roboto"/>
                <a:cs typeface="Roboto"/>
              </a:defRPr>
            </a:lvl2pPr>
            <a:lvl3pPr algn="l">
              <a:defRPr sz="1275" b="0">
                <a:solidFill>
                  <a:srgbClr val="822433"/>
                </a:solidFill>
                <a:latin typeface="Roboto"/>
                <a:ea typeface="Roboto"/>
                <a:cs typeface="Roboto"/>
              </a:defRPr>
            </a:lvl3pPr>
            <a:lvl4pPr algn="l">
              <a:defRPr sz="1275" b="0">
                <a:solidFill>
                  <a:srgbClr val="822433"/>
                </a:solidFill>
                <a:latin typeface="Roboto"/>
                <a:ea typeface="Roboto"/>
                <a:cs typeface="Roboto"/>
              </a:defRPr>
            </a:lvl4pPr>
            <a:lvl5pPr algn="l">
              <a:defRPr sz="1275" b="0">
                <a:solidFill>
                  <a:srgbClr val="822433"/>
                </a:solidFill>
                <a:latin typeface="Roboto"/>
                <a:ea typeface="Roboto"/>
                <a:cs typeface="Roboto"/>
              </a:defRPr>
            </a:lvl5pPr>
            <a:lvl6pPr algn="l">
              <a:defRPr sz="1275" b="0">
                <a:solidFill>
                  <a:srgbClr val="822433"/>
                </a:solidFill>
                <a:latin typeface="Roboto"/>
                <a:ea typeface="Roboto"/>
                <a:cs typeface="Roboto"/>
              </a:defRPr>
            </a:lvl6pPr>
            <a:lvl7pPr algn="l">
              <a:defRPr sz="1275" b="0">
                <a:solidFill>
                  <a:srgbClr val="822433"/>
                </a:solidFill>
                <a:latin typeface="Roboto"/>
                <a:ea typeface="Roboto"/>
                <a:cs typeface="Roboto"/>
              </a:defRPr>
            </a:lvl7pPr>
            <a:lvl8pPr algn="l">
              <a:defRPr sz="1275" b="0">
                <a:solidFill>
                  <a:srgbClr val="822433"/>
                </a:solidFill>
                <a:latin typeface="Roboto"/>
                <a:ea typeface="Roboto"/>
                <a:cs typeface="Roboto"/>
              </a:defRPr>
            </a:lvl8pPr>
            <a:lvl9pPr algn="l">
              <a:defRPr sz="1275" b="0">
                <a:solidFill>
                  <a:srgbClr val="822433"/>
                </a:solidFill>
                <a:latin typeface="Roboto"/>
                <a:ea typeface="Roboto"/>
                <a:cs typeface="Roboto"/>
              </a:defRPr>
            </a:lvl9pPr>
          </a:lstStyle>
          <a:p>
            <a:pPr algn="l">
              <a:defRPr sz="1275" b="0">
                <a:solidFill>
                  <a:srgbClr val="822433"/>
                </a:solidFill>
                <a:latin typeface="Roboto"/>
                <a:ea typeface="Roboto"/>
                <a:cs typeface="Roboto"/>
              </a:defRPr>
            </a:pPr>
            <a:r>
              <a:rPr sz="1275" b="0">
                <a:solidFill>
                  <a:srgbClr val="822433"/>
                </a:solidFill>
                <a:latin typeface="Roboto"/>
                <a:ea typeface="Roboto"/>
                <a:cs typeface="Roboto"/>
                <a:hlinkClick r:id="rId6"/>
              </a:rPr>
              <a:t>doi: 10.1109/IROS.2017.8202133</a:t>
            </a:r>
          </a:p>
        </p:txBody>
      </p:sp>
      <p:sp>
        <p:nvSpPr>
          <p:cNvPr id="21" name="ref-number-15">
            <a:extLst>
              <a:ext uri="{FF2B5EF4-FFF2-40B4-BE49-F238E27FC236}">
                <a16:creationId xmlns:a16="http://schemas.microsoft.com/office/drawing/2014/main" id="{2A4CF9FE-6A59-4EE2-A535-9CC60187B025}"/>
              </a:ext>
            </a:extLst>
          </p:cNvPr>
          <p:cNvSpPr>
            <a:spLocks noGrp="1"/>
          </p:cNvSpPr>
          <p:nvPr/>
        </p:nvSpPr>
        <p:spPr>
          <a:xfrm>
            <a:off x="857250" y="5372100"/>
            <a:ext cx="495300" cy="333375"/>
          </a:xfrm>
          <a:prstGeom prst="rect">
            <a:avLst/>
          </a:prstGeom>
          <a:noFill/>
          <a:ln w="0">
            <a:noFill/>
          </a:ln>
        </p:spPr>
        <p:txBody>
          <a:bodyPr wrap="square" lIns="0" tIns="0" rIns="0" bIns="0" anchor="t">
            <a:noAutofit/>
          </a:bodyPr>
          <a:lstStyle>
            <a:defPPr algn="l">
              <a:defRPr sz="1650" b="1">
                <a:solidFill>
                  <a:srgbClr val="822433"/>
                </a:solidFill>
                <a:latin typeface="Roboto"/>
                <a:ea typeface="Roboto"/>
                <a:cs typeface="Roboto"/>
              </a:defRPr>
            </a:defPPr>
            <a:lvl1pPr algn="l">
              <a:defRPr sz="1650" b="1">
                <a:solidFill>
                  <a:srgbClr val="822433"/>
                </a:solidFill>
                <a:latin typeface="Roboto"/>
                <a:ea typeface="Roboto"/>
                <a:cs typeface="Roboto"/>
              </a:defRPr>
            </a:lvl1pPr>
            <a:lvl2pPr algn="l">
              <a:defRPr sz="1650" b="1">
                <a:solidFill>
                  <a:srgbClr val="822433"/>
                </a:solidFill>
                <a:latin typeface="Roboto"/>
                <a:ea typeface="Roboto"/>
                <a:cs typeface="Roboto"/>
              </a:defRPr>
            </a:lvl2pPr>
            <a:lvl3pPr algn="l">
              <a:defRPr sz="1650" b="1">
                <a:solidFill>
                  <a:srgbClr val="822433"/>
                </a:solidFill>
                <a:latin typeface="Roboto"/>
                <a:ea typeface="Roboto"/>
                <a:cs typeface="Roboto"/>
              </a:defRPr>
            </a:lvl3pPr>
            <a:lvl4pPr algn="l">
              <a:defRPr sz="1650" b="1">
                <a:solidFill>
                  <a:srgbClr val="822433"/>
                </a:solidFill>
                <a:latin typeface="Roboto"/>
                <a:ea typeface="Roboto"/>
                <a:cs typeface="Roboto"/>
              </a:defRPr>
            </a:lvl4pPr>
            <a:lvl5pPr algn="l">
              <a:defRPr sz="1650" b="1">
                <a:solidFill>
                  <a:srgbClr val="822433"/>
                </a:solidFill>
                <a:latin typeface="Roboto"/>
                <a:ea typeface="Roboto"/>
                <a:cs typeface="Roboto"/>
              </a:defRPr>
            </a:lvl5pPr>
            <a:lvl6pPr algn="l">
              <a:defRPr sz="1650" b="1">
                <a:solidFill>
                  <a:srgbClr val="822433"/>
                </a:solidFill>
                <a:latin typeface="Roboto"/>
                <a:ea typeface="Roboto"/>
                <a:cs typeface="Roboto"/>
              </a:defRPr>
            </a:lvl6pPr>
            <a:lvl7pPr algn="l">
              <a:defRPr sz="1650" b="1">
                <a:solidFill>
                  <a:srgbClr val="822433"/>
                </a:solidFill>
                <a:latin typeface="Roboto"/>
                <a:ea typeface="Roboto"/>
                <a:cs typeface="Roboto"/>
              </a:defRPr>
            </a:lvl7pPr>
            <a:lvl8pPr algn="l">
              <a:defRPr sz="1650" b="1">
                <a:solidFill>
                  <a:srgbClr val="822433"/>
                </a:solidFill>
                <a:latin typeface="Roboto"/>
                <a:ea typeface="Roboto"/>
                <a:cs typeface="Roboto"/>
              </a:defRPr>
            </a:lvl8pPr>
            <a:lvl9pPr algn="l">
              <a:defRPr sz="1650" b="1">
                <a:solidFill>
                  <a:srgbClr val="822433"/>
                </a:solidFill>
                <a:latin typeface="Roboto"/>
                <a:ea typeface="Roboto"/>
                <a:cs typeface="Roboto"/>
              </a:defRPr>
            </a:lvl9pPr>
          </a:lstStyle>
          <a:p>
            <a:pPr algn="l">
              <a:defRPr sz="1650" b="1">
                <a:solidFill>
                  <a:srgbClr val="822433"/>
                </a:solidFill>
                <a:latin typeface="Roboto"/>
                <a:ea typeface="Roboto"/>
                <a:cs typeface="Roboto"/>
              </a:defRPr>
            </a:pPr>
            <a:r>
              <a:rPr sz="1650" b="1">
                <a:solidFill>
                  <a:srgbClr val="822433"/>
                </a:solidFill>
                <a:latin typeface="Roboto"/>
                <a:ea typeface="Roboto"/>
                <a:cs typeface="Roboto"/>
              </a:rPr>
              <a:t>[15]</a:t>
            </a:r>
          </a:p>
        </p:txBody>
      </p:sp>
      <p:sp>
        <p:nvSpPr>
          <p:cNvPr id="22" name="ref-title-15">
            <a:extLst>
              <a:ext uri="{FF2B5EF4-FFF2-40B4-BE49-F238E27FC236}">
                <a16:creationId xmlns:a16="http://schemas.microsoft.com/office/drawing/2014/main" id="{55D06F84-68F7-458B-B10B-A30656784D5C}"/>
              </a:ext>
            </a:extLst>
          </p:cNvPr>
          <p:cNvSpPr>
            <a:spLocks noGrp="1"/>
          </p:cNvSpPr>
          <p:nvPr/>
        </p:nvSpPr>
        <p:spPr>
          <a:xfrm>
            <a:off x="1409700" y="5372100"/>
            <a:ext cx="9525000" cy="495300"/>
          </a:xfrm>
          <a:prstGeom prst="rect">
            <a:avLst/>
          </a:prstGeom>
          <a:noFill/>
          <a:ln w="0">
            <a:noFill/>
          </a:ln>
        </p:spPr>
        <p:txBody>
          <a:bodyPr wrap="square" lIns="0" tIns="0" rIns="0" bIns="0" anchor="t">
            <a:noAutofit/>
          </a:bodyPr>
          <a:lstStyle>
            <a:defPPr algn="l">
              <a:defRPr sz="1538" b="0">
                <a:solidFill>
                  <a:srgbClr val="202124"/>
                </a:solidFill>
                <a:latin typeface="Roboto"/>
                <a:ea typeface="Roboto"/>
                <a:cs typeface="Roboto"/>
              </a:defRPr>
            </a:defPPr>
            <a:lvl1pPr algn="l">
              <a:defRPr sz="1538" b="0">
                <a:solidFill>
                  <a:srgbClr val="202124"/>
                </a:solidFill>
                <a:latin typeface="Roboto"/>
                <a:ea typeface="Roboto"/>
                <a:cs typeface="Roboto"/>
              </a:defRPr>
            </a:lvl1pPr>
            <a:lvl2pPr algn="l">
              <a:defRPr sz="1538" b="0">
                <a:solidFill>
                  <a:srgbClr val="202124"/>
                </a:solidFill>
                <a:latin typeface="Roboto"/>
                <a:ea typeface="Roboto"/>
                <a:cs typeface="Roboto"/>
              </a:defRPr>
            </a:lvl2pPr>
            <a:lvl3pPr algn="l">
              <a:defRPr sz="1538" b="0">
                <a:solidFill>
                  <a:srgbClr val="202124"/>
                </a:solidFill>
                <a:latin typeface="Roboto"/>
                <a:ea typeface="Roboto"/>
                <a:cs typeface="Roboto"/>
              </a:defRPr>
            </a:lvl3pPr>
            <a:lvl4pPr algn="l">
              <a:defRPr sz="1538" b="0">
                <a:solidFill>
                  <a:srgbClr val="202124"/>
                </a:solidFill>
                <a:latin typeface="Roboto"/>
                <a:ea typeface="Roboto"/>
                <a:cs typeface="Roboto"/>
              </a:defRPr>
            </a:lvl4pPr>
            <a:lvl5pPr algn="l">
              <a:defRPr sz="1538" b="0">
                <a:solidFill>
                  <a:srgbClr val="202124"/>
                </a:solidFill>
                <a:latin typeface="Roboto"/>
                <a:ea typeface="Roboto"/>
                <a:cs typeface="Roboto"/>
              </a:defRPr>
            </a:lvl5pPr>
            <a:lvl6pPr algn="l">
              <a:defRPr sz="1538" b="0">
                <a:solidFill>
                  <a:srgbClr val="202124"/>
                </a:solidFill>
                <a:latin typeface="Roboto"/>
                <a:ea typeface="Roboto"/>
                <a:cs typeface="Roboto"/>
              </a:defRPr>
            </a:lvl6pPr>
            <a:lvl7pPr algn="l">
              <a:defRPr sz="1538" b="0">
                <a:solidFill>
                  <a:srgbClr val="202124"/>
                </a:solidFill>
                <a:latin typeface="Roboto"/>
                <a:ea typeface="Roboto"/>
                <a:cs typeface="Roboto"/>
              </a:defRPr>
            </a:lvl7pPr>
            <a:lvl8pPr algn="l">
              <a:defRPr sz="1538" b="0">
                <a:solidFill>
                  <a:srgbClr val="202124"/>
                </a:solidFill>
                <a:latin typeface="Roboto"/>
                <a:ea typeface="Roboto"/>
                <a:cs typeface="Roboto"/>
              </a:defRPr>
            </a:lvl8pPr>
            <a:lvl9pPr algn="l">
              <a:defRPr sz="1538" b="0">
                <a:solidFill>
                  <a:srgbClr val="202124"/>
                </a:solidFill>
                <a:latin typeface="Roboto"/>
                <a:ea typeface="Roboto"/>
                <a:cs typeface="Roboto"/>
              </a:defRPr>
            </a:lvl9pPr>
          </a:lstStyle>
          <a:p>
            <a:pPr algn="l">
              <a:defRPr sz="1538" b="0">
                <a:solidFill>
                  <a:srgbClr val="202124"/>
                </a:solidFill>
                <a:latin typeface="Roboto"/>
                <a:ea typeface="Roboto"/>
                <a:cs typeface="Roboto"/>
              </a:defRPr>
            </a:pPr>
            <a:r>
              <a:rPr sz="1538" b="0">
                <a:solidFill>
                  <a:srgbClr val="202124"/>
                </a:solidFill>
                <a:latin typeface="Roboto"/>
                <a:ea typeface="Roboto"/>
                <a:cs typeface="Roboto"/>
              </a:rPr>
              <a:t>P. Bergmann et al. MVTec AD: A Comprehensive Real-World Dataset for Unsupervised Anomaly Detection.</a:t>
            </a:r>
          </a:p>
        </p:txBody>
      </p:sp>
      <p:sp>
        <p:nvSpPr>
          <p:cNvPr id="23" name="ref-venue-15">
            <a:extLst>
              <a:ext uri="{FF2B5EF4-FFF2-40B4-BE49-F238E27FC236}">
                <a16:creationId xmlns:a16="http://schemas.microsoft.com/office/drawing/2014/main" id="{924065EB-1C0D-4744-952E-780D7E0975D5}"/>
              </a:ext>
            </a:extLst>
          </p:cNvPr>
          <p:cNvSpPr>
            <a:spLocks noGrp="1"/>
          </p:cNvSpPr>
          <p:nvPr/>
        </p:nvSpPr>
        <p:spPr>
          <a:xfrm>
            <a:off x="1409700" y="5876925"/>
            <a:ext cx="9525000" cy="219075"/>
          </a:xfrm>
          <a:prstGeom prst="rect">
            <a:avLst/>
          </a:prstGeom>
          <a:noFill/>
          <a:ln w="0">
            <a:noFill/>
          </a:ln>
        </p:spPr>
        <p:txBody>
          <a:bodyPr wrap="square" lIns="0" tIns="0" rIns="0" bIns="0" anchor="t">
            <a:noAutofit/>
          </a:bodyPr>
          <a:lstStyle>
            <a:defPPr algn="l">
              <a:defRPr sz="1313" b="0">
                <a:solidFill>
                  <a:srgbClr val="62666B"/>
                </a:solidFill>
                <a:latin typeface="Roboto"/>
                <a:ea typeface="Roboto"/>
                <a:cs typeface="Roboto"/>
              </a:defRPr>
            </a:defPPr>
            <a:lvl1pPr algn="l">
              <a:defRPr sz="1313" b="0">
                <a:solidFill>
                  <a:srgbClr val="62666B"/>
                </a:solidFill>
                <a:latin typeface="Roboto"/>
                <a:ea typeface="Roboto"/>
                <a:cs typeface="Roboto"/>
              </a:defRPr>
            </a:lvl1pPr>
            <a:lvl2pPr algn="l">
              <a:defRPr sz="1313" b="0">
                <a:solidFill>
                  <a:srgbClr val="62666B"/>
                </a:solidFill>
                <a:latin typeface="Roboto"/>
                <a:ea typeface="Roboto"/>
                <a:cs typeface="Roboto"/>
              </a:defRPr>
            </a:lvl2pPr>
            <a:lvl3pPr algn="l">
              <a:defRPr sz="1313" b="0">
                <a:solidFill>
                  <a:srgbClr val="62666B"/>
                </a:solidFill>
                <a:latin typeface="Roboto"/>
                <a:ea typeface="Roboto"/>
                <a:cs typeface="Roboto"/>
              </a:defRPr>
            </a:lvl3pPr>
            <a:lvl4pPr algn="l">
              <a:defRPr sz="1313" b="0">
                <a:solidFill>
                  <a:srgbClr val="62666B"/>
                </a:solidFill>
                <a:latin typeface="Roboto"/>
                <a:ea typeface="Roboto"/>
                <a:cs typeface="Roboto"/>
              </a:defRPr>
            </a:lvl4pPr>
            <a:lvl5pPr algn="l">
              <a:defRPr sz="1313" b="0">
                <a:solidFill>
                  <a:srgbClr val="62666B"/>
                </a:solidFill>
                <a:latin typeface="Roboto"/>
                <a:ea typeface="Roboto"/>
                <a:cs typeface="Roboto"/>
              </a:defRPr>
            </a:lvl5pPr>
            <a:lvl6pPr algn="l">
              <a:defRPr sz="1313" b="0">
                <a:solidFill>
                  <a:srgbClr val="62666B"/>
                </a:solidFill>
                <a:latin typeface="Roboto"/>
                <a:ea typeface="Roboto"/>
                <a:cs typeface="Roboto"/>
              </a:defRPr>
            </a:lvl6pPr>
            <a:lvl7pPr algn="l">
              <a:defRPr sz="1313" b="0">
                <a:solidFill>
                  <a:srgbClr val="62666B"/>
                </a:solidFill>
                <a:latin typeface="Roboto"/>
                <a:ea typeface="Roboto"/>
                <a:cs typeface="Roboto"/>
              </a:defRPr>
            </a:lvl7pPr>
            <a:lvl8pPr algn="l">
              <a:defRPr sz="1313" b="0">
                <a:solidFill>
                  <a:srgbClr val="62666B"/>
                </a:solidFill>
                <a:latin typeface="Roboto"/>
                <a:ea typeface="Roboto"/>
                <a:cs typeface="Roboto"/>
              </a:defRPr>
            </a:lvl8pPr>
            <a:lvl9pPr algn="l">
              <a:defRPr sz="1313" b="0">
                <a:solidFill>
                  <a:srgbClr val="62666B"/>
                </a:solidFill>
                <a:latin typeface="Roboto"/>
                <a:ea typeface="Roboto"/>
                <a:cs typeface="Roboto"/>
              </a:defRPr>
            </a:lvl9pPr>
          </a:lstStyle>
          <a:p>
            <a:pPr algn="l">
              <a:defRPr sz="1313" b="0">
                <a:solidFill>
                  <a:srgbClr val="62666B"/>
                </a:solidFill>
                <a:latin typeface="Roboto"/>
                <a:ea typeface="Roboto"/>
                <a:cs typeface="Roboto"/>
              </a:defRPr>
            </a:pPr>
            <a:r>
              <a:rPr sz="1313" b="0">
                <a:solidFill>
                  <a:srgbClr val="62666B"/>
                </a:solidFill>
                <a:latin typeface="Roboto"/>
                <a:ea typeface="Roboto"/>
                <a:cs typeface="Roboto"/>
              </a:rPr>
              <a:t>CVPR, 2019, pp. 9584–9592.</a:t>
            </a:r>
          </a:p>
        </p:txBody>
      </p:sp>
      <p:sp>
        <p:nvSpPr>
          <p:cNvPr id="24" name="ref-link-15">
            <a:extLst>
              <a:ext uri="{FF2B5EF4-FFF2-40B4-BE49-F238E27FC236}">
                <a16:creationId xmlns:a16="http://schemas.microsoft.com/office/drawing/2014/main" id="{7D43D73C-F72F-4B15-856E-993BE95570F6}"/>
              </a:ext>
            </a:extLst>
          </p:cNvPr>
          <p:cNvSpPr>
            <a:spLocks noGrp="1"/>
          </p:cNvSpPr>
          <p:nvPr/>
        </p:nvSpPr>
        <p:spPr>
          <a:xfrm>
            <a:off x="1409700" y="6096000"/>
            <a:ext cx="9525000" cy="209550"/>
          </a:xfrm>
          <a:prstGeom prst="rect">
            <a:avLst/>
          </a:prstGeom>
          <a:noFill/>
          <a:ln w="0">
            <a:noFill/>
          </a:ln>
        </p:spPr>
        <p:txBody>
          <a:bodyPr wrap="square" lIns="0" tIns="0" rIns="0" bIns="0" anchor="t">
            <a:noAutofit/>
          </a:bodyPr>
          <a:lstStyle>
            <a:defPPr algn="l">
              <a:defRPr sz="1275" b="0">
                <a:solidFill>
                  <a:srgbClr val="822433"/>
                </a:solidFill>
                <a:latin typeface="Roboto"/>
                <a:ea typeface="Roboto"/>
                <a:cs typeface="Roboto"/>
              </a:defRPr>
            </a:defPPr>
            <a:lvl1pPr algn="l">
              <a:defRPr sz="1275" b="0">
                <a:solidFill>
                  <a:srgbClr val="822433"/>
                </a:solidFill>
                <a:latin typeface="Roboto"/>
                <a:ea typeface="Roboto"/>
                <a:cs typeface="Roboto"/>
              </a:defRPr>
            </a:lvl1pPr>
            <a:lvl2pPr algn="l">
              <a:defRPr sz="1275" b="0">
                <a:solidFill>
                  <a:srgbClr val="822433"/>
                </a:solidFill>
                <a:latin typeface="Roboto"/>
                <a:ea typeface="Roboto"/>
                <a:cs typeface="Roboto"/>
              </a:defRPr>
            </a:lvl2pPr>
            <a:lvl3pPr algn="l">
              <a:defRPr sz="1275" b="0">
                <a:solidFill>
                  <a:srgbClr val="822433"/>
                </a:solidFill>
                <a:latin typeface="Roboto"/>
                <a:ea typeface="Roboto"/>
                <a:cs typeface="Roboto"/>
              </a:defRPr>
            </a:lvl3pPr>
            <a:lvl4pPr algn="l">
              <a:defRPr sz="1275" b="0">
                <a:solidFill>
                  <a:srgbClr val="822433"/>
                </a:solidFill>
                <a:latin typeface="Roboto"/>
                <a:ea typeface="Roboto"/>
                <a:cs typeface="Roboto"/>
              </a:defRPr>
            </a:lvl4pPr>
            <a:lvl5pPr algn="l">
              <a:defRPr sz="1275" b="0">
                <a:solidFill>
                  <a:srgbClr val="822433"/>
                </a:solidFill>
                <a:latin typeface="Roboto"/>
                <a:ea typeface="Roboto"/>
                <a:cs typeface="Roboto"/>
              </a:defRPr>
            </a:lvl5pPr>
            <a:lvl6pPr algn="l">
              <a:defRPr sz="1275" b="0">
                <a:solidFill>
                  <a:srgbClr val="822433"/>
                </a:solidFill>
                <a:latin typeface="Roboto"/>
                <a:ea typeface="Roboto"/>
                <a:cs typeface="Roboto"/>
              </a:defRPr>
            </a:lvl6pPr>
            <a:lvl7pPr algn="l">
              <a:defRPr sz="1275" b="0">
                <a:solidFill>
                  <a:srgbClr val="822433"/>
                </a:solidFill>
                <a:latin typeface="Roboto"/>
                <a:ea typeface="Roboto"/>
                <a:cs typeface="Roboto"/>
              </a:defRPr>
            </a:lvl7pPr>
            <a:lvl8pPr algn="l">
              <a:defRPr sz="1275" b="0">
                <a:solidFill>
                  <a:srgbClr val="822433"/>
                </a:solidFill>
                <a:latin typeface="Roboto"/>
                <a:ea typeface="Roboto"/>
                <a:cs typeface="Roboto"/>
              </a:defRPr>
            </a:lvl8pPr>
            <a:lvl9pPr algn="l">
              <a:defRPr sz="1275" b="0">
                <a:solidFill>
                  <a:srgbClr val="822433"/>
                </a:solidFill>
                <a:latin typeface="Roboto"/>
                <a:ea typeface="Roboto"/>
                <a:cs typeface="Roboto"/>
              </a:defRPr>
            </a:lvl9pPr>
          </a:lstStyle>
          <a:p>
            <a:pPr algn="l">
              <a:defRPr sz="1275" b="0">
                <a:solidFill>
                  <a:srgbClr val="822433"/>
                </a:solidFill>
                <a:latin typeface="Roboto"/>
                <a:ea typeface="Roboto"/>
                <a:cs typeface="Roboto"/>
              </a:defRPr>
            </a:pPr>
            <a:r>
              <a:rPr sz="1275" b="0">
                <a:solidFill>
                  <a:srgbClr val="822433"/>
                </a:solidFill>
                <a:latin typeface="Roboto"/>
                <a:ea typeface="Roboto"/>
                <a:cs typeface="Roboto"/>
                <a:hlinkClick r:id="rId7"/>
              </a:rPr>
              <a:t>doi: 10.1109/CVPR.2019.00982</a:t>
            </a:r>
          </a:p>
        </p:txBody>
      </p:sp>
    </p:spTree>
    <p:extLst>
      <p:ext uri="{BB962C8B-B14F-4D97-AF65-F5344CB8AC3E}">
        <p14:creationId xmlns:p14="http://schemas.microsoft.com/office/powerpoint/2010/main" val="2223438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title">
            <a:extLst>
              <a:ext uri="{FF2B5EF4-FFF2-40B4-BE49-F238E27FC236}">
                <a16:creationId xmlns:a16="http://schemas.microsoft.com/office/drawing/2014/main" id="{035783F3-F2E2-4006-AB8C-32591F528B88}"/>
              </a:ext>
            </a:extLst>
          </p:cNvPr>
          <p:cNvSpPr>
            <a:spLocks noGrp="1"/>
          </p:cNvSpPr>
          <p:nvPr/>
        </p:nvSpPr>
        <p:spPr>
          <a:xfrm>
            <a:off x="838200" y="466725"/>
            <a:ext cx="9858375" cy="857250"/>
          </a:xfrm>
          <a:prstGeom prst="rect">
            <a:avLst/>
          </a:prstGeom>
          <a:noFill/>
          <a:ln w="0">
            <a:noFill/>
          </a:ln>
        </p:spPr>
        <p:txBody>
          <a:bodyPr wrap="square" lIns="0" tIns="0" rIns="0" bIns="0" anchor="t">
            <a:noAutofit/>
          </a:bodyPr>
          <a:lstStyle>
            <a:defPPr algn="l">
              <a:defRPr sz="3200" b="1">
                <a:solidFill>
                  <a:srgbClr val="822433"/>
                </a:solidFill>
                <a:latin typeface="Roboto"/>
                <a:ea typeface="Roboto"/>
                <a:cs typeface="Roboto"/>
              </a:defRPr>
            </a:defPPr>
            <a:lvl1pPr algn="l">
              <a:defRPr sz="3200" b="1">
                <a:solidFill>
                  <a:srgbClr val="822433"/>
                </a:solidFill>
                <a:latin typeface="Roboto"/>
                <a:ea typeface="Roboto"/>
                <a:cs typeface="Roboto"/>
              </a:defRPr>
            </a:lvl1pPr>
            <a:lvl2pPr algn="l">
              <a:defRPr sz="3200" b="1">
                <a:solidFill>
                  <a:srgbClr val="822433"/>
                </a:solidFill>
                <a:latin typeface="Roboto"/>
                <a:ea typeface="Roboto"/>
                <a:cs typeface="Roboto"/>
              </a:defRPr>
            </a:lvl2pPr>
            <a:lvl3pPr algn="l">
              <a:defRPr sz="3200" b="1">
                <a:solidFill>
                  <a:srgbClr val="822433"/>
                </a:solidFill>
                <a:latin typeface="Roboto"/>
                <a:ea typeface="Roboto"/>
                <a:cs typeface="Roboto"/>
              </a:defRPr>
            </a:lvl3pPr>
            <a:lvl4pPr algn="l">
              <a:defRPr sz="3200" b="1">
                <a:solidFill>
                  <a:srgbClr val="822433"/>
                </a:solidFill>
                <a:latin typeface="Roboto"/>
                <a:ea typeface="Roboto"/>
                <a:cs typeface="Roboto"/>
              </a:defRPr>
            </a:lvl4pPr>
            <a:lvl5pPr algn="l">
              <a:defRPr sz="3200" b="1">
                <a:solidFill>
                  <a:srgbClr val="822433"/>
                </a:solidFill>
                <a:latin typeface="Roboto"/>
                <a:ea typeface="Roboto"/>
                <a:cs typeface="Roboto"/>
              </a:defRPr>
            </a:lvl5pPr>
            <a:lvl6pPr algn="l">
              <a:defRPr sz="3200" b="1">
                <a:solidFill>
                  <a:srgbClr val="822433"/>
                </a:solidFill>
                <a:latin typeface="Roboto"/>
                <a:ea typeface="Roboto"/>
                <a:cs typeface="Roboto"/>
              </a:defRPr>
            </a:lvl6pPr>
            <a:lvl7pPr algn="l">
              <a:defRPr sz="3200" b="1">
                <a:solidFill>
                  <a:srgbClr val="822433"/>
                </a:solidFill>
                <a:latin typeface="Roboto"/>
                <a:ea typeface="Roboto"/>
                <a:cs typeface="Roboto"/>
              </a:defRPr>
            </a:lvl7pPr>
            <a:lvl8pPr algn="l">
              <a:defRPr sz="3200" b="1">
                <a:solidFill>
                  <a:srgbClr val="822433"/>
                </a:solidFill>
                <a:latin typeface="Roboto"/>
                <a:ea typeface="Roboto"/>
                <a:cs typeface="Roboto"/>
              </a:defRPr>
            </a:lvl8pPr>
            <a:lvl9pPr algn="l">
              <a:defRPr sz="3200" b="1">
                <a:solidFill>
                  <a:srgbClr val="822433"/>
                </a:solidFill>
                <a:latin typeface="Roboto"/>
                <a:ea typeface="Roboto"/>
                <a:cs typeface="Roboto"/>
              </a:defRPr>
            </a:lvl9pPr>
          </a:lstStyle>
          <a:p>
            <a:pPr algn="l">
              <a:defRPr sz="3200" b="1">
                <a:solidFill>
                  <a:srgbClr val="822433"/>
                </a:solidFill>
                <a:latin typeface="Roboto"/>
                <a:ea typeface="Roboto"/>
                <a:cs typeface="Roboto"/>
              </a:defRPr>
            </a:pPr>
            <a:r>
              <a:rPr sz="3200" b="1">
                <a:solidFill>
                  <a:srgbClr val="822433"/>
                </a:solidFill>
                <a:latin typeface="Roboto"/>
                <a:ea typeface="Roboto"/>
                <a:cs typeface="Roboto"/>
              </a:rPr>
              <a:t>Bibliografia 4/4</a:t>
            </a:r>
          </a:p>
        </p:txBody>
      </p:sp>
      <p:sp>
        <p:nvSpPr>
          <p:cNvPr id="2" name="template-footer">
            <a:extLst>
              <a:ext uri="{FF2B5EF4-FFF2-40B4-BE49-F238E27FC236}">
                <a16:creationId xmlns:a16="http://schemas.microsoft.com/office/drawing/2014/main" id="{E734856C-3FB0-424E-919A-9D740C5A0AC6}"/>
              </a:ext>
            </a:extLst>
          </p:cNvPr>
          <p:cNvSpPr>
            <a:spLocks noGrp="1"/>
          </p:cNvSpPr>
          <p:nvPr/>
        </p:nvSpPr>
        <p:spPr>
          <a:xfrm>
            <a:off x="571500" y="6591300"/>
            <a:ext cx="771525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Lightweight Scene Understanding and Synthetic Data-Driven Damage Inspection for Martian Rovers</a:t>
            </a:r>
          </a:p>
        </p:txBody>
      </p:sp>
      <p:sp>
        <p:nvSpPr>
          <p:cNvPr id="3" name="template-date">
            <a:extLst>
              <a:ext uri="{FF2B5EF4-FFF2-40B4-BE49-F238E27FC236}">
                <a16:creationId xmlns:a16="http://schemas.microsoft.com/office/drawing/2014/main" id="{72FB84EC-CF57-4753-B12F-E53DCBF451BF}"/>
              </a:ext>
            </a:extLst>
          </p:cNvPr>
          <p:cNvSpPr>
            <a:spLocks noGrp="1"/>
          </p:cNvSpPr>
          <p:nvPr/>
        </p:nvSpPr>
        <p:spPr>
          <a:xfrm>
            <a:off x="8334375" y="6591300"/>
            <a:ext cx="1143000" cy="171450"/>
          </a:xfrm>
          <a:prstGeom prst="rect">
            <a:avLst/>
          </a:prstGeom>
          <a:noFill/>
          <a:ln w="0">
            <a:noFill/>
          </a:ln>
        </p:spPr>
        <p:txBody>
          <a:bodyPr wrap="square" lIns="0" tIns="0" rIns="0" bIns="0" anchor="t">
            <a:noAutofit/>
          </a:bodyPr>
          <a:lstStyle>
            <a:defPPr algn="l">
              <a:defRPr sz="1000" b="0">
                <a:solidFill>
                  <a:srgbClr val="822433"/>
                </a:solidFill>
                <a:latin typeface="Roboto"/>
                <a:ea typeface="Roboto"/>
                <a:cs typeface="Roboto"/>
              </a:defRPr>
            </a:defPPr>
            <a:lvl1pPr algn="l">
              <a:defRPr sz="1000" b="0">
                <a:solidFill>
                  <a:srgbClr val="822433"/>
                </a:solidFill>
                <a:latin typeface="Roboto"/>
                <a:ea typeface="Roboto"/>
                <a:cs typeface="Roboto"/>
              </a:defRPr>
            </a:lvl1pPr>
            <a:lvl2pPr algn="l">
              <a:defRPr sz="1000" b="0">
                <a:solidFill>
                  <a:srgbClr val="822433"/>
                </a:solidFill>
                <a:latin typeface="Roboto"/>
                <a:ea typeface="Roboto"/>
                <a:cs typeface="Roboto"/>
              </a:defRPr>
            </a:lvl2pPr>
            <a:lvl3pPr algn="l">
              <a:defRPr sz="1000" b="0">
                <a:solidFill>
                  <a:srgbClr val="822433"/>
                </a:solidFill>
                <a:latin typeface="Roboto"/>
                <a:ea typeface="Roboto"/>
                <a:cs typeface="Roboto"/>
              </a:defRPr>
            </a:lvl3pPr>
            <a:lvl4pPr algn="l">
              <a:defRPr sz="1000" b="0">
                <a:solidFill>
                  <a:srgbClr val="822433"/>
                </a:solidFill>
                <a:latin typeface="Roboto"/>
                <a:ea typeface="Roboto"/>
                <a:cs typeface="Roboto"/>
              </a:defRPr>
            </a:lvl4pPr>
            <a:lvl5pPr algn="l">
              <a:defRPr sz="1000" b="0">
                <a:solidFill>
                  <a:srgbClr val="822433"/>
                </a:solidFill>
                <a:latin typeface="Roboto"/>
                <a:ea typeface="Roboto"/>
                <a:cs typeface="Roboto"/>
              </a:defRPr>
            </a:lvl5pPr>
            <a:lvl6pPr algn="l">
              <a:defRPr sz="1000" b="0">
                <a:solidFill>
                  <a:srgbClr val="822433"/>
                </a:solidFill>
                <a:latin typeface="Roboto"/>
                <a:ea typeface="Roboto"/>
                <a:cs typeface="Roboto"/>
              </a:defRPr>
            </a:lvl6pPr>
            <a:lvl7pPr algn="l">
              <a:defRPr sz="1000" b="0">
                <a:solidFill>
                  <a:srgbClr val="822433"/>
                </a:solidFill>
                <a:latin typeface="Roboto"/>
                <a:ea typeface="Roboto"/>
                <a:cs typeface="Roboto"/>
              </a:defRPr>
            </a:lvl7pPr>
            <a:lvl8pPr algn="l">
              <a:defRPr sz="1000" b="0">
                <a:solidFill>
                  <a:srgbClr val="822433"/>
                </a:solidFill>
                <a:latin typeface="Roboto"/>
                <a:ea typeface="Roboto"/>
                <a:cs typeface="Roboto"/>
              </a:defRPr>
            </a:lvl8pPr>
            <a:lvl9pPr algn="l">
              <a:defRPr sz="1000" b="0">
                <a:solidFill>
                  <a:srgbClr val="822433"/>
                </a:solidFill>
                <a:latin typeface="Roboto"/>
                <a:ea typeface="Roboto"/>
                <a:cs typeface="Roboto"/>
              </a:defRPr>
            </a:lvl9pPr>
          </a:lstStyle>
          <a:p>
            <a:pPr algn="l">
              <a:defRPr sz="1000" b="0">
                <a:solidFill>
                  <a:srgbClr val="822433"/>
                </a:solidFill>
                <a:latin typeface="Roboto"/>
                <a:ea typeface="Roboto"/>
                <a:cs typeface="Roboto"/>
              </a:defRPr>
            </a:pPr>
            <a:r>
              <a:rPr sz="1000" b="0">
                <a:solidFill>
                  <a:srgbClr val="822433"/>
                </a:solidFill>
                <a:latin typeface="Roboto"/>
                <a:ea typeface="Roboto"/>
                <a:cs typeface="Roboto"/>
              </a:rPr>
              <a:t>27/10/2026</a:t>
            </a:r>
          </a:p>
        </p:txBody>
      </p:sp>
      <p:sp>
        <p:nvSpPr>
          <p:cNvPr id="4" name="template-slide-number">
            <a:extLst>
              <a:ext uri="{FF2B5EF4-FFF2-40B4-BE49-F238E27FC236}">
                <a16:creationId xmlns:a16="http://schemas.microsoft.com/office/drawing/2014/main" id="{2CAC2C94-10AB-41F8-B4E9-0B364DF7A056}"/>
              </a:ext>
            </a:extLst>
          </p:cNvPr>
          <p:cNvSpPr>
            <a:spLocks noGrp="1"/>
          </p:cNvSpPr>
          <p:nvPr/>
        </p:nvSpPr>
        <p:spPr>
          <a:xfrm>
            <a:off x="11144250" y="6591300"/>
            <a:ext cx="619125" cy="171450"/>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28/28</a:t>
            </a:r>
          </a:p>
        </p:txBody>
      </p:sp>
      <p:sp>
        <p:nvSpPr>
          <p:cNvPr id="5" name="ref-number-16">
            <a:extLst>
              <a:ext uri="{FF2B5EF4-FFF2-40B4-BE49-F238E27FC236}">
                <a16:creationId xmlns:a16="http://schemas.microsoft.com/office/drawing/2014/main" id="{98FC33AE-9F5B-4A4B-BDF7-DD566904D248}"/>
              </a:ext>
            </a:extLst>
          </p:cNvPr>
          <p:cNvSpPr>
            <a:spLocks noGrp="1"/>
          </p:cNvSpPr>
          <p:nvPr/>
        </p:nvSpPr>
        <p:spPr>
          <a:xfrm>
            <a:off x="857250" y="1409700"/>
            <a:ext cx="495300" cy="333375"/>
          </a:xfrm>
          <a:prstGeom prst="rect">
            <a:avLst/>
          </a:prstGeom>
          <a:noFill/>
          <a:ln w="0">
            <a:noFill/>
          </a:ln>
        </p:spPr>
        <p:txBody>
          <a:bodyPr wrap="square" lIns="0" tIns="0" rIns="0" bIns="0" anchor="t">
            <a:noAutofit/>
          </a:bodyPr>
          <a:lstStyle>
            <a:defPPr algn="l">
              <a:defRPr sz="1650" b="1">
                <a:solidFill>
                  <a:srgbClr val="822433"/>
                </a:solidFill>
                <a:latin typeface="Roboto"/>
                <a:ea typeface="Roboto"/>
                <a:cs typeface="Roboto"/>
              </a:defRPr>
            </a:defPPr>
            <a:lvl1pPr algn="l">
              <a:defRPr sz="1650" b="1">
                <a:solidFill>
                  <a:srgbClr val="822433"/>
                </a:solidFill>
                <a:latin typeface="Roboto"/>
                <a:ea typeface="Roboto"/>
                <a:cs typeface="Roboto"/>
              </a:defRPr>
            </a:lvl1pPr>
            <a:lvl2pPr algn="l">
              <a:defRPr sz="1650" b="1">
                <a:solidFill>
                  <a:srgbClr val="822433"/>
                </a:solidFill>
                <a:latin typeface="Roboto"/>
                <a:ea typeface="Roboto"/>
                <a:cs typeface="Roboto"/>
              </a:defRPr>
            </a:lvl2pPr>
            <a:lvl3pPr algn="l">
              <a:defRPr sz="1650" b="1">
                <a:solidFill>
                  <a:srgbClr val="822433"/>
                </a:solidFill>
                <a:latin typeface="Roboto"/>
                <a:ea typeface="Roboto"/>
                <a:cs typeface="Roboto"/>
              </a:defRPr>
            </a:lvl3pPr>
            <a:lvl4pPr algn="l">
              <a:defRPr sz="1650" b="1">
                <a:solidFill>
                  <a:srgbClr val="822433"/>
                </a:solidFill>
                <a:latin typeface="Roboto"/>
                <a:ea typeface="Roboto"/>
                <a:cs typeface="Roboto"/>
              </a:defRPr>
            </a:lvl4pPr>
            <a:lvl5pPr algn="l">
              <a:defRPr sz="1650" b="1">
                <a:solidFill>
                  <a:srgbClr val="822433"/>
                </a:solidFill>
                <a:latin typeface="Roboto"/>
                <a:ea typeface="Roboto"/>
                <a:cs typeface="Roboto"/>
              </a:defRPr>
            </a:lvl5pPr>
            <a:lvl6pPr algn="l">
              <a:defRPr sz="1650" b="1">
                <a:solidFill>
                  <a:srgbClr val="822433"/>
                </a:solidFill>
                <a:latin typeface="Roboto"/>
                <a:ea typeface="Roboto"/>
                <a:cs typeface="Roboto"/>
              </a:defRPr>
            </a:lvl6pPr>
            <a:lvl7pPr algn="l">
              <a:defRPr sz="1650" b="1">
                <a:solidFill>
                  <a:srgbClr val="822433"/>
                </a:solidFill>
                <a:latin typeface="Roboto"/>
                <a:ea typeface="Roboto"/>
                <a:cs typeface="Roboto"/>
              </a:defRPr>
            </a:lvl7pPr>
            <a:lvl8pPr algn="l">
              <a:defRPr sz="1650" b="1">
                <a:solidFill>
                  <a:srgbClr val="822433"/>
                </a:solidFill>
                <a:latin typeface="Roboto"/>
                <a:ea typeface="Roboto"/>
                <a:cs typeface="Roboto"/>
              </a:defRPr>
            </a:lvl8pPr>
            <a:lvl9pPr algn="l">
              <a:defRPr sz="1650" b="1">
                <a:solidFill>
                  <a:srgbClr val="822433"/>
                </a:solidFill>
                <a:latin typeface="Roboto"/>
                <a:ea typeface="Roboto"/>
                <a:cs typeface="Roboto"/>
              </a:defRPr>
            </a:lvl9pPr>
          </a:lstStyle>
          <a:p>
            <a:pPr algn="l">
              <a:defRPr sz="1650" b="1">
                <a:solidFill>
                  <a:srgbClr val="822433"/>
                </a:solidFill>
                <a:latin typeface="Roboto"/>
                <a:ea typeface="Roboto"/>
                <a:cs typeface="Roboto"/>
              </a:defRPr>
            </a:pPr>
            <a:r>
              <a:rPr sz="1650" b="1">
                <a:solidFill>
                  <a:srgbClr val="822433"/>
                </a:solidFill>
                <a:latin typeface="Roboto"/>
                <a:ea typeface="Roboto"/>
                <a:cs typeface="Roboto"/>
              </a:rPr>
              <a:t>[16]</a:t>
            </a:r>
          </a:p>
        </p:txBody>
      </p:sp>
      <p:sp>
        <p:nvSpPr>
          <p:cNvPr id="6" name="ref-title-16">
            <a:extLst>
              <a:ext uri="{FF2B5EF4-FFF2-40B4-BE49-F238E27FC236}">
                <a16:creationId xmlns:a16="http://schemas.microsoft.com/office/drawing/2014/main" id="{DC155B6B-A533-4DC8-AC36-A7DBC75AB0EB}"/>
              </a:ext>
            </a:extLst>
          </p:cNvPr>
          <p:cNvSpPr>
            <a:spLocks noGrp="1"/>
          </p:cNvSpPr>
          <p:nvPr/>
        </p:nvSpPr>
        <p:spPr>
          <a:xfrm>
            <a:off x="1409700" y="1409700"/>
            <a:ext cx="9525000" cy="495300"/>
          </a:xfrm>
          <a:prstGeom prst="rect">
            <a:avLst/>
          </a:prstGeom>
          <a:noFill/>
          <a:ln w="0">
            <a:noFill/>
          </a:ln>
        </p:spPr>
        <p:txBody>
          <a:bodyPr wrap="square" lIns="0" tIns="0" rIns="0" bIns="0" anchor="t">
            <a:noAutofit/>
          </a:bodyPr>
          <a:lstStyle>
            <a:defPPr algn="l">
              <a:defRPr sz="1538" b="0">
                <a:solidFill>
                  <a:srgbClr val="202124"/>
                </a:solidFill>
                <a:latin typeface="Roboto"/>
                <a:ea typeface="Roboto"/>
                <a:cs typeface="Roboto"/>
              </a:defRPr>
            </a:defPPr>
            <a:lvl1pPr algn="l">
              <a:defRPr sz="1538" b="0">
                <a:solidFill>
                  <a:srgbClr val="202124"/>
                </a:solidFill>
                <a:latin typeface="Roboto"/>
                <a:ea typeface="Roboto"/>
                <a:cs typeface="Roboto"/>
              </a:defRPr>
            </a:lvl1pPr>
            <a:lvl2pPr algn="l">
              <a:defRPr sz="1538" b="0">
                <a:solidFill>
                  <a:srgbClr val="202124"/>
                </a:solidFill>
                <a:latin typeface="Roboto"/>
                <a:ea typeface="Roboto"/>
                <a:cs typeface="Roboto"/>
              </a:defRPr>
            </a:lvl2pPr>
            <a:lvl3pPr algn="l">
              <a:defRPr sz="1538" b="0">
                <a:solidFill>
                  <a:srgbClr val="202124"/>
                </a:solidFill>
                <a:latin typeface="Roboto"/>
                <a:ea typeface="Roboto"/>
                <a:cs typeface="Roboto"/>
              </a:defRPr>
            </a:lvl3pPr>
            <a:lvl4pPr algn="l">
              <a:defRPr sz="1538" b="0">
                <a:solidFill>
                  <a:srgbClr val="202124"/>
                </a:solidFill>
                <a:latin typeface="Roboto"/>
                <a:ea typeface="Roboto"/>
                <a:cs typeface="Roboto"/>
              </a:defRPr>
            </a:lvl4pPr>
            <a:lvl5pPr algn="l">
              <a:defRPr sz="1538" b="0">
                <a:solidFill>
                  <a:srgbClr val="202124"/>
                </a:solidFill>
                <a:latin typeface="Roboto"/>
                <a:ea typeface="Roboto"/>
                <a:cs typeface="Roboto"/>
              </a:defRPr>
            </a:lvl5pPr>
            <a:lvl6pPr algn="l">
              <a:defRPr sz="1538" b="0">
                <a:solidFill>
                  <a:srgbClr val="202124"/>
                </a:solidFill>
                <a:latin typeface="Roboto"/>
                <a:ea typeface="Roboto"/>
                <a:cs typeface="Roboto"/>
              </a:defRPr>
            </a:lvl6pPr>
            <a:lvl7pPr algn="l">
              <a:defRPr sz="1538" b="0">
                <a:solidFill>
                  <a:srgbClr val="202124"/>
                </a:solidFill>
                <a:latin typeface="Roboto"/>
                <a:ea typeface="Roboto"/>
                <a:cs typeface="Roboto"/>
              </a:defRPr>
            </a:lvl7pPr>
            <a:lvl8pPr algn="l">
              <a:defRPr sz="1538" b="0">
                <a:solidFill>
                  <a:srgbClr val="202124"/>
                </a:solidFill>
                <a:latin typeface="Roboto"/>
                <a:ea typeface="Roboto"/>
                <a:cs typeface="Roboto"/>
              </a:defRPr>
            </a:lvl8pPr>
            <a:lvl9pPr algn="l">
              <a:defRPr sz="1538" b="0">
                <a:solidFill>
                  <a:srgbClr val="202124"/>
                </a:solidFill>
                <a:latin typeface="Roboto"/>
                <a:ea typeface="Roboto"/>
                <a:cs typeface="Roboto"/>
              </a:defRPr>
            </a:lvl9pPr>
          </a:lstStyle>
          <a:p>
            <a:pPr algn="l">
              <a:defRPr sz="1538" b="0">
                <a:solidFill>
                  <a:srgbClr val="202124"/>
                </a:solidFill>
                <a:latin typeface="Roboto"/>
                <a:ea typeface="Roboto"/>
                <a:cs typeface="Roboto"/>
              </a:defRPr>
            </a:pPr>
            <a:r>
              <a:rPr sz="1538" b="0">
                <a:solidFill>
                  <a:srgbClr val="202124"/>
                </a:solidFill>
                <a:latin typeface="Roboto"/>
                <a:ea typeface="Roboto"/>
                <a:cs typeface="Roboto"/>
              </a:rPr>
              <a:t>K. Roth et al. Towards Total Recall in Industrial Anomaly Detection.</a:t>
            </a:r>
          </a:p>
        </p:txBody>
      </p:sp>
      <p:sp>
        <p:nvSpPr>
          <p:cNvPr id="7" name="ref-venue-16">
            <a:extLst>
              <a:ext uri="{FF2B5EF4-FFF2-40B4-BE49-F238E27FC236}">
                <a16:creationId xmlns:a16="http://schemas.microsoft.com/office/drawing/2014/main" id="{54B96EA4-5706-43C2-9AE6-D1EDC9923F03}"/>
              </a:ext>
            </a:extLst>
          </p:cNvPr>
          <p:cNvSpPr>
            <a:spLocks noGrp="1"/>
          </p:cNvSpPr>
          <p:nvPr/>
        </p:nvSpPr>
        <p:spPr>
          <a:xfrm>
            <a:off x="1409700" y="1914525"/>
            <a:ext cx="9525000" cy="219075"/>
          </a:xfrm>
          <a:prstGeom prst="rect">
            <a:avLst/>
          </a:prstGeom>
          <a:noFill/>
          <a:ln w="0">
            <a:noFill/>
          </a:ln>
        </p:spPr>
        <p:txBody>
          <a:bodyPr wrap="square" lIns="0" tIns="0" rIns="0" bIns="0" anchor="t">
            <a:noAutofit/>
          </a:bodyPr>
          <a:lstStyle>
            <a:defPPr algn="l">
              <a:defRPr sz="1313" b="0">
                <a:solidFill>
                  <a:srgbClr val="62666B"/>
                </a:solidFill>
                <a:latin typeface="Roboto"/>
                <a:ea typeface="Roboto"/>
                <a:cs typeface="Roboto"/>
              </a:defRPr>
            </a:defPPr>
            <a:lvl1pPr algn="l">
              <a:defRPr sz="1313" b="0">
                <a:solidFill>
                  <a:srgbClr val="62666B"/>
                </a:solidFill>
                <a:latin typeface="Roboto"/>
                <a:ea typeface="Roboto"/>
                <a:cs typeface="Roboto"/>
              </a:defRPr>
            </a:lvl1pPr>
            <a:lvl2pPr algn="l">
              <a:defRPr sz="1313" b="0">
                <a:solidFill>
                  <a:srgbClr val="62666B"/>
                </a:solidFill>
                <a:latin typeface="Roboto"/>
                <a:ea typeface="Roboto"/>
                <a:cs typeface="Roboto"/>
              </a:defRPr>
            </a:lvl2pPr>
            <a:lvl3pPr algn="l">
              <a:defRPr sz="1313" b="0">
                <a:solidFill>
                  <a:srgbClr val="62666B"/>
                </a:solidFill>
                <a:latin typeface="Roboto"/>
                <a:ea typeface="Roboto"/>
                <a:cs typeface="Roboto"/>
              </a:defRPr>
            </a:lvl3pPr>
            <a:lvl4pPr algn="l">
              <a:defRPr sz="1313" b="0">
                <a:solidFill>
                  <a:srgbClr val="62666B"/>
                </a:solidFill>
                <a:latin typeface="Roboto"/>
                <a:ea typeface="Roboto"/>
                <a:cs typeface="Roboto"/>
              </a:defRPr>
            </a:lvl4pPr>
            <a:lvl5pPr algn="l">
              <a:defRPr sz="1313" b="0">
                <a:solidFill>
                  <a:srgbClr val="62666B"/>
                </a:solidFill>
                <a:latin typeface="Roboto"/>
                <a:ea typeface="Roboto"/>
                <a:cs typeface="Roboto"/>
              </a:defRPr>
            </a:lvl5pPr>
            <a:lvl6pPr algn="l">
              <a:defRPr sz="1313" b="0">
                <a:solidFill>
                  <a:srgbClr val="62666B"/>
                </a:solidFill>
                <a:latin typeface="Roboto"/>
                <a:ea typeface="Roboto"/>
                <a:cs typeface="Roboto"/>
              </a:defRPr>
            </a:lvl6pPr>
            <a:lvl7pPr algn="l">
              <a:defRPr sz="1313" b="0">
                <a:solidFill>
                  <a:srgbClr val="62666B"/>
                </a:solidFill>
                <a:latin typeface="Roboto"/>
                <a:ea typeface="Roboto"/>
                <a:cs typeface="Roboto"/>
              </a:defRPr>
            </a:lvl7pPr>
            <a:lvl8pPr algn="l">
              <a:defRPr sz="1313" b="0">
                <a:solidFill>
                  <a:srgbClr val="62666B"/>
                </a:solidFill>
                <a:latin typeface="Roboto"/>
                <a:ea typeface="Roboto"/>
                <a:cs typeface="Roboto"/>
              </a:defRPr>
            </a:lvl8pPr>
            <a:lvl9pPr algn="l">
              <a:defRPr sz="1313" b="0">
                <a:solidFill>
                  <a:srgbClr val="62666B"/>
                </a:solidFill>
                <a:latin typeface="Roboto"/>
                <a:ea typeface="Roboto"/>
                <a:cs typeface="Roboto"/>
              </a:defRPr>
            </a:lvl9pPr>
          </a:lstStyle>
          <a:p>
            <a:pPr algn="l">
              <a:defRPr sz="1313" b="0">
                <a:solidFill>
                  <a:srgbClr val="62666B"/>
                </a:solidFill>
                <a:latin typeface="Roboto"/>
                <a:ea typeface="Roboto"/>
                <a:cs typeface="Roboto"/>
              </a:defRPr>
            </a:pPr>
            <a:r>
              <a:rPr sz="1313" b="0">
                <a:solidFill>
                  <a:srgbClr val="62666B"/>
                </a:solidFill>
                <a:latin typeface="Roboto"/>
                <a:ea typeface="Roboto"/>
                <a:cs typeface="Roboto"/>
              </a:rPr>
              <a:t>CVPR, 2022, pp. 14318–14328.</a:t>
            </a:r>
          </a:p>
        </p:txBody>
      </p:sp>
      <p:sp>
        <p:nvSpPr>
          <p:cNvPr id="8" name="ref-link-16">
            <a:extLst>
              <a:ext uri="{FF2B5EF4-FFF2-40B4-BE49-F238E27FC236}">
                <a16:creationId xmlns:a16="http://schemas.microsoft.com/office/drawing/2014/main" id="{6BA726B5-9AB9-474D-89AD-DEB1C0F3C56A}"/>
              </a:ext>
            </a:extLst>
          </p:cNvPr>
          <p:cNvSpPr>
            <a:spLocks noGrp="1"/>
          </p:cNvSpPr>
          <p:nvPr/>
        </p:nvSpPr>
        <p:spPr>
          <a:xfrm>
            <a:off x="1409700" y="2133600"/>
            <a:ext cx="9525000" cy="209550"/>
          </a:xfrm>
          <a:prstGeom prst="rect">
            <a:avLst/>
          </a:prstGeom>
          <a:noFill/>
          <a:ln w="0">
            <a:noFill/>
          </a:ln>
        </p:spPr>
        <p:txBody>
          <a:bodyPr wrap="square" lIns="0" tIns="0" rIns="0" bIns="0" anchor="t">
            <a:noAutofit/>
          </a:bodyPr>
          <a:lstStyle>
            <a:defPPr algn="l">
              <a:defRPr sz="1275" b="0">
                <a:solidFill>
                  <a:srgbClr val="822433"/>
                </a:solidFill>
                <a:latin typeface="Roboto"/>
                <a:ea typeface="Roboto"/>
                <a:cs typeface="Roboto"/>
              </a:defRPr>
            </a:defPPr>
            <a:lvl1pPr algn="l">
              <a:defRPr sz="1275" b="0">
                <a:solidFill>
                  <a:srgbClr val="822433"/>
                </a:solidFill>
                <a:latin typeface="Roboto"/>
                <a:ea typeface="Roboto"/>
                <a:cs typeface="Roboto"/>
              </a:defRPr>
            </a:lvl1pPr>
            <a:lvl2pPr algn="l">
              <a:defRPr sz="1275" b="0">
                <a:solidFill>
                  <a:srgbClr val="822433"/>
                </a:solidFill>
                <a:latin typeface="Roboto"/>
                <a:ea typeface="Roboto"/>
                <a:cs typeface="Roboto"/>
              </a:defRPr>
            </a:lvl2pPr>
            <a:lvl3pPr algn="l">
              <a:defRPr sz="1275" b="0">
                <a:solidFill>
                  <a:srgbClr val="822433"/>
                </a:solidFill>
                <a:latin typeface="Roboto"/>
                <a:ea typeface="Roboto"/>
                <a:cs typeface="Roboto"/>
              </a:defRPr>
            </a:lvl3pPr>
            <a:lvl4pPr algn="l">
              <a:defRPr sz="1275" b="0">
                <a:solidFill>
                  <a:srgbClr val="822433"/>
                </a:solidFill>
                <a:latin typeface="Roboto"/>
                <a:ea typeface="Roboto"/>
                <a:cs typeface="Roboto"/>
              </a:defRPr>
            </a:lvl4pPr>
            <a:lvl5pPr algn="l">
              <a:defRPr sz="1275" b="0">
                <a:solidFill>
                  <a:srgbClr val="822433"/>
                </a:solidFill>
                <a:latin typeface="Roboto"/>
                <a:ea typeface="Roboto"/>
                <a:cs typeface="Roboto"/>
              </a:defRPr>
            </a:lvl5pPr>
            <a:lvl6pPr algn="l">
              <a:defRPr sz="1275" b="0">
                <a:solidFill>
                  <a:srgbClr val="822433"/>
                </a:solidFill>
                <a:latin typeface="Roboto"/>
                <a:ea typeface="Roboto"/>
                <a:cs typeface="Roboto"/>
              </a:defRPr>
            </a:lvl6pPr>
            <a:lvl7pPr algn="l">
              <a:defRPr sz="1275" b="0">
                <a:solidFill>
                  <a:srgbClr val="822433"/>
                </a:solidFill>
                <a:latin typeface="Roboto"/>
                <a:ea typeface="Roboto"/>
                <a:cs typeface="Roboto"/>
              </a:defRPr>
            </a:lvl7pPr>
            <a:lvl8pPr algn="l">
              <a:defRPr sz="1275" b="0">
                <a:solidFill>
                  <a:srgbClr val="822433"/>
                </a:solidFill>
                <a:latin typeface="Roboto"/>
                <a:ea typeface="Roboto"/>
                <a:cs typeface="Roboto"/>
              </a:defRPr>
            </a:lvl8pPr>
            <a:lvl9pPr algn="l">
              <a:defRPr sz="1275" b="0">
                <a:solidFill>
                  <a:srgbClr val="822433"/>
                </a:solidFill>
                <a:latin typeface="Roboto"/>
                <a:ea typeface="Roboto"/>
                <a:cs typeface="Roboto"/>
              </a:defRPr>
            </a:lvl9pPr>
          </a:lstStyle>
          <a:p>
            <a:pPr algn="l">
              <a:defRPr sz="1275" b="0">
                <a:solidFill>
                  <a:srgbClr val="822433"/>
                </a:solidFill>
                <a:latin typeface="Roboto"/>
                <a:ea typeface="Roboto"/>
                <a:cs typeface="Roboto"/>
              </a:defRPr>
            </a:pPr>
            <a:r>
              <a:rPr sz="1275" b="0">
                <a:solidFill>
                  <a:srgbClr val="822433"/>
                </a:solidFill>
                <a:latin typeface="Roboto"/>
                <a:ea typeface="Roboto"/>
                <a:cs typeface="Roboto"/>
                <a:hlinkClick r:id="rId3"/>
              </a:rPr>
              <a:t>arxiv.org/abs/2106.08265</a:t>
            </a:r>
          </a:p>
        </p:txBody>
      </p:sp>
      <p:sp>
        <p:nvSpPr>
          <p:cNvPr id="9" name="ref-number-17">
            <a:extLst>
              <a:ext uri="{FF2B5EF4-FFF2-40B4-BE49-F238E27FC236}">
                <a16:creationId xmlns:a16="http://schemas.microsoft.com/office/drawing/2014/main" id="{8F16CC2D-05CF-4E18-8028-E369C7316088}"/>
              </a:ext>
            </a:extLst>
          </p:cNvPr>
          <p:cNvSpPr>
            <a:spLocks noGrp="1"/>
          </p:cNvSpPr>
          <p:nvPr/>
        </p:nvSpPr>
        <p:spPr>
          <a:xfrm>
            <a:off x="857250" y="2400300"/>
            <a:ext cx="495300" cy="333375"/>
          </a:xfrm>
          <a:prstGeom prst="rect">
            <a:avLst/>
          </a:prstGeom>
          <a:noFill/>
          <a:ln w="0">
            <a:noFill/>
          </a:ln>
        </p:spPr>
        <p:txBody>
          <a:bodyPr wrap="square" lIns="0" tIns="0" rIns="0" bIns="0" anchor="t">
            <a:noAutofit/>
          </a:bodyPr>
          <a:lstStyle>
            <a:defPPr algn="l">
              <a:defRPr sz="1650" b="1">
                <a:solidFill>
                  <a:srgbClr val="822433"/>
                </a:solidFill>
                <a:latin typeface="Roboto"/>
                <a:ea typeface="Roboto"/>
                <a:cs typeface="Roboto"/>
              </a:defRPr>
            </a:defPPr>
            <a:lvl1pPr algn="l">
              <a:defRPr sz="1650" b="1">
                <a:solidFill>
                  <a:srgbClr val="822433"/>
                </a:solidFill>
                <a:latin typeface="Roboto"/>
                <a:ea typeface="Roboto"/>
                <a:cs typeface="Roboto"/>
              </a:defRPr>
            </a:lvl1pPr>
            <a:lvl2pPr algn="l">
              <a:defRPr sz="1650" b="1">
                <a:solidFill>
                  <a:srgbClr val="822433"/>
                </a:solidFill>
                <a:latin typeface="Roboto"/>
                <a:ea typeface="Roboto"/>
                <a:cs typeface="Roboto"/>
              </a:defRPr>
            </a:lvl2pPr>
            <a:lvl3pPr algn="l">
              <a:defRPr sz="1650" b="1">
                <a:solidFill>
                  <a:srgbClr val="822433"/>
                </a:solidFill>
                <a:latin typeface="Roboto"/>
                <a:ea typeface="Roboto"/>
                <a:cs typeface="Roboto"/>
              </a:defRPr>
            </a:lvl3pPr>
            <a:lvl4pPr algn="l">
              <a:defRPr sz="1650" b="1">
                <a:solidFill>
                  <a:srgbClr val="822433"/>
                </a:solidFill>
                <a:latin typeface="Roboto"/>
                <a:ea typeface="Roboto"/>
                <a:cs typeface="Roboto"/>
              </a:defRPr>
            </a:lvl4pPr>
            <a:lvl5pPr algn="l">
              <a:defRPr sz="1650" b="1">
                <a:solidFill>
                  <a:srgbClr val="822433"/>
                </a:solidFill>
                <a:latin typeface="Roboto"/>
                <a:ea typeface="Roboto"/>
                <a:cs typeface="Roboto"/>
              </a:defRPr>
            </a:lvl5pPr>
            <a:lvl6pPr algn="l">
              <a:defRPr sz="1650" b="1">
                <a:solidFill>
                  <a:srgbClr val="822433"/>
                </a:solidFill>
                <a:latin typeface="Roboto"/>
                <a:ea typeface="Roboto"/>
                <a:cs typeface="Roboto"/>
              </a:defRPr>
            </a:lvl6pPr>
            <a:lvl7pPr algn="l">
              <a:defRPr sz="1650" b="1">
                <a:solidFill>
                  <a:srgbClr val="822433"/>
                </a:solidFill>
                <a:latin typeface="Roboto"/>
                <a:ea typeface="Roboto"/>
                <a:cs typeface="Roboto"/>
              </a:defRPr>
            </a:lvl7pPr>
            <a:lvl8pPr algn="l">
              <a:defRPr sz="1650" b="1">
                <a:solidFill>
                  <a:srgbClr val="822433"/>
                </a:solidFill>
                <a:latin typeface="Roboto"/>
                <a:ea typeface="Roboto"/>
                <a:cs typeface="Roboto"/>
              </a:defRPr>
            </a:lvl8pPr>
            <a:lvl9pPr algn="l">
              <a:defRPr sz="1650" b="1">
                <a:solidFill>
                  <a:srgbClr val="822433"/>
                </a:solidFill>
                <a:latin typeface="Roboto"/>
                <a:ea typeface="Roboto"/>
                <a:cs typeface="Roboto"/>
              </a:defRPr>
            </a:lvl9pPr>
          </a:lstStyle>
          <a:p>
            <a:pPr algn="l">
              <a:defRPr sz="1650" b="1">
                <a:solidFill>
                  <a:srgbClr val="822433"/>
                </a:solidFill>
                <a:latin typeface="Roboto"/>
                <a:ea typeface="Roboto"/>
                <a:cs typeface="Roboto"/>
              </a:defRPr>
            </a:pPr>
            <a:r>
              <a:rPr sz="1650" b="1">
                <a:solidFill>
                  <a:srgbClr val="822433"/>
                </a:solidFill>
                <a:latin typeface="Roboto"/>
                <a:ea typeface="Roboto"/>
                <a:cs typeface="Roboto"/>
              </a:rPr>
              <a:t>[17]</a:t>
            </a:r>
          </a:p>
        </p:txBody>
      </p:sp>
      <p:sp>
        <p:nvSpPr>
          <p:cNvPr id="10" name="ref-title-17">
            <a:extLst>
              <a:ext uri="{FF2B5EF4-FFF2-40B4-BE49-F238E27FC236}">
                <a16:creationId xmlns:a16="http://schemas.microsoft.com/office/drawing/2014/main" id="{751C35A6-E934-4F3B-9168-549F3FA6CB25}"/>
              </a:ext>
            </a:extLst>
          </p:cNvPr>
          <p:cNvSpPr>
            <a:spLocks noGrp="1"/>
          </p:cNvSpPr>
          <p:nvPr/>
        </p:nvSpPr>
        <p:spPr>
          <a:xfrm>
            <a:off x="1409700" y="2400300"/>
            <a:ext cx="9525000" cy="495300"/>
          </a:xfrm>
          <a:prstGeom prst="rect">
            <a:avLst/>
          </a:prstGeom>
          <a:noFill/>
          <a:ln w="0">
            <a:noFill/>
          </a:ln>
        </p:spPr>
        <p:txBody>
          <a:bodyPr wrap="square" lIns="0" tIns="0" rIns="0" bIns="0" anchor="t">
            <a:noAutofit/>
          </a:bodyPr>
          <a:lstStyle>
            <a:defPPr algn="l">
              <a:defRPr sz="1538" b="0">
                <a:solidFill>
                  <a:srgbClr val="202124"/>
                </a:solidFill>
                <a:latin typeface="Roboto"/>
                <a:ea typeface="Roboto"/>
                <a:cs typeface="Roboto"/>
              </a:defRPr>
            </a:defPPr>
            <a:lvl1pPr algn="l">
              <a:defRPr sz="1538" b="0">
                <a:solidFill>
                  <a:srgbClr val="202124"/>
                </a:solidFill>
                <a:latin typeface="Roboto"/>
                <a:ea typeface="Roboto"/>
                <a:cs typeface="Roboto"/>
              </a:defRPr>
            </a:lvl1pPr>
            <a:lvl2pPr algn="l">
              <a:defRPr sz="1538" b="0">
                <a:solidFill>
                  <a:srgbClr val="202124"/>
                </a:solidFill>
                <a:latin typeface="Roboto"/>
                <a:ea typeface="Roboto"/>
                <a:cs typeface="Roboto"/>
              </a:defRPr>
            </a:lvl2pPr>
            <a:lvl3pPr algn="l">
              <a:defRPr sz="1538" b="0">
                <a:solidFill>
                  <a:srgbClr val="202124"/>
                </a:solidFill>
                <a:latin typeface="Roboto"/>
                <a:ea typeface="Roboto"/>
                <a:cs typeface="Roboto"/>
              </a:defRPr>
            </a:lvl3pPr>
            <a:lvl4pPr algn="l">
              <a:defRPr sz="1538" b="0">
                <a:solidFill>
                  <a:srgbClr val="202124"/>
                </a:solidFill>
                <a:latin typeface="Roboto"/>
                <a:ea typeface="Roboto"/>
                <a:cs typeface="Roboto"/>
              </a:defRPr>
            </a:lvl4pPr>
            <a:lvl5pPr algn="l">
              <a:defRPr sz="1538" b="0">
                <a:solidFill>
                  <a:srgbClr val="202124"/>
                </a:solidFill>
                <a:latin typeface="Roboto"/>
                <a:ea typeface="Roboto"/>
                <a:cs typeface="Roboto"/>
              </a:defRPr>
            </a:lvl5pPr>
            <a:lvl6pPr algn="l">
              <a:defRPr sz="1538" b="0">
                <a:solidFill>
                  <a:srgbClr val="202124"/>
                </a:solidFill>
                <a:latin typeface="Roboto"/>
                <a:ea typeface="Roboto"/>
                <a:cs typeface="Roboto"/>
              </a:defRPr>
            </a:lvl6pPr>
            <a:lvl7pPr algn="l">
              <a:defRPr sz="1538" b="0">
                <a:solidFill>
                  <a:srgbClr val="202124"/>
                </a:solidFill>
                <a:latin typeface="Roboto"/>
                <a:ea typeface="Roboto"/>
                <a:cs typeface="Roboto"/>
              </a:defRPr>
            </a:lvl7pPr>
            <a:lvl8pPr algn="l">
              <a:defRPr sz="1538" b="0">
                <a:solidFill>
                  <a:srgbClr val="202124"/>
                </a:solidFill>
                <a:latin typeface="Roboto"/>
                <a:ea typeface="Roboto"/>
                <a:cs typeface="Roboto"/>
              </a:defRPr>
            </a:lvl8pPr>
            <a:lvl9pPr algn="l">
              <a:defRPr sz="1538" b="0">
                <a:solidFill>
                  <a:srgbClr val="202124"/>
                </a:solidFill>
                <a:latin typeface="Roboto"/>
                <a:ea typeface="Roboto"/>
                <a:cs typeface="Roboto"/>
              </a:defRPr>
            </a:lvl9pPr>
          </a:lstStyle>
          <a:p>
            <a:pPr algn="l">
              <a:defRPr sz="1538" b="0">
                <a:solidFill>
                  <a:srgbClr val="202124"/>
                </a:solidFill>
                <a:latin typeface="Roboto"/>
                <a:ea typeface="Roboto"/>
                <a:cs typeface="Roboto"/>
              </a:defRPr>
            </a:pPr>
            <a:r>
              <a:rPr sz="1538" b="0">
                <a:solidFill>
                  <a:srgbClr val="202124"/>
                </a:solidFill>
                <a:latin typeface="Roboto"/>
                <a:ea typeface="Roboto"/>
                <a:cs typeface="Roboto"/>
              </a:rPr>
              <a:t>K. Batzner, L. Heckler e R. König. EfficientAD: Accurate Visual Anomaly Detection at Millisecond-Level Latencies.</a:t>
            </a:r>
          </a:p>
        </p:txBody>
      </p:sp>
      <p:sp>
        <p:nvSpPr>
          <p:cNvPr id="11" name="ref-venue-17">
            <a:extLst>
              <a:ext uri="{FF2B5EF4-FFF2-40B4-BE49-F238E27FC236}">
                <a16:creationId xmlns:a16="http://schemas.microsoft.com/office/drawing/2014/main" id="{B974337A-E834-4838-BC2A-F0553786FC9A}"/>
              </a:ext>
            </a:extLst>
          </p:cNvPr>
          <p:cNvSpPr>
            <a:spLocks noGrp="1"/>
          </p:cNvSpPr>
          <p:nvPr/>
        </p:nvSpPr>
        <p:spPr>
          <a:xfrm>
            <a:off x="1409700" y="2905125"/>
            <a:ext cx="9525000" cy="219075"/>
          </a:xfrm>
          <a:prstGeom prst="rect">
            <a:avLst/>
          </a:prstGeom>
          <a:noFill/>
          <a:ln w="0">
            <a:noFill/>
          </a:ln>
        </p:spPr>
        <p:txBody>
          <a:bodyPr wrap="square" lIns="0" tIns="0" rIns="0" bIns="0" anchor="t">
            <a:noAutofit/>
          </a:bodyPr>
          <a:lstStyle>
            <a:defPPr algn="l">
              <a:defRPr sz="1313" b="0">
                <a:solidFill>
                  <a:srgbClr val="62666B"/>
                </a:solidFill>
                <a:latin typeface="Roboto"/>
                <a:ea typeface="Roboto"/>
                <a:cs typeface="Roboto"/>
              </a:defRPr>
            </a:defPPr>
            <a:lvl1pPr algn="l">
              <a:defRPr sz="1313" b="0">
                <a:solidFill>
                  <a:srgbClr val="62666B"/>
                </a:solidFill>
                <a:latin typeface="Roboto"/>
                <a:ea typeface="Roboto"/>
                <a:cs typeface="Roboto"/>
              </a:defRPr>
            </a:lvl1pPr>
            <a:lvl2pPr algn="l">
              <a:defRPr sz="1313" b="0">
                <a:solidFill>
                  <a:srgbClr val="62666B"/>
                </a:solidFill>
                <a:latin typeface="Roboto"/>
                <a:ea typeface="Roboto"/>
                <a:cs typeface="Roboto"/>
              </a:defRPr>
            </a:lvl2pPr>
            <a:lvl3pPr algn="l">
              <a:defRPr sz="1313" b="0">
                <a:solidFill>
                  <a:srgbClr val="62666B"/>
                </a:solidFill>
                <a:latin typeface="Roboto"/>
                <a:ea typeface="Roboto"/>
                <a:cs typeface="Roboto"/>
              </a:defRPr>
            </a:lvl3pPr>
            <a:lvl4pPr algn="l">
              <a:defRPr sz="1313" b="0">
                <a:solidFill>
                  <a:srgbClr val="62666B"/>
                </a:solidFill>
                <a:latin typeface="Roboto"/>
                <a:ea typeface="Roboto"/>
                <a:cs typeface="Roboto"/>
              </a:defRPr>
            </a:lvl4pPr>
            <a:lvl5pPr algn="l">
              <a:defRPr sz="1313" b="0">
                <a:solidFill>
                  <a:srgbClr val="62666B"/>
                </a:solidFill>
                <a:latin typeface="Roboto"/>
                <a:ea typeface="Roboto"/>
                <a:cs typeface="Roboto"/>
              </a:defRPr>
            </a:lvl5pPr>
            <a:lvl6pPr algn="l">
              <a:defRPr sz="1313" b="0">
                <a:solidFill>
                  <a:srgbClr val="62666B"/>
                </a:solidFill>
                <a:latin typeface="Roboto"/>
                <a:ea typeface="Roboto"/>
                <a:cs typeface="Roboto"/>
              </a:defRPr>
            </a:lvl6pPr>
            <a:lvl7pPr algn="l">
              <a:defRPr sz="1313" b="0">
                <a:solidFill>
                  <a:srgbClr val="62666B"/>
                </a:solidFill>
                <a:latin typeface="Roboto"/>
                <a:ea typeface="Roboto"/>
                <a:cs typeface="Roboto"/>
              </a:defRPr>
            </a:lvl7pPr>
            <a:lvl8pPr algn="l">
              <a:defRPr sz="1313" b="0">
                <a:solidFill>
                  <a:srgbClr val="62666B"/>
                </a:solidFill>
                <a:latin typeface="Roboto"/>
                <a:ea typeface="Roboto"/>
                <a:cs typeface="Roboto"/>
              </a:defRPr>
            </a:lvl8pPr>
            <a:lvl9pPr algn="l">
              <a:defRPr sz="1313" b="0">
                <a:solidFill>
                  <a:srgbClr val="62666B"/>
                </a:solidFill>
                <a:latin typeface="Roboto"/>
                <a:ea typeface="Roboto"/>
                <a:cs typeface="Roboto"/>
              </a:defRPr>
            </a:lvl9pPr>
          </a:lstStyle>
          <a:p>
            <a:pPr algn="l">
              <a:defRPr sz="1313" b="0">
                <a:solidFill>
                  <a:srgbClr val="62666B"/>
                </a:solidFill>
                <a:latin typeface="Roboto"/>
                <a:ea typeface="Roboto"/>
                <a:cs typeface="Roboto"/>
              </a:defRPr>
            </a:pPr>
            <a:r>
              <a:rPr sz="1313" b="0">
                <a:solidFill>
                  <a:srgbClr val="62666B"/>
                </a:solidFill>
                <a:latin typeface="Roboto"/>
                <a:ea typeface="Roboto"/>
                <a:cs typeface="Roboto"/>
              </a:rPr>
              <a:t>WACV, 2024, pp. 128–138.</a:t>
            </a:r>
          </a:p>
        </p:txBody>
      </p:sp>
      <p:sp>
        <p:nvSpPr>
          <p:cNvPr id="12" name="ref-link-17">
            <a:extLst>
              <a:ext uri="{FF2B5EF4-FFF2-40B4-BE49-F238E27FC236}">
                <a16:creationId xmlns:a16="http://schemas.microsoft.com/office/drawing/2014/main" id="{00E4ADF0-318B-4AB5-AA1C-049708AD81A7}"/>
              </a:ext>
            </a:extLst>
          </p:cNvPr>
          <p:cNvSpPr>
            <a:spLocks noGrp="1"/>
          </p:cNvSpPr>
          <p:nvPr/>
        </p:nvSpPr>
        <p:spPr>
          <a:xfrm>
            <a:off x="1409700" y="3124200"/>
            <a:ext cx="9525000" cy="209550"/>
          </a:xfrm>
          <a:prstGeom prst="rect">
            <a:avLst/>
          </a:prstGeom>
          <a:noFill/>
          <a:ln w="0">
            <a:noFill/>
          </a:ln>
        </p:spPr>
        <p:txBody>
          <a:bodyPr wrap="square" lIns="0" tIns="0" rIns="0" bIns="0" anchor="t">
            <a:noAutofit/>
          </a:bodyPr>
          <a:lstStyle>
            <a:defPPr algn="l">
              <a:defRPr sz="1275" b="0">
                <a:solidFill>
                  <a:srgbClr val="822433"/>
                </a:solidFill>
                <a:latin typeface="Roboto"/>
                <a:ea typeface="Roboto"/>
                <a:cs typeface="Roboto"/>
              </a:defRPr>
            </a:defPPr>
            <a:lvl1pPr algn="l">
              <a:defRPr sz="1275" b="0">
                <a:solidFill>
                  <a:srgbClr val="822433"/>
                </a:solidFill>
                <a:latin typeface="Roboto"/>
                <a:ea typeface="Roboto"/>
                <a:cs typeface="Roboto"/>
              </a:defRPr>
            </a:lvl1pPr>
            <a:lvl2pPr algn="l">
              <a:defRPr sz="1275" b="0">
                <a:solidFill>
                  <a:srgbClr val="822433"/>
                </a:solidFill>
                <a:latin typeface="Roboto"/>
                <a:ea typeface="Roboto"/>
                <a:cs typeface="Roboto"/>
              </a:defRPr>
            </a:lvl2pPr>
            <a:lvl3pPr algn="l">
              <a:defRPr sz="1275" b="0">
                <a:solidFill>
                  <a:srgbClr val="822433"/>
                </a:solidFill>
                <a:latin typeface="Roboto"/>
                <a:ea typeface="Roboto"/>
                <a:cs typeface="Roboto"/>
              </a:defRPr>
            </a:lvl3pPr>
            <a:lvl4pPr algn="l">
              <a:defRPr sz="1275" b="0">
                <a:solidFill>
                  <a:srgbClr val="822433"/>
                </a:solidFill>
                <a:latin typeface="Roboto"/>
                <a:ea typeface="Roboto"/>
                <a:cs typeface="Roboto"/>
              </a:defRPr>
            </a:lvl4pPr>
            <a:lvl5pPr algn="l">
              <a:defRPr sz="1275" b="0">
                <a:solidFill>
                  <a:srgbClr val="822433"/>
                </a:solidFill>
                <a:latin typeface="Roboto"/>
                <a:ea typeface="Roboto"/>
                <a:cs typeface="Roboto"/>
              </a:defRPr>
            </a:lvl5pPr>
            <a:lvl6pPr algn="l">
              <a:defRPr sz="1275" b="0">
                <a:solidFill>
                  <a:srgbClr val="822433"/>
                </a:solidFill>
                <a:latin typeface="Roboto"/>
                <a:ea typeface="Roboto"/>
                <a:cs typeface="Roboto"/>
              </a:defRPr>
            </a:lvl6pPr>
            <a:lvl7pPr algn="l">
              <a:defRPr sz="1275" b="0">
                <a:solidFill>
                  <a:srgbClr val="822433"/>
                </a:solidFill>
                <a:latin typeface="Roboto"/>
                <a:ea typeface="Roboto"/>
                <a:cs typeface="Roboto"/>
              </a:defRPr>
            </a:lvl7pPr>
            <a:lvl8pPr algn="l">
              <a:defRPr sz="1275" b="0">
                <a:solidFill>
                  <a:srgbClr val="822433"/>
                </a:solidFill>
                <a:latin typeface="Roboto"/>
                <a:ea typeface="Roboto"/>
                <a:cs typeface="Roboto"/>
              </a:defRPr>
            </a:lvl8pPr>
            <a:lvl9pPr algn="l">
              <a:defRPr sz="1275" b="0">
                <a:solidFill>
                  <a:srgbClr val="822433"/>
                </a:solidFill>
                <a:latin typeface="Roboto"/>
                <a:ea typeface="Roboto"/>
                <a:cs typeface="Roboto"/>
              </a:defRPr>
            </a:lvl9pPr>
          </a:lstStyle>
          <a:p>
            <a:pPr algn="l">
              <a:defRPr sz="1275" b="0">
                <a:solidFill>
                  <a:srgbClr val="822433"/>
                </a:solidFill>
                <a:latin typeface="Roboto"/>
                <a:ea typeface="Roboto"/>
                <a:cs typeface="Roboto"/>
              </a:defRPr>
            </a:pPr>
            <a:r>
              <a:rPr sz="1275" b="0">
                <a:solidFill>
                  <a:srgbClr val="822433"/>
                </a:solidFill>
                <a:latin typeface="Roboto"/>
                <a:ea typeface="Roboto"/>
                <a:cs typeface="Roboto"/>
                <a:hlinkClick r:id="rId4"/>
              </a:rPr>
              <a:t>arxiv.org/abs/2303.14535</a:t>
            </a:r>
          </a:p>
        </p:txBody>
      </p:sp>
      <p:sp>
        <p:nvSpPr>
          <p:cNvPr id="13" name="ref-number-18">
            <a:extLst>
              <a:ext uri="{FF2B5EF4-FFF2-40B4-BE49-F238E27FC236}">
                <a16:creationId xmlns:a16="http://schemas.microsoft.com/office/drawing/2014/main" id="{B7A03856-2AB8-49BC-A061-B210902C94F2}"/>
              </a:ext>
            </a:extLst>
          </p:cNvPr>
          <p:cNvSpPr>
            <a:spLocks noGrp="1"/>
          </p:cNvSpPr>
          <p:nvPr/>
        </p:nvSpPr>
        <p:spPr>
          <a:xfrm>
            <a:off x="857250" y="3390900"/>
            <a:ext cx="495300" cy="333375"/>
          </a:xfrm>
          <a:prstGeom prst="rect">
            <a:avLst/>
          </a:prstGeom>
          <a:noFill/>
          <a:ln w="0">
            <a:noFill/>
          </a:ln>
        </p:spPr>
        <p:txBody>
          <a:bodyPr wrap="square" lIns="0" tIns="0" rIns="0" bIns="0" anchor="t">
            <a:noAutofit/>
          </a:bodyPr>
          <a:lstStyle>
            <a:defPPr algn="l">
              <a:defRPr sz="1650" b="1">
                <a:solidFill>
                  <a:srgbClr val="822433"/>
                </a:solidFill>
                <a:latin typeface="Roboto"/>
                <a:ea typeface="Roboto"/>
                <a:cs typeface="Roboto"/>
              </a:defRPr>
            </a:defPPr>
            <a:lvl1pPr algn="l">
              <a:defRPr sz="1650" b="1">
                <a:solidFill>
                  <a:srgbClr val="822433"/>
                </a:solidFill>
                <a:latin typeface="Roboto"/>
                <a:ea typeface="Roboto"/>
                <a:cs typeface="Roboto"/>
              </a:defRPr>
            </a:lvl1pPr>
            <a:lvl2pPr algn="l">
              <a:defRPr sz="1650" b="1">
                <a:solidFill>
                  <a:srgbClr val="822433"/>
                </a:solidFill>
                <a:latin typeface="Roboto"/>
                <a:ea typeface="Roboto"/>
                <a:cs typeface="Roboto"/>
              </a:defRPr>
            </a:lvl2pPr>
            <a:lvl3pPr algn="l">
              <a:defRPr sz="1650" b="1">
                <a:solidFill>
                  <a:srgbClr val="822433"/>
                </a:solidFill>
                <a:latin typeface="Roboto"/>
                <a:ea typeface="Roboto"/>
                <a:cs typeface="Roboto"/>
              </a:defRPr>
            </a:lvl3pPr>
            <a:lvl4pPr algn="l">
              <a:defRPr sz="1650" b="1">
                <a:solidFill>
                  <a:srgbClr val="822433"/>
                </a:solidFill>
                <a:latin typeface="Roboto"/>
                <a:ea typeface="Roboto"/>
                <a:cs typeface="Roboto"/>
              </a:defRPr>
            </a:lvl4pPr>
            <a:lvl5pPr algn="l">
              <a:defRPr sz="1650" b="1">
                <a:solidFill>
                  <a:srgbClr val="822433"/>
                </a:solidFill>
                <a:latin typeface="Roboto"/>
                <a:ea typeface="Roboto"/>
                <a:cs typeface="Roboto"/>
              </a:defRPr>
            </a:lvl5pPr>
            <a:lvl6pPr algn="l">
              <a:defRPr sz="1650" b="1">
                <a:solidFill>
                  <a:srgbClr val="822433"/>
                </a:solidFill>
                <a:latin typeface="Roboto"/>
                <a:ea typeface="Roboto"/>
                <a:cs typeface="Roboto"/>
              </a:defRPr>
            </a:lvl6pPr>
            <a:lvl7pPr algn="l">
              <a:defRPr sz="1650" b="1">
                <a:solidFill>
                  <a:srgbClr val="822433"/>
                </a:solidFill>
                <a:latin typeface="Roboto"/>
                <a:ea typeface="Roboto"/>
                <a:cs typeface="Roboto"/>
              </a:defRPr>
            </a:lvl7pPr>
            <a:lvl8pPr algn="l">
              <a:defRPr sz="1650" b="1">
                <a:solidFill>
                  <a:srgbClr val="822433"/>
                </a:solidFill>
                <a:latin typeface="Roboto"/>
                <a:ea typeface="Roboto"/>
                <a:cs typeface="Roboto"/>
              </a:defRPr>
            </a:lvl8pPr>
            <a:lvl9pPr algn="l">
              <a:defRPr sz="1650" b="1">
                <a:solidFill>
                  <a:srgbClr val="822433"/>
                </a:solidFill>
                <a:latin typeface="Roboto"/>
                <a:ea typeface="Roboto"/>
                <a:cs typeface="Roboto"/>
              </a:defRPr>
            </a:lvl9pPr>
          </a:lstStyle>
          <a:p>
            <a:pPr algn="l">
              <a:defRPr sz="1650" b="1">
                <a:solidFill>
                  <a:srgbClr val="822433"/>
                </a:solidFill>
                <a:latin typeface="Roboto"/>
                <a:ea typeface="Roboto"/>
                <a:cs typeface="Roboto"/>
              </a:defRPr>
            </a:pPr>
            <a:r>
              <a:rPr sz="1650" b="1">
                <a:solidFill>
                  <a:srgbClr val="822433"/>
                </a:solidFill>
                <a:latin typeface="Roboto"/>
                <a:ea typeface="Roboto"/>
                <a:cs typeface="Roboto"/>
              </a:rPr>
              <a:t>[18]</a:t>
            </a:r>
          </a:p>
        </p:txBody>
      </p:sp>
      <p:sp>
        <p:nvSpPr>
          <p:cNvPr id="14" name="ref-title-18">
            <a:extLst>
              <a:ext uri="{FF2B5EF4-FFF2-40B4-BE49-F238E27FC236}">
                <a16:creationId xmlns:a16="http://schemas.microsoft.com/office/drawing/2014/main" id="{9CC4E2D1-CF68-40D0-BF22-4F1557FDCF8D}"/>
              </a:ext>
            </a:extLst>
          </p:cNvPr>
          <p:cNvSpPr>
            <a:spLocks noGrp="1"/>
          </p:cNvSpPr>
          <p:nvPr/>
        </p:nvSpPr>
        <p:spPr>
          <a:xfrm>
            <a:off x="1409700" y="3390900"/>
            <a:ext cx="9525000" cy="495300"/>
          </a:xfrm>
          <a:prstGeom prst="rect">
            <a:avLst/>
          </a:prstGeom>
          <a:noFill/>
          <a:ln w="0">
            <a:noFill/>
          </a:ln>
        </p:spPr>
        <p:txBody>
          <a:bodyPr wrap="square" lIns="0" tIns="0" rIns="0" bIns="0" anchor="t">
            <a:noAutofit/>
          </a:bodyPr>
          <a:lstStyle>
            <a:defPPr algn="l">
              <a:defRPr sz="1538" b="0">
                <a:solidFill>
                  <a:srgbClr val="202124"/>
                </a:solidFill>
                <a:latin typeface="Roboto"/>
                <a:ea typeface="Roboto"/>
                <a:cs typeface="Roboto"/>
              </a:defRPr>
            </a:defPPr>
            <a:lvl1pPr algn="l">
              <a:defRPr sz="1538" b="0">
                <a:solidFill>
                  <a:srgbClr val="202124"/>
                </a:solidFill>
                <a:latin typeface="Roboto"/>
                <a:ea typeface="Roboto"/>
                <a:cs typeface="Roboto"/>
              </a:defRPr>
            </a:lvl1pPr>
            <a:lvl2pPr algn="l">
              <a:defRPr sz="1538" b="0">
                <a:solidFill>
                  <a:srgbClr val="202124"/>
                </a:solidFill>
                <a:latin typeface="Roboto"/>
                <a:ea typeface="Roboto"/>
                <a:cs typeface="Roboto"/>
              </a:defRPr>
            </a:lvl2pPr>
            <a:lvl3pPr algn="l">
              <a:defRPr sz="1538" b="0">
                <a:solidFill>
                  <a:srgbClr val="202124"/>
                </a:solidFill>
                <a:latin typeface="Roboto"/>
                <a:ea typeface="Roboto"/>
                <a:cs typeface="Roboto"/>
              </a:defRPr>
            </a:lvl3pPr>
            <a:lvl4pPr algn="l">
              <a:defRPr sz="1538" b="0">
                <a:solidFill>
                  <a:srgbClr val="202124"/>
                </a:solidFill>
                <a:latin typeface="Roboto"/>
                <a:ea typeface="Roboto"/>
                <a:cs typeface="Roboto"/>
              </a:defRPr>
            </a:lvl4pPr>
            <a:lvl5pPr algn="l">
              <a:defRPr sz="1538" b="0">
                <a:solidFill>
                  <a:srgbClr val="202124"/>
                </a:solidFill>
                <a:latin typeface="Roboto"/>
                <a:ea typeface="Roboto"/>
                <a:cs typeface="Roboto"/>
              </a:defRPr>
            </a:lvl5pPr>
            <a:lvl6pPr algn="l">
              <a:defRPr sz="1538" b="0">
                <a:solidFill>
                  <a:srgbClr val="202124"/>
                </a:solidFill>
                <a:latin typeface="Roboto"/>
                <a:ea typeface="Roboto"/>
                <a:cs typeface="Roboto"/>
              </a:defRPr>
            </a:lvl6pPr>
            <a:lvl7pPr algn="l">
              <a:defRPr sz="1538" b="0">
                <a:solidFill>
                  <a:srgbClr val="202124"/>
                </a:solidFill>
                <a:latin typeface="Roboto"/>
                <a:ea typeface="Roboto"/>
                <a:cs typeface="Roboto"/>
              </a:defRPr>
            </a:lvl7pPr>
            <a:lvl8pPr algn="l">
              <a:defRPr sz="1538" b="0">
                <a:solidFill>
                  <a:srgbClr val="202124"/>
                </a:solidFill>
                <a:latin typeface="Roboto"/>
                <a:ea typeface="Roboto"/>
                <a:cs typeface="Roboto"/>
              </a:defRPr>
            </a:lvl8pPr>
            <a:lvl9pPr algn="l">
              <a:defRPr sz="1538" b="0">
                <a:solidFill>
                  <a:srgbClr val="202124"/>
                </a:solidFill>
                <a:latin typeface="Roboto"/>
                <a:ea typeface="Roboto"/>
                <a:cs typeface="Roboto"/>
              </a:defRPr>
            </a:lvl9pPr>
          </a:lstStyle>
          <a:p>
            <a:pPr algn="l">
              <a:defRPr sz="1538" b="0">
                <a:solidFill>
                  <a:srgbClr val="202124"/>
                </a:solidFill>
                <a:latin typeface="Roboto"/>
                <a:ea typeface="Roboto"/>
                <a:cs typeface="Roboto"/>
              </a:defRPr>
            </a:pPr>
            <a:r>
              <a:rPr sz="1538" b="0">
                <a:solidFill>
                  <a:srgbClr val="202124"/>
                </a:solidFill>
                <a:latin typeface="Roboto"/>
                <a:ea typeface="Roboto"/>
                <a:cs typeface="Roboto"/>
              </a:rPr>
              <a:t>B. Rolih, M. Fučka e D. Skočaj. SuperSimpleNet: Unifying Unsupervised and Supervised Learning for Fast and Reliable Surface Defect Detection.</a:t>
            </a:r>
          </a:p>
        </p:txBody>
      </p:sp>
      <p:sp>
        <p:nvSpPr>
          <p:cNvPr id="15" name="ref-venue-18">
            <a:extLst>
              <a:ext uri="{FF2B5EF4-FFF2-40B4-BE49-F238E27FC236}">
                <a16:creationId xmlns:a16="http://schemas.microsoft.com/office/drawing/2014/main" id="{998887D9-5B34-4451-9C71-F481504D749B}"/>
              </a:ext>
            </a:extLst>
          </p:cNvPr>
          <p:cNvSpPr>
            <a:spLocks noGrp="1"/>
          </p:cNvSpPr>
          <p:nvPr/>
        </p:nvSpPr>
        <p:spPr>
          <a:xfrm>
            <a:off x="1409700" y="3895725"/>
            <a:ext cx="9525000" cy="219075"/>
          </a:xfrm>
          <a:prstGeom prst="rect">
            <a:avLst/>
          </a:prstGeom>
          <a:noFill/>
          <a:ln w="0">
            <a:noFill/>
          </a:ln>
        </p:spPr>
        <p:txBody>
          <a:bodyPr wrap="square" lIns="0" tIns="0" rIns="0" bIns="0" anchor="t">
            <a:noAutofit/>
          </a:bodyPr>
          <a:lstStyle>
            <a:defPPr algn="l">
              <a:defRPr sz="1313" b="0">
                <a:solidFill>
                  <a:srgbClr val="62666B"/>
                </a:solidFill>
                <a:latin typeface="Roboto"/>
                <a:ea typeface="Roboto"/>
                <a:cs typeface="Roboto"/>
              </a:defRPr>
            </a:defPPr>
            <a:lvl1pPr algn="l">
              <a:defRPr sz="1313" b="0">
                <a:solidFill>
                  <a:srgbClr val="62666B"/>
                </a:solidFill>
                <a:latin typeface="Roboto"/>
                <a:ea typeface="Roboto"/>
                <a:cs typeface="Roboto"/>
              </a:defRPr>
            </a:lvl1pPr>
            <a:lvl2pPr algn="l">
              <a:defRPr sz="1313" b="0">
                <a:solidFill>
                  <a:srgbClr val="62666B"/>
                </a:solidFill>
                <a:latin typeface="Roboto"/>
                <a:ea typeface="Roboto"/>
                <a:cs typeface="Roboto"/>
              </a:defRPr>
            </a:lvl2pPr>
            <a:lvl3pPr algn="l">
              <a:defRPr sz="1313" b="0">
                <a:solidFill>
                  <a:srgbClr val="62666B"/>
                </a:solidFill>
                <a:latin typeface="Roboto"/>
                <a:ea typeface="Roboto"/>
                <a:cs typeface="Roboto"/>
              </a:defRPr>
            </a:lvl3pPr>
            <a:lvl4pPr algn="l">
              <a:defRPr sz="1313" b="0">
                <a:solidFill>
                  <a:srgbClr val="62666B"/>
                </a:solidFill>
                <a:latin typeface="Roboto"/>
                <a:ea typeface="Roboto"/>
                <a:cs typeface="Roboto"/>
              </a:defRPr>
            </a:lvl4pPr>
            <a:lvl5pPr algn="l">
              <a:defRPr sz="1313" b="0">
                <a:solidFill>
                  <a:srgbClr val="62666B"/>
                </a:solidFill>
                <a:latin typeface="Roboto"/>
                <a:ea typeface="Roboto"/>
                <a:cs typeface="Roboto"/>
              </a:defRPr>
            </a:lvl5pPr>
            <a:lvl6pPr algn="l">
              <a:defRPr sz="1313" b="0">
                <a:solidFill>
                  <a:srgbClr val="62666B"/>
                </a:solidFill>
                <a:latin typeface="Roboto"/>
                <a:ea typeface="Roboto"/>
                <a:cs typeface="Roboto"/>
              </a:defRPr>
            </a:lvl6pPr>
            <a:lvl7pPr algn="l">
              <a:defRPr sz="1313" b="0">
                <a:solidFill>
                  <a:srgbClr val="62666B"/>
                </a:solidFill>
                <a:latin typeface="Roboto"/>
                <a:ea typeface="Roboto"/>
                <a:cs typeface="Roboto"/>
              </a:defRPr>
            </a:lvl7pPr>
            <a:lvl8pPr algn="l">
              <a:defRPr sz="1313" b="0">
                <a:solidFill>
                  <a:srgbClr val="62666B"/>
                </a:solidFill>
                <a:latin typeface="Roboto"/>
                <a:ea typeface="Roboto"/>
                <a:cs typeface="Roboto"/>
              </a:defRPr>
            </a:lvl8pPr>
            <a:lvl9pPr algn="l">
              <a:defRPr sz="1313" b="0">
                <a:solidFill>
                  <a:srgbClr val="62666B"/>
                </a:solidFill>
                <a:latin typeface="Roboto"/>
                <a:ea typeface="Roboto"/>
                <a:cs typeface="Roboto"/>
              </a:defRPr>
            </a:lvl9pPr>
          </a:lstStyle>
          <a:p>
            <a:pPr algn="l">
              <a:defRPr sz="1313" b="0">
                <a:solidFill>
                  <a:srgbClr val="62666B"/>
                </a:solidFill>
                <a:latin typeface="Roboto"/>
                <a:ea typeface="Roboto"/>
                <a:cs typeface="Roboto"/>
              </a:defRPr>
            </a:pPr>
            <a:r>
              <a:rPr sz="1313" b="0">
                <a:solidFill>
                  <a:srgbClr val="62666B"/>
                </a:solidFill>
                <a:latin typeface="Roboto"/>
                <a:ea typeface="Roboto"/>
                <a:cs typeface="Roboto"/>
              </a:rPr>
              <a:t>ICPR 2024, LNCS 15310, Springer, 2025, pp. 47–65.</a:t>
            </a:r>
          </a:p>
        </p:txBody>
      </p:sp>
      <p:sp>
        <p:nvSpPr>
          <p:cNvPr id="16" name="ref-link-18">
            <a:extLst>
              <a:ext uri="{FF2B5EF4-FFF2-40B4-BE49-F238E27FC236}">
                <a16:creationId xmlns:a16="http://schemas.microsoft.com/office/drawing/2014/main" id="{E23095EE-3DA0-4FAC-84D5-F18EF165023A}"/>
              </a:ext>
            </a:extLst>
          </p:cNvPr>
          <p:cNvSpPr>
            <a:spLocks noGrp="1"/>
          </p:cNvSpPr>
          <p:nvPr/>
        </p:nvSpPr>
        <p:spPr>
          <a:xfrm>
            <a:off x="1409700" y="4114800"/>
            <a:ext cx="9525000" cy="209550"/>
          </a:xfrm>
          <a:prstGeom prst="rect">
            <a:avLst/>
          </a:prstGeom>
          <a:noFill/>
          <a:ln w="0">
            <a:noFill/>
          </a:ln>
        </p:spPr>
        <p:txBody>
          <a:bodyPr wrap="square" lIns="0" tIns="0" rIns="0" bIns="0" anchor="t">
            <a:noAutofit/>
          </a:bodyPr>
          <a:lstStyle>
            <a:defPPr algn="l">
              <a:defRPr sz="1275" b="0">
                <a:solidFill>
                  <a:srgbClr val="822433"/>
                </a:solidFill>
                <a:latin typeface="Roboto"/>
                <a:ea typeface="Roboto"/>
                <a:cs typeface="Roboto"/>
              </a:defRPr>
            </a:defPPr>
            <a:lvl1pPr algn="l">
              <a:defRPr sz="1275" b="0">
                <a:solidFill>
                  <a:srgbClr val="822433"/>
                </a:solidFill>
                <a:latin typeface="Roboto"/>
                <a:ea typeface="Roboto"/>
                <a:cs typeface="Roboto"/>
              </a:defRPr>
            </a:lvl1pPr>
            <a:lvl2pPr algn="l">
              <a:defRPr sz="1275" b="0">
                <a:solidFill>
                  <a:srgbClr val="822433"/>
                </a:solidFill>
                <a:latin typeface="Roboto"/>
                <a:ea typeface="Roboto"/>
                <a:cs typeface="Roboto"/>
              </a:defRPr>
            </a:lvl2pPr>
            <a:lvl3pPr algn="l">
              <a:defRPr sz="1275" b="0">
                <a:solidFill>
                  <a:srgbClr val="822433"/>
                </a:solidFill>
                <a:latin typeface="Roboto"/>
                <a:ea typeface="Roboto"/>
                <a:cs typeface="Roboto"/>
              </a:defRPr>
            </a:lvl3pPr>
            <a:lvl4pPr algn="l">
              <a:defRPr sz="1275" b="0">
                <a:solidFill>
                  <a:srgbClr val="822433"/>
                </a:solidFill>
                <a:latin typeface="Roboto"/>
                <a:ea typeface="Roboto"/>
                <a:cs typeface="Roboto"/>
              </a:defRPr>
            </a:lvl4pPr>
            <a:lvl5pPr algn="l">
              <a:defRPr sz="1275" b="0">
                <a:solidFill>
                  <a:srgbClr val="822433"/>
                </a:solidFill>
                <a:latin typeface="Roboto"/>
                <a:ea typeface="Roboto"/>
                <a:cs typeface="Roboto"/>
              </a:defRPr>
            </a:lvl5pPr>
            <a:lvl6pPr algn="l">
              <a:defRPr sz="1275" b="0">
                <a:solidFill>
                  <a:srgbClr val="822433"/>
                </a:solidFill>
                <a:latin typeface="Roboto"/>
                <a:ea typeface="Roboto"/>
                <a:cs typeface="Roboto"/>
              </a:defRPr>
            </a:lvl6pPr>
            <a:lvl7pPr algn="l">
              <a:defRPr sz="1275" b="0">
                <a:solidFill>
                  <a:srgbClr val="822433"/>
                </a:solidFill>
                <a:latin typeface="Roboto"/>
                <a:ea typeface="Roboto"/>
                <a:cs typeface="Roboto"/>
              </a:defRPr>
            </a:lvl7pPr>
            <a:lvl8pPr algn="l">
              <a:defRPr sz="1275" b="0">
                <a:solidFill>
                  <a:srgbClr val="822433"/>
                </a:solidFill>
                <a:latin typeface="Roboto"/>
                <a:ea typeface="Roboto"/>
                <a:cs typeface="Roboto"/>
              </a:defRPr>
            </a:lvl8pPr>
            <a:lvl9pPr algn="l">
              <a:defRPr sz="1275" b="0">
                <a:solidFill>
                  <a:srgbClr val="822433"/>
                </a:solidFill>
                <a:latin typeface="Roboto"/>
                <a:ea typeface="Roboto"/>
                <a:cs typeface="Roboto"/>
              </a:defRPr>
            </a:lvl9pPr>
          </a:lstStyle>
          <a:p>
            <a:pPr algn="l">
              <a:defRPr sz="1275" b="0">
                <a:solidFill>
                  <a:srgbClr val="822433"/>
                </a:solidFill>
                <a:latin typeface="Roboto"/>
                <a:ea typeface="Roboto"/>
                <a:cs typeface="Roboto"/>
              </a:defRPr>
            </a:pPr>
            <a:r>
              <a:rPr sz="1275" b="0">
                <a:solidFill>
                  <a:srgbClr val="822433"/>
                </a:solidFill>
                <a:latin typeface="Roboto"/>
                <a:ea typeface="Roboto"/>
                <a:cs typeface="Roboto"/>
                <a:hlinkClick r:id="rId5"/>
              </a:rPr>
              <a:t>doi: 10.1007/978-3-031-78192-6_4</a:t>
            </a:r>
          </a:p>
        </p:txBody>
      </p:sp>
      <p:sp>
        <p:nvSpPr>
          <p:cNvPr id="17" name="ref-number-19">
            <a:extLst>
              <a:ext uri="{FF2B5EF4-FFF2-40B4-BE49-F238E27FC236}">
                <a16:creationId xmlns:a16="http://schemas.microsoft.com/office/drawing/2014/main" id="{3AD4926A-1484-4225-B684-8AA5DFC0D423}"/>
              </a:ext>
            </a:extLst>
          </p:cNvPr>
          <p:cNvSpPr>
            <a:spLocks noGrp="1"/>
          </p:cNvSpPr>
          <p:nvPr/>
        </p:nvSpPr>
        <p:spPr>
          <a:xfrm>
            <a:off x="857250" y="4381500"/>
            <a:ext cx="495300" cy="333375"/>
          </a:xfrm>
          <a:prstGeom prst="rect">
            <a:avLst/>
          </a:prstGeom>
          <a:noFill/>
          <a:ln w="0">
            <a:noFill/>
          </a:ln>
        </p:spPr>
        <p:txBody>
          <a:bodyPr wrap="square" lIns="0" tIns="0" rIns="0" bIns="0" anchor="t">
            <a:noAutofit/>
          </a:bodyPr>
          <a:lstStyle>
            <a:defPPr algn="l">
              <a:defRPr sz="1650" b="1">
                <a:solidFill>
                  <a:srgbClr val="822433"/>
                </a:solidFill>
                <a:latin typeface="Roboto"/>
                <a:ea typeface="Roboto"/>
                <a:cs typeface="Roboto"/>
              </a:defRPr>
            </a:defPPr>
            <a:lvl1pPr algn="l">
              <a:defRPr sz="1650" b="1">
                <a:solidFill>
                  <a:srgbClr val="822433"/>
                </a:solidFill>
                <a:latin typeface="Roboto"/>
                <a:ea typeface="Roboto"/>
                <a:cs typeface="Roboto"/>
              </a:defRPr>
            </a:lvl1pPr>
            <a:lvl2pPr algn="l">
              <a:defRPr sz="1650" b="1">
                <a:solidFill>
                  <a:srgbClr val="822433"/>
                </a:solidFill>
                <a:latin typeface="Roboto"/>
                <a:ea typeface="Roboto"/>
                <a:cs typeface="Roboto"/>
              </a:defRPr>
            </a:lvl2pPr>
            <a:lvl3pPr algn="l">
              <a:defRPr sz="1650" b="1">
                <a:solidFill>
                  <a:srgbClr val="822433"/>
                </a:solidFill>
                <a:latin typeface="Roboto"/>
                <a:ea typeface="Roboto"/>
                <a:cs typeface="Roboto"/>
              </a:defRPr>
            </a:lvl3pPr>
            <a:lvl4pPr algn="l">
              <a:defRPr sz="1650" b="1">
                <a:solidFill>
                  <a:srgbClr val="822433"/>
                </a:solidFill>
                <a:latin typeface="Roboto"/>
                <a:ea typeface="Roboto"/>
                <a:cs typeface="Roboto"/>
              </a:defRPr>
            </a:lvl4pPr>
            <a:lvl5pPr algn="l">
              <a:defRPr sz="1650" b="1">
                <a:solidFill>
                  <a:srgbClr val="822433"/>
                </a:solidFill>
                <a:latin typeface="Roboto"/>
                <a:ea typeface="Roboto"/>
                <a:cs typeface="Roboto"/>
              </a:defRPr>
            </a:lvl5pPr>
            <a:lvl6pPr algn="l">
              <a:defRPr sz="1650" b="1">
                <a:solidFill>
                  <a:srgbClr val="822433"/>
                </a:solidFill>
                <a:latin typeface="Roboto"/>
                <a:ea typeface="Roboto"/>
                <a:cs typeface="Roboto"/>
              </a:defRPr>
            </a:lvl6pPr>
            <a:lvl7pPr algn="l">
              <a:defRPr sz="1650" b="1">
                <a:solidFill>
                  <a:srgbClr val="822433"/>
                </a:solidFill>
                <a:latin typeface="Roboto"/>
                <a:ea typeface="Roboto"/>
                <a:cs typeface="Roboto"/>
              </a:defRPr>
            </a:lvl7pPr>
            <a:lvl8pPr algn="l">
              <a:defRPr sz="1650" b="1">
                <a:solidFill>
                  <a:srgbClr val="822433"/>
                </a:solidFill>
                <a:latin typeface="Roboto"/>
                <a:ea typeface="Roboto"/>
                <a:cs typeface="Roboto"/>
              </a:defRPr>
            </a:lvl8pPr>
            <a:lvl9pPr algn="l">
              <a:defRPr sz="1650" b="1">
                <a:solidFill>
                  <a:srgbClr val="822433"/>
                </a:solidFill>
                <a:latin typeface="Roboto"/>
                <a:ea typeface="Roboto"/>
                <a:cs typeface="Roboto"/>
              </a:defRPr>
            </a:lvl9pPr>
          </a:lstStyle>
          <a:p>
            <a:pPr algn="l">
              <a:defRPr sz="1650" b="1">
                <a:solidFill>
                  <a:srgbClr val="822433"/>
                </a:solidFill>
                <a:latin typeface="Roboto"/>
                <a:ea typeface="Roboto"/>
                <a:cs typeface="Roboto"/>
              </a:defRPr>
            </a:pPr>
            <a:r>
              <a:rPr sz="1650" b="1">
                <a:solidFill>
                  <a:srgbClr val="822433"/>
                </a:solidFill>
                <a:latin typeface="Roboto"/>
                <a:ea typeface="Roboto"/>
                <a:cs typeface="Roboto"/>
              </a:rPr>
              <a:t>[19]</a:t>
            </a:r>
          </a:p>
        </p:txBody>
      </p:sp>
      <p:sp>
        <p:nvSpPr>
          <p:cNvPr id="18" name="ref-title-19">
            <a:extLst>
              <a:ext uri="{FF2B5EF4-FFF2-40B4-BE49-F238E27FC236}">
                <a16:creationId xmlns:a16="http://schemas.microsoft.com/office/drawing/2014/main" id="{F3F22C7F-C71A-4FA4-9D92-B9A713D89C3C}"/>
              </a:ext>
            </a:extLst>
          </p:cNvPr>
          <p:cNvSpPr>
            <a:spLocks noGrp="1"/>
          </p:cNvSpPr>
          <p:nvPr/>
        </p:nvSpPr>
        <p:spPr>
          <a:xfrm>
            <a:off x="1409700" y="4381500"/>
            <a:ext cx="9525000" cy="495300"/>
          </a:xfrm>
          <a:prstGeom prst="rect">
            <a:avLst/>
          </a:prstGeom>
          <a:noFill/>
          <a:ln w="0">
            <a:noFill/>
          </a:ln>
        </p:spPr>
        <p:txBody>
          <a:bodyPr wrap="square" lIns="0" tIns="0" rIns="0" bIns="0" anchor="t">
            <a:noAutofit/>
          </a:bodyPr>
          <a:lstStyle>
            <a:defPPr algn="l">
              <a:defRPr sz="1538" b="0">
                <a:solidFill>
                  <a:srgbClr val="202124"/>
                </a:solidFill>
                <a:latin typeface="Roboto"/>
                <a:ea typeface="Roboto"/>
                <a:cs typeface="Roboto"/>
              </a:defRPr>
            </a:defPPr>
            <a:lvl1pPr algn="l">
              <a:defRPr sz="1538" b="0">
                <a:solidFill>
                  <a:srgbClr val="202124"/>
                </a:solidFill>
                <a:latin typeface="Roboto"/>
                <a:ea typeface="Roboto"/>
                <a:cs typeface="Roboto"/>
              </a:defRPr>
            </a:lvl1pPr>
            <a:lvl2pPr algn="l">
              <a:defRPr sz="1538" b="0">
                <a:solidFill>
                  <a:srgbClr val="202124"/>
                </a:solidFill>
                <a:latin typeface="Roboto"/>
                <a:ea typeface="Roboto"/>
                <a:cs typeface="Roboto"/>
              </a:defRPr>
            </a:lvl2pPr>
            <a:lvl3pPr algn="l">
              <a:defRPr sz="1538" b="0">
                <a:solidFill>
                  <a:srgbClr val="202124"/>
                </a:solidFill>
                <a:latin typeface="Roboto"/>
                <a:ea typeface="Roboto"/>
                <a:cs typeface="Roboto"/>
              </a:defRPr>
            </a:lvl3pPr>
            <a:lvl4pPr algn="l">
              <a:defRPr sz="1538" b="0">
                <a:solidFill>
                  <a:srgbClr val="202124"/>
                </a:solidFill>
                <a:latin typeface="Roboto"/>
                <a:ea typeface="Roboto"/>
                <a:cs typeface="Roboto"/>
              </a:defRPr>
            </a:lvl4pPr>
            <a:lvl5pPr algn="l">
              <a:defRPr sz="1538" b="0">
                <a:solidFill>
                  <a:srgbClr val="202124"/>
                </a:solidFill>
                <a:latin typeface="Roboto"/>
                <a:ea typeface="Roboto"/>
                <a:cs typeface="Roboto"/>
              </a:defRPr>
            </a:lvl5pPr>
            <a:lvl6pPr algn="l">
              <a:defRPr sz="1538" b="0">
                <a:solidFill>
                  <a:srgbClr val="202124"/>
                </a:solidFill>
                <a:latin typeface="Roboto"/>
                <a:ea typeface="Roboto"/>
                <a:cs typeface="Roboto"/>
              </a:defRPr>
            </a:lvl6pPr>
            <a:lvl7pPr algn="l">
              <a:defRPr sz="1538" b="0">
                <a:solidFill>
                  <a:srgbClr val="202124"/>
                </a:solidFill>
                <a:latin typeface="Roboto"/>
                <a:ea typeface="Roboto"/>
                <a:cs typeface="Roboto"/>
              </a:defRPr>
            </a:lvl7pPr>
            <a:lvl8pPr algn="l">
              <a:defRPr sz="1538" b="0">
                <a:solidFill>
                  <a:srgbClr val="202124"/>
                </a:solidFill>
                <a:latin typeface="Roboto"/>
                <a:ea typeface="Roboto"/>
                <a:cs typeface="Roboto"/>
              </a:defRPr>
            </a:lvl8pPr>
            <a:lvl9pPr algn="l">
              <a:defRPr sz="1538" b="0">
                <a:solidFill>
                  <a:srgbClr val="202124"/>
                </a:solidFill>
                <a:latin typeface="Roboto"/>
                <a:ea typeface="Roboto"/>
                <a:cs typeface="Roboto"/>
              </a:defRPr>
            </a:lvl9pPr>
          </a:lstStyle>
          <a:p>
            <a:pPr algn="l">
              <a:defRPr sz="1538" b="0">
                <a:solidFill>
                  <a:srgbClr val="202124"/>
                </a:solidFill>
                <a:latin typeface="Roboto"/>
                <a:ea typeface="Roboto"/>
                <a:cs typeface="Roboto"/>
              </a:defRPr>
            </a:pPr>
            <a:r>
              <a:rPr sz="1538" b="0">
                <a:solidFill>
                  <a:srgbClr val="202124"/>
                </a:solidFill>
                <a:latin typeface="Roboto"/>
                <a:ea typeface="Roboto"/>
                <a:cs typeface="Roboto"/>
              </a:rPr>
              <a:t>B. Rolih, M. Fučka e D. Skočaj. No Label Left Behind: A Unified Surface Defect Detection Model for All Supervision Regimes.</a:t>
            </a:r>
          </a:p>
        </p:txBody>
      </p:sp>
      <p:sp>
        <p:nvSpPr>
          <p:cNvPr id="19" name="ref-venue-19">
            <a:extLst>
              <a:ext uri="{FF2B5EF4-FFF2-40B4-BE49-F238E27FC236}">
                <a16:creationId xmlns:a16="http://schemas.microsoft.com/office/drawing/2014/main" id="{1C4A3910-28E4-444D-8877-D5AC4F9C809D}"/>
              </a:ext>
            </a:extLst>
          </p:cNvPr>
          <p:cNvSpPr>
            <a:spLocks noGrp="1"/>
          </p:cNvSpPr>
          <p:nvPr/>
        </p:nvSpPr>
        <p:spPr>
          <a:xfrm>
            <a:off x="1409700" y="4886325"/>
            <a:ext cx="9525000" cy="219075"/>
          </a:xfrm>
          <a:prstGeom prst="rect">
            <a:avLst/>
          </a:prstGeom>
          <a:noFill/>
          <a:ln w="0">
            <a:noFill/>
          </a:ln>
        </p:spPr>
        <p:txBody>
          <a:bodyPr wrap="square" lIns="0" tIns="0" rIns="0" bIns="0" anchor="t">
            <a:noAutofit/>
          </a:bodyPr>
          <a:lstStyle>
            <a:defPPr algn="l">
              <a:defRPr sz="1313" b="0">
                <a:solidFill>
                  <a:srgbClr val="62666B"/>
                </a:solidFill>
                <a:latin typeface="Roboto"/>
                <a:ea typeface="Roboto"/>
                <a:cs typeface="Roboto"/>
              </a:defRPr>
            </a:defPPr>
            <a:lvl1pPr algn="l">
              <a:defRPr sz="1313" b="0">
                <a:solidFill>
                  <a:srgbClr val="62666B"/>
                </a:solidFill>
                <a:latin typeface="Roboto"/>
                <a:ea typeface="Roboto"/>
                <a:cs typeface="Roboto"/>
              </a:defRPr>
            </a:lvl1pPr>
            <a:lvl2pPr algn="l">
              <a:defRPr sz="1313" b="0">
                <a:solidFill>
                  <a:srgbClr val="62666B"/>
                </a:solidFill>
                <a:latin typeface="Roboto"/>
                <a:ea typeface="Roboto"/>
                <a:cs typeface="Roboto"/>
              </a:defRPr>
            </a:lvl2pPr>
            <a:lvl3pPr algn="l">
              <a:defRPr sz="1313" b="0">
                <a:solidFill>
                  <a:srgbClr val="62666B"/>
                </a:solidFill>
                <a:latin typeface="Roboto"/>
                <a:ea typeface="Roboto"/>
                <a:cs typeface="Roboto"/>
              </a:defRPr>
            </a:lvl3pPr>
            <a:lvl4pPr algn="l">
              <a:defRPr sz="1313" b="0">
                <a:solidFill>
                  <a:srgbClr val="62666B"/>
                </a:solidFill>
                <a:latin typeface="Roboto"/>
                <a:ea typeface="Roboto"/>
                <a:cs typeface="Roboto"/>
              </a:defRPr>
            </a:lvl4pPr>
            <a:lvl5pPr algn="l">
              <a:defRPr sz="1313" b="0">
                <a:solidFill>
                  <a:srgbClr val="62666B"/>
                </a:solidFill>
                <a:latin typeface="Roboto"/>
                <a:ea typeface="Roboto"/>
                <a:cs typeface="Roboto"/>
              </a:defRPr>
            </a:lvl5pPr>
            <a:lvl6pPr algn="l">
              <a:defRPr sz="1313" b="0">
                <a:solidFill>
                  <a:srgbClr val="62666B"/>
                </a:solidFill>
                <a:latin typeface="Roboto"/>
                <a:ea typeface="Roboto"/>
                <a:cs typeface="Roboto"/>
              </a:defRPr>
            </a:lvl6pPr>
            <a:lvl7pPr algn="l">
              <a:defRPr sz="1313" b="0">
                <a:solidFill>
                  <a:srgbClr val="62666B"/>
                </a:solidFill>
                <a:latin typeface="Roboto"/>
                <a:ea typeface="Roboto"/>
                <a:cs typeface="Roboto"/>
              </a:defRPr>
            </a:lvl7pPr>
            <a:lvl8pPr algn="l">
              <a:defRPr sz="1313" b="0">
                <a:solidFill>
                  <a:srgbClr val="62666B"/>
                </a:solidFill>
                <a:latin typeface="Roboto"/>
                <a:ea typeface="Roboto"/>
                <a:cs typeface="Roboto"/>
              </a:defRPr>
            </a:lvl8pPr>
            <a:lvl9pPr algn="l">
              <a:defRPr sz="1313" b="0">
                <a:solidFill>
                  <a:srgbClr val="62666B"/>
                </a:solidFill>
                <a:latin typeface="Roboto"/>
                <a:ea typeface="Roboto"/>
                <a:cs typeface="Roboto"/>
              </a:defRPr>
            </a:lvl9pPr>
          </a:lstStyle>
          <a:p>
            <a:pPr algn="l">
              <a:defRPr sz="1313" b="0">
                <a:solidFill>
                  <a:srgbClr val="62666B"/>
                </a:solidFill>
                <a:latin typeface="Roboto"/>
                <a:ea typeface="Roboto"/>
                <a:cs typeface="Roboto"/>
              </a:defRPr>
            </a:pPr>
            <a:r>
              <a:rPr sz="1313" b="0">
                <a:solidFill>
                  <a:srgbClr val="62666B"/>
                </a:solidFill>
                <a:latin typeface="Roboto"/>
                <a:ea typeface="Roboto"/>
                <a:cs typeface="Roboto"/>
              </a:rPr>
              <a:t>Journal of Intelligent Manufacturing, vol. 37, 2026, pp. 3189–3209.</a:t>
            </a:r>
          </a:p>
        </p:txBody>
      </p:sp>
      <p:sp>
        <p:nvSpPr>
          <p:cNvPr id="20" name="ref-link-19">
            <a:extLst>
              <a:ext uri="{FF2B5EF4-FFF2-40B4-BE49-F238E27FC236}">
                <a16:creationId xmlns:a16="http://schemas.microsoft.com/office/drawing/2014/main" id="{9F4DC7C0-79FE-4AF4-B416-57F999950109}"/>
              </a:ext>
            </a:extLst>
          </p:cNvPr>
          <p:cNvSpPr>
            <a:spLocks noGrp="1"/>
          </p:cNvSpPr>
          <p:nvPr/>
        </p:nvSpPr>
        <p:spPr>
          <a:xfrm>
            <a:off x="1409700" y="5105400"/>
            <a:ext cx="9525000" cy="209550"/>
          </a:xfrm>
          <a:prstGeom prst="rect">
            <a:avLst/>
          </a:prstGeom>
          <a:noFill/>
          <a:ln w="0">
            <a:noFill/>
          </a:ln>
        </p:spPr>
        <p:txBody>
          <a:bodyPr wrap="square" lIns="0" tIns="0" rIns="0" bIns="0" anchor="t">
            <a:noAutofit/>
          </a:bodyPr>
          <a:lstStyle>
            <a:defPPr algn="l">
              <a:defRPr sz="1275" b="0">
                <a:solidFill>
                  <a:srgbClr val="822433"/>
                </a:solidFill>
                <a:latin typeface="Roboto"/>
                <a:ea typeface="Roboto"/>
                <a:cs typeface="Roboto"/>
              </a:defRPr>
            </a:defPPr>
            <a:lvl1pPr algn="l">
              <a:defRPr sz="1275" b="0">
                <a:solidFill>
                  <a:srgbClr val="822433"/>
                </a:solidFill>
                <a:latin typeface="Roboto"/>
                <a:ea typeface="Roboto"/>
                <a:cs typeface="Roboto"/>
              </a:defRPr>
            </a:lvl1pPr>
            <a:lvl2pPr algn="l">
              <a:defRPr sz="1275" b="0">
                <a:solidFill>
                  <a:srgbClr val="822433"/>
                </a:solidFill>
                <a:latin typeface="Roboto"/>
                <a:ea typeface="Roboto"/>
                <a:cs typeface="Roboto"/>
              </a:defRPr>
            </a:lvl2pPr>
            <a:lvl3pPr algn="l">
              <a:defRPr sz="1275" b="0">
                <a:solidFill>
                  <a:srgbClr val="822433"/>
                </a:solidFill>
                <a:latin typeface="Roboto"/>
                <a:ea typeface="Roboto"/>
                <a:cs typeface="Roboto"/>
              </a:defRPr>
            </a:lvl3pPr>
            <a:lvl4pPr algn="l">
              <a:defRPr sz="1275" b="0">
                <a:solidFill>
                  <a:srgbClr val="822433"/>
                </a:solidFill>
                <a:latin typeface="Roboto"/>
                <a:ea typeface="Roboto"/>
                <a:cs typeface="Roboto"/>
              </a:defRPr>
            </a:lvl4pPr>
            <a:lvl5pPr algn="l">
              <a:defRPr sz="1275" b="0">
                <a:solidFill>
                  <a:srgbClr val="822433"/>
                </a:solidFill>
                <a:latin typeface="Roboto"/>
                <a:ea typeface="Roboto"/>
                <a:cs typeface="Roboto"/>
              </a:defRPr>
            </a:lvl5pPr>
            <a:lvl6pPr algn="l">
              <a:defRPr sz="1275" b="0">
                <a:solidFill>
                  <a:srgbClr val="822433"/>
                </a:solidFill>
                <a:latin typeface="Roboto"/>
                <a:ea typeface="Roboto"/>
                <a:cs typeface="Roboto"/>
              </a:defRPr>
            </a:lvl6pPr>
            <a:lvl7pPr algn="l">
              <a:defRPr sz="1275" b="0">
                <a:solidFill>
                  <a:srgbClr val="822433"/>
                </a:solidFill>
                <a:latin typeface="Roboto"/>
                <a:ea typeface="Roboto"/>
                <a:cs typeface="Roboto"/>
              </a:defRPr>
            </a:lvl7pPr>
            <a:lvl8pPr algn="l">
              <a:defRPr sz="1275" b="0">
                <a:solidFill>
                  <a:srgbClr val="822433"/>
                </a:solidFill>
                <a:latin typeface="Roboto"/>
                <a:ea typeface="Roboto"/>
                <a:cs typeface="Roboto"/>
              </a:defRPr>
            </a:lvl8pPr>
            <a:lvl9pPr algn="l">
              <a:defRPr sz="1275" b="0">
                <a:solidFill>
                  <a:srgbClr val="822433"/>
                </a:solidFill>
                <a:latin typeface="Roboto"/>
                <a:ea typeface="Roboto"/>
                <a:cs typeface="Roboto"/>
              </a:defRPr>
            </a:lvl9pPr>
          </a:lstStyle>
          <a:p>
            <a:pPr algn="l">
              <a:defRPr sz="1275" b="0">
                <a:solidFill>
                  <a:srgbClr val="822433"/>
                </a:solidFill>
                <a:latin typeface="Roboto"/>
                <a:ea typeface="Roboto"/>
                <a:cs typeface="Roboto"/>
              </a:defRPr>
            </a:pPr>
            <a:r>
              <a:rPr sz="1275" b="0">
                <a:solidFill>
                  <a:srgbClr val="822433"/>
                </a:solidFill>
                <a:latin typeface="Roboto"/>
                <a:ea typeface="Roboto"/>
                <a:cs typeface="Roboto"/>
                <a:hlinkClick r:id="rId6"/>
              </a:rPr>
              <a:t>doi: 10.1007/s10845-025-02680-8</a:t>
            </a:r>
          </a:p>
        </p:txBody>
      </p:sp>
      <p:sp>
        <p:nvSpPr>
          <p:cNvPr id="21" name="ref-number-20">
            <a:extLst>
              <a:ext uri="{FF2B5EF4-FFF2-40B4-BE49-F238E27FC236}">
                <a16:creationId xmlns:a16="http://schemas.microsoft.com/office/drawing/2014/main" id="{C5FAF2B5-23EF-4E96-AB39-F4EFF67082BA}"/>
              </a:ext>
            </a:extLst>
          </p:cNvPr>
          <p:cNvSpPr>
            <a:spLocks noGrp="1"/>
          </p:cNvSpPr>
          <p:nvPr/>
        </p:nvSpPr>
        <p:spPr>
          <a:xfrm>
            <a:off x="857250" y="5372100"/>
            <a:ext cx="495300" cy="333375"/>
          </a:xfrm>
          <a:prstGeom prst="rect">
            <a:avLst/>
          </a:prstGeom>
          <a:noFill/>
          <a:ln w="0">
            <a:noFill/>
          </a:ln>
        </p:spPr>
        <p:txBody>
          <a:bodyPr wrap="square" lIns="0" tIns="0" rIns="0" bIns="0" anchor="t">
            <a:noAutofit/>
          </a:bodyPr>
          <a:lstStyle>
            <a:defPPr algn="l">
              <a:defRPr sz="1650" b="1">
                <a:solidFill>
                  <a:srgbClr val="822433"/>
                </a:solidFill>
                <a:latin typeface="Roboto"/>
                <a:ea typeface="Roboto"/>
                <a:cs typeface="Roboto"/>
              </a:defRPr>
            </a:defPPr>
            <a:lvl1pPr algn="l">
              <a:defRPr sz="1650" b="1">
                <a:solidFill>
                  <a:srgbClr val="822433"/>
                </a:solidFill>
                <a:latin typeface="Roboto"/>
                <a:ea typeface="Roboto"/>
                <a:cs typeface="Roboto"/>
              </a:defRPr>
            </a:lvl1pPr>
            <a:lvl2pPr algn="l">
              <a:defRPr sz="1650" b="1">
                <a:solidFill>
                  <a:srgbClr val="822433"/>
                </a:solidFill>
                <a:latin typeface="Roboto"/>
                <a:ea typeface="Roboto"/>
                <a:cs typeface="Roboto"/>
              </a:defRPr>
            </a:lvl2pPr>
            <a:lvl3pPr algn="l">
              <a:defRPr sz="1650" b="1">
                <a:solidFill>
                  <a:srgbClr val="822433"/>
                </a:solidFill>
                <a:latin typeface="Roboto"/>
                <a:ea typeface="Roboto"/>
                <a:cs typeface="Roboto"/>
              </a:defRPr>
            </a:lvl3pPr>
            <a:lvl4pPr algn="l">
              <a:defRPr sz="1650" b="1">
                <a:solidFill>
                  <a:srgbClr val="822433"/>
                </a:solidFill>
                <a:latin typeface="Roboto"/>
                <a:ea typeface="Roboto"/>
                <a:cs typeface="Roboto"/>
              </a:defRPr>
            </a:lvl4pPr>
            <a:lvl5pPr algn="l">
              <a:defRPr sz="1650" b="1">
                <a:solidFill>
                  <a:srgbClr val="822433"/>
                </a:solidFill>
                <a:latin typeface="Roboto"/>
                <a:ea typeface="Roboto"/>
                <a:cs typeface="Roboto"/>
              </a:defRPr>
            </a:lvl5pPr>
            <a:lvl6pPr algn="l">
              <a:defRPr sz="1650" b="1">
                <a:solidFill>
                  <a:srgbClr val="822433"/>
                </a:solidFill>
                <a:latin typeface="Roboto"/>
                <a:ea typeface="Roboto"/>
                <a:cs typeface="Roboto"/>
              </a:defRPr>
            </a:lvl6pPr>
            <a:lvl7pPr algn="l">
              <a:defRPr sz="1650" b="1">
                <a:solidFill>
                  <a:srgbClr val="822433"/>
                </a:solidFill>
                <a:latin typeface="Roboto"/>
                <a:ea typeface="Roboto"/>
                <a:cs typeface="Roboto"/>
              </a:defRPr>
            </a:lvl7pPr>
            <a:lvl8pPr algn="l">
              <a:defRPr sz="1650" b="1">
                <a:solidFill>
                  <a:srgbClr val="822433"/>
                </a:solidFill>
                <a:latin typeface="Roboto"/>
                <a:ea typeface="Roboto"/>
                <a:cs typeface="Roboto"/>
              </a:defRPr>
            </a:lvl8pPr>
            <a:lvl9pPr algn="l">
              <a:defRPr sz="1650" b="1">
                <a:solidFill>
                  <a:srgbClr val="822433"/>
                </a:solidFill>
                <a:latin typeface="Roboto"/>
                <a:ea typeface="Roboto"/>
                <a:cs typeface="Roboto"/>
              </a:defRPr>
            </a:lvl9pPr>
          </a:lstStyle>
          <a:p>
            <a:pPr algn="l">
              <a:defRPr sz="1650" b="1">
                <a:solidFill>
                  <a:srgbClr val="822433"/>
                </a:solidFill>
                <a:latin typeface="Roboto"/>
                <a:ea typeface="Roboto"/>
                <a:cs typeface="Roboto"/>
              </a:defRPr>
            </a:pPr>
            <a:r>
              <a:rPr sz="1650" b="1">
                <a:solidFill>
                  <a:srgbClr val="822433"/>
                </a:solidFill>
                <a:latin typeface="Roboto"/>
                <a:ea typeface="Roboto"/>
                <a:cs typeface="Roboto"/>
              </a:rPr>
              <a:t>[20]</a:t>
            </a:r>
          </a:p>
        </p:txBody>
      </p:sp>
      <p:sp>
        <p:nvSpPr>
          <p:cNvPr id="22" name="ref-title-20">
            <a:extLst>
              <a:ext uri="{FF2B5EF4-FFF2-40B4-BE49-F238E27FC236}">
                <a16:creationId xmlns:a16="http://schemas.microsoft.com/office/drawing/2014/main" id="{AD342ED8-BE93-423A-BCCF-76564E8F00A3}"/>
              </a:ext>
            </a:extLst>
          </p:cNvPr>
          <p:cNvSpPr>
            <a:spLocks noGrp="1"/>
          </p:cNvSpPr>
          <p:nvPr/>
        </p:nvSpPr>
        <p:spPr>
          <a:xfrm>
            <a:off x="1409700" y="5372100"/>
            <a:ext cx="9525000" cy="495300"/>
          </a:xfrm>
          <a:prstGeom prst="rect">
            <a:avLst/>
          </a:prstGeom>
          <a:noFill/>
          <a:ln w="0">
            <a:noFill/>
          </a:ln>
        </p:spPr>
        <p:txBody>
          <a:bodyPr wrap="square" lIns="0" tIns="0" rIns="0" bIns="0" anchor="t">
            <a:noAutofit/>
          </a:bodyPr>
          <a:lstStyle>
            <a:defPPr algn="l">
              <a:defRPr sz="1538" b="0">
                <a:solidFill>
                  <a:srgbClr val="202124"/>
                </a:solidFill>
                <a:latin typeface="Roboto"/>
                <a:ea typeface="Roboto"/>
                <a:cs typeface="Roboto"/>
              </a:defRPr>
            </a:defPPr>
            <a:lvl1pPr algn="l">
              <a:defRPr sz="1538" b="0">
                <a:solidFill>
                  <a:srgbClr val="202124"/>
                </a:solidFill>
                <a:latin typeface="Roboto"/>
                <a:ea typeface="Roboto"/>
                <a:cs typeface="Roboto"/>
              </a:defRPr>
            </a:lvl1pPr>
            <a:lvl2pPr algn="l">
              <a:defRPr sz="1538" b="0">
                <a:solidFill>
                  <a:srgbClr val="202124"/>
                </a:solidFill>
                <a:latin typeface="Roboto"/>
                <a:ea typeface="Roboto"/>
                <a:cs typeface="Roboto"/>
              </a:defRPr>
            </a:lvl2pPr>
            <a:lvl3pPr algn="l">
              <a:defRPr sz="1538" b="0">
                <a:solidFill>
                  <a:srgbClr val="202124"/>
                </a:solidFill>
                <a:latin typeface="Roboto"/>
                <a:ea typeface="Roboto"/>
                <a:cs typeface="Roboto"/>
              </a:defRPr>
            </a:lvl3pPr>
            <a:lvl4pPr algn="l">
              <a:defRPr sz="1538" b="0">
                <a:solidFill>
                  <a:srgbClr val="202124"/>
                </a:solidFill>
                <a:latin typeface="Roboto"/>
                <a:ea typeface="Roboto"/>
                <a:cs typeface="Roboto"/>
              </a:defRPr>
            </a:lvl4pPr>
            <a:lvl5pPr algn="l">
              <a:defRPr sz="1538" b="0">
                <a:solidFill>
                  <a:srgbClr val="202124"/>
                </a:solidFill>
                <a:latin typeface="Roboto"/>
                <a:ea typeface="Roboto"/>
                <a:cs typeface="Roboto"/>
              </a:defRPr>
            </a:lvl5pPr>
            <a:lvl6pPr algn="l">
              <a:defRPr sz="1538" b="0">
                <a:solidFill>
                  <a:srgbClr val="202124"/>
                </a:solidFill>
                <a:latin typeface="Roboto"/>
                <a:ea typeface="Roboto"/>
                <a:cs typeface="Roboto"/>
              </a:defRPr>
            </a:lvl6pPr>
            <a:lvl7pPr algn="l">
              <a:defRPr sz="1538" b="0">
                <a:solidFill>
                  <a:srgbClr val="202124"/>
                </a:solidFill>
                <a:latin typeface="Roboto"/>
                <a:ea typeface="Roboto"/>
                <a:cs typeface="Roboto"/>
              </a:defRPr>
            </a:lvl7pPr>
            <a:lvl8pPr algn="l">
              <a:defRPr sz="1538" b="0">
                <a:solidFill>
                  <a:srgbClr val="202124"/>
                </a:solidFill>
                <a:latin typeface="Roboto"/>
                <a:ea typeface="Roboto"/>
                <a:cs typeface="Roboto"/>
              </a:defRPr>
            </a:lvl8pPr>
            <a:lvl9pPr algn="l">
              <a:defRPr sz="1538" b="0">
                <a:solidFill>
                  <a:srgbClr val="202124"/>
                </a:solidFill>
                <a:latin typeface="Roboto"/>
                <a:ea typeface="Roboto"/>
                <a:cs typeface="Roboto"/>
              </a:defRPr>
            </a:lvl9pPr>
          </a:lstStyle>
          <a:p>
            <a:pPr algn="l">
              <a:defRPr sz="1538" b="0">
                <a:solidFill>
                  <a:srgbClr val="202124"/>
                </a:solidFill>
                <a:latin typeface="Roboto"/>
                <a:ea typeface="Roboto"/>
                <a:cs typeface="Roboto"/>
              </a:defRPr>
            </a:pPr>
            <a:r>
              <a:rPr sz="1538" b="0">
                <a:solidFill>
                  <a:srgbClr val="202124"/>
                </a:solidFill>
                <a:latin typeface="Roboto"/>
                <a:ea typeface="Roboto"/>
                <a:cs typeface="Roboto"/>
              </a:rPr>
              <a:t>P. Bonazzi et al. TinyGLASS: Real-Time Self-Supervised In-Sensor Anomaly Detection.</a:t>
            </a:r>
          </a:p>
        </p:txBody>
      </p:sp>
      <p:sp>
        <p:nvSpPr>
          <p:cNvPr id="23" name="ref-venue-20">
            <a:extLst>
              <a:ext uri="{FF2B5EF4-FFF2-40B4-BE49-F238E27FC236}">
                <a16:creationId xmlns:a16="http://schemas.microsoft.com/office/drawing/2014/main" id="{E6719AD7-B3EB-4EBB-B802-52C4D3C04787}"/>
              </a:ext>
            </a:extLst>
          </p:cNvPr>
          <p:cNvSpPr>
            <a:spLocks noGrp="1"/>
          </p:cNvSpPr>
          <p:nvPr/>
        </p:nvSpPr>
        <p:spPr>
          <a:xfrm>
            <a:off x="1409700" y="5876925"/>
            <a:ext cx="9525000" cy="219075"/>
          </a:xfrm>
          <a:prstGeom prst="rect">
            <a:avLst/>
          </a:prstGeom>
          <a:noFill/>
          <a:ln w="0">
            <a:noFill/>
          </a:ln>
        </p:spPr>
        <p:txBody>
          <a:bodyPr wrap="square" lIns="0" tIns="0" rIns="0" bIns="0" anchor="t">
            <a:noAutofit/>
          </a:bodyPr>
          <a:lstStyle>
            <a:defPPr algn="l">
              <a:defRPr sz="1313" b="0">
                <a:solidFill>
                  <a:srgbClr val="62666B"/>
                </a:solidFill>
                <a:latin typeface="Roboto"/>
                <a:ea typeface="Roboto"/>
                <a:cs typeface="Roboto"/>
              </a:defRPr>
            </a:defPPr>
            <a:lvl1pPr algn="l">
              <a:defRPr sz="1313" b="0">
                <a:solidFill>
                  <a:srgbClr val="62666B"/>
                </a:solidFill>
                <a:latin typeface="Roboto"/>
                <a:ea typeface="Roboto"/>
                <a:cs typeface="Roboto"/>
              </a:defRPr>
            </a:lvl1pPr>
            <a:lvl2pPr algn="l">
              <a:defRPr sz="1313" b="0">
                <a:solidFill>
                  <a:srgbClr val="62666B"/>
                </a:solidFill>
                <a:latin typeface="Roboto"/>
                <a:ea typeface="Roboto"/>
                <a:cs typeface="Roboto"/>
              </a:defRPr>
            </a:lvl2pPr>
            <a:lvl3pPr algn="l">
              <a:defRPr sz="1313" b="0">
                <a:solidFill>
                  <a:srgbClr val="62666B"/>
                </a:solidFill>
                <a:latin typeface="Roboto"/>
                <a:ea typeface="Roboto"/>
                <a:cs typeface="Roboto"/>
              </a:defRPr>
            </a:lvl3pPr>
            <a:lvl4pPr algn="l">
              <a:defRPr sz="1313" b="0">
                <a:solidFill>
                  <a:srgbClr val="62666B"/>
                </a:solidFill>
                <a:latin typeface="Roboto"/>
                <a:ea typeface="Roboto"/>
                <a:cs typeface="Roboto"/>
              </a:defRPr>
            </a:lvl4pPr>
            <a:lvl5pPr algn="l">
              <a:defRPr sz="1313" b="0">
                <a:solidFill>
                  <a:srgbClr val="62666B"/>
                </a:solidFill>
                <a:latin typeface="Roboto"/>
                <a:ea typeface="Roboto"/>
                <a:cs typeface="Roboto"/>
              </a:defRPr>
            </a:lvl5pPr>
            <a:lvl6pPr algn="l">
              <a:defRPr sz="1313" b="0">
                <a:solidFill>
                  <a:srgbClr val="62666B"/>
                </a:solidFill>
                <a:latin typeface="Roboto"/>
                <a:ea typeface="Roboto"/>
                <a:cs typeface="Roboto"/>
              </a:defRPr>
            </a:lvl6pPr>
            <a:lvl7pPr algn="l">
              <a:defRPr sz="1313" b="0">
                <a:solidFill>
                  <a:srgbClr val="62666B"/>
                </a:solidFill>
                <a:latin typeface="Roboto"/>
                <a:ea typeface="Roboto"/>
                <a:cs typeface="Roboto"/>
              </a:defRPr>
            </a:lvl7pPr>
            <a:lvl8pPr algn="l">
              <a:defRPr sz="1313" b="0">
                <a:solidFill>
                  <a:srgbClr val="62666B"/>
                </a:solidFill>
                <a:latin typeface="Roboto"/>
                <a:ea typeface="Roboto"/>
                <a:cs typeface="Roboto"/>
              </a:defRPr>
            </a:lvl8pPr>
            <a:lvl9pPr algn="l">
              <a:defRPr sz="1313" b="0">
                <a:solidFill>
                  <a:srgbClr val="62666B"/>
                </a:solidFill>
                <a:latin typeface="Roboto"/>
                <a:ea typeface="Roboto"/>
                <a:cs typeface="Roboto"/>
              </a:defRPr>
            </a:lvl9pPr>
          </a:lstStyle>
          <a:p>
            <a:pPr algn="l">
              <a:defRPr sz="1313" b="0">
                <a:solidFill>
                  <a:srgbClr val="62666B"/>
                </a:solidFill>
                <a:latin typeface="Roboto"/>
                <a:ea typeface="Roboto"/>
                <a:cs typeface="Roboto"/>
              </a:defRPr>
            </a:pPr>
            <a:r>
              <a:rPr sz="1313" b="0">
                <a:solidFill>
                  <a:srgbClr val="62666B"/>
                </a:solidFill>
                <a:latin typeface="Roboto"/>
                <a:ea typeface="Roboto"/>
                <a:cs typeface="Roboto"/>
              </a:rPr>
              <a:t>arXiv:2603.16451v3, 2026. Accettato ad AICAS 2026.</a:t>
            </a:r>
          </a:p>
        </p:txBody>
      </p:sp>
      <p:sp>
        <p:nvSpPr>
          <p:cNvPr id="24" name="ref-link-20">
            <a:extLst>
              <a:ext uri="{FF2B5EF4-FFF2-40B4-BE49-F238E27FC236}">
                <a16:creationId xmlns:a16="http://schemas.microsoft.com/office/drawing/2014/main" id="{1E4A6513-56D3-41EE-8AE9-0129448807E2}"/>
              </a:ext>
            </a:extLst>
          </p:cNvPr>
          <p:cNvSpPr>
            <a:spLocks noGrp="1"/>
          </p:cNvSpPr>
          <p:nvPr/>
        </p:nvSpPr>
        <p:spPr>
          <a:xfrm>
            <a:off x="1409700" y="6096000"/>
            <a:ext cx="9525000" cy="209550"/>
          </a:xfrm>
          <a:prstGeom prst="rect">
            <a:avLst/>
          </a:prstGeom>
          <a:noFill/>
          <a:ln w="0">
            <a:noFill/>
          </a:ln>
        </p:spPr>
        <p:txBody>
          <a:bodyPr wrap="square" lIns="0" tIns="0" rIns="0" bIns="0" anchor="t">
            <a:noAutofit/>
          </a:bodyPr>
          <a:lstStyle>
            <a:defPPr algn="l">
              <a:defRPr sz="1275" b="0">
                <a:solidFill>
                  <a:srgbClr val="822433"/>
                </a:solidFill>
                <a:latin typeface="Roboto"/>
                <a:ea typeface="Roboto"/>
                <a:cs typeface="Roboto"/>
              </a:defRPr>
            </a:defPPr>
            <a:lvl1pPr algn="l">
              <a:defRPr sz="1275" b="0">
                <a:solidFill>
                  <a:srgbClr val="822433"/>
                </a:solidFill>
                <a:latin typeface="Roboto"/>
                <a:ea typeface="Roboto"/>
                <a:cs typeface="Roboto"/>
              </a:defRPr>
            </a:lvl1pPr>
            <a:lvl2pPr algn="l">
              <a:defRPr sz="1275" b="0">
                <a:solidFill>
                  <a:srgbClr val="822433"/>
                </a:solidFill>
                <a:latin typeface="Roboto"/>
                <a:ea typeface="Roboto"/>
                <a:cs typeface="Roboto"/>
              </a:defRPr>
            </a:lvl2pPr>
            <a:lvl3pPr algn="l">
              <a:defRPr sz="1275" b="0">
                <a:solidFill>
                  <a:srgbClr val="822433"/>
                </a:solidFill>
                <a:latin typeface="Roboto"/>
                <a:ea typeface="Roboto"/>
                <a:cs typeface="Roboto"/>
              </a:defRPr>
            </a:lvl3pPr>
            <a:lvl4pPr algn="l">
              <a:defRPr sz="1275" b="0">
                <a:solidFill>
                  <a:srgbClr val="822433"/>
                </a:solidFill>
                <a:latin typeface="Roboto"/>
                <a:ea typeface="Roboto"/>
                <a:cs typeface="Roboto"/>
              </a:defRPr>
            </a:lvl4pPr>
            <a:lvl5pPr algn="l">
              <a:defRPr sz="1275" b="0">
                <a:solidFill>
                  <a:srgbClr val="822433"/>
                </a:solidFill>
                <a:latin typeface="Roboto"/>
                <a:ea typeface="Roboto"/>
                <a:cs typeface="Roboto"/>
              </a:defRPr>
            </a:lvl5pPr>
            <a:lvl6pPr algn="l">
              <a:defRPr sz="1275" b="0">
                <a:solidFill>
                  <a:srgbClr val="822433"/>
                </a:solidFill>
                <a:latin typeface="Roboto"/>
                <a:ea typeface="Roboto"/>
                <a:cs typeface="Roboto"/>
              </a:defRPr>
            </a:lvl6pPr>
            <a:lvl7pPr algn="l">
              <a:defRPr sz="1275" b="0">
                <a:solidFill>
                  <a:srgbClr val="822433"/>
                </a:solidFill>
                <a:latin typeface="Roboto"/>
                <a:ea typeface="Roboto"/>
                <a:cs typeface="Roboto"/>
              </a:defRPr>
            </a:lvl7pPr>
            <a:lvl8pPr algn="l">
              <a:defRPr sz="1275" b="0">
                <a:solidFill>
                  <a:srgbClr val="822433"/>
                </a:solidFill>
                <a:latin typeface="Roboto"/>
                <a:ea typeface="Roboto"/>
                <a:cs typeface="Roboto"/>
              </a:defRPr>
            </a:lvl8pPr>
            <a:lvl9pPr algn="l">
              <a:defRPr sz="1275" b="0">
                <a:solidFill>
                  <a:srgbClr val="822433"/>
                </a:solidFill>
                <a:latin typeface="Roboto"/>
                <a:ea typeface="Roboto"/>
                <a:cs typeface="Roboto"/>
              </a:defRPr>
            </a:lvl9pPr>
          </a:lstStyle>
          <a:p>
            <a:pPr algn="l">
              <a:defRPr sz="1275" b="0">
                <a:solidFill>
                  <a:srgbClr val="822433"/>
                </a:solidFill>
                <a:latin typeface="Roboto"/>
                <a:ea typeface="Roboto"/>
                <a:cs typeface="Roboto"/>
              </a:defRPr>
            </a:pPr>
            <a:r>
              <a:rPr sz="1275" b="0">
                <a:solidFill>
                  <a:srgbClr val="822433"/>
                </a:solidFill>
                <a:latin typeface="Roboto"/>
                <a:ea typeface="Roboto"/>
                <a:cs typeface="Roboto"/>
                <a:hlinkClick r:id="rId7"/>
              </a:rPr>
              <a:t>arxiv.org/abs/2603.16451v3</a:t>
            </a:r>
          </a:p>
        </p:txBody>
      </p:sp>
    </p:spTree>
    <p:extLst>
      <p:ext uri="{BB962C8B-B14F-4D97-AF65-F5344CB8AC3E}">
        <p14:creationId xmlns:p14="http://schemas.microsoft.com/office/powerpoint/2010/main" val="222343817"/>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6107</Words>
  <Application>Microsoft Office PowerPoint</Application>
  <DocSecurity>0</DocSecurity>
  <PresentationFormat>Widescreen</PresentationFormat>
  <Paragraphs>554</Paragraphs>
  <Slides>28</Slides>
  <Notes>28</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28</vt:i4>
      </vt:variant>
    </vt:vector>
  </HeadingPairs>
  <TitlesOfParts>
    <vt:vector size="32" baseType="lpstr">
      <vt:lpstr>Arial</vt:lpstr>
      <vt:lpstr>Calibri</vt:lpstr>
      <vt:lpstr>Roboto</vt:lpstr>
      <vt:lpstr>Tema di Office</vt:lpstr>
      <vt:lpstr>Lightweight Scene Understanding and Synthetic Data-Driven Damage Inspection for Martian Rovers</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Daniele Venturini</cp:lastModifiedBy>
  <cp:revision>1</cp:revision>
  <dcterms:created xsi:type="dcterms:W3CDTF">2026-10-17T11:52:23Z</dcterms:created>
  <dcterms:modified xsi:type="dcterms:W3CDTF">2026-10-18T20:05:45Z</dcterms:modified>
</cp:coreProperties>
</file>