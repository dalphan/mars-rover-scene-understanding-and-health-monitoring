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f=1&amp;nofb=1&amp;ipt=1d8b35d30c3c4514a8382011224255d3e91fd46be4d31d385c751fa891630fa4&amp;ipo=images" ContentType="image/png"/>
  <Default Extension="png&amp;f=1&amp;nofb=1&amp;ipt=30001d8961b3b03add39ad967c319e0f168863eedd2c6ba8d6018adb4711fb1d&amp;ipo=images" ContentType="image/png"/>
  <Default Extension="png&amp;f=1&amp;nofb=1&amp;ipt=d99a559a2fe29f1924e30a5219f177b5e9da9d4501e897b9834310b79af4a48b&amp;ipo=images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3.xml" ContentType="application/vnd.openxmlformats-officedocument.drawingml.chart+xml"/>
  <Override PartName="/ppt/notesSlides/notesSlide26.xml" ContentType="application/vnd.openxmlformats-officedocument.presentationml.notesSlide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9" r:id="rId3"/>
    <p:sldId id="257" r:id="rId4"/>
    <p:sldId id="261" r:id="rId5"/>
    <p:sldId id="258" r:id="rId6"/>
    <p:sldId id="262" r:id="rId7"/>
    <p:sldId id="263" r:id="rId8"/>
    <p:sldId id="282" r:id="rId9"/>
    <p:sldId id="283" r:id="rId10"/>
    <p:sldId id="284" r:id="rId11"/>
    <p:sldId id="293" r:id="rId12"/>
    <p:sldId id="285" r:id="rId13"/>
    <p:sldId id="286" r:id="rId14"/>
    <p:sldId id="287" r:id="rId15"/>
    <p:sldId id="288" r:id="rId16"/>
    <p:sldId id="289" r:id="rId17"/>
    <p:sldId id="294" r:id="rId18"/>
    <p:sldId id="291" r:id="rId19"/>
    <p:sldId id="303" r:id="rId20"/>
    <p:sldId id="304" r:id="rId21"/>
    <p:sldId id="292" r:id="rId22"/>
    <p:sldId id="300" r:id="rId23"/>
    <p:sldId id="309" r:id="rId24"/>
    <p:sldId id="310" r:id="rId25"/>
    <p:sldId id="307" r:id="rId26"/>
    <p:sldId id="312" r:id="rId27"/>
    <p:sldId id="317" r:id="rId28"/>
    <p:sldId id="311" r:id="rId29"/>
    <p:sldId id="302" r:id="rId30"/>
    <p:sldId id="308" r:id="rId31"/>
    <p:sldId id="318" r:id="rId32"/>
    <p:sldId id="260" r:id="rId33"/>
    <p:sldId id="281" r:id="rId34"/>
    <p:sldId id="298" r:id="rId35"/>
    <p:sldId id="299" r:id="rId36"/>
    <p:sldId id="306" r:id="rId37"/>
    <p:sldId id="305" r:id="rId38"/>
    <p:sldId id="295" r:id="rId39"/>
    <p:sldId id="290" r:id="rId40"/>
    <p:sldId id="315" r:id="rId41"/>
    <p:sldId id="316" r:id="rId4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2" autoAdjust="0"/>
    <p:restoredTop sz="86847" autoAdjust="0"/>
  </p:normalViewPr>
  <p:slideViewPr>
    <p:cSldViewPr snapToGrid="0">
      <p:cViewPr varScale="1">
        <p:scale>
          <a:sx n="138" d="100"/>
          <a:sy n="138" d="100"/>
        </p:scale>
        <p:origin x="18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Test mIoU (%)</c:v>
          </c:tx>
          <c:spPr>
            <a:solidFill>
              <a:srgbClr val="D7DDE2"/>
            </a:solidFill>
          </c:spPr>
          <c:invertIfNegative val="0"/>
          <c:dPt>
            <c:idx val="5"/>
            <c:invertIfNegative val="0"/>
            <c:bubble3D val="0"/>
            <c:spPr>
              <a:solidFill>
                <a:srgbClr val="2C8390"/>
              </a:solidFill>
            </c:spPr>
            <c:extLst>
              <c:ext xmlns:c16="http://schemas.microsoft.com/office/drawing/2014/chart" uri="{C3380CC4-5D6E-409C-BE32-E72D297353CC}">
                <c16:uniqueId val="{00000001-9BA7-495B-BC66-190F257B0CA5}"/>
              </c:ext>
            </c:extLst>
          </c:dPt>
          <c:dPt>
            <c:idx val="6"/>
            <c:invertIfNegative val="0"/>
            <c:bubble3D val="0"/>
            <c:spPr>
              <a:solidFill>
                <a:srgbClr val="822433"/>
              </a:solidFill>
            </c:spPr>
            <c:extLst>
              <c:ext xmlns:c16="http://schemas.microsoft.com/office/drawing/2014/chart" uri="{C3380CC4-5D6E-409C-BE32-E72D297353CC}">
                <c16:uniqueId val="{00000003-9BA7-495B-BC66-190F257B0CA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57.89%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9BA7-495B-BC66-190F257B0CA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59.11%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BA7-495B-BC66-190F257B0CA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64.07%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9BA7-495B-BC66-190F257B0CA5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64.55%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9BA7-495B-BC66-190F257B0CA5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64.57%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9BA7-495B-BC66-190F257B0CA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73.79%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BA7-495B-BC66-190F257B0CA5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75.55%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BA7-495B-BC66-190F257B0CA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Data'!$A$2:$A$8</c:f>
              <c:strCache>
                <c:ptCount val="7"/>
                <c:pt idx="0">
                  <c:v>LCNet 3,7</c:v>
                </c:pt>
                <c:pt idx="1">
                  <c:v>LCNet 3,11</c:v>
                </c:pt>
                <c:pt idx="2">
                  <c:v>DeepLabV3+ MV2</c:v>
                </c:pt>
                <c:pt idx="3">
                  <c:v>U-Net R34</c:v>
                </c:pt>
                <c:pt idx="4">
                  <c:v>U-Net MV2</c:v>
                </c:pt>
                <c:pt idx="5">
                  <c:v>DeepLabV3 R34</c:v>
                </c:pt>
                <c:pt idx="6">
                  <c:v>SegFormer-B0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57.89</c:v>
                </c:pt>
                <c:pt idx="1">
                  <c:v>59.11</c:v>
                </c:pt>
                <c:pt idx="2">
                  <c:v>64.069999999999993</c:v>
                </c:pt>
                <c:pt idx="3">
                  <c:v>64.55</c:v>
                </c:pt>
                <c:pt idx="4">
                  <c:v>64.569999999999993</c:v>
                </c:pt>
                <c:pt idx="5">
                  <c:v>73.790000000000006</c:v>
                </c:pt>
                <c:pt idx="6">
                  <c:v>75.55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BA7-495B-BC66-190F257B0CA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it-IT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it-IT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Image AUROC (%)</c:v>
          </c:tx>
          <c:spPr>
            <a:solidFill>
              <a:srgbClr val="D7DDE2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C8390"/>
              </a:solidFill>
            </c:spPr>
            <c:extLst>
              <c:ext xmlns:c16="http://schemas.microsoft.com/office/drawing/2014/chart" uri="{C3380CC4-5D6E-409C-BE32-E72D297353CC}">
                <c16:uniqueId val="{00000001-0F1E-4BEB-BA5C-43D58947F805}"/>
              </c:ext>
            </c:extLst>
          </c:dPt>
          <c:dPt>
            <c:idx val="5"/>
            <c:invertIfNegative val="0"/>
            <c:bubble3D val="0"/>
            <c:spPr>
              <a:solidFill>
                <a:srgbClr val="822433"/>
              </a:solidFill>
            </c:spPr>
            <c:extLst>
              <c:ext xmlns:c16="http://schemas.microsoft.com/office/drawing/2014/chart" uri="{C3380CC4-5D6E-409C-BE32-E72D297353CC}">
                <c16:uniqueId val="{00000003-0F1E-4BEB-BA5C-43D58947F80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66.50%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12275782600345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0F1E-4BEB-BA5C-43D58947F80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77.33%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0147148069905894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5-0F1E-4BEB-BA5C-43D58947F80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77.52%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12275782600345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6-0F1E-4BEB-BA5C-43D58947F805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79.28%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44796107803597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7-0F1E-4BEB-BA5C-43D58947F805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82.72%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9.8219448178733737E-2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0F1E-4BEB-BA5C-43D58947F80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86.43%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F1E-4BEB-BA5C-43D58947F80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Data'!$A$2:$A$7</c:f>
              <c:strCache>
                <c:ptCount val="6"/>
                <c:pt idx="0">
                  <c:v>EfficientAD-S</c:v>
                </c:pt>
                <c:pt idx="1">
                  <c:v>TinyGLASS-512</c:v>
                </c:pt>
                <c:pt idx="2">
                  <c:v>TinyGLASS-384</c:v>
                </c:pt>
                <c:pt idx="3">
                  <c:v>PatchCore-S</c:v>
                </c:pt>
                <c:pt idx="4">
                  <c:v>SuperSimpleNet</c:v>
                </c:pt>
                <c:pt idx="5">
                  <c:v>PatchCore-L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66.5</c:v>
                </c:pt>
                <c:pt idx="1">
                  <c:v>77.33</c:v>
                </c:pt>
                <c:pt idx="2">
                  <c:v>77.52</c:v>
                </c:pt>
                <c:pt idx="3">
                  <c:v>79.28</c:v>
                </c:pt>
                <c:pt idx="4">
                  <c:v>82.72</c:v>
                </c:pt>
                <c:pt idx="5">
                  <c:v>86.43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1E-4BEB-BA5C-43D58947F80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it-IT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it-IT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CE</c:v>
          </c:tx>
          <c:spPr>
            <a:solidFill>
              <a:srgbClr val="D7DDE2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59.5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C187-41D8-85DC-321ADDCFCA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69.2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187-41D8-85DC-321ADDCFCAC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U-Net R34</c:v>
                </c:pt>
                <c:pt idx="1">
                  <c:v>SegFormer-B0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59.5</c:v>
                </c:pt>
                <c:pt idx="1">
                  <c:v>69.2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187-41D8-85DC-321ADDCFCAC4}"/>
            </c:ext>
          </c:extLst>
        </c:ser>
        <c:ser>
          <c:idx val="1"/>
          <c:order val="1"/>
          <c:tx>
            <c:v>CE + GDL</c:v>
          </c:tx>
          <c:spPr>
            <a:solidFill>
              <a:srgbClr val="822433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187-41D8-85DC-321ADDCFCA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187-41D8-85DC-321ADDCFCAC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Data'!$C$2:$C$3</c:f>
              <c:strCache>
                <c:ptCount val="2"/>
                <c:pt idx="0">
                  <c:v>U-Net R34</c:v>
                </c:pt>
                <c:pt idx="1">
                  <c:v>SegFormer-B0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64.5</c:v>
                </c:pt>
                <c:pt idx="1">
                  <c:v>75.5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187-41D8-85DC-321ADDCFCA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it-IT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65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it-IT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656B73"/>
              </a:solidFill>
              <a:latin typeface="Roboto"/>
              <a:ea typeface="Roboto"/>
              <a:cs typeface="Roboto"/>
            </a:defRPr>
          </a:pPr>
          <a:endParaRPr lang="it-IT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Validation</c:v>
          </c:tx>
          <c:spPr>
            <a:solidFill>
              <a:srgbClr val="D7DDE2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79.28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CFBC-419C-B6FD-F97CF0A7E36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70.64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FBC-419C-B6FD-F97CF0A7E36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73.99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CFBC-419C-B6FD-F97CF0A7E36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80.28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FBC-419C-B6FD-F97CF0A7E36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Oversampling, uniform</c:v>
                </c:pt>
                <c:pt idx="1">
                  <c:v>Oversampling, square</c:v>
                </c:pt>
                <c:pt idx="2">
                  <c:v>Geometric augmentation</c:v>
                </c:pt>
                <c:pt idx="3">
                  <c:v>Default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79.28</c:v>
                </c:pt>
                <c:pt idx="1">
                  <c:v>70.64</c:v>
                </c:pt>
                <c:pt idx="2">
                  <c:v>73.989999999999995</c:v>
                </c:pt>
                <c:pt idx="3">
                  <c:v>80.28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FBC-419C-B6FD-F97CF0A7E360}"/>
            </c:ext>
          </c:extLst>
        </c:ser>
        <c:ser>
          <c:idx val="1"/>
          <c:order val="1"/>
          <c:tx>
            <c:v>Test</c:v>
          </c:tx>
          <c:spPr>
            <a:solidFill>
              <a:srgbClr val="822433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72.90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CFBC-419C-B6FD-F97CF0A7E36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71.02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CFBC-419C-B6FD-F97CF0A7E36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66.86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CFBC-419C-B6FD-F97CF0A7E36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CFBC-419C-B6FD-F97CF0A7E36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Data'!$C$2:$C$5</c:f>
              <c:strCache>
                <c:ptCount val="4"/>
                <c:pt idx="0">
                  <c:v>Oversampling, uniform</c:v>
                </c:pt>
                <c:pt idx="1">
                  <c:v>Oversampling, square</c:v>
                </c:pt>
                <c:pt idx="2">
                  <c:v>Geometric augmentation</c:v>
                </c:pt>
                <c:pt idx="3">
                  <c:v>Default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72.900000000000006</c:v>
                </c:pt>
                <c:pt idx="1">
                  <c:v>71.02</c:v>
                </c:pt>
                <c:pt idx="2">
                  <c:v>66.86</c:v>
                </c:pt>
                <c:pt idx="3">
                  <c:v>75.55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FBC-419C-B6FD-F97CF0A7E36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it-IT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65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it-IT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656B73"/>
              </a:solidFill>
              <a:latin typeface="Roboto"/>
              <a:ea typeface="Roboto"/>
              <a:cs typeface="Roboto"/>
            </a:defRPr>
          </a:pPr>
          <a:endParaRPr lang="it-IT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C1239-0725-46DB-A966-8FDB2DE1064C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F6D0F-8D8B-42DD-BAAB-92498700177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3477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 of semantic segmentation is to convert each observation into a pixel-level representation of the surrounding scene that may support downstream functions such as terrain interpretation, </a:t>
            </a:r>
            <a:r>
              <a:rPr lang="en-US" dirty="0" err="1"/>
              <a:t>traversability</a:t>
            </a:r>
            <a:r>
              <a:rPr lang="en-US" dirty="0"/>
              <a:t> assessment, and route planning.</a:t>
            </a:r>
          </a:p>
          <a:p>
            <a:r>
              <a:rPr lang="en-US" dirty="0"/>
              <a:t>The colors here identify the materials and scene elements annotated in a ground truth mask, such as bedrock, rocks and sand or soil.</a:t>
            </a:r>
          </a:p>
          <a:p>
            <a:r>
              <a:rPr lang="en-US" dirty="0"/>
              <a:t>We aim to obtain a prediction mask that is as close as possible to the ground truth by feeding the observation to a DL model.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97072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5033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A177D-E449-8957-F5EF-D1DFE5F64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246E1C-C04E-3900-A01C-0B44C3A10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1607AB5-E319-4593-B1AF-164B85489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architecture set was selected with two complementary objectives: preserving continuity with the segmentation models considered in Mars-Bench and investigating light sufficiently light architectures for an accuracy-efficiency comparison for potential onboard deployment.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LCNet</a:t>
            </a:r>
            <a:r>
              <a:rPr lang="en-US" dirty="0"/>
              <a:t> models are in addition to the ones considered in Mars-Bench, they were included to test state of the art architectures that particular focus in efficiency, whereas for the other models lighter alternatives were considered with respect to Mars-Bench.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E8B3DB5-B3A0-8676-EAC6-941E982A3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116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4CDD4-00F9-26CF-C7F0-93CC3C28F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5384C7-A7BF-AD93-2819-4C57BB1B8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20E47D-6297-B0AB-7E79-542D06F18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The models </a:t>
            </a:r>
            <a:r>
              <a:rPr lang="it-IT" dirty="0" err="1"/>
              <a:t>were</a:t>
            </a:r>
            <a:r>
              <a:rPr lang="it-IT" dirty="0"/>
              <a:t> </a:t>
            </a:r>
            <a:r>
              <a:rPr lang="it-IT" dirty="0" err="1"/>
              <a:t>trained</a:t>
            </a:r>
            <a:r>
              <a:rPr lang="it-IT" dirty="0"/>
              <a:t> end to end for 30 </a:t>
            </a:r>
            <a:r>
              <a:rPr lang="it-IT" dirty="0" err="1"/>
              <a:t>epochs</a:t>
            </a:r>
            <a:r>
              <a:rPr lang="it-IT" dirty="0"/>
              <a:t>, </a:t>
            </a:r>
            <a:r>
              <a:rPr lang="it-IT" dirty="0" err="1"/>
              <a:t>extended</a:t>
            </a:r>
            <a:r>
              <a:rPr lang="it-IT" dirty="0"/>
              <a:t> to 60 for </a:t>
            </a:r>
            <a:r>
              <a:rPr lang="it-IT" dirty="0" err="1"/>
              <a:t>LCNet</a:t>
            </a:r>
            <a:r>
              <a:rPr lang="it-IT" dirty="0"/>
              <a:t>. The </a:t>
            </a:r>
            <a:r>
              <a:rPr lang="it-IT" dirty="0" err="1"/>
              <a:t>loss</a:t>
            </a:r>
            <a:r>
              <a:rPr lang="it-IT" dirty="0"/>
              <a:t> combines cross-</a:t>
            </a:r>
            <a:r>
              <a:rPr lang="it-IT" dirty="0" err="1"/>
              <a:t>entropy</a:t>
            </a:r>
            <a:r>
              <a:rPr lang="it-IT" dirty="0"/>
              <a:t> and </a:t>
            </a:r>
            <a:r>
              <a:rPr lang="it-IT" dirty="0" err="1"/>
              <a:t>Generalized</a:t>
            </a:r>
            <a:r>
              <a:rPr lang="it-IT" dirty="0"/>
              <a:t> Dice, accounting for </a:t>
            </a:r>
            <a:r>
              <a:rPr lang="it-IT" dirty="0" err="1"/>
              <a:t>both</a:t>
            </a:r>
            <a:r>
              <a:rPr lang="it-IT" dirty="0"/>
              <a:t> pixel </a:t>
            </a:r>
            <a:r>
              <a:rPr lang="it-IT" dirty="0" err="1"/>
              <a:t>classification</a:t>
            </a:r>
            <a:r>
              <a:rPr lang="it-IT" dirty="0"/>
              <a:t> and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overlap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used</a:t>
            </a:r>
            <a:r>
              <a:rPr lang="it-IT" dirty="0"/>
              <a:t> </a:t>
            </a:r>
            <a:r>
              <a:rPr lang="it-IT" dirty="0" err="1"/>
              <a:t>AdamW</a:t>
            </a:r>
            <a:r>
              <a:rPr lang="it-IT" dirty="0"/>
              <a:t> with an </a:t>
            </a:r>
            <a:r>
              <a:rPr lang="it-IT" dirty="0" err="1"/>
              <a:t>initial</a:t>
            </a:r>
            <a:r>
              <a:rPr lang="it-IT" dirty="0"/>
              <a:t> </a:t>
            </a:r>
            <a:r>
              <a:rPr lang="it-IT" dirty="0" err="1"/>
              <a:t>warm</a:t>
            </a:r>
            <a:r>
              <a:rPr lang="it-IT" dirty="0"/>
              <a:t>-up </a:t>
            </a:r>
            <a:r>
              <a:rPr lang="it-IT" dirty="0" err="1"/>
              <a:t>followed</a:t>
            </a:r>
            <a:r>
              <a:rPr lang="it-IT" dirty="0"/>
              <a:t> by cosine learning-rate </a:t>
            </a:r>
            <a:r>
              <a:rPr lang="it-IT" dirty="0" err="1"/>
              <a:t>decay</a:t>
            </a:r>
            <a:r>
              <a:rPr lang="it-IT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Quantization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 to </a:t>
            </a:r>
            <a:r>
              <a:rPr lang="it-IT" dirty="0" err="1"/>
              <a:t>further</a:t>
            </a:r>
            <a:r>
              <a:rPr lang="it-IT" dirty="0"/>
              <a:t> reduce the cost of </a:t>
            </a:r>
            <a:r>
              <a:rPr lang="it-IT" dirty="0" err="1"/>
              <a:t>inference</a:t>
            </a:r>
            <a:r>
              <a:rPr lang="it-IT" dirty="0"/>
              <a:t> of the models,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trying</a:t>
            </a:r>
            <a:r>
              <a:rPr lang="it-IT" dirty="0"/>
              <a:t> to </a:t>
            </a:r>
            <a:r>
              <a:rPr lang="it-IT" dirty="0" err="1"/>
              <a:t>keep</a:t>
            </a:r>
            <a:r>
              <a:rPr lang="it-IT" dirty="0"/>
              <a:t> </a:t>
            </a:r>
            <a:r>
              <a:rPr lang="it-IT" dirty="0" err="1"/>
              <a:t>unchanged</a:t>
            </a:r>
            <a:r>
              <a:rPr lang="it-IT" dirty="0"/>
              <a:t> the </a:t>
            </a:r>
            <a:r>
              <a:rPr lang="it-IT" dirty="0" err="1"/>
              <a:t>accuracy</a:t>
            </a:r>
            <a:r>
              <a:rPr lang="it-IT" dirty="0"/>
              <a:t>. In </a:t>
            </a:r>
            <a:r>
              <a:rPr lang="it-IT" dirty="0" err="1"/>
              <a:t>detail</a:t>
            </a:r>
            <a:r>
              <a:rPr lang="it-IT" dirty="0"/>
              <a:t>, </a:t>
            </a:r>
            <a:r>
              <a:rPr lang="it-IT" dirty="0" err="1"/>
              <a:t>symmetric</a:t>
            </a:r>
            <a:r>
              <a:rPr lang="it-IT" dirty="0"/>
              <a:t> </a:t>
            </a:r>
            <a:r>
              <a:rPr lang="it-IT" dirty="0" err="1"/>
              <a:t>quantization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 with </a:t>
            </a:r>
            <a:r>
              <a:rPr lang="it-IT" dirty="0" err="1"/>
              <a:t>Quantize</a:t>
            </a:r>
            <a:r>
              <a:rPr lang="it-IT" dirty="0"/>
              <a:t>\</a:t>
            </a:r>
            <a:r>
              <a:rPr lang="it-IT" dirty="0" err="1"/>
              <a:t>Dequantize</a:t>
            </a:r>
            <a:r>
              <a:rPr lang="it-IT" dirty="0"/>
              <a:t> </a:t>
            </a:r>
            <a:r>
              <a:rPr lang="it-IT" dirty="0" err="1"/>
              <a:t>layers</a:t>
            </a:r>
            <a:r>
              <a:rPr lang="it-IT" dirty="0"/>
              <a:t>, with some </a:t>
            </a:r>
            <a:r>
              <a:rPr lang="it-IT" dirty="0" err="1"/>
              <a:t>operation</a:t>
            </a:r>
            <a:r>
              <a:rPr lang="it-IT" dirty="0"/>
              <a:t> </a:t>
            </a:r>
            <a:r>
              <a:rPr lang="it-IT" dirty="0" err="1"/>
              <a:t>retained</a:t>
            </a:r>
            <a:r>
              <a:rPr lang="it-IT" dirty="0"/>
              <a:t> in FP16 </a:t>
            </a:r>
            <a:r>
              <a:rPr lang="it-IT" dirty="0" err="1"/>
              <a:t>even</a:t>
            </a:r>
            <a:r>
              <a:rPr lang="it-IT" dirty="0"/>
              <a:t> in INT8 to </a:t>
            </a:r>
            <a:r>
              <a:rPr lang="it-IT" dirty="0" err="1"/>
              <a:t>preserve</a:t>
            </a:r>
            <a:r>
              <a:rPr lang="it-IT" dirty="0"/>
              <a:t> </a:t>
            </a:r>
            <a:r>
              <a:rPr lang="it-IT" dirty="0" err="1"/>
              <a:t>accuracy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D62289-B215-823E-FEA8-14EAE30D2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8111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BE01-9E3F-8CD5-321D-7EEF6F13D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CAD429A-573A-2D25-D24F-5A0ECA5335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DD6CFBD-F38A-E0A7-2FE5-337CB99AC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AE6047-DDE8-73BD-A22F-1B745CE4C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614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F9091-C758-1612-5521-FCB9CDA00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D2B614-0D8C-D648-955B-D8240BD26C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BF6F856-FD58-4E79-F5B3-0A32C39A4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449AC4E-DA16-2053-181B-C50E7A03DD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0538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DA3ED-C9AA-E3C1-E69A-67C700C9D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F110E46-A6F5-3E70-CD80-4912D1E9F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9A8E31-2922-E596-1B27-52C5C68F0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D19A-F3F3-D498-35E9-9E0FD75808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0722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18EE8-8C26-AD1A-11F7-44CBDC26C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3A629C1-A28D-9DE1-6123-23272702DA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C0A0750-00D9-C5BD-BEDF-80BF2B0D4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748388F-D16A-B13D-0968-6E460E05D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2066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9CEA-4B8A-2ED9-DFF4-BE2AA8FB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C62F6C-7740-727E-20E4-5593348E0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655DDF8-6B4E-BCB5-0F37-D223306CC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AE88DD-982D-E08B-03EC-2A050D660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5365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2DEA-DEFC-DACF-EC21-F5ED0AFAA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612349B-F96A-4375-6DF8-B50177510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5D995D5-9994-260F-5B3C-CC1A5ABF4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6DA54FC-F320-211B-ED68-5A2027B9AF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9505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A165-DEFD-9ECA-8F53-3CBC777A6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C68403F-B0CE-9564-50F7-86A39EE3C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F62B687-DF61-100D-FDA8-19F91898E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2F8E76-1DBA-5B55-11B2-523AC1E7F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37537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1CCE-A2E6-4E08-40B2-AD08E19BD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8E167D3-2C15-B8A5-6661-AE1EB7B9C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7634C2-501B-190E-3CF3-5FE2B5DE8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AB0937-1082-6B13-447F-20F4C59E4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49006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2E98F-23C0-2A57-6E4E-F86B7BBF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8CBC26-F9F5-F491-0ADB-92FAE30EC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82F584-9BC8-4ADA-5315-FD8F7DD17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A56992-C101-C68D-5576-1664B875F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116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55FCB-D526-92D1-0C3A-3FBD2B0C9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3AA0D97-01FB-63D3-7393-4C944F73D6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C1DF883-31DA-5050-AA98-C52747DE86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C6D28DB-15B8-A06A-1680-B1844F1D2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10600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A3F6-A6FF-9A8E-49B1-CCF4B251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7F6DE8D-897F-1585-CD83-DC6920930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4B49934-BD49-5BBA-8DEB-36146F945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AFDD141-59E8-41CE-642B-090CB46FC1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61072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0418-822D-56A7-CF06-8142F31A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18E62E-0105-BEF7-01C1-7F23B9F09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22D827-6CBD-9441-8112-34502DCC0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8FD75B6-2DE2-E8B8-A886-B09506C73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63904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55EE6-6425-4F9C-8BD6-89DC240D0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66BAF-5FE8-901B-EDC1-65FD0E7E1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58CBD19-F153-5BC6-0165-0539E2BE5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D277CA-0620-7070-C9E4-A70B9B0C5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18611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6F6C9-29A3-B5EA-27DE-786D4F92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D20DD32-7C33-14FA-C124-A713C6A9A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67E87F-7839-9400-93CE-EB438377D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94AA8AB-CFDD-D9F7-4BEA-7D72BD5C2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41747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95282-0D08-3029-FAA2-79B3252A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59451BB-5D03-E65E-9FFB-6971E89C6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085B16-1906-00C7-F8D0-BDEA9BCEB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6E0B49-DCD5-33C7-2A4D-547013D15F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6911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805B2-D6FA-8208-0C25-0D39CBBB4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F12E4A-0F02-1AED-9B52-8A94F93A1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D54D219-E8B6-A156-CF36-2C246FA55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30044B-4124-FB63-32E2-22BCF67B5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480375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8759B-4D75-467A-41F0-CCFC84E36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BE5CD2D-FC58-5F75-2CB0-BA636F33A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F371CAF-B6FE-721F-8B8D-2AE586EA6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D7D8B25-E7C2-DD75-D4FF-60F51DB74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80822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References cited in the main slides. Consultation material after the conclusion.</a:t>
            </a:r>
          </a:p>
          <a:p>
            <a:endParaRPr dirty="0"/>
          </a:p>
          <a:p>
            <a:r>
              <a:rPr dirty="0"/>
              <a:t>[16] K. Roth et al.. Towards Total Recall in Industrial Anomaly Detection. CVPR, 2022, pp. 14318–14328. https://arxiv.org/abs/2106.08265</a:t>
            </a:r>
          </a:p>
          <a:p>
            <a:endParaRPr dirty="0"/>
          </a:p>
          <a:p>
            <a:r>
              <a:rPr dirty="0"/>
              <a:t>[17] K. </a:t>
            </a:r>
            <a:r>
              <a:rPr dirty="0" err="1"/>
              <a:t>Batzner</a:t>
            </a:r>
            <a:r>
              <a:rPr dirty="0"/>
              <a:t>, L. Heckler and R. König. EfficientAD: Accurate Visual Anomaly Detection at Millisecond-Level Latencies. WACV, 2024, pp. 128–138. https://arxiv.org/abs/2303.14535</a:t>
            </a:r>
          </a:p>
          <a:p>
            <a:endParaRPr dirty="0"/>
          </a:p>
          <a:p>
            <a:r>
              <a:rPr dirty="0"/>
              <a:t>[18] B. </a:t>
            </a:r>
            <a:r>
              <a:rPr dirty="0" err="1"/>
              <a:t>Rolih</a:t>
            </a:r>
            <a:r>
              <a:rPr dirty="0"/>
              <a:t>, M. </a:t>
            </a:r>
            <a:r>
              <a:rPr dirty="0" err="1"/>
              <a:t>Fučka</a:t>
            </a:r>
            <a:r>
              <a:rPr dirty="0"/>
              <a:t> and D. </a:t>
            </a:r>
            <a:r>
              <a:rPr dirty="0" err="1"/>
              <a:t>Skočaj</a:t>
            </a:r>
            <a:r>
              <a:rPr dirty="0"/>
              <a:t>. SuperSimpleNet: Unifying Unsupervised and Supervised Learning for Fast and Reliable Surface Defect Detection. ICPR 2024, LNCS 15310, Springer, 2025, pp. 47–65. https://doi.org/10.1007/978-3-031-78192-6_4</a:t>
            </a:r>
          </a:p>
          <a:p>
            <a:endParaRPr dirty="0"/>
          </a:p>
          <a:p>
            <a:r>
              <a:rPr dirty="0"/>
              <a:t>[19] B. </a:t>
            </a:r>
            <a:r>
              <a:rPr dirty="0" err="1"/>
              <a:t>Rolih</a:t>
            </a:r>
            <a:r>
              <a:rPr dirty="0"/>
              <a:t>, M. </a:t>
            </a:r>
            <a:r>
              <a:rPr dirty="0" err="1"/>
              <a:t>Fučka</a:t>
            </a:r>
            <a:r>
              <a:rPr dirty="0"/>
              <a:t> and D. </a:t>
            </a:r>
            <a:r>
              <a:rPr dirty="0" err="1"/>
              <a:t>Skočaj</a:t>
            </a:r>
            <a:r>
              <a:rPr dirty="0"/>
              <a:t>. No Label Left Behind: A Unified Surface Defect Detection Model for All Supervision Regimes. Journal of Intelligent Manufacturing, vol. 37, 2026, pp. 3189–3209. https://doi.org/10.1007/s10845-025-02680-8</a:t>
            </a:r>
          </a:p>
          <a:p>
            <a:endParaRPr dirty="0"/>
          </a:p>
          <a:p>
            <a:r>
              <a:rPr dirty="0"/>
              <a:t>[20] P. Bonazzi et al.. TinyGLASS: Real-Time Self-Supervised In-Sensor Anomaly Detection. arXiv:2603.16451v3, 2026. Accepted at AICAS 2026. https://arxiv.org/abs/2603.16451v3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6119-74F7-323F-A112-07E17F0A7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EEE92F-AE7A-EADD-5AEB-7F62FBCD3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B7FB79-EB9D-70CE-0B66-799CD1C91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8E65330-8BBE-C00D-394A-E0F3FDA9A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43028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9785-F828-6665-00FB-6A21C881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03BCFA-A9BC-E0F2-8ACC-883608ABA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614706D-FAE3-24EB-3A5C-B88D4E498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F89852-7142-6364-CF58-337D42A36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61564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72CFA-204B-EADB-D7F8-185F7FAEB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AEE8CCE-FF44-A42D-B25D-72C6D89F6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6ADEFB-F3F0-0680-6C17-E6BAC88ED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2BBFC16-6E93-E335-DC27-53A6610ACF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30304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7D2F-65D2-BD4F-4A7D-5537091E5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B3A4950-A67B-D5B1-FC12-3198EEFE7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FA96DD3-8859-3168-7427-0E0C01C00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FCAC24B-268F-2F77-865C-A35E418EE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14317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803789-FAE9-AE5F-D149-3256DF914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C36B48D-A499-6D9B-42D3-F50BA2FF7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F88E66-1BB0-C228-8C64-9FEA351E5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486D332-8FF2-D84A-E2CB-2C81A93D1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54B3687-79F3-A13F-A26B-1C87C3B8A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E4DE5787-B0C3-9C56-C213-8B1D226F51A3}"/>
              </a:ext>
            </a:extLst>
          </p:cNvPr>
          <p:cNvSpPr/>
          <p:nvPr userDrawn="1"/>
        </p:nvSpPr>
        <p:spPr>
          <a:xfrm>
            <a:off x="10938617" y="68366"/>
            <a:ext cx="1153682" cy="114513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CEC2B1D-479D-0F04-3FAF-30210977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118" y="5322193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98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16B67F-545E-F2F3-1CFA-1F8C9A68E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620FFD-C026-E867-AD63-592D79EC4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E1B5E04-C24B-D5D6-3D0A-F62E12A77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7FE94B9-F6E8-7619-0111-44A9CEE12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710BEB-E9FE-213D-7360-C53330E5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29511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1D697E-21B5-1000-78EF-4B3ACD5CD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12CEF4-17FB-B235-08C1-23524B552A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4A0313-0298-1377-47B1-B5F20B246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A9ABFBA-FFEB-FB63-FB52-7A183CD3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E7B181C-3C54-EFD2-F1F5-95C0D20EE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5B49CF1-81D8-D18F-93BB-B1AB52586C7C}"/>
              </a:ext>
            </a:extLst>
          </p:cNvPr>
          <p:cNvSpPr/>
          <p:nvPr userDrawn="1"/>
        </p:nvSpPr>
        <p:spPr>
          <a:xfrm>
            <a:off x="10938617" y="68366"/>
            <a:ext cx="1153682" cy="114513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7740D457-6C56-B3BB-5833-F6AD883A0B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118" y="156052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897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A99D72-CA11-3389-C4A3-05808F01F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8BE8CD-CFBF-788D-048C-6E627945DA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ECF094A-0AD8-118A-5A5F-2BBBA770C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096324B-A6ED-6C5C-45F5-F6534A8ED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F3AAECC-D6F8-D811-47C2-817A1745C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DD2689F-0EF0-256D-67D0-F67F8B2D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886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BF4958-39EE-101C-CCB9-38505F5D4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8478383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F6A501A-F474-9F9A-AD00-6351FF50F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DF36407-53B3-8A58-720F-D63BD3F38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0CE85B8-DB21-8BE8-3B07-85429916E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DACF0FB-80C3-8913-D169-E7E3220109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0D540B9-2A9E-CB1D-AB07-1CD8B277A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EB473A4-1A5D-100C-EA7B-D0F10495E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CF45C13-8344-AF21-0AB7-1E553E90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270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BC0E6F-1AB5-2269-4DB4-F107B259A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DA4CCE2-C60D-5859-1B94-A3690983C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770B1B2-CD1D-2504-DF02-2F5F8557C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7879D81-A00C-5E90-ADAE-AF1FD0C13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0937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F40DD6-905A-20F5-B57A-190C04CED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5E58C8C-4759-000A-C7C3-3B7E8F62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3FC90F-6229-5816-E211-B7EF3D86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270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4C02A9-1669-E800-77AA-97376C1DD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8BEF98-B068-A61E-D5B8-4557933C1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242C958-5A6C-F3A1-B573-9356F4F01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551D153-C103-17AA-3434-4DACDDB38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48790FD-852A-D077-B247-87F825C8C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BE65289-4B7C-6539-7CFF-5E0ED20D1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4077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DF4F45-9948-E60D-7EB6-990A66FC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FC80E67-55C5-5534-23CC-172522A3E7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C131917-E449-3A79-2FA7-6F05DBABBA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2198FA-7549-8435-0AE1-1D52FC584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7C7C673-A166-AA42-CDE7-D1159F508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4695C-3ADA-F079-EAAE-295E7403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0272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3D9E4F-171B-27B6-8C6E-A7901D437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935340E-B08B-AB7E-A2B9-50E7CC3497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E9258E-C845-3A11-BA80-25E3AFF2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B94E76-43A8-D6DF-7418-DBD244FC8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DF37EAE-02D5-2031-35AB-D79C34BDB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400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DB20921E-52EE-B765-0819-45540691F6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1053737"/>
            <a:ext cx="2628900" cy="5123226"/>
          </a:xfrm>
        </p:spPr>
        <p:txBody>
          <a:bodyPr vert="eaVert"/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41F3A47-FCF9-78D6-41FE-4E9712B01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7E077-5D91-6763-FB8F-67027502A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F9C29B-1A24-82CD-09FB-A9CDF8EC8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C09C3D8-828F-5F53-C9A0-6361273FD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43031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8024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8F9C211-565C-7446-42B4-063F1DDD4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0FBABD3-A8AF-4F53-2D97-2679239C5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1D962FE-354C-2325-C79F-CC79DE0593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A8DD84-C996-4DFC-A6C4-7C5817C05F19}" type="datetimeFigureOut">
              <a:rPr lang="it-IT" smtClean="0"/>
              <a:t>18/10/2026</a:t>
            </a:fld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06614F3-3B6C-86DA-A785-ECCA30B6D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 dirty="0" err="1"/>
              <a:t>Visionlab</a:t>
            </a:r>
            <a:r>
              <a:rPr lang="it-IT" dirty="0"/>
              <a:t> – Computer Vision </a:t>
            </a:r>
            <a:r>
              <a:rPr lang="it-IT" dirty="0" err="1"/>
              <a:t>Laboratory</a:t>
            </a:r>
            <a:r>
              <a:rPr lang="it-IT" dirty="0"/>
              <a:t> – Sapienza</a:t>
            </a:r>
          </a:p>
          <a:p>
            <a:r>
              <a:rPr lang="it-IT" dirty="0"/>
              <a:t>Via Salaria 113, 00198, Rome – Third </a:t>
            </a:r>
            <a:r>
              <a:rPr lang="it-IT" dirty="0" err="1"/>
              <a:t>Floor</a:t>
            </a:r>
            <a:r>
              <a:rPr lang="it-IT" dirty="0"/>
              <a:t>, Room 309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FAD2367-DA27-BF1C-D722-5F0C6250B7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BC9DE0-E148-4F27-888A-35D29D0A8254}" type="slidenum">
              <a:rPr lang="it-IT" smtClean="0"/>
              <a:t>‹N›</a:t>
            </a:fld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0374C98-E13C-8AA6-64A0-C1F1BC6DF9B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091749" y="1233082"/>
            <a:ext cx="3100251" cy="4769711"/>
          </a:xfrm>
          <a:prstGeom prst="rect">
            <a:avLst/>
          </a:prstGeom>
        </p:spPr>
      </p:pic>
      <p:sp>
        <p:nvSpPr>
          <p:cNvPr id="12" name="Striscia diagonale 11">
            <a:extLst>
              <a:ext uri="{FF2B5EF4-FFF2-40B4-BE49-F238E27FC236}">
                <a16:creationId xmlns:a16="http://schemas.microsoft.com/office/drawing/2014/main" id="{36E41B77-6243-9A06-B22D-1DDE56864FB1}"/>
              </a:ext>
            </a:extLst>
          </p:cNvPr>
          <p:cNvSpPr/>
          <p:nvPr userDrawn="1"/>
        </p:nvSpPr>
        <p:spPr>
          <a:xfrm>
            <a:off x="0" y="0"/>
            <a:ext cx="360000" cy="360000"/>
          </a:xfrm>
          <a:prstGeom prst="diagStripe">
            <a:avLst>
              <a:gd name="adj" fmla="val 75796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3" name="Striscia diagonale 12">
            <a:extLst>
              <a:ext uri="{FF2B5EF4-FFF2-40B4-BE49-F238E27FC236}">
                <a16:creationId xmlns:a16="http://schemas.microsoft.com/office/drawing/2014/main" id="{3906131B-CD34-FC06-2AE0-D5BFFB41216D}"/>
              </a:ext>
            </a:extLst>
          </p:cNvPr>
          <p:cNvSpPr/>
          <p:nvPr userDrawn="1"/>
        </p:nvSpPr>
        <p:spPr>
          <a:xfrm>
            <a:off x="0" y="0"/>
            <a:ext cx="540000" cy="540000"/>
          </a:xfrm>
          <a:prstGeom prst="diagStripe">
            <a:avLst>
              <a:gd name="adj" fmla="val 83292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05CFF721-6631-1D68-8373-4422D99FEEB4}"/>
              </a:ext>
            </a:extLst>
          </p:cNvPr>
          <p:cNvSpPr/>
          <p:nvPr userDrawn="1"/>
        </p:nvSpPr>
        <p:spPr>
          <a:xfrm>
            <a:off x="401888" y="1943100"/>
            <a:ext cx="79200" cy="4914900"/>
          </a:xfrm>
          <a:prstGeom prst="rect">
            <a:avLst/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947DF62-9937-FE90-1BB1-1C9C31A8ACCD}"/>
              </a:ext>
            </a:extLst>
          </p:cNvPr>
          <p:cNvSpPr/>
          <p:nvPr userDrawn="1"/>
        </p:nvSpPr>
        <p:spPr>
          <a:xfrm>
            <a:off x="241253" y="1441450"/>
            <a:ext cx="79200" cy="5416550"/>
          </a:xfrm>
          <a:prstGeom prst="rect">
            <a:avLst/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Arco a tutto sesto 15">
            <a:extLst>
              <a:ext uri="{FF2B5EF4-FFF2-40B4-BE49-F238E27FC236}">
                <a16:creationId xmlns:a16="http://schemas.microsoft.com/office/drawing/2014/main" id="{4684E799-00FD-E481-86E2-1EE57BBF0997}"/>
              </a:ext>
            </a:extLst>
          </p:cNvPr>
          <p:cNvSpPr/>
          <p:nvPr userDrawn="1"/>
        </p:nvSpPr>
        <p:spPr>
          <a:xfrm>
            <a:off x="11922000" y="6590359"/>
            <a:ext cx="540000" cy="540000"/>
          </a:xfrm>
          <a:prstGeom prst="blockArc">
            <a:avLst>
              <a:gd name="adj1" fmla="val 10825804"/>
              <a:gd name="adj2" fmla="val 16232134"/>
              <a:gd name="adj3" fmla="val 13566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7" name="Arco a tutto sesto 16">
            <a:extLst>
              <a:ext uri="{FF2B5EF4-FFF2-40B4-BE49-F238E27FC236}">
                <a16:creationId xmlns:a16="http://schemas.microsoft.com/office/drawing/2014/main" id="{C7F59C59-6D08-CAE9-1107-3C400A7AEBBD}"/>
              </a:ext>
            </a:extLst>
          </p:cNvPr>
          <p:cNvSpPr/>
          <p:nvPr userDrawn="1"/>
        </p:nvSpPr>
        <p:spPr>
          <a:xfrm>
            <a:off x="11742000" y="6408000"/>
            <a:ext cx="900000" cy="900000"/>
          </a:xfrm>
          <a:prstGeom prst="blockArc">
            <a:avLst>
              <a:gd name="adj1" fmla="val 10778727"/>
              <a:gd name="adj2" fmla="val 16191509"/>
              <a:gd name="adj3" fmla="val 9334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6CFC2AB-66E6-4288-9ECC-C88FAA0EDFD3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4714" y="136525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149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&amp;f=1&amp;nofb=1&amp;ipt=30001d8961b3b03add39ad967c319e0f168863eedd2c6ba8d6018adb4711fb1d&amp;ipo=images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&amp;f=1&amp;nofb=1&amp;ipt=1d8b35d30c3c4514a8382011224255d3e91fd46be4d31d385c751fa891630fa4&amp;ipo=images"/><Relationship Id="rId4" Type="http://schemas.openxmlformats.org/officeDocument/2006/relationships/image" Target="../media/image16.png&amp;f=1&amp;nofb=1&amp;ipt=d99a559a2fe29f1924e30a5219f177b5e9da9d4501e897b9834310b79af4a48b&amp;ipo=images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tics.jpl.nasa.gov/media/documents/fmwi-rankin-2022-0225-final.pdf" TargetMode="External"/><Relationship Id="rId2" Type="http://schemas.openxmlformats.org/officeDocument/2006/relationships/hyperlink" Target="https://www.jpl.nasa.gov/podcasts/on-a-mission-season-1/season-4-mars-rovers/episode-8-how-to-drive-a-mars-rov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52202/085713-4098" TargetMode="External"/><Relationship Id="rId5" Type="http://schemas.openxmlformats.org/officeDocument/2006/relationships/hyperlink" Target="https://doi.org/10.1109/TGRS.2024.3386756" TargetMode="External"/><Relationship Id="rId4" Type="http://schemas.openxmlformats.org/officeDocument/2006/relationships/hyperlink" Target="https://science.nasa.gov/resource/routine-inspection-of-rover-wheel-wear-and-tear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5587" TargetMode="External"/><Relationship Id="rId2" Type="http://schemas.openxmlformats.org/officeDocument/2006/relationships/hyperlink" Target="https://doi.org/10.1007/978-3-319-24574-4_2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TITS.2023.3348631" TargetMode="External"/><Relationship Id="rId5" Type="http://schemas.openxmlformats.org/officeDocument/2006/relationships/hyperlink" Target="https://arxiv.org/abs/2105.15203" TargetMode="External"/><Relationship Id="rId4" Type="http://schemas.openxmlformats.org/officeDocument/2006/relationships/hyperlink" Target="https://doi.org/10.1007/978-3-030-01234-2_49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ence.nasa.gov/resource/curiosity-3d-model/" TargetMode="External"/><Relationship Id="rId2" Type="http://schemas.openxmlformats.org/officeDocument/2006/relationships/hyperlink" Target="https://arxiv.org/abs/1712.05877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CVPR.2019.00982" TargetMode="External"/><Relationship Id="rId5" Type="http://schemas.openxmlformats.org/officeDocument/2006/relationships/hyperlink" Target="https://doi.org/10.1109/IROS.2017.8202133" TargetMode="External"/><Relationship Id="rId4" Type="http://schemas.openxmlformats.org/officeDocument/2006/relationships/hyperlink" Target="https://hirise.lpl.arizona.edu/dtm/dtm.php?ID=PSP_010573_1755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14535" TargetMode="External"/><Relationship Id="rId2" Type="http://schemas.openxmlformats.org/officeDocument/2006/relationships/hyperlink" Target="https://arxiv.org/abs/2106.0826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603.16451v3" TargetMode="External"/><Relationship Id="rId5" Type="http://schemas.openxmlformats.org/officeDocument/2006/relationships/hyperlink" Target="https://doi.org/10.1007/s10845-025-02680-8" TargetMode="External"/><Relationship Id="rId4" Type="http://schemas.openxmlformats.org/officeDocument/2006/relationships/hyperlink" Target="https://doi.org/10.1007/978-3-031-78192-6_4" TargetMode="Externa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603.16451v3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doi.org/10.1007/s10845-025-02680-8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oi.org/10.1007/978-3-031-78192-6_4" TargetMode="External"/><Relationship Id="rId5" Type="http://schemas.openxmlformats.org/officeDocument/2006/relationships/hyperlink" Target="https://arxiv.org/abs/2303.14535" TargetMode="External"/><Relationship Id="rId4" Type="http://schemas.openxmlformats.org/officeDocument/2006/relationships/hyperlink" Target="https://arxiv.org/abs/2106.08265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31.png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53CAEA-7F71-2F30-10DD-58B9AE8117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02549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rgbClr val="822433"/>
                </a:solidFill>
              </a:rPr>
              <a:t>Lightweight Scene Understanding and Synthetic Data-Driven Damage Inspection for Martian Rovers</a:t>
            </a:r>
            <a:endParaRPr lang="it-IT" sz="3000" b="1" dirty="0">
              <a:solidFill>
                <a:srgbClr val="822433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8D78800-4D63-418C-4E5E-F22E3136D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1008" y="2883408"/>
            <a:ext cx="6729984" cy="2374392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rgbClr val="822433"/>
                </a:solidFill>
              </a:rPr>
              <a:t>Faculty of Information Engineering, Informatics, and Statistics</a:t>
            </a:r>
            <a:br>
              <a:rPr lang="en-US" sz="1600" dirty="0">
                <a:solidFill>
                  <a:srgbClr val="822433"/>
                </a:solidFill>
              </a:rPr>
            </a:br>
            <a:r>
              <a:rPr lang="en-US" sz="1600" dirty="0">
                <a:solidFill>
                  <a:srgbClr val="822433"/>
                </a:solidFill>
              </a:rPr>
              <a:t>Master’s Degree in Computer Science</a:t>
            </a:r>
          </a:p>
          <a:p>
            <a:endParaRPr lang="en-US" sz="1600" dirty="0">
              <a:solidFill>
                <a:srgbClr val="822433"/>
              </a:solidFill>
            </a:endParaRPr>
          </a:p>
          <a:p>
            <a:pPr algn="l"/>
            <a:r>
              <a:rPr lang="en-US" sz="1600" b="1" dirty="0"/>
              <a:t>Venturini Daniele </a:t>
            </a:r>
            <a:r>
              <a:rPr lang="en-US" sz="1600" dirty="0"/>
              <a:t>1991255</a:t>
            </a:r>
          </a:p>
          <a:p>
            <a:pPr algn="l"/>
            <a:endParaRPr lang="en-US" sz="1600" dirty="0"/>
          </a:p>
          <a:p>
            <a:r>
              <a:rPr lang="en-US" sz="1200" dirty="0"/>
              <a:t>Academic Year 2025/2026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37F6418-D425-2C7C-A304-D79E057EED07}"/>
              </a:ext>
            </a:extLst>
          </p:cNvPr>
          <p:cNvSpPr txBox="1"/>
          <p:nvPr/>
        </p:nvSpPr>
        <p:spPr>
          <a:xfrm>
            <a:off x="5279136" y="3626453"/>
            <a:ext cx="41818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600" b="1" dirty="0">
                <a:latin typeface="Roboto" panose="02000000000000000000" pitchFamily="2" charset="0"/>
                <a:ea typeface="Roboto" panose="02000000000000000000" pitchFamily="2" charset="0"/>
              </a:rPr>
              <a:t>Advisor</a:t>
            </a:r>
          </a:p>
          <a:p>
            <a:pPr algn="r"/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Prof. Marco Raoul Marini</a:t>
            </a:r>
          </a:p>
        </p:txBody>
      </p:sp>
    </p:spTree>
    <p:extLst>
      <p:ext uri="{BB962C8B-B14F-4D97-AF65-F5344CB8AC3E}">
        <p14:creationId xmlns:p14="http://schemas.microsoft.com/office/powerpoint/2010/main" val="3325099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52D358-3BB3-2296-825B-8BBD6965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Introduction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26DA549-BCE0-5CE0-D8D7-C1E9922EA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872097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Lightweight Scene Understanding</a:t>
            </a:r>
            <a:br>
              <a:rPr lang="en-US" noProof="0" dirty="0"/>
            </a:br>
            <a:r>
              <a:rPr lang="en-US" noProof="0" dirty="0"/>
              <a:t>Synthetic Dataset Generation</a:t>
            </a:r>
            <a:br>
              <a:rPr lang="en-US" noProof="0" dirty="0"/>
            </a:br>
            <a:r>
              <a:rPr lang="en-US" noProof="0" dirty="0"/>
              <a:t>Synthetic Damage Inspection</a:t>
            </a:r>
            <a:br>
              <a:rPr lang="en-US" noProof="0" dirty="0"/>
            </a:br>
            <a:r>
              <a:rPr lang="en-US" noProof="0" dirty="0"/>
              <a:t>Results</a:t>
            </a:r>
            <a:br>
              <a:rPr lang="en-US" noProof="0" dirty="0"/>
            </a:br>
            <a:r>
              <a:rPr lang="en-US" noProof="0" dirty="0"/>
              <a:t>Conclusions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5EC5082-5C7A-8132-61EE-2CA078BECC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8D7A1F3-9163-9483-BD49-DAC8669715F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4802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magine 49">
            <a:extLst>
              <a:ext uri="{FF2B5EF4-FFF2-40B4-BE49-F238E27FC236}">
                <a16:creationId xmlns:a16="http://schemas.microsoft.com/office/drawing/2014/main" id="{2AD18066-4A8C-0450-E897-874B8C247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4297" y="2239335"/>
            <a:ext cx="2545194" cy="74094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6740B86-965C-3E84-7583-A05B80D19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The challenge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A639B77-9BDA-EAD0-49CB-91203DA67E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98F8B1C-CA64-FD18-C859-3CA0976F6CD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8" name="Segnaposto contenuto 17">
            <a:extLst>
              <a:ext uri="{FF2B5EF4-FFF2-40B4-BE49-F238E27FC236}">
                <a16:creationId xmlns:a16="http://schemas.microsoft.com/office/drawing/2014/main" id="{B72055A5-B844-AB30-1C2C-C55422CCE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643" y="2668467"/>
            <a:ext cx="4088180" cy="2538853"/>
          </a:xfrm>
        </p:spPr>
        <p:txBody>
          <a:bodyPr/>
          <a:lstStyle/>
          <a:p>
            <a:r>
              <a:rPr lang="en-US" noProof="0" dirty="0"/>
              <a:t>Mars rover operations require </a:t>
            </a:r>
            <a:r>
              <a:rPr lang="en-US" b="1" noProof="0" dirty="0">
                <a:solidFill>
                  <a:srgbClr val="822433"/>
                </a:solidFill>
              </a:rPr>
              <a:t>constant</a:t>
            </a:r>
            <a:r>
              <a:rPr lang="en-US" noProof="0" dirty="0"/>
              <a:t> supervision from Earth</a:t>
            </a:r>
          </a:p>
          <a:p>
            <a:endParaRPr lang="en-US" noProof="0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61DFB798-FB46-D3F8-1B0C-9A2600A42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9120" y="4905358"/>
            <a:ext cx="793048" cy="79304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AE9BEB5E-267F-2203-D48A-25DE09E52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2467" y="4599963"/>
            <a:ext cx="354163" cy="354163"/>
          </a:xfrm>
          <a:prstGeom prst="rect">
            <a:avLst/>
          </a:prstGeom>
        </p:spPr>
      </p:pic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9251BC44-4C1D-5D71-C0EE-CA9A3724D910}"/>
              </a:ext>
            </a:extLst>
          </p:cNvPr>
          <p:cNvCxnSpPr/>
          <p:nvPr/>
        </p:nvCxnSpPr>
        <p:spPr>
          <a:xfrm>
            <a:off x="6136829" y="5332578"/>
            <a:ext cx="4315968" cy="0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2AFD2FFA-39F9-497B-FE58-1811A084F844}"/>
              </a:ext>
            </a:extLst>
          </p:cNvPr>
          <p:cNvSpPr txBox="1"/>
          <p:nvPr/>
        </p:nvSpPr>
        <p:spPr>
          <a:xfrm>
            <a:off x="7295126" y="5024701"/>
            <a:ext cx="2143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~4 - 22 minutes one way</a:t>
            </a: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44760693-E853-A8A7-7EE4-8FA6B2F806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478" y="4768868"/>
            <a:ext cx="1066028" cy="1066028"/>
          </a:xfrm>
          <a:prstGeom prst="rect">
            <a:avLst/>
          </a:prstGeom>
        </p:spPr>
      </p:pic>
      <p:sp>
        <p:nvSpPr>
          <p:cNvPr id="30" name="Rettangolo con angoli arrotondati 29">
            <a:extLst>
              <a:ext uri="{FF2B5EF4-FFF2-40B4-BE49-F238E27FC236}">
                <a16:creationId xmlns:a16="http://schemas.microsoft.com/office/drawing/2014/main" id="{428ED2EA-849C-787B-E74B-418ECD6A93DF}"/>
              </a:ext>
            </a:extLst>
          </p:cNvPr>
          <p:cNvSpPr/>
          <p:nvPr/>
        </p:nvSpPr>
        <p:spPr>
          <a:xfrm>
            <a:off x="4788588" y="1929378"/>
            <a:ext cx="1283770" cy="369331"/>
          </a:xfrm>
          <a:prstGeom prst="round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Planning</a:t>
            </a: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BA6BB3D8-8A43-E7B1-E9B9-0F2223B807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4614" y="1887234"/>
            <a:ext cx="453618" cy="4536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0F62A17F-73DF-7D02-241C-633094ECEF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528" y="2215962"/>
            <a:ext cx="764320" cy="7643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0" name="Rettangolo con angoli arrotondati 39">
            <a:extLst>
              <a:ext uri="{FF2B5EF4-FFF2-40B4-BE49-F238E27FC236}">
                <a16:creationId xmlns:a16="http://schemas.microsoft.com/office/drawing/2014/main" id="{21ED2DED-3422-378F-5E90-2EC5D1887E79}"/>
              </a:ext>
            </a:extLst>
          </p:cNvPr>
          <p:cNvSpPr/>
          <p:nvPr/>
        </p:nvSpPr>
        <p:spPr>
          <a:xfrm>
            <a:off x="9744430" y="3193656"/>
            <a:ext cx="2359203" cy="36933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On-board execution</a:t>
            </a:r>
            <a:endParaRPr lang="en-US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2" name="Immagine 41">
            <a:extLst>
              <a:ext uri="{FF2B5EF4-FFF2-40B4-BE49-F238E27FC236}">
                <a16:creationId xmlns:a16="http://schemas.microsoft.com/office/drawing/2014/main" id="{A617BEE9-1F4A-4964-2D49-565BC00D5C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2035" y="3048874"/>
            <a:ext cx="637954" cy="637954"/>
          </a:xfrm>
          <a:prstGeom prst="rect">
            <a:avLst/>
          </a:prstGeom>
        </p:spPr>
      </p:pic>
      <p:sp>
        <p:nvSpPr>
          <p:cNvPr id="46" name="Rettangolo con angoli arrotondati 45">
            <a:extLst>
              <a:ext uri="{FF2B5EF4-FFF2-40B4-BE49-F238E27FC236}">
                <a16:creationId xmlns:a16="http://schemas.microsoft.com/office/drawing/2014/main" id="{7C7B2047-877F-A90F-36BA-FA0F72DDAF8F}"/>
              </a:ext>
            </a:extLst>
          </p:cNvPr>
          <p:cNvSpPr/>
          <p:nvPr/>
        </p:nvSpPr>
        <p:spPr>
          <a:xfrm>
            <a:off x="6912248" y="4145904"/>
            <a:ext cx="2756892" cy="659025"/>
          </a:xfrm>
          <a:prstGeom prst="round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396000" rtlCol="0" anchor="ctr"/>
          <a:lstStyle/>
          <a:p>
            <a:r>
              <a:rPr 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a Report completion</a:t>
            </a:r>
          </a:p>
          <a:p>
            <a:r>
              <a:rPr 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b Request assistance</a:t>
            </a:r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C8B78D56-50E7-38AE-1DBC-B42E01F686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8622" y="3903139"/>
            <a:ext cx="1167251" cy="1167251"/>
          </a:xfrm>
          <a:prstGeom prst="rect">
            <a:avLst/>
          </a:prstGeom>
        </p:spPr>
      </p:pic>
      <p:sp>
        <p:nvSpPr>
          <p:cNvPr id="54" name="source-citations">
            <a:extLst>
              <a:ext uri="{FF2B5EF4-FFF2-40B4-BE49-F238E27FC236}">
                <a16:creationId xmlns:a16="http://schemas.microsoft.com/office/drawing/2014/main" id="{9951E79D-3029-563E-2F5F-6E43657F1F0F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</a:t>
            </a:r>
            <a:r>
              <a:rPr lang="en-US" dirty="0"/>
              <a:t>1</a:t>
            </a: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950625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2F3DB-B36D-71F2-642D-6A23F399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640CF2-E36A-F5AD-8E25-93D0FA59F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153285"/>
            <a:ext cx="4602480" cy="3912235"/>
          </a:xfrm>
        </p:spPr>
        <p:txBody>
          <a:bodyPr>
            <a:normAutofit/>
          </a:bodyPr>
          <a:lstStyle/>
          <a:p>
            <a:r>
              <a:rPr lang="en-US" sz="2400" noProof="0" dirty="0"/>
              <a:t>Its </a:t>
            </a:r>
            <a:r>
              <a:rPr lang="en-US" sz="2400" b="1" noProof="0" dirty="0">
                <a:solidFill>
                  <a:srgbClr val="822433"/>
                </a:solidFill>
              </a:rPr>
              <a:t>mobility</a:t>
            </a:r>
            <a:r>
              <a:rPr lang="en-US" sz="2400" noProof="0" dirty="0"/>
              <a:t> depends also on its </a:t>
            </a:r>
            <a:r>
              <a:rPr lang="en-US" sz="2400" b="1" noProof="0" dirty="0">
                <a:solidFill>
                  <a:srgbClr val="822433"/>
                </a:solidFill>
              </a:rPr>
              <a:t>conditions</a:t>
            </a:r>
          </a:p>
          <a:p>
            <a:endParaRPr lang="en-US" sz="2400" noProof="0" dirty="0"/>
          </a:p>
          <a:p>
            <a:r>
              <a:rPr lang="en-US" sz="2400" noProof="0" dirty="0"/>
              <a:t>Periodic </a:t>
            </a:r>
            <a:r>
              <a:rPr lang="en-US" sz="2400" b="1" noProof="0" dirty="0">
                <a:solidFill>
                  <a:srgbClr val="822433"/>
                </a:solidFill>
              </a:rPr>
              <a:t>manual</a:t>
            </a:r>
            <a:r>
              <a:rPr lang="en-US" sz="2400" noProof="0" dirty="0"/>
              <a:t> inspection are performed, with large </a:t>
            </a:r>
            <a:r>
              <a:rPr lang="en-US" sz="2400" b="1" noProof="0" dirty="0">
                <a:solidFill>
                  <a:srgbClr val="822433"/>
                </a:solidFill>
              </a:rPr>
              <a:t>perforations</a:t>
            </a:r>
            <a:r>
              <a:rPr lang="en-US" sz="2400" noProof="0" dirty="0"/>
              <a:t> already detected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E2BE8079-4E8F-9609-C6F4-0B05A66D09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DB01F4C4-041D-4899-9D83-3B148618486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EDDF8B73-D22E-B220-A76C-AE9C753B5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The challenge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C460DA3-1734-BF4B-7776-5558C594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629521" y="1522095"/>
            <a:ext cx="6129798" cy="4286250"/>
          </a:xfrm>
          <a:prstGeom prst="rect">
            <a:avLst/>
          </a:prstGeom>
        </p:spPr>
      </p:pic>
      <p:sp>
        <p:nvSpPr>
          <p:cNvPr id="10" name="image-credit">
            <a:extLst>
              <a:ext uri="{FF2B5EF4-FFF2-40B4-BE49-F238E27FC236}">
                <a16:creationId xmlns:a16="http://schemas.microsoft.com/office/drawing/2014/main" id="{81AA6C63-374D-166A-5A5F-0C3346B8CA40}"/>
              </a:ext>
            </a:extLst>
          </p:cNvPr>
          <p:cNvSpPr>
            <a:spLocks noGrp="1"/>
          </p:cNvSpPr>
          <p:nvPr/>
        </p:nvSpPr>
        <p:spPr>
          <a:xfrm>
            <a:off x="6055995" y="5817870"/>
            <a:ext cx="54768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defPPr>
            <a:lvl1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1pPr>
            <a:lvl2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2pPr>
            <a:lvl3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3pPr>
            <a:lvl4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4pPr>
            <a:lvl5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5pPr>
            <a:lvl6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6pPr>
            <a:lvl7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7pPr>
            <a:lvl8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8pPr>
            <a:lvl9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pPr>
            <a:r>
              <a:rPr sz="1275" b="0" dirty="0">
                <a:solidFill>
                  <a:srgbClr val="62666B"/>
                </a:solidFill>
                <a:latin typeface="Roboto"/>
                <a:ea typeface="Roboto"/>
                <a:cs typeface="Roboto"/>
              </a:rPr>
              <a:t>NASA/JPL-Caltech/MSSS, sol 1315</a:t>
            </a:r>
          </a:p>
        </p:txBody>
      </p:sp>
      <p:sp>
        <p:nvSpPr>
          <p:cNvPr id="7" name="source-citations">
            <a:extLst>
              <a:ext uri="{FF2B5EF4-FFF2-40B4-BE49-F238E27FC236}">
                <a16:creationId xmlns:a16="http://schemas.microsoft.com/office/drawing/2014/main" id="{F403CAFB-45FE-3346-D51B-044908DE6ACA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[2] [3]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22127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34BA60C-D53C-33C1-F026-069C0579B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1938" y="3059768"/>
            <a:ext cx="4008121" cy="3058995"/>
          </a:xfrm>
        </p:spPr>
        <p:txBody>
          <a:bodyPr/>
          <a:lstStyle/>
          <a:p>
            <a:pPr marL="0" indent="0">
              <a:buNone/>
            </a:pPr>
            <a:r>
              <a:rPr lang="en-US" b="1" u="sng" noProof="0" dirty="0">
                <a:solidFill>
                  <a:srgbClr val="822433"/>
                </a:solidFill>
              </a:rPr>
              <a:t>1 Sce</a:t>
            </a:r>
            <a:r>
              <a:rPr lang="en-US" b="1" u="sng" dirty="0">
                <a:solidFill>
                  <a:srgbClr val="822433"/>
                </a:solidFill>
              </a:rPr>
              <a:t>ne Understanding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sz="2400" dirty="0"/>
              <a:t>Semantic segmentation of real rover Martian images</a:t>
            </a:r>
          </a:p>
          <a:p>
            <a:pPr marL="0" indent="0">
              <a:buNone/>
            </a:pPr>
            <a:r>
              <a:rPr lang="en-US" sz="2400" noProof="0" dirty="0"/>
              <a:t>To support navigation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89212E4-ADA7-A6A4-054D-7A25F5585A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751F937-567F-6642-FDCE-3DFED7334C6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0E23B25A-177E-3C6C-A6B9-E17838168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Research objective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97E7D6F9-E995-40A1-F543-8EC613B4C195}"/>
              </a:ext>
            </a:extLst>
          </p:cNvPr>
          <p:cNvSpPr txBox="1">
            <a:spLocks/>
          </p:cNvSpPr>
          <p:nvPr/>
        </p:nvSpPr>
        <p:spPr>
          <a:xfrm>
            <a:off x="6675119" y="3070122"/>
            <a:ext cx="4008121" cy="31890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u="sng" dirty="0">
                <a:solidFill>
                  <a:srgbClr val="822433"/>
                </a:solidFill>
              </a:rPr>
              <a:t>2 Wheel Inspection</a:t>
            </a:r>
          </a:p>
          <a:p>
            <a:pPr marL="0" indent="0">
              <a:buNone/>
            </a:pPr>
            <a:endParaRPr lang="en-US" b="1" u="sng" dirty="0">
              <a:solidFill>
                <a:srgbClr val="822433"/>
              </a:solidFill>
            </a:endParaRPr>
          </a:p>
          <a:p>
            <a:pPr marL="0" indent="0">
              <a:buNone/>
            </a:pPr>
            <a:r>
              <a:rPr lang="en-US" sz="2400" dirty="0"/>
              <a:t>Anomaly Detection on a  synthetic generated dataset</a:t>
            </a:r>
          </a:p>
          <a:p>
            <a:pPr marL="0" indent="0">
              <a:buNone/>
            </a:pPr>
            <a:r>
              <a:rPr lang="en-US" sz="2400" noProof="0" dirty="0"/>
              <a:t>To prevent more damage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C70907-1725-B8AC-9511-304555C4CF88}"/>
              </a:ext>
            </a:extLst>
          </p:cNvPr>
          <p:cNvGrpSpPr/>
          <p:nvPr/>
        </p:nvGrpSpPr>
        <p:grpSpPr>
          <a:xfrm>
            <a:off x="1051560" y="1592054"/>
            <a:ext cx="9356815" cy="829997"/>
            <a:chOff x="1051560" y="1592054"/>
            <a:chExt cx="9356815" cy="829997"/>
          </a:xfrm>
        </p:grpSpPr>
        <p:sp>
          <p:nvSpPr>
            <p:cNvPr id="12" name="Segnaposto contenuto 2">
              <a:extLst>
                <a:ext uri="{FF2B5EF4-FFF2-40B4-BE49-F238E27FC236}">
                  <a16:creationId xmlns:a16="http://schemas.microsoft.com/office/drawing/2014/main" id="{BE704A8C-B264-41F2-916E-C29042E0E019}"/>
                </a:ext>
              </a:extLst>
            </p:cNvPr>
            <p:cNvSpPr txBox="1">
              <a:spLocks/>
            </p:cNvSpPr>
            <p:nvPr/>
          </p:nvSpPr>
          <p:spPr>
            <a:xfrm>
              <a:off x="3307623" y="1592054"/>
              <a:ext cx="7100752" cy="82999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2400" noProof="0" dirty="0"/>
                <a:t>Support autonomous operations, considering an accuracy-efficiency tradeoff </a:t>
              </a:r>
            </a:p>
          </p:txBody>
        </p:sp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71EDF741-FD85-D6EE-C4DB-AF84B65AD4BD}"/>
                </a:ext>
              </a:extLst>
            </p:cNvPr>
            <p:cNvSpPr/>
            <p:nvPr/>
          </p:nvSpPr>
          <p:spPr>
            <a:xfrm>
              <a:off x="1051560" y="1798869"/>
              <a:ext cx="2545080" cy="426720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en-US" sz="2400" b="1" u="sng" noProof="0" dirty="0">
                  <a:solidFill>
                    <a:srgbClr val="822433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Main Objective:</a:t>
              </a:r>
            </a:p>
          </p:txBody>
        </p:sp>
      </p:grp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77D9676C-38F9-2A8D-7609-719A38AE19C4}"/>
              </a:ext>
            </a:extLst>
          </p:cNvPr>
          <p:cNvCxnSpPr>
            <a:cxnSpLocks/>
          </p:cNvCxnSpPr>
          <p:nvPr/>
        </p:nvCxnSpPr>
        <p:spPr>
          <a:xfrm>
            <a:off x="952500" y="2746086"/>
            <a:ext cx="10287000" cy="0"/>
          </a:xfrm>
          <a:prstGeom prst="line">
            <a:avLst/>
          </a:prstGeom>
          <a:ln w="28575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43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D9DC1-FC24-E459-7A5E-590238C99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398E57-68D8-3449-9EA5-E189F2610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Lightweight</a:t>
            </a:r>
            <a:r>
              <a:rPr lang="it-IT" sz="5400" dirty="0">
                <a:solidFill>
                  <a:srgbClr val="822433"/>
                </a:solidFill>
              </a:rPr>
              <a:t> Scene </a:t>
            </a:r>
            <a:r>
              <a:rPr lang="it-IT" sz="5400" dirty="0" err="1">
                <a:solidFill>
                  <a:srgbClr val="822433"/>
                </a:solidFill>
              </a:rPr>
              <a:t>Understanding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FF8C077-08F7-ABFC-1C23-781287469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3322320"/>
            <a:ext cx="10515600" cy="466090"/>
          </a:xfrm>
        </p:spPr>
        <p:txBody>
          <a:bodyPr/>
          <a:lstStyle/>
          <a:p>
            <a:r>
              <a:rPr lang="it-IT" dirty="0" err="1"/>
              <a:t>Introduction</a:t>
            </a:r>
            <a:endParaRPr lang="it-IT" dirty="0"/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0DA9B12F-F05D-2B3C-CF9A-C423929A0C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652D18F-50DB-3CB9-74C4-FB954482CB2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1643E970-55F9-1B32-2F4A-03CB791398BC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Synthetic Dataset Generation</a:t>
            </a:r>
            <a:br>
              <a:rPr lang="en-US" dirty="0"/>
            </a:br>
            <a:r>
              <a:rPr lang="en-US" dirty="0"/>
              <a:t>Synthetic Damage Inspection</a:t>
            </a:r>
            <a:br>
              <a:rPr lang="en-US" dirty="0"/>
            </a:br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28827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E15-2EC3-5B81-9131-12F4F3562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A02A468-36B8-2AD1-4F16-532FACD2F5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838F9F36-E922-47DD-82F5-1C0DEF15327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508A5B33-C04C-C1B1-345F-4459DA70F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Semantic Segmentation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9" name="label-s5mars-rgb.png">
            <a:extLst>
              <a:ext uri="{FF2B5EF4-FFF2-40B4-BE49-F238E27FC236}">
                <a16:creationId xmlns:a16="http://schemas.microsoft.com/office/drawing/2014/main" id="{12BAE005-0076-88ED-9DF3-B48160278A3B}"/>
              </a:ext>
            </a:extLst>
          </p:cNvPr>
          <p:cNvSpPr>
            <a:spLocks noGrp="1"/>
          </p:cNvSpPr>
          <p:nvPr/>
        </p:nvSpPr>
        <p:spPr>
          <a:xfrm>
            <a:off x="1410272" y="1624293"/>
            <a:ext cx="3095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RGB observation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51C1090F-2023-3CE3-3D08-16BC58660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10272" y="2195793"/>
            <a:ext cx="3095625" cy="3095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label-s5mars-ground-truth.png">
            <a:extLst>
              <a:ext uri="{FF2B5EF4-FFF2-40B4-BE49-F238E27FC236}">
                <a16:creationId xmlns:a16="http://schemas.microsoft.com/office/drawing/2014/main" id="{D046D544-3F35-663A-DCC2-31BC5E9B921D}"/>
              </a:ext>
            </a:extLst>
          </p:cNvPr>
          <p:cNvSpPr>
            <a:spLocks noGrp="1"/>
          </p:cNvSpPr>
          <p:nvPr/>
        </p:nvSpPr>
        <p:spPr>
          <a:xfrm>
            <a:off x="6513195" y="1624293"/>
            <a:ext cx="3095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Ground truth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FB42439D-B7EC-B646-B7CA-66FE67A78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13195" y="2195793"/>
            <a:ext cx="3095625" cy="3095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bedrock-label">
            <a:extLst>
              <a:ext uri="{FF2B5EF4-FFF2-40B4-BE49-F238E27FC236}">
                <a16:creationId xmlns:a16="http://schemas.microsoft.com/office/drawing/2014/main" id="{060BA734-702C-9AB5-4E6D-626385854CDB}"/>
              </a:ext>
            </a:extLst>
          </p:cNvPr>
          <p:cNvSpPr>
            <a:spLocks noGrp="1"/>
          </p:cNvSpPr>
          <p:nvPr/>
        </p:nvSpPr>
        <p:spPr>
          <a:xfrm>
            <a:off x="9982200" y="3270214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A67A1B"/>
                </a:solidFill>
                <a:latin typeface="Roboto"/>
                <a:ea typeface="Roboto"/>
                <a:cs typeface="Roboto"/>
              </a:rPr>
              <a:t>Bedrock</a:t>
            </a:r>
          </a:p>
        </p:txBody>
      </p:sp>
      <p:sp>
        <p:nvSpPr>
          <p:cNvPr id="24" name="sand-label">
            <a:extLst>
              <a:ext uri="{FF2B5EF4-FFF2-40B4-BE49-F238E27FC236}">
                <a16:creationId xmlns:a16="http://schemas.microsoft.com/office/drawing/2014/main" id="{9070F048-44B2-EAFA-32AE-2015D750BBC4}"/>
              </a:ext>
            </a:extLst>
          </p:cNvPr>
          <p:cNvSpPr>
            <a:spLocks noGrp="1"/>
          </p:cNvSpPr>
          <p:nvPr/>
        </p:nvSpPr>
        <p:spPr>
          <a:xfrm>
            <a:off x="9982200" y="3603689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279D96"/>
                </a:solidFill>
                <a:latin typeface="Roboto"/>
                <a:ea typeface="Roboto"/>
                <a:cs typeface="Roboto"/>
              </a:rPr>
              <a:t>Sand / Soil</a:t>
            </a:r>
          </a:p>
        </p:txBody>
      </p:sp>
      <p:sp>
        <p:nvSpPr>
          <p:cNvPr id="26" name="rock-label">
            <a:extLst>
              <a:ext uri="{FF2B5EF4-FFF2-40B4-BE49-F238E27FC236}">
                <a16:creationId xmlns:a16="http://schemas.microsoft.com/office/drawing/2014/main" id="{364FCDEC-42F1-DC3B-41A2-EC3294B6F42B}"/>
              </a:ext>
            </a:extLst>
          </p:cNvPr>
          <p:cNvSpPr>
            <a:spLocks noGrp="1"/>
          </p:cNvSpPr>
          <p:nvPr/>
        </p:nvSpPr>
        <p:spPr>
          <a:xfrm>
            <a:off x="9982200" y="3937064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E8324A"/>
                </a:solidFill>
                <a:latin typeface="Roboto"/>
                <a:ea typeface="Roboto"/>
                <a:cs typeface="Roboto"/>
              </a:rPr>
              <a:t>Rock</a:t>
            </a:r>
          </a:p>
        </p:txBody>
      </p:sp>
      <p:sp>
        <p:nvSpPr>
          <p:cNvPr id="27" name="Freccia destra con strisce 26">
            <a:extLst>
              <a:ext uri="{FF2B5EF4-FFF2-40B4-BE49-F238E27FC236}">
                <a16:creationId xmlns:a16="http://schemas.microsoft.com/office/drawing/2014/main" id="{4BCDD231-02F5-4425-1986-20535CFEC86F}"/>
              </a:ext>
            </a:extLst>
          </p:cNvPr>
          <p:cNvSpPr/>
          <p:nvPr/>
        </p:nvSpPr>
        <p:spPr>
          <a:xfrm>
            <a:off x="4816412" y="3529198"/>
            <a:ext cx="1417320" cy="271844"/>
          </a:xfrm>
          <a:prstGeom prst="stripedRightArrow">
            <a:avLst/>
          </a:prstGeom>
          <a:solidFill>
            <a:srgbClr val="C00000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87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71A55-B809-6799-6B7A-E36815895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DDED31-4FA3-6092-E392-CFCF1D6BC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>
                <a:solidFill>
                  <a:srgbClr val="822433"/>
                </a:solidFill>
              </a:rPr>
              <a:t>Mars-Bench</a:t>
            </a:r>
            <a:r>
              <a:rPr lang="en-US" noProof="0" dirty="0"/>
              <a:t> is the </a:t>
            </a:r>
            <a:r>
              <a:rPr lang="en-US" noProof="0" dirty="0">
                <a:solidFill>
                  <a:srgbClr val="822433"/>
                </a:solidFill>
              </a:rPr>
              <a:t>first</a:t>
            </a:r>
            <a:r>
              <a:rPr lang="en-US" noProof="0" dirty="0"/>
              <a:t> benchmark for Mars-related tasks.</a:t>
            </a:r>
            <a:br>
              <a:rPr lang="en-US" noProof="0" dirty="0"/>
            </a:br>
            <a:endParaRPr lang="en-US" noProof="0" dirty="0"/>
          </a:p>
          <a:p>
            <a:r>
              <a:rPr lang="en-US" b="1" u="sng" noProof="0" dirty="0">
                <a:solidFill>
                  <a:srgbClr val="822433"/>
                </a:solidFill>
              </a:rPr>
              <a:t>S</a:t>
            </a:r>
            <a:r>
              <a:rPr lang="en-US" b="1" u="sng" baseline="30000" noProof="0" dirty="0">
                <a:solidFill>
                  <a:srgbClr val="822433"/>
                </a:solidFill>
              </a:rPr>
              <a:t>5</a:t>
            </a:r>
            <a:r>
              <a:rPr lang="en-US" b="1" u="sng" noProof="0" dirty="0">
                <a:solidFill>
                  <a:srgbClr val="822433"/>
                </a:solidFill>
              </a:rPr>
              <a:t>Mars</a:t>
            </a:r>
            <a:br>
              <a:rPr lang="en-US" noProof="0" dirty="0"/>
            </a:br>
            <a:r>
              <a:rPr lang="en-US" sz="2000" noProof="0" dirty="0"/>
              <a:t>- Training dataset of Curiosity </a:t>
            </a:r>
            <a:r>
              <a:rPr lang="en-US" sz="2000" noProof="0" dirty="0" err="1"/>
              <a:t>Mastcam</a:t>
            </a:r>
            <a:r>
              <a:rPr lang="en-US" sz="2000" noProof="0" dirty="0"/>
              <a:t> images</a:t>
            </a:r>
            <a:br>
              <a:rPr lang="en-US" sz="2000" noProof="0" dirty="0"/>
            </a:br>
            <a:r>
              <a:rPr lang="en-US" sz="2000" noProof="0" dirty="0"/>
              <a:t>- 9 classes including </a:t>
            </a:r>
            <a:r>
              <a:rPr lang="en-US" sz="2000" b="1" noProof="0" dirty="0">
                <a:solidFill>
                  <a:srgbClr val="822433"/>
                </a:solidFill>
              </a:rPr>
              <a:t>Rover</a:t>
            </a:r>
            <a:endParaRPr lang="en-US" noProof="0" dirty="0"/>
          </a:p>
          <a:p>
            <a:endParaRPr lang="en-US" noProof="0" dirty="0"/>
          </a:p>
          <a:p>
            <a:r>
              <a:rPr lang="en-US" b="1" u="sng" noProof="0" dirty="0">
                <a:solidFill>
                  <a:srgbClr val="822433"/>
                </a:solidFill>
              </a:rPr>
              <a:t>MarsSeg MER</a:t>
            </a:r>
            <a:br>
              <a:rPr lang="en-US" b="1" u="sng" noProof="0" dirty="0">
                <a:solidFill>
                  <a:srgbClr val="822433"/>
                </a:solidFill>
              </a:rPr>
            </a:br>
            <a:r>
              <a:rPr lang="en-US" b="1" u="sng" noProof="0" dirty="0">
                <a:solidFill>
                  <a:srgbClr val="822433"/>
                </a:solidFill>
              </a:rPr>
              <a:t>MarsSeg MSL</a:t>
            </a:r>
            <a:br>
              <a:rPr lang="en-US" noProof="0" dirty="0"/>
            </a:br>
            <a:r>
              <a:rPr lang="en-US" noProof="0" dirty="0"/>
              <a:t>- </a:t>
            </a:r>
            <a:r>
              <a:rPr lang="en-US" sz="2000" noProof="0" dirty="0"/>
              <a:t>Both with 7 classes, </a:t>
            </a:r>
            <a:r>
              <a:rPr lang="en-US" sz="2000" b="1" noProof="0" dirty="0">
                <a:solidFill>
                  <a:srgbClr val="822433"/>
                </a:solidFill>
              </a:rPr>
              <a:t>cross-generalization</a:t>
            </a:r>
            <a:r>
              <a:rPr lang="en-US" sz="2000" noProof="0" dirty="0"/>
              <a:t> experiment</a:t>
            </a:r>
            <a:r>
              <a:rPr lang="en-US" noProof="0" dirty="0"/>
              <a:t>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7333228-7387-BF0A-CFA6-C5FD97E64CF8}"/>
              </a:ext>
            </a:extLst>
          </p:cNvPr>
          <p:cNvSpPr txBox="1"/>
          <p:nvPr/>
        </p:nvSpPr>
        <p:spPr>
          <a:xfrm>
            <a:off x="7830513" y="3456709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4997                 200                800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139C048-34BF-7B5A-6163-91841FF0D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Datasets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D152C583-A5BE-E053-2769-61991AF408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A7866418-312D-42E0-1E6B-9EDDEA88963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74D087B9-A578-27C1-1F1E-846EE9572A21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[4] [5]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E6FC97A-2407-8340-EDB3-B280D9678CC9}"/>
              </a:ext>
            </a:extLst>
          </p:cNvPr>
          <p:cNvSpPr txBox="1"/>
          <p:nvPr/>
        </p:nvSpPr>
        <p:spPr>
          <a:xfrm>
            <a:off x="7825051" y="2975522"/>
            <a:ext cx="3355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Training          </a:t>
            </a:r>
            <a:r>
              <a:rPr lang="it-IT" sz="1600" b="1" dirty="0" err="1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Validation</a:t>
            </a:r>
            <a:r>
              <a:rPr lang="it-IT" sz="16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Test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D9695DA4-0562-3376-F63C-FC82EADAA115}"/>
              </a:ext>
            </a:extLst>
          </p:cNvPr>
          <p:cNvCxnSpPr>
            <a:cxnSpLocks/>
          </p:cNvCxnSpPr>
          <p:nvPr/>
        </p:nvCxnSpPr>
        <p:spPr>
          <a:xfrm>
            <a:off x="7835539" y="3323843"/>
            <a:ext cx="3189312" cy="0"/>
          </a:xfrm>
          <a:prstGeom prst="line">
            <a:avLst/>
          </a:prstGeom>
          <a:ln w="19050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F9E4BD6A-8DFD-A972-A649-3499796056F6}"/>
              </a:ext>
            </a:extLst>
          </p:cNvPr>
          <p:cNvCxnSpPr>
            <a:cxnSpLocks/>
          </p:cNvCxnSpPr>
          <p:nvPr/>
        </p:nvCxnSpPr>
        <p:spPr>
          <a:xfrm>
            <a:off x="8864141" y="3054927"/>
            <a:ext cx="0" cy="2563091"/>
          </a:xfrm>
          <a:prstGeom prst="line">
            <a:avLst/>
          </a:prstGeom>
          <a:ln w="12700">
            <a:solidFill>
              <a:srgbClr val="82243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5711A75B-243D-E778-8526-BDBFCCEA875C}"/>
              </a:ext>
            </a:extLst>
          </p:cNvPr>
          <p:cNvCxnSpPr>
            <a:cxnSpLocks/>
          </p:cNvCxnSpPr>
          <p:nvPr/>
        </p:nvCxnSpPr>
        <p:spPr>
          <a:xfrm>
            <a:off x="10291161" y="3054927"/>
            <a:ext cx="0" cy="2563091"/>
          </a:xfrm>
          <a:prstGeom prst="line">
            <a:avLst/>
          </a:prstGeom>
          <a:ln w="12700">
            <a:solidFill>
              <a:srgbClr val="82243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92E7CC-B973-F4ED-5918-F91752D1F8D1}"/>
              </a:ext>
            </a:extLst>
          </p:cNvPr>
          <p:cNvSpPr txBox="1"/>
          <p:nvPr/>
        </p:nvSpPr>
        <p:spPr>
          <a:xfrm>
            <a:off x="7825051" y="4661413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2893                 413                828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72FE375A-5AC9-55AE-7C27-62283D6EAC44}"/>
              </a:ext>
            </a:extLst>
          </p:cNvPr>
          <p:cNvSpPr txBox="1"/>
          <p:nvPr/>
        </p:nvSpPr>
        <p:spPr>
          <a:xfrm>
            <a:off x="7835539" y="5002348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 744                  106                214</a:t>
            </a:r>
          </a:p>
        </p:txBody>
      </p:sp>
    </p:spTree>
    <p:extLst>
      <p:ext uri="{BB962C8B-B14F-4D97-AF65-F5344CB8AC3E}">
        <p14:creationId xmlns:p14="http://schemas.microsoft.com/office/powerpoint/2010/main" val="3420863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DD1F-8768-17B2-FB9B-19CCF028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CDCEC-E3E4-4F48-5467-BB58096DA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415486C-73B6-A808-48E2-C8E26D861B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D26EAC2-C8C4-E54E-FB2C-7C41DED30C9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333B2CA8-9696-5F1E-A9E7-3551C66E469A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[6] [7]</a:t>
            </a:r>
            <a:r>
              <a:rPr lang="en-US" dirty="0"/>
              <a:t> [8] [9] [10]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226E4830-E866-D7E3-6457-3D28EB7C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491" y="2049811"/>
            <a:ext cx="8667328" cy="3254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0885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D0B5E-FD6C-96CB-384F-BEF7C2B5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63AF57-0B7F-AF05-A35B-ECE71E8E2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Training procedure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C1878B4-6C3D-E18B-961D-071A041F812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CC75C1E4-7668-9E8F-8052-F1A06FED99B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03" name="training10-setup-heading">
            <a:extLst>
              <a:ext uri="{FF2B5EF4-FFF2-40B4-BE49-F238E27FC236}">
                <a16:creationId xmlns:a16="http://schemas.microsoft.com/office/drawing/2014/main" id="{976272DE-AE14-4A90-AA99-B977F68CA0A8}"/>
              </a:ext>
            </a:extLst>
          </p:cNvPr>
          <p:cNvSpPr>
            <a:spLocks noGrp="1"/>
          </p:cNvSpPr>
          <p:nvPr/>
        </p:nvSpPr>
        <p:spPr>
          <a:xfrm>
            <a:off x="1073727" y="2191615"/>
            <a:ext cx="29527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Training setup</a:t>
            </a:r>
          </a:p>
        </p:txBody>
      </p:sp>
      <p:sp>
        <p:nvSpPr>
          <p:cNvPr id="104" name="training10-loss-heading">
            <a:extLst>
              <a:ext uri="{FF2B5EF4-FFF2-40B4-BE49-F238E27FC236}">
                <a16:creationId xmlns:a16="http://schemas.microsoft.com/office/drawing/2014/main" id="{5410843E-6112-4025-83DC-325457FC1D5A}"/>
              </a:ext>
            </a:extLst>
          </p:cNvPr>
          <p:cNvSpPr>
            <a:spLocks noGrp="1"/>
          </p:cNvSpPr>
          <p:nvPr/>
        </p:nvSpPr>
        <p:spPr>
          <a:xfrm>
            <a:off x="4369377" y="2191615"/>
            <a:ext cx="36766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Loss and optimization</a:t>
            </a:r>
          </a:p>
        </p:txBody>
      </p:sp>
      <p:sp>
        <p:nvSpPr>
          <p:cNvPr id="105" name="training10-selection-heading">
            <a:extLst>
              <a:ext uri="{FF2B5EF4-FFF2-40B4-BE49-F238E27FC236}">
                <a16:creationId xmlns:a16="http://schemas.microsoft.com/office/drawing/2014/main" id="{CD4A2BA6-9C72-42D9-81DB-10C04175DCFC}"/>
              </a:ext>
            </a:extLst>
          </p:cNvPr>
          <p:cNvSpPr>
            <a:spLocks noGrp="1"/>
          </p:cNvSpPr>
          <p:nvPr/>
        </p:nvSpPr>
        <p:spPr>
          <a:xfrm>
            <a:off x="8322252" y="2191615"/>
            <a:ext cx="32099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Quantization</a:t>
            </a:r>
          </a:p>
        </p:txBody>
      </p:sp>
      <p:sp>
        <p:nvSpPr>
          <p:cNvPr id="106" name="training10-resolution">
            <a:extLst>
              <a:ext uri="{FF2B5EF4-FFF2-40B4-BE49-F238E27FC236}">
                <a16:creationId xmlns:a16="http://schemas.microsoft.com/office/drawing/2014/main" id="{20BB474D-270B-4C37-8C56-EB8A6702C5D2}"/>
              </a:ext>
            </a:extLst>
          </p:cNvPr>
          <p:cNvSpPr>
            <a:spLocks noGrp="1"/>
          </p:cNvSpPr>
          <p:nvPr/>
        </p:nvSpPr>
        <p:spPr>
          <a:xfrm>
            <a:off x="1130877" y="2925040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512 × 512 input</a:t>
            </a:r>
          </a:p>
        </p:txBody>
      </p:sp>
      <p:sp>
        <p:nvSpPr>
          <p:cNvPr id="107" name="training10-batch">
            <a:extLst>
              <a:ext uri="{FF2B5EF4-FFF2-40B4-BE49-F238E27FC236}">
                <a16:creationId xmlns:a16="http://schemas.microsoft.com/office/drawing/2014/main" id="{6575BD82-DA6F-4837-9764-096BECF3EABB}"/>
              </a:ext>
            </a:extLst>
          </p:cNvPr>
          <p:cNvSpPr>
            <a:spLocks noGrp="1"/>
          </p:cNvSpPr>
          <p:nvPr/>
        </p:nvSpPr>
        <p:spPr>
          <a:xfrm>
            <a:off x="1130877" y="3391765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Batch size: 32</a:t>
            </a:r>
          </a:p>
        </p:txBody>
      </p:sp>
      <p:sp>
        <p:nvSpPr>
          <p:cNvPr id="108" name="training10-epochs">
            <a:extLst>
              <a:ext uri="{FF2B5EF4-FFF2-40B4-BE49-F238E27FC236}">
                <a16:creationId xmlns:a16="http://schemas.microsoft.com/office/drawing/2014/main" id="{C92598D6-B88F-4A79-AC45-9C0A87B1A8B3}"/>
              </a:ext>
            </a:extLst>
          </p:cNvPr>
          <p:cNvSpPr>
            <a:spLocks noGrp="1"/>
          </p:cNvSpPr>
          <p:nvPr/>
        </p:nvSpPr>
        <p:spPr>
          <a:xfrm>
            <a:off x="1130877" y="3868015"/>
            <a:ext cx="3105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30 epochs</a:t>
            </a:r>
          </a:p>
        </p:txBody>
      </p:sp>
      <p:sp>
        <p:nvSpPr>
          <p:cNvPr id="109" name="training10-lcnet-epochs">
            <a:extLst>
              <a:ext uri="{FF2B5EF4-FFF2-40B4-BE49-F238E27FC236}">
                <a16:creationId xmlns:a16="http://schemas.microsoft.com/office/drawing/2014/main" id="{B021DAA4-4C67-464E-8D47-15C450274ABF}"/>
              </a:ext>
            </a:extLst>
          </p:cNvPr>
          <p:cNvSpPr>
            <a:spLocks noGrp="1"/>
          </p:cNvSpPr>
          <p:nvPr/>
        </p:nvSpPr>
        <p:spPr>
          <a:xfrm>
            <a:off x="1130877" y="4249015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(60 for </a:t>
            </a:r>
            <a:r>
              <a:rPr lang="en-US" sz="18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LCNet</a:t>
            </a: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)</a:t>
            </a:r>
          </a:p>
        </p:txBody>
      </p:sp>
      <p:sp>
        <p:nvSpPr>
          <p:cNvPr id="110" name="training10-end-to-end">
            <a:extLst>
              <a:ext uri="{FF2B5EF4-FFF2-40B4-BE49-F238E27FC236}">
                <a16:creationId xmlns:a16="http://schemas.microsoft.com/office/drawing/2014/main" id="{660EDAE0-A2AC-4201-B112-4AB80EA83907}"/>
              </a:ext>
            </a:extLst>
          </p:cNvPr>
          <p:cNvSpPr>
            <a:spLocks noGrp="1"/>
          </p:cNvSpPr>
          <p:nvPr/>
        </p:nvSpPr>
        <p:spPr>
          <a:xfrm>
            <a:off x="1130877" y="4717162"/>
            <a:ext cx="31051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End-to-end training</a:t>
            </a:r>
          </a:p>
        </p:txBody>
      </p:sp>
      <p:sp>
        <p:nvSpPr>
          <p:cNvPr id="111" name="training10-loss-formula">
            <a:extLst>
              <a:ext uri="{FF2B5EF4-FFF2-40B4-BE49-F238E27FC236}">
                <a16:creationId xmlns:a16="http://schemas.microsoft.com/office/drawing/2014/main" id="{6F878C80-3805-42F8-8B85-7B57C77764F4}"/>
              </a:ext>
            </a:extLst>
          </p:cNvPr>
          <p:cNvSpPr>
            <a:spLocks noGrp="1"/>
          </p:cNvSpPr>
          <p:nvPr/>
        </p:nvSpPr>
        <p:spPr>
          <a:xfrm>
            <a:off x="4474152" y="2896465"/>
            <a:ext cx="35623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4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ℒ = 0.5ℒ</a:t>
            </a:r>
            <a:r>
              <a:rPr lang="en-US" sz="1600" b="0" baseline="-2500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CE</a:t>
            </a:r>
            <a:r>
              <a:rPr lang="en-US" sz="24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+ 0.5ℒ</a:t>
            </a:r>
            <a:r>
              <a:rPr lang="en-US" sz="1600" b="0" baseline="-2500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GDL</a:t>
            </a:r>
          </a:p>
        </p:txBody>
      </p:sp>
      <p:sp>
        <p:nvSpPr>
          <p:cNvPr id="112" name="training10-optimizer">
            <a:extLst>
              <a:ext uri="{FF2B5EF4-FFF2-40B4-BE49-F238E27FC236}">
                <a16:creationId xmlns:a16="http://schemas.microsoft.com/office/drawing/2014/main" id="{EEF7085D-EA8E-4624-9154-B29D565C3AEA}"/>
              </a:ext>
            </a:extLst>
          </p:cNvPr>
          <p:cNvSpPr>
            <a:spLocks noGrp="1"/>
          </p:cNvSpPr>
          <p:nvPr/>
        </p:nvSpPr>
        <p:spPr>
          <a:xfrm>
            <a:off x="4474152" y="3323771"/>
            <a:ext cx="3667125" cy="66949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50000"/>
              </a:lnSpc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AdamW</a:t>
            </a:r>
            <a:endParaRPr lang="en-US" dirty="0"/>
          </a:p>
          <a:p>
            <a:pPr algn="l">
              <a:lnSpc>
                <a:spcPct val="150000"/>
              </a:lnSpc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LR: 10⁻⁴</a:t>
            </a:r>
          </a:p>
        </p:txBody>
      </p:sp>
      <p:sp>
        <p:nvSpPr>
          <p:cNvPr id="113" name="training10-warmup">
            <a:extLst>
              <a:ext uri="{FF2B5EF4-FFF2-40B4-BE49-F238E27FC236}">
                <a16:creationId xmlns:a16="http://schemas.microsoft.com/office/drawing/2014/main" id="{50E3D12E-20BD-489A-9B1B-F87BAB3289D4}"/>
              </a:ext>
            </a:extLst>
          </p:cNvPr>
          <p:cNvSpPr>
            <a:spLocks noGrp="1"/>
          </p:cNvSpPr>
          <p:nvPr/>
        </p:nvSpPr>
        <p:spPr>
          <a:xfrm>
            <a:off x="4474152" y="4261385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dirty="0"/>
              <a:t>3</a:t>
            </a:r>
            <a:r>
              <a:rPr lang="en-US" sz="2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-epoch warm-up</a:t>
            </a:r>
          </a:p>
        </p:txBody>
      </p:sp>
      <p:sp>
        <p:nvSpPr>
          <p:cNvPr id="114" name="training10-cosine">
            <a:extLst>
              <a:ext uri="{FF2B5EF4-FFF2-40B4-BE49-F238E27FC236}">
                <a16:creationId xmlns:a16="http://schemas.microsoft.com/office/drawing/2014/main" id="{6D276118-4CED-4B6C-82AB-4B6771E8FE83}"/>
              </a:ext>
            </a:extLst>
          </p:cNvPr>
          <p:cNvSpPr>
            <a:spLocks noGrp="1"/>
          </p:cNvSpPr>
          <p:nvPr/>
        </p:nvSpPr>
        <p:spPr>
          <a:xfrm>
            <a:off x="4474152" y="4737635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Cosine LR decay</a:t>
            </a:r>
          </a:p>
        </p:txBody>
      </p:sp>
      <p:sp>
        <p:nvSpPr>
          <p:cNvPr id="115" name="training10-best-metric">
            <a:extLst>
              <a:ext uri="{FF2B5EF4-FFF2-40B4-BE49-F238E27FC236}">
                <a16:creationId xmlns:a16="http://schemas.microsoft.com/office/drawing/2014/main" id="{DBA40154-5503-45ED-9670-4C3E6B9CE8E3}"/>
              </a:ext>
            </a:extLst>
          </p:cNvPr>
          <p:cNvSpPr>
            <a:spLocks noGrp="1"/>
          </p:cNvSpPr>
          <p:nvPr/>
        </p:nvSpPr>
        <p:spPr>
          <a:xfrm>
            <a:off x="8341302" y="2888259"/>
            <a:ext cx="32289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Base models are in FP32</a:t>
            </a:r>
          </a:p>
        </p:txBody>
      </p:sp>
      <p:sp>
        <p:nvSpPr>
          <p:cNvPr id="6" name="training10-best-metric">
            <a:extLst>
              <a:ext uri="{FF2B5EF4-FFF2-40B4-BE49-F238E27FC236}">
                <a16:creationId xmlns:a16="http://schemas.microsoft.com/office/drawing/2014/main" id="{D614CF7F-78B2-B829-DDDC-2A1EC47B7F5B}"/>
              </a:ext>
            </a:extLst>
          </p:cNvPr>
          <p:cNvSpPr>
            <a:spLocks noGrp="1"/>
          </p:cNvSpPr>
          <p:nvPr/>
        </p:nvSpPr>
        <p:spPr>
          <a:xfrm>
            <a:off x="8341302" y="3429000"/>
            <a:ext cx="32289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FP16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PTQ INT8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QAT INT8</a:t>
            </a:r>
          </a:p>
        </p:txBody>
      </p:sp>
    </p:spTree>
    <p:extLst>
      <p:ext uri="{BB962C8B-B14F-4D97-AF65-F5344CB8AC3E}">
        <p14:creationId xmlns:p14="http://schemas.microsoft.com/office/powerpoint/2010/main" val="14972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CF514-51FB-0831-F607-CB0746B6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64EB2A-DB37-5AF4-8B49-A070B465F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Synthetic</a:t>
            </a:r>
            <a:r>
              <a:rPr lang="it-IT" sz="5400" dirty="0">
                <a:solidFill>
                  <a:srgbClr val="822433"/>
                </a:solidFill>
              </a:rPr>
              <a:t> Dataset Generation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097CE2-62C2-7482-DA69-541CE1388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968740"/>
            <a:ext cx="10515600" cy="920520"/>
          </a:xfrm>
        </p:spPr>
        <p:txBody>
          <a:bodyPr/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FE8401AB-8BDF-C7D0-201F-A40255D162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BD8D4ED-5213-8DBD-F4D2-272CBA1006B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724A29BA-4CB0-A2B7-BD16-921F2DB6D402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Synthetic Damage Inspection</a:t>
            </a:r>
            <a:br>
              <a:rPr lang="en-US" dirty="0"/>
            </a:br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7651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9132F-3D6A-E774-458D-4DF1F3BFF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BDF087-0FFC-462A-2244-85E7C89FE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Design Requirements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35F5CFE7-CBCB-E20C-A36B-49AB1798BD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FF09CC6-77B6-F436-740B-C1A896A4156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D764894-6FF9-6CDB-0D56-C02EFB4D6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3122"/>
            <a:ext cx="10515600" cy="4351338"/>
          </a:xfrm>
        </p:spPr>
        <p:txBody>
          <a:bodyPr/>
          <a:lstStyle/>
          <a:p>
            <a:r>
              <a:rPr lang="it-IT" dirty="0"/>
              <a:t>Target Rover: </a:t>
            </a:r>
            <a:r>
              <a:rPr lang="it-IT" dirty="0">
                <a:solidFill>
                  <a:srgbClr val="822433"/>
                </a:solidFill>
              </a:rPr>
              <a:t>Curiosity</a:t>
            </a:r>
          </a:p>
          <a:p>
            <a:r>
              <a:rPr lang="it-IT" sz="3600" b="1" dirty="0">
                <a:solidFill>
                  <a:srgbClr val="822433"/>
                </a:solidFill>
              </a:rPr>
              <a:t>1 </a:t>
            </a:r>
            <a:r>
              <a:rPr lang="it-IT" dirty="0" err="1"/>
              <a:t>anomaly</a:t>
            </a:r>
            <a:r>
              <a:rPr lang="it-IT" dirty="0"/>
              <a:t> class: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perforations</a:t>
            </a:r>
            <a:endParaRPr lang="it-IT" dirty="0"/>
          </a:p>
          <a:p>
            <a:r>
              <a:rPr lang="it-IT" dirty="0"/>
              <a:t>Training </a:t>
            </a:r>
            <a:r>
              <a:rPr lang="it-IT" dirty="0" err="1">
                <a:solidFill>
                  <a:srgbClr val="822433"/>
                </a:solidFill>
              </a:rPr>
              <a:t>normal-only</a:t>
            </a:r>
            <a:endParaRPr lang="it-IT" dirty="0">
              <a:solidFill>
                <a:srgbClr val="822433"/>
              </a:solidFill>
            </a:endParaRPr>
          </a:p>
          <a:p>
            <a:r>
              <a:rPr lang="it-IT" dirty="0">
                <a:solidFill>
                  <a:srgbClr val="822433"/>
                </a:solidFill>
              </a:rPr>
              <a:t>Domain </a:t>
            </a:r>
            <a:r>
              <a:rPr lang="it-IT" dirty="0" err="1">
                <a:solidFill>
                  <a:srgbClr val="822433"/>
                </a:solidFill>
              </a:rPr>
              <a:t>randomization</a:t>
            </a:r>
            <a:r>
              <a:rPr lang="it-IT" dirty="0">
                <a:solidFill>
                  <a:srgbClr val="822433"/>
                </a:solidFill>
              </a:rPr>
              <a:t> </a:t>
            </a:r>
            <a:r>
              <a:rPr lang="it-IT" dirty="0"/>
              <a:t>to </a:t>
            </a:r>
            <a:r>
              <a:rPr lang="it-IT" dirty="0" err="1"/>
              <a:t>prevent</a:t>
            </a:r>
            <a:r>
              <a:rPr lang="it-IT" dirty="0"/>
              <a:t> </a:t>
            </a:r>
            <a:r>
              <a:rPr lang="it-IT" dirty="0" err="1"/>
              <a:t>overfitting</a:t>
            </a:r>
            <a:endParaRPr lang="it-IT" dirty="0"/>
          </a:p>
          <a:p>
            <a:r>
              <a:rPr lang="it-IT" dirty="0" err="1"/>
              <a:t>Experimental</a:t>
            </a:r>
            <a:r>
              <a:rPr lang="it-IT" dirty="0"/>
              <a:t> setting</a:t>
            </a:r>
          </a:p>
        </p:txBody>
      </p:sp>
      <p:pic>
        <p:nvPicPr>
          <p:cNvPr id="8" name="Immagine 7" descr="NASA PNG Image">
            <a:extLst>
              <a:ext uri="{FF2B5EF4-FFF2-40B4-BE49-F238E27FC236}">
                <a16:creationId xmlns:a16="http://schemas.microsoft.com/office/drawing/2014/main" id="{2A6F564C-90FC-5442-BB5F-F87BCF43E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50343">
            <a:off x="8783271" y="3128055"/>
            <a:ext cx="1067616" cy="907473"/>
          </a:xfrm>
          <a:prstGeom prst="rect">
            <a:avLst/>
          </a:prstGeom>
        </p:spPr>
      </p:pic>
      <p:pic>
        <p:nvPicPr>
          <p:cNvPr id="10" name="Immagine 9" descr="Blender Logo PNG Images Transparent Free Download">
            <a:extLst>
              <a:ext uri="{FF2B5EF4-FFF2-40B4-BE49-F238E27FC236}">
                <a16:creationId xmlns:a16="http://schemas.microsoft.com/office/drawing/2014/main" id="{9AAA2D60-D946-F0AC-4FA1-3E44811C0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44221">
            <a:off x="9957495" y="3236881"/>
            <a:ext cx="1087584" cy="889100"/>
          </a:xfrm>
          <a:prstGeom prst="rect">
            <a:avLst/>
          </a:prstGeom>
        </p:spPr>
      </p:pic>
      <p:pic>
        <p:nvPicPr>
          <p:cNvPr id="11" name="Immagine 10" descr="Download Mars 2020 Rover - Mars Curiosity Rover Transparent - Full Size ...">
            <a:extLst>
              <a:ext uri="{FF2B5EF4-FFF2-40B4-BE49-F238E27FC236}">
                <a16:creationId xmlns:a16="http://schemas.microsoft.com/office/drawing/2014/main" id="{8E83AFDA-685F-DCF9-090A-CE79E62390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6854" y="3818175"/>
            <a:ext cx="2043546" cy="1076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545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47C44-8558-93D8-2F7C-66168671E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EF219-9FB1-D74B-788C-EDAE6421A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Blender Scene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1F79FAC-68C4-89F7-07F1-EFD308CEC4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80ABAD18-070C-BCA4-1F33-EB2F21F7692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09837E98-4A42-EA03-9AD8-58309A1247B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[12] [13]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8EDCBB45-C010-1E14-DABB-34F69BE94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90650" y="1476375"/>
            <a:ext cx="5791200" cy="434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nasa-asset">
            <a:extLst>
              <a:ext uri="{FF2B5EF4-FFF2-40B4-BE49-F238E27FC236}">
                <a16:creationId xmlns:a16="http://schemas.microsoft.com/office/drawing/2014/main" id="{A3FE5B3F-4BB9-8B59-7340-0D1D3A088244}"/>
              </a:ext>
            </a:extLst>
          </p:cNvPr>
          <p:cNvSpPr>
            <a:spLocks noGrp="1"/>
          </p:cNvSpPr>
          <p:nvPr/>
        </p:nvSpPr>
        <p:spPr>
          <a:xfrm>
            <a:off x="7787987" y="2282536"/>
            <a:ext cx="3333750" cy="3962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NASA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Curiosity asset</a:t>
            </a:r>
          </a:p>
        </p:txBody>
      </p:sp>
      <p:sp>
        <p:nvSpPr>
          <p:cNvPr id="14" name="nasa-asset">
            <a:extLst>
              <a:ext uri="{FF2B5EF4-FFF2-40B4-BE49-F238E27FC236}">
                <a16:creationId xmlns:a16="http://schemas.microsoft.com/office/drawing/2014/main" id="{A88FC7D0-0AB6-E6B2-655D-717732940BF3}"/>
              </a:ext>
            </a:extLst>
          </p:cNvPr>
          <p:cNvSpPr>
            <a:spLocks noGrp="1"/>
          </p:cNvSpPr>
          <p:nvPr/>
        </p:nvSpPr>
        <p:spPr>
          <a:xfrm>
            <a:off x="7787987" y="3179726"/>
            <a:ext cx="3333750" cy="3962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Gale Crater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terrain (HiRISE)</a:t>
            </a:r>
          </a:p>
        </p:txBody>
      </p:sp>
      <p:sp>
        <p:nvSpPr>
          <p:cNvPr id="16" name="nasa-asset">
            <a:extLst>
              <a:ext uri="{FF2B5EF4-FFF2-40B4-BE49-F238E27FC236}">
                <a16:creationId xmlns:a16="http://schemas.microsoft.com/office/drawing/2014/main" id="{62823DE0-D3AD-66FA-7C79-475E9C6ABA82}"/>
              </a:ext>
            </a:extLst>
          </p:cNvPr>
          <p:cNvSpPr>
            <a:spLocks noGrp="1"/>
          </p:cNvSpPr>
          <p:nvPr/>
        </p:nvSpPr>
        <p:spPr>
          <a:xfrm>
            <a:off x="7787987" y="4076916"/>
            <a:ext cx="3333750" cy="668266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Procedurally generated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local terrain details</a:t>
            </a:r>
          </a:p>
        </p:txBody>
      </p:sp>
    </p:spTree>
    <p:extLst>
      <p:ext uri="{BB962C8B-B14F-4D97-AF65-F5344CB8AC3E}">
        <p14:creationId xmlns:p14="http://schemas.microsoft.com/office/powerpoint/2010/main" val="359393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2EA06-8DED-AFB0-ADDE-C8EF7A630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1BE008-05A5-9AFB-03FE-DB68BF358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Synthetic Damage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7C39705-A017-E958-C58F-1F8E8151E15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C268C275-1E3A-6C00-E5E1-DEE86E15F97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0" name="label-paired-normal.png">
            <a:extLst>
              <a:ext uri="{FF2B5EF4-FFF2-40B4-BE49-F238E27FC236}">
                <a16:creationId xmlns:a16="http://schemas.microsoft.com/office/drawing/2014/main" id="{2B329D36-DA00-AEE9-463E-CD0C89C92564}"/>
              </a:ext>
            </a:extLst>
          </p:cNvPr>
          <p:cNvSpPr>
            <a:spLocks noGrp="1"/>
          </p:cNvSpPr>
          <p:nvPr/>
        </p:nvSpPr>
        <p:spPr>
          <a:xfrm>
            <a:off x="904875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sz="202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Normal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7002725D-0B8E-AD71-78F7-BA71D85E1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04875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label-paired-hole.png">
            <a:extLst>
              <a:ext uri="{FF2B5EF4-FFF2-40B4-BE49-F238E27FC236}">
                <a16:creationId xmlns:a16="http://schemas.microsoft.com/office/drawing/2014/main" id="{D1094802-5BD2-ED2B-253A-A6C22BEBF8EA}"/>
              </a:ext>
            </a:extLst>
          </p:cNvPr>
          <p:cNvSpPr>
            <a:spLocks noGrp="1"/>
          </p:cNvSpPr>
          <p:nvPr/>
        </p:nvSpPr>
        <p:spPr>
          <a:xfrm>
            <a:off x="4362450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dirty="0" err="1"/>
              <a:t>Damaged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0EC45F1E-5397-0AFB-B887-A4229FDAEF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362450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label-paired-hole-mask.png">
            <a:extLst>
              <a:ext uri="{FF2B5EF4-FFF2-40B4-BE49-F238E27FC236}">
                <a16:creationId xmlns:a16="http://schemas.microsoft.com/office/drawing/2014/main" id="{35D45323-43D2-78B7-F103-C1DBBF71D7CF}"/>
              </a:ext>
            </a:extLst>
          </p:cNvPr>
          <p:cNvSpPr>
            <a:spLocks noGrp="1"/>
          </p:cNvSpPr>
          <p:nvPr/>
        </p:nvSpPr>
        <p:spPr>
          <a:xfrm>
            <a:off x="7820025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sz="2025" b="1" dirty="0" err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Damage</a:t>
            </a:r>
            <a:r>
              <a:rPr lang="it-IT" sz="202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 mask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08B2B7F6-019F-E2BA-849F-4C0EB751C2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820025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paired-controls">
            <a:extLst>
              <a:ext uri="{FF2B5EF4-FFF2-40B4-BE49-F238E27FC236}">
                <a16:creationId xmlns:a16="http://schemas.microsoft.com/office/drawing/2014/main" id="{61F9908C-9F76-ACE3-2599-E9BD1BD1DA75}"/>
              </a:ext>
            </a:extLst>
          </p:cNvPr>
          <p:cNvSpPr>
            <a:spLocks noGrp="1"/>
          </p:cNvSpPr>
          <p:nvPr/>
        </p:nvSpPr>
        <p:spPr>
          <a:xfrm>
            <a:off x="652895" y="5471822"/>
            <a:ext cx="10886209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Both images in the </a:t>
            </a:r>
            <a:r>
              <a:rPr lang="it-IT" sz="2000" b="0" dirty="0" err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same</a:t>
            </a:r>
            <a:r>
              <a:rPr lang="it-IT" sz="2000" b="0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 split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                     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Comparison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of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normal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damaged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observation</a:t>
            </a:r>
            <a:endParaRPr sz="2000" b="0" dirty="0">
              <a:solidFill>
                <a:srgbClr val="202124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3" name="Freccia a destra 22">
            <a:extLst>
              <a:ext uri="{FF2B5EF4-FFF2-40B4-BE49-F238E27FC236}">
                <a16:creationId xmlns:a16="http://schemas.microsoft.com/office/drawing/2014/main" id="{CF5D802E-0777-985F-BD16-42AA5214CA43}"/>
              </a:ext>
            </a:extLst>
          </p:cNvPr>
          <p:cNvSpPr/>
          <p:nvPr/>
        </p:nvSpPr>
        <p:spPr>
          <a:xfrm>
            <a:off x="4590183" y="5575731"/>
            <a:ext cx="914400" cy="124691"/>
          </a:xfrm>
          <a:prstGeom prst="rightArrow">
            <a:avLst/>
          </a:prstGeom>
          <a:solidFill>
            <a:srgbClr val="822433"/>
          </a:solidFill>
          <a:ln>
            <a:solidFill>
              <a:srgbClr val="82243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paired-controls">
            <a:extLst>
              <a:ext uri="{FF2B5EF4-FFF2-40B4-BE49-F238E27FC236}">
                <a16:creationId xmlns:a16="http://schemas.microsoft.com/office/drawing/2014/main" id="{76FC8607-32B3-3203-A211-FAC2449CDB23}"/>
              </a:ext>
            </a:extLst>
          </p:cNvPr>
          <p:cNvSpPr>
            <a:spLocks noGrp="1"/>
          </p:cNvSpPr>
          <p:nvPr/>
        </p:nvSpPr>
        <p:spPr>
          <a:xfrm>
            <a:off x="652894" y="5118431"/>
            <a:ext cx="10886209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it-IT" sz="2000" dirty="0"/>
              <a:t>3 </a:t>
            </a:r>
            <a:r>
              <a:rPr lang="it-IT" sz="2000" dirty="0" err="1"/>
              <a:t>perforation</a:t>
            </a:r>
            <a:r>
              <a:rPr lang="it-IT" sz="2000" dirty="0"/>
              <a:t> </a:t>
            </a:r>
            <a:r>
              <a:rPr lang="it-IT" sz="2000" dirty="0" err="1"/>
              <a:t>levels</a:t>
            </a:r>
            <a:r>
              <a:rPr lang="it-IT" sz="2000" dirty="0"/>
              <a:t> by size: </a:t>
            </a:r>
            <a:r>
              <a:rPr lang="it-IT" sz="2000" dirty="0">
                <a:solidFill>
                  <a:srgbClr val="822433"/>
                </a:solidFill>
              </a:rPr>
              <a:t>Small</a:t>
            </a:r>
            <a:r>
              <a:rPr lang="it-IT" sz="2000" dirty="0"/>
              <a:t>, </a:t>
            </a:r>
            <a:r>
              <a:rPr lang="it-IT" sz="2000" dirty="0">
                <a:solidFill>
                  <a:srgbClr val="822433"/>
                </a:solidFill>
              </a:rPr>
              <a:t>Medium</a:t>
            </a:r>
            <a:r>
              <a:rPr lang="it-IT" sz="2000" dirty="0"/>
              <a:t> and </a:t>
            </a:r>
            <a:r>
              <a:rPr lang="it-IT" sz="2000" dirty="0">
                <a:solidFill>
                  <a:srgbClr val="822433"/>
                </a:solidFill>
              </a:rPr>
              <a:t>Large</a:t>
            </a:r>
            <a:endParaRPr sz="2000" b="0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3124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F78E-2E75-56B3-AEE6-B0E24FE56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EFDBDD-FB58-CA2A-6B23-A3A07E7D7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Domain Randomization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1776EE-3F55-C714-1960-B2BCB80074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09D54CB8-9501-AA7C-79CB-3D9A42572BA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088FEC76-8E6B-A884-8112-A7833EBA857C}"/>
              </a:ext>
            </a:extLst>
          </p:cNvPr>
          <p:cNvSpPr>
            <a:spLocks noGrp="1"/>
          </p:cNvSpPr>
          <p:nvPr/>
        </p:nvSpPr>
        <p:spPr>
          <a:xfrm>
            <a:off x="1038225" y="4257171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dirty="0"/>
              <a:t>                               Clear                            			Evident wear                                                                              D: Upper detail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A58F344A-DCDD-936D-D98F-983B54CC5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20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6C2076E-5370-3A8A-8ABC-6D9793B39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43865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6AC8D9D2-1EF9-95F5-CC94-589CD1DC50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03910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variation12-label-0-0">
            <a:extLst>
              <a:ext uri="{FF2B5EF4-FFF2-40B4-BE49-F238E27FC236}">
                <a16:creationId xmlns:a16="http://schemas.microsoft.com/office/drawing/2014/main" id="{C828AE87-F594-C59C-F2B8-24EE7F9CF067}"/>
              </a:ext>
            </a:extLst>
          </p:cNvPr>
          <p:cNvSpPr>
            <a:spLocks noGrp="1"/>
          </p:cNvSpPr>
          <p:nvPr/>
        </p:nvSpPr>
        <p:spPr>
          <a:xfrm>
            <a:off x="93345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Dusty</a:t>
            </a:r>
          </a:p>
        </p:txBody>
      </p:sp>
      <p:sp>
        <p:nvSpPr>
          <p:cNvPr id="18" name="variation12-share-0-0">
            <a:extLst>
              <a:ext uri="{FF2B5EF4-FFF2-40B4-BE49-F238E27FC236}">
                <a16:creationId xmlns:a16="http://schemas.microsoft.com/office/drawing/2014/main" id="{EBFB5BA4-9CB4-552F-4FE9-88423B188913}"/>
              </a:ext>
            </a:extLst>
          </p:cNvPr>
          <p:cNvSpPr>
            <a:spLocks noGrp="1"/>
          </p:cNvSpPr>
          <p:nvPr/>
        </p:nvSpPr>
        <p:spPr>
          <a:xfrm>
            <a:off x="312420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75%</a:t>
            </a:r>
          </a:p>
        </p:txBody>
      </p:sp>
      <p:sp>
        <p:nvSpPr>
          <p:cNvPr id="20" name="variation12-label-0-1">
            <a:extLst>
              <a:ext uri="{FF2B5EF4-FFF2-40B4-BE49-F238E27FC236}">
                <a16:creationId xmlns:a16="http://schemas.microsoft.com/office/drawing/2014/main" id="{ACF3ECDA-C4D8-3518-7375-B952321458FA}"/>
              </a:ext>
            </a:extLst>
          </p:cNvPr>
          <p:cNvSpPr>
            <a:spLocks noGrp="1"/>
          </p:cNvSpPr>
          <p:nvPr/>
        </p:nvSpPr>
        <p:spPr>
          <a:xfrm>
            <a:off x="93345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Clear</a:t>
            </a:r>
          </a:p>
        </p:txBody>
      </p:sp>
      <p:sp>
        <p:nvSpPr>
          <p:cNvPr id="22" name="variation12-share-0-1">
            <a:extLst>
              <a:ext uri="{FF2B5EF4-FFF2-40B4-BE49-F238E27FC236}">
                <a16:creationId xmlns:a16="http://schemas.microsoft.com/office/drawing/2014/main" id="{C368179D-6B26-238C-1272-AFB7FAB36A11}"/>
              </a:ext>
            </a:extLst>
          </p:cNvPr>
          <p:cNvSpPr>
            <a:spLocks noGrp="1"/>
          </p:cNvSpPr>
          <p:nvPr/>
        </p:nvSpPr>
        <p:spPr>
          <a:xfrm>
            <a:off x="312420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25%</a:t>
            </a:r>
          </a:p>
        </p:txBody>
      </p:sp>
      <p:sp>
        <p:nvSpPr>
          <p:cNvPr id="24" name="variation12-label-1-0">
            <a:extLst>
              <a:ext uri="{FF2B5EF4-FFF2-40B4-BE49-F238E27FC236}">
                <a16:creationId xmlns:a16="http://schemas.microsoft.com/office/drawing/2014/main" id="{ED37DD8A-FE8A-B5B1-A743-B051EFB86EC5}"/>
              </a:ext>
            </a:extLst>
          </p:cNvPr>
          <p:cNvSpPr>
            <a:spLocks noGrp="1"/>
          </p:cNvSpPr>
          <p:nvPr/>
        </p:nvSpPr>
        <p:spPr>
          <a:xfrm>
            <a:off x="453390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No extra wear</a:t>
            </a:r>
          </a:p>
        </p:txBody>
      </p:sp>
      <p:sp>
        <p:nvSpPr>
          <p:cNvPr id="26" name="variation12-share-1-0">
            <a:extLst>
              <a:ext uri="{FF2B5EF4-FFF2-40B4-BE49-F238E27FC236}">
                <a16:creationId xmlns:a16="http://schemas.microsoft.com/office/drawing/2014/main" id="{74C300FF-239B-827A-F1D9-90E653856414}"/>
              </a:ext>
            </a:extLst>
          </p:cNvPr>
          <p:cNvSpPr>
            <a:spLocks noGrp="1"/>
          </p:cNvSpPr>
          <p:nvPr/>
        </p:nvSpPr>
        <p:spPr>
          <a:xfrm>
            <a:off x="672465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20%</a:t>
            </a:r>
          </a:p>
        </p:txBody>
      </p:sp>
      <p:sp>
        <p:nvSpPr>
          <p:cNvPr id="28" name="variation12-label-1-1">
            <a:extLst>
              <a:ext uri="{FF2B5EF4-FFF2-40B4-BE49-F238E27FC236}">
                <a16:creationId xmlns:a16="http://schemas.microsoft.com/office/drawing/2014/main" id="{4EC5CCDB-A13E-B497-50F7-8840F3748300}"/>
              </a:ext>
            </a:extLst>
          </p:cNvPr>
          <p:cNvSpPr>
            <a:spLocks noGrp="1"/>
          </p:cNvSpPr>
          <p:nvPr/>
        </p:nvSpPr>
        <p:spPr>
          <a:xfrm>
            <a:off x="453390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 wear</a:t>
            </a:r>
          </a:p>
        </p:txBody>
      </p:sp>
      <p:sp>
        <p:nvSpPr>
          <p:cNvPr id="30" name="variation12-share-1-1">
            <a:extLst>
              <a:ext uri="{FF2B5EF4-FFF2-40B4-BE49-F238E27FC236}">
                <a16:creationId xmlns:a16="http://schemas.microsoft.com/office/drawing/2014/main" id="{B38AB69A-9FBB-F2DE-0F8A-A8E82F20ADDF}"/>
              </a:ext>
            </a:extLst>
          </p:cNvPr>
          <p:cNvSpPr>
            <a:spLocks noGrp="1"/>
          </p:cNvSpPr>
          <p:nvPr/>
        </p:nvSpPr>
        <p:spPr>
          <a:xfrm>
            <a:off x="672465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45%</a:t>
            </a:r>
          </a:p>
        </p:txBody>
      </p:sp>
      <p:sp>
        <p:nvSpPr>
          <p:cNvPr id="32" name="variation12-label-1-2">
            <a:extLst>
              <a:ext uri="{FF2B5EF4-FFF2-40B4-BE49-F238E27FC236}">
                <a16:creationId xmlns:a16="http://schemas.microsoft.com/office/drawing/2014/main" id="{2F0304B3-7A68-E53B-99BB-D349F67AE0C7}"/>
              </a:ext>
            </a:extLst>
          </p:cNvPr>
          <p:cNvSpPr>
            <a:spLocks noGrp="1"/>
          </p:cNvSpPr>
          <p:nvPr/>
        </p:nvSpPr>
        <p:spPr>
          <a:xfrm>
            <a:off x="4533900" y="527450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Evident wear</a:t>
            </a:r>
          </a:p>
        </p:txBody>
      </p:sp>
      <p:sp>
        <p:nvSpPr>
          <p:cNvPr id="34" name="variation12-share-1-2">
            <a:extLst>
              <a:ext uri="{FF2B5EF4-FFF2-40B4-BE49-F238E27FC236}">
                <a16:creationId xmlns:a16="http://schemas.microsoft.com/office/drawing/2014/main" id="{C49F127B-79BB-A0A6-55D4-FA351B9087D7}"/>
              </a:ext>
            </a:extLst>
          </p:cNvPr>
          <p:cNvSpPr>
            <a:spLocks noGrp="1"/>
          </p:cNvSpPr>
          <p:nvPr/>
        </p:nvSpPr>
        <p:spPr>
          <a:xfrm>
            <a:off x="6724650" y="527450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35%</a:t>
            </a:r>
          </a:p>
        </p:txBody>
      </p:sp>
      <p:sp>
        <p:nvSpPr>
          <p:cNvPr id="36" name="variation12-label-2-0">
            <a:extLst>
              <a:ext uri="{FF2B5EF4-FFF2-40B4-BE49-F238E27FC236}">
                <a16:creationId xmlns:a16="http://schemas.microsoft.com/office/drawing/2014/main" id="{5E05A911-63D5-5D9D-F833-E077225BEDBF}"/>
              </a:ext>
            </a:extLst>
          </p:cNvPr>
          <p:cNvSpPr>
            <a:spLocks noGrp="1"/>
          </p:cNvSpPr>
          <p:nvPr/>
        </p:nvSpPr>
        <p:spPr>
          <a:xfrm>
            <a:off x="813435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A: Overhead</a:t>
            </a:r>
          </a:p>
        </p:txBody>
      </p:sp>
      <p:sp>
        <p:nvSpPr>
          <p:cNvPr id="38" name="variation12-share-2-0">
            <a:extLst>
              <a:ext uri="{FF2B5EF4-FFF2-40B4-BE49-F238E27FC236}">
                <a16:creationId xmlns:a16="http://schemas.microsoft.com/office/drawing/2014/main" id="{B4E9A15D-758A-4B87-6FA7-9E58209B6E91}"/>
              </a:ext>
            </a:extLst>
          </p:cNvPr>
          <p:cNvSpPr>
            <a:spLocks noGrp="1"/>
          </p:cNvSpPr>
          <p:nvPr/>
        </p:nvSpPr>
        <p:spPr>
          <a:xfrm>
            <a:off x="1032510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40%</a:t>
            </a:r>
          </a:p>
        </p:txBody>
      </p:sp>
      <p:sp>
        <p:nvSpPr>
          <p:cNvPr id="40" name="variation12-label-2-1">
            <a:extLst>
              <a:ext uri="{FF2B5EF4-FFF2-40B4-BE49-F238E27FC236}">
                <a16:creationId xmlns:a16="http://schemas.microsoft.com/office/drawing/2014/main" id="{9DC8C06E-EB5F-A0AD-E291-1F87581F3506}"/>
              </a:ext>
            </a:extLst>
          </p:cNvPr>
          <p:cNvSpPr>
            <a:spLocks noGrp="1"/>
          </p:cNvSpPr>
          <p:nvPr/>
        </p:nvSpPr>
        <p:spPr>
          <a:xfrm>
            <a:off x="813435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C1: Leading</a:t>
            </a:r>
          </a:p>
        </p:txBody>
      </p:sp>
      <p:sp>
        <p:nvSpPr>
          <p:cNvPr id="42" name="variation12-share-2-1">
            <a:extLst>
              <a:ext uri="{FF2B5EF4-FFF2-40B4-BE49-F238E27FC236}">
                <a16:creationId xmlns:a16="http://schemas.microsoft.com/office/drawing/2014/main" id="{5965B414-5EC6-8E79-9CF8-27DAE16FC60F}"/>
              </a:ext>
            </a:extLst>
          </p:cNvPr>
          <p:cNvSpPr>
            <a:spLocks noGrp="1"/>
          </p:cNvSpPr>
          <p:nvPr/>
        </p:nvSpPr>
        <p:spPr>
          <a:xfrm>
            <a:off x="1032510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27.5%</a:t>
            </a:r>
          </a:p>
        </p:txBody>
      </p:sp>
      <p:sp>
        <p:nvSpPr>
          <p:cNvPr id="44" name="variation12-label-2-2">
            <a:extLst>
              <a:ext uri="{FF2B5EF4-FFF2-40B4-BE49-F238E27FC236}">
                <a16:creationId xmlns:a16="http://schemas.microsoft.com/office/drawing/2014/main" id="{AE57C499-06E0-308C-53AD-D1B7F7EEC148}"/>
              </a:ext>
            </a:extLst>
          </p:cNvPr>
          <p:cNvSpPr>
            <a:spLocks noGrp="1"/>
          </p:cNvSpPr>
          <p:nvPr/>
        </p:nvSpPr>
        <p:spPr>
          <a:xfrm>
            <a:off x="8134350" y="527450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C2: Trailing</a:t>
            </a:r>
          </a:p>
        </p:txBody>
      </p:sp>
      <p:sp>
        <p:nvSpPr>
          <p:cNvPr id="46" name="variation12-share-2-2">
            <a:extLst>
              <a:ext uri="{FF2B5EF4-FFF2-40B4-BE49-F238E27FC236}">
                <a16:creationId xmlns:a16="http://schemas.microsoft.com/office/drawing/2014/main" id="{35AE90B3-6D18-EEF9-5714-75028E6CBAED}"/>
              </a:ext>
            </a:extLst>
          </p:cNvPr>
          <p:cNvSpPr>
            <a:spLocks noGrp="1"/>
          </p:cNvSpPr>
          <p:nvPr/>
        </p:nvSpPr>
        <p:spPr>
          <a:xfrm>
            <a:off x="10325100" y="527450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27.5%</a:t>
            </a:r>
          </a:p>
        </p:txBody>
      </p:sp>
      <p:sp>
        <p:nvSpPr>
          <p:cNvPr id="48" name="variation12-label-2-3">
            <a:extLst>
              <a:ext uri="{FF2B5EF4-FFF2-40B4-BE49-F238E27FC236}">
                <a16:creationId xmlns:a16="http://schemas.microsoft.com/office/drawing/2014/main" id="{2F865993-FD2F-8201-7020-4B228EC15C2D}"/>
              </a:ext>
            </a:extLst>
          </p:cNvPr>
          <p:cNvSpPr>
            <a:spLocks noGrp="1"/>
          </p:cNvSpPr>
          <p:nvPr/>
        </p:nvSpPr>
        <p:spPr>
          <a:xfrm>
            <a:off x="8134350" y="558883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D: Upper detail</a:t>
            </a:r>
          </a:p>
        </p:txBody>
      </p:sp>
      <p:sp>
        <p:nvSpPr>
          <p:cNvPr id="50" name="variation12-share-2-3">
            <a:extLst>
              <a:ext uri="{FF2B5EF4-FFF2-40B4-BE49-F238E27FC236}">
                <a16:creationId xmlns:a16="http://schemas.microsoft.com/office/drawing/2014/main" id="{1769C892-7288-7966-FDC5-E338C523FC3C}"/>
              </a:ext>
            </a:extLst>
          </p:cNvPr>
          <p:cNvSpPr>
            <a:spLocks noGrp="1"/>
          </p:cNvSpPr>
          <p:nvPr/>
        </p:nvSpPr>
        <p:spPr>
          <a:xfrm>
            <a:off x="10325100" y="558883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5%</a:t>
            </a:r>
          </a:p>
        </p:txBody>
      </p:sp>
      <p:sp>
        <p:nvSpPr>
          <p:cNvPr id="54" name="source-citations">
            <a:extLst>
              <a:ext uri="{FF2B5EF4-FFF2-40B4-BE49-F238E27FC236}">
                <a16:creationId xmlns:a16="http://schemas.microsoft.com/office/drawing/2014/main" id="{002CD51F-28ED-4B5A-E67E-9FFAA44F7DF2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[14]</a:t>
            </a:r>
          </a:p>
        </p:txBody>
      </p:sp>
    </p:spTree>
    <p:extLst>
      <p:ext uri="{BB962C8B-B14F-4D97-AF65-F5344CB8AC3E}">
        <p14:creationId xmlns:p14="http://schemas.microsoft.com/office/powerpoint/2010/main" val="4053594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4D9F-3155-055A-38C5-60B758E2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24C4A-5FF0-D8EC-4305-FC8A8B7BE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Dataset Composition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E760294-A9ED-6852-FE55-D254453DA5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E6BD4C08-CCAD-C9DB-7D7D-8D6559A8131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D3A9B68-C251-B335-8A60-AC3AAE2A2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600" b="1" noProof="0" dirty="0">
                <a:solidFill>
                  <a:srgbClr val="822433"/>
                </a:solidFill>
              </a:rPr>
              <a:t>10,000</a:t>
            </a:r>
            <a:r>
              <a:rPr lang="en-US" noProof="0" dirty="0"/>
              <a:t> RGB images across all 6 wheels</a:t>
            </a:r>
          </a:p>
          <a:p>
            <a:pPr marL="0" indent="0">
              <a:buNone/>
            </a:pPr>
            <a:r>
              <a:rPr lang="en-US" dirty="0"/>
              <a:t>1200 </a:t>
            </a:r>
            <a:r>
              <a:rPr lang="en-US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×</a:t>
            </a:r>
            <a:r>
              <a:rPr lang="en-US" dirty="0"/>
              <a:t> 900 resolution</a:t>
            </a:r>
          </a:p>
          <a:p>
            <a:pPr marL="0" indent="0">
              <a:buNone/>
            </a:pPr>
            <a:endParaRPr lang="en-US" noProof="0" dirty="0"/>
          </a:p>
          <a:p>
            <a:pPr>
              <a:buFontTx/>
              <a:buChar char="-"/>
            </a:pPr>
            <a:r>
              <a:rPr lang="en-US" noProof="0" dirty="0"/>
              <a:t>Training: 		</a:t>
            </a:r>
            <a:r>
              <a:rPr lang="en-US" b="1" noProof="0" dirty="0">
                <a:solidFill>
                  <a:srgbClr val="822433"/>
                </a:solidFill>
              </a:rPr>
              <a:t>7,000</a:t>
            </a:r>
            <a:r>
              <a:rPr lang="en-US" noProof="0" dirty="0"/>
              <a:t> normal </a:t>
            </a:r>
          </a:p>
          <a:p>
            <a:pPr>
              <a:buFontTx/>
              <a:buChar char="-"/>
            </a:pPr>
            <a:r>
              <a:rPr lang="en-US" noProof="0" dirty="0"/>
              <a:t>Validation	:	   </a:t>
            </a:r>
            <a:r>
              <a:rPr lang="en-US" b="1" noProof="0" dirty="0">
                <a:solidFill>
                  <a:srgbClr val="822433"/>
                </a:solidFill>
              </a:rPr>
              <a:t>750</a:t>
            </a:r>
            <a:r>
              <a:rPr lang="en-US" noProof="0" dirty="0"/>
              <a:t> normal       </a:t>
            </a:r>
            <a:r>
              <a:rPr lang="en-US" b="1" noProof="0" dirty="0">
                <a:solidFill>
                  <a:srgbClr val="822433"/>
                </a:solidFill>
              </a:rPr>
              <a:t>250</a:t>
            </a:r>
            <a:r>
              <a:rPr lang="en-US" noProof="0" dirty="0"/>
              <a:t> perforated</a:t>
            </a:r>
          </a:p>
          <a:p>
            <a:pPr>
              <a:buFontTx/>
              <a:buChar char="-"/>
            </a:pPr>
            <a:r>
              <a:rPr lang="en-US" noProof="0" dirty="0"/>
              <a:t>Test:		</a:t>
            </a:r>
            <a:r>
              <a:rPr lang="en-US" b="1" noProof="0" dirty="0">
                <a:solidFill>
                  <a:srgbClr val="822433"/>
                </a:solidFill>
              </a:rPr>
              <a:t>1,000</a:t>
            </a:r>
            <a:r>
              <a:rPr lang="en-US" noProof="0" dirty="0"/>
              <a:t> normal    </a:t>
            </a:r>
            <a:r>
              <a:rPr lang="en-US" b="1" noProof="0" dirty="0">
                <a:solidFill>
                  <a:srgbClr val="822433"/>
                </a:solidFill>
              </a:rPr>
              <a:t>1,000</a:t>
            </a:r>
            <a:r>
              <a:rPr lang="en-US" noProof="0" dirty="0"/>
              <a:t> perforated</a:t>
            </a:r>
          </a:p>
        </p:txBody>
      </p:sp>
    </p:spTree>
    <p:extLst>
      <p:ext uri="{BB962C8B-B14F-4D97-AF65-F5344CB8AC3E}">
        <p14:creationId xmlns:p14="http://schemas.microsoft.com/office/powerpoint/2010/main" val="2330868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917CD-A89E-8C54-997C-BA0E00DE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EAFFA2-E325-B7EB-A1DF-65A026D25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Synthetic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Damage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Inspection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13F41C7-15DC-0FAD-374D-EE5514064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576945"/>
            <a:ext cx="10515600" cy="1312315"/>
          </a:xfrm>
        </p:spPr>
        <p:txBody>
          <a:bodyPr>
            <a:normAutofit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CB9DC0C-587C-2A06-FF6D-CEE1DE16D5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BA62F15-ABE4-D939-594E-7BF8AE0DD10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87B65971-BB8B-0232-30D8-0A7A53F2F3E4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0040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16F0C-E1DC-9135-A3BF-202EE7959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FF0E92-6318-FF12-9E93-A6E0A7A4D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Anomaly Detection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B2751E7-11E9-9F59-E07F-6E1D66D2E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2BFF42B6-9D65-E0FA-FC28-94072484696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9EA4E498-8EC1-FA09-BF6A-B2B5235B71C2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[15]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AADA56E-B9AC-B244-2673-968B448EB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47750" y="1543050"/>
            <a:ext cx="5524500" cy="41433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CAAC85F-4061-995C-5E1B-6CC36B47291C}"/>
              </a:ext>
            </a:extLst>
          </p:cNvPr>
          <p:cNvSpPr txBox="1"/>
          <p:nvPr/>
        </p:nvSpPr>
        <p:spPr>
          <a:xfrm>
            <a:off x="6890892" y="1835094"/>
            <a:ext cx="378020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Aims to learn the normal </a:t>
            </a:r>
            <a:r>
              <a:rPr lang="en-US" sz="2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wheel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r>
              <a:rPr lang="en-US" sz="2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appearance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to detect and</a:t>
            </a:r>
          </a:p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localize </a:t>
            </a:r>
            <a:r>
              <a:rPr lang="en-US" sz="2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potential damage</a:t>
            </a:r>
            <a:endParaRPr lang="en-US" sz="2000" noProof="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b="1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2000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Normal-only training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0F20E36A-F169-7BCF-59DC-369F250C84F9}"/>
              </a:ext>
            </a:extLst>
          </p:cNvPr>
          <p:cNvSpPr txBox="1"/>
          <p:nvPr/>
        </p:nvSpPr>
        <p:spPr>
          <a:xfrm>
            <a:off x="7334477" y="4090490"/>
            <a:ext cx="3639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Detection</a:t>
            </a: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</a:rPr>
              <a:t>:    Image anomaly score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357012D-A4A3-3CBD-B604-3126495629FF}"/>
              </a:ext>
            </a:extLst>
          </p:cNvPr>
          <p:cNvSpPr txBox="1"/>
          <p:nvPr/>
        </p:nvSpPr>
        <p:spPr>
          <a:xfrm>
            <a:off x="7334477" y="4603199"/>
            <a:ext cx="3671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Localization</a:t>
            </a: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</a:rPr>
              <a:t>: Spatial anomaly map</a:t>
            </a:r>
          </a:p>
        </p:txBody>
      </p:sp>
      <p:pic>
        <p:nvPicPr>
          <p:cNvPr id="27" name="Immagine 26">
            <a:extLst>
              <a:ext uri="{FF2B5EF4-FFF2-40B4-BE49-F238E27FC236}">
                <a16:creationId xmlns:a16="http://schemas.microsoft.com/office/drawing/2014/main" id="{92B89F20-AF53-04D8-798E-7EC7CF633F6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36016" y="4144524"/>
            <a:ext cx="298461" cy="2984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Immagine 28">
            <a:extLst>
              <a:ext uri="{FF2B5EF4-FFF2-40B4-BE49-F238E27FC236}">
                <a16:creationId xmlns:a16="http://schemas.microsoft.com/office/drawing/2014/main" id="{54E61213-F313-8AE1-BFE9-5D328EBA6F8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926874" y="4527005"/>
            <a:ext cx="502890" cy="50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27283E1F-1155-CFB6-BE3B-6E7818FC4B55}"/>
              </a:ext>
            </a:extLst>
          </p:cNvPr>
          <p:cNvSpPr txBox="1"/>
          <p:nvPr/>
        </p:nvSpPr>
        <p:spPr>
          <a:xfrm>
            <a:off x="2554468" y="5662325"/>
            <a:ext cx="23278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Normal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synthetic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wheel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sample</a:t>
            </a:r>
          </a:p>
        </p:txBody>
      </p:sp>
    </p:spTree>
    <p:extLst>
      <p:ext uri="{BB962C8B-B14F-4D97-AF65-F5344CB8AC3E}">
        <p14:creationId xmlns:p14="http://schemas.microsoft.com/office/powerpoint/2010/main" val="2290759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529E9-8DAA-19EB-DA9B-9BD50D3B6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21507F-6DC3-4D1C-B079-DC6ABD8EC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676A94E-8046-6200-5EA9-30266E8EEC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59FC8543-76DD-1F73-D96A-3CE0E7C051F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B63DC6A-2AFE-6443-0785-55F1EA0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4564" y="2407517"/>
            <a:ext cx="4572000" cy="4351338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1 </a:t>
            </a:r>
            <a:r>
              <a:rPr lang="en-US" b="1" noProof="0" dirty="0">
                <a:solidFill>
                  <a:srgbClr val="822433"/>
                </a:solidFill>
              </a:rPr>
              <a:t>PatchCore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Stores normal patch features</a:t>
            </a:r>
            <a:br>
              <a:rPr lang="en-US" sz="2200" noProof="0" dirty="0"/>
            </a:br>
            <a:r>
              <a:rPr lang="en-US" sz="2200" noProof="0" dirty="0"/>
              <a:t>  in a </a:t>
            </a:r>
            <a:r>
              <a:rPr lang="en-US" sz="2200" noProof="0" dirty="0">
                <a:solidFill>
                  <a:srgbClr val="822433"/>
                </a:solidFill>
              </a:rPr>
              <a:t>memory bank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Detects anomalies through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noProof="0" dirty="0">
                <a:solidFill>
                  <a:srgbClr val="822433"/>
                </a:solidFill>
              </a:rPr>
              <a:t>nearest-neighbor</a:t>
            </a:r>
            <a:r>
              <a:rPr lang="en-US" sz="2200" noProof="0" dirty="0"/>
              <a:t> feature</a:t>
            </a:r>
            <a:br>
              <a:rPr lang="en-US" sz="2200" noProof="0" dirty="0"/>
            </a:br>
            <a:r>
              <a:rPr lang="en-US" sz="2200" noProof="0" dirty="0"/>
              <a:t>  distances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Two backbones: ResNet18</a:t>
            </a:r>
            <a:b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(</a:t>
            </a:r>
            <a:r>
              <a:rPr lang="en-US" sz="2200" noProof="0" dirty="0">
                <a:solidFill>
                  <a:srgbClr val="822433"/>
                </a:solidFill>
              </a:rPr>
              <a:t>PC-S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or WideResNet50-2 (</a:t>
            </a:r>
            <a:r>
              <a:rPr lang="en-US" sz="2200" noProof="0" dirty="0">
                <a:solidFill>
                  <a:srgbClr val="822433"/>
                </a:solidFill>
              </a:rPr>
              <a:t>PC-L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FF0C7D20-FDBE-3097-DEBF-FC6DFE09DA5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[16] [17]</a:t>
            </a:r>
          </a:p>
        </p:txBody>
      </p:sp>
      <p:sp>
        <p:nvSpPr>
          <p:cNvPr id="3" name="Segnaposto contenuto 5">
            <a:extLst>
              <a:ext uri="{FF2B5EF4-FFF2-40B4-BE49-F238E27FC236}">
                <a16:creationId xmlns:a16="http://schemas.microsoft.com/office/drawing/2014/main" id="{404C3DFA-4218-8A1C-DD93-995D60F71277}"/>
              </a:ext>
            </a:extLst>
          </p:cNvPr>
          <p:cNvSpPr txBox="1">
            <a:spLocks/>
          </p:cNvSpPr>
          <p:nvPr/>
        </p:nvSpPr>
        <p:spPr>
          <a:xfrm>
            <a:off x="6352032" y="2407517"/>
            <a:ext cx="457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0" dirty="0"/>
              <a:t>2 </a:t>
            </a:r>
            <a:r>
              <a:rPr lang="en-US" b="1" noProof="0" dirty="0">
                <a:solidFill>
                  <a:srgbClr val="822433"/>
                </a:solidFill>
              </a:rPr>
              <a:t>EfficientAD-S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A </a:t>
            </a:r>
            <a:r>
              <a:rPr lang="en-US" sz="2200" noProof="0" dirty="0">
                <a:solidFill>
                  <a:srgbClr val="822433"/>
                </a:solidFill>
              </a:rPr>
              <a:t>students</a:t>
            </a:r>
            <a:r>
              <a:rPr lang="en-US" sz="2200" noProof="0" dirty="0"/>
              <a:t> learns to reproduce a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noProof="0" dirty="0">
                <a:solidFill>
                  <a:srgbClr val="822433"/>
                </a:solidFill>
              </a:rPr>
              <a:t>frozen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teacher</a:t>
            </a:r>
            <a:r>
              <a:rPr lang="en-US" sz="2200" noProof="0" dirty="0"/>
              <a:t>’s normal features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Teacher-student </a:t>
            </a:r>
            <a:r>
              <a:rPr lang="en-US" sz="2200" noProof="0" dirty="0">
                <a:solidFill>
                  <a:srgbClr val="822433"/>
                </a:solidFill>
              </a:rPr>
              <a:t>disagreement</a:t>
            </a:r>
            <a:br>
              <a:rPr lang="en-US" sz="2200" noProof="0" dirty="0"/>
            </a:br>
            <a:r>
              <a:rPr lang="en-US" sz="2200" noProof="0" dirty="0"/>
              <a:t>  highlights local anomalies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 </a:t>
            </a:r>
            <a:r>
              <a:rPr lang="en-US" sz="2200" noProof="0" dirty="0">
                <a:solidFill>
                  <a:srgbClr val="822433"/>
                </a:solidFill>
              </a:rPr>
              <a:t>autoencoder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branch captures</a:t>
            </a:r>
            <a:b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global context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8518CC0-C9C1-6B3F-78A8-3BE43E7C1EF9}"/>
              </a:ext>
            </a:extLst>
          </p:cNvPr>
          <p:cNvSpPr txBox="1"/>
          <p:nvPr/>
        </p:nvSpPr>
        <p:spPr>
          <a:xfrm>
            <a:off x="1184564" y="1604159"/>
            <a:ext cx="9587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Goal: 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Compare AD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approaches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term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of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accuracy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and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computational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cost</a:t>
            </a:r>
          </a:p>
        </p:txBody>
      </p:sp>
    </p:spTree>
    <p:extLst>
      <p:ext uri="{BB962C8B-B14F-4D97-AF65-F5344CB8AC3E}">
        <p14:creationId xmlns:p14="http://schemas.microsoft.com/office/powerpoint/2010/main" val="1215721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08974-67DD-D80F-AEA4-3E47C2D06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336D46-549D-8DD1-8542-7F2A5323B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9E4DB09-D900-BAC8-007F-DA58DFDBDC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5CD0A760-B852-761D-A05F-6D85A9CE939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20263965-79F1-4ADD-9BD3-17952F655AA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[18] [19]</a:t>
            </a:r>
          </a:p>
        </p:txBody>
      </p:sp>
      <p:sp>
        <p:nvSpPr>
          <p:cNvPr id="8" name="Segnaposto contenuto 5">
            <a:extLst>
              <a:ext uri="{FF2B5EF4-FFF2-40B4-BE49-F238E27FC236}">
                <a16:creationId xmlns:a16="http://schemas.microsoft.com/office/drawing/2014/main" id="{643E6AE6-153F-3104-B4C0-67AFFF719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4564" y="2407516"/>
            <a:ext cx="4572000" cy="4351338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1 </a:t>
            </a:r>
            <a:r>
              <a:rPr lang="en-US" b="1" noProof="0" dirty="0">
                <a:solidFill>
                  <a:srgbClr val="822433"/>
                </a:solidFill>
              </a:rPr>
              <a:t>SuperSimpleNet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Synthetic anomalies created by</a:t>
            </a:r>
            <a:br>
              <a:rPr lang="en-US" sz="2200" noProof="0" dirty="0"/>
            </a:br>
            <a:r>
              <a:rPr lang="en-US" sz="2200" noProof="0" dirty="0"/>
              <a:t>  localized </a:t>
            </a:r>
            <a:r>
              <a:rPr lang="en-US" sz="2200" noProof="0" dirty="0">
                <a:solidFill>
                  <a:srgbClr val="822433"/>
                </a:solidFill>
              </a:rPr>
              <a:t>gaussian noise </a:t>
            </a:r>
            <a:r>
              <a:rPr lang="en-US" sz="2200" noProof="0" dirty="0"/>
              <a:t>to</a:t>
            </a:r>
            <a:br>
              <a:rPr lang="en-US" sz="2200" noProof="0" dirty="0"/>
            </a:br>
            <a:r>
              <a:rPr lang="en-US" sz="2200" noProof="0" dirty="0"/>
              <a:t>  features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Separate heads </a:t>
            </a:r>
            <a:r>
              <a:rPr lang="en-US" sz="2200" noProof="0" dirty="0"/>
              <a:t>for image</a:t>
            </a:r>
            <a:br>
              <a:rPr lang="en-US" sz="2200" noProof="0" dirty="0"/>
            </a:br>
            <a:r>
              <a:rPr lang="en-US" sz="2200" noProof="0" dirty="0"/>
              <a:t>  detection and spatial localization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10" name="Segnaposto contenuto 5">
            <a:extLst>
              <a:ext uri="{FF2B5EF4-FFF2-40B4-BE49-F238E27FC236}">
                <a16:creationId xmlns:a16="http://schemas.microsoft.com/office/drawing/2014/main" id="{6A12BA27-D799-F0C4-85D4-A2EB79E44B5A}"/>
              </a:ext>
            </a:extLst>
          </p:cNvPr>
          <p:cNvSpPr txBox="1">
            <a:spLocks/>
          </p:cNvSpPr>
          <p:nvPr/>
        </p:nvSpPr>
        <p:spPr>
          <a:xfrm>
            <a:off x="6352032" y="2407516"/>
            <a:ext cx="457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0" dirty="0"/>
              <a:t>2 </a:t>
            </a:r>
            <a:r>
              <a:rPr lang="en-US" b="1" noProof="0" dirty="0">
                <a:solidFill>
                  <a:srgbClr val="822433"/>
                </a:solidFill>
              </a:rPr>
              <a:t>TinyGLASS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>
                <a:solidFill>
                  <a:srgbClr val="822433"/>
                </a:solidFill>
              </a:rPr>
              <a:t>Compact</a:t>
            </a:r>
            <a:r>
              <a:rPr lang="en-US" sz="2200" noProof="0" dirty="0"/>
              <a:t> ResNet18 backbone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Combines </a:t>
            </a:r>
            <a:r>
              <a:rPr lang="en-US" sz="2200" noProof="0" dirty="0">
                <a:solidFill>
                  <a:srgbClr val="822433"/>
                </a:solidFill>
              </a:rPr>
              <a:t>image-space</a:t>
            </a:r>
            <a:br>
              <a:rPr lang="en-US" sz="2200" noProof="0" dirty="0"/>
            </a:br>
            <a:r>
              <a:rPr lang="en-US" sz="2200" noProof="0" dirty="0"/>
              <a:t>  alterations with </a:t>
            </a:r>
            <a:r>
              <a:rPr lang="en-US" sz="2200" noProof="0" dirty="0">
                <a:solidFill>
                  <a:srgbClr val="822433"/>
                </a:solidFill>
              </a:rPr>
              <a:t>features-space</a:t>
            </a:r>
            <a:br>
              <a:rPr lang="en-US" sz="2200" noProof="0" dirty="0"/>
            </a:br>
            <a:r>
              <a:rPr lang="en-US" sz="2200" noProof="0" dirty="0"/>
              <a:t>  perturbations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Adapted</a:t>
            </a:r>
            <a:r>
              <a:rPr lang="en-US" sz="2200" noProof="0" dirty="0"/>
              <a:t> to create specialized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dirty="0">
                <a:solidFill>
                  <a:srgbClr val="822433"/>
                </a:solidFill>
              </a:rPr>
              <a:t>h</a:t>
            </a:r>
            <a:r>
              <a:rPr lang="en-US" sz="2200" noProof="0" dirty="0">
                <a:solidFill>
                  <a:srgbClr val="822433"/>
                </a:solidFill>
              </a:rPr>
              <a:t>ole like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alterations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6C0AD4E-3E56-CD77-9AF5-2B5E0B06CC86}"/>
              </a:ext>
            </a:extLst>
          </p:cNvPr>
          <p:cNvSpPr txBox="1"/>
          <p:nvPr/>
        </p:nvSpPr>
        <p:spPr>
          <a:xfrm>
            <a:off x="1184564" y="1604159"/>
            <a:ext cx="9587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Goal: 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Compare AD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approaches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term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of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accuracy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and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computational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cost</a:t>
            </a:r>
          </a:p>
        </p:txBody>
      </p:sp>
    </p:spTree>
    <p:extLst>
      <p:ext uri="{BB962C8B-B14F-4D97-AF65-F5344CB8AC3E}">
        <p14:creationId xmlns:p14="http://schemas.microsoft.com/office/powerpoint/2010/main" val="2122892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974E-45DA-3F68-01D9-7A37586B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1A6707-7D1D-0F74-464D-A1283F66F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P</a:t>
            </a:r>
            <a:r>
              <a:rPr lang="en-US" noProof="0" dirty="0">
                <a:solidFill>
                  <a:srgbClr val="822433"/>
                </a:solidFill>
              </a:rPr>
              <a:t>reprocessing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172196D-A79E-15D0-59EB-B039391B95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F0CCFBA-1ECA-8AFC-C625-E97B7DA3D08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5C01783-730C-D87E-7BE6-CEE805736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78973" y="2260643"/>
            <a:ext cx="8707582" cy="39909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7F7CA6-4CA5-B94E-130A-BDDDEEA5990A}"/>
              </a:ext>
            </a:extLst>
          </p:cNvPr>
          <p:cNvSpPr txBox="1"/>
          <p:nvPr/>
        </p:nvSpPr>
        <p:spPr>
          <a:xfrm>
            <a:off x="1143001" y="1614312"/>
            <a:ext cx="92440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/>
              <a:t>Based on preliminary experiments, a fixed 720 × 720 crop and only one camera pose A was used </a:t>
            </a:r>
            <a:br>
              <a:rPr lang="en-US" noProof="0"/>
            </a:br>
            <a:r>
              <a:rPr lang="en-US" noProof="0"/>
              <a:t>for training, because it helped having a single normal reference</a:t>
            </a:r>
          </a:p>
        </p:txBody>
      </p:sp>
    </p:spTree>
    <p:extLst>
      <p:ext uri="{BB962C8B-B14F-4D97-AF65-F5344CB8AC3E}">
        <p14:creationId xmlns:p14="http://schemas.microsoft.com/office/powerpoint/2010/main" val="3371800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3EAF4-FF6C-CAF5-B270-07F0A75C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05D1C1-A403-9683-648A-F12A01399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Results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1BFE22E-331F-BA2C-8863-9ED455C5A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345259"/>
            <a:ext cx="10515600" cy="1544002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Damage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Inspection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A17498E-FA1D-2807-FFFF-0D4BA57DF4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6173B0E-A155-AF15-A232-F9574D652BC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D3DC633C-8853-9424-6E25-22C6917DC5B2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3832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8D659-1EC5-A9E1-89C0-B2C99E862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AB4C88-3498-D11C-BB58-096E1DFC2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Semantic Segmentation: Quality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28421EA-6AD6-06E7-F9E4-764739558A9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5859FAA-366C-F762-DB80-430840E54E9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140DAC26-A801-17B6-4C89-DCD77DDACB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7873225"/>
              </p:ext>
            </p:extLst>
          </p:nvPr>
        </p:nvGraphicFramePr>
        <p:xfrm>
          <a:off x="958948" y="1556678"/>
          <a:ext cx="7715250" cy="4171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egmetric">
            <a:extLst>
              <a:ext uri="{FF2B5EF4-FFF2-40B4-BE49-F238E27FC236}">
                <a16:creationId xmlns:a16="http://schemas.microsoft.com/office/drawing/2014/main" id="{683F8C51-DDD6-899A-A679-32684091905B}"/>
              </a:ext>
            </a:extLst>
          </p:cNvPr>
          <p:cNvSpPr>
            <a:spLocks noGrp="1"/>
          </p:cNvSpPr>
          <p:nvPr/>
        </p:nvSpPr>
        <p:spPr>
          <a:xfrm>
            <a:off x="2761077" y="5684502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6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S⁵Mars</a:t>
            </a:r>
            <a:r>
              <a:rPr lang="en-US" sz="16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 test </a:t>
            </a:r>
            <a:r>
              <a:rPr lang="en-US" sz="16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mIoU</a:t>
            </a:r>
            <a:r>
              <a:rPr lang="en-US" sz="16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, FP32 configurations</a:t>
            </a:r>
          </a:p>
        </p:txBody>
      </p:sp>
      <p:sp>
        <p:nvSpPr>
          <p:cNvPr id="16" name="best-seg-value">
            <a:extLst>
              <a:ext uri="{FF2B5EF4-FFF2-40B4-BE49-F238E27FC236}">
                <a16:creationId xmlns:a16="http://schemas.microsoft.com/office/drawing/2014/main" id="{D8CD169C-FF17-51E5-43BA-647C1168C841}"/>
              </a:ext>
            </a:extLst>
          </p:cNvPr>
          <p:cNvSpPr>
            <a:spLocks noGrp="1"/>
          </p:cNvSpPr>
          <p:nvPr/>
        </p:nvSpPr>
        <p:spPr>
          <a:xfrm>
            <a:off x="8828796" y="2885263"/>
            <a:ext cx="2905125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8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75.55%</a:t>
            </a:r>
          </a:p>
        </p:txBody>
      </p:sp>
      <p:sp>
        <p:nvSpPr>
          <p:cNvPr id="18" name="best-seg-model">
            <a:extLst>
              <a:ext uri="{FF2B5EF4-FFF2-40B4-BE49-F238E27FC236}">
                <a16:creationId xmlns:a16="http://schemas.microsoft.com/office/drawing/2014/main" id="{B34A71A2-9C61-8B85-A2C8-FDA132BD775D}"/>
              </a:ext>
            </a:extLst>
          </p:cNvPr>
          <p:cNvSpPr>
            <a:spLocks noGrp="1"/>
          </p:cNvSpPr>
          <p:nvPr/>
        </p:nvSpPr>
        <p:spPr>
          <a:xfrm>
            <a:off x="8914521" y="3561538"/>
            <a:ext cx="2762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SegFormer-B0</a:t>
            </a:r>
          </a:p>
        </p:txBody>
      </p:sp>
      <p:sp>
        <p:nvSpPr>
          <p:cNvPr id="20" name="best-seg-params">
            <a:extLst>
              <a:ext uri="{FF2B5EF4-FFF2-40B4-BE49-F238E27FC236}">
                <a16:creationId xmlns:a16="http://schemas.microsoft.com/office/drawing/2014/main" id="{7E44B55A-E98F-B8F2-F6C9-AD2769C124EC}"/>
              </a:ext>
            </a:extLst>
          </p:cNvPr>
          <p:cNvSpPr>
            <a:spLocks noGrp="1"/>
          </p:cNvSpPr>
          <p:nvPr/>
        </p:nvSpPr>
        <p:spPr>
          <a:xfrm>
            <a:off x="8900233" y="4025736"/>
            <a:ext cx="2762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3.72M parameters</a:t>
            </a:r>
          </a:p>
        </p:txBody>
      </p:sp>
    </p:spTree>
    <p:extLst>
      <p:ext uri="{BB962C8B-B14F-4D97-AF65-F5344CB8AC3E}">
        <p14:creationId xmlns:p14="http://schemas.microsoft.com/office/powerpoint/2010/main" val="1914548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2A7E0-036F-0FAB-F318-6F34781F6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753354-8731-0F2D-72DE-450BAAB8D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Cross-generalization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66AD3EA7-99DC-21B4-74D2-984BAFDF26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2AF55B1C-2B8D-F4C6-7953-117E91C8BA8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1FC2143-848E-85BB-337E-A033457A48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4125951"/>
              </p:ext>
            </p:extLst>
          </p:nvPr>
        </p:nvGraphicFramePr>
        <p:xfrm>
          <a:off x="838200" y="2155261"/>
          <a:ext cx="10668000" cy="2790825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165">
                <a:tc row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MSL training 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9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MER training 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9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16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MSL test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MER test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MER test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MSL test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70.63%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52.06%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66.75%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48.11%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U-Net R34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71.80%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27.43%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67.76%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13.82%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DeepLabV3+ MV2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68.98%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38.27%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65.10%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12.86%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cross-scope">
            <a:extLst>
              <a:ext uri="{FF2B5EF4-FFF2-40B4-BE49-F238E27FC236}">
                <a16:creationId xmlns:a16="http://schemas.microsoft.com/office/drawing/2014/main" id="{1FAB7C16-D544-C895-8174-86F62D812A8F}"/>
              </a:ext>
            </a:extLst>
          </p:cNvPr>
          <p:cNvSpPr>
            <a:spLocks noGrp="1"/>
          </p:cNvSpPr>
          <p:nvPr/>
        </p:nvSpPr>
        <p:spPr>
          <a:xfrm>
            <a:off x="838200" y="5076953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Separate training runs, no target fine-tuning</a:t>
            </a:r>
          </a:p>
        </p:txBody>
      </p:sp>
    </p:spTree>
    <p:extLst>
      <p:ext uri="{BB962C8B-B14F-4D97-AF65-F5344CB8AC3E}">
        <p14:creationId xmlns:p14="http://schemas.microsoft.com/office/powerpoint/2010/main" val="2793047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08B2-58D6-FEE9-4C01-9AA2D129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894003-A9B7-8E92-4D48-270852ADE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386455" cy="83578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822433"/>
                </a:solidFill>
              </a:rPr>
              <a:t>Semantic Segmentation: Efficiency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EC75DA-4BEC-E538-8FC5-C0F3CA89D3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150DABA-181E-0A37-54AC-D552EFF142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0EDF0A-48F2-63D9-C838-736981AF54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8182035"/>
              </p:ext>
            </p:extLst>
          </p:nvPr>
        </p:nvGraphicFramePr>
        <p:xfrm>
          <a:off x="762000" y="1466850"/>
          <a:ext cx="10668000" cy="405384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27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Variant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Test 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80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(%)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Energy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mJ</a:t>
                      </a:r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/image)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 rowSpan="4">
                  <a:txBody>
                    <a:bodyPr/>
                    <a:lstStyle/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DeepLabV3+</a:t>
                      </a:r>
                    </a:p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MobileNetV2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8.84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653.72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6.03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377.88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59.14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159.19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65.63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3.01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115.34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 rowSpan="4">
                  <a:txBody>
                    <a:bodyPr/>
                    <a:lstStyle/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11.88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835.72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7.17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432.07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75.60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5.92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327.99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76.93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5.66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291.76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benchmark-scope">
            <a:extLst>
              <a:ext uri="{FF2B5EF4-FFF2-40B4-BE49-F238E27FC236}">
                <a16:creationId xmlns:a16="http://schemas.microsoft.com/office/drawing/2014/main" id="{E420B95F-C84B-F185-58E3-DF14E120C93D}"/>
              </a:ext>
            </a:extLst>
          </p:cNvPr>
          <p:cNvSpPr>
            <a:spLocks noGrp="1"/>
          </p:cNvSpPr>
          <p:nvPr/>
        </p:nvSpPr>
        <p:spPr>
          <a:xfrm>
            <a:off x="762000" y="5611091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400" dirty="0"/>
              <a:t>Best two models, </a:t>
            </a: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NVIDIA T4, batch 1, </a:t>
            </a:r>
            <a:r>
              <a:rPr lang="en-US" sz="1400" dirty="0"/>
              <a:t>f</a:t>
            </a: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orward pass only, preprocessing excluded</a:t>
            </a:r>
          </a:p>
        </p:txBody>
      </p:sp>
    </p:spTree>
    <p:extLst>
      <p:ext uri="{BB962C8B-B14F-4D97-AF65-F5344CB8AC3E}">
        <p14:creationId xmlns:p14="http://schemas.microsoft.com/office/powerpoint/2010/main" val="3650964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574E0-A803-9799-B3EE-F1EB4BC0D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B4D3FC-ADFB-10F4-78F3-E24B2F982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Detection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CC8E176-C497-BECA-9F7F-0450BF15F7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74077C5-673F-DCC8-C8A5-AB973C1711D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1EF5FD2C-5DFB-2189-1B94-317B10DA47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4569967"/>
              </p:ext>
            </p:extLst>
          </p:nvPr>
        </p:nvGraphicFramePr>
        <p:xfrm>
          <a:off x="762000" y="1543050"/>
          <a:ext cx="7810500" cy="4143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ad-best-value">
            <a:extLst>
              <a:ext uri="{FF2B5EF4-FFF2-40B4-BE49-F238E27FC236}">
                <a16:creationId xmlns:a16="http://schemas.microsoft.com/office/drawing/2014/main" id="{AF75B76F-6498-5BC1-4F5C-9F494B2B03FE}"/>
              </a:ext>
            </a:extLst>
          </p:cNvPr>
          <p:cNvSpPr>
            <a:spLocks noGrp="1"/>
          </p:cNvSpPr>
          <p:nvPr/>
        </p:nvSpPr>
        <p:spPr>
          <a:xfrm>
            <a:off x="8882061" y="3048381"/>
            <a:ext cx="281940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8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86.43%</a:t>
            </a:r>
          </a:p>
        </p:txBody>
      </p:sp>
      <p:sp>
        <p:nvSpPr>
          <p:cNvPr id="12" name="ad-best-model">
            <a:extLst>
              <a:ext uri="{FF2B5EF4-FFF2-40B4-BE49-F238E27FC236}">
                <a16:creationId xmlns:a16="http://schemas.microsoft.com/office/drawing/2014/main" id="{ACAE6630-8D59-DAF8-0EEC-01DA46019B8A}"/>
              </a:ext>
            </a:extLst>
          </p:cNvPr>
          <p:cNvSpPr>
            <a:spLocks noGrp="1"/>
          </p:cNvSpPr>
          <p:nvPr/>
        </p:nvSpPr>
        <p:spPr>
          <a:xfrm>
            <a:off x="8958261" y="3695701"/>
            <a:ext cx="2667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250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PatchCore-L</a:t>
            </a:r>
          </a:p>
        </p:txBody>
      </p:sp>
      <p:sp>
        <p:nvSpPr>
          <p:cNvPr id="14" name="ad-best-scope">
            <a:extLst>
              <a:ext uri="{FF2B5EF4-FFF2-40B4-BE49-F238E27FC236}">
                <a16:creationId xmlns:a16="http://schemas.microsoft.com/office/drawing/2014/main" id="{3BDC17C2-FC1F-08A8-6287-61729627D614}"/>
              </a:ext>
            </a:extLst>
          </p:cNvPr>
          <p:cNvSpPr>
            <a:spLocks noGrp="1"/>
          </p:cNvSpPr>
          <p:nvPr/>
        </p:nvSpPr>
        <p:spPr>
          <a:xfrm>
            <a:off x="8772524" y="4073793"/>
            <a:ext cx="30384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Synthetic pose-A test</a:t>
            </a:r>
          </a:p>
        </p:txBody>
      </p:sp>
      <p:sp>
        <p:nvSpPr>
          <p:cNvPr id="16" name="admetric">
            <a:extLst>
              <a:ext uri="{FF2B5EF4-FFF2-40B4-BE49-F238E27FC236}">
                <a16:creationId xmlns:a16="http://schemas.microsoft.com/office/drawing/2014/main" id="{FAC88116-C676-604C-A8F3-7D1F3C96AC64}"/>
              </a:ext>
            </a:extLst>
          </p:cNvPr>
          <p:cNvSpPr>
            <a:spLocks noGrp="1"/>
          </p:cNvSpPr>
          <p:nvPr/>
        </p:nvSpPr>
        <p:spPr>
          <a:xfrm>
            <a:off x="838200" y="5640274"/>
            <a:ext cx="102870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Image AUROC on the test split</a:t>
            </a:r>
          </a:p>
        </p:txBody>
      </p:sp>
    </p:spTree>
    <p:extLst>
      <p:ext uri="{BB962C8B-B14F-4D97-AF65-F5344CB8AC3E}">
        <p14:creationId xmlns:p14="http://schemas.microsoft.com/office/powerpoint/2010/main" val="27796411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E62A9-CB18-A19C-A614-05F64918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528257-3203-028A-0523-756BB753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Efficiency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FD17F6C-164E-3587-02F7-1AF0BE1A15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A5161605-37A6-DCB9-4B19-CEC53B5E01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5D1293E6-A870-FBF8-E38C-E06508BE6B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7389772"/>
              </p:ext>
            </p:extLst>
          </p:nvPr>
        </p:nvGraphicFramePr>
        <p:xfrm>
          <a:off x="2244436" y="1699922"/>
          <a:ext cx="8096250" cy="352806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GPU energy</a:t>
                      </a:r>
                    </a:p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(J/image)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TinyGLASS-384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5.13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0.239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TinyGLASS-512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6.29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0.369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SuperSimpleNet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27.54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1.939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EfficientAD-S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57.72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4.032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PatchCore-L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62.89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4.116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PatchCore-S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101.21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6.849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benchmark-scope">
            <a:extLst>
              <a:ext uri="{FF2B5EF4-FFF2-40B4-BE49-F238E27FC236}">
                <a16:creationId xmlns:a16="http://schemas.microsoft.com/office/drawing/2014/main" id="{6D7A6928-DF49-078F-464E-0E452485A636}"/>
              </a:ext>
            </a:extLst>
          </p:cNvPr>
          <p:cNvSpPr>
            <a:spLocks noGrp="1"/>
          </p:cNvSpPr>
          <p:nvPr/>
        </p:nvSpPr>
        <p:spPr>
          <a:xfrm>
            <a:off x="2244436" y="5297632"/>
            <a:ext cx="7926506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7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NVIDIA T4, batch 1, Inputs already on GPU, preprocessing and transfer excluded.</a:t>
            </a:r>
          </a:p>
        </p:txBody>
      </p:sp>
    </p:spTree>
    <p:extLst>
      <p:ext uri="{BB962C8B-B14F-4D97-AF65-F5344CB8AC3E}">
        <p14:creationId xmlns:p14="http://schemas.microsoft.com/office/powerpoint/2010/main" val="3641583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4CF57-C8A4-A657-ABEC-780253A1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78870A-69F8-437B-9A37-7525C89A6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Localization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56F4F28-1777-39B3-CBB3-A6EC1258A9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9BB6370-1573-C10B-BF23-AEC2559855E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label-damage-rgb.png">
            <a:extLst>
              <a:ext uri="{FF2B5EF4-FFF2-40B4-BE49-F238E27FC236}">
                <a16:creationId xmlns:a16="http://schemas.microsoft.com/office/drawing/2014/main" id="{EEA0D960-7396-9D62-3616-03ACBC2F2E0A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Observation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1EB0A69-1EBD-CFCB-4513-4654CBD17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2000" y="2181225"/>
            <a:ext cx="2381250" cy="2381250"/>
          </a:xfrm>
          <a:prstGeom prst="rect">
            <a:avLst/>
          </a:prstGeom>
        </p:spPr>
      </p:pic>
      <p:sp>
        <p:nvSpPr>
          <p:cNvPr id="10" name="label-damage-ground-truth.png">
            <a:extLst>
              <a:ext uri="{FF2B5EF4-FFF2-40B4-BE49-F238E27FC236}">
                <a16:creationId xmlns:a16="http://schemas.microsoft.com/office/drawing/2014/main" id="{C571C057-ACE2-218F-DB46-DAC3C7541056}"/>
              </a:ext>
            </a:extLst>
          </p:cNvPr>
          <p:cNvSpPr>
            <a:spLocks noGrp="1"/>
          </p:cNvSpPr>
          <p:nvPr/>
        </p:nvSpPr>
        <p:spPr>
          <a:xfrm>
            <a:off x="3495675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Ground truth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42C9BA10-EBFA-86BF-891A-766DA20CA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495675" y="2181225"/>
            <a:ext cx="2381250" cy="2381250"/>
          </a:xfrm>
          <a:prstGeom prst="rect">
            <a:avLst/>
          </a:prstGeom>
        </p:spPr>
      </p:pic>
      <p:sp>
        <p:nvSpPr>
          <p:cNvPr id="14" name="label-damage-ssn.png">
            <a:extLst>
              <a:ext uri="{FF2B5EF4-FFF2-40B4-BE49-F238E27FC236}">
                <a16:creationId xmlns:a16="http://schemas.microsoft.com/office/drawing/2014/main" id="{D95D8403-961A-DDB9-A992-8C7DE4CA454A}"/>
              </a:ext>
            </a:extLst>
          </p:cNvPr>
          <p:cNvSpPr>
            <a:spLocks noGrp="1"/>
          </p:cNvSpPr>
          <p:nvPr/>
        </p:nvSpPr>
        <p:spPr>
          <a:xfrm>
            <a:off x="6229350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SuperSimpleNet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513CA2F7-5FEA-FE00-1E0D-A2AA6373A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229350" y="2181225"/>
            <a:ext cx="2381250" cy="2381250"/>
          </a:xfrm>
          <a:prstGeom prst="rect">
            <a:avLst/>
          </a:prstGeom>
        </p:spPr>
      </p:pic>
      <p:sp>
        <p:nvSpPr>
          <p:cNvPr id="18" name="label-damage-tg512.png">
            <a:extLst>
              <a:ext uri="{FF2B5EF4-FFF2-40B4-BE49-F238E27FC236}">
                <a16:creationId xmlns:a16="http://schemas.microsoft.com/office/drawing/2014/main" id="{692F7F91-6D2A-A262-4004-6A1B7EC08070}"/>
              </a:ext>
            </a:extLst>
          </p:cNvPr>
          <p:cNvSpPr>
            <a:spLocks noGrp="1"/>
          </p:cNvSpPr>
          <p:nvPr/>
        </p:nvSpPr>
        <p:spPr>
          <a:xfrm>
            <a:off x="8963025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TinyGLASS-512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672271A9-C6B1-C898-99CC-A739BB111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963025" y="2181225"/>
            <a:ext cx="2381250" cy="2381250"/>
          </a:xfrm>
          <a:prstGeom prst="rect">
            <a:avLst/>
          </a:prstGeom>
        </p:spPr>
      </p:pic>
      <p:sp>
        <p:nvSpPr>
          <p:cNvPr id="22" name="ssn-map-ap">
            <a:extLst>
              <a:ext uri="{FF2B5EF4-FFF2-40B4-BE49-F238E27FC236}">
                <a16:creationId xmlns:a16="http://schemas.microsoft.com/office/drawing/2014/main" id="{3E0E1F39-A802-BB5F-CF2E-48B7F6993070}"/>
              </a:ext>
            </a:extLst>
          </p:cNvPr>
          <p:cNvSpPr>
            <a:spLocks noGrp="1"/>
          </p:cNvSpPr>
          <p:nvPr/>
        </p:nvSpPr>
        <p:spPr>
          <a:xfrm>
            <a:off x="6229350" y="4995862"/>
            <a:ext cx="2381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pPr>
            <a:r>
              <a:rPr lang="en-US" sz="3000" b="1" dirty="0">
                <a:solidFill>
                  <a:srgbClr val="2C8390"/>
                </a:solidFill>
                <a:latin typeface="Roboto"/>
                <a:ea typeface="Roboto"/>
                <a:cs typeface="Roboto"/>
              </a:rPr>
              <a:t>19.10%</a:t>
            </a:r>
          </a:p>
        </p:txBody>
      </p:sp>
      <p:sp>
        <p:nvSpPr>
          <p:cNvPr id="24" name="tg-map-ap">
            <a:extLst>
              <a:ext uri="{FF2B5EF4-FFF2-40B4-BE49-F238E27FC236}">
                <a16:creationId xmlns:a16="http://schemas.microsoft.com/office/drawing/2014/main" id="{18E1BF7C-1D9A-BE8D-2D38-295F482979CB}"/>
              </a:ext>
            </a:extLst>
          </p:cNvPr>
          <p:cNvSpPr>
            <a:spLocks noGrp="1"/>
          </p:cNvSpPr>
          <p:nvPr/>
        </p:nvSpPr>
        <p:spPr>
          <a:xfrm>
            <a:off x="8963025" y="4995862"/>
            <a:ext cx="2381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30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27.59%</a:t>
            </a:r>
          </a:p>
        </p:txBody>
      </p:sp>
      <p:sp>
        <p:nvSpPr>
          <p:cNvPr id="26" name="map-precision-label">
            <a:extLst>
              <a:ext uri="{FF2B5EF4-FFF2-40B4-BE49-F238E27FC236}">
                <a16:creationId xmlns:a16="http://schemas.microsoft.com/office/drawing/2014/main" id="{1DE0493D-174C-32D7-0729-C6BAE7EF43CC}"/>
              </a:ext>
            </a:extLst>
          </p:cNvPr>
          <p:cNvSpPr>
            <a:spLocks noGrp="1"/>
          </p:cNvSpPr>
          <p:nvPr/>
        </p:nvSpPr>
        <p:spPr>
          <a:xfrm>
            <a:off x="4840431" y="5072061"/>
            <a:ext cx="1324841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2400" b="0" dirty="0">
                <a:solidFill>
                  <a:sysClr val="windowText" lastClr="000000"/>
                </a:solidFill>
                <a:latin typeface="Roboto"/>
                <a:ea typeface="Roboto"/>
                <a:cs typeface="Roboto"/>
              </a:rPr>
              <a:t>Pixel AP</a:t>
            </a:r>
            <a:r>
              <a:rPr lang="en-US" sz="2400" dirty="0">
                <a:solidFill>
                  <a:sysClr val="windowText" lastClr="000000"/>
                </a:solidFill>
              </a:rPr>
              <a:t>:</a:t>
            </a:r>
            <a:endParaRPr lang="en-US" sz="2400" b="0" dirty="0">
              <a:solidFill>
                <a:sysClr val="windowText" lastClr="000000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3558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3D7AC-1FA9-417F-BDB9-3185684D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5373B-52F9-2A08-CE83-957040FF5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Conclusions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F580B9-178F-76BA-F22D-C1F0D3CE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085109"/>
            <a:ext cx="10515600" cy="1859570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Damage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Inspection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786C3E9-D1B2-CF4D-3DE5-4C6223359D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A9A2193-642E-7EE8-6381-A6BC5414C22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60ECD5A8-A0CB-A08A-9347-40A53FDBBC1F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390926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F065-7255-9B3F-381A-AE4514C56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C9465-AFA3-A871-3C47-05786254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Future Works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CABADCA2-FBDC-3F17-EAB3-72BAE5D0CC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CA17F8C-08C6-2A09-B4C4-4FD5F8D22E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</p:spTree>
    <p:extLst>
      <p:ext uri="{BB962C8B-B14F-4D97-AF65-F5344CB8AC3E}">
        <p14:creationId xmlns:p14="http://schemas.microsoft.com/office/powerpoint/2010/main" val="35724178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8A6AE-AE0A-CB79-8F6E-6DF66453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D8585C-6547-3DF2-5F9C-75F0EB87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Conclusions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E692B7C-2189-C39C-04A6-0B69B90BC9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729A674-1148-4E3C-8155-19C360C9603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</p:spTree>
    <p:extLst>
      <p:ext uri="{BB962C8B-B14F-4D97-AF65-F5344CB8AC3E}">
        <p14:creationId xmlns:p14="http://schemas.microsoft.com/office/powerpoint/2010/main" val="816944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24DDDD-3E7D-352D-39CE-05E259100A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800D48E-7799-4E3F-2241-A8646C7C67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46043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11FAAC68-AECF-CAFA-AC40-DA4762FFC624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7" name="ref-number-1">
            <a:extLst>
              <a:ext uri="{FF2B5EF4-FFF2-40B4-BE49-F238E27FC236}">
                <a16:creationId xmlns:a16="http://schemas.microsoft.com/office/drawing/2014/main" id="{D50755D4-B4E1-65DD-504A-4F2865A756CA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[1]</a:t>
            </a:r>
          </a:p>
        </p:txBody>
      </p:sp>
      <p:sp>
        <p:nvSpPr>
          <p:cNvPr id="9" name="ref-venue-1">
            <a:extLst>
              <a:ext uri="{FF2B5EF4-FFF2-40B4-BE49-F238E27FC236}">
                <a16:creationId xmlns:a16="http://schemas.microsoft.com/office/drawing/2014/main" id="{9A3DBDDA-9EE5-30F6-6C93-C609B598A47B}"/>
              </a:ext>
            </a:extLst>
          </p:cNvPr>
          <p:cNvSpPr>
            <a:spLocks noGrp="1"/>
          </p:cNvSpPr>
          <p:nvPr/>
        </p:nvSpPr>
        <p:spPr>
          <a:xfrm>
            <a:off x="1409700" y="166116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On a Mission, Season 4, Episode 8, 25 August 2022.</a:t>
            </a:r>
          </a:p>
        </p:txBody>
      </p:sp>
      <p:sp>
        <p:nvSpPr>
          <p:cNvPr id="11" name="ref-link-1">
            <a:extLst>
              <a:ext uri="{FF2B5EF4-FFF2-40B4-BE49-F238E27FC236}">
                <a16:creationId xmlns:a16="http://schemas.microsoft.com/office/drawing/2014/main" id="{24A6E2EC-21AA-1DAF-ED0A-BA3D9031ABD8}"/>
              </a:ext>
            </a:extLst>
          </p:cNvPr>
          <p:cNvSpPr>
            <a:spLocks noGrp="1"/>
          </p:cNvSpPr>
          <p:nvPr/>
        </p:nvSpPr>
        <p:spPr>
          <a:xfrm>
            <a:off x="1409700" y="188023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jpl.nasa.gov, On a Mission, S4 E8</a:t>
            </a:r>
          </a:p>
        </p:txBody>
      </p:sp>
      <p:sp>
        <p:nvSpPr>
          <p:cNvPr id="13" name="ref-number-2">
            <a:extLst>
              <a:ext uri="{FF2B5EF4-FFF2-40B4-BE49-F238E27FC236}">
                <a16:creationId xmlns:a16="http://schemas.microsoft.com/office/drawing/2014/main" id="{D55F48A7-441D-7F69-04A9-72E95C14352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[2]</a:t>
            </a:r>
          </a:p>
        </p:txBody>
      </p:sp>
      <p:sp>
        <p:nvSpPr>
          <p:cNvPr id="15" name="ref-venue-2">
            <a:extLst>
              <a:ext uri="{FF2B5EF4-FFF2-40B4-BE49-F238E27FC236}">
                <a16:creationId xmlns:a16="http://schemas.microsoft.com/office/drawing/2014/main" id="{4CBED393-95E4-3EB9-C029-02170483DE12}"/>
              </a:ext>
            </a:extLst>
          </p:cNvPr>
          <p:cNvSpPr>
            <a:spLocks noGrp="1"/>
          </p:cNvSpPr>
          <p:nvPr/>
        </p:nvSpPr>
        <p:spPr>
          <a:xfrm>
            <a:off x="1409700" y="26193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Aerospace Conference, 2022, pp. 1–19.</a:t>
            </a:r>
          </a:p>
        </p:txBody>
      </p:sp>
      <p:sp>
        <p:nvSpPr>
          <p:cNvPr id="17" name="ref-link-2">
            <a:extLst>
              <a:ext uri="{FF2B5EF4-FFF2-40B4-BE49-F238E27FC236}">
                <a16:creationId xmlns:a16="http://schemas.microsoft.com/office/drawing/2014/main" id="{984AE361-FE62-52A9-BF4D-91C9D8195ABA}"/>
              </a:ext>
            </a:extLst>
          </p:cNvPr>
          <p:cNvSpPr>
            <a:spLocks noGrp="1"/>
          </p:cNvSpPr>
          <p:nvPr/>
        </p:nvSpPr>
        <p:spPr>
          <a:xfrm>
            <a:off x="1409700" y="28384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robotics.jpl.nasa.gov, fmwi-rankin-2022-0225-final.pdf</a:t>
            </a:r>
          </a:p>
        </p:txBody>
      </p:sp>
      <p:sp>
        <p:nvSpPr>
          <p:cNvPr id="19" name="ref-number-3">
            <a:extLst>
              <a:ext uri="{FF2B5EF4-FFF2-40B4-BE49-F238E27FC236}">
                <a16:creationId xmlns:a16="http://schemas.microsoft.com/office/drawing/2014/main" id="{C611492B-0942-5E6D-A907-E73FF1A2384F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[3]</a:t>
            </a:r>
          </a:p>
        </p:txBody>
      </p:sp>
      <p:sp>
        <p:nvSpPr>
          <p:cNvPr id="21" name="ref-venue-3">
            <a:extLst>
              <a:ext uri="{FF2B5EF4-FFF2-40B4-BE49-F238E27FC236}">
                <a16:creationId xmlns:a16="http://schemas.microsoft.com/office/drawing/2014/main" id="{0C546CD6-B2A4-5591-2F6C-8AF4F8AF97D0}"/>
              </a:ext>
            </a:extLst>
          </p:cNvPr>
          <p:cNvSpPr>
            <a:spLocks noGrp="1"/>
          </p:cNvSpPr>
          <p:nvPr/>
        </p:nvSpPr>
        <p:spPr>
          <a:xfrm>
            <a:off x="1409700" y="36195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NASA Science, 27 April 2016. Image PIA20334.</a:t>
            </a:r>
          </a:p>
        </p:txBody>
      </p:sp>
      <p:sp>
        <p:nvSpPr>
          <p:cNvPr id="23" name="ref-link-3">
            <a:extLst>
              <a:ext uri="{FF2B5EF4-FFF2-40B4-BE49-F238E27FC236}">
                <a16:creationId xmlns:a16="http://schemas.microsoft.com/office/drawing/2014/main" id="{093EA0D9-A04B-7576-4AE1-663BC3FAB39F}"/>
              </a:ext>
            </a:extLst>
          </p:cNvPr>
          <p:cNvSpPr>
            <a:spLocks noGrp="1"/>
          </p:cNvSpPr>
          <p:nvPr/>
        </p:nvSpPr>
        <p:spPr>
          <a:xfrm>
            <a:off x="1409700" y="38385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science.nasa.gov/resource/routine-inspection-of-rover-wheel-wear-and-tear/</a:t>
            </a:r>
          </a:p>
        </p:txBody>
      </p:sp>
      <p:sp>
        <p:nvSpPr>
          <p:cNvPr id="25" name="ref-number-4">
            <a:extLst>
              <a:ext uri="{FF2B5EF4-FFF2-40B4-BE49-F238E27FC236}">
                <a16:creationId xmlns:a16="http://schemas.microsoft.com/office/drawing/2014/main" id="{2D1FF007-E8BE-C0DA-2CB9-26D4EC5AA1C4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[4]</a:t>
            </a:r>
          </a:p>
        </p:txBody>
      </p:sp>
      <p:sp>
        <p:nvSpPr>
          <p:cNvPr id="27" name="ref-venue-4">
            <a:extLst>
              <a:ext uri="{FF2B5EF4-FFF2-40B4-BE49-F238E27FC236}">
                <a16:creationId xmlns:a16="http://schemas.microsoft.com/office/drawing/2014/main" id="{C417F74B-C6C3-4725-C3A2-8AADF0C0FCBA}"/>
              </a:ext>
            </a:extLst>
          </p:cNvPr>
          <p:cNvSpPr>
            <a:spLocks noGrp="1"/>
          </p:cNvSpPr>
          <p:nvPr/>
        </p:nvSpPr>
        <p:spPr>
          <a:xfrm>
            <a:off x="1409700" y="45910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Transactions on Geoscience and Remote Sensing, vol. 62, 2024.</a:t>
            </a:r>
          </a:p>
        </p:txBody>
      </p:sp>
      <p:sp>
        <p:nvSpPr>
          <p:cNvPr id="29" name="ref-link-4">
            <a:extLst>
              <a:ext uri="{FF2B5EF4-FFF2-40B4-BE49-F238E27FC236}">
                <a16:creationId xmlns:a16="http://schemas.microsoft.com/office/drawing/2014/main" id="{7C82B286-6523-E1AD-FFB4-E1AA8D8F75CE}"/>
              </a:ext>
            </a:extLst>
          </p:cNvPr>
          <p:cNvSpPr>
            <a:spLocks noGrp="1"/>
          </p:cNvSpPr>
          <p:nvPr/>
        </p:nvSpPr>
        <p:spPr>
          <a:xfrm>
            <a:off x="1409700" y="48101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10.1109/TGRS.2024.3386756</a:t>
            </a:r>
          </a:p>
        </p:txBody>
      </p:sp>
      <p:sp>
        <p:nvSpPr>
          <p:cNvPr id="31" name="ref-number-5">
            <a:extLst>
              <a:ext uri="{FF2B5EF4-FFF2-40B4-BE49-F238E27FC236}">
                <a16:creationId xmlns:a16="http://schemas.microsoft.com/office/drawing/2014/main" id="{2EE45169-9D4A-B330-5141-F63ACE6B7E6B}"/>
              </a:ext>
            </a:extLst>
          </p:cNvPr>
          <p:cNvSpPr>
            <a:spLocks noGrp="1"/>
          </p:cNvSpPr>
          <p:nvPr/>
        </p:nvSpPr>
        <p:spPr>
          <a:xfrm>
            <a:off x="762000" y="542353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[5]</a:t>
            </a:r>
          </a:p>
        </p:txBody>
      </p:sp>
      <p:sp>
        <p:nvSpPr>
          <p:cNvPr id="33" name="ref-venue-5">
            <a:extLst>
              <a:ext uri="{FF2B5EF4-FFF2-40B4-BE49-F238E27FC236}">
                <a16:creationId xmlns:a16="http://schemas.microsoft.com/office/drawing/2014/main" id="{B4BD0FC3-3765-F007-8439-2EC257514D41}"/>
              </a:ext>
            </a:extLst>
          </p:cNvPr>
          <p:cNvSpPr>
            <a:spLocks noGrp="1"/>
          </p:cNvSpPr>
          <p:nvPr/>
        </p:nvSpPr>
        <p:spPr>
          <a:xfrm>
            <a:off x="1409700" y="566166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NeurIPS, Datasets and Benchmarks Track, 2025.</a:t>
            </a:r>
          </a:p>
        </p:txBody>
      </p:sp>
      <p:sp>
        <p:nvSpPr>
          <p:cNvPr id="35" name="ref-link-5">
            <a:extLst>
              <a:ext uri="{FF2B5EF4-FFF2-40B4-BE49-F238E27FC236}">
                <a16:creationId xmlns:a16="http://schemas.microsoft.com/office/drawing/2014/main" id="{3C667E7A-1303-5AD7-A76E-CFA7C9ACC0E9}"/>
              </a:ext>
            </a:extLst>
          </p:cNvPr>
          <p:cNvSpPr>
            <a:spLocks noGrp="1"/>
          </p:cNvSpPr>
          <p:nvPr/>
        </p:nvSpPr>
        <p:spPr>
          <a:xfrm>
            <a:off x="1409700" y="588073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10.52202/085713-4098</a:t>
            </a:r>
          </a:p>
        </p:txBody>
      </p:sp>
      <p:sp>
        <p:nvSpPr>
          <p:cNvPr id="69" name="ref-title-1">
            <a:extLst>
              <a:ext uri="{FF2B5EF4-FFF2-40B4-BE49-F238E27FC236}">
                <a16:creationId xmlns:a16="http://schemas.microsoft.com/office/drawing/2014/main" id="{F7A6C1EC-2256-D2C6-D031-0E00C75D45AE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 Jet Propulsion Laboratory. How to Drive a Mars Rover.</a:t>
            </a:r>
          </a:p>
        </p:txBody>
      </p:sp>
      <p:sp>
        <p:nvSpPr>
          <p:cNvPr id="71" name="ref-title-2">
            <a:extLst>
              <a:ext uri="{FF2B5EF4-FFF2-40B4-BE49-F238E27FC236}">
                <a16:creationId xmlns:a16="http://schemas.microsoft.com/office/drawing/2014/main" id="{C3263381-F1DA-58F3-4F31-DC8C35BB01E8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A. Rankin et al. Assessing Mars Curiosity Rover Wheel Damage.</a:t>
            </a:r>
          </a:p>
        </p:txBody>
      </p:sp>
      <p:sp>
        <p:nvSpPr>
          <p:cNvPr id="73" name="ref-title-3">
            <a:extLst>
              <a:ext uri="{FF2B5EF4-FFF2-40B4-BE49-F238E27FC236}">
                <a16:creationId xmlns:a16="http://schemas.microsoft.com/office/drawing/2014/main" id="{2656BE13-A19E-D028-2960-41FD285C71E6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NASA. Routine Inspection of Rover Wheel Wear and Tear.</a:t>
            </a:r>
          </a:p>
        </p:txBody>
      </p:sp>
      <p:sp>
        <p:nvSpPr>
          <p:cNvPr id="75" name="ref-title-4">
            <a:extLst>
              <a:ext uri="{FF2B5EF4-FFF2-40B4-BE49-F238E27FC236}">
                <a16:creationId xmlns:a16="http://schemas.microsoft.com/office/drawing/2014/main" id="{1BAC2FE3-8211-36CF-8850-BF0F83ECD79C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J. Zhang et al. S⁵Mars: Semi-Supervised Learning for Mars Semantic Segmentation.</a:t>
            </a:r>
          </a:p>
        </p:txBody>
      </p:sp>
      <p:sp>
        <p:nvSpPr>
          <p:cNvPr id="77" name="ref-title-5">
            <a:extLst>
              <a:ext uri="{FF2B5EF4-FFF2-40B4-BE49-F238E27FC236}">
                <a16:creationId xmlns:a16="http://schemas.microsoft.com/office/drawing/2014/main" id="{F9485071-B946-77AC-B470-AE0619F88C79}"/>
              </a:ext>
            </a:extLst>
          </p:cNvPr>
          <p:cNvSpPr>
            <a:spLocks noGrp="1"/>
          </p:cNvSpPr>
          <p:nvPr/>
        </p:nvSpPr>
        <p:spPr>
          <a:xfrm>
            <a:off x="1409700" y="542353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M. Purohit et al. Mars-Bench: A Benchmark for Evaluating Foundation Models for Mars Science Tasks.</a:t>
            </a:r>
          </a:p>
        </p:txBody>
      </p:sp>
    </p:spTree>
    <p:extLst>
      <p:ext uri="{BB962C8B-B14F-4D97-AF65-F5344CB8AC3E}">
        <p14:creationId xmlns:p14="http://schemas.microsoft.com/office/powerpoint/2010/main" val="40585142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FA7A4-2D70-A483-E334-948C47D5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E76EB4E8-00F3-F458-0AAD-B82EF38CAF42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3" name="ref-number-6">
            <a:extLst>
              <a:ext uri="{FF2B5EF4-FFF2-40B4-BE49-F238E27FC236}">
                <a16:creationId xmlns:a16="http://schemas.microsoft.com/office/drawing/2014/main" id="{0821FF25-ECD2-F4D9-F150-CBC60522B100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[6]</a:t>
            </a:r>
          </a:p>
        </p:txBody>
      </p:sp>
      <p:sp>
        <p:nvSpPr>
          <p:cNvPr id="6" name="ref-title-6">
            <a:extLst>
              <a:ext uri="{FF2B5EF4-FFF2-40B4-BE49-F238E27FC236}">
                <a16:creationId xmlns:a16="http://schemas.microsoft.com/office/drawing/2014/main" id="{297A56C7-9061-098D-3131-FA7C18DC6853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O. Ronneberger, P. Fischer and T. Brox. U-Net: Convolutional Networks for Biomedical Image Segmentation.</a:t>
            </a:r>
          </a:p>
        </p:txBody>
      </p:sp>
      <p:sp>
        <p:nvSpPr>
          <p:cNvPr id="10" name="ref-venue-6">
            <a:extLst>
              <a:ext uri="{FF2B5EF4-FFF2-40B4-BE49-F238E27FC236}">
                <a16:creationId xmlns:a16="http://schemas.microsoft.com/office/drawing/2014/main" id="{9AAA3DC0-381C-A5F8-8CDC-3A1EA4B4937B}"/>
              </a:ext>
            </a:extLst>
          </p:cNvPr>
          <p:cNvSpPr>
            <a:spLocks noGrp="1"/>
          </p:cNvSpPr>
          <p:nvPr/>
        </p:nvSpPr>
        <p:spPr>
          <a:xfrm>
            <a:off x="1409700" y="164955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MICCAI, 2015, pp. 234–241.</a:t>
            </a:r>
          </a:p>
        </p:txBody>
      </p:sp>
      <p:sp>
        <p:nvSpPr>
          <p:cNvPr id="14" name="ref-link-6">
            <a:extLst>
              <a:ext uri="{FF2B5EF4-FFF2-40B4-BE49-F238E27FC236}">
                <a16:creationId xmlns:a16="http://schemas.microsoft.com/office/drawing/2014/main" id="{53B0F193-568C-EAD1-5CE2-84CA26A8B470}"/>
              </a:ext>
            </a:extLst>
          </p:cNvPr>
          <p:cNvSpPr>
            <a:spLocks noGrp="1"/>
          </p:cNvSpPr>
          <p:nvPr/>
        </p:nvSpPr>
        <p:spPr>
          <a:xfrm>
            <a:off x="1409700" y="186863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doi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: 10.1007/978-3-319-24574-4_28</a:t>
            </a:r>
          </a:p>
        </p:txBody>
      </p:sp>
      <p:sp>
        <p:nvSpPr>
          <p:cNvPr id="18" name="ref-number-7">
            <a:extLst>
              <a:ext uri="{FF2B5EF4-FFF2-40B4-BE49-F238E27FC236}">
                <a16:creationId xmlns:a16="http://schemas.microsoft.com/office/drawing/2014/main" id="{D24575B9-18DE-0F01-BC21-49C24CB2777B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[7]</a:t>
            </a:r>
          </a:p>
        </p:txBody>
      </p:sp>
      <p:sp>
        <p:nvSpPr>
          <p:cNvPr id="22" name="ref-title-7">
            <a:extLst>
              <a:ext uri="{FF2B5EF4-FFF2-40B4-BE49-F238E27FC236}">
                <a16:creationId xmlns:a16="http://schemas.microsoft.com/office/drawing/2014/main" id="{CEF36257-7668-348F-51B1-CD13545A3062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L.-C. Chen et al. Rethinking Atrous Convolution for Semantic Image Segmentation.</a:t>
            </a:r>
          </a:p>
        </p:txBody>
      </p:sp>
      <p:sp>
        <p:nvSpPr>
          <p:cNvPr id="26" name="ref-venue-7">
            <a:extLst>
              <a:ext uri="{FF2B5EF4-FFF2-40B4-BE49-F238E27FC236}">
                <a16:creationId xmlns:a16="http://schemas.microsoft.com/office/drawing/2014/main" id="{F880F072-8991-F778-8255-43B3C18CBAE5}"/>
              </a:ext>
            </a:extLst>
          </p:cNvPr>
          <p:cNvSpPr>
            <a:spLocks noGrp="1"/>
          </p:cNvSpPr>
          <p:nvPr/>
        </p:nvSpPr>
        <p:spPr>
          <a:xfrm>
            <a:off x="1409700" y="263323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arXiv:1706.05587, 2017.</a:t>
            </a:r>
          </a:p>
        </p:txBody>
      </p:sp>
      <p:sp>
        <p:nvSpPr>
          <p:cNvPr id="30" name="ref-link-7">
            <a:extLst>
              <a:ext uri="{FF2B5EF4-FFF2-40B4-BE49-F238E27FC236}">
                <a16:creationId xmlns:a16="http://schemas.microsoft.com/office/drawing/2014/main" id="{FCB372AD-8AF8-4DCE-37E9-23DE7325BA2F}"/>
              </a:ext>
            </a:extLst>
          </p:cNvPr>
          <p:cNvSpPr>
            <a:spLocks noGrp="1"/>
          </p:cNvSpPr>
          <p:nvPr/>
        </p:nvSpPr>
        <p:spPr>
          <a:xfrm>
            <a:off x="1409700" y="285230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arxiv.org/abs/1706.05587</a:t>
            </a:r>
          </a:p>
        </p:txBody>
      </p:sp>
      <p:sp>
        <p:nvSpPr>
          <p:cNvPr id="34" name="ref-number-8">
            <a:extLst>
              <a:ext uri="{FF2B5EF4-FFF2-40B4-BE49-F238E27FC236}">
                <a16:creationId xmlns:a16="http://schemas.microsoft.com/office/drawing/2014/main" id="{4499402C-6023-07DA-17A8-B73FF0A8C28A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[8]</a:t>
            </a:r>
          </a:p>
        </p:txBody>
      </p:sp>
      <p:sp>
        <p:nvSpPr>
          <p:cNvPr id="37" name="ref-title-8">
            <a:extLst>
              <a:ext uri="{FF2B5EF4-FFF2-40B4-BE49-F238E27FC236}">
                <a16:creationId xmlns:a16="http://schemas.microsoft.com/office/drawing/2014/main" id="{1FEF7ADE-0A42-982B-8D4E-2DE087A0D36D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L.-C. Chen et al. Encoder-Decoder with Atrous Separable Convolution for Semantic Image Segmentation.</a:t>
            </a:r>
          </a:p>
        </p:txBody>
      </p:sp>
      <p:sp>
        <p:nvSpPr>
          <p:cNvPr id="39" name="ref-venue-8">
            <a:extLst>
              <a:ext uri="{FF2B5EF4-FFF2-40B4-BE49-F238E27FC236}">
                <a16:creationId xmlns:a16="http://schemas.microsoft.com/office/drawing/2014/main" id="{93F68481-2A7A-CAF7-A9CA-26FAB4A4CF3F}"/>
              </a:ext>
            </a:extLst>
          </p:cNvPr>
          <p:cNvSpPr>
            <a:spLocks noGrp="1"/>
          </p:cNvSpPr>
          <p:nvPr/>
        </p:nvSpPr>
        <p:spPr>
          <a:xfrm>
            <a:off x="1409700" y="359265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ECCV, 2018, pp. 833–851.</a:t>
            </a:r>
          </a:p>
        </p:txBody>
      </p:sp>
      <p:sp>
        <p:nvSpPr>
          <p:cNvPr id="41" name="ref-link-8">
            <a:extLst>
              <a:ext uri="{FF2B5EF4-FFF2-40B4-BE49-F238E27FC236}">
                <a16:creationId xmlns:a16="http://schemas.microsoft.com/office/drawing/2014/main" id="{9544EA9A-86B7-BBF0-E609-160FA64BBAFC}"/>
              </a:ext>
            </a:extLst>
          </p:cNvPr>
          <p:cNvSpPr>
            <a:spLocks noGrp="1"/>
          </p:cNvSpPr>
          <p:nvPr/>
        </p:nvSpPr>
        <p:spPr>
          <a:xfrm>
            <a:off x="1409700" y="381173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doi: 10.1007/978-3-030-01234-2_49</a:t>
            </a:r>
          </a:p>
        </p:txBody>
      </p:sp>
      <p:sp>
        <p:nvSpPr>
          <p:cNvPr id="43" name="ref-number-9">
            <a:extLst>
              <a:ext uri="{FF2B5EF4-FFF2-40B4-BE49-F238E27FC236}">
                <a16:creationId xmlns:a16="http://schemas.microsoft.com/office/drawing/2014/main" id="{C730D5B4-0AC9-A910-1955-5B5501ECBEB2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[9]</a:t>
            </a:r>
          </a:p>
        </p:txBody>
      </p:sp>
      <p:sp>
        <p:nvSpPr>
          <p:cNvPr id="45" name="ref-title-9">
            <a:extLst>
              <a:ext uri="{FF2B5EF4-FFF2-40B4-BE49-F238E27FC236}">
                <a16:creationId xmlns:a16="http://schemas.microsoft.com/office/drawing/2014/main" id="{148C544D-2D22-F2E2-591B-54FB35A1F30E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E. Xie et al. SegFormer: Simple and Efficient Design for Semantic Segmentation with Transformers.</a:t>
            </a:r>
          </a:p>
        </p:txBody>
      </p:sp>
      <p:sp>
        <p:nvSpPr>
          <p:cNvPr id="47" name="ref-venue-9">
            <a:extLst>
              <a:ext uri="{FF2B5EF4-FFF2-40B4-BE49-F238E27FC236}">
                <a16:creationId xmlns:a16="http://schemas.microsoft.com/office/drawing/2014/main" id="{EECB0CBB-A035-8C10-62C3-3D41A3AA4B1F}"/>
              </a:ext>
            </a:extLst>
          </p:cNvPr>
          <p:cNvSpPr>
            <a:spLocks noGrp="1"/>
          </p:cNvSpPr>
          <p:nvPr/>
        </p:nvSpPr>
        <p:spPr>
          <a:xfrm>
            <a:off x="1409700" y="4579793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NeurIPS</a:t>
            </a: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, vol. 34, 2021, pp. 12077–12090.</a:t>
            </a:r>
          </a:p>
        </p:txBody>
      </p:sp>
      <p:sp>
        <p:nvSpPr>
          <p:cNvPr id="49" name="ref-link-9">
            <a:extLst>
              <a:ext uri="{FF2B5EF4-FFF2-40B4-BE49-F238E27FC236}">
                <a16:creationId xmlns:a16="http://schemas.microsoft.com/office/drawing/2014/main" id="{CC9DC076-C5AB-84BB-6982-441CD70B6F46}"/>
              </a:ext>
            </a:extLst>
          </p:cNvPr>
          <p:cNvSpPr>
            <a:spLocks noGrp="1"/>
          </p:cNvSpPr>
          <p:nvPr/>
        </p:nvSpPr>
        <p:spPr>
          <a:xfrm>
            <a:off x="1409700" y="4798868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arxiv.org/abs/2105.15203</a:t>
            </a:r>
          </a:p>
        </p:txBody>
      </p:sp>
      <p:sp>
        <p:nvSpPr>
          <p:cNvPr id="51" name="ref-number-10">
            <a:extLst>
              <a:ext uri="{FF2B5EF4-FFF2-40B4-BE49-F238E27FC236}">
                <a16:creationId xmlns:a16="http://schemas.microsoft.com/office/drawing/2014/main" id="{F1CF2FC5-9EA2-537B-8DBA-61E73F56DB5F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[10]</a:t>
            </a:r>
          </a:p>
        </p:txBody>
      </p:sp>
      <p:sp>
        <p:nvSpPr>
          <p:cNvPr id="53" name="ref-title-10">
            <a:extLst>
              <a:ext uri="{FF2B5EF4-FFF2-40B4-BE49-F238E27FC236}">
                <a16:creationId xmlns:a16="http://schemas.microsoft.com/office/drawing/2014/main" id="{84E8B91A-ED19-1731-5EB4-2285CE38C9DC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M. Shi et al. Lightweight Context-Aware Network Using Partial-Channel Transformation for Real-Time Semantic Segmentation.</a:t>
            </a:r>
          </a:p>
        </p:txBody>
      </p:sp>
      <p:sp>
        <p:nvSpPr>
          <p:cNvPr id="55" name="ref-venue-10">
            <a:extLst>
              <a:ext uri="{FF2B5EF4-FFF2-40B4-BE49-F238E27FC236}">
                <a16:creationId xmlns:a16="http://schemas.microsoft.com/office/drawing/2014/main" id="{B37CCFF1-E1B8-BC42-4E2A-291E470FFA2A}"/>
              </a:ext>
            </a:extLst>
          </p:cNvPr>
          <p:cNvSpPr>
            <a:spLocks noGrp="1"/>
          </p:cNvSpPr>
          <p:nvPr/>
        </p:nvSpPr>
        <p:spPr>
          <a:xfrm>
            <a:off x="1409700" y="57912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Transactions on Intelligent Transportation Systems, 25(7), 2024.</a:t>
            </a:r>
          </a:p>
        </p:txBody>
      </p:sp>
      <p:sp>
        <p:nvSpPr>
          <p:cNvPr id="57" name="ref-link-10">
            <a:extLst>
              <a:ext uri="{FF2B5EF4-FFF2-40B4-BE49-F238E27FC236}">
                <a16:creationId xmlns:a16="http://schemas.microsoft.com/office/drawing/2014/main" id="{22646CC2-4C05-842B-FEC0-FC9648FA9AA7}"/>
              </a:ext>
            </a:extLst>
          </p:cNvPr>
          <p:cNvSpPr>
            <a:spLocks noGrp="1"/>
          </p:cNvSpPr>
          <p:nvPr/>
        </p:nvSpPr>
        <p:spPr>
          <a:xfrm>
            <a:off x="1409700" y="60102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10.1109/TITS.2023.3348631</a:t>
            </a:r>
          </a:p>
        </p:txBody>
      </p:sp>
    </p:spTree>
    <p:extLst>
      <p:ext uri="{BB962C8B-B14F-4D97-AF65-F5344CB8AC3E}">
        <p14:creationId xmlns:p14="http://schemas.microsoft.com/office/powerpoint/2010/main" val="740503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7F767-E65D-BD54-9A7B-3974EE4C2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C680000B-601D-6466-9E1B-4D1A19FA2AE6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3" name="ref-number-11">
            <a:extLst>
              <a:ext uri="{FF2B5EF4-FFF2-40B4-BE49-F238E27FC236}">
                <a16:creationId xmlns:a16="http://schemas.microsoft.com/office/drawing/2014/main" id="{565BEFDF-341E-CDC0-A8F6-3F63D7B75A2B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[11]</a:t>
            </a:r>
          </a:p>
        </p:txBody>
      </p:sp>
      <p:sp>
        <p:nvSpPr>
          <p:cNvPr id="6" name="ref-title-11">
            <a:extLst>
              <a:ext uri="{FF2B5EF4-FFF2-40B4-BE49-F238E27FC236}">
                <a16:creationId xmlns:a16="http://schemas.microsoft.com/office/drawing/2014/main" id="{325CAD5A-E533-9F40-367A-4B2AF0848C6B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Jacob et al. Quantization and Training of Neural Networks for Efficient Integer-Arithmetic-Only Inference.</a:t>
            </a:r>
          </a:p>
        </p:txBody>
      </p:sp>
      <p:sp>
        <p:nvSpPr>
          <p:cNvPr id="10" name="ref-venue-11">
            <a:extLst>
              <a:ext uri="{FF2B5EF4-FFF2-40B4-BE49-F238E27FC236}">
                <a16:creationId xmlns:a16="http://schemas.microsoft.com/office/drawing/2014/main" id="{89802A4F-8B9F-B632-B6D5-53DE2B93A602}"/>
              </a:ext>
            </a:extLst>
          </p:cNvPr>
          <p:cNvSpPr>
            <a:spLocks noGrp="1"/>
          </p:cNvSpPr>
          <p:nvPr/>
        </p:nvSpPr>
        <p:spPr>
          <a:xfrm>
            <a:off x="1409700" y="16335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2018, pp. 2704–2713.</a:t>
            </a:r>
          </a:p>
        </p:txBody>
      </p:sp>
      <p:sp>
        <p:nvSpPr>
          <p:cNvPr id="14" name="ref-link-11">
            <a:extLst>
              <a:ext uri="{FF2B5EF4-FFF2-40B4-BE49-F238E27FC236}">
                <a16:creationId xmlns:a16="http://schemas.microsoft.com/office/drawing/2014/main" id="{29F9B77A-7FD7-99DF-C07C-EE8EB59EB011}"/>
              </a:ext>
            </a:extLst>
          </p:cNvPr>
          <p:cNvSpPr>
            <a:spLocks noGrp="1"/>
          </p:cNvSpPr>
          <p:nvPr/>
        </p:nvSpPr>
        <p:spPr>
          <a:xfrm>
            <a:off x="1409700" y="18526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arxiv.org/abs/1712.05877</a:t>
            </a:r>
          </a:p>
        </p:txBody>
      </p:sp>
      <p:sp>
        <p:nvSpPr>
          <p:cNvPr id="18" name="ref-number-12">
            <a:extLst>
              <a:ext uri="{FF2B5EF4-FFF2-40B4-BE49-F238E27FC236}">
                <a16:creationId xmlns:a16="http://schemas.microsoft.com/office/drawing/2014/main" id="{DE8B9118-5DF0-9F8A-04E5-641884AE3C5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[12]</a:t>
            </a:r>
          </a:p>
        </p:txBody>
      </p:sp>
      <p:sp>
        <p:nvSpPr>
          <p:cNvPr id="22" name="ref-title-12">
            <a:extLst>
              <a:ext uri="{FF2B5EF4-FFF2-40B4-BE49-F238E27FC236}">
                <a16:creationId xmlns:a16="http://schemas.microsoft.com/office/drawing/2014/main" id="{F024849A-4BE0-559D-9683-4B0DE8801825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 Visualization Technology Applications and Development. Curiosity 3D Model.</a:t>
            </a:r>
          </a:p>
        </p:txBody>
      </p:sp>
      <p:sp>
        <p:nvSpPr>
          <p:cNvPr id="26" name="ref-venue-12">
            <a:extLst>
              <a:ext uri="{FF2B5EF4-FFF2-40B4-BE49-F238E27FC236}">
                <a16:creationId xmlns:a16="http://schemas.microsoft.com/office/drawing/2014/main" id="{76BE68B3-154F-2175-3927-FE070B2D1F25}"/>
              </a:ext>
            </a:extLst>
          </p:cNvPr>
          <p:cNvSpPr>
            <a:spLocks noGrp="1"/>
          </p:cNvSpPr>
          <p:nvPr/>
        </p:nvSpPr>
        <p:spPr>
          <a:xfrm>
            <a:off x="1409700" y="26050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NASA Science, 22 April 2019.</a:t>
            </a:r>
          </a:p>
        </p:txBody>
      </p:sp>
      <p:sp>
        <p:nvSpPr>
          <p:cNvPr id="30" name="ref-link-12">
            <a:extLst>
              <a:ext uri="{FF2B5EF4-FFF2-40B4-BE49-F238E27FC236}">
                <a16:creationId xmlns:a16="http://schemas.microsoft.com/office/drawing/2014/main" id="{CF711D89-6489-0356-A22E-DDE749EA9523}"/>
              </a:ext>
            </a:extLst>
          </p:cNvPr>
          <p:cNvSpPr>
            <a:spLocks noGrp="1"/>
          </p:cNvSpPr>
          <p:nvPr/>
        </p:nvSpPr>
        <p:spPr>
          <a:xfrm>
            <a:off x="1409700" y="28241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science.nasa.gov/resource/curiosity-3d-model/</a:t>
            </a:r>
          </a:p>
        </p:txBody>
      </p:sp>
      <p:sp>
        <p:nvSpPr>
          <p:cNvPr id="34" name="ref-number-13">
            <a:extLst>
              <a:ext uri="{FF2B5EF4-FFF2-40B4-BE49-F238E27FC236}">
                <a16:creationId xmlns:a16="http://schemas.microsoft.com/office/drawing/2014/main" id="{FE3F6B81-D87E-A447-565F-F8DF8849AD48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[13]</a:t>
            </a:r>
          </a:p>
        </p:txBody>
      </p:sp>
      <p:sp>
        <p:nvSpPr>
          <p:cNvPr id="37" name="ref-title-13">
            <a:extLst>
              <a:ext uri="{FF2B5EF4-FFF2-40B4-BE49-F238E27FC236}">
                <a16:creationId xmlns:a16="http://schemas.microsoft.com/office/drawing/2014/main" id="{1AC1527C-3165-EB7F-3CAF-05431708A481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HiRISE. Possible MSL Landing Site in Gale Crater.</a:t>
            </a:r>
          </a:p>
        </p:txBody>
      </p:sp>
      <p:sp>
        <p:nvSpPr>
          <p:cNvPr id="39" name="ref-venue-13">
            <a:extLst>
              <a:ext uri="{FF2B5EF4-FFF2-40B4-BE49-F238E27FC236}">
                <a16:creationId xmlns:a16="http://schemas.microsoft.com/office/drawing/2014/main" id="{87625E2A-1C63-2266-6C91-CD73BFA32D1D}"/>
              </a:ext>
            </a:extLst>
          </p:cNvPr>
          <p:cNvSpPr>
            <a:spLocks noGrp="1"/>
          </p:cNvSpPr>
          <p:nvPr/>
        </p:nvSpPr>
        <p:spPr>
          <a:xfrm>
            <a:off x="1409700" y="35766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DTM and orthoimage, PSP_010573_1755 and PSP_010639_1755.</a:t>
            </a:r>
          </a:p>
        </p:txBody>
      </p:sp>
      <p:sp>
        <p:nvSpPr>
          <p:cNvPr id="41" name="ref-link-13">
            <a:extLst>
              <a:ext uri="{FF2B5EF4-FFF2-40B4-BE49-F238E27FC236}">
                <a16:creationId xmlns:a16="http://schemas.microsoft.com/office/drawing/2014/main" id="{A04981A3-0668-0C7C-DAA6-07681E686CC9}"/>
              </a:ext>
            </a:extLst>
          </p:cNvPr>
          <p:cNvSpPr>
            <a:spLocks noGrp="1"/>
          </p:cNvSpPr>
          <p:nvPr/>
        </p:nvSpPr>
        <p:spPr>
          <a:xfrm>
            <a:off x="1409700" y="37957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hirise.lpl.arizona.edu/</a:t>
            </a: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dtm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/</a:t>
            </a: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dtm.php?ID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=PSP_010573_1755</a:t>
            </a:r>
          </a:p>
        </p:txBody>
      </p:sp>
      <p:sp>
        <p:nvSpPr>
          <p:cNvPr id="43" name="ref-number-14">
            <a:extLst>
              <a:ext uri="{FF2B5EF4-FFF2-40B4-BE49-F238E27FC236}">
                <a16:creationId xmlns:a16="http://schemas.microsoft.com/office/drawing/2014/main" id="{AC6B1B1E-A916-03C9-0855-DF32E5CC4C9A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[14]</a:t>
            </a:r>
          </a:p>
        </p:txBody>
      </p:sp>
      <p:sp>
        <p:nvSpPr>
          <p:cNvPr id="45" name="ref-title-14">
            <a:extLst>
              <a:ext uri="{FF2B5EF4-FFF2-40B4-BE49-F238E27FC236}">
                <a16:creationId xmlns:a16="http://schemas.microsoft.com/office/drawing/2014/main" id="{1509D3C1-18E5-F43F-6ABB-92537436C319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J. Tobin et al. Domain Randomization for Transferring Deep Neural Networks from Simulation to the Real World.</a:t>
            </a:r>
          </a:p>
        </p:txBody>
      </p:sp>
      <p:sp>
        <p:nvSpPr>
          <p:cNvPr id="47" name="ref-venue-14">
            <a:extLst>
              <a:ext uri="{FF2B5EF4-FFF2-40B4-BE49-F238E27FC236}">
                <a16:creationId xmlns:a16="http://schemas.microsoft.com/office/drawing/2014/main" id="{90CA55B2-5AFA-DDBF-83C5-9BCD4AFB0351}"/>
              </a:ext>
            </a:extLst>
          </p:cNvPr>
          <p:cNvSpPr>
            <a:spLocks noGrp="1"/>
          </p:cNvSpPr>
          <p:nvPr/>
        </p:nvSpPr>
        <p:spPr>
          <a:xfrm>
            <a:off x="1409700" y="45481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IEEE/RSJ IROS, 2017, pp. 23–30.</a:t>
            </a:r>
          </a:p>
        </p:txBody>
      </p:sp>
      <p:sp>
        <p:nvSpPr>
          <p:cNvPr id="49" name="ref-link-14">
            <a:extLst>
              <a:ext uri="{FF2B5EF4-FFF2-40B4-BE49-F238E27FC236}">
                <a16:creationId xmlns:a16="http://schemas.microsoft.com/office/drawing/2014/main" id="{A92D3111-7D97-4187-34D5-16CB163567D6}"/>
              </a:ext>
            </a:extLst>
          </p:cNvPr>
          <p:cNvSpPr>
            <a:spLocks noGrp="1"/>
          </p:cNvSpPr>
          <p:nvPr/>
        </p:nvSpPr>
        <p:spPr>
          <a:xfrm>
            <a:off x="1409700" y="47672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10.1109/IROS.2017.8202133</a:t>
            </a:r>
          </a:p>
        </p:txBody>
      </p:sp>
      <p:sp>
        <p:nvSpPr>
          <p:cNvPr id="51" name="ref-number-15">
            <a:extLst>
              <a:ext uri="{FF2B5EF4-FFF2-40B4-BE49-F238E27FC236}">
                <a16:creationId xmlns:a16="http://schemas.microsoft.com/office/drawing/2014/main" id="{EC736862-BAD5-A7E5-AA8C-B0C385FFCE17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[15]</a:t>
            </a:r>
          </a:p>
        </p:txBody>
      </p:sp>
      <p:sp>
        <p:nvSpPr>
          <p:cNvPr id="53" name="ref-title-15">
            <a:extLst>
              <a:ext uri="{FF2B5EF4-FFF2-40B4-BE49-F238E27FC236}">
                <a16:creationId xmlns:a16="http://schemas.microsoft.com/office/drawing/2014/main" id="{8188A915-CA54-75A2-D2D0-3F65597B8CC3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Bergmann et al. MVTec AD: A Comprehensive Real-World Dataset for Unsupervised Anomaly Detection.</a:t>
            </a:r>
          </a:p>
        </p:txBody>
      </p:sp>
      <p:sp>
        <p:nvSpPr>
          <p:cNvPr id="55" name="ref-venue-15">
            <a:extLst>
              <a:ext uri="{FF2B5EF4-FFF2-40B4-BE49-F238E27FC236}">
                <a16:creationId xmlns:a16="http://schemas.microsoft.com/office/drawing/2014/main" id="{A39FFE36-0AB7-6B5C-0813-B6F514873DFF}"/>
              </a:ext>
            </a:extLst>
          </p:cNvPr>
          <p:cNvSpPr>
            <a:spLocks noGrp="1"/>
          </p:cNvSpPr>
          <p:nvPr/>
        </p:nvSpPr>
        <p:spPr>
          <a:xfrm>
            <a:off x="1409700" y="55197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2019, pp. 9584–9592.</a:t>
            </a:r>
          </a:p>
        </p:txBody>
      </p:sp>
      <p:sp>
        <p:nvSpPr>
          <p:cNvPr id="57" name="ref-link-15">
            <a:extLst>
              <a:ext uri="{FF2B5EF4-FFF2-40B4-BE49-F238E27FC236}">
                <a16:creationId xmlns:a16="http://schemas.microsoft.com/office/drawing/2014/main" id="{DF69B8D8-422E-7C21-2011-28CC15B6A3AF}"/>
              </a:ext>
            </a:extLst>
          </p:cNvPr>
          <p:cNvSpPr>
            <a:spLocks noGrp="1"/>
          </p:cNvSpPr>
          <p:nvPr/>
        </p:nvSpPr>
        <p:spPr>
          <a:xfrm>
            <a:off x="1409700" y="57388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10.1109/CVPR.2019.00982</a:t>
            </a:r>
          </a:p>
        </p:txBody>
      </p:sp>
    </p:spTree>
    <p:extLst>
      <p:ext uri="{BB962C8B-B14F-4D97-AF65-F5344CB8AC3E}">
        <p14:creationId xmlns:p14="http://schemas.microsoft.com/office/powerpoint/2010/main" val="24050697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8ECB4-4F84-2D53-0116-86C33BF71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2252B152-DCA6-4692-7EBA-165BDDC6D93A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4" name="ref-number-16">
            <a:extLst>
              <a:ext uri="{FF2B5EF4-FFF2-40B4-BE49-F238E27FC236}">
                <a16:creationId xmlns:a16="http://schemas.microsoft.com/office/drawing/2014/main" id="{4652C0B3-28E8-167F-6EAD-A324C0ADDD66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[16]</a:t>
            </a:r>
          </a:p>
        </p:txBody>
      </p:sp>
      <p:sp>
        <p:nvSpPr>
          <p:cNvPr id="8" name="ref-title-16">
            <a:extLst>
              <a:ext uri="{FF2B5EF4-FFF2-40B4-BE49-F238E27FC236}">
                <a16:creationId xmlns:a16="http://schemas.microsoft.com/office/drawing/2014/main" id="{F1855BDD-AAB5-498E-326A-E555710F21C9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Roth et al. Towards Total Recall in Industrial Anomaly Detection.</a:t>
            </a:r>
          </a:p>
        </p:txBody>
      </p:sp>
      <p:sp>
        <p:nvSpPr>
          <p:cNvPr id="11" name="ref-venue-16">
            <a:extLst>
              <a:ext uri="{FF2B5EF4-FFF2-40B4-BE49-F238E27FC236}">
                <a16:creationId xmlns:a16="http://schemas.microsoft.com/office/drawing/2014/main" id="{FBB04C09-D8CA-8FE4-5A33-403390C15BD1}"/>
              </a:ext>
            </a:extLst>
          </p:cNvPr>
          <p:cNvSpPr>
            <a:spLocks noGrp="1"/>
          </p:cNvSpPr>
          <p:nvPr/>
        </p:nvSpPr>
        <p:spPr>
          <a:xfrm>
            <a:off x="1409700" y="16335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2022, pp. 14318–14328.</a:t>
            </a:r>
          </a:p>
        </p:txBody>
      </p:sp>
      <p:sp>
        <p:nvSpPr>
          <p:cNvPr id="13" name="ref-link-16">
            <a:extLst>
              <a:ext uri="{FF2B5EF4-FFF2-40B4-BE49-F238E27FC236}">
                <a16:creationId xmlns:a16="http://schemas.microsoft.com/office/drawing/2014/main" id="{AF67AF79-CB36-89C6-40E3-2A138CA241C7}"/>
              </a:ext>
            </a:extLst>
          </p:cNvPr>
          <p:cNvSpPr>
            <a:spLocks noGrp="1"/>
          </p:cNvSpPr>
          <p:nvPr/>
        </p:nvSpPr>
        <p:spPr>
          <a:xfrm>
            <a:off x="1409700" y="18526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arxiv.org/abs/2106.08265</a:t>
            </a:r>
          </a:p>
        </p:txBody>
      </p:sp>
      <p:sp>
        <p:nvSpPr>
          <p:cNvPr id="16" name="ref-number-17">
            <a:extLst>
              <a:ext uri="{FF2B5EF4-FFF2-40B4-BE49-F238E27FC236}">
                <a16:creationId xmlns:a16="http://schemas.microsoft.com/office/drawing/2014/main" id="{79FC4092-FFF5-4B74-D689-0F80DB42B9F5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[17]</a:t>
            </a:r>
          </a:p>
        </p:txBody>
      </p:sp>
      <p:sp>
        <p:nvSpPr>
          <p:cNvPr id="19" name="ref-title-17">
            <a:extLst>
              <a:ext uri="{FF2B5EF4-FFF2-40B4-BE49-F238E27FC236}">
                <a16:creationId xmlns:a16="http://schemas.microsoft.com/office/drawing/2014/main" id="{65712436-652E-EA09-E670-172794677CFE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Batzner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L. Heckler and R. König. EfficientAD: Accurate Visual Anomaly Detection at Millisecond-Level Latencies.</a:t>
            </a:r>
          </a:p>
        </p:txBody>
      </p:sp>
      <p:sp>
        <p:nvSpPr>
          <p:cNvPr id="21" name="ref-venue-17">
            <a:extLst>
              <a:ext uri="{FF2B5EF4-FFF2-40B4-BE49-F238E27FC236}">
                <a16:creationId xmlns:a16="http://schemas.microsoft.com/office/drawing/2014/main" id="{8DD79526-C41C-CE30-99CA-9E8C49D11EB5}"/>
              </a:ext>
            </a:extLst>
          </p:cNvPr>
          <p:cNvSpPr>
            <a:spLocks noGrp="1"/>
          </p:cNvSpPr>
          <p:nvPr/>
        </p:nvSpPr>
        <p:spPr>
          <a:xfrm>
            <a:off x="1409700" y="26050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WACV, 2024, pp. 128–138.</a:t>
            </a:r>
          </a:p>
        </p:txBody>
      </p:sp>
      <p:sp>
        <p:nvSpPr>
          <p:cNvPr id="24" name="ref-link-17">
            <a:extLst>
              <a:ext uri="{FF2B5EF4-FFF2-40B4-BE49-F238E27FC236}">
                <a16:creationId xmlns:a16="http://schemas.microsoft.com/office/drawing/2014/main" id="{E8A8DBC0-3B69-EA26-2E18-CD4A9B37C047}"/>
              </a:ext>
            </a:extLst>
          </p:cNvPr>
          <p:cNvSpPr>
            <a:spLocks noGrp="1"/>
          </p:cNvSpPr>
          <p:nvPr/>
        </p:nvSpPr>
        <p:spPr>
          <a:xfrm>
            <a:off x="1409700" y="28241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arxiv.org/abs/2303.14535</a:t>
            </a:r>
          </a:p>
        </p:txBody>
      </p:sp>
      <p:sp>
        <p:nvSpPr>
          <p:cNvPr id="27" name="ref-number-18">
            <a:extLst>
              <a:ext uri="{FF2B5EF4-FFF2-40B4-BE49-F238E27FC236}">
                <a16:creationId xmlns:a16="http://schemas.microsoft.com/office/drawing/2014/main" id="{0333A43C-4B6F-6F25-ADF8-518AE10E9E5E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[18]</a:t>
            </a:r>
          </a:p>
        </p:txBody>
      </p:sp>
      <p:sp>
        <p:nvSpPr>
          <p:cNvPr id="29" name="ref-title-18">
            <a:extLst>
              <a:ext uri="{FF2B5EF4-FFF2-40B4-BE49-F238E27FC236}">
                <a16:creationId xmlns:a16="http://schemas.microsoft.com/office/drawing/2014/main" id="{7EE751B4-7402-D159-AC31-041B5EEDE99A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Rolih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M.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Fučka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D.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Skočaj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. SuperSimpleNet: Unifying Unsupervised and Supervised Learning for Fast and Reliable Surface Defect Detection.</a:t>
            </a:r>
          </a:p>
        </p:txBody>
      </p:sp>
      <p:sp>
        <p:nvSpPr>
          <p:cNvPr id="32" name="ref-venue-18">
            <a:extLst>
              <a:ext uri="{FF2B5EF4-FFF2-40B4-BE49-F238E27FC236}">
                <a16:creationId xmlns:a16="http://schemas.microsoft.com/office/drawing/2014/main" id="{4DD9BEB6-647B-37F1-8610-120CB9AA5547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ICPR 2024, LNCS 15310, Springer, 2025, pp. 47–65.</a:t>
            </a:r>
          </a:p>
        </p:txBody>
      </p:sp>
      <p:sp>
        <p:nvSpPr>
          <p:cNvPr id="35" name="ref-link-18">
            <a:extLst>
              <a:ext uri="{FF2B5EF4-FFF2-40B4-BE49-F238E27FC236}">
                <a16:creationId xmlns:a16="http://schemas.microsoft.com/office/drawing/2014/main" id="{01FC4B5F-1686-0ACC-D335-73FD8943F85E}"/>
              </a:ext>
            </a:extLst>
          </p:cNvPr>
          <p:cNvSpPr>
            <a:spLocks noGrp="1"/>
          </p:cNvSpPr>
          <p:nvPr/>
        </p:nvSpPr>
        <p:spPr>
          <a:xfrm>
            <a:off x="1409700" y="40671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doi: 10.1007/978-3-031-78192-6_4</a:t>
            </a:r>
          </a:p>
        </p:txBody>
      </p:sp>
      <p:sp>
        <p:nvSpPr>
          <p:cNvPr id="38" name="ref-number-19">
            <a:extLst>
              <a:ext uri="{FF2B5EF4-FFF2-40B4-BE49-F238E27FC236}">
                <a16:creationId xmlns:a16="http://schemas.microsoft.com/office/drawing/2014/main" id="{761407C1-B46B-0893-39FC-5052BFF36BC1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[19]</a:t>
            </a:r>
          </a:p>
        </p:txBody>
      </p:sp>
      <p:sp>
        <p:nvSpPr>
          <p:cNvPr id="42" name="ref-title-19">
            <a:extLst>
              <a:ext uri="{FF2B5EF4-FFF2-40B4-BE49-F238E27FC236}">
                <a16:creationId xmlns:a16="http://schemas.microsoft.com/office/drawing/2014/main" id="{8A19A991-154E-29CF-1DE8-CCA322112B50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Rolih, M. Fučka and D. Skočaj. No Label Left Behind: A Unified Surface Defect Detection Model for All Supervision Regimes.</a:t>
            </a:r>
          </a:p>
        </p:txBody>
      </p:sp>
      <p:sp>
        <p:nvSpPr>
          <p:cNvPr id="46" name="ref-venue-19">
            <a:extLst>
              <a:ext uri="{FF2B5EF4-FFF2-40B4-BE49-F238E27FC236}">
                <a16:creationId xmlns:a16="http://schemas.microsoft.com/office/drawing/2014/main" id="{7D90B736-2565-056D-C80B-0864F3CBA0F5}"/>
              </a:ext>
            </a:extLst>
          </p:cNvPr>
          <p:cNvSpPr>
            <a:spLocks noGrp="1"/>
          </p:cNvSpPr>
          <p:nvPr/>
        </p:nvSpPr>
        <p:spPr>
          <a:xfrm>
            <a:off x="1409700" y="48196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Journal of Intelligent Manufacturing, vol. 37, 2026, pp. 3189–3209.</a:t>
            </a:r>
          </a:p>
        </p:txBody>
      </p:sp>
      <p:sp>
        <p:nvSpPr>
          <p:cNvPr id="50" name="ref-link-19">
            <a:extLst>
              <a:ext uri="{FF2B5EF4-FFF2-40B4-BE49-F238E27FC236}">
                <a16:creationId xmlns:a16="http://schemas.microsoft.com/office/drawing/2014/main" id="{9A371867-7D84-96C5-7F86-84808D67C29B}"/>
              </a:ext>
            </a:extLst>
          </p:cNvPr>
          <p:cNvSpPr>
            <a:spLocks noGrp="1"/>
          </p:cNvSpPr>
          <p:nvPr/>
        </p:nvSpPr>
        <p:spPr>
          <a:xfrm>
            <a:off x="1409700" y="50387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10.1007/s10845-025-02680-8</a:t>
            </a:r>
          </a:p>
        </p:txBody>
      </p:sp>
      <p:sp>
        <p:nvSpPr>
          <p:cNvPr id="54" name="ref-number-20">
            <a:extLst>
              <a:ext uri="{FF2B5EF4-FFF2-40B4-BE49-F238E27FC236}">
                <a16:creationId xmlns:a16="http://schemas.microsoft.com/office/drawing/2014/main" id="{ABBF4884-3BAF-05F3-3E6A-A35FC6E52AE4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[20]</a:t>
            </a:r>
          </a:p>
        </p:txBody>
      </p:sp>
      <p:sp>
        <p:nvSpPr>
          <p:cNvPr id="58" name="ref-title-20">
            <a:extLst>
              <a:ext uri="{FF2B5EF4-FFF2-40B4-BE49-F238E27FC236}">
                <a16:creationId xmlns:a16="http://schemas.microsoft.com/office/drawing/2014/main" id="{132BECD1-4465-50E1-1E38-E47521D25CE1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Bonazzi et al. TinyGLASS: Real-Time Self-Supervised In-Sensor Anomaly Detection.</a:t>
            </a:r>
          </a:p>
        </p:txBody>
      </p:sp>
      <p:sp>
        <p:nvSpPr>
          <p:cNvPr id="60" name="ref-venue-20">
            <a:extLst>
              <a:ext uri="{FF2B5EF4-FFF2-40B4-BE49-F238E27FC236}">
                <a16:creationId xmlns:a16="http://schemas.microsoft.com/office/drawing/2014/main" id="{DF021030-E9F8-1106-FD32-7CD0CD434FC6}"/>
              </a:ext>
            </a:extLst>
          </p:cNvPr>
          <p:cNvSpPr>
            <a:spLocks noGrp="1"/>
          </p:cNvSpPr>
          <p:nvPr/>
        </p:nvSpPr>
        <p:spPr>
          <a:xfrm>
            <a:off x="1409700" y="55197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arXiv:2603.16451v3, 2026. Accepted at AICAS 2026.</a:t>
            </a:r>
          </a:p>
        </p:txBody>
      </p:sp>
      <p:sp>
        <p:nvSpPr>
          <p:cNvPr id="62" name="ref-link-20">
            <a:extLst>
              <a:ext uri="{FF2B5EF4-FFF2-40B4-BE49-F238E27FC236}">
                <a16:creationId xmlns:a16="http://schemas.microsoft.com/office/drawing/2014/main" id="{6530BCF0-A591-D5ED-9E89-D282E01540C8}"/>
              </a:ext>
            </a:extLst>
          </p:cNvPr>
          <p:cNvSpPr>
            <a:spLocks noGrp="1"/>
          </p:cNvSpPr>
          <p:nvPr/>
        </p:nvSpPr>
        <p:spPr>
          <a:xfrm>
            <a:off x="1409700" y="57388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arxiv.org/abs/2603.16451v3</a:t>
            </a:r>
          </a:p>
        </p:txBody>
      </p:sp>
    </p:spTree>
    <p:extLst>
      <p:ext uri="{BB962C8B-B14F-4D97-AF65-F5344CB8AC3E}">
        <p14:creationId xmlns:p14="http://schemas.microsoft.com/office/powerpoint/2010/main" val="20895755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-title">
            <a:extLst>
              <a:ext uri="{FF2B5EF4-FFF2-40B4-BE49-F238E27FC236}">
                <a16:creationId xmlns:a16="http://schemas.microsoft.com/office/drawing/2014/main" id="{313E32F0-6634-40C1-857D-8E6C1E10EA61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 4 / 4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20D6E41-7D23-4EF8-BF47-E2A9CE09B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049000" y="238125"/>
            <a:ext cx="838200" cy="838200"/>
          </a:xfrm>
          <a:prstGeom prst="rect">
            <a:avLst/>
          </a:prstGeom>
        </p:spPr>
      </p:pic>
      <p:sp>
        <p:nvSpPr>
          <p:cNvPr id="3" name="footer-author">
            <a:extLst>
              <a:ext uri="{FF2B5EF4-FFF2-40B4-BE49-F238E27FC236}">
                <a16:creationId xmlns:a16="http://schemas.microsoft.com/office/drawing/2014/main" id="{BE5E7D99-F80F-452D-8A48-5832F3FB3F5D}"/>
              </a:ext>
            </a:extLst>
          </p:cNvPr>
          <p:cNvSpPr>
            <a:spLocks noGrp="1"/>
          </p:cNvSpPr>
          <p:nvPr/>
        </p:nvSpPr>
        <p:spPr>
          <a:xfrm>
            <a:off x="762000" y="6581775"/>
            <a:ext cx="33337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Daniele Venturini</a:t>
            </a:r>
          </a:p>
        </p:txBody>
      </p:sp>
      <p:sp>
        <p:nvSpPr>
          <p:cNvPr id="4" name="footer-date">
            <a:extLst>
              <a:ext uri="{FF2B5EF4-FFF2-40B4-BE49-F238E27FC236}">
                <a16:creationId xmlns:a16="http://schemas.microsoft.com/office/drawing/2014/main" id="{1FD822E3-0323-4DDD-AF62-80AF4E4C5D30}"/>
              </a:ext>
            </a:extLst>
          </p:cNvPr>
          <p:cNvSpPr>
            <a:spLocks noGrp="1"/>
          </p:cNvSpPr>
          <p:nvPr/>
        </p:nvSpPr>
        <p:spPr>
          <a:xfrm>
            <a:off x="8096250" y="6581775"/>
            <a:ext cx="190500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27 October 2026</a:t>
            </a:r>
          </a:p>
        </p:txBody>
      </p:sp>
      <p:sp>
        <p:nvSpPr>
          <p:cNvPr id="5" name="footer-page">
            <a:extLst>
              <a:ext uri="{FF2B5EF4-FFF2-40B4-BE49-F238E27FC236}">
                <a16:creationId xmlns:a16="http://schemas.microsoft.com/office/drawing/2014/main" id="{CD0FBCC6-E7FF-43D3-ADEA-3ED1677F300E}"/>
              </a:ext>
            </a:extLst>
          </p:cNvPr>
          <p:cNvSpPr>
            <a:spLocks noGrp="1"/>
          </p:cNvSpPr>
          <p:nvPr/>
        </p:nvSpPr>
        <p:spPr>
          <a:xfrm>
            <a:off x="10953750" y="6581775"/>
            <a:ext cx="857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28 / 29</a:t>
            </a:r>
          </a:p>
        </p:txBody>
      </p:sp>
      <p:sp>
        <p:nvSpPr>
          <p:cNvPr id="6" name="ref-number-16">
            <a:extLst>
              <a:ext uri="{FF2B5EF4-FFF2-40B4-BE49-F238E27FC236}">
                <a16:creationId xmlns:a16="http://schemas.microsoft.com/office/drawing/2014/main" id="{B8741ED9-357C-4EA7-9598-7F9B6C384D65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[16]</a:t>
            </a:r>
          </a:p>
        </p:txBody>
      </p:sp>
      <p:sp>
        <p:nvSpPr>
          <p:cNvPr id="7" name="ref-title-16">
            <a:extLst>
              <a:ext uri="{FF2B5EF4-FFF2-40B4-BE49-F238E27FC236}">
                <a16:creationId xmlns:a16="http://schemas.microsoft.com/office/drawing/2014/main" id="{C5E15B4E-0AF4-4010-8C14-3AC26C9196D0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Roth et al. Towards Total Recall in Industrial Anomaly Detection.</a:t>
            </a:r>
          </a:p>
        </p:txBody>
      </p:sp>
      <p:sp>
        <p:nvSpPr>
          <p:cNvPr id="8" name="ref-venue-16">
            <a:extLst>
              <a:ext uri="{FF2B5EF4-FFF2-40B4-BE49-F238E27FC236}">
                <a16:creationId xmlns:a16="http://schemas.microsoft.com/office/drawing/2014/main" id="{20FCE06C-335C-4119-A47C-E13ADF88ECB8}"/>
              </a:ext>
            </a:extLst>
          </p:cNvPr>
          <p:cNvSpPr>
            <a:spLocks noGrp="1"/>
          </p:cNvSpPr>
          <p:nvPr/>
        </p:nvSpPr>
        <p:spPr>
          <a:xfrm>
            <a:off x="1409700" y="19050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2022, pp. 14318–14328.</a:t>
            </a:r>
          </a:p>
        </p:txBody>
      </p:sp>
      <p:sp>
        <p:nvSpPr>
          <p:cNvPr id="9" name="ref-link-16">
            <a:extLst>
              <a:ext uri="{FF2B5EF4-FFF2-40B4-BE49-F238E27FC236}">
                <a16:creationId xmlns:a16="http://schemas.microsoft.com/office/drawing/2014/main" id="{19B80973-02A9-4079-AD71-AB7AF92B71E1}"/>
              </a:ext>
            </a:extLst>
          </p:cNvPr>
          <p:cNvSpPr>
            <a:spLocks noGrp="1"/>
          </p:cNvSpPr>
          <p:nvPr/>
        </p:nvSpPr>
        <p:spPr>
          <a:xfrm>
            <a:off x="1409700" y="21240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arxiv.org/abs/2106.08265</a:t>
            </a:r>
          </a:p>
        </p:txBody>
      </p:sp>
      <p:sp>
        <p:nvSpPr>
          <p:cNvPr id="10" name="ref-number-17">
            <a:extLst>
              <a:ext uri="{FF2B5EF4-FFF2-40B4-BE49-F238E27FC236}">
                <a16:creationId xmlns:a16="http://schemas.microsoft.com/office/drawing/2014/main" id="{5BB58C6B-488C-4C66-A2EC-9375D273126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[17]</a:t>
            </a:r>
          </a:p>
        </p:txBody>
      </p:sp>
      <p:sp>
        <p:nvSpPr>
          <p:cNvPr id="11" name="ref-title-17">
            <a:extLst>
              <a:ext uri="{FF2B5EF4-FFF2-40B4-BE49-F238E27FC236}">
                <a16:creationId xmlns:a16="http://schemas.microsoft.com/office/drawing/2014/main" id="{868D8969-E316-4AD1-81B5-721777641DAF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Batzner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L. Heckler and R. König. EfficientAD: Accurate Visual Anomaly Detection at Millisecond-Level Latencies.</a:t>
            </a:r>
          </a:p>
        </p:txBody>
      </p:sp>
      <p:sp>
        <p:nvSpPr>
          <p:cNvPr id="12" name="ref-venue-17">
            <a:extLst>
              <a:ext uri="{FF2B5EF4-FFF2-40B4-BE49-F238E27FC236}">
                <a16:creationId xmlns:a16="http://schemas.microsoft.com/office/drawing/2014/main" id="{EE80B5EA-2B5D-4EBA-AD70-A3C893340B5F}"/>
              </a:ext>
            </a:extLst>
          </p:cNvPr>
          <p:cNvSpPr>
            <a:spLocks noGrp="1"/>
          </p:cNvSpPr>
          <p:nvPr/>
        </p:nvSpPr>
        <p:spPr>
          <a:xfrm>
            <a:off x="1409700" y="28765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WACV, 2024, pp. 128–138.</a:t>
            </a:r>
          </a:p>
        </p:txBody>
      </p:sp>
      <p:sp>
        <p:nvSpPr>
          <p:cNvPr id="13" name="ref-link-17">
            <a:extLst>
              <a:ext uri="{FF2B5EF4-FFF2-40B4-BE49-F238E27FC236}">
                <a16:creationId xmlns:a16="http://schemas.microsoft.com/office/drawing/2014/main" id="{3BF70CFC-3FA8-49E1-BD1A-236CC3C8F14A}"/>
              </a:ext>
            </a:extLst>
          </p:cNvPr>
          <p:cNvSpPr>
            <a:spLocks noGrp="1"/>
          </p:cNvSpPr>
          <p:nvPr/>
        </p:nvSpPr>
        <p:spPr>
          <a:xfrm>
            <a:off x="1409700" y="30956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arxiv.org/abs/2303.14535</a:t>
            </a:r>
          </a:p>
        </p:txBody>
      </p:sp>
      <p:sp>
        <p:nvSpPr>
          <p:cNvPr id="14" name="ref-number-18">
            <a:extLst>
              <a:ext uri="{FF2B5EF4-FFF2-40B4-BE49-F238E27FC236}">
                <a16:creationId xmlns:a16="http://schemas.microsoft.com/office/drawing/2014/main" id="{5B767DCC-9DF0-451C-AB89-DC08015114CA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[18]</a:t>
            </a:r>
          </a:p>
        </p:txBody>
      </p:sp>
      <p:sp>
        <p:nvSpPr>
          <p:cNvPr id="15" name="ref-title-18">
            <a:extLst>
              <a:ext uri="{FF2B5EF4-FFF2-40B4-BE49-F238E27FC236}">
                <a16:creationId xmlns:a16="http://schemas.microsoft.com/office/drawing/2014/main" id="{EE7E5B6C-85AB-4D2B-9B8B-4E8C6C2650DD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Rolih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M.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Fučka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D.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Skočaj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. SuperSimpleNet: Unifying Unsupervised and Supervised Learning for Fast and Reliable Surface Defect Detection.</a:t>
            </a:r>
          </a:p>
        </p:txBody>
      </p:sp>
      <p:sp>
        <p:nvSpPr>
          <p:cNvPr id="16" name="ref-venue-18">
            <a:extLst>
              <a:ext uri="{FF2B5EF4-FFF2-40B4-BE49-F238E27FC236}">
                <a16:creationId xmlns:a16="http://schemas.microsoft.com/office/drawing/2014/main" id="{C562048E-18FA-40DB-B233-D0E69B7E1D83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ICPR 2024, LNCS 15310, Springer, 2025, pp. 47–65.</a:t>
            </a:r>
          </a:p>
        </p:txBody>
      </p:sp>
      <p:sp>
        <p:nvSpPr>
          <p:cNvPr id="17" name="ref-link-18">
            <a:extLst>
              <a:ext uri="{FF2B5EF4-FFF2-40B4-BE49-F238E27FC236}">
                <a16:creationId xmlns:a16="http://schemas.microsoft.com/office/drawing/2014/main" id="{048DD963-0894-4414-BDAE-B67A52103D7B}"/>
              </a:ext>
            </a:extLst>
          </p:cNvPr>
          <p:cNvSpPr>
            <a:spLocks noGrp="1"/>
          </p:cNvSpPr>
          <p:nvPr/>
        </p:nvSpPr>
        <p:spPr>
          <a:xfrm>
            <a:off x="1409700" y="40671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10.1007/978-3-031-78192-6_4</a:t>
            </a:r>
          </a:p>
        </p:txBody>
      </p:sp>
      <p:sp>
        <p:nvSpPr>
          <p:cNvPr id="18" name="ref-number-19">
            <a:extLst>
              <a:ext uri="{FF2B5EF4-FFF2-40B4-BE49-F238E27FC236}">
                <a16:creationId xmlns:a16="http://schemas.microsoft.com/office/drawing/2014/main" id="{FF62A30A-0B34-4803-A625-E8DC7632A527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[19]</a:t>
            </a:r>
          </a:p>
        </p:txBody>
      </p:sp>
      <p:sp>
        <p:nvSpPr>
          <p:cNvPr id="19" name="ref-title-19">
            <a:extLst>
              <a:ext uri="{FF2B5EF4-FFF2-40B4-BE49-F238E27FC236}">
                <a16:creationId xmlns:a16="http://schemas.microsoft.com/office/drawing/2014/main" id="{2BA907F4-5353-4315-8A75-159AC7D09005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Rolih, M. Fučka and D. Skočaj. No Label Left Behind: A Unified Surface Defect Detection Model for All Supervision Regimes.</a:t>
            </a:r>
          </a:p>
        </p:txBody>
      </p:sp>
      <p:sp>
        <p:nvSpPr>
          <p:cNvPr id="20" name="ref-venue-19">
            <a:extLst>
              <a:ext uri="{FF2B5EF4-FFF2-40B4-BE49-F238E27FC236}">
                <a16:creationId xmlns:a16="http://schemas.microsoft.com/office/drawing/2014/main" id="{6C233AE4-6833-4F6D-AEFB-49DFF94D1C77}"/>
              </a:ext>
            </a:extLst>
          </p:cNvPr>
          <p:cNvSpPr>
            <a:spLocks noGrp="1"/>
          </p:cNvSpPr>
          <p:nvPr/>
        </p:nvSpPr>
        <p:spPr>
          <a:xfrm>
            <a:off x="1409700" y="48196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Journal of Intelligent Manufacturing, vol. 37, 2026, pp. 3189–3209.</a:t>
            </a:r>
          </a:p>
        </p:txBody>
      </p:sp>
      <p:sp>
        <p:nvSpPr>
          <p:cNvPr id="21" name="ref-link-19">
            <a:extLst>
              <a:ext uri="{FF2B5EF4-FFF2-40B4-BE49-F238E27FC236}">
                <a16:creationId xmlns:a16="http://schemas.microsoft.com/office/drawing/2014/main" id="{95C7D528-75B6-4C07-A8EC-1BCB9ABC1BDE}"/>
              </a:ext>
            </a:extLst>
          </p:cNvPr>
          <p:cNvSpPr>
            <a:spLocks noGrp="1"/>
          </p:cNvSpPr>
          <p:nvPr/>
        </p:nvSpPr>
        <p:spPr>
          <a:xfrm>
            <a:off x="1409700" y="50387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7"/>
              </a:rPr>
              <a:t>doi: 10.1007/s10845-025-02680-8</a:t>
            </a:r>
          </a:p>
        </p:txBody>
      </p:sp>
      <p:sp>
        <p:nvSpPr>
          <p:cNvPr id="22" name="ref-number-20">
            <a:extLst>
              <a:ext uri="{FF2B5EF4-FFF2-40B4-BE49-F238E27FC236}">
                <a16:creationId xmlns:a16="http://schemas.microsoft.com/office/drawing/2014/main" id="{3E380F87-2D90-4574-AF64-314F8419B447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[20]</a:t>
            </a:r>
          </a:p>
        </p:txBody>
      </p:sp>
      <p:sp>
        <p:nvSpPr>
          <p:cNvPr id="23" name="ref-title-20">
            <a:extLst>
              <a:ext uri="{FF2B5EF4-FFF2-40B4-BE49-F238E27FC236}">
                <a16:creationId xmlns:a16="http://schemas.microsoft.com/office/drawing/2014/main" id="{A2323AB3-3A2A-482C-A247-FF023B3BDE2F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Bonazzi et al. TinyGLASS: Real-Time Self-Supervised In-Sensor Anomaly Detection.</a:t>
            </a:r>
          </a:p>
        </p:txBody>
      </p:sp>
      <p:sp>
        <p:nvSpPr>
          <p:cNvPr id="24" name="ref-venue-20">
            <a:extLst>
              <a:ext uri="{FF2B5EF4-FFF2-40B4-BE49-F238E27FC236}">
                <a16:creationId xmlns:a16="http://schemas.microsoft.com/office/drawing/2014/main" id="{8F4B70E2-4C23-4596-B573-324DA41950C9}"/>
              </a:ext>
            </a:extLst>
          </p:cNvPr>
          <p:cNvSpPr>
            <a:spLocks noGrp="1"/>
          </p:cNvSpPr>
          <p:nvPr/>
        </p:nvSpPr>
        <p:spPr>
          <a:xfrm>
            <a:off x="1409700" y="57912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arXiv:2603.16451v3, 2026. Accepted at AICAS 2026.</a:t>
            </a:r>
          </a:p>
        </p:txBody>
      </p:sp>
      <p:sp>
        <p:nvSpPr>
          <p:cNvPr id="25" name="ref-link-20">
            <a:extLst>
              <a:ext uri="{FF2B5EF4-FFF2-40B4-BE49-F238E27FC236}">
                <a16:creationId xmlns:a16="http://schemas.microsoft.com/office/drawing/2014/main" id="{7E756E36-DF4F-49D1-890B-8A6FFFA8FBC3}"/>
              </a:ext>
            </a:extLst>
          </p:cNvPr>
          <p:cNvSpPr>
            <a:spLocks noGrp="1"/>
          </p:cNvSpPr>
          <p:nvPr/>
        </p:nvSpPr>
        <p:spPr>
          <a:xfrm>
            <a:off x="1409700" y="60102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8"/>
              </a:rPr>
              <a:t>arxiv.org/abs/2603.16451v3</a:t>
            </a:r>
          </a:p>
        </p:txBody>
      </p:sp>
    </p:spTree>
    <p:extLst>
      <p:ext uri="{BB962C8B-B14F-4D97-AF65-F5344CB8AC3E}">
        <p14:creationId xmlns:p14="http://schemas.microsoft.com/office/powerpoint/2010/main" val="8052795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FA7B-AE05-0E93-F6DA-08BF15B96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F7ED5-325C-0858-A07E-DD81E90EB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Extra: variations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0753634-C5AA-8F05-2C47-1F18EC91E8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46DF103-68A5-4471-67BA-0ABE7A64E13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994A5306-9AB1-EB3A-9F4B-62E554A0C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4375" y="1264260"/>
            <a:ext cx="3151625" cy="2363720"/>
          </a:xfrm>
          <a:prstGeom prst="rect">
            <a:avLst/>
          </a:prstGeom>
        </p:spPr>
      </p:pic>
      <p:sp>
        <p:nvSpPr>
          <p:cNvPr id="14" name="extra-caption-1">
            <a:extLst>
              <a:ext uri="{FF2B5EF4-FFF2-40B4-BE49-F238E27FC236}">
                <a16:creationId xmlns:a16="http://schemas.microsoft.com/office/drawing/2014/main" id="{D2347A2E-B4E2-561A-C329-06B52ABA1C61}"/>
              </a:ext>
            </a:extLst>
          </p:cNvPr>
          <p:cNvSpPr>
            <a:spLocks noGrp="1"/>
          </p:cNvSpPr>
          <p:nvPr/>
        </p:nvSpPr>
        <p:spPr>
          <a:xfrm>
            <a:off x="838200" y="2296160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Lighting: Dusty (75%)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57D13467-A6C8-1982-4A35-BB5FF81E8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488542" y="1259963"/>
            <a:ext cx="3151625" cy="2363720"/>
          </a:xfrm>
          <a:prstGeom prst="rect">
            <a:avLst/>
          </a:prstGeom>
        </p:spPr>
      </p:pic>
      <p:sp>
        <p:nvSpPr>
          <p:cNvPr id="18" name="extra-caption-2">
            <a:extLst>
              <a:ext uri="{FF2B5EF4-FFF2-40B4-BE49-F238E27FC236}">
                <a16:creationId xmlns:a16="http://schemas.microsoft.com/office/drawing/2014/main" id="{D6C813FB-75DB-F059-F3AF-61ABB92A4DEB}"/>
              </a:ext>
            </a:extLst>
          </p:cNvPr>
          <p:cNvSpPr>
            <a:spLocks noGrp="1"/>
          </p:cNvSpPr>
          <p:nvPr/>
        </p:nvSpPr>
        <p:spPr>
          <a:xfrm>
            <a:off x="9247625" y="2296160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Lighting: Clear (25%)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94EFBD83-00E7-7053-6115-2C5DA9FC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33455" y="3792548"/>
            <a:ext cx="3151625" cy="2363720"/>
          </a:xfrm>
          <a:prstGeom prst="rect">
            <a:avLst/>
          </a:prstGeom>
        </p:spPr>
      </p:pic>
      <p:sp>
        <p:nvSpPr>
          <p:cNvPr id="22" name="extra-caption-3">
            <a:extLst>
              <a:ext uri="{FF2B5EF4-FFF2-40B4-BE49-F238E27FC236}">
                <a16:creationId xmlns:a16="http://schemas.microsoft.com/office/drawing/2014/main" id="{BB7F0C39-7105-95F3-4BA4-0669E65EBF9E}"/>
              </a:ext>
            </a:extLst>
          </p:cNvPr>
          <p:cNvSpPr>
            <a:spLocks noGrp="1"/>
          </p:cNvSpPr>
          <p:nvPr/>
        </p:nvSpPr>
        <p:spPr>
          <a:xfrm>
            <a:off x="1382373" y="6254968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None added (20%)</a:t>
            </a: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DA7290F4-888E-5BD1-B3B6-B12D8134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06641" y="3776379"/>
            <a:ext cx="3151625" cy="2363720"/>
          </a:xfrm>
          <a:prstGeom prst="rect">
            <a:avLst/>
          </a:prstGeom>
        </p:spPr>
      </p:pic>
      <p:sp>
        <p:nvSpPr>
          <p:cNvPr id="26" name="extra-caption-4">
            <a:extLst>
              <a:ext uri="{FF2B5EF4-FFF2-40B4-BE49-F238E27FC236}">
                <a16:creationId xmlns:a16="http://schemas.microsoft.com/office/drawing/2014/main" id="{69C2F15E-4859-F7BF-78E4-C4B8AAB7672C}"/>
              </a:ext>
            </a:extLst>
          </p:cNvPr>
          <p:cNvSpPr>
            <a:spLocks noGrp="1"/>
          </p:cNvSpPr>
          <p:nvPr/>
        </p:nvSpPr>
        <p:spPr>
          <a:xfrm>
            <a:off x="8678203" y="6254307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Light (45%)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3015F56D-57FD-8F33-C81A-950218238C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379828" y="3776379"/>
            <a:ext cx="3151625" cy="2363720"/>
          </a:xfrm>
          <a:prstGeom prst="rect">
            <a:avLst/>
          </a:prstGeom>
        </p:spPr>
      </p:pic>
      <p:sp>
        <p:nvSpPr>
          <p:cNvPr id="30" name="extra-caption-5">
            <a:extLst>
              <a:ext uri="{FF2B5EF4-FFF2-40B4-BE49-F238E27FC236}">
                <a16:creationId xmlns:a16="http://schemas.microsoft.com/office/drawing/2014/main" id="{BC758623-D8C4-4BE0-48A6-86904C9CF19F}"/>
              </a:ext>
            </a:extLst>
          </p:cNvPr>
          <p:cNvSpPr>
            <a:spLocks noGrp="1"/>
          </p:cNvSpPr>
          <p:nvPr/>
        </p:nvSpPr>
        <p:spPr>
          <a:xfrm>
            <a:off x="5030288" y="6254307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Evident (35%)</a:t>
            </a:r>
          </a:p>
        </p:txBody>
      </p:sp>
    </p:spTree>
    <p:extLst>
      <p:ext uri="{BB962C8B-B14F-4D97-AF65-F5344CB8AC3E}">
        <p14:creationId xmlns:p14="http://schemas.microsoft.com/office/powerpoint/2010/main" val="37050081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CEF5-92DD-848B-C55B-04F929CD5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61F077-600E-A55F-AD3D-45E5700B6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Extra: variations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F525E9FE-F12F-0F9C-ED49-19599FADF3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D2596891-FC2D-C927-6511-997D290A2D0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32" name="Immagine 31">
            <a:extLst>
              <a:ext uri="{FF2B5EF4-FFF2-40B4-BE49-F238E27FC236}">
                <a16:creationId xmlns:a16="http://schemas.microsoft.com/office/drawing/2014/main" id="{18955CA9-EF13-4308-9116-555620D9B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4313" y="1458918"/>
            <a:ext cx="2719821" cy="2039867"/>
          </a:xfrm>
          <a:prstGeom prst="rect">
            <a:avLst/>
          </a:prstGeom>
        </p:spPr>
      </p:pic>
      <p:sp>
        <p:nvSpPr>
          <p:cNvPr id="34" name="extra-caption-6">
            <a:extLst>
              <a:ext uri="{FF2B5EF4-FFF2-40B4-BE49-F238E27FC236}">
                <a16:creationId xmlns:a16="http://schemas.microsoft.com/office/drawing/2014/main" id="{88FB0E5A-8D8B-3AE4-5054-07B36256B72E}"/>
              </a:ext>
            </a:extLst>
          </p:cNvPr>
          <p:cNvSpPr>
            <a:spLocks noGrp="1"/>
          </p:cNvSpPr>
          <p:nvPr/>
        </p:nvSpPr>
        <p:spPr>
          <a:xfrm>
            <a:off x="860935" y="3531366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A: Overhead (40%)</a:t>
            </a:r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06C6D9E1-5C88-C1A6-4798-66AD56BBE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522739" y="1458918"/>
            <a:ext cx="2719821" cy="2039867"/>
          </a:xfrm>
          <a:prstGeom prst="rect">
            <a:avLst/>
          </a:prstGeom>
        </p:spPr>
      </p:pic>
      <p:sp>
        <p:nvSpPr>
          <p:cNvPr id="38" name="extra-caption-7">
            <a:extLst>
              <a:ext uri="{FF2B5EF4-FFF2-40B4-BE49-F238E27FC236}">
                <a16:creationId xmlns:a16="http://schemas.microsoft.com/office/drawing/2014/main" id="{894FB89F-1F73-6B52-09D3-6E2FB4CFAFF5}"/>
              </a:ext>
            </a:extLst>
          </p:cNvPr>
          <p:cNvSpPr>
            <a:spLocks noGrp="1"/>
          </p:cNvSpPr>
          <p:nvPr/>
        </p:nvSpPr>
        <p:spPr>
          <a:xfrm>
            <a:off x="3683563" y="353136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C1: Leading (27.5%)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9FC969FC-21E4-CF79-3946-C7FD2E5F15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30214" y="1458918"/>
            <a:ext cx="2719821" cy="2039867"/>
          </a:xfrm>
          <a:prstGeom prst="rect">
            <a:avLst/>
          </a:prstGeom>
        </p:spPr>
      </p:pic>
      <p:sp>
        <p:nvSpPr>
          <p:cNvPr id="42" name="extra-caption-8">
            <a:extLst>
              <a:ext uri="{FF2B5EF4-FFF2-40B4-BE49-F238E27FC236}">
                <a16:creationId xmlns:a16="http://schemas.microsoft.com/office/drawing/2014/main" id="{66702C7C-350C-6B5A-7394-8E5465C7D857}"/>
              </a:ext>
            </a:extLst>
          </p:cNvPr>
          <p:cNvSpPr>
            <a:spLocks noGrp="1"/>
          </p:cNvSpPr>
          <p:nvPr/>
        </p:nvSpPr>
        <p:spPr>
          <a:xfrm>
            <a:off x="6432824" y="3539252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C2: Trailing (27.5%)</a:t>
            </a:r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3090CBA4-61E4-1361-4845-0AE693510A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137689" y="1458917"/>
            <a:ext cx="2719821" cy="2039867"/>
          </a:xfrm>
          <a:prstGeom prst="rect">
            <a:avLst/>
          </a:prstGeom>
        </p:spPr>
      </p:pic>
      <p:sp>
        <p:nvSpPr>
          <p:cNvPr id="46" name="extra-caption-9">
            <a:extLst>
              <a:ext uri="{FF2B5EF4-FFF2-40B4-BE49-F238E27FC236}">
                <a16:creationId xmlns:a16="http://schemas.microsoft.com/office/drawing/2014/main" id="{F06F78EE-BA1D-D5DC-95D0-E2D1ABB1282E}"/>
              </a:ext>
            </a:extLst>
          </p:cNvPr>
          <p:cNvSpPr>
            <a:spLocks noGrp="1"/>
          </p:cNvSpPr>
          <p:nvPr/>
        </p:nvSpPr>
        <p:spPr>
          <a:xfrm>
            <a:off x="9240299" y="3559069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D: Upper detail (5%)</a:t>
            </a:r>
          </a:p>
        </p:txBody>
      </p:sp>
      <p:pic>
        <p:nvPicPr>
          <p:cNvPr id="48" name="Immagine 47">
            <a:extLst>
              <a:ext uri="{FF2B5EF4-FFF2-40B4-BE49-F238E27FC236}">
                <a16:creationId xmlns:a16="http://schemas.microsoft.com/office/drawing/2014/main" id="{43D31A3E-9BEB-113E-6FD1-6682D56C1D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322576" y="3907343"/>
            <a:ext cx="2719821" cy="2039867"/>
          </a:xfrm>
          <a:prstGeom prst="rect">
            <a:avLst/>
          </a:prstGeom>
        </p:spPr>
      </p:pic>
      <p:sp>
        <p:nvSpPr>
          <p:cNvPr id="50" name="extra-caption-10">
            <a:extLst>
              <a:ext uri="{FF2B5EF4-FFF2-40B4-BE49-F238E27FC236}">
                <a16:creationId xmlns:a16="http://schemas.microsoft.com/office/drawing/2014/main" id="{8FE51700-9143-B829-C052-FBE53EF6D888}"/>
              </a:ext>
            </a:extLst>
          </p:cNvPr>
          <p:cNvSpPr>
            <a:spLocks noGrp="1"/>
          </p:cNvSpPr>
          <p:nvPr/>
        </p:nvSpPr>
        <p:spPr>
          <a:xfrm>
            <a:off x="1402994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Small hole: 50%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2.7–4.1 cm</a:t>
            </a:r>
          </a:p>
        </p:txBody>
      </p:sp>
      <p:pic>
        <p:nvPicPr>
          <p:cNvPr id="52" name="Immagine 51">
            <a:extLst>
              <a:ext uri="{FF2B5EF4-FFF2-40B4-BE49-F238E27FC236}">
                <a16:creationId xmlns:a16="http://schemas.microsoft.com/office/drawing/2014/main" id="{72E58E8A-680E-484A-966D-6CDAF7C802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980337" y="3907343"/>
            <a:ext cx="2719821" cy="2039867"/>
          </a:xfrm>
          <a:prstGeom prst="rect">
            <a:avLst/>
          </a:prstGeom>
        </p:spPr>
      </p:pic>
      <p:sp>
        <p:nvSpPr>
          <p:cNvPr id="54" name="extra-caption-11">
            <a:extLst>
              <a:ext uri="{FF2B5EF4-FFF2-40B4-BE49-F238E27FC236}">
                <a16:creationId xmlns:a16="http://schemas.microsoft.com/office/drawing/2014/main" id="{461F54F3-E83D-8CCF-0C72-0EF0554BED93}"/>
              </a:ext>
            </a:extLst>
          </p:cNvPr>
          <p:cNvSpPr>
            <a:spLocks noGrp="1"/>
          </p:cNvSpPr>
          <p:nvPr/>
        </p:nvSpPr>
        <p:spPr>
          <a:xfrm>
            <a:off x="5071851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Medium hole: 40%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4.4–6.8 cm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37AB3CC2-AF20-7F12-0A1E-5417CA65FE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8638098" y="3922439"/>
            <a:ext cx="2719821" cy="2039867"/>
          </a:xfrm>
          <a:prstGeom prst="rect">
            <a:avLst/>
          </a:prstGeom>
        </p:spPr>
      </p:pic>
      <p:sp>
        <p:nvSpPr>
          <p:cNvPr id="58" name="extra-caption-12">
            <a:extLst>
              <a:ext uri="{FF2B5EF4-FFF2-40B4-BE49-F238E27FC236}">
                <a16:creationId xmlns:a16="http://schemas.microsoft.com/office/drawing/2014/main" id="{1AF8C803-E063-7A7B-E80C-2A31243957AB}"/>
              </a:ext>
            </a:extLst>
          </p:cNvPr>
          <p:cNvSpPr>
            <a:spLocks noGrp="1"/>
          </p:cNvSpPr>
          <p:nvPr/>
        </p:nvSpPr>
        <p:spPr>
          <a:xfrm>
            <a:off x="8740708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Large hole: 10%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7.3–11.6 cm</a:t>
            </a:r>
          </a:p>
        </p:txBody>
      </p:sp>
    </p:spTree>
    <p:extLst>
      <p:ext uri="{BB962C8B-B14F-4D97-AF65-F5344CB8AC3E}">
        <p14:creationId xmlns:p14="http://schemas.microsoft.com/office/powerpoint/2010/main" val="3055113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28767-0239-DD82-079D-9327F2EE3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868458-DB65-8F2D-299C-82C5725BD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Extra: Loss function ablation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055A6A55-C5AD-1A50-F4C2-7450CE79D2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0426956-E2EA-9C7E-FA84-ECDD00CC209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C6A3FFCA-0B3B-C26F-FD48-531654BA2A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7910254"/>
              </p:ext>
            </p:extLst>
          </p:nvPr>
        </p:nvGraphicFramePr>
        <p:xfrm>
          <a:off x="2798618" y="1803133"/>
          <a:ext cx="7429500" cy="2905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weighting-title">
            <a:extLst>
              <a:ext uri="{FF2B5EF4-FFF2-40B4-BE49-F238E27FC236}">
                <a16:creationId xmlns:a16="http://schemas.microsoft.com/office/drawing/2014/main" id="{542CBF3B-BBA9-9DA7-A88C-6DAF7D4FAA73}"/>
              </a:ext>
            </a:extLst>
          </p:cNvPr>
          <p:cNvSpPr>
            <a:spLocks noGrp="1"/>
          </p:cNvSpPr>
          <p:nvPr/>
        </p:nvSpPr>
        <p:spPr>
          <a:xfrm>
            <a:off x="3740727" y="4931143"/>
            <a:ext cx="5153891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 u="sng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U-Net R34: Dice weighting within CE + GDL</a:t>
            </a:r>
          </a:p>
        </p:txBody>
      </p:sp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9AF89638-339F-0DB8-7503-6218661B1C45}"/>
              </a:ext>
            </a:extLst>
          </p:cNvPr>
          <p:cNvGraphicFramePr/>
          <p:nvPr/>
        </p:nvGraphicFramePr>
        <p:xfrm>
          <a:off x="904875" y="5286375"/>
          <a:ext cx="10382250" cy="874395"/>
        </p:xfrm>
        <a:graphic>
          <a:graphicData uri="http://schemas.openxmlformats.org/drawingml/2006/table">
            <a:tbl>
              <a:tblPr/>
              <a:tblGrid>
                <a:gridCol w="345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Inverse square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Inverse volume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Uniform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/>
                      <a:r>
                        <a:rPr lang="en-US" sz="255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64.5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57.2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62.2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72919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2A263-024C-5473-90F1-F6EAEFE3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AFB3F7-0C8F-EA3A-4B5C-950064476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P</a:t>
            </a:r>
            <a:r>
              <a:rPr lang="en-US" noProof="0" dirty="0">
                <a:solidFill>
                  <a:srgbClr val="822433"/>
                </a:solidFill>
              </a:rPr>
              <a:t>reprocessing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E086F621-31B2-9F0E-AFA3-DABF507F90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48C1BFEE-7512-864B-37AE-7FCE2D1A68E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C953AD1A-D91F-F1FA-8BD7-2E6BB57D0BF1}"/>
              </a:ext>
            </a:extLst>
          </p:cNvPr>
          <p:cNvGraphicFramePr/>
          <p:nvPr/>
        </p:nvGraphicFramePr>
        <p:xfrm>
          <a:off x="762000" y="1657350"/>
          <a:ext cx="8048625" cy="3781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ablation-best">
            <a:extLst>
              <a:ext uri="{FF2B5EF4-FFF2-40B4-BE49-F238E27FC236}">
                <a16:creationId xmlns:a16="http://schemas.microsoft.com/office/drawing/2014/main" id="{83A1DE4B-DAC2-9C5D-ACEF-AFE0E7232134}"/>
              </a:ext>
            </a:extLst>
          </p:cNvPr>
          <p:cNvSpPr>
            <a:spLocks noGrp="1"/>
          </p:cNvSpPr>
          <p:nvPr/>
        </p:nvSpPr>
        <p:spPr>
          <a:xfrm>
            <a:off x="8839200" y="2815590"/>
            <a:ext cx="2857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35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75.55%</a:t>
            </a:r>
          </a:p>
        </p:txBody>
      </p:sp>
      <p:sp>
        <p:nvSpPr>
          <p:cNvPr id="12" name="ablation-best-label">
            <a:extLst>
              <a:ext uri="{FF2B5EF4-FFF2-40B4-BE49-F238E27FC236}">
                <a16:creationId xmlns:a16="http://schemas.microsoft.com/office/drawing/2014/main" id="{B6C6D0D9-3437-ACE2-C9A3-91C4FEBB2622}"/>
              </a:ext>
            </a:extLst>
          </p:cNvPr>
          <p:cNvSpPr>
            <a:spLocks noGrp="1"/>
          </p:cNvSpPr>
          <p:nvPr/>
        </p:nvSpPr>
        <p:spPr>
          <a:xfrm>
            <a:off x="8839200" y="3501390"/>
            <a:ext cx="2857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Default test </a:t>
            </a:r>
            <a:r>
              <a:rPr lang="en-US" sz="195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mIoU</a:t>
            </a:r>
            <a:endParaRPr lang="en-US" sz="1950" b="0" dirty="0">
              <a:solidFill>
                <a:srgbClr val="202124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4" name="ablation-model">
            <a:extLst>
              <a:ext uri="{FF2B5EF4-FFF2-40B4-BE49-F238E27FC236}">
                <a16:creationId xmlns:a16="http://schemas.microsoft.com/office/drawing/2014/main" id="{28D9F4D6-2E9A-F2A8-E213-9326D33919D7}"/>
              </a:ext>
            </a:extLst>
          </p:cNvPr>
          <p:cNvSpPr>
            <a:spLocks noGrp="1"/>
          </p:cNvSpPr>
          <p:nvPr/>
        </p:nvSpPr>
        <p:spPr>
          <a:xfrm>
            <a:off x="8839200" y="3867050"/>
            <a:ext cx="285750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SegFormer-B0</a:t>
            </a:r>
          </a:p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CE + GDL</a:t>
            </a:r>
          </a:p>
        </p:txBody>
      </p:sp>
      <p:sp>
        <p:nvSpPr>
          <p:cNvPr id="16" name="ablation-policy">
            <a:extLst>
              <a:ext uri="{FF2B5EF4-FFF2-40B4-BE49-F238E27FC236}">
                <a16:creationId xmlns:a16="http://schemas.microsoft.com/office/drawing/2014/main" id="{5B027FAD-4B73-C724-7B3F-8E54B71DA9BF}"/>
              </a:ext>
            </a:extLst>
          </p:cNvPr>
          <p:cNvSpPr>
            <a:spLocks noGrp="1"/>
          </p:cNvSpPr>
          <p:nvPr/>
        </p:nvSpPr>
        <p:spPr>
          <a:xfrm>
            <a:off x="701575" y="5471060"/>
            <a:ext cx="10858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7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Flips and 90° rotations, training only. Oversampling based on class frequency in the dataset.</a:t>
            </a:r>
          </a:p>
        </p:txBody>
      </p:sp>
    </p:spTree>
    <p:extLst>
      <p:ext uri="{BB962C8B-B14F-4D97-AF65-F5344CB8AC3E}">
        <p14:creationId xmlns:p14="http://schemas.microsoft.com/office/powerpoint/2010/main" val="2391350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2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DBA696D-3D8F-4102-B0B0-DDBF0E9F0366}">
  <we:reference id="WA200004052" version="1.0.0.2" store="Omex" storeType="OMEX"/>
  <we:alternateReferences>
    <we:reference id="WA200004052" version="1.0.0.2" store="WA20000405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</TotalTime>
  <Words>3725</Words>
  <Application>Microsoft Office PowerPoint</Application>
  <PresentationFormat>Widescreen</PresentationFormat>
  <Paragraphs>573</Paragraphs>
  <Slides>41</Slides>
  <Notes>26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Roboto</vt:lpstr>
      <vt:lpstr>Tema di Office</vt:lpstr>
      <vt:lpstr>Lightweight Scene Understanding and Synthetic Data-Driven Damage Inspection for Martian Rovers</vt:lpstr>
      <vt:lpstr>Introduction</vt:lpstr>
      <vt:lpstr>The challenge</vt:lpstr>
      <vt:lpstr>The challenge</vt:lpstr>
      <vt:lpstr>Research objective</vt:lpstr>
      <vt:lpstr>Lightweight Scene Understanding</vt:lpstr>
      <vt:lpstr>Semantic Segmentation</vt:lpstr>
      <vt:lpstr>Datasets</vt:lpstr>
      <vt:lpstr>Model Architectures</vt:lpstr>
      <vt:lpstr>Training procedure</vt:lpstr>
      <vt:lpstr>Synthetic Dataset Generation</vt:lpstr>
      <vt:lpstr>Design Requirements</vt:lpstr>
      <vt:lpstr>Blender Scene</vt:lpstr>
      <vt:lpstr>Synthetic Damage</vt:lpstr>
      <vt:lpstr>Domain Randomization</vt:lpstr>
      <vt:lpstr>Dataset Composition</vt:lpstr>
      <vt:lpstr>Synthetic Damage Inspection</vt:lpstr>
      <vt:lpstr>Anomaly Detection</vt:lpstr>
      <vt:lpstr>Model Architectures</vt:lpstr>
      <vt:lpstr>Model Architectures</vt:lpstr>
      <vt:lpstr>Preprocessing</vt:lpstr>
      <vt:lpstr>Results</vt:lpstr>
      <vt:lpstr>Semantic Segmentation: Quality</vt:lpstr>
      <vt:lpstr>Cross-generalization</vt:lpstr>
      <vt:lpstr>Semantic Segmentation: Efficiency</vt:lpstr>
      <vt:lpstr>Damage Inspection: Detection</vt:lpstr>
      <vt:lpstr>Damage Inspection: Efficiency</vt:lpstr>
      <vt:lpstr>Damage Inspection: Localization</vt:lpstr>
      <vt:lpstr>Conclusions</vt:lpstr>
      <vt:lpstr>Future Works</vt:lpstr>
      <vt:lpstr>Conclusions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Extra: variations</vt:lpstr>
      <vt:lpstr>Extra: variations</vt:lpstr>
      <vt:lpstr>Extra: Loss function ablation</vt:lpstr>
      <vt:lpstr>Preprocessing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Marco Raoul Marini</dc:creator>
  <cp:lastModifiedBy>Daniele Venturini</cp:lastModifiedBy>
  <cp:revision>10</cp:revision>
  <dcterms:created xsi:type="dcterms:W3CDTF">2022-06-29T08:38:04Z</dcterms:created>
  <dcterms:modified xsi:type="dcterms:W3CDTF">2026-10-18T20:05:49Z</dcterms:modified>
</cp:coreProperties>
</file>