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5.xml" ContentType="application/vnd.openxmlformats-officedocument.drawingml.chart+xml"/>
  <Override PartName="/ppt/notesSlides/notesSlide33.xml" ContentType="application/vnd.openxmlformats-officedocument.presentationml.notesSlide+xml"/>
  <Override PartName="/ppt/charts/chart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6"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7" r:id="rId33"/>
    <p:sldId id="288" r:id="rId34"/>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272" autoAdjust="0"/>
  </p:normalViewPr>
  <p:slideViewPr>
    <p:cSldViewPr snapToGrid="0">
      <p:cViewPr varScale="1">
        <p:scale>
          <a:sx n="116" d="100"/>
          <a:sy n="116" d="100"/>
        </p:scale>
        <p:origin x="19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Test mIoU (%)</c:v>
          </c:tx>
          <c:spPr>
            <a:solidFill>
              <a:srgbClr val="D7DDE2"/>
            </a:solidFill>
          </c:spPr>
          <c:invertIfNegative val="0"/>
          <c:dPt>
            <c:idx val="5"/>
            <c:invertIfNegative val="0"/>
            <c:bubble3D val="0"/>
            <c:spPr>
              <a:solidFill>
                <a:srgbClr val="2C8390"/>
              </a:solidFill>
            </c:spPr>
            <c:extLst>
              <c:ext xmlns:c16="http://schemas.microsoft.com/office/drawing/2014/chart" uri="{C3380CC4-5D6E-409C-BE32-E72D297353CC}">
                <c16:uniqueId val="{00000003-A4A0-4D28-90D5-EC401C80967B}"/>
              </c:ext>
            </c:extLst>
          </c:dPt>
          <c:dPt>
            <c:idx val="6"/>
            <c:invertIfNegative val="0"/>
            <c:bubble3D val="0"/>
            <c:spPr>
              <a:solidFill>
                <a:srgbClr val="822433"/>
              </a:solidFill>
            </c:spPr>
            <c:extLst>
              <c:ext xmlns:c16="http://schemas.microsoft.com/office/drawing/2014/chart" uri="{C3380CC4-5D6E-409C-BE32-E72D297353CC}">
                <c16:uniqueId val="{00000001-A4A0-4D28-90D5-EC401C80967B}"/>
              </c:ext>
            </c:extLst>
          </c:dPt>
          <c:dLbls>
            <c:dLbl>
              <c:idx val="0"/>
              <c:tx>
                <c:rich>
                  <a:bodyPr/>
                  <a:lstStyle/>
                  <a:p>
                    <a:r>
                      <a:rPr lang="en-US" sz="1650">
                        <a:solidFill>
                          <a:srgbClr val="202124"/>
                        </a:solidFill>
                        <a:latin typeface="Roboto"/>
                        <a:ea typeface="Roboto"/>
                        <a:cs typeface="Roboto"/>
                      </a:rPr>
                      <a:t>57.89</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4-A4A0-4D28-90D5-EC401C80967B}"/>
                </c:ext>
              </c:extLst>
            </c:dLbl>
            <c:dLbl>
              <c:idx val="1"/>
              <c:tx>
                <c:rich>
                  <a:bodyPr/>
                  <a:lstStyle/>
                  <a:p>
                    <a:r>
                      <a:rPr lang="en-US" sz="1650">
                        <a:solidFill>
                          <a:srgbClr val="202124"/>
                        </a:solidFill>
                        <a:latin typeface="Roboto"/>
                        <a:ea typeface="Roboto"/>
                        <a:cs typeface="Roboto"/>
                      </a:rPr>
                      <a:t>59.11</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A4A0-4D28-90D5-EC401C80967B}"/>
                </c:ext>
              </c:extLst>
            </c:dLbl>
            <c:dLbl>
              <c:idx val="2"/>
              <c:tx>
                <c:rich>
                  <a:bodyPr/>
                  <a:lstStyle/>
                  <a:p>
                    <a:r>
                      <a:rPr lang="en-US" sz="1650">
                        <a:solidFill>
                          <a:srgbClr val="202124"/>
                        </a:solidFill>
                        <a:latin typeface="Roboto"/>
                        <a:ea typeface="Roboto"/>
                        <a:cs typeface="Roboto"/>
                      </a:rPr>
                      <a:t>64.07</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6-A4A0-4D28-90D5-EC401C80967B}"/>
                </c:ext>
              </c:extLst>
            </c:dLbl>
            <c:dLbl>
              <c:idx val="3"/>
              <c:tx>
                <c:rich>
                  <a:bodyPr/>
                  <a:lstStyle/>
                  <a:p>
                    <a:r>
                      <a:rPr lang="en-US" sz="1650">
                        <a:solidFill>
                          <a:srgbClr val="202124"/>
                        </a:solidFill>
                        <a:latin typeface="Roboto"/>
                        <a:ea typeface="Roboto"/>
                        <a:cs typeface="Roboto"/>
                      </a:rPr>
                      <a:t>64.55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7-A4A0-4D28-90D5-EC401C80967B}"/>
                </c:ext>
              </c:extLst>
            </c:dLbl>
            <c:dLbl>
              <c:idx val="4"/>
              <c:tx>
                <c:rich>
                  <a:bodyPr/>
                  <a:lstStyle/>
                  <a:p>
                    <a:r>
                      <a:rPr lang="en-US" sz="1650">
                        <a:solidFill>
                          <a:srgbClr val="202124"/>
                        </a:solidFill>
                        <a:latin typeface="Roboto"/>
                        <a:ea typeface="Roboto"/>
                        <a:cs typeface="Roboto"/>
                      </a:rPr>
                      <a:t>64.57</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8-A4A0-4D28-90D5-EC401C80967B}"/>
                </c:ext>
              </c:extLst>
            </c:dLbl>
            <c:dLbl>
              <c:idx val="5"/>
              <c:tx>
                <c:rich>
                  <a:bodyPr/>
                  <a:lstStyle/>
                  <a:p>
                    <a:r>
                      <a:rPr lang="en-US" sz="1650">
                        <a:solidFill>
                          <a:srgbClr val="202124"/>
                        </a:solidFill>
                        <a:latin typeface="Roboto"/>
                        <a:ea typeface="Roboto"/>
                        <a:cs typeface="Roboto"/>
                      </a:rPr>
                      <a:t>73.79</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A4A0-4D28-90D5-EC401C80967B}"/>
                </c:ext>
              </c:extLst>
            </c:dLbl>
            <c:dLbl>
              <c:idx val="6"/>
              <c:tx>
                <c:rich>
                  <a:bodyPr/>
                  <a:lstStyle/>
                  <a:p>
                    <a:r>
                      <a:rPr lang="en-US" sz="1650">
                        <a:solidFill>
                          <a:srgbClr val="202124"/>
                        </a:solidFill>
                        <a:latin typeface="Roboto"/>
                        <a:ea typeface="Roboto"/>
                        <a:cs typeface="Roboto"/>
                      </a:rPr>
                      <a:t>75.55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A4A0-4D28-90D5-EC401C80967B}"/>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Data'!$A$2:$A$8</c:f>
              <c:strCache>
                <c:ptCount val="7"/>
                <c:pt idx="0">
                  <c:v>LCNet 3,7</c:v>
                </c:pt>
                <c:pt idx="1">
                  <c:v>LCNet 3,11</c:v>
                </c:pt>
                <c:pt idx="2">
                  <c:v>DeepLabV3+ MV2</c:v>
                </c:pt>
                <c:pt idx="3">
                  <c:v>U-Net R34</c:v>
                </c:pt>
                <c:pt idx="4">
                  <c:v>U-Net MV2</c:v>
                </c:pt>
                <c:pt idx="5">
                  <c:v>DeepLabV3 R34</c:v>
                </c:pt>
                <c:pt idx="6">
                  <c:v>SegFormer-B0</c:v>
                </c:pt>
              </c:strCache>
            </c:strRef>
          </c:cat>
          <c:val>
            <c:numRef>
              <c:f>'Chart Data'!$B$2:$B$8</c:f>
              <c:numCache>
                <c:formatCode>General</c:formatCode>
                <c:ptCount val="7"/>
                <c:pt idx="0">
                  <c:v>57.89</c:v>
                </c:pt>
                <c:pt idx="1">
                  <c:v>59.11</c:v>
                </c:pt>
                <c:pt idx="2">
                  <c:v>64.07</c:v>
                </c:pt>
                <c:pt idx="3">
                  <c:v>64.55</c:v>
                </c:pt>
                <c:pt idx="4">
                  <c:v>64.57</c:v>
                </c:pt>
                <c:pt idx="5">
                  <c:v>73.79</c:v>
                </c:pt>
                <c:pt idx="6">
                  <c:v>75.55</c:v>
                </c:pt>
              </c:numCache>
            </c:numRef>
          </c:val>
          <c:extLst>
            <c:ext xmlns:c16="http://schemas.microsoft.com/office/drawing/2014/chart" uri="{C3380CC4-5D6E-409C-BE32-E72D297353CC}">
              <c16:uniqueId val="{00000009-A4A0-4D28-90D5-EC401C80967B}"/>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6668">
            <a:solidFill>
              <a:srgbClr val="C7CDD2"/>
            </a:solidFill>
          </a:ln>
        </c:spPr>
        <c:txPr>
          <a:bodyPr anchorCtr="1"/>
          <a:lstStyle/>
          <a:p>
            <a:pPr>
              <a:defRPr sz="1600">
                <a:solidFill>
                  <a:srgbClr val="656B73"/>
                </a:solidFill>
                <a:latin typeface="Roboto"/>
                <a:ea typeface="Roboto"/>
                <a:cs typeface="Roboto"/>
              </a:defRPr>
            </a:pPr>
            <a:endParaRPr lang="it-IT"/>
          </a:p>
        </c:txPr>
        <c:crossAx val="48672768"/>
        <c:crosses val="autoZero"/>
        <c:auto val="1"/>
        <c:lblAlgn val="ctr"/>
        <c:lblOffset val="100"/>
        <c:tickLblSkip val="1"/>
        <c:tickMarkSkip val="1"/>
        <c:noMultiLvlLbl val="1"/>
      </c:catAx>
      <c:valAx>
        <c:axId val="48672768"/>
        <c:scaling>
          <c:orientation val="minMax"/>
          <c:max val="100"/>
          <c:min val="0"/>
        </c:scaling>
        <c:delete val="0"/>
        <c:axPos val="b"/>
        <c:numFmt formatCode="General" sourceLinked="1"/>
        <c:majorTickMark val="none"/>
        <c:minorTickMark val="none"/>
        <c:tickLblPos val="nextTo"/>
        <c:spPr>
          <a:ln w="0">
            <a:noFill/>
          </a:ln>
        </c:spPr>
        <c:txPr>
          <a:bodyPr anchorCtr="1"/>
          <a:lstStyle/>
          <a:p>
            <a:pPr>
              <a:defRPr sz="1725">
                <a:solidFill>
                  <a:srgbClr val="656B73"/>
                </a:solidFill>
                <a:latin typeface="Roboto"/>
                <a:ea typeface="Roboto"/>
                <a:cs typeface="Roboto"/>
              </a:defRPr>
            </a:pPr>
            <a:endParaRPr lang="it-IT"/>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Image AUROC (%)</c:v>
          </c:tx>
          <c:spPr>
            <a:solidFill>
              <a:srgbClr val="D7DDE2"/>
            </a:solidFill>
          </c:spPr>
          <c:invertIfNegative val="0"/>
          <c:dPt>
            <c:idx val="4"/>
            <c:invertIfNegative val="0"/>
            <c:bubble3D val="0"/>
            <c:spPr>
              <a:solidFill>
                <a:srgbClr val="2C8390"/>
              </a:solidFill>
            </c:spPr>
            <c:extLst>
              <c:ext xmlns:c16="http://schemas.microsoft.com/office/drawing/2014/chart" uri="{C3380CC4-5D6E-409C-BE32-E72D297353CC}">
                <c16:uniqueId val="{00000003-B316-42DB-938A-51E67DCB55E9}"/>
              </c:ext>
            </c:extLst>
          </c:dPt>
          <c:dPt>
            <c:idx val="5"/>
            <c:invertIfNegative val="0"/>
            <c:bubble3D val="0"/>
            <c:spPr>
              <a:solidFill>
                <a:srgbClr val="822433"/>
              </a:solidFill>
            </c:spPr>
            <c:extLst>
              <c:ext xmlns:c16="http://schemas.microsoft.com/office/drawing/2014/chart" uri="{C3380CC4-5D6E-409C-BE32-E72D297353CC}">
                <c16:uniqueId val="{00000001-B316-42DB-938A-51E67DCB55E9}"/>
              </c:ext>
            </c:extLst>
          </c:dPt>
          <c:dLbls>
            <c:dLbl>
              <c:idx val="0"/>
              <c:tx>
                <c:rich>
                  <a:bodyPr/>
                  <a:lstStyle/>
                  <a:p>
                    <a:r>
                      <a:rPr lang="en-US" sz="1650">
                        <a:solidFill>
                          <a:srgbClr val="202124"/>
                        </a:solidFill>
                        <a:latin typeface="Roboto"/>
                        <a:ea typeface="Roboto"/>
                        <a:cs typeface="Roboto"/>
                      </a:rPr>
                      <a:t>66.50</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4-B316-42DB-938A-51E67DCB55E9}"/>
                </c:ext>
              </c:extLst>
            </c:dLbl>
            <c:dLbl>
              <c:idx val="1"/>
              <c:tx>
                <c:rich>
                  <a:bodyPr/>
                  <a:lstStyle/>
                  <a:p>
                    <a:r>
                      <a:rPr lang="en-US" sz="1650">
                        <a:solidFill>
                          <a:srgbClr val="202124"/>
                        </a:solidFill>
                        <a:latin typeface="Roboto"/>
                        <a:ea typeface="Roboto"/>
                        <a:cs typeface="Roboto"/>
                      </a:rPr>
                      <a:t>77.33</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B316-42DB-938A-51E67DCB55E9}"/>
                </c:ext>
              </c:extLst>
            </c:dLbl>
            <c:dLbl>
              <c:idx val="2"/>
              <c:tx>
                <c:rich>
                  <a:bodyPr/>
                  <a:lstStyle/>
                  <a:p>
                    <a:r>
                      <a:rPr lang="en-US" sz="1650">
                        <a:solidFill>
                          <a:srgbClr val="202124"/>
                        </a:solidFill>
                        <a:latin typeface="Roboto"/>
                        <a:ea typeface="Roboto"/>
                        <a:cs typeface="Roboto"/>
                      </a:rPr>
                      <a:t>77.52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6-B316-42DB-938A-51E67DCB55E9}"/>
                </c:ext>
              </c:extLst>
            </c:dLbl>
            <c:dLbl>
              <c:idx val="3"/>
              <c:tx>
                <c:rich>
                  <a:bodyPr/>
                  <a:lstStyle/>
                  <a:p>
                    <a:r>
                      <a:rPr lang="en-US" sz="1650">
                        <a:solidFill>
                          <a:srgbClr val="202124"/>
                        </a:solidFill>
                        <a:latin typeface="Roboto"/>
                        <a:ea typeface="Roboto"/>
                        <a:cs typeface="Roboto"/>
                      </a:rPr>
                      <a:t>79.28</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7-B316-42DB-938A-51E67DCB55E9}"/>
                </c:ext>
              </c:extLst>
            </c:dLbl>
            <c:dLbl>
              <c:idx val="4"/>
              <c:tx>
                <c:rich>
                  <a:bodyPr/>
                  <a:lstStyle/>
                  <a:p>
                    <a:r>
                      <a:rPr lang="en-US" sz="1650">
                        <a:solidFill>
                          <a:srgbClr val="202124"/>
                        </a:solidFill>
                        <a:latin typeface="Roboto"/>
                        <a:ea typeface="Roboto"/>
                        <a:cs typeface="Roboto"/>
                      </a:rPr>
                      <a:t>82.72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B316-42DB-938A-51E67DCB55E9}"/>
                </c:ext>
              </c:extLst>
            </c:dLbl>
            <c:dLbl>
              <c:idx val="5"/>
              <c:tx>
                <c:rich>
                  <a:bodyPr/>
                  <a:lstStyle/>
                  <a:p>
                    <a:r>
                      <a:rPr lang="en-US" sz="1650">
                        <a:solidFill>
                          <a:srgbClr val="202124"/>
                        </a:solidFill>
                        <a:latin typeface="Roboto"/>
                        <a:ea typeface="Roboto"/>
                        <a:cs typeface="Roboto"/>
                      </a:rPr>
                      <a:t>86.43</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B316-42DB-938A-51E67DCB55E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EfficientAD-S</c:v>
                </c:pt>
                <c:pt idx="1">
                  <c:v>TinyGLASS-512</c:v>
                </c:pt>
                <c:pt idx="2">
                  <c:v>TinyGLASS-384</c:v>
                </c:pt>
                <c:pt idx="3">
                  <c:v>PatchCore-S</c:v>
                </c:pt>
                <c:pt idx="4">
                  <c:v>SuperSimpleNet</c:v>
                </c:pt>
                <c:pt idx="5">
                  <c:v>PatchCore-L</c:v>
                </c:pt>
              </c:strCache>
            </c:strRef>
          </c:cat>
          <c:val>
            <c:numRef>
              <c:f>'Chart Data'!$B$2:$B$7</c:f>
              <c:numCache>
                <c:formatCode>General</c:formatCode>
                <c:ptCount val="6"/>
                <c:pt idx="0">
                  <c:v>66.5</c:v>
                </c:pt>
                <c:pt idx="1">
                  <c:v>77.33</c:v>
                </c:pt>
                <c:pt idx="2">
                  <c:v>77.52</c:v>
                </c:pt>
                <c:pt idx="3">
                  <c:v>79.28</c:v>
                </c:pt>
                <c:pt idx="4">
                  <c:v>82.72</c:v>
                </c:pt>
                <c:pt idx="5">
                  <c:v>86.43</c:v>
                </c:pt>
              </c:numCache>
            </c:numRef>
          </c:val>
          <c:extLst>
            <c:ext xmlns:c16="http://schemas.microsoft.com/office/drawing/2014/chart" uri="{C3380CC4-5D6E-409C-BE32-E72D297353CC}">
              <c16:uniqueId val="{00000008-B316-42DB-938A-51E67DCB55E9}"/>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6668">
            <a:solidFill>
              <a:srgbClr val="C7CDD2"/>
            </a:solidFill>
          </a:ln>
        </c:spPr>
        <c:txPr>
          <a:bodyPr anchorCtr="1"/>
          <a:lstStyle/>
          <a:p>
            <a:pPr>
              <a:defRPr sz="1600">
                <a:solidFill>
                  <a:srgbClr val="656B73"/>
                </a:solidFill>
                <a:latin typeface="Roboto"/>
                <a:ea typeface="Roboto"/>
                <a:cs typeface="Roboto"/>
              </a:defRPr>
            </a:pPr>
            <a:endParaRPr lang="it-IT"/>
          </a:p>
        </c:txPr>
        <c:crossAx val="48672768"/>
        <c:crosses val="autoZero"/>
        <c:auto val="1"/>
        <c:lblAlgn val="ctr"/>
        <c:lblOffset val="100"/>
        <c:tickLblSkip val="1"/>
        <c:tickMarkSkip val="1"/>
        <c:noMultiLvlLbl val="1"/>
      </c:catAx>
      <c:valAx>
        <c:axId val="48672768"/>
        <c:scaling>
          <c:orientation val="minMax"/>
          <c:max val="100"/>
          <c:min val="0"/>
        </c:scaling>
        <c:delete val="0"/>
        <c:axPos val="b"/>
        <c:numFmt formatCode="General" sourceLinked="1"/>
        <c:majorTickMark val="none"/>
        <c:minorTickMark val="none"/>
        <c:tickLblPos val="nextTo"/>
        <c:spPr>
          <a:ln w="0">
            <a:noFill/>
          </a:ln>
        </c:spPr>
        <c:txPr>
          <a:bodyPr anchorCtr="1"/>
          <a:lstStyle/>
          <a:p>
            <a:pPr>
              <a:defRPr sz="1725">
                <a:solidFill>
                  <a:srgbClr val="656B73"/>
                </a:solidFill>
                <a:latin typeface="Roboto"/>
                <a:ea typeface="Roboto"/>
                <a:cs typeface="Roboto"/>
              </a:defRPr>
            </a:pPr>
            <a:endParaRPr lang="it-IT"/>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CE</c:v>
          </c:tx>
          <c:spPr>
            <a:solidFill>
              <a:srgbClr val="D7DDE2"/>
            </a:solidFill>
          </c:spPr>
          <c:invertIfNegative val="0"/>
          <c:dLbls>
            <c:dLbl>
              <c:idx val="0"/>
              <c:tx>
                <c:rich>
                  <a:bodyPr/>
                  <a:lstStyle/>
                  <a:p>
                    <a:r>
                      <a:rPr sz="1650">
                        <a:solidFill>
                          <a:srgbClr val="202124"/>
                        </a:solidFill>
                        <a:latin typeface="Roboto"/>
                        <a:ea typeface="Roboto"/>
                        <a:cs typeface="Roboto"/>
                      </a:rPr>
                      <a:t>59.5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0-6FDD-4FCD-93AE-92EAF9A069A5}"/>
                </c:ext>
              </c:extLst>
            </c:dLbl>
            <c:dLbl>
              <c:idx val="1"/>
              <c:tx>
                <c:rich>
                  <a:bodyPr/>
                  <a:lstStyle/>
                  <a:p>
                    <a:r>
                      <a:rPr sz="1650">
                        <a:solidFill>
                          <a:srgbClr val="202124"/>
                        </a:solidFill>
                        <a:latin typeface="Roboto"/>
                        <a:ea typeface="Roboto"/>
                        <a:cs typeface="Roboto"/>
                      </a:rPr>
                      <a:t>69.2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6FDD-4FCD-93AE-92EAF9A069A5}"/>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Data'!$A$2:$A$3</c:f>
              <c:strCache>
                <c:ptCount val="2"/>
                <c:pt idx="0">
                  <c:v>U-Net R34</c:v>
                </c:pt>
                <c:pt idx="1">
                  <c:v>SegFormer-B0</c:v>
                </c:pt>
              </c:strCache>
            </c:strRef>
          </c:cat>
          <c:val>
            <c:numRef>
              <c:f>'Chart Data'!$B$2:$B$3</c:f>
              <c:numCache>
                <c:formatCode>General</c:formatCode>
                <c:ptCount val="2"/>
                <c:pt idx="0">
                  <c:v>59.5</c:v>
                </c:pt>
                <c:pt idx="1">
                  <c:v>69.2</c:v>
                </c:pt>
              </c:numCache>
            </c:numRef>
          </c:val>
          <c:extLst>
            <c:ext xmlns:c16="http://schemas.microsoft.com/office/drawing/2014/chart" uri="{C3380CC4-5D6E-409C-BE32-E72D297353CC}">
              <c16:uniqueId val="{00000002-6FDD-4FCD-93AE-92EAF9A069A5}"/>
            </c:ext>
          </c:extLst>
        </c:ser>
        <c:ser>
          <c:idx val="1"/>
          <c:order val="1"/>
          <c:tx>
            <c:v>CE + GDL</c:v>
          </c:tx>
          <c:spPr>
            <a:solidFill>
              <a:srgbClr val="822433"/>
            </a:solidFill>
          </c:spPr>
          <c:invertIfNegative val="0"/>
          <c:dLbls>
            <c:dLbl>
              <c:idx val="0"/>
              <c:tx>
                <c:rich>
                  <a:bodyPr/>
                  <a:lstStyle/>
                  <a:p>
                    <a:r>
                      <a:rPr sz="1650">
                        <a:solidFill>
                          <a:srgbClr val="202124"/>
                        </a:solidFill>
                        <a:latin typeface="Roboto"/>
                        <a:ea typeface="Roboto"/>
                        <a:cs typeface="Roboto"/>
                      </a:rPr>
                      <a:t>64.5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6FDD-4FCD-93AE-92EAF9A069A5}"/>
                </c:ext>
              </c:extLst>
            </c:dLbl>
            <c:dLbl>
              <c:idx val="1"/>
              <c:tx>
                <c:rich>
                  <a:bodyPr/>
                  <a:lstStyle/>
                  <a:p>
                    <a:r>
                      <a:rPr sz="1650">
                        <a:solidFill>
                          <a:srgbClr val="202124"/>
                        </a:solidFill>
                        <a:latin typeface="Roboto"/>
                        <a:ea typeface="Roboto"/>
                        <a:cs typeface="Roboto"/>
                      </a:rPr>
                      <a:t>75.5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4-6FDD-4FCD-93AE-92EAF9A069A5}"/>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Data'!$C$2:$C$3</c:f>
              <c:strCache>
                <c:ptCount val="2"/>
                <c:pt idx="0">
                  <c:v>U-Net R34</c:v>
                </c:pt>
                <c:pt idx="1">
                  <c:v>SegFormer-B0</c:v>
                </c:pt>
              </c:strCache>
            </c:strRef>
          </c:cat>
          <c:val>
            <c:numRef>
              <c:f>'Chart Data'!$D$2:$D$3</c:f>
              <c:numCache>
                <c:formatCode>General</c:formatCode>
                <c:ptCount val="2"/>
                <c:pt idx="0">
                  <c:v>64.5</c:v>
                </c:pt>
                <c:pt idx="1">
                  <c:v>75.5</c:v>
                </c:pt>
              </c:numCache>
            </c:numRef>
          </c:val>
          <c:extLst>
            <c:ext xmlns:c16="http://schemas.microsoft.com/office/drawing/2014/chart" uri="{C3380CC4-5D6E-409C-BE32-E72D297353CC}">
              <c16:uniqueId val="{00000005-6FDD-4FCD-93AE-92EAF9A069A5}"/>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l"/>
        <c:numFmt formatCode="General" sourceLinked="1"/>
        <c:majorTickMark val="none"/>
        <c:minorTickMark val="none"/>
        <c:tickLblPos val="nextTo"/>
        <c:spPr>
          <a:ln w="6668">
            <a:solidFill>
              <a:srgbClr val="C7CDD2"/>
            </a:solidFill>
          </a:ln>
        </c:spPr>
        <c:txPr>
          <a:bodyPr anchorCtr="1"/>
          <a:lstStyle/>
          <a:p>
            <a:pPr>
              <a:defRPr sz="1600">
                <a:solidFill>
                  <a:srgbClr val="656B73"/>
                </a:solidFill>
                <a:latin typeface="Roboto"/>
                <a:ea typeface="Roboto"/>
                <a:cs typeface="Roboto"/>
              </a:defRPr>
            </a:pPr>
            <a:endParaRPr lang="it-IT"/>
          </a:p>
        </c:txPr>
        <c:crossAx val="48672768"/>
        <c:crosses val="autoZero"/>
        <c:auto val="1"/>
        <c:lblAlgn val="ctr"/>
        <c:lblOffset val="100"/>
        <c:tickLblSkip val="1"/>
        <c:tickMarkSkip val="1"/>
        <c:noMultiLvlLbl val="1"/>
      </c:catAx>
      <c:valAx>
        <c:axId val="48672768"/>
        <c:scaling>
          <c:orientation val="minMax"/>
          <c:max val="100"/>
          <c:min val="0"/>
        </c:scaling>
        <c:delete val="0"/>
        <c:axPos val="b"/>
        <c:numFmt formatCode="General" sourceLinked="1"/>
        <c:majorTickMark val="none"/>
        <c:minorTickMark val="none"/>
        <c:tickLblPos val="nextTo"/>
        <c:spPr>
          <a:ln w="0">
            <a:noFill/>
          </a:ln>
        </c:spPr>
        <c:txPr>
          <a:bodyPr anchorCtr="1"/>
          <a:lstStyle/>
          <a:p>
            <a:pPr>
              <a:defRPr sz="1650">
                <a:solidFill>
                  <a:srgbClr val="656B73"/>
                </a:solidFill>
                <a:latin typeface="Roboto"/>
                <a:ea typeface="Roboto"/>
                <a:cs typeface="Roboto"/>
              </a:defRPr>
            </a:pPr>
            <a:endParaRPr lang="it-IT"/>
          </a:p>
        </c:txPr>
        <c:crossAx val="48650112"/>
        <c:crosses val="autoZero"/>
        <c:crossBetween val="between"/>
        <c:majorUnit val="20"/>
      </c:valAx>
      <c:spPr>
        <a:solidFill>
          <a:srgbClr val="FFFFFF"/>
        </a:solidFill>
        <a:ln w="0">
          <a:noFill/>
        </a:ln>
      </c:spPr>
    </c:plotArea>
    <c:legend>
      <c:legendPos val="b"/>
      <c:overlay val="0"/>
      <c:txPr>
        <a:bodyPr anchorCtr="1"/>
        <a:lstStyle/>
        <a:p>
          <a:pPr>
            <a:defRPr sz="1650">
              <a:solidFill>
                <a:srgbClr val="656B73"/>
              </a:solidFill>
              <a:latin typeface="Roboto"/>
              <a:ea typeface="Roboto"/>
              <a:cs typeface="Roboto"/>
            </a:defRPr>
          </a:pPr>
          <a:endParaRPr lang="it-IT"/>
        </a:p>
      </c:txPr>
    </c:legend>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it-IT"/>
  <c:roundedCorners val="1"/>
  <c:style val="2"/>
  <c:chart>
    <c:autoTitleDeleted val="1"/>
    <c:plotArea>
      <c:layout/>
      <c:barChart>
        <c:barDir val="bar"/>
        <c:grouping val="clustered"/>
        <c:varyColors val="0"/>
        <c:ser>
          <c:idx val="0"/>
          <c:order val="0"/>
          <c:tx>
            <c:v>Validation</c:v>
          </c:tx>
          <c:spPr>
            <a:solidFill>
              <a:srgbClr val="D7DDE2"/>
            </a:solidFill>
          </c:spPr>
          <c:invertIfNegative val="0"/>
          <c:dLbls>
            <c:dLbl>
              <c:idx val="0"/>
              <c:tx>
                <c:rich>
                  <a:bodyPr/>
                  <a:lstStyle/>
                  <a:p>
                    <a:r>
                      <a:rPr sz="1650">
                        <a:solidFill>
                          <a:srgbClr val="202124"/>
                        </a:solidFill>
                        <a:latin typeface="Roboto"/>
                        <a:ea typeface="Roboto"/>
                        <a:cs typeface="Roboto"/>
                      </a:rPr>
                      <a:t>79.28</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0-1997-4B2C-82B0-D6CE1CE5A6B3}"/>
                </c:ext>
              </c:extLst>
            </c:dLbl>
            <c:dLbl>
              <c:idx val="1"/>
              <c:tx>
                <c:rich>
                  <a:bodyPr/>
                  <a:lstStyle/>
                  <a:p>
                    <a:r>
                      <a:rPr sz="1650">
                        <a:solidFill>
                          <a:srgbClr val="202124"/>
                        </a:solidFill>
                        <a:latin typeface="Roboto"/>
                        <a:ea typeface="Roboto"/>
                        <a:cs typeface="Roboto"/>
                      </a:rPr>
                      <a:t>70.64</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1997-4B2C-82B0-D6CE1CE5A6B3}"/>
                </c:ext>
              </c:extLst>
            </c:dLbl>
            <c:dLbl>
              <c:idx val="2"/>
              <c:tx>
                <c:rich>
                  <a:bodyPr/>
                  <a:lstStyle/>
                  <a:p>
                    <a:r>
                      <a:rPr sz="1650">
                        <a:solidFill>
                          <a:srgbClr val="202124"/>
                        </a:solidFill>
                        <a:latin typeface="Roboto"/>
                        <a:ea typeface="Roboto"/>
                        <a:cs typeface="Roboto"/>
                      </a:rPr>
                      <a:t>73.99</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2-1997-4B2C-82B0-D6CE1CE5A6B3}"/>
                </c:ext>
              </c:extLst>
            </c:dLbl>
            <c:dLbl>
              <c:idx val="3"/>
              <c:tx>
                <c:rich>
                  <a:bodyPr/>
                  <a:lstStyle/>
                  <a:p>
                    <a:r>
                      <a:rPr sz="1650">
                        <a:solidFill>
                          <a:srgbClr val="202124"/>
                        </a:solidFill>
                        <a:latin typeface="Roboto"/>
                        <a:ea typeface="Roboto"/>
                        <a:cs typeface="Roboto"/>
                      </a:rPr>
                      <a:t>80.28</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1997-4B2C-82B0-D6CE1CE5A6B3}"/>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Data'!$A$2:$A$5</c:f>
              <c:strCache>
                <c:ptCount val="4"/>
                <c:pt idx="0">
                  <c:v>Oversampling, uniform</c:v>
                </c:pt>
                <c:pt idx="1">
                  <c:v>Oversampling, square</c:v>
                </c:pt>
                <c:pt idx="2">
                  <c:v>Geometric augmentation</c:v>
                </c:pt>
                <c:pt idx="3">
                  <c:v>Default</c:v>
                </c:pt>
              </c:strCache>
            </c:strRef>
          </c:cat>
          <c:val>
            <c:numRef>
              <c:f>'Chart Data'!$B$2:$B$5</c:f>
              <c:numCache>
                <c:formatCode>General</c:formatCode>
                <c:ptCount val="4"/>
                <c:pt idx="0">
                  <c:v>79.28</c:v>
                </c:pt>
                <c:pt idx="1">
                  <c:v>70.64</c:v>
                </c:pt>
                <c:pt idx="2">
                  <c:v>73.99</c:v>
                </c:pt>
                <c:pt idx="3">
                  <c:v>80.28</c:v>
                </c:pt>
              </c:numCache>
            </c:numRef>
          </c:val>
          <c:extLst>
            <c:ext xmlns:c16="http://schemas.microsoft.com/office/drawing/2014/chart" uri="{C3380CC4-5D6E-409C-BE32-E72D297353CC}">
              <c16:uniqueId val="{00000004-1997-4B2C-82B0-D6CE1CE5A6B3}"/>
            </c:ext>
          </c:extLst>
        </c:ser>
        <c:ser>
          <c:idx val="1"/>
          <c:order val="1"/>
          <c:tx>
            <c:v>Test</c:v>
          </c:tx>
          <c:spPr>
            <a:solidFill>
              <a:srgbClr val="822433"/>
            </a:solidFill>
          </c:spPr>
          <c:invertIfNegative val="0"/>
          <c:dLbls>
            <c:dLbl>
              <c:idx val="0"/>
              <c:tx>
                <c:rich>
                  <a:bodyPr/>
                  <a:lstStyle/>
                  <a:p>
                    <a:r>
                      <a:rPr sz="1650">
                        <a:solidFill>
                          <a:srgbClr val="202124"/>
                        </a:solidFill>
                        <a:latin typeface="Roboto"/>
                        <a:ea typeface="Roboto"/>
                        <a:cs typeface="Roboto"/>
                      </a:rPr>
                      <a:t>72.90</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1997-4B2C-82B0-D6CE1CE5A6B3}"/>
                </c:ext>
              </c:extLst>
            </c:dLbl>
            <c:dLbl>
              <c:idx val="1"/>
              <c:tx>
                <c:rich>
                  <a:bodyPr/>
                  <a:lstStyle/>
                  <a:p>
                    <a:r>
                      <a:rPr sz="1650">
                        <a:solidFill>
                          <a:srgbClr val="202124"/>
                        </a:solidFill>
                        <a:latin typeface="Roboto"/>
                        <a:ea typeface="Roboto"/>
                        <a:cs typeface="Roboto"/>
                      </a:rPr>
                      <a:t>71.02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6-1997-4B2C-82B0-D6CE1CE5A6B3}"/>
                </c:ext>
              </c:extLst>
            </c:dLbl>
            <c:dLbl>
              <c:idx val="2"/>
              <c:tx>
                <c:rich>
                  <a:bodyPr/>
                  <a:lstStyle/>
                  <a:p>
                    <a:r>
                      <a:rPr sz="1650">
                        <a:solidFill>
                          <a:srgbClr val="202124"/>
                        </a:solidFill>
                        <a:latin typeface="Roboto"/>
                        <a:ea typeface="Roboto"/>
                        <a:cs typeface="Roboto"/>
                      </a:rPr>
                      <a:t>66.86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7-1997-4B2C-82B0-D6CE1CE5A6B3}"/>
                </c:ext>
              </c:extLst>
            </c:dLbl>
            <c:dLbl>
              <c:idx val="3"/>
              <c:tx>
                <c:rich>
                  <a:bodyPr/>
                  <a:lstStyle/>
                  <a:p>
                    <a:r>
                      <a:rPr sz="1650">
                        <a:solidFill>
                          <a:srgbClr val="202124"/>
                        </a:solidFill>
                        <a:latin typeface="Roboto"/>
                        <a:ea typeface="Roboto"/>
                        <a:cs typeface="Roboto"/>
                      </a:rPr>
                      <a:t>75.55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8-1997-4B2C-82B0-D6CE1CE5A6B3}"/>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Data'!$C$2:$C$5</c:f>
              <c:strCache>
                <c:ptCount val="4"/>
                <c:pt idx="0">
                  <c:v>Oversampling, uniform</c:v>
                </c:pt>
                <c:pt idx="1">
                  <c:v>Oversampling, square</c:v>
                </c:pt>
                <c:pt idx="2">
                  <c:v>Geometric augmentation</c:v>
                </c:pt>
                <c:pt idx="3">
                  <c:v>Default</c:v>
                </c:pt>
              </c:strCache>
            </c:strRef>
          </c:cat>
          <c:val>
            <c:numRef>
              <c:f>'Chart Data'!$D$2:$D$5</c:f>
              <c:numCache>
                <c:formatCode>General</c:formatCode>
                <c:ptCount val="4"/>
                <c:pt idx="0">
                  <c:v>72.9</c:v>
                </c:pt>
                <c:pt idx="1">
                  <c:v>71.02</c:v>
                </c:pt>
                <c:pt idx="2">
                  <c:v>66.86</c:v>
                </c:pt>
                <c:pt idx="3">
                  <c:v>75.55</c:v>
                </c:pt>
              </c:numCache>
            </c:numRef>
          </c:val>
          <c:extLst>
            <c:ext xmlns:c16="http://schemas.microsoft.com/office/drawing/2014/chart" uri="{C3380CC4-5D6E-409C-BE32-E72D297353CC}">
              <c16:uniqueId val="{00000009-1997-4B2C-82B0-D6CE1CE5A6B3}"/>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l"/>
        <c:numFmt formatCode="General" sourceLinked="1"/>
        <c:majorTickMark val="none"/>
        <c:minorTickMark val="none"/>
        <c:tickLblPos val="nextTo"/>
        <c:spPr>
          <a:ln w="6668">
            <a:solidFill>
              <a:srgbClr val="C7CDD2"/>
            </a:solidFill>
          </a:ln>
        </c:spPr>
        <c:txPr>
          <a:bodyPr anchorCtr="1"/>
          <a:lstStyle/>
          <a:p>
            <a:pPr>
              <a:defRPr sz="1600">
                <a:solidFill>
                  <a:srgbClr val="656B73"/>
                </a:solidFill>
                <a:latin typeface="Roboto"/>
                <a:ea typeface="Roboto"/>
                <a:cs typeface="Roboto"/>
              </a:defRPr>
            </a:pPr>
            <a:endParaRPr lang="it-IT"/>
          </a:p>
        </c:txPr>
        <c:crossAx val="48672768"/>
        <c:crosses val="autoZero"/>
        <c:auto val="1"/>
        <c:lblAlgn val="ctr"/>
        <c:lblOffset val="100"/>
        <c:tickLblSkip val="1"/>
        <c:tickMarkSkip val="1"/>
        <c:noMultiLvlLbl val="1"/>
      </c:catAx>
      <c:valAx>
        <c:axId val="48672768"/>
        <c:scaling>
          <c:orientation val="minMax"/>
          <c:max val="100"/>
          <c:min val="0"/>
        </c:scaling>
        <c:delete val="0"/>
        <c:axPos val="b"/>
        <c:numFmt formatCode="General" sourceLinked="1"/>
        <c:majorTickMark val="none"/>
        <c:minorTickMark val="none"/>
        <c:tickLblPos val="nextTo"/>
        <c:spPr>
          <a:ln w="0">
            <a:noFill/>
          </a:ln>
        </c:spPr>
        <c:txPr>
          <a:bodyPr anchorCtr="1"/>
          <a:lstStyle/>
          <a:p>
            <a:pPr>
              <a:defRPr sz="1650">
                <a:solidFill>
                  <a:srgbClr val="656B73"/>
                </a:solidFill>
                <a:latin typeface="Roboto"/>
                <a:ea typeface="Roboto"/>
                <a:cs typeface="Roboto"/>
              </a:defRPr>
            </a:pPr>
            <a:endParaRPr lang="it-IT"/>
          </a:p>
        </c:txPr>
        <c:crossAx val="48650112"/>
        <c:crosses val="autoZero"/>
        <c:crossBetween val="between"/>
        <c:majorUnit val="20"/>
      </c:valAx>
      <c:spPr>
        <a:solidFill>
          <a:srgbClr val="FFFFFF"/>
        </a:solidFill>
        <a:ln w="0">
          <a:noFill/>
        </a:ln>
      </c:spPr>
    </c:plotArea>
    <c:legend>
      <c:legendPos val="b"/>
      <c:overlay val="0"/>
      <c:txPr>
        <a:bodyPr anchorCtr="1"/>
        <a:lstStyle/>
        <a:p>
          <a:pPr>
            <a:defRPr sz="1650">
              <a:solidFill>
                <a:srgbClr val="656B73"/>
              </a:solidFill>
              <a:latin typeface="Roboto"/>
              <a:ea typeface="Roboto"/>
              <a:cs typeface="Roboto"/>
            </a:defRPr>
          </a:pPr>
          <a:endParaRPr lang="it-IT"/>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f551133d2d4e458e"/><Relationship Type="http://schemas.openxmlformats.org/officeDocument/2006/relationships/notesMaster" Target="/ppt/notesMasters/notesMaster1.xml" Id="Rf5ac2f13953541fb"/></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225a45b0d8a543ef"/><Relationship Type="http://schemas.openxmlformats.org/officeDocument/2006/relationships/notesMaster" Target="/ppt/notesMasters/notesMaster1.xml" Id="Rf3dd6c0fba7d4e35"/></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0:15. Talk interval: 0:00–0:15.</a:t>
            </a:r>
          </a:p>
          <a:p>
            <a:endParaRPr/>
          </a:p>
          <a:p>
            <a:r>
              <a:t>This thesis investigates two visual tasks for Martian rovers: semantic understanding of the surrounding scene and inspection of visible wheel damage. The common question is how much useful information different methods can provide for the computational resources they require.</a:t>
            </a:r>
          </a:p>
          <a:p>
            <a:endParaRPr/>
          </a:p>
          <a:p>
            <a:r>
              <a:t>Internal source: Frontespizio and abstract.</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duration: 0:35. Talk interval: 0:15–0:50.</a:t>
            </a:r>
          </a:p>
          <a:p>
            <a:endParaRPr dirty="0"/>
          </a:p>
          <a:p>
            <a:r>
              <a:rPr dirty="0"/>
              <a:t>Communication with Earth does not allow immediate intervention during a drive: a signal takes approximately four to twenty-two minutes in one direction. This motivates visual processing performed locally. A rover needs information about the terrain and exposed components while working within computational constraints. This thesis studies visual methods that could support such future perception modules, rather than an autonomous driving system already deployed on a rover.</a:t>
            </a:r>
          </a:p>
          <a:p>
            <a:endParaRPr dirty="0"/>
          </a:p>
          <a:p>
            <a:r>
              <a:rPr dirty="0"/>
              <a:t>Internal source: Chapter 1, Problem Statement; cap. 2, Task Definition.</a:t>
            </a:r>
          </a:p>
          <a:p>
            <a:endParaRPr dirty="0"/>
          </a:p>
          <a:p>
            <a:r>
              <a:rPr dirty="0"/>
              <a:t>[1] NASA Jet Propulsion Laboratory. How to Drive a Mars Rover. On a Mission, Season 4, Episode 8, 25 August 2022. https://www.jpl.nasa.gov/podcasts/on-a-mission-season-1/season-4-mars-rovers/episode-8-how-to-drive-a-mars-rover/</a:t>
            </a:r>
          </a:p>
          <a:p>
            <a:r>
              <a:rPr dirty="0"/>
              <a:t>[4] J. Zhang et al.. </a:t>
            </a:r>
            <a:r>
              <a:rPr dirty="0" err="1"/>
              <a:t>S⁵Mars</a:t>
            </a:r>
            <a:r>
              <a:rPr dirty="0"/>
              <a:t>: Semi-Supervised Learning for Mars Semantic Segmentation. IEEE Transactions on Geoscience and Remote Sensing, vol. 62, 2024. https://doi.org/10.1109/TGRS.2024.3386756</a:t>
            </a:r>
          </a:p>
          <a:p>
            <a:r>
              <a:rPr dirty="0"/>
              <a:t>[5] M. Purohit et al.. Mars-Bench: A Benchmark for Evaluating Foundation Models for Mars Science Tasks. </a:t>
            </a:r>
            <a:r>
              <a:rPr dirty="0" err="1"/>
              <a:t>NeurIPS</a:t>
            </a:r>
            <a:r>
              <a:rPr dirty="0"/>
              <a:t>, Datasets and Benchmarks Track, 2025. https://doi.org/10.52202/085713-4098</a:t>
            </a:r>
          </a:p>
          <a:p>
            <a:endParaRPr dirty="0"/>
          </a:p>
          <a:p>
            <a:r>
              <a:rPr dirty="0"/>
              <a:t>Icons8 artwork (Color style, PNG):</a:t>
            </a:r>
          </a:p>
          <a:p>
            <a:r>
              <a:rPr dirty="0"/>
              <a:t>https://img.icons8.com/color/96/earth-planet.png</a:t>
            </a:r>
          </a:p>
          <a:p>
            <a:r>
              <a:rPr dirty="0"/>
              <a:t>https://img.icons8.com/color/96/mars-planet.png</a:t>
            </a:r>
          </a:p>
          <a:p>
            <a:r>
              <a:rPr dirty="0"/>
              <a:t>https://img.icons8.com/color/96/satellite-sending-signal.png</a:t>
            </a:r>
          </a:p>
          <a:p>
            <a:r>
              <a:rPr dirty="0"/>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duration: 0:35. Talk interval: 0:50–1:25.</a:t>
            </a:r>
          </a:p>
          <a:p>
            <a:endParaRPr dirty="0"/>
          </a:p>
          <a:p>
            <a:r>
              <a:rPr dirty="0"/>
              <a:t>The second motivation is the condition of the wheels. Real inspection images of Curiosity show visible tears and perforations in the wheel skin. Detecting suspicious observations and highlighting their location could support image review. Here the modeled anomaly is restricted to visible perforations. Shadows, dust and scratches without a perforation remain part of normal appearance, so the detector must distinguish actual openings from benign visual changes.</a:t>
            </a:r>
          </a:p>
          <a:p>
            <a:endParaRPr dirty="0"/>
          </a:p>
          <a:p>
            <a:r>
              <a:rPr dirty="0"/>
              <a:t>Internal source: Chapter 1, Problem Statement and fig. curiosity-wheel-damage.</a:t>
            </a:r>
          </a:p>
          <a:p>
            <a:endParaRPr dirty="0"/>
          </a:p>
          <a:p>
            <a:r>
              <a:rPr dirty="0"/>
              <a:t>[2] A. Rankin et al.. Assessing Mars Curiosity Rover Wheel Damage. IEEE Aerospace Conference, 2022, pp. 1–19. https://robotics.jpl.nasa.gov/media/documents/fmwi-rankin-2022-0225-final.pdf</a:t>
            </a:r>
          </a:p>
          <a:p>
            <a:r>
              <a:rPr dirty="0"/>
              <a:t>[3] NASA. Routine Inspection of Rover Wheel Wear and Tear. NASA Science, 27 April 2016. Image PIA20334. https://science.nasa.gov/resource/routine-inspection-of-rover-wheel-wear-and-tear/</a:t>
            </a:r>
          </a:p>
          <a:p>
            <a:endParaRPr dirty="0"/>
          </a:p>
          <a:p>
            <a:r>
              <a:rPr dirty="0"/>
              <a:t>Icons8 artwork (Color style, PNG):</a:t>
            </a:r>
          </a:p>
          <a:p>
            <a:r>
              <a:rPr dirty="0"/>
              <a:t>https://img.icons8.com/color/96/search.png</a:t>
            </a:r>
          </a:p>
          <a:p>
            <a:r>
              <a:rPr dirty="0"/>
              <a:t>https://img.icons8.com/color/96/inspection.png</a:t>
            </a:r>
          </a:p>
          <a:p>
            <a:r>
              <a:rPr dirty="0"/>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duration: 0:35. Talk interval: 1:25–2:00.</a:t>
            </a:r>
          </a:p>
          <a:p>
            <a:endParaRPr dirty="0"/>
          </a:p>
          <a:p>
            <a:r>
              <a:rPr dirty="0"/>
              <a:t>The research has two complementary branches. Scene understanding compares segmentation models on real rover imagery. Wheel inspection first requires an annotated synthetic dataset and then compares anomaly detection methods. Both branches examine prediction quality together with inference cost. They use separate datasets and evaluation procedures. Integrating them into a complete rover perception pipeline is future work, and a semantic Rover label alone does not identify individual wheels.</a:t>
            </a:r>
          </a:p>
          <a:p>
            <a:endParaRPr dirty="0"/>
          </a:p>
          <a:p>
            <a:r>
              <a:rPr dirty="0"/>
              <a:t>Internal source: Chapter 1, Proposed Research Framework and Main Contributions.</a:t>
            </a:r>
          </a:p>
          <a:p>
            <a:endParaRPr dirty="0"/>
          </a:p>
          <a:p>
            <a:endParaRPr dirty="0"/>
          </a:p>
          <a:p>
            <a:endParaRPr dirty="0"/>
          </a:p>
          <a:p>
            <a:r>
              <a:rPr dirty="0"/>
              <a:t>Icons8 artwork (Color style, PNG):</a:t>
            </a:r>
          </a:p>
          <a:p>
            <a:r>
              <a:rPr dirty="0"/>
              <a:t>https://img.icons8.com/color/96/road.png</a:t>
            </a:r>
          </a:p>
          <a:p>
            <a:r>
              <a:rPr dirty="0"/>
              <a:t>https://img.icons8.com/color/96/inspection.png</a:t>
            </a:r>
          </a:p>
          <a:p>
            <a:r>
              <a:rPr dirty="0"/>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duration: 0:30. Talk interval: 2:00–2:30.</a:t>
            </a:r>
          </a:p>
          <a:p>
            <a:endParaRPr dirty="0"/>
          </a:p>
          <a:p>
            <a:r>
              <a:rPr dirty="0"/>
              <a:t>Semantic segmentation assigns a category to every image pixel. Here the same observation is shown as an RGB image, its annotation and a </a:t>
            </a:r>
            <a:r>
              <a:rPr dirty="0" err="1"/>
              <a:t>SegFormer</a:t>
            </a:r>
            <a:r>
              <a:rPr dirty="0"/>
              <a:t> prediction. The colors identify materials and scene elements such as bedrock, rocks and sand or soil. This spatial representation could inform downstream terrain interpretation. The experiments evaluate the quality and cost of producing semantic labels, rather than implementing a navigation planner.</a:t>
            </a:r>
          </a:p>
          <a:p>
            <a:endParaRPr dirty="0"/>
          </a:p>
          <a:p>
            <a:r>
              <a:rPr dirty="0"/>
              <a:t>Internal source: Chapter 2, Task Definition; cap. 5, fig. s5mars-model-prediction-comparison.</a:t>
            </a:r>
          </a:p>
          <a:p>
            <a:endParaRPr dirty="0"/>
          </a:p>
          <a:p>
            <a:r>
              <a:rPr dirty="0"/>
              <a:t>[4] J. Zhang et al.. </a:t>
            </a:r>
            <a:r>
              <a:rPr dirty="0" err="1"/>
              <a:t>S⁵Mars</a:t>
            </a:r>
            <a:r>
              <a:rPr dirty="0"/>
              <a:t>: Semi-Supervised Learning for Mars Semantic Segmentation. IEEE Transactions on Geoscience and Remote Sensing, vol. 62, 2024. https://doi.org/10.1109/TGRS.2024.3386756</a:t>
            </a:r>
          </a:p>
          <a:p>
            <a:r>
              <a:rPr dirty="0"/>
              <a:t>[5] M. Purohit et al.. Mars-Bench: A Benchmark for Evaluating Foundation Models for Mars Science Tasks. </a:t>
            </a:r>
            <a:r>
              <a:rPr dirty="0" err="1"/>
              <a:t>NeurIPS</a:t>
            </a:r>
            <a:r>
              <a:rPr dirty="0"/>
              <a:t>, Datasets and Benchmarks Track, 2025. https://doi.org/10.52202/085713-4098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duration: 0:30. Talk interval: 2:30–3:00.</a:t>
            </a:r>
          </a:p>
          <a:p>
            <a:endParaRPr dirty="0"/>
          </a:p>
          <a:p>
            <a:r>
              <a:rPr dirty="0"/>
              <a:t>The primary task uses the Mars-Bench adaptation of S5Mars, with RGB </a:t>
            </a:r>
            <a:r>
              <a:rPr dirty="0" err="1"/>
              <a:t>Mastcam</a:t>
            </a:r>
            <a:r>
              <a:rPr dirty="0"/>
              <a:t> observations from Curiosity. The release provides predefined training, validation and test splits containing 4,997, 200 and 800 images. Its annotations are sparse and confidence-based. Eight target categories include both terrain and Rover. The implementation also retains the Background identifier exposed by the released masks. Standardized partitions support consistent comparisons between the selected models.</a:t>
            </a:r>
          </a:p>
          <a:p>
            <a:endParaRPr dirty="0"/>
          </a:p>
          <a:p>
            <a:r>
              <a:rPr dirty="0"/>
              <a:t>Internal source: Chapter 2, Dataset and tab. mars-bench-datasets.</a:t>
            </a:r>
          </a:p>
          <a:p>
            <a:endParaRPr dirty="0"/>
          </a:p>
          <a:p>
            <a:r>
              <a:rPr dirty="0"/>
              <a:t>[4] J. Zhang et al.. </a:t>
            </a:r>
            <a:r>
              <a:rPr dirty="0" err="1"/>
              <a:t>S⁵Mars</a:t>
            </a:r>
            <a:r>
              <a:rPr dirty="0"/>
              <a:t>: Semi-Supervised Learning for Mars Semantic Segmentation. IEEE Transactions on Geoscience and Remote Sensing, vol. 62, 2024. https://doi.org/10.1109/TGRS.2024.3386756</a:t>
            </a:r>
          </a:p>
          <a:p>
            <a:r>
              <a:rPr dirty="0"/>
              <a:t>[5] M. Purohit et al.. Mars-Bench: A Benchmark for Evaluating Foundation Models for Mars Science Tasks. </a:t>
            </a:r>
            <a:r>
              <a:rPr dirty="0" err="1"/>
              <a:t>NeurIPS</a:t>
            </a:r>
            <a:r>
              <a:rPr dirty="0"/>
              <a:t>, Datasets and Benchmarks Track, 2025. https://doi.org/10.52202/085713-4098</a:t>
            </a:r>
          </a:p>
          <a:p>
            <a:endParaRPr dirty="0"/>
          </a:p>
          <a:p>
            <a:r>
              <a:rPr dirty="0"/>
              <a:t>Icons8 artwork (Color style, PNG):</a:t>
            </a:r>
          </a:p>
          <a:p>
            <a:r>
              <a:rPr dirty="0"/>
              <a:t>https://img.icons8.com/color/96/stack-of-photos.png</a:t>
            </a:r>
          </a:p>
          <a:p>
            <a:r>
              <a:rPr dirty="0"/>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duration: 0:35. Talk interval: 3:00–3:35.</a:t>
            </a:r>
          </a:p>
          <a:p>
            <a:endParaRPr dirty="0"/>
          </a:p>
          <a:p>
            <a:r>
              <a:rPr dirty="0"/>
              <a:t>Seven configurations cover several design principles. U-Net uses encoder–decoder connections, </a:t>
            </a:r>
            <a:r>
              <a:rPr dirty="0" err="1"/>
              <a:t>DeepLab</a:t>
            </a:r>
            <a:r>
              <a:rPr dirty="0"/>
              <a:t> incorporates context through </a:t>
            </a:r>
            <a:r>
              <a:rPr dirty="0" err="1"/>
              <a:t>atrous</a:t>
            </a:r>
            <a:r>
              <a:rPr dirty="0"/>
              <a:t> convolutions, </a:t>
            </a:r>
            <a:r>
              <a:rPr dirty="0" err="1"/>
              <a:t>SegFormer</a:t>
            </a:r>
            <a:r>
              <a:rPr dirty="0"/>
              <a:t> uses a hierarchical Transformer encoder, and </a:t>
            </a:r>
            <a:r>
              <a:rPr dirty="0" err="1"/>
              <a:t>LCNet</a:t>
            </a:r>
            <a:r>
              <a:rPr dirty="0"/>
              <a:t> explores compact configurations. The U-Net and </a:t>
            </a:r>
            <a:r>
              <a:rPr dirty="0" err="1"/>
              <a:t>DeepLab</a:t>
            </a:r>
            <a:r>
              <a:rPr dirty="0"/>
              <a:t> models use ResNet34 or MobileNetV2 backbones. These are complete experimental candidates with different initialization and training budgets, as documented in the thesis, rather than a controlled comparison of architecture alone.</a:t>
            </a:r>
          </a:p>
          <a:p>
            <a:endParaRPr dirty="0"/>
          </a:p>
          <a:p>
            <a:r>
              <a:rPr dirty="0"/>
              <a:t>Internal source: Chapter 2, Segmentation Architectures and Architectural Comparison.</a:t>
            </a:r>
          </a:p>
          <a:p>
            <a:endParaRPr dirty="0"/>
          </a:p>
          <a:p>
            <a:r>
              <a:rPr dirty="0"/>
              <a:t>[6] O. </a:t>
            </a:r>
            <a:r>
              <a:rPr dirty="0" err="1"/>
              <a:t>Ronneberger</a:t>
            </a:r>
            <a:r>
              <a:rPr dirty="0"/>
              <a:t>, P. Fischer and T. Brox. U-Net: Convolutional Networks for Biomedical Image Segmentation. MICCAI, 2015, pp. 234–241. https://doi.org/10.1007/978-3-319-24574-4_28</a:t>
            </a:r>
          </a:p>
          <a:p>
            <a:r>
              <a:rPr dirty="0"/>
              <a:t>[7] L.-C. Chen et al.. Rethinking </a:t>
            </a:r>
            <a:r>
              <a:rPr dirty="0" err="1"/>
              <a:t>Atrous</a:t>
            </a:r>
            <a:r>
              <a:rPr dirty="0"/>
              <a:t> Convolution for Semantic Image Segmentation. arXiv:1706.05587, 2017. https://arxiv.org/abs/1706.05587</a:t>
            </a:r>
          </a:p>
          <a:p>
            <a:r>
              <a:rPr dirty="0"/>
              <a:t>[8] L.-C. Chen et al.. Encoder-Decoder with </a:t>
            </a:r>
            <a:r>
              <a:rPr dirty="0" err="1"/>
              <a:t>Atrous</a:t>
            </a:r>
            <a:r>
              <a:rPr dirty="0"/>
              <a:t> Separable Convolution for Semantic Image Segmentation. ECCV, 2018, pp. 833–851. https://doi.org/10.1007/978-3-030-01234-2_49</a:t>
            </a:r>
          </a:p>
          <a:p>
            <a:r>
              <a:rPr dirty="0"/>
              <a:t>[9] E. Xie et al.. </a:t>
            </a:r>
            <a:r>
              <a:rPr dirty="0" err="1"/>
              <a:t>SegFormer</a:t>
            </a:r>
            <a:r>
              <a:rPr dirty="0"/>
              <a:t>: Simple and Efficient Design for Semantic Segmentation with Transformers. </a:t>
            </a:r>
            <a:r>
              <a:rPr dirty="0" err="1"/>
              <a:t>NeurIPS</a:t>
            </a:r>
            <a:r>
              <a:rPr dirty="0"/>
              <a:t>, vol. 34, 2021, pp. 12077–12090. https://arxiv.org/abs/2105.15203</a:t>
            </a:r>
          </a:p>
          <a:p>
            <a:r>
              <a:rPr dirty="0"/>
              <a:t>[10] M. Shi et al.. Lightweight Context-Aware Network Using Partial-Channel Transformation for Real-Time Semantic Segmentation. IEEE Transactions on Intelligent Transportation Systems, 25(7), 2024. https://doi.org/10.1109/TITS.2023.3348631</a:t>
            </a:r>
          </a:p>
          <a:p>
            <a:endParaRPr dirty="0"/>
          </a:p>
          <a:p>
            <a:r>
              <a:rPr dirty="0"/>
              <a:t>Icons8 artwork (Color style, PNG):</a:t>
            </a:r>
          </a:p>
          <a:p>
            <a:r>
              <a:rPr dirty="0"/>
              <a:t>https://img.icons8.com/color/96/layers.png</a:t>
            </a:r>
          </a:p>
          <a:p>
            <a:r>
              <a:rPr dirty="0"/>
              <a:t>https://img.icons8.com/color/96/search.png</a:t>
            </a:r>
          </a:p>
          <a:p>
            <a:r>
              <a:rPr dirty="0"/>
              <a:t>https://img.icons8.com/color/96/artificial-intelligence.png</a:t>
            </a:r>
          </a:p>
          <a:p>
            <a:r>
              <a:rPr dirty="0"/>
              <a:t>https://img.icons8.com/color/96/processor.png</a:t>
            </a:r>
          </a:p>
          <a:p>
            <a:r>
              <a:rPr dirty="0"/>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duration: 0:40. Talk interval: 3:35–4:15.</a:t>
            </a:r>
          </a:p>
          <a:p>
            <a:endParaRPr dirty="0"/>
          </a:p>
          <a:p>
            <a:r>
              <a:rPr dirty="0"/>
              <a:t>Deployment also depends on numerical precision. FP16 reduces floating-point precision. Post-training quantization, or PTQ, calibrates a model after training. Quantization-aware training, or QAT, includes further optimization while simulating quantization effects. In this thesis INT8 is selective: some computations remain in floating point. The QAT procedure also includes fine-tuning and distillation. Therefore its results describe the complete optimization and deployment procedure, not the isolated effect of changing precision.</a:t>
            </a:r>
          </a:p>
          <a:p>
            <a:endParaRPr dirty="0"/>
          </a:p>
          <a:p>
            <a:r>
              <a:rPr dirty="0"/>
              <a:t>Internal source: Chapter 2, Optimization and Quantization; cap. 5, Quantization Results.</a:t>
            </a:r>
          </a:p>
          <a:p>
            <a:endParaRPr dirty="0"/>
          </a:p>
          <a:p>
            <a:r>
              <a:rPr dirty="0"/>
              <a:t>[11] B. Jacob et al.. Quantization and Training of Neural Networks for Efficient Integer-Arithmetic-Only Inference. CVPR, 2018, pp. 2704–2713. https://arxiv.org/abs/1712.05877</a:t>
            </a:r>
          </a:p>
          <a:p>
            <a:endParaRPr dirty="0"/>
          </a:p>
          <a:p>
            <a:r>
              <a:rPr dirty="0"/>
              <a:t>Icons8 artwork (Color style, PNG):</a:t>
            </a:r>
          </a:p>
          <a:p>
            <a:r>
              <a:rPr dirty="0"/>
              <a:t>https://img.icons8.com/color/96/processor.png</a:t>
            </a:r>
          </a:p>
          <a:p>
            <a:r>
              <a:rPr dirty="0"/>
              <a:t>https://img.icons8.com/color/96/compress.png</a:t>
            </a:r>
          </a:p>
          <a:p>
            <a:r>
              <a:rPr dirty="0"/>
              <a:t>https://img.icons8.com/color/96/learning.png</a:t>
            </a:r>
          </a:p>
          <a:p>
            <a:r>
              <a:rPr dirty="0"/>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0:25. Talk interval: 4:15–4:40.</a:t>
            </a:r>
          </a:p>
          <a:p>
            <a:endParaRPr/>
          </a:p>
          <a:p>
            <a:r>
              <a:t>Wheel inspection requires task-specific annotations of visible perforations. Among the resources examined for this work, no ready-to-use benchmark provided the required damage masks and experimental setting. Synthetic generation supplies wheel observations, automatic pixel masks and controlled variation. It avoids manually annotating every generated image and makes the comparison reproducible. Its role is to establish a synthetic experimental setting whose transfer to real imagery still needs to be tested.</a:t>
            </a:r>
          </a:p>
          <a:p>
            <a:endParaRPr/>
          </a:p>
          <a:p>
            <a:r>
              <a:t>Internal source: Chapter 1, Wheel Damage Inspection and Available Imagery; cap. 3, Design Requirements.</a:t>
            </a:r>
          </a:p>
          <a:p>
            <a:endParaRPr/>
          </a:p>
          <a:p>
            <a:r>
              <a:t>[2] A. Rankin et al.. Assessing Mars Curiosity Rover Wheel Damage. IEEE Aerospace Conference, 2022, pp. 1–19. https://robotics.jpl.nasa.gov/media/documents/fmwi-rankin-2022-0225-final.pdf</a:t>
            </a:r>
          </a:p>
          <a:p>
            <a:endParaRPr/>
          </a:p>
          <a:p>
            <a:r>
              <a:t>Icons8 artwork (Color style, PNG):</a:t>
            </a:r>
          </a:p>
          <a:p>
            <a:r>
              <a:t>https://img.icons8.com/color/96/stack-of-photos.png</a:t>
            </a:r>
          </a:p>
          <a:p>
            <a:r>
              <a:t>https://img.icons8.com/color/96/image-file.png</a:t>
            </a:r>
          </a:p>
          <a:p>
            <a:r>
              <a:t>https://img.icons8.com/color/96/settings.png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0:35. Talk interval: 4:40–5:15.</a:t>
            </a:r>
          </a:p>
          <a:p>
            <a:endParaRPr/>
          </a:p>
          <a:p>
            <a:r>
              <a:t>The scene is built in Blender around the NASA Curiosity asset. The six wheels are independently addressable for rotation, damage injection and annotation. The environment combines HiRISE terrain and orthoimagery from Gale Crater with procedural close-range detail such as grains and rocks. The asset supports visual image generation. It is not an engineering model of mechanical wheel behavior, so the generated damage levels describe geometry rather than a physical health assessment.</a:t>
            </a:r>
          </a:p>
          <a:p>
            <a:endParaRPr/>
          </a:p>
          <a:p>
            <a:r>
              <a:t>Internal source: Chapter 3, Asset Preparation and fig. rover-terrain-scene.</a:t>
            </a:r>
          </a:p>
          <a:p>
            <a:endParaRPr/>
          </a:p>
          <a:p>
            <a:r>
              <a:t>[12] NASA Visualization Technology Applications and Development. Curiosity 3D Model. NASA Science, 22 April 2019. https://science.nasa.gov/resource/curiosity-3d-model/</a:t>
            </a:r>
          </a:p>
          <a:p>
            <a:r>
              <a:t>[13] HiRISE. Possible MSL Landing Site in Gale Crater. DTM and orthoimage, PSP_010573_1755 and PSP_010639_1755. https://hirise.lpl.arizona.edu/dtm/dtm.php?ID=PSP_010573_1755</a:t>
            </a:r>
          </a:p>
          <a:p>
            <a:endParaRPr/>
          </a:p>
          <a:p>
            <a:r>
              <a:t>Icons8 artwork (Color style, PNG):</a:t>
            </a:r>
          </a:p>
          <a:p>
            <a:r>
              <a:t>https://img.icons8.com/color/96/settings.png</a:t>
            </a:r>
          </a:p>
          <a:p>
            <a:r>
              <a:t>https://img.icons8.com/color/96/globe.png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0:40. Talk interval: 5:15–5:55.</a:t>
            </a:r>
          </a:p>
          <a:p>
            <a:endParaRPr/>
          </a:p>
          <a:p>
            <a:r>
              <a:t>Each anomalous observation contains an injected through-hole on the target wheel. The generation process also produces a binary mask of the visible damage. This example shows a recorded normal view, its perforated counterpart and the corresponding mask. Camera, lighting, wheel pose and surface wear are shared within the pair. The intended visual difference is the injected hole, which permits a controlled comparison of normal and damaged observations.</a:t>
            </a:r>
          </a:p>
          <a:p>
            <a:endParaRPr/>
          </a:p>
          <a:p>
            <a:r>
              <a:t>Internal source: Chapter 3, Synthetic Damage Generation; final dataset, pair_dr_200008.</a:t>
            </a:r>
          </a:p>
          <a:p>
            <a:endParaRPr/>
          </a:p>
          <a:p>
            <a:endParaRPr/>
          </a:p>
          <a:p>
            <a:endParaRPr/>
          </a:p>
          <a:p>
            <a:r>
              <a:t>Icons8 artwork (Color style, PNG):</a:t>
            </a:r>
          </a:p>
          <a:p>
            <a:r>
              <a:t>https://img.icons8.com/color/96/camera.png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duration: 0:40. Talk interval: 5:55–6:35.
The generated observations vary in illumination, camera viewpoint, wheel rotation and benign surface wear. These examples illustrate changes in lighting, scratches and framing. The aim is to expose the methods to a range of normal appearances instead of one fixed visual reference. The variation remains controlled and reproducible. Domain randomization broadens the synthetic setting, while successful transfer to real wheel imagery remains an empirical question.
Internal source: Chapter 3, Domain Randomization.
[14] J. Tobin et al.. Domain Randomization for Transferring Deep Neural Networks from Simulation to the Real World. IEEE/RSJ IROS, 2017, pp. 23–30. https://doi.org/10.1109/IROS.2017.8202133
Icons8 artwork (Color style, PNG):
https://img.icons8.com/color/96/sun.png
https://img.icons8.com/color/96/settings.png
https://img.icons8.com/color/96/camera.png
Attribution and terms: https://icons8.com/license
Final dataset distributions (all 10,000 images): dusty 7,500 (75%), clear 2,500 (25%). No added wear 2,000 (20%), light wear 4,500 (45%), evident wear 3,500 (35%). Camera A overhead 4,000 (40%), C1 leading three-quarter 2,750 (27.5%), C2 trailing three-quarter 2,750 (27.5%), D upper detail 500 (5%). Frequencies were checked directly against the final samples.csv and the thesis Chapter 3 category-distribution table. The clear/dusty presets also change deposited dust and camera response. Small continuous lighting and camera jitter is applied within categories; the percentages describe categorical frequencies, not jitter magnitudes.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0:35. Talk interval: 6:35–7:10.</a:t>
            </a:r>
          </a:p>
          <a:p>
            <a:endParaRPr/>
          </a:p>
          <a:p>
            <a:r>
              <a:t>The final dataset contains ten thousand images. Training uses seven thousand normal observations. Validation contains 750 normal images and 250 perforated images, while test contains one thousand of each. Every image has a target-wheel mask, and anomalous images have a damage mask. Normal and damaged counterparts remain within the same split. This prevents paired versions of the same scene from leaking across the experimental partitions.</a:t>
            </a:r>
          </a:p>
          <a:p>
            <a:endParaRPr/>
          </a:p>
          <a:p>
            <a:r>
              <a:t>Internal source: Chapter 3, Final Dataset Composition; docs/generation/final_dataset_assembly.md.</a:t>
            </a:r>
          </a:p>
          <a:p>
            <a:endParaRPr/>
          </a:p>
          <a:p>
            <a:endParaRPr/>
          </a:p>
          <a:p>
            <a:endParaRPr/>
          </a:p>
          <a:p>
            <a:r>
              <a:t>Icons8 artwork (Color style, PNG):</a:t>
            </a:r>
          </a:p>
          <a:p>
            <a:r>
              <a:t>https://img.icons8.com/color/96/split.png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0:35. Talk interval: 7:10–7:45.</a:t>
            </a:r>
          </a:p>
          <a:p>
            <a:endParaRPr/>
          </a:p>
          <a:p>
            <a:r>
              <a:t>The inspection models learn or store a reference for normal wheel appearance from normal renders. Perforated Blender observations are reserved for validation and test. Each method produces an image anomaly score and a spatial anomaly map. These outputs answer different questions: whether an observation is suspicious and where the suspicious region lies. Normality is defined by the absence of the modeled perforation, so dust and scratches can still be present in normal training images.</a:t>
            </a:r>
          </a:p>
          <a:p>
            <a:endParaRPr/>
          </a:p>
          <a:p>
            <a:r>
              <a:t>Internal source: Chapter 4, Task Definition.</a:t>
            </a:r>
          </a:p>
          <a:p>
            <a:endParaRPr/>
          </a:p>
          <a:p>
            <a:r>
              <a:t>[15] P. Bergmann et al.. MVTec AD: A Comprehensive Real-World Dataset for Unsupervised Anomaly Detection. CVPR, 2019, pp. 9584–9592. https://doi.org/10.1109/CVPR.2019.00982</a:t>
            </a:r>
          </a:p>
          <a:p>
            <a:endParaRPr/>
          </a:p>
          <a:p>
            <a:r>
              <a:t>Icons8 artwork (Color style, PNG):</a:t>
            </a:r>
          </a:p>
          <a:p>
            <a:r>
              <a:t>https://img.icons8.com/color/96/learning.png</a:t>
            </a:r>
          </a:p>
          <a:p>
            <a:r>
              <a:t>https://img.icons8.com/color/96/inspection.png</a:t>
            </a:r>
          </a:p>
          <a:p>
            <a:r>
              <a:t>https://img.icons8.com/color/96/image.png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0:35. Talk interval: 7:45–8:20.</a:t>
            </a:r>
          </a:p>
          <a:p>
            <a:endParaRPr/>
          </a:p>
          <a:p>
            <a:r>
              <a:t>PatchCore stores a representative memory of local features extracted from normal images. At inference, feature distances from that memory indicate abnormality. EfficientAD-S instead uses a pretrained teacher and a student optimized to reproduce normal features, together with an autoencoder and calibration. Feature disagreement provides anomaly evidence. These methods therefore contrast memory search with learned feature matching, with different resource requirements and responses to normal visual variation.</a:t>
            </a:r>
          </a:p>
          <a:p>
            <a:endParaRPr/>
          </a:p>
          <a:p>
            <a:r>
              <a:t>Internal source: Chapter 4, PatchCore and EAD-S.</a:t>
            </a:r>
          </a:p>
          <a:p>
            <a:endParaRPr/>
          </a:p>
          <a:p>
            <a:r>
              <a:t>[16] K. Roth et al.. Towards Total Recall in Industrial Anomaly Detection. CVPR, 2022, pp. 14318–14328. https://arxiv.org/abs/2106.08265</a:t>
            </a:r>
          </a:p>
          <a:p>
            <a:r>
              <a:t>[17] K. Batzner, L. Heckler and R. König. EfficientAD: Accurate Visual Anomaly Detection at Millisecond-Level Latencies. WACV, 2024, pp. 128–138. https://arxiv.org/abs/2303.14535</a:t>
            </a:r>
          </a:p>
          <a:p>
            <a:endParaRPr/>
          </a:p>
          <a:p>
            <a:r>
              <a:t>Icons8 artwork (Color style, PNG):</a:t>
            </a:r>
          </a:p>
          <a:p>
            <a:r>
              <a:t>https://img.icons8.com/color/96/layers.png</a:t>
            </a:r>
          </a:p>
          <a:p>
            <a:r>
              <a:t>https://img.icons8.com/color/96/database.png</a:t>
            </a:r>
          </a:p>
          <a:p>
            <a:r>
              <a:t>https://img.icons8.com/color/96/search.png</a:t>
            </a:r>
          </a:p>
          <a:p>
            <a:r>
              <a:t>https://img.icons8.com/color/96/teacher.png</a:t>
            </a:r>
          </a:p>
          <a:p>
            <a:r>
              <a:t>https://img.icons8.com/color/96/student-male.png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0:35. Talk interval: 8:20–8:55.</a:t>
            </a:r>
          </a:p>
          <a:p>
            <a:endParaRPr/>
          </a:p>
          <a:p>
            <a:r>
              <a:t>SuperSimpleNet and TinyGLASS introduce artificial anomalies while learning from normal data. SuperSimpleNet perturbs localized regions in feature space. TinyGLASS combines image and feature perturbations with a compact backbone. The thesis adapts its local image alterations to irregular darkened regions resembling perforations and investigates spatial resolution. These training perturbations are generated from normal inputs and remain distinct from the damaged Blender images and masks reserved for validation and test.</a:t>
            </a:r>
          </a:p>
          <a:p>
            <a:endParaRPr/>
          </a:p>
          <a:p>
            <a:r>
              <a:t>Internal source: Chapter 4, SSN and TinyGLASS; fig. tinyglass_architecture.</a:t>
            </a:r>
          </a:p>
          <a:p>
            <a:endParaRPr/>
          </a:p>
          <a:p>
            <a:r>
              <a:t>[18] B. Rolih, M. Fučka and D. Skočaj. SuperSimpleNet: Unifying Unsupervised and Supervised Learning for Fast and Reliable Surface Defect Detection. ICPR 2024, LNCS 15310, Springer, 2025, pp. 47–65. https://doi.org/10.1007/978-3-031-78192-6_4</a:t>
            </a:r>
          </a:p>
          <a:p>
            <a:r>
              <a:t>[19] B. Rolih, M. Fučka and D. Skočaj. No Label Left Behind: A Unified Surface Defect Detection Model for All Supervision Regimes. Journal of Intelligent Manufacturing, vol. 37, 2026, pp. 3189–3209. https://doi.org/10.1007/s10845-025-02680-8</a:t>
            </a:r>
          </a:p>
          <a:p>
            <a:r>
              <a:t>[20] P. Bonazzi et al.. TinyGLASS: Real-Time Self-Supervised In-Sensor Anomaly Detection. arXiv:2603.16451v3, 2026. Accepted at AICAS 2026. https://arxiv.org/abs/2603.16451v3</a:t>
            </a:r>
          </a:p>
          <a:p>
            <a:endParaRPr/>
          </a:p>
          <a:p>
            <a:r>
              <a:t>Icons8 artwork (Color style, PNG):</a:t>
            </a:r>
          </a:p>
          <a:p>
            <a:r>
              <a:t>https://img.icons8.com/color/96/layers.png</a:t>
            </a:r>
          </a:p>
          <a:p>
            <a:r>
              <a:t>https://img.icons8.com/color/96/image.png</a:t>
            </a:r>
          </a:p>
          <a:p>
            <a:r>
              <a:t>https://img.icons8.com/color/96/processor.png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0:35. Talk interval: 8:55–9:30.</a:t>
            </a:r>
          </a:p>
          <a:p>
            <a:endParaRPr/>
          </a:p>
          <a:p>
            <a:r>
              <a:t>The main comparison uses pose A, a controlled acquisition setting that still varies wheel identity, lighting and surface wear. A fixed 720-by-720 crop concentrates image detail on the target wheel before model-specific preprocessing. This subset contains 2,800 normal training images and 808 test images. Validation informs configuration selection or calibration. The compared models share the image population, but their input resolutions and spatial coverage differ as documented in the thesis.</a:t>
            </a:r>
          </a:p>
          <a:p>
            <a:endParaRPr/>
          </a:p>
          <a:p>
            <a:r>
              <a:t>Internal source: Chapter 4, Preprocessing; cap. 6, Experimental Setup.</a:t>
            </a:r>
          </a:p>
          <a:p>
            <a:endParaRPr/>
          </a:p>
          <a:p>
            <a:endParaRPr/>
          </a:p>
          <a:p>
            <a:endParaRPr/>
          </a:p>
          <a:p>
            <a:r>
              <a:t>Icons8 artwork (Color style, PNG):</a:t>
            </a:r>
          </a:p>
          <a:p>
            <a:r>
              <a:t>https://img.icons8.com/color/96/camera.png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0:40. Talk interval: 9:30–10:10.</a:t>
            </a:r>
          </a:p>
          <a:p>
            <a:endParaRPr/>
          </a:p>
          <a:p>
            <a:r>
              <a:t>Mean Intersection over Union, or mIoU, summarizes overlap between predicted and annotated semantic categories. In the FP32 comparison, SegFormer-B0 reaches the highest test mIoU at 75.55%, followed by DeepLabV3 with ResNet34. SegFormer uses 3.72 million parameters. LCNet configurations use fewer than one million parameters but reach about 58–59% mIoU. The comparison shows different positions in the quality–resource trade-off before the reduced-precision deployment study.</a:t>
            </a:r>
          </a:p>
          <a:p>
            <a:endParaRPr/>
          </a:p>
          <a:p>
            <a:r>
              <a:t>Internal source: Chapter 5, tab. s5mars-reference-accuracy.</a:t>
            </a:r>
          </a:p>
          <a:p>
            <a:endParaRPr/>
          </a:p>
          <a:p>
            <a:endParaRPr/>
          </a:p>
          <a:p>
            <a:endParaRPr/>
          </a:p>
          <a:p>
            <a:r>
              <a:t>Icons8 artwork (Color style, PNG):</a:t>
            </a:r>
          </a:p>
          <a:p>
            <a:r>
              <a:t>https://img.icons8.com/color/96/artificial-intelligence.png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0:40. Talk interval: 10:10–10:50.</a:t>
            </a:r>
          </a:p>
          <a:p>
            <a:endParaRPr/>
          </a:p>
          <a:p>
            <a:r>
              <a:t>This is a separate experiment from S5Mars. The MarsSeg MSL and MER releases share a taxonomy, so the same categories can be evaluated across missions. Each configuration is trained independently on MSL and on MER, using its source-validation checkpoint. Cross-mission evaluation uses no target-domain fine-tuning. U-Net has the highest in-domain mIoU, but SegFormer-B0 transfers best in both directions: 52.06% from MSL to MER and 48.11% from MER to MSL. Both remain below its target-trained references, 66.75% on MER and 70.63% on MSL. Different pretraining and acquisition conditions prevent attributing this difference to architecture alone.</a:t>
            </a:r>
          </a:p>
          <a:p>
            <a:endParaRPr/>
          </a:p>
          <a:p>
            <a:r>
              <a:t>Internal source: thesis/latex/Chapters/5 Evaluation of Lightweight Scene Understanding.tex, Section 5.5, table label tab:marsseg-cross-mission-accuracy. All 12 values are transcribed from that table.</a:t>
            </a:r>
          </a:p>
          <a:p>
            <a:endParaRPr/>
          </a:p>
          <a:p>
            <a:r>
              <a:t>[5] M. Purohit et al. Mars-Bench: A Benchmark for Evaluating Foundation Models for Mars Science Tasks. NeurIPS Datasets and Benchmarks, 2025. https://doi.org/10.52202/085713-4098</a:t>
            </a:r>
          </a:p>
          <a:p>
            <a:r>
              <a:t>[9] E. Xie et al. SegFormer: Simple and Efficient Design for Semantic Segmentation with Transformers. NeurIPS, 2021. https://arxiv.org/abs/2105.15203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0:40. Talk interval: 10:50–11:30.</a:t>
            </a:r>
          </a:p>
          <a:p xmlns:a="http://schemas.openxmlformats.org/drawingml/2006/main">
            <a:r>
              <a:t/>
            </a:r>
            <a:endParaRPr/>
          </a:p>
          <a:p xmlns:a="http://schemas.openxmlformats.org/drawingml/2006/main">
            <a:r>
              <a:t>This table retains the two selected models from the previous slide and expands the comparison to FP32, FP16, PTQ INT8 and QAT INT8. For DeepLabV3+ with MobileNetV2, PTQ reduces latency to 4.02 milliseconds but lowers test mIoU to 59.14%. QAT reaches 65.63% at 3.01 milliseconds and 115.34 millijoules per image. SegFormer-B0 retains 75.60% mIoU with PTQ, while QAT reaches 76.93% at 5.66 milliseconds. The choice remains between lower inference cost and higher semantic accuracy.</a:t>
            </a:r>
          </a:p>
          <a:p xmlns:a="http://schemas.openxmlformats.org/drawingml/2006/main">
            <a:r>
              <a:t/>
            </a:r>
            <a:endParaRPr/>
          </a:p>
          <a:p xmlns:a="http://schemas.openxmlformats.org/drawingml/2006/main">
            <a:r>
              <a:t>Measurement scope: test mIoU on the 800-image S5Mars test split. Mean forward-pass latency and GPU energy were measured separately on NVIDIA T4, batch size 1, 512 by 512 inputs already on the GPU, excluding preprocessing. FP32 and FP16 use ONNX Runtime CUDA. PTQ uses ONNX Runtime TensorRT with fallback, and QAT uses TensorRT directly. INT8 denotes selective mixed precision, with Conv-only quantization for SegFormer-B0. QAT includes supervised fine-tuning and teacher distillation. Energy includes device idle consumption and excludes CPU energy. These results compare complete deployment configurations, not bit width in isolation, and do not establish equivalent savings on rover hardware.</a:t>
            </a:r>
          </a:p>
          <a:p xmlns:a="http://schemas.openxmlformats.org/drawingml/2006/main">
            <a:r>
              <a:t/>
            </a:r>
            <a:endParaRPr/>
          </a:p>
          <a:p xmlns:a="http://schemas.openxmlformats.org/drawingml/2006/main">
            <a:r>
              <a:t>Internal source: thesis/latex/Chapters/5 Evaluation of Lightweight Scene Understanding.tex, Section 5.3, table tab:s5mars-quantization-accuracy-efficiency. All 24 metric values are transcribed at the precision reported in the thesis. The full thesis comparison contains five models; this slide retains the two selected models from the existing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0:40. Talk interval: 11:30–12:10.</a:t>
            </a:r>
          </a:p>
          <a:p>
            <a:endParaRPr/>
          </a:p>
          <a:p>
            <a:r>
              <a:t>Image AUROC measures how well anomaly scores rank damaged observations above normal ones, without selecting an operational threshold. On the synthetic pose-A test subset, PatchCore-L achieves the highest value at 86.43%, followed by SuperSimpleNet at 82.72%. TinyGLASS configurations are around 77%. These results apply to the tested configurations and their preprocessing contracts. They do not directly establish false-alarm or missed-defect rates at a chosen operational decision threshold.</a:t>
            </a:r>
          </a:p>
          <a:p>
            <a:endParaRPr/>
          </a:p>
          <a:p>
            <a:r>
              <a:t>Internal source: Chapter 6, tab. damage-reference-test-results.</a:t>
            </a:r>
          </a:p>
          <a:p>
            <a:endParaRPr/>
          </a:p>
          <a:p>
            <a:endParaRPr/>
          </a:p>
          <a:p>
            <a:endParaRPr/>
          </a:p>
          <a:p>
            <a:r>
              <a:t>Icons8 artwork (Color style, PNG):</a:t>
            </a:r>
          </a:p>
          <a:p>
            <a:r>
              <a:t>https://img.icons8.com/color/96/inspection.png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duration: 0:40. Talk interval: 12:10–12:50.</a:t>
            </a:r>
          </a:p>
          <a:p xmlns:a="http://schemas.openxmlformats.org/drawingml/2006/main">
            <a:r>
              <a:t/>
            </a:r>
            <a:endParaRPr/>
          </a:p>
          <a:p xmlns:a="http://schemas.openxmlformats.org/drawingml/2006/main">
            <a:r>
              <a:t>The table compares all six configurations using latency, GPU energy per image and peak allocated GPU memory. TinyGLASS-384 has the lowest measured values in every column: 5.13 milliseconds, 0.239 joules and 38.72 MiB. TinyGLASS-512 remains inexpensive at 6.29 milliseconds and 0.369 joules. SuperSimpleNet lies between these compact models and PatchCore or EfficientAD. PatchCore-L provides the strongest image discrimination on the preceding slide but requires 62.89 milliseconds and 4.116 joules per image. This makes the accuracy–resource choice explicit for all configurations.</a:t>
            </a:r>
          </a:p>
          <a:p xmlns:a="http://schemas.openxmlformats.org/drawingml/2006/main">
            <a:r>
              <a:t/>
            </a:r>
            <a:endParaRPr/>
          </a:p>
          <a:p xmlns:a="http://schemas.openxmlformats.org/drawingml/2006/main">
            <a:r>
              <a:t>Measurement scope: NVIDIA T4 on Kaggle, batch size one, with preprocessed input already in GPU memory. Latency averages 50 synchronized predictions after 10 warm-up runs. GPU energy is a separate measurement using a five-second warm-up and three 30-second windows, divided by the total number of predictions. It covers the whole GPU, including idle consumption, and excludes CPU processing and transfer. Memory is peak allocated GPU memory reported by the PyTorch allocator, including the model and other live tensors. Configurations share the pose-A image population but differ in input resolution and spatial coverage; these are complete deployment configurations rather than a controlled comparison at identical input resolution. Results do not establish end-to-end or flight-hardware performance.</a:t>
            </a:r>
          </a:p>
          <a:p xmlns:a="http://schemas.openxmlformats.org/drawingml/2006/main">
            <a:r>
              <a:t/>
            </a:r>
            <a:endParaRPr/>
          </a:p>
          <a:p xmlns:a="http://schemas.openxmlformats.org/drawingml/2006/main">
            <a:r>
              <a:t>Internal source: thesis/latex/Chapters/6 Evaluation of Synthetic Damage Inspection.tex, Section 6.2, Table 6.3, label tab:damage-reference-efficiency. All 18 measurements match the table. Latency and memory retain two decimal places and energy three.</a:t>
            </a:r>
          </a:p>
          <a:p xmlns:a="http://schemas.openxmlformats.org/drawingml/2006/main">
            <a:r>
              <a:t/>
            </a:r>
          </a:p>
          <a:p xmlns:a="http://schemas.openxmlformats.org/drawingml/2006/main">
            <a:r>
              <a:t>Icons8 Color artwork: https://img.icons8.com/color/96/clock.png, https://img.icons8.com/color/96/lightning-bolt.png, https://img.icons8.com/color/96/memory-slot.png. Attribution and terms: https://icons8.com/license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0:40. Talk interval: 12:50–13:30.</a:t>
            </a:r>
          </a:p>
          <a:p>
            <a:endParaRPr/>
          </a:p>
          <a:p>
            <a:r>
              <a:t>The anomaly maps show why detection and localization need separate evaluation. A response around the perforation can coexist with responses on normal wheel regions. SuperSimpleNet has higher Image AUROC than TinyGLASS-512, but lower aggregate test Pixel Average Precision: 19.10% versus 27.59%. The displayed maps are one qualitative example, while the percentages summarize the full test split. Small perforations remain difficult, and a useful image ranking does not guarantee a precise defect outline.</a:t>
            </a:r>
          </a:p>
          <a:p>
            <a:endParaRPr/>
          </a:p>
          <a:p>
            <a:r>
              <a:t>Internal source: Chapter 6, fig. damage-model-map-comparison and tab. damage-reference-test-results.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0:35. Talk interval: 13:30–14:05.</a:t>
            </a:r>
          </a:p>
          <a:p>
            <a:endParaRPr/>
          </a:p>
          <a:p>
            <a:r>
              <a:t>The inspection findings concern one Curiosity asset, one modeled anomaly class and a main comparison on a controlled pose. The next step is independent validation on annotated real wheel images, potentially with domain adaptation. Hardware evaluation should then include the complete pipeline on a representative platform, including preprocessing and data transfer. Broader damage coverage and integration with semantic perception also require further implementation and experiments before operational conclusions can be drawn.</a:t>
            </a:r>
          </a:p>
          <a:p>
            <a:endParaRPr/>
          </a:p>
          <a:p>
            <a:r>
              <a:t>Internal source: Chapter 7, Discussion and Limitations; cap. 8, Future Work.</a:t>
            </a:r>
          </a:p>
          <a:p>
            <a:endParaRPr/>
          </a:p>
          <a:p>
            <a:endParaRPr/>
          </a:p>
          <a:p>
            <a:endParaRPr/>
          </a:p>
          <a:p>
            <a:r>
              <a:t>Icons8 artwork (Color style, PNG):</a:t>
            </a:r>
          </a:p>
          <a:p>
            <a:r>
              <a:t>https://img.icons8.com/color/96/camera.png</a:t>
            </a:r>
          </a:p>
          <a:p>
            <a:r>
              <a:t>https://img.icons8.com/color/96/processor.png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duration: 0:35. Talk interval: 14:05–14:40.</a:t>
            </a:r>
          </a:p>
          <a:p>
            <a:endParaRPr/>
          </a:p>
          <a:p>
            <a:r>
              <a:t>The thesis contributes a comparison of lightweight segmentation and reduced-precision deployments, an automated dataset of ten thousand annotated synthetic wheel images, and an adaptation and evaluation of four anomaly detection families. The headline results summarize the tested settings: 76.93% segmentation mIoU and 86.43% image-level anomaly AUROC. The work identifies useful quality–cost choices and distinguishes image detection from localization, providing an experimental basis for future rover perception research.</a:t>
            </a:r>
          </a:p>
          <a:p>
            <a:endParaRPr/>
          </a:p>
          <a:p>
            <a:r>
              <a:t>Internal source: Chapter 8, Conclusions.</a:t>
            </a:r>
          </a:p>
          <a:p>
            <a:endParaRPr/>
          </a:p>
          <a:p>
            <a:endParaRPr/>
          </a:p>
          <a:p>
            <a:endParaRPr/>
          </a:p>
          <a:p>
            <a:r>
              <a:t>Icons8 artwork (Color style, PNG):</a:t>
            </a:r>
          </a:p>
          <a:p>
            <a:r>
              <a:t>https://img.icons8.com/color/96/artificial-intelligence.png</a:t>
            </a:r>
          </a:p>
          <a:p>
            <a:r>
              <a:t>https://img.icons8.com/color/96/database.png</a:t>
            </a:r>
          </a:p>
          <a:p>
            <a:r>
              <a:t>https://img.icons8.com/color/96/inspection.png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cited in the main slides. Consultation material after the conclusion.</a:t>
            </a:r>
          </a:p>
          <a:p>
            <a:endParaRPr/>
          </a:p>
          <a:p>
            <a:r>
              <a:t>[1] NASA Jet Propulsion Laboratory. How to Drive a Mars Rover. On a Mission, Season 4, Episode 8, 25 August 2022. https://www.jpl.nasa.gov/podcasts/on-a-mission-season-1/season-4-mars-rovers/episode-8-how-to-drive-a-mars-rover/</a:t>
            </a:r>
          </a:p>
          <a:p>
            <a:endParaRPr/>
          </a:p>
          <a:p>
            <a:r>
              <a:t>[2] A. Rankin et al.. Assessing Mars Curiosity Rover Wheel Damage. IEEE Aerospace Conference, 2022, pp. 1–19. https://robotics.jpl.nasa.gov/media/documents/fmwi-rankin-2022-0225-final.pdf</a:t>
            </a:r>
          </a:p>
          <a:p>
            <a:endParaRPr/>
          </a:p>
          <a:p>
            <a:r>
              <a:t>[3] NASA. Routine Inspection of Rover Wheel Wear and Tear. NASA Science, 27 April 2016. Image PIA20334. https://science.nasa.gov/resource/routine-inspection-of-rover-wheel-wear-and-tear/</a:t>
            </a:r>
          </a:p>
          <a:p>
            <a:endParaRPr/>
          </a:p>
          <a:p>
            <a:r>
              <a:t>[4] J. Zhang et al.. S⁵Mars: Semi-Supervised Learning for Mars Semantic Segmentation. IEEE Transactions on Geoscience and Remote Sensing, vol. 62, 2024. https://doi.org/10.1109/TGRS.2024.3386756</a:t>
            </a:r>
          </a:p>
          <a:p>
            <a:endParaRPr/>
          </a:p>
          <a:p>
            <a:r>
              <a:t>[5] M. Purohit et al.. Mars-Bench: A Benchmark for Evaluating Foundation Models for Mars Science Tasks. NeurIPS, Datasets and Benchmarks Track, 2025. https://doi.org/10.52202/085713-4098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cited in the main slides. Consultation material after the conclusion.</a:t>
            </a:r>
          </a:p>
          <a:p>
            <a:endParaRPr/>
          </a:p>
          <a:p>
            <a:r>
              <a:t>[6] O. Ronneberger, P. Fischer and T. Brox. U-Net: Convolutional Networks for Biomedical Image Segmentation. MICCAI, 2015, pp. 234–241. https://doi.org/10.1007/978-3-319-24574-4_28</a:t>
            </a:r>
          </a:p>
          <a:p>
            <a:endParaRPr/>
          </a:p>
          <a:p>
            <a:r>
              <a:t>[7] L.-C. Chen et al.. Rethinking Atrous Convolution for Semantic Image Segmentation. arXiv:1706.05587, 2017. https://arxiv.org/abs/1706.05587</a:t>
            </a:r>
          </a:p>
          <a:p>
            <a:endParaRPr/>
          </a:p>
          <a:p>
            <a:r>
              <a:t>[8] L.-C. Chen et al.. Encoder-Decoder with Atrous Separable Convolution for Semantic Image Segmentation. ECCV, 2018, pp. 833–851. https://doi.org/10.1007/978-3-030-01234-2_49</a:t>
            </a:r>
          </a:p>
          <a:p>
            <a:endParaRPr/>
          </a:p>
          <a:p>
            <a:r>
              <a:t>[9] E. Xie et al.. SegFormer: Simple and Efficient Design for Semantic Segmentation with Transformers. NeurIPS, vol. 34, 2021, pp. 12077–12090. https://arxiv.org/abs/2105.15203</a:t>
            </a:r>
          </a:p>
          <a:p>
            <a:endParaRPr/>
          </a:p>
          <a:p>
            <a:r>
              <a:t>[10] M. Shi et al.. Lightweight Context-Aware Network Using Partial-Channel Transformation for Real-Time Semantic Segmentation. IEEE Transactions on Intelligent Transportation Systems, 25(7), 2024. https://doi.org/10.1109/TITS.2023.3348631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cited in the main slides. Consultation material after the conclusion.</a:t>
            </a:r>
          </a:p>
          <a:p>
            <a:endParaRPr/>
          </a:p>
          <a:p>
            <a:r>
              <a:t>[11] B. Jacob et al.. Quantization and Training of Neural Networks for Efficient Integer-Arithmetic-Only Inference. CVPR, 2018, pp. 2704–2713. https://arxiv.org/abs/1712.05877</a:t>
            </a:r>
          </a:p>
          <a:p>
            <a:endParaRPr/>
          </a:p>
          <a:p>
            <a:r>
              <a:t>[12] NASA Visualization Technology Applications and Development. Curiosity 3D Model. NASA Science, 22 April 2019. https://science.nasa.gov/resource/curiosity-3d-model/</a:t>
            </a:r>
          </a:p>
          <a:p>
            <a:endParaRPr/>
          </a:p>
          <a:p>
            <a:r>
              <a:t>[13] HiRISE. Possible MSL Landing Site in Gale Crater. DTM and orthoimage, PSP_010573_1755 and PSP_010639_1755. https://hirise.lpl.arizona.edu/dtm/dtm.php?ID=PSP_010573_1755</a:t>
            </a:r>
          </a:p>
          <a:p>
            <a:endParaRPr/>
          </a:p>
          <a:p>
            <a:r>
              <a:t>[14] J. Tobin et al.. Domain Randomization for Transferring Deep Neural Networks from Simulation to the Real World. IEEE/RSJ IROS, 2017, pp. 23–30. https://doi.org/10.1109/IROS.2017.8202133</a:t>
            </a:r>
          </a:p>
          <a:p>
            <a:endParaRPr/>
          </a:p>
          <a:p>
            <a:r>
              <a:t>[15] P. Bergmann et al.. MVTec AD: A Comprehensive Real-World Dataset for Unsupervised Anomaly Detection. CVPR, 2019, pp. 9584–9592. https://doi.org/10.1109/CVPR.2019.00982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cited in the main slides. Consultation material after the conclusion.</a:t>
            </a:r>
          </a:p>
          <a:p>
            <a:endParaRPr/>
          </a:p>
          <a:p>
            <a:r>
              <a:t>[16] K. Roth et al.. Towards Total Recall in Industrial Anomaly Detection. CVPR, 2022, pp. 14318–14328. https://arxiv.org/abs/2106.08265</a:t>
            </a:r>
          </a:p>
          <a:p>
            <a:endParaRPr/>
          </a:p>
          <a:p>
            <a:r>
              <a:t>[17] K. Batzner, L. Heckler and R. König. EfficientAD: Accurate Visual Anomaly Detection at Millisecond-Level Latencies. WACV, 2024, pp. 128–138. https://arxiv.org/abs/2303.14535</a:t>
            </a:r>
          </a:p>
          <a:p>
            <a:endParaRPr/>
          </a:p>
          <a:p>
            <a:r>
              <a:t>[18] B. Rolih, M. Fučka and D. Skočaj. SuperSimpleNet: Unifying Unsupervised and Supervised Learning for Fast and Reliable Surface Defect Detection. ICPR 2024, LNCS 15310, Springer, 2025, pp. 47–65. https://doi.org/10.1007/978-3-031-78192-6_4</a:t>
            </a:r>
          </a:p>
          <a:p>
            <a:endParaRPr/>
          </a:p>
          <a:p>
            <a:r>
              <a:t>[19] B. Rolih, M. Fučka and D. Skočaj. No Label Left Behind: A Unified Surface Defect Detection Model for All Supervision Regimes. Journal of Intelligent Manufacturing, vol. 37, 2026, pp. 3189–3209. https://doi.org/10.1007/s10845-025-02680-8</a:t>
            </a:r>
          </a:p>
          <a:p>
            <a:endParaRPr/>
          </a:p>
          <a:p>
            <a:r>
              <a:t>[20] P. Bonazzi et al.. TinyGLASS: Real-Time Self-Supervised In-Sensor Anomaly Detection. arXiv:2603.16451v3, 2026. Accepted at AICAS 2026. https://arxiv.org/abs/2603.16451v3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Icons by Icons8: https://icons8.com. Color-style PNG assets. Attribution follows https://icons8.com/license. Photographs, rendered observations, annotations and results are sourced from the thesis and the references cited on the relevant slides. The VisionLab logo and cover come from the user-provided presentation.</a:t>
            </a:r>
          </a:p>
          <a:p>
            <a:endParaRPr/>
          </a:p>
          <a:p>
            <a:r>
              <a:t>Icons8 artwork (Color style, PNG):</a:t>
            </a:r>
          </a:p>
          <a:p>
            <a:r>
              <a:t>https://img.icons8.com/color/96/earth-planet.png</a:t>
            </a:r>
          </a:p>
          <a:p>
            <a:r>
              <a:t>https://img.icons8.com/color/96/camera.png</a:t>
            </a:r>
          </a:p>
          <a:p>
            <a:r>
              <a:t>https://img.icons8.com/color/96/processor.png</a:t>
            </a:r>
          </a:p>
          <a:p>
            <a:r>
              <a:t>https://img.icons8.com/color/96/database.png</a:t>
            </a:r>
          </a:p>
          <a:p>
            <a:r>
              <a:t>https://img.icons8.com/color/96/inspection.png</a:t>
            </a:r>
          </a:p>
          <a:p>
            <a:r>
              <a:t>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reference slide, outside the main spoken presentation. All twelve pictures are original thesis renders from Chapter 3. The repeated normal baseline is intentional: it represents the dusty lighting preset, no additional wear and overhead pose A. Lighting and wear figure comparisons keep camera and wheel orientation fixed; the camera figure changes viewpoint with the same wheel orientation. Hole pictures illustrate generated geometry categories, not mechanical health. Hole-length ranges are small 2.7–4.1 cm, medium 4.4–6.8 cm, large 7.3–11.6 cm. Their 50/40/10% shares refer to the 1,250 anomalous images (625/500/125), while lighting, wear and camera shares refer to all 10,000 images. Apparent image size also depends on viewpoint. Source figures: thesis Chapter 3, Domain Randomization and Synthetic Damage Generation. Final dataset distributions (all 10,000 images): dusty 7,500 (75%), clear 2,500 (25%). No added wear 2,000 (20%), light wear 4,500 (45%), evident wear 3,500 (35%). Camera A overhead 4,000 (40%), C1 leading three-quarter 2,750 (27.5%), C2 trailing three-quarter 2,750 (27.5%), D upper detail 500 (5%). Frequencies were checked directly against the final samples.csv and the thesis Chapter 3 category-distribution table. The clear/dusty presets also change deposited dust and camera response. Small continuous lighting and camera jitter is applied within categories; the percentages describe categorical frequencies, not jitter magnitudes.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322513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material. Optional explanation: approximately 45 seconds, outside the main 15-minute talk.</a:t>
            </a:r>
          </a:p>
          <a:p>
            <a:endParaRPr/>
          </a:p>
          <a:p>
            <a:r>
              <a:t>The exploratory loss comparison uses the highest-validation-mIoU checkpoint from each run. Adding Generalized Dice Loss to cross-entropy increases approximate test mIoU from 69.2 to 75.5% for SegFormer-B0 and from 59.5 to 64.5% for U-Net ResNet34. The combined objective gives equal coefficients to CE and GDL and uses inverse-square Dice weights. A separate U-Net comparison reaches 64.5% with inverse-square weights, 57.2% with inverse-volume weights and 62.2% with uniform weights. These approximate preliminary results motivated the default configuration. Standalone GDL was unstable and has no reported numerical result. No repeated-run uncertainty is reported in these exploratory tables.</a:t>
            </a:r>
          </a:p>
          <a:p>
            <a:endParaRPr/>
          </a:p>
          <a:p>
            <a:r>
              <a:t>Internal source: thesis/latex/Chapters/5 Evaluation of Lightweight Scene Understanding.tex, Section 5.4.1, tables tab:s5mars-exploratory-loss-ablation and tab:s5mars-exploratory-dice-weighting. Values intentionally retain the one-decimal precision of the thesis.</a:t>
            </a:r>
          </a:p>
          <a:p>
            <a:endParaRPr/>
          </a:p>
          <a:p>
            <a:r>
              <a:t>Icons8 Color artwork: https://img.icons8.com/color/96/learning.png. 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material. Optional explanation: approximately 45 seconds, outside the main 15-minute talk.</a:t>
            </a:r>
          </a:p>
          <a:p>
            <a:endParaRPr/>
          </a:p>
          <a:p>
            <a:r>
              <a:t>All four SegFormer-B0 runs use CE + GDL and choose the checkpoint with highest validation mIoU. The default uses standard sampling, inverse-square Dice weights and no augmentation, reaching 80.28% validation and 75.55% test mIoU. Horizontal and vertical flips with random right-angle rotations reduce the scores to 73.99% and 66.86%. Oversampling with inverse-square weights reaches 70.64% and 71.02%. Uniform Dice weights partly recover the oversampled run to 79.28% and 72.90%, still below the default on both splits. Augmentation is disabled in both oversampling runs. The tests support the selected default for these policies and runs, rather than a general conclusion about augmentation or class balancing. Validation and test distributions remain unchanged.</a:t>
            </a:r>
          </a:p>
          <a:p>
            <a:endParaRPr/>
          </a:p>
          <a:p>
            <a:r>
              <a:t>Internal source: thesis/latex/Chapters/5 Evaluation of Lightweight Scene Understanding.tex, Section 5.4.3, table tab:s5mars-segformer-training-ablation. The chart transcribes all eight validation/test values and retains their two-decimal precision.</a:t>
            </a:r>
          </a:p>
          <a:p>
            <a:endParaRPr/>
          </a:p>
          <a:p>
            <a:r>
              <a:t>Icons8 Color artwork: https://img.icons8.com/color/96/settings.png. Attribution and terms: https://icons8.com/license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F803789-FAE9-AE5F-D149-3256DF9141E0}"/>
              </a:ext>
            </a:extLst>
          </p:cNvPr>
          <p:cNvSpPr>
            <a:spLocks noGrp="1"/>
          </p:cNvSpPr>
          <p:nvPr>
            <p:ph type="ctrTitle"/>
          </p:nvPr>
        </p:nvSpPr>
        <p:spPr>
          <a:xfrm>
            <a:off x="1524000" y="1122363"/>
            <a:ext cx="9144000" cy="2387600"/>
          </a:xfrm>
        </p:spPr>
        <p:txBody>
          <a:bodyPr anchor="b"/>
          <a:lstStyle>
            <a:lvl1pPr algn="ctr">
              <a:buNone/>
              <a:defRPr sz="6000"/>
            </a:lvl1pPr>
          </a:lstStyle>
          <a:p>
            <a:r>
              <a:t>Fare clic per modificare lo stile del titolo dello schema</a:t>
            </a:r>
          </a:p>
        </p:txBody>
      </p:sp>
      <p:sp>
        <p:nvSpPr>
          <p:cNvPr id="3" name="Sottotitolo 2">
            <a:extLst>
              <a:ext uri="{FF2B5EF4-FFF2-40B4-BE49-F238E27FC236}">
                <a16:creationId xmlns:a16="http://schemas.microsoft.com/office/drawing/2014/main" id="{BC36B48D-A499-6D9B-42D3-F50BA2FF77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Fare clic per modificare lo stile del sottotitolo dello schema</a:t>
            </a:r>
          </a:p>
        </p:txBody>
      </p:sp>
      <p:sp>
        <p:nvSpPr>
          <p:cNvPr id="4" name="Segnaposto data 3">
            <a:extLst>
              <a:ext uri="{FF2B5EF4-FFF2-40B4-BE49-F238E27FC236}">
                <a16:creationId xmlns:a16="http://schemas.microsoft.com/office/drawing/2014/main" id="{A6F88E66-1BB0-C228-8C64-9FEA351E50C1}"/>
              </a:ext>
            </a:extLst>
          </p:cNvPr>
          <p:cNvSpPr>
            <a:spLocks noGrp="1"/>
          </p:cNvSpPr>
          <p:nvPr>
            <p:ph type="dt" idx="10"/>
          </p:nvPr>
        </p:nvSpPr>
        <p:spPr/>
        <p:txBody>
          <a:bodyPr/>
          <a:lstStyle/>
          <a:p>
            <a:fld id="{79A8DD84-C996-4DFC-A6C4-7C5817C05F19}" type="datetimeFigureOut">
              <a:t>18/10/2026</a:t>
            </a:fld>
            <a:endParaRPr/>
          </a:p>
        </p:txBody>
      </p:sp>
      <p:sp>
        <p:nvSpPr>
          <p:cNvPr id="5" name="Segnaposto piè di pagina 4">
            <a:extLst>
              <a:ext uri="{FF2B5EF4-FFF2-40B4-BE49-F238E27FC236}">
                <a16:creationId xmlns:a16="http://schemas.microsoft.com/office/drawing/2014/main" id="{2486D332-8FF2-D84A-E2CB-2C81A93D1447}"/>
              </a:ext>
            </a:extLst>
          </p:cNvPr>
          <p:cNvSpPr>
            <a:spLocks noGrp="1"/>
          </p:cNvSpPr>
          <p:nvPr>
            <p:ph type="ftr" idx="11"/>
          </p:nvPr>
        </p:nvSpPr>
        <p:spPr/>
        <p:txBody>
          <a:bodyPr/>
          <a:lstStyle/>
          <a:p>
            <a:endParaRPr/>
          </a:p>
        </p:txBody>
      </p:sp>
      <p:sp>
        <p:nvSpPr>
          <p:cNvPr id="6" name="Segnaposto numero diapositiva 5">
            <a:extLst>
              <a:ext uri="{FF2B5EF4-FFF2-40B4-BE49-F238E27FC236}">
                <a16:creationId xmlns:a16="http://schemas.microsoft.com/office/drawing/2014/main" id="{154B3687-79F3-A13F-A26B-1C87C3B8AFAA}"/>
              </a:ext>
            </a:extLst>
          </p:cNvPr>
          <p:cNvSpPr>
            <a:spLocks noGrp="1"/>
          </p:cNvSpPr>
          <p:nvPr>
            <p:ph type="sldNum" idx="12"/>
          </p:nvPr>
        </p:nvSpPr>
        <p:spPr/>
        <p:txBody>
          <a:bodyPr/>
          <a:lstStyle/>
          <a:p>
            <a:fld id="{F6BC9DE0-E148-4F27-888A-35D29D0A8254}" type="slidenum">
              <a:t>‹N›</a:t>
            </a:fld>
            <a:endParaRPr/>
          </a:p>
        </p:txBody>
      </p:sp>
      <p:sp>
        <p:nvSpPr>
          <p:cNvPr id="9" name="Rettangolo 8">
            <a:extLst>
              <a:ext uri="{FF2B5EF4-FFF2-40B4-BE49-F238E27FC236}">
                <a16:creationId xmlns:a16="http://schemas.microsoft.com/office/drawing/2014/main" id="{E4DE5787-B0C3-9C56-C213-8B1D226F51A3}"/>
              </a:ext>
            </a:extLst>
          </p:cNvPr>
          <p:cNvSpPr>
            <a:spLocks noGrp="1"/>
          </p:cNvSpPr>
          <p:nvPr/>
        </p:nvSpPr>
        <p:spPr>
          <a:xfrm>
            <a:off x="10938617" y="68366"/>
            <a:ext cx="1153682" cy="1145137"/>
          </a:xfrm>
          <a:prstGeom prst="rect">
            <a:avLst/>
          </a:prstGeom>
          <a:ln>
            <a:noFill/>
          </a:ln>
        </p:spPr>
        <p:style>
          <a:lnRef idx="2">
            <a:schemeClr val="dk1"/>
          </a:lnRef>
          <a:fillRef idx="1">
            <a:schemeClr val="lt1"/>
          </a:fillRef>
          <a:effectRef idx="0">
            <a:schemeClr val="dk1"/>
          </a:effectRef>
          <a:fontRef idx="minor">
            <a:schemeClr val="dk1"/>
          </a:fontRef>
        </p:style>
        <p:txBody>
          <a:bodyPr anchor="ctr"/>
          <a:lstStyle/>
          <a:p>
            <a:pPr algn="ctr">
              <a:buNone/>
            </a:pPr>
            <a:endParaRPr/>
          </a:p>
        </p:txBody>
      </p:sp>
      <p:pic>
        <p:nvPicPr>
          <p:cNvPr id="7" name="Immagine 6">
            <a:extLst>
              <a:ext uri="{FF2B5EF4-FFF2-40B4-BE49-F238E27FC236}">
                <a16:creationId xmlns:a16="http://schemas.microsoft.com/office/drawing/2014/main" id="{7B38E36C-9934-42DE-B42B-2AAE77489D66}"/>
              </a:ext>
            </a:extLst>
          </p:cNvPr>
          <p:cNvPicPr>
            <a:picLocks noChangeAspect="1"/>
          </p:cNvPicPr>
          <p:nvPr/>
        </p:nvPicPr>
        <p:blipFill>
          <a:blip r:embed="rId2"/>
          <a:stretch>
            <a:fillRect/>
          </a:stretch>
        </p:blipFill>
        <p:spPr>
          <a:xfrm>
            <a:off x="5611118" y="5322193"/>
            <a:ext cx="969764" cy="96976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olo e contenuto">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B1D697E-21B5-1000-78EF-4B3ACD5CD864}"/>
              </a:ext>
            </a:extLst>
          </p:cNvPr>
          <p:cNvSpPr>
            <a:spLocks noGrp="1"/>
          </p:cNvSpPr>
          <p:nvPr>
            <p:ph type="title"/>
          </p:nvPr>
        </p:nvSpPr>
        <p:spPr>
          <a:xfrm>
            <a:off x="831850" y="1709738"/>
            <a:ext cx="10515600" cy="2852737"/>
          </a:xfrm>
        </p:spPr>
        <p:txBody>
          <a:bodyPr anchor="b"/>
          <a:lstStyle>
            <a:lvl1pPr>
              <a:buNone/>
              <a:defRPr sz="6000"/>
            </a:lvl1pPr>
          </a:lstStyle>
          <a:p>
            <a:r>
              <a:t>Fare clic per modificare lo stile del titolo dello schema</a:t>
            </a:r>
          </a:p>
        </p:txBody>
      </p:sp>
      <p:sp>
        <p:nvSpPr>
          <p:cNvPr id="3" name="Segnaposto testo 2">
            <a:extLst>
              <a:ext uri="{FF2B5EF4-FFF2-40B4-BE49-F238E27FC236}">
                <a16:creationId xmlns:a16="http://schemas.microsoft.com/office/drawing/2014/main" id="{3812CEF4-17FB-B235-08C1-23524B552A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Fare clic per modificare gli stili del testo dello schema</a:t>
            </a:r>
          </a:p>
        </p:txBody>
      </p:sp>
      <p:sp>
        <p:nvSpPr>
          <p:cNvPr id="4" name="Segnaposto data 3">
            <a:extLst>
              <a:ext uri="{FF2B5EF4-FFF2-40B4-BE49-F238E27FC236}">
                <a16:creationId xmlns:a16="http://schemas.microsoft.com/office/drawing/2014/main" id="{CC4A0313-0298-1377-47B1-B5F20B24602F}"/>
              </a:ext>
            </a:extLst>
          </p:cNvPr>
          <p:cNvSpPr>
            <a:spLocks noGrp="1"/>
          </p:cNvSpPr>
          <p:nvPr>
            <p:ph type="dt" idx="10"/>
          </p:nvPr>
        </p:nvSpPr>
        <p:spPr/>
        <p:txBody>
          <a:bodyPr/>
          <a:lstStyle/>
          <a:p>
            <a:fld id="{79A8DD84-C996-4DFC-A6C4-7C5817C05F19}" type="datetimeFigureOut">
              <a:t>18/10/2026</a:t>
            </a:fld>
            <a:endParaRPr/>
          </a:p>
        </p:txBody>
      </p:sp>
      <p:sp>
        <p:nvSpPr>
          <p:cNvPr id="5" name="Segnaposto piè di pagina 4">
            <a:extLst>
              <a:ext uri="{FF2B5EF4-FFF2-40B4-BE49-F238E27FC236}">
                <a16:creationId xmlns:a16="http://schemas.microsoft.com/office/drawing/2014/main" id="{4A9ABFBA-FFEB-FB63-FB52-7A183CD3312B}"/>
              </a:ext>
            </a:extLst>
          </p:cNvPr>
          <p:cNvSpPr>
            <a:spLocks noGrp="1"/>
          </p:cNvSpPr>
          <p:nvPr>
            <p:ph type="ftr" idx="11"/>
          </p:nvPr>
        </p:nvSpPr>
        <p:spPr/>
        <p:txBody>
          <a:bodyPr/>
          <a:lstStyle/>
          <a:p>
            <a:endParaRPr/>
          </a:p>
        </p:txBody>
      </p:sp>
      <p:sp>
        <p:nvSpPr>
          <p:cNvPr id="6" name="Segnaposto numero diapositiva 5">
            <a:extLst>
              <a:ext uri="{FF2B5EF4-FFF2-40B4-BE49-F238E27FC236}">
                <a16:creationId xmlns:a16="http://schemas.microsoft.com/office/drawing/2014/main" id="{1E7B181C-3C54-EFD2-F1F5-95C0D20EEB2F}"/>
              </a:ext>
            </a:extLst>
          </p:cNvPr>
          <p:cNvSpPr>
            <a:spLocks noGrp="1"/>
          </p:cNvSpPr>
          <p:nvPr>
            <p:ph type="sldNum" idx="12"/>
          </p:nvPr>
        </p:nvSpPr>
        <p:spPr/>
        <p:txBody>
          <a:bodyPr/>
          <a:lstStyle/>
          <a:p>
            <a:fld id="{F6BC9DE0-E148-4F27-888A-35D29D0A8254}" type="slidenum">
              <a:t>‹N›</a:t>
            </a:fld>
            <a:endParaRPr/>
          </a:p>
        </p:txBody>
      </p:sp>
      <p:sp>
        <p:nvSpPr>
          <p:cNvPr id="7" name="Rettangolo 6">
            <a:extLst>
              <a:ext uri="{FF2B5EF4-FFF2-40B4-BE49-F238E27FC236}">
                <a16:creationId xmlns:a16="http://schemas.microsoft.com/office/drawing/2014/main" id="{95B49CF1-81D8-D18F-93BB-B1AB52586C7C}"/>
              </a:ext>
            </a:extLst>
          </p:cNvPr>
          <p:cNvSpPr>
            <a:spLocks noGrp="1"/>
          </p:cNvSpPr>
          <p:nvPr/>
        </p:nvSpPr>
        <p:spPr>
          <a:xfrm>
            <a:off x="10938617" y="68366"/>
            <a:ext cx="1153682" cy="1145137"/>
          </a:xfrm>
          <a:prstGeom prst="rect">
            <a:avLst/>
          </a:prstGeom>
          <a:ln>
            <a:noFill/>
          </a:ln>
        </p:spPr>
        <p:style>
          <a:lnRef idx="2">
            <a:schemeClr val="dk1"/>
          </a:lnRef>
          <a:fillRef idx="1">
            <a:schemeClr val="lt1"/>
          </a:fillRef>
          <a:effectRef idx="0">
            <a:schemeClr val="dk1"/>
          </a:effectRef>
          <a:fontRef idx="minor">
            <a:schemeClr val="dk1"/>
          </a:fontRef>
        </p:style>
        <p:txBody>
          <a:bodyPr anchor="ctr"/>
          <a:lstStyle/>
          <a:p>
            <a:pPr algn="ctr">
              <a:buNone/>
            </a:pPr>
            <a:endParaRPr/>
          </a:p>
        </p:txBody>
      </p:sp>
      <p:pic>
        <p:nvPicPr>
          <p:cNvPr id="10" name="Immagine 9">
            <a:extLst>
              <a:ext uri="{FF2B5EF4-FFF2-40B4-BE49-F238E27FC236}">
                <a16:creationId xmlns:a16="http://schemas.microsoft.com/office/drawing/2014/main" id="{21D0011B-EE0E-4DBE-9B4A-22E398504AA4}"/>
              </a:ext>
            </a:extLst>
          </p:cNvPr>
          <p:cNvPicPr>
            <a:picLocks noChangeAspect="1"/>
          </p:cNvPicPr>
          <p:nvPr/>
        </p:nvPicPr>
        <p:blipFill>
          <a:blip r:embed="rId2"/>
          <a:stretch>
            <a:fillRect/>
          </a:stretch>
        </p:blipFill>
        <p:spPr>
          <a:xfrm>
            <a:off x="5611118" y="156052"/>
            <a:ext cx="969764" cy="96976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3A99D72-CA11-3389-C4A3-05808F01F9FC}"/>
              </a:ext>
            </a:extLst>
          </p:cNvPr>
          <p:cNvSpPr>
            <a:spLocks noGrp="1"/>
          </p:cNvSpPr>
          <p:nvPr>
            <p:ph type="title"/>
          </p:nvPr>
        </p:nvSpPr>
        <p:spPr/>
        <p:txBody>
          <a:bodyPr/>
          <a:lstStyle/>
          <a:p>
            <a:r>
              <a:t>Fare clic per modificare lo stile del titolo dello schema</a:t>
            </a:r>
          </a:p>
        </p:txBody>
      </p:sp>
      <p:sp>
        <p:nvSpPr>
          <p:cNvPr id="3" name="Segnaposto contenuto 2">
            <a:extLst>
              <a:ext uri="{FF2B5EF4-FFF2-40B4-BE49-F238E27FC236}">
                <a16:creationId xmlns:a16="http://schemas.microsoft.com/office/drawing/2014/main" id="{FD8BE8CD-CFBF-788D-048C-6E627945DA03}"/>
              </a:ext>
            </a:extLst>
          </p:cNvPr>
          <p:cNvSpPr>
            <a:spLocks noGrp="1"/>
          </p:cNvSpPr>
          <p:nvPr>
            <p:ph idx="1"/>
          </p:nvPr>
        </p:nvSpPr>
        <p:spPr>
          <a:xfrm>
            <a:off x="838200" y="1825625"/>
            <a:ext cx="5181600" cy="4351338"/>
          </a:xfrm>
        </p:spPr>
        <p:txBody>
          <a:body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4" name="Segnaposto contenuto 3">
            <a:extLst>
              <a:ext uri="{FF2B5EF4-FFF2-40B4-BE49-F238E27FC236}">
                <a16:creationId xmlns:a16="http://schemas.microsoft.com/office/drawing/2014/main" id="{8ECF094A-0AD8-118A-5A5F-2BBBA770C48D}"/>
              </a:ext>
            </a:extLst>
          </p:cNvPr>
          <p:cNvSpPr>
            <a:spLocks noGrp="1"/>
          </p:cNvSpPr>
          <p:nvPr>
            <p:ph idx="2"/>
          </p:nvPr>
        </p:nvSpPr>
        <p:spPr>
          <a:xfrm>
            <a:off x="6172200" y="1825625"/>
            <a:ext cx="5181600" cy="4351338"/>
          </a:xfrm>
        </p:spPr>
        <p:txBody>
          <a:body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5" name="Segnaposto data 4">
            <a:extLst>
              <a:ext uri="{FF2B5EF4-FFF2-40B4-BE49-F238E27FC236}">
                <a16:creationId xmlns:a16="http://schemas.microsoft.com/office/drawing/2014/main" id="{9096324B-A6ED-6C5C-45F5-F6534A8EDBEA}"/>
              </a:ext>
            </a:extLst>
          </p:cNvPr>
          <p:cNvSpPr>
            <a:spLocks noGrp="1"/>
          </p:cNvSpPr>
          <p:nvPr>
            <p:ph type="dt" idx="10"/>
          </p:nvPr>
        </p:nvSpPr>
        <p:spPr/>
        <p:txBody>
          <a:bodyPr/>
          <a:lstStyle/>
          <a:p>
            <a:fld id="{79A8DD84-C996-4DFC-A6C4-7C5817C05F19}" type="datetimeFigureOut">
              <a:t>18/10/2026</a:t>
            </a:fld>
            <a:endParaRPr/>
          </a:p>
        </p:txBody>
      </p:sp>
      <p:sp>
        <p:nvSpPr>
          <p:cNvPr id="6" name="Segnaposto piè di pagina 5">
            <a:extLst>
              <a:ext uri="{FF2B5EF4-FFF2-40B4-BE49-F238E27FC236}">
                <a16:creationId xmlns:a16="http://schemas.microsoft.com/office/drawing/2014/main" id="{EF3AAECC-D6F8-D811-47C2-817A1745C4BF}"/>
              </a:ext>
            </a:extLst>
          </p:cNvPr>
          <p:cNvSpPr>
            <a:spLocks noGrp="1"/>
          </p:cNvSpPr>
          <p:nvPr>
            <p:ph type="ftr" idx="11"/>
          </p:nvPr>
        </p:nvSpPr>
        <p:spPr/>
        <p:txBody>
          <a:bodyPr/>
          <a:lstStyle/>
          <a:p>
            <a:endParaRPr/>
          </a:p>
        </p:txBody>
      </p:sp>
      <p:sp>
        <p:nvSpPr>
          <p:cNvPr id="7" name="Segnaposto numero diapositiva 6">
            <a:extLst>
              <a:ext uri="{FF2B5EF4-FFF2-40B4-BE49-F238E27FC236}">
                <a16:creationId xmlns:a16="http://schemas.microsoft.com/office/drawing/2014/main" id="{BDD2689F-0EF0-256D-67D0-F67F8B2DB49D}"/>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0BF4958-39EE-101C-CCB9-38505F5D46CB}"/>
              </a:ext>
            </a:extLst>
          </p:cNvPr>
          <p:cNvSpPr>
            <a:spLocks noGrp="1"/>
          </p:cNvSpPr>
          <p:nvPr>
            <p:ph type="title"/>
          </p:nvPr>
        </p:nvSpPr>
        <p:spPr>
          <a:xfrm>
            <a:off x="839788" y="365125"/>
            <a:ext cx="8478383" cy="1325563"/>
          </a:xfrm>
        </p:spPr>
        <p:txBody>
          <a:bodyPr/>
          <a:lstStyle/>
          <a:p>
            <a:r>
              <a:t>Fare clic per modificare lo stile del titolo dello schema</a:t>
            </a:r>
          </a:p>
        </p:txBody>
      </p:sp>
      <p:sp>
        <p:nvSpPr>
          <p:cNvPr id="3" name="Segnaposto testo 2">
            <a:extLst>
              <a:ext uri="{FF2B5EF4-FFF2-40B4-BE49-F238E27FC236}">
                <a16:creationId xmlns:a16="http://schemas.microsoft.com/office/drawing/2014/main" id="{FF6A501A-F474-9F9A-AD00-6351FF50FB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Fare clic per modificare gli stili del testo dello schema</a:t>
            </a:r>
          </a:p>
        </p:txBody>
      </p:sp>
      <p:sp>
        <p:nvSpPr>
          <p:cNvPr id="4" name="Segnaposto contenuto 3">
            <a:extLst>
              <a:ext uri="{FF2B5EF4-FFF2-40B4-BE49-F238E27FC236}">
                <a16:creationId xmlns:a16="http://schemas.microsoft.com/office/drawing/2014/main" id="{4DF36407-53B3-8A58-720F-D63BD3F3805E}"/>
              </a:ext>
            </a:extLst>
          </p:cNvPr>
          <p:cNvSpPr>
            <a:spLocks noGrp="1"/>
          </p:cNvSpPr>
          <p:nvPr>
            <p:ph idx="2"/>
          </p:nvPr>
        </p:nvSpPr>
        <p:spPr>
          <a:xfrm>
            <a:off x="839788" y="2505075"/>
            <a:ext cx="5157787" cy="3684588"/>
          </a:xfrm>
        </p:spPr>
        <p:txBody>
          <a:body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5" name="Segnaposto testo 4">
            <a:extLst>
              <a:ext uri="{FF2B5EF4-FFF2-40B4-BE49-F238E27FC236}">
                <a16:creationId xmlns:a16="http://schemas.microsoft.com/office/drawing/2014/main" id="{50CE85B8-DB21-8BE8-3B07-85429916EEA1}"/>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Fare clic per modificare gli stili del testo dello schema</a:t>
            </a:r>
          </a:p>
        </p:txBody>
      </p:sp>
      <p:sp>
        <p:nvSpPr>
          <p:cNvPr id="6" name="Segnaposto contenuto 5">
            <a:extLst>
              <a:ext uri="{FF2B5EF4-FFF2-40B4-BE49-F238E27FC236}">
                <a16:creationId xmlns:a16="http://schemas.microsoft.com/office/drawing/2014/main" id="{FDACF0FB-80C3-8913-D169-E7E322010910}"/>
              </a:ext>
            </a:extLst>
          </p:cNvPr>
          <p:cNvSpPr>
            <a:spLocks noGrp="1"/>
          </p:cNvSpPr>
          <p:nvPr>
            <p:ph idx="4"/>
          </p:nvPr>
        </p:nvSpPr>
        <p:spPr>
          <a:xfrm>
            <a:off x="6172200" y="2505075"/>
            <a:ext cx="5183188" cy="3684588"/>
          </a:xfrm>
        </p:spPr>
        <p:txBody>
          <a:body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7" name="Segnaposto data 6">
            <a:extLst>
              <a:ext uri="{FF2B5EF4-FFF2-40B4-BE49-F238E27FC236}">
                <a16:creationId xmlns:a16="http://schemas.microsoft.com/office/drawing/2014/main" id="{90D540B9-2A9E-CB1D-AB07-1CD8B277A533}"/>
              </a:ext>
            </a:extLst>
          </p:cNvPr>
          <p:cNvSpPr>
            <a:spLocks noGrp="1"/>
          </p:cNvSpPr>
          <p:nvPr>
            <p:ph type="dt" idx="10"/>
          </p:nvPr>
        </p:nvSpPr>
        <p:spPr/>
        <p:txBody>
          <a:bodyPr/>
          <a:lstStyle/>
          <a:p>
            <a:fld id="{79A8DD84-C996-4DFC-A6C4-7C5817C05F19}" type="datetimeFigureOut">
              <a:t>18/10/2026</a:t>
            </a:fld>
            <a:endParaRPr/>
          </a:p>
        </p:txBody>
      </p:sp>
      <p:sp>
        <p:nvSpPr>
          <p:cNvPr id="8" name="Segnaposto piè di pagina 7">
            <a:extLst>
              <a:ext uri="{FF2B5EF4-FFF2-40B4-BE49-F238E27FC236}">
                <a16:creationId xmlns:a16="http://schemas.microsoft.com/office/drawing/2014/main" id="{5EB473A4-1A5D-100C-EA7B-D0F10495EC5C}"/>
              </a:ext>
            </a:extLst>
          </p:cNvPr>
          <p:cNvSpPr>
            <a:spLocks noGrp="1"/>
          </p:cNvSpPr>
          <p:nvPr>
            <p:ph type="ftr" idx="11"/>
          </p:nvPr>
        </p:nvSpPr>
        <p:spPr/>
        <p:txBody>
          <a:bodyPr/>
          <a:lstStyle/>
          <a:p>
            <a:endParaRPr/>
          </a:p>
        </p:txBody>
      </p:sp>
      <p:sp>
        <p:nvSpPr>
          <p:cNvPr id="9" name="Segnaposto numero diapositiva 8">
            <a:extLst>
              <a:ext uri="{FF2B5EF4-FFF2-40B4-BE49-F238E27FC236}">
                <a16:creationId xmlns:a16="http://schemas.microsoft.com/office/drawing/2014/main" id="{4CF45C13-8344-AF21-0AB7-1E553E903179}"/>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BC0E6F-1AB5-2269-4DB4-F107B259AA89}"/>
              </a:ext>
            </a:extLst>
          </p:cNvPr>
          <p:cNvSpPr>
            <a:spLocks noGrp="1"/>
          </p:cNvSpPr>
          <p:nvPr>
            <p:ph type="title"/>
          </p:nvPr>
        </p:nvSpPr>
        <p:spPr/>
        <p:txBody>
          <a:bodyPr/>
          <a:lstStyle/>
          <a:p>
            <a:r>
              <a:t>Fare clic per modificare lo stile del titolo dello schema</a:t>
            </a:r>
          </a:p>
        </p:txBody>
      </p:sp>
      <p:sp>
        <p:nvSpPr>
          <p:cNvPr id="3" name="Segnaposto data 2">
            <a:extLst>
              <a:ext uri="{FF2B5EF4-FFF2-40B4-BE49-F238E27FC236}">
                <a16:creationId xmlns:a16="http://schemas.microsoft.com/office/drawing/2014/main" id="{EDA4CCE2-C60D-5859-1B94-A3690983CF98}"/>
              </a:ext>
            </a:extLst>
          </p:cNvPr>
          <p:cNvSpPr>
            <a:spLocks noGrp="1"/>
          </p:cNvSpPr>
          <p:nvPr>
            <p:ph type="dt" idx="10"/>
          </p:nvPr>
        </p:nvSpPr>
        <p:spPr/>
        <p:txBody>
          <a:bodyPr/>
          <a:lstStyle/>
          <a:p>
            <a:fld id="{79A8DD84-C996-4DFC-A6C4-7C5817C05F19}" type="datetimeFigureOut">
              <a:t>18/10/2026</a:t>
            </a:fld>
            <a:endParaRPr/>
          </a:p>
        </p:txBody>
      </p:sp>
      <p:sp>
        <p:nvSpPr>
          <p:cNvPr id="4" name="Segnaposto piè di pagina 3">
            <a:extLst>
              <a:ext uri="{FF2B5EF4-FFF2-40B4-BE49-F238E27FC236}">
                <a16:creationId xmlns:a16="http://schemas.microsoft.com/office/drawing/2014/main" id="{7770B1B2-CD1D-2504-DF02-2F5F8557C374}"/>
              </a:ext>
            </a:extLst>
          </p:cNvPr>
          <p:cNvSpPr>
            <a:spLocks noGrp="1"/>
          </p:cNvSpPr>
          <p:nvPr>
            <p:ph type="ftr" idx="11"/>
          </p:nvPr>
        </p:nvSpPr>
        <p:spPr/>
        <p:txBody>
          <a:bodyPr/>
          <a:lstStyle/>
          <a:p>
            <a:endParaRPr/>
          </a:p>
        </p:txBody>
      </p:sp>
      <p:sp>
        <p:nvSpPr>
          <p:cNvPr id="5" name="Segnaposto numero diapositiva 4">
            <a:extLst>
              <a:ext uri="{FF2B5EF4-FFF2-40B4-BE49-F238E27FC236}">
                <a16:creationId xmlns:a16="http://schemas.microsoft.com/office/drawing/2014/main" id="{B7879D81-A00C-5E90-ADAE-AF1FD0C13F6A}"/>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DF40DD6-905A-20F5-B57A-190C04CED086}"/>
              </a:ext>
            </a:extLst>
          </p:cNvPr>
          <p:cNvSpPr>
            <a:spLocks noGrp="1"/>
          </p:cNvSpPr>
          <p:nvPr>
            <p:ph type="dt" idx="10"/>
          </p:nvPr>
        </p:nvSpPr>
        <p:spPr/>
        <p:txBody>
          <a:bodyPr/>
          <a:lstStyle/>
          <a:p>
            <a:fld id="{79A8DD84-C996-4DFC-A6C4-7C5817C05F19}" type="datetimeFigureOut">
              <a:t>18/10/2026</a:t>
            </a:fld>
            <a:endParaRPr/>
          </a:p>
        </p:txBody>
      </p:sp>
      <p:sp>
        <p:nvSpPr>
          <p:cNvPr id="3" name="Segnaposto piè di pagina 2">
            <a:extLst>
              <a:ext uri="{FF2B5EF4-FFF2-40B4-BE49-F238E27FC236}">
                <a16:creationId xmlns:a16="http://schemas.microsoft.com/office/drawing/2014/main" id="{35E58C8C-4759-000A-C7C3-3B7E8F622502}"/>
              </a:ext>
            </a:extLst>
          </p:cNvPr>
          <p:cNvSpPr>
            <a:spLocks noGrp="1"/>
          </p:cNvSpPr>
          <p:nvPr>
            <p:ph type="ftr" idx="11"/>
          </p:nvPr>
        </p:nvSpPr>
        <p:spPr/>
        <p:txBody>
          <a:bodyPr/>
          <a:lstStyle/>
          <a:p>
            <a:endParaRPr/>
          </a:p>
        </p:txBody>
      </p:sp>
      <p:sp>
        <p:nvSpPr>
          <p:cNvPr id="4" name="Segnaposto numero diapositiva 3">
            <a:extLst>
              <a:ext uri="{FF2B5EF4-FFF2-40B4-BE49-F238E27FC236}">
                <a16:creationId xmlns:a16="http://schemas.microsoft.com/office/drawing/2014/main" id="{B43FC90F-6229-5816-E211-B7EF3D86A197}"/>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4C02A9-1669-E800-77AA-97376C1DDB3F}"/>
              </a:ext>
            </a:extLst>
          </p:cNvPr>
          <p:cNvSpPr>
            <a:spLocks noGrp="1"/>
          </p:cNvSpPr>
          <p:nvPr>
            <p:ph type="title"/>
          </p:nvPr>
        </p:nvSpPr>
        <p:spPr>
          <a:xfrm>
            <a:off x="839788" y="457200"/>
            <a:ext cx="3932237" cy="1600200"/>
          </a:xfrm>
        </p:spPr>
        <p:txBody>
          <a:bodyPr anchor="b"/>
          <a:lstStyle>
            <a:lvl1pPr>
              <a:buNone/>
              <a:defRPr sz="3200"/>
            </a:lvl1pPr>
          </a:lstStyle>
          <a:p>
            <a:r>
              <a:t>Fare clic per modificare lo stile del titolo dello schema</a:t>
            </a:r>
          </a:p>
        </p:txBody>
      </p:sp>
      <p:sp>
        <p:nvSpPr>
          <p:cNvPr id="3" name="Segnaposto contenuto 2">
            <a:extLst>
              <a:ext uri="{FF2B5EF4-FFF2-40B4-BE49-F238E27FC236}">
                <a16:creationId xmlns:a16="http://schemas.microsoft.com/office/drawing/2014/main" id="{918BEF98-B068-A61E-D5B8-4557933C10D7}"/>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4" name="Segnaposto testo 3">
            <a:extLst>
              <a:ext uri="{FF2B5EF4-FFF2-40B4-BE49-F238E27FC236}">
                <a16:creationId xmlns:a16="http://schemas.microsoft.com/office/drawing/2014/main" id="{0242C958-5A6C-F3A1-B573-9356F4F01A0A}"/>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Fare clic per modificare gli stili del testo dello schema</a:t>
            </a:r>
          </a:p>
        </p:txBody>
      </p:sp>
      <p:sp>
        <p:nvSpPr>
          <p:cNvPr id="5" name="Segnaposto data 4">
            <a:extLst>
              <a:ext uri="{FF2B5EF4-FFF2-40B4-BE49-F238E27FC236}">
                <a16:creationId xmlns:a16="http://schemas.microsoft.com/office/drawing/2014/main" id="{1551D153-C103-17AA-3434-4DACDDB383B3}"/>
              </a:ext>
            </a:extLst>
          </p:cNvPr>
          <p:cNvSpPr>
            <a:spLocks noGrp="1"/>
          </p:cNvSpPr>
          <p:nvPr>
            <p:ph type="dt" idx="10"/>
          </p:nvPr>
        </p:nvSpPr>
        <p:spPr/>
        <p:txBody>
          <a:bodyPr/>
          <a:lstStyle/>
          <a:p>
            <a:fld id="{79A8DD84-C996-4DFC-A6C4-7C5817C05F19}" type="datetimeFigureOut">
              <a:t>18/10/2026</a:t>
            </a:fld>
            <a:endParaRPr/>
          </a:p>
        </p:txBody>
      </p:sp>
      <p:sp>
        <p:nvSpPr>
          <p:cNvPr id="6" name="Segnaposto piè di pagina 5">
            <a:extLst>
              <a:ext uri="{FF2B5EF4-FFF2-40B4-BE49-F238E27FC236}">
                <a16:creationId xmlns:a16="http://schemas.microsoft.com/office/drawing/2014/main" id="{E48790FD-852A-D077-B247-87F825C8C068}"/>
              </a:ext>
            </a:extLst>
          </p:cNvPr>
          <p:cNvSpPr>
            <a:spLocks noGrp="1"/>
          </p:cNvSpPr>
          <p:nvPr>
            <p:ph type="ftr" idx="11"/>
          </p:nvPr>
        </p:nvSpPr>
        <p:spPr/>
        <p:txBody>
          <a:bodyPr/>
          <a:lstStyle/>
          <a:p>
            <a:endParaRPr/>
          </a:p>
        </p:txBody>
      </p:sp>
      <p:sp>
        <p:nvSpPr>
          <p:cNvPr id="7" name="Segnaposto numero diapositiva 6">
            <a:extLst>
              <a:ext uri="{FF2B5EF4-FFF2-40B4-BE49-F238E27FC236}">
                <a16:creationId xmlns:a16="http://schemas.microsoft.com/office/drawing/2014/main" id="{9BE65289-4B7C-6539-7CFF-5E0ED20D11B4}"/>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DF4F45-9948-E60D-7EB6-990A66FCEA6C}"/>
              </a:ext>
            </a:extLst>
          </p:cNvPr>
          <p:cNvSpPr>
            <a:spLocks noGrp="1"/>
          </p:cNvSpPr>
          <p:nvPr>
            <p:ph type="title"/>
          </p:nvPr>
        </p:nvSpPr>
        <p:spPr>
          <a:xfrm>
            <a:off x="839788" y="457200"/>
            <a:ext cx="3932237" cy="1600200"/>
          </a:xfrm>
        </p:spPr>
        <p:txBody>
          <a:bodyPr anchor="b"/>
          <a:lstStyle>
            <a:lvl1pPr>
              <a:buNone/>
              <a:defRPr sz="3200"/>
            </a:lvl1pPr>
          </a:lstStyle>
          <a:p>
            <a:r>
              <a:t>Fare clic per modificare lo stile del titolo dello schema</a:t>
            </a:r>
          </a:p>
        </p:txBody>
      </p:sp>
      <p:sp>
        <p:nvSpPr>
          <p:cNvPr id="3" name="Segnaposto immagine 2">
            <a:extLst>
              <a:ext uri="{FF2B5EF4-FFF2-40B4-BE49-F238E27FC236}">
                <a16:creationId xmlns:a16="http://schemas.microsoft.com/office/drawing/2014/main" id="{FFC80E67-55C5-5534-23CC-172522A3E7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Segnaposto testo 3">
            <a:extLst>
              <a:ext uri="{FF2B5EF4-FFF2-40B4-BE49-F238E27FC236}">
                <a16:creationId xmlns:a16="http://schemas.microsoft.com/office/drawing/2014/main" id="{7C131917-E449-3A79-2FA7-6F05DBABBAED}"/>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Fare clic per modificare gli stili del testo dello schema</a:t>
            </a:r>
          </a:p>
        </p:txBody>
      </p:sp>
      <p:sp>
        <p:nvSpPr>
          <p:cNvPr id="5" name="Segnaposto data 4">
            <a:extLst>
              <a:ext uri="{FF2B5EF4-FFF2-40B4-BE49-F238E27FC236}">
                <a16:creationId xmlns:a16="http://schemas.microsoft.com/office/drawing/2014/main" id="{262198FA-7549-8435-0AE1-1D52FC5848D1}"/>
              </a:ext>
            </a:extLst>
          </p:cNvPr>
          <p:cNvSpPr>
            <a:spLocks noGrp="1"/>
          </p:cNvSpPr>
          <p:nvPr>
            <p:ph type="dt" idx="10"/>
          </p:nvPr>
        </p:nvSpPr>
        <p:spPr/>
        <p:txBody>
          <a:bodyPr/>
          <a:lstStyle/>
          <a:p>
            <a:fld id="{79A8DD84-C996-4DFC-A6C4-7C5817C05F19}" type="datetimeFigureOut">
              <a:t>18/10/2026</a:t>
            </a:fld>
            <a:endParaRPr/>
          </a:p>
        </p:txBody>
      </p:sp>
      <p:sp>
        <p:nvSpPr>
          <p:cNvPr id="6" name="Segnaposto piè di pagina 5">
            <a:extLst>
              <a:ext uri="{FF2B5EF4-FFF2-40B4-BE49-F238E27FC236}">
                <a16:creationId xmlns:a16="http://schemas.microsoft.com/office/drawing/2014/main" id="{17C7C673-A166-AA42-CDE7-D1159F5081BF}"/>
              </a:ext>
            </a:extLst>
          </p:cNvPr>
          <p:cNvSpPr>
            <a:spLocks noGrp="1"/>
          </p:cNvSpPr>
          <p:nvPr>
            <p:ph type="ftr" idx="11"/>
          </p:nvPr>
        </p:nvSpPr>
        <p:spPr/>
        <p:txBody>
          <a:bodyPr/>
          <a:lstStyle/>
          <a:p>
            <a:endParaRPr/>
          </a:p>
        </p:txBody>
      </p:sp>
      <p:sp>
        <p:nvSpPr>
          <p:cNvPr id="7" name="Segnaposto numero diapositiva 6">
            <a:extLst>
              <a:ext uri="{FF2B5EF4-FFF2-40B4-BE49-F238E27FC236}">
                <a16:creationId xmlns:a16="http://schemas.microsoft.com/office/drawing/2014/main" id="{DA54695C-3ADA-F079-EAAE-295E7403DD1F}"/>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3D9E4F-171B-27B6-8C6E-A7901D437023}"/>
              </a:ext>
            </a:extLst>
          </p:cNvPr>
          <p:cNvSpPr>
            <a:spLocks noGrp="1"/>
          </p:cNvSpPr>
          <p:nvPr>
            <p:ph type="title"/>
          </p:nvPr>
        </p:nvSpPr>
        <p:spPr/>
        <p:txBody>
          <a:bodyPr/>
          <a:lstStyle/>
          <a:p>
            <a:r>
              <a:t>Fare clic per modificare lo stile del titolo dello schema</a:t>
            </a:r>
          </a:p>
        </p:txBody>
      </p:sp>
      <p:sp>
        <p:nvSpPr>
          <p:cNvPr id="3" name="Segnaposto testo verticale 2">
            <a:extLst>
              <a:ext uri="{FF2B5EF4-FFF2-40B4-BE49-F238E27FC236}">
                <a16:creationId xmlns:a16="http://schemas.microsoft.com/office/drawing/2014/main" id="{A935340E-B08B-AB7E-A2B9-50E7CC3497E1}"/>
              </a:ext>
            </a:extLst>
          </p:cNvPr>
          <p:cNvSpPr>
            <a:spLocks noGrp="1"/>
          </p:cNvSpPr>
          <p:nvPr>
            <p:ph type="body" idx="1"/>
          </p:nvPr>
        </p:nvSpPr>
        <p:spPr/>
        <p:txBody>
          <a:bodyPr vert="eaVert"/>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4" name="Segnaposto data 3">
            <a:extLst>
              <a:ext uri="{FF2B5EF4-FFF2-40B4-BE49-F238E27FC236}">
                <a16:creationId xmlns:a16="http://schemas.microsoft.com/office/drawing/2014/main" id="{34E9258E-C845-3A11-BA80-25E3AFF231F8}"/>
              </a:ext>
            </a:extLst>
          </p:cNvPr>
          <p:cNvSpPr>
            <a:spLocks noGrp="1"/>
          </p:cNvSpPr>
          <p:nvPr>
            <p:ph type="dt" idx="10"/>
          </p:nvPr>
        </p:nvSpPr>
        <p:spPr/>
        <p:txBody>
          <a:bodyPr/>
          <a:lstStyle/>
          <a:p>
            <a:fld id="{79A8DD84-C996-4DFC-A6C4-7C5817C05F19}" type="datetimeFigureOut">
              <a:t>18/10/2026</a:t>
            </a:fld>
            <a:endParaRPr/>
          </a:p>
        </p:txBody>
      </p:sp>
      <p:sp>
        <p:nvSpPr>
          <p:cNvPr id="5" name="Segnaposto piè di pagina 4">
            <a:extLst>
              <a:ext uri="{FF2B5EF4-FFF2-40B4-BE49-F238E27FC236}">
                <a16:creationId xmlns:a16="http://schemas.microsoft.com/office/drawing/2014/main" id="{E2B94E76-43A8-D6DF-7418-DBD244FC8703}"/>
              </a:ext>
            </a:extLst>
          </p:cNvPr>
          <p:cNvSpPr>
            <a:spLocks noGrp="1"/>
          </p:cNvSpPr>
          <p:nvPr>
            <p:ph type="ftr" idx="11"/>
          </p:nvPr>
        </p:nvSpPr>
        <p:spPr/>
        <p:txBody>
          <a:bodyPr/>
          <a:lstStyle/>
          <a:p>
            <a:endParaRPr/>
          </a:p>
        </p:txBody>
      </p:sp>
      <p:sp>
        <p:nvSpPr>
          <p:cNvPr id="6" name="Segnaposto numero diapositiva 5">
            <a:extLst>
              <a:ext uri="{FF2B5EF4-FFF2-40B4-BE49-F238E27FC236}">
                <a16:creationId xmlns:a16="http://schemas.microsoft.com/office/drawing/2014/main" id="{1DF37EAE-02D5-2031-35AB-D79C34BDBF45}"/>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B20921E-52EE-B765-0819-45540691F6A9}"/>
              </a:ext>
            </a:extLst>
          </p:cNvPr>
          <p:cNvSpPr>
            <a:spLocks noGrp="1"/>
          </p:cNvSpPr>
          <p:nvPr>
            <p:ph type="title"/>
          </p:nvPr>
        </p:nvSpPr>
        <p:spPr>
          <a:xfrm>
            <a:off x="8724900" y="1053737"/>
            <a:ext cx="2628900" cy="5123226"/>
          </a:xfrm>
        </p:spPr>
        <p:txBody>
          <a:bodyPr vert="eaVert"/>
          <a:lstStyle/>
          <a:p>
            <a:r>
              <a:t>Fare clic per modificare lo stile del titolo dello schema</a:t>
            </a:r>
          </a:p>
        </p:txBody>
      </p:sp>
      <p:sp>
        <p:nvSpPr>
          <p:cNvPr id="3" name="Segnaposto testo verticale 2">
            <a:extLst>
              <a:ext uri="{FF2B5EF4-FFF2-40B4-BE49-F238E27FC236}">
                <a16:creationId xmlns:a16="http://schemas.microsoft.com/office/drawing/2014/main" id="{F41F3A47-FCF9-78D6-41FE-4E9712B013B9}"/>
              </a:ext>
            </a:extLst>
          </p:cNvPr>
          <p:cNvSpPr>
            <a:spLocks noGrp="1"/>
          </p:cNvSpPr>
          <p:nvPr>
            <p:ph type="body" idx="1"/>
          </p:nvPr>
        </p:nvSpPr>
        <p:spPr>
          <a:xfrm>
            <a:off x="838200" y="365125"/>
            <a:ext cx="7734300" cy="5811838"/>
          </a:xfrm>
        </p:spPr>
        <p:txBody>
          <a:bodyPr vert="eaVert"/>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4" name="Segnaposto data 3">
            <a:extLst>
              <a:ext uri="{FF2B5EF4-FFF2-40B4-BE49-F238E27FC236}">
                <a16:creationId xmlns:a16="http://schemas.microsoft.com/office/drawing/2014/main" id="{EA47E077-5D91-6763-FB8F-67027502A154}"/>
              </a:ext>
            </a:extLst>
          </p:cNvPr>
          <p:cNvSpPr>
            <a:spLocks noGrp="1"/>
          </p:cNvSpPr>
          <p:nvPr>
            <p:ph type="dt" idx="10"/>
          </p:nvPr>
        </p:nvSpPr>
        <p:spPr/>
        <p:txBody>
          <a:bodyPr/>
          <a:lstStyle/>
          <a:p>
            <a:fld id="{79A8DD84-C996-4DFC-A6C4-7C5817C05F19}" type="datetimeFigureOut">
              <a:t>18/10/2026</a:t>
            </a:fld>
            <a:endParaRPr/>
          </a:p>
        </p:txBody>
      </p:sp>
      <p:sp>
        <p:nvSpPr>
          <p:cNvPr id="5" name="Segnaposto piè di pagina 4">
            <a:extLst>
              <a:ext uri="{FF2B5EF4-FFF2-40B4-BE49-F238E27FC236}">
                <a16:creationId xmlns:a16="http://schemas.microsoft.com/office/drawing/2014/main" id="{03F9C29B-1A24-82CD-09FB-A9CDF8EC80A7}"/>
              </a:ext>
            </a:extLst>
          </p:cNvPr>
          <p:cNvSpPr>
            <a:spLocks noGrp="1"/>
          </p:cNvSpPr>
          <p:nvPr>
            <p:ph type="ftr" idx="11"/>
          </p:nvPr>
        </p:nvSpPr>
        <p:spPr/>
        <p:txBody>
          <a:bodyPr/>
          <a:lstStyle/>
          <a:p>
            <a:endParaRPr/>
          </a:p>
        </p:txBody>
      </p:sp>
      <p:sp>
        <p:nvSpPr>
          <p:cNvPr id="6" name="Segnaposto numero diapositiva 5">
            <a:extLst>
              <a:ext uri="{FF2B5EF4-FFF2-40B4-BE49-F238E27FC236}">
                <a16:creationId xmlns:a16="http://schemas.microsoft.com/office/drawing/2014/main" id="{6C09C3D8-828F-5F53-C9A0-6361273FDDDD}"/>
              </a:ext>
            </a:extLst>
          </p:cNvPr>
          <p:cNvSpPr>
            <a:spLocks noGrp="1"/>
          </p:cNvSpPr>
          <p:nvPr>
            <p:ph type="sldNum" idx="12"/>
          </p:nvPr>
        </p:nvSpPr>
        <p:spPr/>
        <p:txBody>
          <a:bodyPr/>
          <a:lstStyle/>
          <a:p>
            <a:fld id="{F6BC9DE0-E148-4F27-888A-35D29D0A8254}"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28F9C211-565C-7446-42B4-063F1DDD44B1}"/>
              </a:ext>
            </a:extLst>
          </p:cNvPr>
          <p:cNvSpPr>
            <a:spLocks noGrp="1"/>
          </p:cNvSpPr>
          <p:nvPr>
            <p:ph type="title"/>
          </p:nvPr>
        </p:nvSpPr>
        <p:spPr>
          <a:xfrm>
            <a:off x="838200" y="365125"/>
            <a:ext cx="8384177" cy="1325563"/>
          </a:xfrm>
          <a:prstGeom prst="rect">
            <a:avLst/>
          </a:prstGeom>
        </p:spPr>
        <p:txBody>
          <a:bodyPr vert="horz" lIns="91440" tIns="45720" rIns="91440" bIns="45720" anchor="ctr">
            <a:normAutofit/>
          </a:bodyPr>
          <a:lstStyle/>
          <a:p>
            <a:r>
              <a:t>Fare clic per modificare lo stile del titolo dello schema</a:t>
            </a:r>
          </a:p>
        </p:txBody>
      </p:sp>
      <p:sp>
        <p:nvSpPr>
          <p:cNvPr id="3" name="Segnaposto testo 2">
            <a:extLst>
              <a:ext uri="{FF2B5EF4-FFF2-40B4-BE49-F238E27FC236}">
                <a16:creationId xmlns:a16="http://schemas.microsoft.com/office/drawing/2014/main" id="{E0FBABD3-A8AF-4F53-2D97-2679239C52ED}"/>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Fare clic per modificare gli stili del testo dello schema</a:t>
            </a:r>
          </a:p>
          <a:p>
            <a:pPr lvl="1">
              <a:buNone/>
            </a:pPr>
            <a:r>
              <a:t>Secondo livello</a:t>
            </a:r>
          </a:p>
          <a:p>
            <a:pPr lvl="2">
              <a:buNone/>
            </a:pPr>
            <a:r>
              <a:t>Terzo livello</a:t>
            </a:r>
          </a:p>
          <a:p>
            <a:pPr lvl="3">
              <a:buNone/>
            </a:pPr>
            <a:r>
              <a:t>Quarto livello</a:t>
            </a:r>
          </a:p>
          <a:p>
            <a:pPr lvl="4">
              <a:buNone/>
            </a:pPr>
            <a:r>
              <a:t>Quinto livello</a:t>
            </a:r>
          </a:p>
        </p:txBody>
      </p:sp>
      <p:sp>
        <p:nvSpPr>
          <p:cNvPr id="4" name="Segnaposto data 3">
            <a:extLst>
              <a:ext uri="{FF2B5EF4-FFF2-40B4-BE49-F238E27FC236}">
                <a16:creationId xmlns:a16="http://schemas.microsoft.com/office/drawing/2014/main" id="{61D962FE-354C-2325-C79F-CC79DE0593EF}"/>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79A8DD84-C996-4DFC-A6C4-7C5817C05F19}" type="datetimeFigureOut">
              <a:t>18/10/2026</a:t>
            </a:fld>
            <a:endParaRPr/>
          </a:p>
        </p:txBody>
      </p:sp>
      <p:sp>
        <p:nvSpPr>
          <p:cNvPr id="5" name="Segnaposto piè di pagina 4">
            <a:extLst>
              <a:ext uri="{FF2B5EF4-FFF2-40B4-BE49-F238E27FC236}">
                <a16:creationId xmlns:a16="http://schemas.microsoft.com/office/drawing/2014/main" id="{706614F3-3B6C-86DA-A785-ECCA30B6D40D}"/>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Visionlab – Computer Vision Laboratory – Sapienza</a:t>
            </a:r>
          </a:p>
          <a:p>
            <a:r>
              <a:t>Via Salaria 113, 00198, Rome – Third Floor, Room 309</a:t>
            </a:r>
          </a:p>
        </p:txBody>
      </p:sp>
      <p:sp>
        <p:nvSpPr>
          <p:cNvPr id="6" name="Segnaposto numero diapositiva 5">
            <a:extLst>
              <a:ext uri="{FF2B5EF4-FFF2-40B4-BE49-F238E27FC236}">
                <a16:creationId xmlns:a16="http://schemas.microsoft.com/office/drawing/2014/main" id="{DFAD2367-DA27-BF1C-D722-5F0C6250B792}"/>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6BC9DE0-E148-4F27-888A-35D29D0A8254}" type="slidenum">
              <a:t>‹N›</a:t>
            </a:fld>
            <a:endParaRPr/>
          </a:p>
        </p:txBody>
      </p:sp>
      <p:pic>
        <p:nvPicPr>
          <p:cNvPr id="10" name="Immagine 9">
            <a:extLst>
              <a:ext uri="{FF2B5EF4-FFF2-40B4-BE49-F238E27FC236}">
                <a16:creationId xmlns:a16="http://schemas.microsoft.com/office/drawing/2014/main" id="{0B0E6A97-E2B4-4A72-B7E0-E6A9940A3265}"/>
              </a:ext>
            </a:extLst>
          </p:cNvPr>
          <p:cNvPicPr>
            <a:picLocks noChangeAspect="1"/>
          </p:cNvPicPr>
          <p:nvPr/>
        </p:nvPicPr>
        <p:blipFill>
          <a:blip r:embed="rId13">
            <a:alphaModFix amt="10000"/>
          </a:blip>
          <a:stretch>
            <a:fillRect/>
          </a:stretch>
        </p:blipFill>
        <p:spPr>
          <a:xfrm flipH="1">
            <a:off x="9091749" y="1233082"/>
            <a:ext cx="3100251" cy="4769711"/>
          </a:xfrm>
          <a:prstGeom prst="rect">
            <a:avLst/>
          </a:prstGeom>
        </p:spPr>
      </p:pic>
      <p:sp>
        <p:nvSpPr>
          <p:cNvPr id="12" name="Striscia diagonale 11">
            <a:extLst>
              <a:ext uri="{FF2B5EF4-FFF2-40B4-BE49-F238E27FC236}">
                <a16:creationId xmlns:a16="http://schemas.microsoft.com/office/drawing/2014/main" id="{36E41B77-6243-9A06-B22D-1DDE56864FB1}"/>
              </a:ext>
            </a:extLst>
          </p:cNvPr>
          <p:cNvSpPr>
            <a:spLocks noGrp="1"/>
          </p:cNvSpPr>
          <p:nvPr/>
        </p:nvSpPr>
        <p:spPr>
          <a:xfrm>
            <a:off x="0" y="0"/>
            <a:ext cx="360000" cy="360000"/>
          </a:xfrm>
          <a:prstGeom prst="diagStripe">
            <a:avLst>
              <a:gd name="adj" fmla="val 75796"/>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3" name="Striscia diagonale 12">
            <a:extLst>
              <a:ext uri="{FF2B5EF4-FFF2-40B4-BE49-F238E27FC236}">
                <a16:creationId xmlns:a16="http://schemas.microsoft.com/office/drawing/2014/main" id="{3906131B-CD34-FC06-2AE0-D5BFFB41216D}"/>
              </a:ext>
            </a:extLst>
          </p:cNvPr>
          <p:cNvSpPr>
            <a:spLocks noGrp="1"/>
          </p:cNvSpPr>
          <p:nvPr/>
        </p:nvSpPr>
        <p:spPr>
          <a:xfrm>
            <a:off x="0" y="0"/>
            <a:ext cx="540000" cy="540000"/>
          </a:xfrm>
          <a:prstGeom prst="diagStripe">
            <a:avLst>
              <a:gd name="adj" fmla="val 83292"/>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4" name="Rettangolo 13">
            <a:extLst>
              <a:ext uri="{FF2B5EF4-FFF2-40B4-BE49-F238E27FC236}">
                <a16:creationId xmlns:a16="http://schemas.microsoft.com/office/drawing/2014/main" id="{05CFF721-6631-1D68-8373-4422D99FEEB4}"/>
              </a:ext>
            </a:extLst>
          </p:cNvPr>
          <p:cNvSpPr>
            <a:spLocks noGrp="1"/>
          </p:cNvSpPr>
          <p:nvPr/>
        </p:nvSpPr>
        <p:spPr>
          <a:xfrm>
            <a:off x="401888" y="1943100"/>
            <a:ext cx="79200" cy="4914900"/>
          </a:xfrm>
          <a:prstGeom prst="rect">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Rettangolo 14">
            <a:extLst>
              <a:ext uri="{FF2B5EF4-FFF2-40B4-BE49-F238E27FC236}">
                <a16:creationId xmlns:a16="http://schemas.microsoft.com/office/drawing/2014/main" id="{9947DF62-9937-FE90-1BB1-1C9C31A8ACCD}"/>
              </a:ext>
            </a:extLst>
          </p:cNvPr>
          <p:cNvSpPr>
            <a:spLocks noGrp="1"/>
          </p:cNvSpPr>
          <p:nvPr/>
        </p:nvSpPr>
        <p:spPr>
          <a:xfrm>
            <a:off x="241253" y="1441450"/>
            <a:ext cx="79200" cy="5416550"/>
          </a:xfrm>
          <a:prstGeom prst="rect">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Arco a tutto sesto 15">
            <a:extLst>
              <a:ext uri="{FF2B5EF4-FFF2-40B4-BE49-F238E27FC236}">
                <a16:creationId xmlns:a16="http://schemas.microsoft.com/office/drawing/2014/main" id="{4684E799-00FD-E481-86E2-1EE57BBF0997}"/>
              </a:ext>
            </a:extLst>
          </p:cNvPr>
          <p:cNvSpPr>
            <a:spLocks noGrp="1"/>
          </p:cNvSpPr>
          <p:nvPr/>
        </p:nvSpPr>
        <p:spPr>
          <a:xfrm>
            <a:off x="11922000" y="6590359"/>
            <a:ext cx="540000" cy="540000"/>
          </a:xfrm>
          <a:prstGeom prst="blockArc">
            <a:avLst>
              <a:gd name="adj1" fmla="val 10825804"/>
              <a:gd name="adj2" fmla="val 16232134"/>
              <a:gd name="adj3" fmla="val 13566"/>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sp>
        <p:nvSpPr>
          <p:cNvPr id="17" name="Arco a tutto sesto 16">
            <a:extLst>
              <a:ext uri="{FF2B5EF4-FFF2-40B4-BE49-F238E27FC236}">
                <a16:creationId xmlns:a16="http://schemas.microsoft.com/office/drawing/2014/main" id="{C7F59C59-6D08-CAE9-1107-3C400A7AEBBD}"/>
              </a:ext>
            </a:extLst>
          </p:cNvPr>
          <p:cNvSpPr>
            <a:spLocks noGrp="1"/>
          </p:cNvSpPr>
          <p:nvPr/>
        </p:nvSpPr>
        <p:spPr>
          <a:xfrm>
            <a:off x="11742000" y="6408000"/>
            <a:ext cx="900000" cy="900000"/>
          </a:xfrm>
          <a:prstGeom prst="blockArc">
            <a:avLst>
              <a:gd name="adj1" fmla="val 10778727"/>
              <a:gd name="adj2" fmla="val 16191509"/>
              <a:gd name="adj3" fmla="val 9334"/>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chemeClr val="tx1"/>
              </a:solidFill>
            </a:endParaRPr>
          </a:p>
        </p:txBody>
      </p:sp>
      <p:pic>
        <p:nvPicPr>
          <p:cNvPr id="8" name="Immagine 7">
            <a:extLst>
              <a:ext uri="{FF2B5EF4-FFF2-40B4-BE49-F238E27FC236}">
                <a16:creationId xmlns:a16="http://schemas.microsoft.com/office/drawing/2014/main" id="{A96EE496-5924-411D-A01D-7518419AA71D}"/>
              </a:ext>
            </a:extLst>
          </p:cNvPr>
          <p:cNvPicPr>
            <a:picLocks noChangeAspect="1"/>
          </p:cNvPicPr>
          <p:nvPr/>
        </p:nvPicPr>
        <p:blipFill>
          <a:blip r:embed="rId14"/>
          <a:stretch>
            <a:fillRect/>
          </a:stretch>
        </p:blipFill>
        <p:spPr>
          <a:xfrm>
            <a:off x="11054714" y="136525"/>
            <a:ext cx="969764" cy="96976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100000"/>
        </a:lnSpc>
        <a:spcBef>
          <a:spcPct val="0"/>
        </a:spcBef>
        <a:buNone/>
        <a:defRPr sz="4400" kern="1200">
          <a:solidFill>
            <a:schemeClr val="tx1"/>
          </a:solidFill>
          <a:latin typeface="Roboto"/>
          <a:ea typeface="Roboto"/>
          <a:cs typeface="Roboto"/>
        </a:defRPr>
      </a:lvl1pPr>
    </p:titleStyle>
    <p:bodyStyle>
      <a:lvl1pPr marL="228600" indent="-228600" algn="l" defTabSz="914400">
        <a:lnSpc>
          <a:spcPct val="100000"/>
        </a:lnSpc>
        <a:spcBef>
          <a:spcPts val="1000"/>
        </a:spcBef>
        <a:buFont typeface="Arial"/>
        <a:buChar char="•"/>
        <a:defRPr sz="2800" kern="1200">
          <a:solidFill>
            <a:schemeClr val="tx1"/>
          </a:solidFill>
          <a:latin typeface="Roboto"/>
          <a:ea typeface="Roboto"/>
          <a:cs typeface="Roboto"/>
        </a:defRPr>
      </a:lvl1pPr>
      <a:lvl2pPr marL="685800" indent="-228600" algn="l" defTabSz="914400">
        <a:lnSpc>
          <a:spcPct val="100000"/>
        </a:lnSpc>
        <a:spcBef>
          <a:spcPts val="500"/>
        </a:spcBef>
        <a:buFont typeface="Arial"/>
        <a:buChar char="•"/>
        <a:defRPr sz="2400" kern="1200">
          <a:solidFill>
            <a:schemeClr val="tx1"/>
          </a:solidFill>
          <a:latin typeface="Roboto"/>
          <a:ea typeface="Roboto"/>
          <a:cs typeface="Roboto"/>
        </a:defRPr>
      </a:lvl2pPr>
      <a:lvl3pPr marL="1143000" indent="-228600" algn="l" defTabSz="914400">
        <a:lnSpc>
          <a:spcPct val="100000"/>
        </a:lnSpc>
        <a:spcBef>
          <a:spcPts val="500"/>
        </a:spcBef>
        <a:buFont typeface="Arial"/>
        <a:buChar char="•"/>
        <a:defRPr sz="2000" kern="1200">
          <a:solidFill>
            <a:schemeClr val="tx1"/>
          </a:solidFill>
          <a:latin typeface="Roboto"/>
          <a:ea typeface="Roboto"/>
          <a:cs typeface="Roboto"/>
        </a:defRPr>
      </a:lvl3pPr>
      <a:lvl4pPr marL="1600200" indent="-228600" algn="l" defTabSz="914400">
        <a:lnSpc>
          <a:spcPct val="100000"/>
        </a:lnSpc>
        <a:spcBef>
          <a:spcPts val="500"/>
        </a:spcBef>
        <a:buFont typeface="Arial"/>
        <a:buChar char="•"/>
        <a:defRPr sz="1800" kern="1200">
          <a:solidFill>
            <a:schemeClr val="tx1"/>
          </a:solidFill>
          <a:latin typeface="Roboto"/>
          <a:ea typeface="Roboto"/>
          <a:cs typeface="Roboto"/>
        </a:defRPr>
      </a:lvl4pPr>
      <a:lvl5pPr marL="2057400" indent="-228600" algn="l" defTabSz="914400">
        <a:lnSpc>
          <a:spcPct val="100000"/>
        </a:lnSpc>
        <a:spcBef>
          <a:spcPts val="500"/>
        </a:spcBef>
        <a:buFont typeface="Arial"/>
        <a:buChar char="•"/>
        <a:defRPr sz="1800" kern="1200">
          <a:solidFill>
            <a:schemeClr val="tx1"/>
          </a:solidFill>
          <a:latin typeface="Roboto"/>
          <a:ea typeface="Roboto"/>
          <a:cs typeface="Roboto"/>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7.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8.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34.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3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chart" Target="../charts/char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2.xml" Id="Re04de09b20a14d67"/><Relationship Type="http://schemas.openxmlformats.org/officeDocument/2006/relationships/image" Target="/ppt/media/image2.png" Id="Rd5c44a9c5b7f47d0"/><Relationship Type="http://schemas.openxmlformats.org/officeDocument/2006/relationships/notesSlide" Target="/ppt/notesSlides/notesSlide20.xml" Id="R25fdbb71d54349e7"/></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chart" Target="../charts/chart3.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2.xml" Id="Rfbfd3fb74a194c54"/><Relationship Type="http://schemas.openxmlformats.org/officeDocument/2006/relationships/image" Target="/ppt/media/image2.png" Id="R977952af57374a34"/><Relationship Type="http://schemas.openxmlformats.org/officeDocument/2006/relationships/image" Target="/ppt/media/image39.png" Id="R7d3a7b721650404a"/><Relationship Type="http://schemas.openxmlformats.org/officeDocument/2006/relationships/image" Target="/ppt/media/image38.png" Id="R0e2ac463d4374c47"/><Relationship Type="http://schemas.openxmlformats.org/officeDocument/2006/relationships/image" Target="/ppt/media/image40.png" Id="R554e32552bf54e06"/><Relationship Type="http://schemas.openxmlformats.org/officeDocument/2006/relationships/notesSlide" Target="/ppt/notesSlides/notesSlide22.xml" Id="R6bff0bd1ba48407b"/></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34.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8" Type="http://schemas.openxmlformats.org/officeDocument/2006/relationships/hyperlink" Target="https://doi.org/10.52202/085713-4098" TargetMode="External"/><Relationship Id="rId3" Type="http://schemas.openxmlformats.org/officeDocument/2006/relationships/image" Target="../media/image2.png"/><Relationship Id="rId7" Type="http://schemas.openxmlformats.org/officeDocument/2006/relationships/hyperlink" Target="https://doi.org/10.1109/TGRS.2024.3386756"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s://science.nasa.gov/resource/routine-inspection-of-rover-wheel-wear-and-tear/" TargetMode="External"/><Relationship Id="rId5" Type="http://schemas.openxmlformats.org/officeDocument/2006/relationships/hyperlink" Target="https://robotics.jpl.nasa.gov/media/documents/fmwi-rankin-2022-0225-final.pdf" TargetMode="External"/><Relationship Id="rId4" Type="http://schemas.openxmlformats.org/officeDocument/2006/relationships/hyperlink" Target="https://www.jpl.nasa.gov/podcasts/on-a-mission-season-1/season-4-mars-rovers/episode-8-how-to-drive-a-mars-rover/"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doi.org/10.1109/TITS.2023.3348631" TargetMode="External"/><Relationship Id="rId3" Type="http://schemas.openxmlformats.org/officeDocument/2006/relationships/image" Target="../media/image2.png"/><Relationship Id="rId7" Type="http://schemas.openxmlformats.org/officeDocument/2006/relationships/hyperlink" Target="https://arxiv.org/abs/2105.15203"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doi.org/10.1007/978-3-030-01234-2_49" TargetMode="External"/><Relationship Id="rId5" Type="http://schemas.openxmlformats.org/officeDocument/2006/relationships/hyperlink" Target="https://arxiv.org/abs/1706.05587" TargetMode="External"/><Relationship Id="rId4" Type="http://schemas.openxmlformats.org/officeDocument/2006/relationships/hyperlink" Target="https://doi.org/10.1007/978-3-319-24574-4_28"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doi.org/10.1109/CVPR.2019.00982" TargetMode="External"/><Relationship Id="rId3" Type="http://schemas.openxmlformats.org/officeDocument/2006/relationships/image" Target="../media/image2.png"/><Relationship Id="rId7" Type="http://schemas.openxmlformats.org/officeDocument/2006/relationships/hyperlink" Target="https://doi.org/10.1109/IROS.2017.8202133"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hirise.lpl.arizona.edu/dtm/dtm.php?ID=PSP_010573_1755" TargetMode="External"/><Relationship Id="rId5" Type="http://schemas.openxmlformats.org/officeDocument/2006/relationships/hyperlink" Target="https://science.nasa.gov/resource/curiosity-3d-model/" TargetMode="External"/><Relationship Id="rId4" Type="http://schemas.openxmlformats.org/officeDocument/2006/relationships/hyperlink" Target="https://arxiv.org/abs/1712.05877"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arxiv.org/abs/2603.16451v3" TargetMode="External"/><Relationship Id="rId3" Type="http://schemas.openxmlformats.org/officeDocument/2006/relationships/image" Target="../media/image2.png"/><Relationship Id="rId7" Type="http://schemas.openxmlformats.org/officeDocument/2006/relationships/hyperlink" Target="https://doi.org/10.1007/s10845-025-02680-8"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doi.org/10.1007/978-3-031-78192-6_4" TargetMode="External"/><Relationship Id="rId5" Type="http://schemas.openxmlformats.org/officeDocument/2006/relationships/hyperlink" Target="https://arxiv.org/abs/2303.14535" TargetMode="External"/><Relationship Id="rId4" Type="http://schemas.openxmlformats.org/officeDocument/2006/relationships/hyperlink" Target="https://arxiv.org/abs/2106.08265" TargetMode="External"/></Relationships>
</file>

<file path=ppt/slides/_rels/slide3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26.png"/><Relationship Id="rId10" Type="http://schemas.openxmlformats.org/officeDocument/2006/relationships/hyperlink" Target="https://icons8.com/license" TargetMode="External"/><Relationship Id="rId4" Type="http://schemas.openxmlformats.org/officeDocument/2006/relationships/image" Target="../media/image3.png"/><Relationship Id="rId9" Type="http://schemas.openxmlformats.org/officeDocument/2006/relationships/hyperlink" Target="https://icons8.com" TargetMode="External"/></Relationships>
</file>

<file path=ppt/slides/_rels/slide31.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0.png"/><Relationship Id="rId3" Type="http://schemas.openxmlformats.org/officeDocument/2006/relationships/image" Target="../media/image2.png"/><Relationship Id="rId7" Type="http://schemas.openxmlformats.org/officeDocument/2006/relationships/image" Target="../media/image29.png"/><Relationship Id="rId12"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48.png"/><Relationship Id="rId5" Type="http://schemas.openxmlformats.org/officeDocument/2006/relationships/image" Target="../media/image28.png"/><Relationship Id="rId10" Type="http://schemas.openxmlformats.org/officeDocument/2006/relationships/image" Target="../media/image30.png"/><Relationship Id="rId4" Type="http://schemas.openxmlformats.org/officeDocument/2006/relationships/image" Target="../media/image32.png"/><Relationship Id="rId9"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chart" Target="../charts/chart5.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chart" Target="../charts/char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53CAEA-7F71-2F30-10DD-58B9AE8117FA}"/>
              </a:ext>
            </a:extLst>
          </p:cNvPr>
          <p:cNvSpPr>
            <a:spLocks noGrp="1"/>
          </p:cNvSpPr>
          <p:nvPr>
            <p:ph type="ctrTitle"/>
          </p:nvPr>
        </p:nvSpPr>
        <p:spPr>
          <a:xfrm>
            <a:off x="1524000" y="1122363"/>
            <a:ext cx="9144000" cy="1602549"/>
          </a:xfrm>
        </p:spPr>
        <p:txBody>
          <a:bodyPr>
            <a:normAutofit/>
          </a:bodyPr>
          <a:lstStyle/>
          <a:p>
            <a:r>
              <a:rPr lang="en-US" sz="3000" b="1">
                <a:solidFill>
                  <a:srgbClr val="822433"/>
                </a:solidFill>
              </a:rPr>
              <a:t>Lightweight Scene Understanding and Synthetic Data-Driven Damage Inspection for Martian Rovers</a:t>
            </a:r>
          </a:p>
        </p:txBody>
      </p:sp>
      <p:sp>
        <p:nvSpPr>
          <p:cNvPr id="3" name="Sottotitolo 2">
            <a:extLst>
              <a:ext uri="{FF2B5EF4-FFF2-40B4-BE49-F238E27FC236}">
                <a16:creationId xmlns:a16="http://schemas.microsoft.com/office/drawing/2014/main" id="{28D78800-4D63-418C-4E5E-F22E3136D82A}"/>
              </a:ext>
            </a:extLst>
          </p:cNvPr>
          <p:cNvSpPr>
            <a:spLocks noGrp="1"/>
          </p:cNvSpPr>
          <p:nvPr>
            <p:ph type="subTitle" idx="1"/>
          </p:nvPr>
        </p:nvSpPr>
        <p:spPr>
          <a:xfrm>
            <a:off x="2731008" y="2883408"/>
            <a:ext cx="6729984" cy="2374392"/>
          </a:xfrm>
        </p:spPr>
        <p:txBody>
          <a:bodyPr>
            <a:normAutofit/>
          </a:bodyPr>
          <a:lstStyle/>
          <a:p>
            <a:r>
              <a:rPr lang="en-US" sz="1600">
                <a:solidFill>
                  <a:srgbClr val="822433"/>
                </a:solidFill>
              </a:rPr>
              <a:t>Faculty of Information Engineering, Informatics, and Statistics</a:t>
            </a:r>
            <a:br>
              <a:rPr lang="en-US" sz="1600">
                <a:solidFill>
                  <a:srgbClr val="822433"/>
                </a:solidFill>
              </a:rPr>
            </a:br>
            <a:r>
              <a:rPr lang="en-US" sz="1600">
                <a:solidFill>
                  <a:srgbClr val="822433"/>
                </a:solidFill>
              </a:rPr>
              <a:t>Master’s Degree in Computer Science</a:t>
            </a:r>
          </a:p>
          <a:p>
            <a:endParaRPr lang="en-US" sz="1600">
              <a:solidFill>
                <a:srgbClr val="822433"/>
              </a:solidFill>
            </a:endParaRPr>
          </a:p>
          <a:p>
            <a:pPr algn="l">
              <a:buNone/>
            </a:pPr>
            <a:r>
              <a:rPr lang="en-US" sz="1600" b="1"/>
              <a:t>Venturini Daniele </a:t>
            </a:r>
            <a:r>
              <a:rPr lang="en-US" sz="1600"/>
              <a:t>1991255</a:t>
            </a:r>
          </a:p>
          <a:p>
            <a:pPr algn="l">
              <a:buNone/>
            </a:pPr>
            <a:endParaRPr lang="en-US" sz="1600"/>
          </a:p>
          <a:p>
            <a:r>
              <a:rPr lang="en-US" sz="1200"/>
              <a:t>Academic Year 2025/2026</a:t>
            </a:r>
          </a:p>
        </p:txBody>
      </p:sp>
      <p:sp>
        <p:nvSpPr>
          <p:cNvPr id="5" name="CasellaDiTesto 4">
            <a:extLst>
              <a:ext uri="{FF2B5EF4-FFF2-40B4-BE49-F238E27FC236}">
                <a16:creationId xmlns:a16="http://schemas.microsoft.com/office/drawing/2014/main" id="{D37F6418-D425-2C7C-A304-D79E057EED07}"/>
              </a:ext>
            </a:extLst>
          </p:cNvPr>
          <p:cNvSpPr>
            <a:spLocks noGrp="1"/>
          </p:cNvSpPr>
          <p:nvPr/>
        </p:nvSpPr>
        <p:spPr>
          <a:xfrm>
            <a:off x="5279136" y="3626453"/>
            <a:ext cx="4181856" cy="584775"/>
          </a:xfrm>
          <a:prstGeom prst="rect">
            <a:avLst/>
          </a:prstGeom>
          <a:noFill/>
        </p:spPr>
        <p:txBody>
          <a:bodyPr wrap="square">
            <a:spAutoFit/>
          </a:bodyPr>
          <a:lstStyle/>
          <a:p>
            <a:pPr algn="r">
              <a:buNone/>
            </a:pPr>
            <a:r>
              <a:rPr lang="en-US" sz="1600" b="1">
                <a:latin typeface="Roboto"/>
                <a:ea typeface="Roboto"/>
                <a:cs typeface="Roboto"/>
              </a:rPr>
              <a:t>Advisor</a:t>
            </a:r>
          </a:p>
          <a:p>
            <a:pPr algn="r">
              <a:buNone/>
            </a:pPr>
            <a:r>
              <a:rPr lang="en-US" sz="1600">
                <a:latin typeface="Roboto"/>
                <a:ea typeface="Roboto"/>
                <a:cs typeface="Roboto"/>
              </a:rPr>
              <a:t>Prof. Marco Raoul Marini</a:t>
            </a:r>
          </a:p>
        </p:txBody>
      </p:sp>
    </p:spTree>
    <p:extLst>
      <p:ext uri="{BB962C8B-B14F-4D97-AF65-F5344CB8AC3E}">
        <p14:creationId xmlns:p14="http://schemas.microsoft.com/office/powerpoint/2010/main" val="3325099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99EAC2A2-B485-4F32-B43C-AFA537E0AD57}"/>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Communication delays motivate local perception</a:t>
            </a:r>
          </a:p>
        </p:txBody>
      </p:sp>
      <p:pic>
        <p:nvPicPr>
          <p:cNvPr id="2" name="Immagine 1">
            <a:extLst>
              <a:ext uri="{FF2B5EF4-FFF2-40B4-BE49-F238E27FC236}">
                <a16:creationId xmlns:a16="http://schemas.microsoft.com/office/drawing/2014/main" id="{648DFCD3-57C4-4FB4-A297-C09C5CD24CC5}"/>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4530BBCD-44E2-44A0-A753-EB0890F7EA3E}"/>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67762CD5-2922-445C-ABF8-FE308E7AB713}"/>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B07E2986-3785-4F2B-BAC7-E46BA0023D0D}"/>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 / 33</a:t>
            </a:r>
          </a:p>
        </p:txBody>
      </p:sp>
      <p:sp>
        <p:nvSpPr>
          <p:cNvPr id="6" name="source-citations">
            <a:extLst>
              <a:ext uri="{FF2B5EF4-FFF2-40B4-BE49-F238E27FC236}">
                <a16:creationId xmlns:a16="http://schemas.microsoft.com/office/drawing/2014/main" id="{06207BAE-C685-4D6C-990F-F054286798EC}"/>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[1] [4] [5]</a:t>
            </a:r>
          </a:p>
        </p:txBody>
      </p:sp>
      <p:pic>
        <p:nvPicPr>
          <p:cNvPr id="7" name="Immagine 6">
            <a:extLst>
              <a:ext uri="{FF2B5EF4-FFF2-40B4-BE49-F238E27FC236}">
                <a16:creationId xmlns:a16="http://schemas.microsoft.com/office/drawing/2014/main" id="{5404B8E3-34C1-409C-8EEC-89426DB9BF15}"/>
              </a:ext>
            </a:extLst>
          </p:cNvPr>
          <p:cNvPicPr>
            <a:picLocks noChangeAspect="1"/>
          </p:cNvPicPr>
          <p:nvPr/>
        </p:nvPicPr>
        <p:blipFill>
          <a:blip r:embed="rId4"/>
          <a:stretch/>
        </p:blipFill>
        <p:spPr>
          <a:xfrm>
            <a:off x="1476375" y="2362200"/>
            <a:ext cx="1190625" cy="1190625"/>
          </a:xfrm>
          <a:prstGeom prst="rect">
            <a:avLst/>
          </a:prstGeom>
        </p:spPr>
      </p:pic>
      <p:pic>
        <p:nvPicPr>
          <p:cNvPr id="8" name="Immagine 7">
            <a:extLst>
              <a:ext uri="{FF2B5EF4-FFF2-40B4-BE49-F238E27FC236}">
                <a16:creationId xmlns:a16="http://schemas.microsoft.com/office/drawing/2014/main" id="{A19C5872-E626-48DB-9CF5-474D4FCE221B}"/>
              </a:ext>
            </a:extLst>
          </p:cNvPr>
          <p:cNvPicPr>
            <a:picLocks noChangeAspect="1"/>
          </p:cNvPicPr>
          <p:nvPr/>
        </p:nvPicPr>
        <p:blipFill>
          <a:blip r:embed="rId5"/>
          <a:stretch/>
        </p:blipFill>
        <p:spPr>
          <a:xfrm>
            <a:off x="9382125" y="2362200"/>
            <a:ext cx="1190625" cy="1190625"/>
          </a:xfrm>
          <a:prstGeom prst="rect">
            <a:avLst/>
          </a:prstGeom>
        </p:spPr>
      </p:pic>
      <p:pic>
        <p:nvPicPr>
          <p:cNvPr id="9" name="Immagine 8">
            <a:extLst>
              <a:ext uri="{FF2B5EF4-FFF2-40B4-BE49-F238E27FC236}">
                <a16:creationId xmlns:a16="http://schemas.microsoft.com/office/drawing/2014/main" id="{5DA74E0A-C013-45E3-897D-61ACCCB4E910}"/>
              </a:ext>
            </a:extLst>
          </p:cNvPr>
          <p:cNvPicPr>
            <a:picLocks noChangeAspect="1"/>
          </p:cNvPicPr>
          <p:nvPr/>
        </p:nvPicPr>
        <p:blipFill>
          <a:blip r:embed="rId6"/>
          <a:stretch/>
        </p:blipFill>
        <p:spPr>
          <a:xfrm>
            <a:off x="5667375" y="1743075"/>
            <a:ext cx="838200" cy="838200"/>
          </a:xfrm>
          <a:prstGeom prst="rect">
            <a:avLst/>
          </a:prstGeom>
        </p:spPr>
      </p:pic>
      <p:sp>
        <p:nvSpPr>
          <p:cNvPr id="10" name="delay">
            <a:extLst>
              <a:ext uri="{FF2B5EF4-FFF2-40B4-BE49-F238E27FC236}">
                <a16:creationId xmlns:a16="http://schemas.microsoft.com/office/drawing/2014/main" id="{2385B35A-B498-4019-B734-5D9EF03D9138}"/>
              </a:ext>
            </a:extLst>
          </p:cNvPr>
          <p:cNvSpPr>
            <a:spLocks noGrp="1"/>
          </p:cNvSpPr>
          <p:nvPr/>
        </p:nvSpPr>
        <p:spPr>
          <a:xfrm>
            <a:off x="3381375" y="2847975"/>
            <a:ext cx="5429250" cy="1047750"/>
          </a:xfrm>
          <a:prstGeom prst="rect">
            <a:avLst/>
          </a:prstGeom>
          <a:noFill/>
          <a:ln w="0">
            <a:noFill/>
          </a:ln>
        </p:spPr>
        <p:txBody>
          <a:bodyPr wrap="square" lIns="0" tIns="0" rIns="0" bIns="0" anchor="t">
            <a:noAutofit/>
          </a:bodyPr>
          <a:lstStyle>
            <a:defPPr algn="ctr">
              <a:defRPr lang="en-US" sz="6000" b="1">
                <a:solidFill>
                  <a:srgbClr val="822433"/>
                </a:solidFill>
                <a:latin typeface="Roboto"/>
                <a:ea typeface="Roboto"/>
                <a:cs typeface="Roboto"/>
              </a:defRPr>
            </a:defPPr>
            <a:lvl1pPr algn="ctr">
              <a:defRPr lang="en-US" sz="6000" b="1">
                <a:solidFill>
                  <a:srgbClr val="822433"/>
                </a:solidFill>
                <a:latin typeface="Roboto"/>
                <a:ea typeface="Roboto"/>
                <a:cs typeface="Roboto"/>
              </a:defRPr>
            </a:lvl1pPr>
            <a:lvl2pPr algn="ctr">
              <a:defRPr lang="en-US" sz="6000" b="1">
                <a:solidFill>
                  <a:srgbClr val="822433"/>
                </a:solidFill>
                <a:latin typeface="Roboto"/>
                <a:ea typeface="Roboto"/>
                <a:cs typeface="Roboto"/>
              </a:defRPr>
            </a:lvl2pPr>
            <a:lvl3pPr algn="ctr">
              <a:defRPr lang="en-US" sz="6000" b="1">
                <a:solidFill>
                  <a:srgbClr val="822433"/>
                </a:solidFill>
                <a:latin typeface="Roboto"/>
                <a:ea typeface="Roboto"/>
                <a:cs typeface="Roboto"/>
              </a:defRPr>
            </a:lvl3pPr>
            <a:lvl4pPr algn="ctr">
              <a:defRPr lang="en-US" sz="6000" b="1">
                <a:solidFill>
                  <a:srgbClr val="822433"/>
                </a:solidFill>
                <a:latin typeface="Roboto"/>
                <a:ea typeface="Roboto"/>
                <a:cs typeface="Roboto"/>
              </a:defRPr>
            </a:lvl4pPr>
            <a:lvl5pPr algn="ctr">
              <a:defRPr lang="en-US" sz="6000" b="1">
                <a:solidFill>
                  <a:srgbClr val="822433"/>
                </a:solidFill>
                <a:latin typeface="Roboto"/>
                <a:ea typeface="Roboto"/>
                <a:cs typeface="Roboto"/>
              </a:defRPr>
            </a:lvl5pPr>
            <a:lvl6pPr algn="ctr">
              <a:defRPr lang="en-US" sz="6000" b="1">
                <a:solidFill>
                  <a:srgbClr val="822433"/>
                </a:solidFill>
                <a:latin typeface="Roboto"/>
                <a:ea typeface="Roboto"/>
                <a:cs typeface="Roboto"/>
              </a:defRPr>
            </a:lvl6pPr>
            <a:lvl7pPr algn="ctr">
              <a:defRPr lang="en-US" sz="6000" b="1">
                <a:solidFill>
                  <a:srgbClr val="822433"/>
                </a:solidFill>
                <a:latin typeface="Roboto"/>
                <a:ea typeface="Roboto"/>
                <a:cs typeface="Roboto"/>
              </a:defRPr>
            </a:lvl7pPr>
            <a:lvl8pPr algn="ctr">
              <a:defRPr lang="en-US" sz="6000" b="1">
                <a:solidFill>
                  <a:srgbClr val="822433"/>
                </a:solidFill>
                <a:latin typeface="Roboto"/>
                <a:ea typeface="Roboto"/>
                <a:cs typeface="Roboto"/>
              </a:defRPr>
            </a:lvl8pPr>
            <a:lvl9pPr algn="ctr">
              <a:defRPr lang="en-US" sz="6000" b="1">
                <a:solidFill>
                  <a:srgbClr val="822433"/>
                </a:solidFill>
                <a:latin typeface="Roboto"/>
                <a:ea typeface="Roboto"/>
                <a:cs typeface="Roboto"/>
              </a:defRPr>
            </a:lvl9pPr>
          </a:lstStyle>
          <a:p>
            <a:pPr algn="ctr">
              <a:defRPr lang="en-US" sz="6000" b="1">
                <a:solidFill>
                  <a:srgbClr val="822433"/>
                </a:solidFill>
                <a:latin typeface="Roboto"/>
                <a:ea typeface="Roboto"/>
                <a:cs typeface="Roboto"/>
              </a:defRPr>
            </a:pPr>
            <a:r>
              <a:rPr lang="en-US" sz="6000" b="1">
                <a:solidFill>
                  <a:srgbClr val="822433"/>
                </a:solidFill>
                <a:latin typeface="Roboto"/>
                <a:ea typeface="Roboto"/>
                <a:cs typeface="Roboto"/>
              </a:rPr>
              <a:t>4–22 min</a:t>
            </a:r>
          </a:p>
        </p:txBody>
      </p:sp>
      <p:sp>
        <p:nvSpPr>
          <p:cNvPr id="11" name="one-way">
            <a:extLst>
              <a:ext uri="{FF2B5EF4-FFF2-40B4-BE49-F238E27FC236}">
                <a16:creationId xmlns:a16="http://schemas.microsoft.com/office/drawing/2014/main" id="{33747098-BA57-41C2-BA69-419896D144FE}"/>
              </a:ext>
            </a:extLst>
          </p:cNvPr>
          <p:cNvSpPr>
            <a:spLocks noGrp="1"/>
          </p:cNvSpPr>
          <p:nvPr/>
        </p:nvSpPr>
        <p:spPr>
          <a:xfrm>
            <a:off x="3381375" y="4000500"/>
            <a:ext cx="5429250" cy="552450"/>
          </a:xfrm>
          <a:prstGeom prst="rect">
            <a:avLst/>
          </a:prstGeom>
          <a:noFill/>
          <a:ln w="0">
            <a:noFill/>
          </a:ln>
        </p:spPr>
        <p:txBody>
          <a:bodyPr wrap="square" lIns="0" tIns="0" rIns="0" bIns="0" anchor="t">
            <a:noAutofit/>
          </a:bodyPr>
          <a:lstStyle>
            <a:defPPr algn="ctr">
              <a:defRPr lang="en-US" sz="2400" b="0">
                <a:solidFill>
                  <a:srgbClr val="202124"/>
                </a:solidFill>
                <a:latin typeface="Roboto"/>
                <a:ea typeface="Roboto"/>
                <a:cs typeface="Roboto"/>
              </a:defRPr>
            </a:defPPr>
            <a:lvl1pPr algn="ctr">
              <a:defRPr lang="en-US" sz="2400" b="0">
                <a:solidFill>
                  <a:srgbClr val="202124"/>
                </a:solidFill>
                <a:latin typeface="Roboto"/>
                <a:ea typeface="Roboto"/>
                <a:cs typeface="Roboto"/>
              </a:defRPr>
            </a:lvl1pPr>
            <a:lvl2pPr algn="ctr">
              <a:defRPr lang="en-US" sz="2400" b="0">
                <a:solidFill>
                  <a:srgbClr val="202124"/>
                </a:solidFill>
                <a:latin typeface="Roboto"/>
                <a:ea typeface="Roboto"/>
                <a:cs typeface="Roboto"/>
              </a:defRPr>
            </a:lvl2pPr>
            <a:lvl3pPr algn="ctr">
              <a:defRPr lang="en-US" sz="2400" b="0">
                <a:solidFill>
                  <a:srgbClr val="202124"/>
                </a:solidFill>
                <a:latin typeface="Roboto"/>
                <a:ea typeface="Roboto"/>
                <a:cs typeface="Roboto"/>
              </a:defRPr>
            </a:lvl3pPr>
            <a:lvl4pPr algn="ctr">
              <a:defRPr lang="en-US" sz="2400" b="0">
                <a:solidFill>
                  <a:srgbClr val="202124"/>
                </a:solidFill>
                <a:latin typeface="Roboto"/>
                <a:ea typeface="Roboto"/>
                <a:cs typeface="Roboto"/>
              </a:defRPr>
            </a:lvl4pPr>
            <a:lvl5pPr algn="ctr">
              <a:defRPr lang="en-US" sz="2400" b="0">
                <a:solidFill>
                  <a:srgbClr val="202124"/>
                </a:solidFill>
                <a:latin typeface="Roboto"/>
                <a:ea typeface="Roboto"/>
                <a:cs typeface="Roboto"/>
              </a:defRPr>
            </a:lvl5pPr>
            <a:lvl6pPr algn="ctr">
              <a:defRPr lang="en-US" sz="2400" b="0">
                <a:solidFill>
                  <a:srgbClr val="202124"/>
                </a:solidFill>
                <a:latin typeface="Roboto"/>
                <a:ea typeface="Roboto"/>
                <a:cs typeface="Roboto"/>
              </a:defRPr>
            </a:lvl6pPr>
            <a:lvl7pPr algn="ctr">
              <a:defRPr lang="en-US" sz="2400" b="0">
                <a:solidFill>
                  <a:srgbClr val="202124"/>
                </a:solidFill>
                <a:latin typeface="Roboto"/>
                <a:ea typeface="Roboto"/>
                <a:cs typeface="Roboto"/>
              </a:defRPr>
            </a:lvl7pPr>
            <a:lvl8pPr algn="ctr">
              <a:defRPr lang="en-US" sz="2400" b="0">
                <a:solidFill>
                  <a:srgbClr val="202124"/>
                </a:solidFill>
                <a:latin typeface="Roboto"/>
                <a:ea typeface="Roboto"/>
                <a:cs typeface="Roboto"/>
              </a:defRPr>
            </a:lvl8pPr>
            <a:lvl9pPr algn="ctr">
              <a:defRPr lang="en-US" sz="2400" b="0">
                <a:solidFill>
                  <a:srgbClr val="202124"/>
                </a:solidFill>
                <a:latin typeface="Roboto"/>
                <a:ea typeface="Roboto"/>
                <a:cs typeface="Roboto"/>
              </a:defRPr>
            </a:lvl9pPr>
          </a:lstStyle>
          <a:p>
            <a:pPr algn="ctr">
              <a:defRPr lang="en-US" sz="2400" b="0">
                <a:solidFill>
                  <a:srgbClr val="202124"/>
                </a:solidFill>
                <a:latin typeface="Roboto"/>
                <a:ea typeface="Roboto"/>
                <a:cs typeface="Roboto"/>
              </a:defRPr>
            </a:pPr>
            <a:r>
              <a:rPr lang="en-US" sz="2400" b="0">
                <a:solidFill>
                  <a:srgbClr val="202124"/>
                </a:solidFill>
                <a:latin typeface="Roboto"/>
                <a:ea typeface="Roboto"/>
                <a:cs typeface="Roboto"/>
              </a:rPr>
              <a:t>one-way communication</a:t>
            </a:r>
          </a:p>
        </p:txBody>
      </p:sp>
      <p:sp>
        <p:nvSpPr>
          <p:cNvPr id="12" name="earth-label">
            <a:extLst>
              <a:ext uri="{FF2B5EF4-FFF2-40B4-BE49-F238E27FC236}">
                <a16:creationId xmlns:a16="http://schemas.microsoft.com/office/drawing/2014/main" id="{DDEB14A1-6321-4220-9EF2-73ECBDF4DBB6}"/>
              </a:ext>
            </a:extLst>
          </p:cNvPr>
          <p:cNvSpPr>
            <a:spLocks noGrp="1"/>
          </p:cNvSpPr>
          <p:nvPr/>
        </p:nvSpPr>
        <p:spPr>
          <a:xfrm>
            <a:off x="1171575" y="3867150"/>
            <a:ext cx="1809750" cy="457200"/>
          </a:xfrm>
          <a:prstGeom prst="rect">
            <a:avLst/>
          </a:prstGeom>
          <a:noFill/>
          <a:ln w="0">
            <a:noFill/>
          </a:ln>
        </p:spPr>
        <p:txBody>
          <a:bodyPr wrap="square" lIns="0" tIns="0" rIns="0" bIns="0" anchor="t">
            <a:noAutofit/>
          </a:bodyPr>
          <a:lstStyle>
            <a:defPPr algn="ctr">
              <a:defRPr lang="en-US" sz="2100" b="0">
                <a:solidFill>
                  <a:srgbClr val="656B73"/>
                </a:solidFill>
                <a:latin typeface="Roboto"/>
                <a:ea typeface="Roboto"/>
                <a:cs typeface="Roboto"/>
              </a:defRPr>
            </a:defPPr>
            <a:lvl1pPr algn="ctr">
              <a:defRPr lang="en-US" sz="2100" b="0">
                <a:solidFill>
                  <a:srgbClr val="656B73"/>
                </a:solidFill>
                <a:latin typeface="Roboto"/>
                <a:ea typeface="Roboto"/>
                <a:cs typeface="Roboto"/>
              </a:defRPr>
            </a:lvl1pPr>
            <a:lvl2pPr algn="ctr">
              <a:defRPr lang="en-US" sz="2100" b="0">
                <a:solidFill>
                  <a:srgbClr val="656B73"/>
                </a:solidFill>
                <a:latin typeface="Roboto"/>
                <a:ea typeface="Roboto"/>
                <a:cs typeface="Roboto"/>
              </a:defRPr>
            </a:lvl2pPr>
            <a:lvl3pPr algn="ctr">
              <a:defRPr lang="en-US" sz="2100" b="0">
                <a:solidFill>
                  <a:srgbClr val="656B73"/>
                </a:solidFill>
                <a:latin typeface="Roboto"/>
                <a:ea typeface="Roboto"/>
                <a:cs typeface="Roboto"/>
              </a:defRPr>
            </a:lvl3pPr>
            <a:lvl4pPr algn="ctr">
              <a:defRPr lang="en-US" sz="2100" b="0">
                <a:solidFill>
                  <a:srgbClr val="656B73"/>
                </a:solidFill>
                <a:latin typeface="Roboto"/>
                <a:ea typeface="Roboto"/>
                <a:cs typeface="Roboto"/>
              </a:defRPr>
            </a:lvl4pPr>
            <a:lvl5pPr algn="ctr">
              <a:defRPr lang="en-US" sz="2100" b="0">
                <a:solidFill>
                  <a:srgbClr val="656B73"/>
                </a:solidFill>
                <a:latin typeface="Roboto"/>
                <a:ea typeface="Roboto"/>
                <a:cs typeface="Roboto"/>
              </a:defRPr>
            </a:lvl5pPr>
            <a:lvl6pPr algn="ctr">
              <a:defRPr lang="en-US" sz="2100" b="0">
                <a:solidFill>
                  <a:srgbClr val="656B73"/>
                </a:solidFill>
                <a:latin typeface="Roboto"/>
                <a:ea typeface="Roboto"/>
                <a:cs typeface="Roboto"/>
              </a:defRPr>
            </a:lvl6pPr>
            <a:lvl7pPr algn="ctr">
              <a:defRPr lang="en-US" sz="2100" b="0">
                <a:solidFill>
                  <a:srgbClr val="656B73"/>
                </a:solidFill>
                <a:latin typeface="Roboto"/>
                <a:ea typeface="Roboto"/>
                <a:cs typeface="Roboto"/>
              </a:defRPr>
            </a:lvl7pPr>
            <a:lvl8pPr algn="ctr">
              <a:defRPr lang="en-US" sz="2100" b="0">
                <a:solidFill>
                  <a:srgbClr val="656B73"/>
                </a:solidFill>
                <a:latin typeface="Roboto"/>
                <a:ea typeface="Roboto"/>
                <a:cs typeface="Roboto"/>
              </a:defRPr>
            </a:lvl8pPr>
            <a:lvl9pPr algn="ctr">
              <a:defRPr lang="en-US" sz="2100" b="0">
                <a:solidFill>
                  <a:srgbClr val="656B73"/>
                </a:solidFill>
                <a:latin typeface="Roboto"/>
                <a:ea typeface="Roboto"/>
                <a:cs typeface="Roboto"/>
              </a:defRPr>
            </a:lvl9pPr>
          </a:lstStyle>
          <a:p>
            <a:pPr algn="ctr">
              <a:defRPr lang="en-US" sz="2100" b="0">
                <a:solidFill>
                  <a:srgbClr val="656B73"/>
                </a:solidFill>
                <a:latin typeface="Roboto"/>
                <a:ea typeface="Roboto"/>
                <a:cs typeface="Roboto"/>
              </a:defRPr>
            </a:pPr>
            <a:r>
              <a:rPr lang="en-US" sz="2100" b="0">
                <a:solidFill>
                  <a:srgbClr val="656B73"/>
                </a:solidFill>
                <a:latin typeface="Roboto"/>
                <a:ea typeface="Roboto"/>
                <a:cs typeface="Roboto"/>
              </a:rPr>
              <a:t>Earth</a:t>
            </a:r>
          </a:p>
        </p:txBody>
      </p:sp>
      <p:sp>
        <p:nvSpPr>
          <p:cNvPr id="13" name="mars-label">
            <a:extLst>
              <a:ext uri="{FF2B5EF4-FFF2-40B4-BE49-F238E27FC236}">
                <a16:creationId xmlns:a16="http://schemas.microsoft.com/office/drawing/2014/main" id="{17ACD5D3-0824-4CC4-A02B-31F7BF926079}"/>
              </a:ext>
            </a:extLst>
          </p:cNvPr>
          <p:cNvSpPr>
            <a:spLocks noGrp="1"/>
          </p:cNvSpPr>
          <p:nvPr/>
        </p:nvSpPr>
        <p:spPr>
          <a:xfrm>
            <a:off x="9077325" y="3867150"/>
            <a:ext cx="1809750" cy="457200"/>
          </a:xfrm>
          <a:prstGeom prst="rect">
            <a:avLst/>
          </a:prstGeom>
          <a:noFill/>
          <a:ln w="0">
            <a:noFill/>
          </a:ln>
        </p:spPr>
        <p:txBody>
          <a:bodyPr wrap="square" lIns="0" tIns="0" rIns="0" bIns="0" anchor="t">
            <a:noAutofit/>
          </a:bodyPr>
          <a:lstStyle>
            <a:defPPr algn="ctr">
              <a:defRPr lang="en-US" sz="2100" b="0">
                <a:solidFill>
                  <a:srgbClr val="656B73"/>
                </a:solidFill>
                <a:latin typeface="Roboto"/>
                <a:ea typeface="Roboto"/>
                <a:cs typeface="Roboto"/>
              </a:defRPr>
            </a:defPPr>
            <a:lvl1pPr algn="ctr">
              <a:defRPr lang="en-US" sz="2100" b="0">
                <a:solidFill>
                  <a:srgbClr val="656B73"/>
                </a:solidFill>
                <a:latin typeface="Roboto"/>
                <a:ea typeface="Roboto"/>
                <a:cs typeface="Roboto"/>
              </a:defRPr>
            </a:lvl1pPr>
            <a:lvl2pPr algn="ctr">
              <a:defRPr lang="en-US" sz="2100" b="0">
                <a:solidFill>
                  <a:srgbClr val="656B73"/>
                </a:solidFill>
                <a:latin typeface="Roboto"/>
                <a:ea typeface="Roboto"/>
                <a:cs typeface="Roboto"/>
              </a:defRPr>
            </a:lvl2pPr>
            <a:lvl3pPr algn="ctr">
              <a:defRPr lang="en-US" sz="2100" b="0">
                <a:solidFill>
                  <a:srgbClr val="656B73"/>
                </a:solidFill>
                <a:latin typeface="Roboto"/>
                <a:ea typeface="Roboto"/>
                <a:cs typeface="Roboto"/>
              </a:defRPr>
            </a:lvl3pPr>
            <a:lvl4pPr algn="ctr">
              <a:defRPr lang="en-US" sz="2100" b="0">
                <a:solidFill>
                  <a:srgbClr val="656B73"/>
                </a:solidFill>
                <a:latin typeface="Roboto"/>
                <a:ea typeface="Roboto"/>
                <a:cs typeface="Roboto"/>
              </a:defRPr>
            </a:lvl4pPr>
            <a:lvl5pPr algn="ctr">
              <a:defRPr lang="en-US" sz="2100" b="0">
                <a:solidFill>
                  <a:srgbClr val="656B73"/>
                </a:solidFill>
                <a:latin typeface="Roboto"/>
                <a:ea typeface="Roboto"/>
                <a:cs typeface="Roboto"/>
              </a:defRPr>
            </a:lvl5pPr>
            <a:lvl6pPr algn="ctr">
              <a:defRPr lang="en-US" sz="2100" b="0">
                <a:solidFill>
                  <a:srgbClr val="656B73"/>
                </a:solidFill>
                <a:latin typeface="Roboto"/>
                <a:ea typeface="Roboto"/>
                <a:cs typeface="Roboto"/>
              </a:defRPr>
            </a:lvl6pPr>
            <a:lvl7pPr algn="ctr">
              <a:defRPr lang="en-US" sz="2100" b="0">
                <a:solidFill>
                  <a:srgbClr val="656B73"/>
                </a:solidFill>
                <a:latin typeface="Roboto"/>
                <a:ea typeface="Roboto"/>
                <a:cs typeface="Roboto"/>
              </a:defRPr>
            </a:lvl7pPr>
            <a:lvl8pPr algn="ctr">
              <a:defRPr lang="en-US" sz="2100" b="0">
                <a:solidFill>
                  <a:srgbClr val="656B73"/>
                </a:solidFill>
                <a:latin typeface="Roboto"/>
                <a:ea typeface="Roboto"/>
                <a:cs typeface="Roboto"/>
              </a:defRPr>
            </a:lvl8pPr>
            <a:lvl9pPr algn="ctr">
              <a:defRPr lang="en-US" sz="2100" b="0">
                <a:solidFill>
                  <a:srgbClr val="656B73"/>
                </a:solidFill>
                <a:latin typeface="Roboto"/>
                <a:ea typeface="Roboto"/>
                <a:cs typeface="Roboto"/>
              </a:defRPr>
            </a:lvl9pPr>
          </a:lstStyle>
          <a:p>
            <a:pPr algn="ctr">
              <a:defRPr lang="en-US" sz="2100" b="0">
                <a:solidFill>
                  <a:srgbClr val="656B73"/>
                </a:solidFill>
                <a:latin typeface="Roboto"/>
                <a:ea typeface="Roboto"/>
                <a:cs typeface="Roboto"/>
              </a:defRPr>
            </a:pPr>
            <a:r>
              <a:rPr lang="en-US" sz="2100" b="0">
                <a:solidFill>
                  <a:srgbClr val="656B73"/>
                </a:solidFill>
                <a:latin typeface="Roboto"/>
                <a:ea typeface="Roboto"/>
                <a:cs typeface="Roboto"/>
              </a:rPr>
              <a:t>Mars</a:t>
            </a:r>
          </a:p>
        </p:txBody>
      </p:sp>
      <p:sp>
        <p:nvSpPr>
          <p:cNvPr id="14" name="need-local">
            <a:extLst>
              <a:ext uri="{FF2B5EF4-FFF2-40B4-BE49-F238E27FC236}">
                <a16:creationId xmlns:a16="http://schemas.microsoft.com/office/drawing/2014/main" id="{2F24C27D-6AFB-43A4-A5E2-4F8A6AC0594E}"/>
              </a:ext>
            </a:extLst>
          </p:cNvPr>
          <p:cNvSpPr>
            <a:spLocks noGrp="1"/>
          </p:cNvSpPr>
          <p:nvPr/>
        </p:nvSpPr>
        <p:spPr>
          <a:xfrm>
            <a:off x="1285875" y="5343525"/>
            <a:ext cx="9572625" cy="523875"/>
          </a:xfrm>
          <a:prstGeom prst="rect">
            <a:avLst/>
          </a:prstGeom>
          <a:noFill/>
          <a:ln w="0">
            <a:noFill/>
          </a:ln>
        </p:spPr>
        <p:txBody>
          <a:bodyPr wrap="square" lIns="0" tIns="0" rIns="0" bIns="0" anchor="t">
            <a:noAutofit/>
          </a:bodyPr>
          <a:lstStyle>
            <a:defPPr algn="ctr">
              <a:defRPr lang="en-US" sz="2400" b="0">
                <a:solidFill>
                  <a:srgbClr val="202124"/>
                </a:solidFill>
                <a:latin typeface="Roboto"/>
                <a:ea typeface="Roboto"/>
                <a:cs typeface="Roboto"/>
              </a:defRPr>
            </a:defPPr>
            <a:lvl1pPr algn="ctr">
              <a:defRPr lang="en-US" sz="2400" b="0">
                <a:solidFill>
                  <a:srgbClr val="202124"/>
                </a:solidFill>
                <a:latin typeface="Roboto"/>
                <a:ea typeface="Roboto"/>
                <a:cs typeface="Roboto"/>
              </a:defRPr>
            </a:lvl1pPr>
            <a:lvl2pPr algn="ctr">
              <a:defRPr lang="en-US" sz="2400" b="0">
                <a:solidFill>
                  <a:srgbClr val="202124"/>
                </a:solidFill>
                <a:latin typeface="Roboto"/>
                <a:ea typeface="Roboto"/>
                <a:cs typeface="Roboto"/>
              </a:defRPr>
            </a:lvl2pPr>
            <a:lvl3pPr algn="ctr">
              <a:defRPr lang="en-US" sz="2400" b="0">
                <a:solidFill>
                  <a:srgbClr val="202124"/>
                </a:solidFill>
                <a:latin typeface="Roboto"/>
                <a:ea typeface="Roboto"/>
                <a:cs typeface="Roboto"/>
              </a:defRPr>
            </a:lvl3pPr>
            <a:lvl4pPr algn="ctr">
              <a:defRPr lang="en-US" sz="2400" b="0">
                <a:solidFill>
                  <a:srgbClr val="202124"/>
                </a:solidFill>
                <a:latin typeface="Roboto"/>
                <a:ea typeface="Roboto"/>
                <a:cs typeface="Roboto"/>
              </a:defRPr>
            </a:lvl4pPr>
            <a:lvl5pPr algn="ctr">
              <a:defRPr lang="en-US" sz="2400" b="0">
                <a:solidFill>
                  <a:srgbClr val="202124"/>
                </a:solidFill>
                <a:latin typeface="Roboto"/>
                <a:ea typeface="Roboto"/>
                <a:cs typeface="Roboto"/>
              </a:defRPr>
            </a:lvl5pPr>
            <a:lvl6pPr algn="ctr">
              <a:defRPr lang="en-US" sz="2400" b="0">
                <a:solidFill>
                  <a:srgbClr val="202124"/>
                </a:solidFill>
                <a:latin typeface="Roboto"/>
                <a:ea typeface="Roboto"/>
                <a:cs typeface="Roboto"/>
              </a:defRPr>
            </a:lvl6pPr>
            <a:lvl7pPr algn="ctr">
              <a:defRPr lang="en-US" sz="2400" b="0">
                <a:solidFill>
                  <a:srgbClr val="202124"/>
                </a:solidFill>
                <a:latin typeface="Roboto"/>
                <a:ea typeface="Roboto"/>
                <a:cs typeface="Roboto"/>
              </a:defRPr>
            </a:lvl7pPr>
            <a:lvl8pPr algn="ctr">
              <a:defRPr lang="en-US" sz="2400" b="0">
                <a:solidFill>
                  <a:srgbClr val="202124"/>
                </a:solidFill>
                <a:latin typeface="Roboto"/>
                <a:ea typeface="Roboto"/>
                <a:cs typeface="Roboto"/>
              </a:defRPr>
            </a:lvl8pPr>
            <a:lvl9pPr algn="ctr">
              <a:defRPr lang="en-US" sz="2400" b="0">
                <a:solidFill>
                  <a:srgbClr val="202124"/>
                </a:solidFill>
                <a:latin typeface="Roboto"/>
                <a:ea typeface="Roboto"/>
                <a:cs typeface="Roboto"/>
              </a:defRPr>
            </a:lvl9pPr>
          </a:lstStyle>
          <a:p>
            <a:pPr algn="ctr">
              <a:defRPr lang="en-US" sz="2400" b="0">
                <a:solidFill>
                  <a:srgbClr val="202124"/>
                </a:solidFill>
                <a:latin typeface="Roboto"/>
                <a:ea typeface="Roboto"/>
                <a:cs typeface="Roboto"/>
              </a:defRPr>
            </a:pPr>
            <a:r>
              <a:rPr lang="en-US" sz="2400" b="0">
                <a:solidFill>
                  <a:srgbClr val="202124"/>
                </a:solidFill>
                <a:latin typeface="Roboto"/>
                <a:ea typeface="Roboto"/>
                <a:cs typeface="Roboto"/>
              </a:rPr>
              <a:t>Local perception supports decisions during a drive</a:t>
            </a:r>
          </a:p>
        </p:txBody>
      </p:sp>
    </p:spTree>
    <p:extLst>
      <p:ext uri="{BB962C8B-B14F-4D97-AF65-F5344CB8AC3E}">
        <p14:creationId xmlns:p14="http://schemas.microsoft.com/office/powerpoint/2010/main" val="222343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CC6D1FF4-AB68-44C7-A669-A019BC55E922}"/>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Wheel damage motivates visual inspection</a:t>
            </a:r>
          </a:p>
        </p:txBody>
      </p:sp>
      <p:pic>
        <p:nvPicPr>
          <p:cNvPr id="2" name="Immagine 1">
            <a:extLst>
              <a:ext uri="{FF2B5EF4-FFF2-40B4-BE49-F238E27FC236}">
                <a16:creationId xmlns:a16="http://schemas.microsoft.com/office/drawing/2014/main" id="{E1DC46AD-7AC7-48FE-93E2-FAF0A833F06C}"/>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4D950E91-FE22-4001-A544-150F06D5BE60}"/>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962BF1F2-94CC-438A-AE1C-83A16E6C2A05}"/>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18CCFF5E-55A7-41E6-AA79-59E48A237EFB}"/>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3 / 33</a:t>
            </a:r>
          </a:p>
        </p:txBody>
      </p:sp>
      <p:sp>
        <p:nvSpPr>
          <p:cNvPr id="6" name="source-citations">
            <a:extLst>
              <a:ext uri="{FF2B5EF4-FFF2-40B4-BE49-F238E27FC236}">
                <a16:creationId xmlns:a16="http://schemas.microsoft.com/office/drawing/2014/main" id="{070E8B11-982F-4130-99E2-3749DACD00B2}"/>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[2] [3]</a:t>
            </a:r>
            <a:endParaRPr lang="en-US" sz="1125" b="0" dirty="0">
              <a:solidFill>
                <a:srgbClr val="656B73"/>
              </a:solidFill>
              <a:latin typeface="Roboto"/>
              <a:ea typeface="Roboto"/>
              <a:cs typeface="Roboto"/>
            </a:endParaRPr>
          </a:p>
        </p:txBody>
      </p:sp>
      <p:pic>
        <p:nvPicPr>
          <p:cNvPr id="7" name="Immagine 6">
            <a:extLst>
              <a:ext uri="{FF2B5EF4-FFF2-40B4-BE49-F238E27FC236}">
                <a16:creationId xmlns:a16="http://schemas.microsoft.com/office/drawing/2014/main" id="{8D201B54-3E5C-4A2B-9818-BA855B4865CD}"/>
              </a:ext>
            </a:extLst>
          </p:cNvPr>
          <p:cNvPicPr>
            <a:picLocks noChangeAspect="1"/>
          </p:cNvPicPr>
          <p:nvPr/>
        </p:nvPicPr>
        <p:blipFill>
          <a:blip r:embed="rId4"/>
          <a:stretch/>
        </p:blipFill>
        <p:spPr>
          <a:xfrm>
            <a:off x="1323360" y="1524000"/>
            <a:ext cx="6211529" cy="4343400"/>
          </a:xfrm>
          <a:prstGeom prst="rect">
            <a:avLst/>
          </a:prstGeom>
        </p:spPr>
      </p:pic>
      <p:pic>
        <p:nvPicPr>
          <p:cNvPr id="8" name="Immagine 7">
            <a:extLst>
              <a:ext uri="{FF2B5EF4-FFF2-40B4-BE49-F238E27FC236}">
                <a16:creationId xmlns:a16="http://schemas.microsoft.com/office/drawing/2014/main" id="{B73115D0-1BE5-4541-8F9F-BDA9E799CEFD}"/>
              </a:ext>
            </a:extLst>
          </p:cNvPr>
          <p:cNvPicPr>
            <a:picLocks noChangeAspect="1"/>
          </p:cNvPicPr>
          <p:nvPr/>
        </p:nvPicPr>
        <p:blipFill>
          <a:blip r:embed="rId5"/>
          <a:stretch/>
        </p:blipFill>
        <p:spPr>
          <a:xfrm>
            <a:off x="9124950" y="1790700"/>
            <a:ext cx="838200" cy="838200"/>
          </a:xfrm>
          <a:prstGeom prst="rect">
            <a:avLst/>
          </a:prstGeom>
        </p:spPr>
      </p:pic>
      <p:sp>
        <p:nvSpPr>
          <p:cNvPr id="9" name="detect">
            <a:extLst>
              <a:ext uri="{FF2B5EF4-FFF2-40B4-BE49-F238E27FC236}">
                <a16:creationId xmlns:a16="http://schemas.microsoft.com/office/drawing/2014/main" id="{EBAECACC-730E-4DB0-A498-E14C35A8F74F}"/>
              </a:ext>
            </a:extLst>
          </p:cNvPr>
          <p:cNvSpPr>
            <a:spLocks noGrp="1"/>
          </p:cNvSpPr>
          <p:nvPr/>
        </p:nvSpPr>
        <p:spPr>
          <a:xfrm>
            <a:off x="8334375" y="2752725"/>
            <a:ext cx="3238500" cy="523875"/>
          </a:xfrm>
          <a:prstGeom prst="rect">
            <a:avLst/>
          </a:prstGeom>
          <a:noFill/>
          <a:ln w="0">
            <a:noFill/>
          </a:ln>
        </p:spPr>
        <p:txBody>
          <a:bodyPr wrap="square" lIns="0" tIns="0" rIns="0" bIns="0" anchor="t">
            <a:noAutofit/>
          </a:bodyPr>
          <a:lstStyle>
            <a:defPPr algn="ctr">
              <a:defRPr lang="en-US" sz="2550" b="1">
                <a:solidFill>
                  <a:srgbClr val="822433"/>
                </a:solidFill>
                <a:latin typeface="Roboto"/>
                <a:ea typeface="Roboto"/>
                <a:cs typeface="Roboto"/>
              </a:defRPr>
            </a:defPPr>
            <a:lvl1pPr algn="ctr">
              <a:defRPr lang="en-US" sz="2550" b="1">
                <a:solidFill>
                  <a:srgbClr val="822433"/>
                </a:solidFill>
                <a:latin typeface="Roboto"/>
                <a:ea typeface="Roboto"/>
                <a:cs typeface="Roboto"/>
              </a:defRPr>
            </a:lvl1pPr>
            <a:lvl2pPr algn="ctr">
              <a:defRPr lang="en-US" sz="2550" b="1">
                <a:solidFill>
                  <a:srgbClr val="822433"/>
                </a:solidFill>
                <a:latin typeface="Roboto"/>
                <a:ea typeface="Roboto"/>
                <a:cs typeface="Roboto"/>
              </a:defRPr>
            </a:lvl2pPr>
            <a:lvl3pPr algn="ctr">
              <a:defRPr lang="en-US" sz="2550" b="1">
                <a:solidFill>
                  <a:srgbClr val="822433"/>
                </a:solidFill>
                <a:latin typeface="Roboto"/>
                <a:ea typeface="Roboto"/>
                <a:cs typeface="Roboto"/>
              </a:defRPr>
            </a:lvl3pPr>
            <a:lvl4pPr algn="ctr">
              <a:defRPr lang="en-US" sz="2550" b="1">
                <a:solidFill>
                  <a:srgbClr val="822433"/>
                </a:solidFill>
                <a:latin typeface="Roboto"/>
                <a:ea typeface="Roboto"/>
                <a:cs typeface="Roboto"/>
              </a:defRPr>
            </a:lvl4pPr>
            <a:lvl5pPr algn="ctr">
              <a:defRPr lang="en-US" sz="2550" b="1">
                <a:solidFill>
                  <a:srgbClr val="822433"/>
                </a:solidFill>
                <a:latin typeface="Roboto"/>
                <a:ea typeface="Roboto"/>
                <a:cs typeface="Roboto"/>
              </a:defRPr>
            </a:lvl5pPr>
            <a:lvl6pPr algn="ctr">
              <a:defRPr lang="en-US" sz="2550" b="1">
                <a:solidFill>
                  <a:srgbClr val="822433"/>
                </a:solidFill>
                <a:latin typeface="Roboto"/>
                <a:ea typeface="Roboto"/>
                <a:cs typeface="Roboto"/>
              </a:defRPr>
            </a:lvl6pPr>
            <a:lvl7pPr algn="ctr">
              <a:defRPr lang="en-US" sz="2550" b="1">
                <a:solidFill>
                  <a:srgbClr val="822433"/>
                </a:solidFill>
                <a:latin typeface="Roboto"/>
                <a:ea typeface="Roboto"/>
                <a:cs typeface="Roboto"/>
              </a:defRPr>
            </a:lvl7pPr>
            <a:lvl8pPr algn="ctr">
              <a:defRPr lang="en-US" sz="2550" b="1">
                <a:solidFill>
                  <a:srgbClr val="822433"/>
                </a:solidFill>
                <a:latin typeface="Roboto"/>
                <a:ea typeface="Roboto"/>
                <a:cs typeface="Roboto"/>
              </a:defRPr>
            </a:lvl8pPr>
            <a:lvl9pPr algn="ctr">
              <a:defRPr lang="en-US" sz="2550" b="1">
                <a:solidFill>
                  <a:srgbClr val="822433"/>
                </a:solidFill>
                <a:latin typeface="Roboto"/>
                <a:ea typeface="Roboto"/>
                <a:cs typeface="Roboto"/>
              </a:defRPr>
            </a:lvl9pPr>
          </a:lstStyle>
          <a:p>
            <a:pPr algn="ctr">
              <a:defRPr lang="en-US" sz="2550" b="1">
                <a:solidFill>
                  <a:srgbClr val="822433"/>
                </a:solidFill>
                <a:latin typeface="Roboto"/>
                <a:ea typeface="Roboto"/>
                <a:cs typeface="Roboto"/>
              </a:defRPr>
            </a:pPr>
            <a:r>
              <a:rPr lang="en-US" sz="2550" b="1">
                <a:solidFill>
                  <a:srgbClr val="822433"/>
                </a:solidFill>
                <a:latin typeface="Roboto"/>
                <a:ea typeface="Roboto"/>
                <a:cs typeface="Roboto"/>
              </a:rPr>
              <a:t>Detect damage</a:t>
            </a:r>
          </a:p>
        </p:txBody>
      </p:sp>
      <p:pic>
        <p:nvPicPr>
          <p:cNvPr id="10" name="Immagine 9">
            <a:extLst>
              <a:ext uri="{FF2B5EF4-FFF2-40B4-BE49-F238E27FC236}">
                <a16:creationId xmlns:a16="http://schemas.microsoft.com/office/drawing/2014/main" id="{1089BD2D-FED8-429C-BBD1-275B60BE6E4F}"/>
              </a:ext>
            </a:extLst>
          </p:cNvPr>
          <p:cNvPicPr>
            <a:picLocks noChangeAspect="1"/>
          </p:cNvPicPr>
          <p:nvPr/>
        </p:nvPicPr>
        <p:blipFill>
          <a:blip r:embed="rId6"/>
          <a:stretch/>
        </p:blipFill>
        <p:spPr>
          <a:xfrm>
            <a:off x="9124950" y="3629025"/>
            <a:ext cx="838200" cy="838200"/>
          </a:xfrm>
          <a:prstGeom prst="rect">
            <a:avLst/>
          </a:prstGeom>
        </p:spPr>
      </p:pic>
      <p:sp>
        <p:nvSpPr>
          <p:cNvPr id="11" name="localize">
            <a:extLst>
              <a:ext uri="{FF2B5EF4-FFF2-40B4-BE49-F238E27FC236}">
                <a16:creationId xmlns:a16="http://schemas.microsoft.com/office/drawing/2014/main" id="{766A5AE6-F86C-4B70-8A3E-997BC280DD68}"/>
              </a:ext>
            </a:extLst>
          </p:cNvPr>
          <p:cNvSpPr>
            <a:spLocks noGrp="1"/>
          </p:cNvSpPr>
          <p:nvPr/>
        </p:nvSpPr>
        <p:spPr>
          <a:xfrm>
            <a:off x="8334375" y="4610100"/>
            <a:ext cx="3238500" cy="523875"/>
          </a:xfrm>
          <a:prstGeom prst="rect">
            <a:avLst/>
          </a:prstGeom>
          <a:noFill/>
          <a:ln w="0">
            <a:noFill/>
          </a:ln>
        </p:spPr>
        <p:txBody>
          <a:bodyPr wrap="square" lIns="0" tIns="0" rIns="0" bIns="0" anchor="t">
            <a:noAutofit/>
          </a:bodyPr>
          <a:lstStyle>
            <a:defPPr algn="ctr">
              <a:defRPr lang="en-US" sz="2550" b="1">
                <a:solidFill>
                  <a:srgbClr val="822433"/>
                </a:solidFill>
                <a:latin typeface="Roboto"/>
                <a:ea typeface="Roboto"/>
                <a:cs typeface="Roboto"/>
              </a:defRPr>
            </a:defPPr>
            <a:lvl1pPr algn="ctr">
              <a:defRPr lang="en-US" sz="2550" b="1">
                <a:solidFill>
                  <a:srgbClr val="822433"/>
                </a:solidFill>
                <a:latin typeface="Roboto"/>
                <a:ea typeface="Roboto"/>
                <a:cs typeface="Roboto"/>
              </a:defRPr>
            </a:lvl1pPr>
            <a:lvl2pPr algn="ctr">
              <a:defRPr lang="en-US" sz="2550" b="1">
                <a:solidFill>
                  <a:srgbClr val="822433"/>
                </a:solidFill>
                <a:latin typeface="Roboto"/>
                <a:ea typeface="Roboto"/>
                <a:cs typeface="Roboto"/>
              </a:defRPr>
            </a:lvl2pPr>
            <a:lvl3pPr algn="ctr">
              <a:defRPr lang="en-US" sz="2550" b="1">
                <a:solidFill>
                  <a:srgbClr val="822433"/>
                </a:solidFill>
                <a:latin typeface="Roboto"/>
                <a:ea typeface="Roboto"/>
                <a:cs typeface="Roboto"/>
              </a:defRPr>
            </a:lvl3pPr>
            <a:lvl4pPr algn="ctr">
              <a:defRPr lang="en-US" sz="2550" b="1">
                <a:solidFill>
                  <a:srgbClr val="822433"/>
                </a:solidFill>
                <a:latin typeface="Roboto"/>
                <a:ea typeface="Roboto"/>
                <a:cs typeface="Roboto"/>
              </a:defRPr>
            </a:lvl4pPr>
            <a:lvl5pPr algn="ctr">
              <a:defRPr lang="en-US" sz="2550" b="1">
                <a:solidFill>
                  <a:srgbClr val="822433"/>
                </a:solidFill>
                <a:latin typeface="Roboto"/>
                <a:ea typeface="Roboto"/>
                <a:cs typeface="Roboto"/>
              </a:defRPr>
            </a:lvl5pPr>
            <a:lvl6pPr algn="ctr">
              <a:defRPr lang="en-US" sz="2550" b="1">
                <a:solidFill>
                  <a:srgbClr val="822433"/>
                </a:solidFill>
                <a:latin typeface="Roboto"/>
                <a:ea typeface="Roboto"/>
                <a:cs typeface="Roboto"/>
              </a:defRPr>
            </a:lvl6pPr>
            <a:lvl7pPr algn="ctr">
              <a:defRPr lang="en-US" sz="2550" b="1">
                <a:solidFill>
                  <a:srgbClr val="822433"/>
                </a:solidFill>
                <a:latin typeface="Roboto"/>
                <a:ea typeface="Roboto"/>
                <a:cs typeface="Roboto"/>
              </a:defRPr>
            </a:lvl7pPr>
            <a:lvl8pPr algn="ctr">
              <a:defRPr lang="en-US" sz="2550" b="1">
                <a:solidFill>
                  <a:srgbClr val="822433"/>
                </a:solidFill>
                <a:latin typeface="Roboto"/>
                <a:ea typeface="Roboto"/>
                <a:cs typeface="Roboto"/>
              </a:defRPr>
            </a:lvl8pPr>
            <a:lvl9pPr algn="ctr">
              <a:defRPr lang="en-US" sz="2550" b="1">
                <a:solidFill>
                  <a:srgbClr val="822433"/>
                </a:solidFill>
                <a:latin typeface="Roboto"/>
                <a:ea typeface="Roboto"/>
                <a:cs typeface="Roboto"/>
              </a:defRPr>
            </a:lvl9pPr>
          </a:lstStyle>
          <a:p>
            <a:pPr algn="ctr">
              <a:defRPr lang="en-US" sz="2550" b="1">
                <a:solidFill>
                  <a:srgbClr val="822433"/>
                </a:solidFill>
                <a:latin typeface="Roboto"/>
                <a:ea typeface="Roboto"/>
                <a:cs typeface="Roboto"/>
              </a:defRPr>
            </a:pPr>
            <a:r>
              <a:rPr lang="en-US" sz="2550" b="1">
                <a:solidFill>
                  <a:srgbClr val="822433"/>
                </a:solidFill>
                <a:latin typeface="Roboto"/>
                <a:ea typeface="Roboto"/>
                <a:cs typeface="Roboto"/>
              </a:rPr>
              <a:t>Locate the defect</a:t>
            </a:r>
          </a:p>
        </p:txBody>
      </p:sp>
      <p:sp>
        <p:nvSpPr>
          <p:cNvPr id="12" name="image-credit">
            <a:extLst>
              <a:ext uri="{FF2B5EF4-FFF2-40B4-BE49-F238E27FC236}">
                <a16:creationId xmlns:a16="http://schemas.microsoft.com/office/drawing/2014/main" id="{125522D8-4FB0-4164-A2D8-FF071D1AABB7}"/>
              </a:ext>
            </a:extLst>
          </p:cNvPr>
          <p:cNvSpPr>
            <a:spLocks noGrp="1"/>
          </p:cNvSpPr>
          <p:nvPr/>
        </p:nvSpPr>
        <p:spPr>
          <a:xfrm>
            <a:off x="1085850" y="5876925"/>
            <a:ext cx="6667500" cy="238125"/>
          </a:xfrm>
          <a:prstGeom prst="rect">
            <a:avLst/>
          </a:prstGeom>
          <a:noFill/>
          <a:ln w="0">
            <a:noFill/>
          </a:ln>
        </p:spPr>
        <p:txBody>
          <a:bodyPr wrap="square" lIns="0" tIns="0" rIns="0" bIns="0" anchor="t">
            <a:noAutofit/>
          </a:bodyPr>
          <a:lstStyle>
            <a:defPPr algn="ctr">
              <a:defRPr lang="en-US" sz="1275" b="0">
                <a:solidFill>
                  <a:srgbClr val="656B73"/>
                </a:solidFill>
                <a:latin typeface="Roboto"/>
                <a:ea typeface="Roboto"/>
                <a:cs typeface="Roboto"/>
              </a:defRPr>
            </a:defPPr>
            <a:lvl1pPr algn="ctr">
              <a:defRPr lang="en-US" sz="1275" b="0">
                <a:solidFill>
                  <a:srgbClr val="656B73"/>
                </a:solidFill>
                <a:latin typeface="Roboto"/>
                <a:ea typeface="Roboto"/>
                <a:cs typeface="Roboto"/>
              </a:defRPr>
            </a:lvl1pPr>
            <a:lvl2pPr algn="ctr">
              <a:defRPr lang="en-US" sz="1275" b="0">
                <a:solidFill>
                  <a:srgbClr val="656B73"/>
                </a:solidFill>
                <a:latin typeface="Roboto"/>
                <a:ea typeface="Roboto"/>
                <a:cs typeface="Roboto"/>
              </a:defRPr>
            </a:lvl2pPr>
            <a:lvl3pPr algn="ctr">
              <a:defRPr lang="en-US" sz="1275" b="0">
                <a:solidFill>
                  <a:srgbClr val="656B73"/>
                </a:solidFill>
                <a:latin typeface="Roboto"/>
                <a:ea typeface="Roboto"/>
                <a:cs typeface="Roboto"/>
              </a:defRPr>
            </a:lvl3pPr>
            <a:lvl4pPr algn="ctr">
              <a:defRPr lang="en-US" sz="1275" b="0">
                <a:solidFill>
                  <a:srgbClr val="656B73"/>
                </a:solidFill>
                <a:latin typeface="Roboto"/>
                <a:ea typeface="Roboto"/>
                <a:cs typeface="Roboto"/>
              </a:defRPr>
            </a:lvl4pPr>
            <a:lvl5pPr algn="ctr">
              <a:defRPr lang="en-US" sz="1275" b="0">
                <a:solidFill>
                  <a:srgbClr val="656B73"/>
                </a:solidFill>
                <a:latin typeface="Roboto"/>
                <a:ea typeface="Roboto"/>
                <a:cs typeface="Roboto"/>
              </a:defRPr>
            </a:lvl5pPr>
            <a:lvl6pPr algn="ctr">
              <a:defRPr lang="en-US" sz="1275" b="0">
                <a:solidFill>
                  <a:srgbClr val="656B73"/>
                </a:solidFill>
                <a:latin typeface="Roboto"/>
                <a:ea typeface="Roboto"/>
                <a:cs typeface="Roboto"/>
              </a:defRPr>
            </a:lvl6pPr>
            <a:lvl7pPr algn="ctr">
              <a:defRPr lang="en-US" sz="1275" b="0">
                <a:solidFill>
                  <a:srgbClr val="656B73"/>
                </a:solidFill>
                <a:latin typeface="Roboto"/>
                <a:ea typeface="Roboto"/>
                <a:cs typeface="Roboto"/>
              </a:defRPr>
            </a:lvl7pPr>
            <a:lvl8pPr algn="ctr">
              <a:defRPr lang="en-US" sz="1275" b="0">
                <a:solidFill>
                  <a:srgbClr val="656B73"/>
                </a:solidFill>
                <a:latin typeface="Roboto"/>
                <a:ea typeface="Roboto"/>
                <a:cs typeface="Roboto"/>
              </a:defRPr>
            </a:lvl8pPr>
            <a:lvl9pPr algn="ctr">
              <a:defRPr lang="en-US" sz="1275" b="0">
                <a:solidFill>
                  <a:srgbClr val="656B73"/>
                </a:solidFill>
                <a:latin typeface="Roboto"/>
                <a:ea typeface="Roboto"/>
                <a:cs typeface="Roboto"/>
              </a:defRPr>
            </a:lvl9pPr>
          </a:lstStyle>
          <a:p>
            <a:pPr algn="ctr">
              <a:defRPr lang="en-US" sz="1275" b="0">
                <a:solidFill>
                  <a:srgbClr val="656B73"/>
                </a:solidFill>
                <a:latin typeface="Roboto"/>
                <a:ea typeface="Roboto"/>
                <a:cs typeface="Roboto"/>
              </a:defRPr>
            </a:pPr>
            <a:r>
              <a:rPr lang="en-US" sz="1275" b="0">
                <a:solidFill>
                  <a:srgbClr val="656B73"/>
                </a:solidFill>
                <a:latin typeface="Roboto"/>
                <a:ea typeface="Roboto"/>
                <a:cs typeface="Roboto"/>
              </a:rPr>
              <a:t>NASA/JPL-Caltech/MSSS, sol 1315</a:t>
            </a:r>
          </a:p>
        </p:txBody>
      </p:sp>
    </p:spTree>
    <p:extLst>
      <p:ext uri="{BB962C8B-B14F-4D97-AF65-F5344CB8AC3E}">
        <p14:creationId xmlns:p14="http://schemas.microsoft.com/office/powerpoint/2010/main" val="222343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4B16E81D-F643-4577-B666-2C7B13349196}"/>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Thesis objective and research branches</a:t>
            </a:r>
          </a:p>
        </p:txBody>
      </p:sp>
      <p:pic>
        <p:nvPicPr>
          <p:cNvPr id="2" name="Immagine 1">
            <a:extLst>
              <a:ext uri="{FF2B5EF4-FFF2-40B4-BE49-F238E27FC236}">
                <a16:creationId xmlns:a16="http://schemas.microsoft.com/office/drawing/2014/main" id="{00E722C9-88D9-48BE-9DB8-C1FF9F0B99A7}"/>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5F4D715D-44B3-453F-8AAB-4FE4B23905E6}"/>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3BE7986D-793E-4911-9D1E-A76592D42C6C}"/>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AECF4819-DFC6-4334-9148-8DF3F4E977AF}"/>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4 / 33</a:t>
            </a:r>
          </a:p>
        </p:txBody>
      </p:sp>
      <p:sp>
        <p:nvSpPr>
          <p:cNvPr id="6" name="source-citations">
            <a:extLst>
              <a:ext uri="{FF2B5EF4-FFF2-40B4-BE49-F238E27FC236}">
                <a16:creationId xmlns:a16="http://schemas.microsoft.com/office/drawing/2014/main" id="{5EBEEA41-67BC-42E4-A8B3-307BCBBB6B7E}"/>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results and methods</a:t>
            </a:r>
          </a:p>
        </p:txBody>
      </p:sp>
      <p:pic>
        <p:nvPicPr>
          <p:cNvPr id="7" name="Immagine 6">
            <a:extLst>
              <a:ext uri="{FF2B5EF4-FFF2-40B4-BE49-F238E27FC236}">
                <a16:creationId xmlns:a16="http://schemas.microsoft.com/office/drawing/2014/main" id="{8A82621B-C6BD-4AA9-84A6-AA95D0658AED}"/>
              </a:ext>
            </a:extLst>
          </p:cNvPr>
          <p:cNvPicPr>
            <a:picLocks noChangeAspect="1"/>
          </p:cNvPicPr>
          <p:nvPr/>
        </p:nvPicPr>
        <p:blipFill>
          <a:blip r:embed="rId4"/>
          <a:stretch/>
        </p:blipFill>
        <p:spPr>
          <a:xfrm>
            <a:off x="2190750" y="1676400"/>
            <a:ext cx="990600" cy="990600"/>
          </a:xfrm>
          <a:prstGeom prst="rect">
            <a:avLst/>
          </a:prstGeom>
        </p:spPr>
      </p:pic>
      <p:pic>
        <p:nvPicPr>
          <p:cNvPr id="8" name="Immagine 7">
            <a:extLst>
              <a:ext uri="{FF2B5EF4-FFF2-40B4-BE49-F238E27FC236}">
                <a16:creationId xmlns:a16="http://schemas.microsoft.com/office/drawing/2014/main" id="{33E9D5C4-D04E-42D8-8427-07FD1C1CF67F}"/>
              </a:ext>
            </a:extLst>
          </p:cNvPr>
          <p:cNvPicPr>
            <a:picLocks noChangeAspect="1"/>
          </p:cNvPicPr>
          <p:nvPr/>
        </p:nvPicPr>
        <p:blipFill>
          <a:blip r:embed="rId5"/>
          <a:stretch/>
        </p:blipFill>
        <p:spPr>
          <a:xfrm>
            <a:off x="8543925" y="1676400"/>
            <a:ext cx="990600" cy="990600"/>
          </a:xfrm>
          <a:prstGeom prst="rect">
            <a:avLst/>
          </a:prstGeom>
        </p:spPr>
      </p:pic>
      <p:sp>
        <p:nvSpPr>
          <p:cNvPr id="9" name="scene-label">
            <a:extLst>
              <a:ext uri="{FF2B5EF4-FFF2-40B4-BE49-F238E27FC236}">
                <a16:creationId xmlns:a16="http://schemas.microsoft.com/office/drawing/2014/main" id="{3FC15142-202E-4C9B-AEF7-EFA9A27F4D87}"/>
              </a:ext>
            </a:extLst>
          </p:cNvPr>
          <p:cNvSpPr>
            <a:spLocks noGrp="1"/>
          </p:cNvSpPr>
          <p:nvPr/>
        </p:nvSpPr>
        <p:spPr>
          <a:xfrm>
            <a:off x="1095375" y="2943225"/>
            <a:ext cx="4191000" cy="523875"/>
          </a:xfrm>
          <a:prstGeom prst="rect">
            <a:avLst/>
          </a:prstGeom>
          <a:noFill/>
          <a:ln w="0">
            <a:noFill/>
          </a:ln>
        </p:spPr>
        <p:txBody>
          <a:bodyPr wrap="square" lIns="0" tIns="0" rIns="0" bIns="0" anchor="t">
            <a:noAutofit/>
          </a:bodyPr>
          <a:lstStyle>
            <a:defPPr algn="ctr">
              <a:defRPr lang="en-US" sz="2700" b="1">
                <a:solidFill>
                  <a:srgbClr val="822433"/>
                </a:solidFill>
                <a:latin typeface="Roboto"/>
                <a:ea typeface="Roboto"/>
                <a:cs typeface="Roboto"/>
              </a:defRPr>
            </a:defPPr>
            <a:lvl1pPr algn="ctr">
              <a:defRPr lang="en-US" sz="2700" b="1">
                <a:solidFill>
                  <a:srgbClr val="822433"/>
                </a:solidFill>
                <a:latin typeface="Roboto"/>
                <a:ea typeface="Roboto"/>
                <a:cs typeface="Roboto"/>
              </a:defRPr>
            </a:lvl1pPr>
            <a:lvl2pPr algn="ctr">
              <a:defRPr lang="en-US" sz="2700" b="1">
                <a:solidFill>
                  <a:srgbClr val="822433"/>
                </a:solidFill>
                <a:latin typeface="Roboto"/>
                <a:ea typeface="Roboto"/>
                <a:cs typeface="Roboto"/>
              </a:defRPr>
            </a:lvl2pPr>
            <a:lvl3pPr algn="ctr">
              <a:defRPr lang="en-US" sz="2700" b="1">
                <a:solidFill>
                  <a:srgbClr val="822433"/>
                </a:solidFill>
                <a:latin typeface="Roboto"/>
                <a:ea typeface="Roboto"/>
                <a:cs typeface="Roboto"/>
              </a:defRPr>
            </a:lvl3pPr>
            <a:lvl4pPr algn="ctr">
              <a:defRPr lang="en-US" sz="2700" b="1">
                <a:solidFill>
                  <a:srgbClr val="822433"/>
                </a:solidFill>
                <a:latin typeface="Roboto"/>
                <a:ea typeface="Roboto"/>
                <a:cs typeface="Roboto"/>
              </a:defRPr>
            </a:lvl4pPr>
            <a:lvl5pPr algn="ctr">
              <a:defRPr lang="en-US" sz="2700" b="1">
                <a:solidFill>
                  <a:srgbClr val="822433"/>
                </a:solidFill>
                <a:latin typeface="Roboto"/>
                <a:ea typeface="Roboto"/>
                <a:cs typeface="Roboto"/>
              </a:defRPr>
            </a:lvl5pPr>
            <a:lvl6pPr algn="ctr">
              <a:defRPr lang="en-US" sz="2700" b="1">
                <a:solidFill>
                  <a:srgbClr val="822433"/>
                </a:solidFill>
                <a:latin typeface="Roboto"/>
                <a:ea typeface="Roboto"/>
                <a:cs typeface="Roboto"/>
              </a:defRPr>
            </a:lvl6pPr>
            <a:lvl7pPr algn="ctr">
              <a:defRPr lang="en-US" sz="2700" b="1">
                <a:solidFill>
                  <a:srgbClr val="822433"/>
                </a:solidFill>
                <a:latin typeface="Roboto"/>
                <a:ea typeface="Roboto"/>
                <a:cs typeface="Roboto"/>
              </a:defRPr>
            </a:lvl7pPr>
            <a:lvl8pPr algn="ctr">
              <a:defRPr lang="en-US" sz="2700" b="1">
                <a:solidFill>
                  <a:srgbClr val="822433"/>
                </a:solidFill>
                <a:latin typeface="Roboto"/>
                <a:ea typeface="Roboto"/>
                <a:cs typeface="Roboto"/>
              </a:defRPr>
            </a:lvl8pPr>
            <a:lvl9pPr algn="ctr">
              <a:defRPr lang="en-US" sz="2700" b="1">
                <a:solidFill>
                  <a:srgbClr val="822433"/>
                </a:solidFill>
                <a:latin typeface="Roboto"/>
                <a:ea typeface="Roboto"/>
                <a:cs typeface="Roboto"/>
              </a:defRPr>
            </a:lvl9pPr>
          </a:lstStyle>
          <a:p>
            <a:pPr algn="ctr">
              <a:defRPr lang="en-US" sz="2700" b="1">
                <a:solidFill>
                  <a:srgbClr val="822433"/>
                </a:solidFill>
                <a:latin typeface="Roboto"/>
                <a:ea typeface="Roboto"/>
                <a:cs typeface="Roboto"/>
              </a:defRPr>
            </a:pPr>
            <a:r>
              <a:rPr lang="en-US" sz="2700" b="1">
                <a:solidFill>
                  <a:srgbClr val="822433"/>
                </a:solidFill>
                <a:latin typeface="Roboto"/>
                <a:ea typeface="Roboto"/>
                <a:cs typeface="Roboto"/>
              </a:rPr>
              <a:t>Scene understanding</a:t>
            </a:r>
          </a:p>
        </p:txBody>
      </p:sp>
      <p:sp>
        <p:nvSpPr>
          <p:cNvPr id="10" name="scene-method">
            <a:extLst>
              <a:ext uri="{FF2B5EF4-FFF2-40B4-BE49-F238E27FC236}">
                <a16:creationId xmlns:a16="http://schemas.microsoft.com/office/drawing/2014/main" id="{BAF1BA85-843D-402B-B1BC-5F196B5A8A11}"/>
              </a:ext>
            </a:extLst>
          </p:cNvPr>
          <p:cNvSpPr>
            <a:spLocks noGrp="1"/>
          </p:cNvSpPr>
          <p:nvPr/>
        </p:nvSpPr>
        <p:spPr>
          <a:xfrm>
            <a:off x="1095375" y="3609975"/>
            <a:ext cx="4191000" cy="419100"/>
          </a:xfrm>
          <a:prstGeom prst="rect">
            <a:avLst/>
          </a:prstGeom>
          <a:noFill/>
          <a:ln w="0">
            <a:noFill/>
          </a:ln>
        </p:spPr>
        <p:txBody>
          <a:bodyPr wrap="square" lIns="0" tIns="0" rIns="0" bIns="0" anchor="t">
            <a:noAutofit/>
          </a:bodyPr>
          <a:lstStyle>
            <a:defPPr algn="ctr">
              <a:defRPr lang="en-US" sz="2100" b="0">
                <a:solidFill>
                  <a:srgbClr val="202124"/>
                </a:solidFill>
                <a:latin typeface="Roboto"/>
                <a:ea typeface="Roboto"/>
                <a:cs typeface="Roboto"/>
              </a:defRPr>
            </a:defPPr>
            <a:lvl1pPr algn="ctr">
              <a:defRPr lang="en-US" sz="2100" b="0">
                <a:solidFill>
                  <a:srgbClr val="202124"/>
                </a:solidFill>
                <a:latin typeface="Roboto"/>
                <a:ea typeface="Roboto"/>
                <a:cs typeface="Roboto"/>
              </a:defRPr>
            </a:lvl1pPr>
            <a:lvl2pPr algn="ctr">
              <a:defRPr lang="en-US" sz="2100" b="0">
                <a:solidFill>
                  <a:srgbClr val="202124"/>
                </a:solidFill>
                <a:latin typeface="Roboto"/>
                <a:ea typeface="Roboto"/>
                <a:cs typeface="Roboto"/>
              </a:defRPr>
            </a:lvl2pPr>
            <a:lvl3pPr algn="ctr">
              <a:defRPr lang="en-US" sz="2100" b="0">
                <a:solidFill>
                  <a:srgbClr val="202124"/>
                </a:solidFill>
                <a:latin typeface="Roboto"/>
                <a:ea typeface="Roboto"/>
                <a:cs typeface="Roboto"/>
              </a:defRPr>
            </a:lvl3pPr>
            <a:lvl4pPr algn="ctr">
              <a:defRPr lang="en-US" sz="2100" b="0">
                <a:solidFill>
                  <a:srgbClr val="202124"/>
                </a:solidFill>
                <a:latin typeface="Roboto"/>
                <a:ea typeface="Roboto"/>
                <a:cs typeface="Roboto"/>
              </a:defRPr>
            </a:lvl4pPr>
            <a:lvl5pPr algn="ctr">
              <a:defRPr lang="en-US" sz="2100" b="0">
                <a:solidFill>
                  <a:srgbClr val="202124"/>
                </a:solidFill>
                <a:latin typeface="Roboto"/>
                <a:ea typeface="Roboto"/>
                <a:cs typeface="Roboto"/>
              </a:defRPr>
            </a:lvl5pPr>
            <a:lvl6pPr algn="ctr">
              <a:defRPr lang="en-US" sz="2100" b="0">
                <a:solidFill>
                  <a:srgbClr val="202124"/>
                </a:solidFill>
                <a:latin typeface="Roboto"/>
                <a:ea typeface="Roboto"/>
                <a:cs typeface="Roboto"/>
              </a:defRPr>
            </a:lvl6pPr>
            <a:lvl7pPr algn="ctr">
              <a:defRPr lang="en-US" sz="2100" b="0">
                <a:solidFill>
                  <a:srgbClr val="202124"/>
                </a:solidFill>
                <a:latin typeface="Roboto"/>
                <a:ea typeface="Roboto"/>
                <a:cs typeface="Roboto"/>
              </a:defRPr>
            </a:lvl7pPr>
            <a:lvl8pPr algn="ctr">
              <a:defRPr lang="en-US" sz="2100" b="0">
                <a:solidFill>
                  <a:srgbClr val="202124"/>
                </a:solidFill>
                <a:latin typeface="Roboto"/>
                <a:ea typeface="Roboto"/>
                <a:cs typeface="Roboto"/>
              </a:defRPr>
            </a:lvl8pPr>
            <a:lvl9pPr algn="ctr">
              <a:defRPr lang="en-US" sz="2100" b="0">
                <a:solidFill>
                  <a:srgbClr val="202124"/>
                </a:solidFill>
                <a:latin typeface="Roboto"/>
                <a:ea typeface="Roboto"/>
                <a:cs typeface="Roboto"/>
              </a:defRPr>
            </a:lvl9pPr>
          </a:lstStyle>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Semantic segmentation</a:t>
            </a:r>
          </a:p>
        </p:txBody>
      </p:sp>
      <p:sp>
        <p:nvSpPr>
          <p:cNvPr id="11" name="scene-data">
            <a:extLst>
              <a:ext uri="{FF2B5EF4-FFF2-40B4-BE49-F238E27FC236}">
                <a16:creationId xmlns:a16="http://schemas.microsoft.com/office/drawing/2014/main" id="{93E701DC-8594-42AF-BC1C-9CF330FCAC66}"/>
              </a:ext>
            </a:extLst>
          </p:cNvPr>
          <p:cNvSpPr>
            <a:spLocks noGrp="1"/>
          </p:cNvSpPr>
          <p:nvPr/>
        </p:nvSpPr>
        <p:spPr>
          <a:xfrm>
            <a:off x="1095375" y="4162425"/>
            <a:ext cx="4191000" cy="419100"/>
          </a:xfrm>
          <a:prstGeom prst="rect">
            <a:avLst/>
          </a:prstGeom>
          <a:noFill/>
          <a:ln w="0">
            <a:noFill/>
          </a:ln>
        </p:spPr>
        <p:txBody>
          <a:bodyPr wrap="square" lIns="0" tIns="0" rIns="0" bIns="0" anchor="t">
            <a:noAutofit/>
          </a:bodyPr>
          <a:lstStyle>
            <a:defPPr algn="ctr">
              <a:defRPr lang="en-US" sz="1950" b="0">
                <a:solidFill>
                  <a:srgbClr val="656B73"/>
                </a:solidFill>
                <a:latin typeface="Roboto"/>
                <a:ea typeface="Roboto"/>
                <a:cs typeface="Roboto"/>
              </a:defRPr>
            </a:defPPr>
            <a:lvl1pPr algn="ctr">
              <a:defRPr lang="en-US" sz="1950" b="0">
                <a:solidFill>
                  <a:srgbClr val="656B73"/>
                </a:solidFill>
                <a:latin typeface="Roboto"/>
                <a:ea typeface="Roboto"/>
                <a:cs typeface="Roboto"/>
              </a:defRPr>
            </a:lvl1pPr>
            <a:lvl2pPr algn="ctr">
              <a:defRPr lang="en-US" sz="1950" b="0">
                <a:solidFill>
                  <a:srgbClr val="656B73"/>
                </a:solidFill>
                <a:latin typeface="Roboto"/>
                <a:ea typeface="Roboto"/>
                <a:cs typeface="Roboto"/>
              </a:defRPr>
            </a:lvl2pPr>
            <a:lvl3pPr algn="ctr">
              <a:defRPr lang="en-US" sz="1950" b="0">
                <a:solidFill>
                  <a:srgbClr val="656B73"/>
                </a:solidFill>
                <a:latin typeface="Roboto"/>
                <a:ea typeface="Roboto"/>
                <a:cs typeface="Roboto"/>
              </a:defRPr>
            </a:lvl3pPr>
            <a:lvl4pPr algn="ctr">
              <a:defRPr lang="en-US" sz="1950" b="0">
                <a:solidFill>
                  <a:srgbClr val="656B73"/>
                </a:solidFill>
                <a:latin typeface="Roboto"/>
                <a:ea typeface="Roboto"/>
                <a:cs typeface="Roboto"/>
              </a:defRPr>
            </a:lvl4pPr>
            <a:lvl5pPr algn="ctr">
              <a:defRPr lang="en-US" sz="1950" b="0">
                <a:solidFill>
                  <a:srgbClr val="656B73"/>
                </a:solidFill>
                <a:latin typeface="Roboto"/>
                <a:ea typeface="Roboto"/>
                <a:cs typeface="Roboto"/>
              </a:defRPr>
            </a:lvl5pPr>
            <a:lvl6pPr algn="ctr">
              <a:defRPr lang="en-US" sz="1950" b="0">
                <a:solidFill>
                  <a:srgbClr val="656B73"/>
                </a:solidFill>
                <a:latin typeface="Roboto"/>
                <a:ea typeface="Roboto"/>
                <a:cs typeface="Roboto"/>
              </a:defRPr>
            </a:lvl6pPr>
            <a:lvl7pPr algn="ctr">
              <a:defRPr lang="en-US" sz="1950" b="0">
                <a:solidFill>
                  <a:srgbClr val="656B73"/>
                </a:solidFill>
                <a:latin typeface="Roboto"/>
                <a:ea typeface="Roboto"/>
                <a:cs typeface="Roboto"/>
              </a:defRPr>
            </a:lvl7pPr>
            <a:lvl8pPr algn="ctr">
              <a:defRPr lang="en-US" sz="1950" b="0">
                <a:solidFill>
                  <a:srgbClr val="656B73"/>
                </a:solidFill>
                <a:latin typeface="Roboto"/>
                <a:ea typeface="Roboto"/>
                <a:cs typeface="Roboto"/>
              </a:defRPr>
            </a:lvl8pPr>
            <a:lvl9pPr algn="ctr">
              <a:defRPr lang="en-US" sz="1950" b="0">
                <a:solidFill>
                  <a:srgbClr val="656B73"/>
                </a:solidFill>
                <a:latin typeface="Roboto"/>
                <a:ea typeface="Roboto"/>
                <a:cs typeface="Roboto"/>
              </a:defRPr>
            </a:lvl9pPr>
          </a:lstStyle>
          <a:p>
            <a:pPr algn="ctr">
              <a:defRPr lang="en-US" sz="1950" b="0">
                <a:solidFill>
                  <a:srgbClr val="656B73"/>
                </a:solidFill>
                <a:latin typeface="Roboto"/>
                <a:ea typeface="Roboto"/>
                <a:cs typeface="Roboto"/>
              </a:defRPr>
            </a:pPr>
            <a:r>
              <a:rPr lang="en-US" sz="1950" b="0">
                <a:solidFill>
                  <a:srgbClr val="656B73"/>
                </a:solidFill>
                <a:latin typeface="Roboto"/>
                <a:ea typeface="Roboto"/>
                <a:cs typeface="Roboto"/>
              </a:rPr>
              <a:t>Real Martian scenes</a:t>
            </a:r>
          </a:p>
        </p:txBody>
      </p:sp>
      <p:sp>
        <p:nvSpPr>
          <p:cNvPr id="12" name="wheel-label">
            <a:extLst>
              <a:ext uri="{FF2B5EF4-FFF2-40B4-BE49-F238E27FC236}">
                <a16:creationId xmlns:a16="http://schemas.microsoft.com/office/drawing/2014/main" id="{61ABC0DA-616A-4302-A396-2E02D0EE7502}"/>
              </a:ext>
            </a:extLst>
          </p:cNvPr>
          <p:cNvSpPr>
            <a:spLocks noGrp="1"/>
          </p:cNvSpPr>
          <p:nvPr/>
        </p:nvSpPr>
        <p:spPr>
          <a:xfrm>
            <a:off x="7239000" y="2943225"/>
            <a:ext cx="4191000" cy="523875"/>
          </a:xfrm>
          <a:prstGeom prst="rect">
            <a:avLst/>
          </a:prstGeom>
          <a:noFill/>
          <a:ln w="0">
            <a:noFill/>
          </a:ln>
        </p:spPr>
        <p:txBody>
          <a:bodyPr wrap="square" lIns="0" tIns="0" rIns="0" bIns="0" anchor="t">
            <a:noAutofit/>
          </a:bodyPr>
          <a:lstStyle>
            <a:defPPr algn="ctr">
              <a:defRPr lang="en-US" sz="2700" b="1">
                <a:solidFill>
                  <a:srgbClr val="822433"/>
                </a:solidFill>
                <a:latin typeface="Roboto"/>
                <a:ea typeface="Roboto"/>
                <a:cs typeface="Roboto"/>
              </a:defRPr>
            </a:defPPr>
            <a:lvl1pPr algn="ctr">
              <a:defRPr lang="en-US" sz="2700" b="1">
                <a:solidFill>
                  <a:srgbClr val="822433"/>
                </a:solidFill>
                <a:latin typeface="Roboto"/>
                <a:ea typeface="Roboto"/>
                <a:cs typeface="Roboto"/>
              </a:defRPr>
            </a:lvl1pPr>
            <a:lvl2pPr algn="ctr">
              <a:defRPr lang="en-US" sz="2700" b="1">
                <a:solidFill>
                  <a:srgbClr val="822433"/>
                </a:solidFill>
                <a:latin typeface="Roboto"/>
                <a:ea typeface="Roboto"/>
                <a:cs typeface="Roboto"/>
              </a:defRPr>
            </a:lvl2pPr>
            <a:lvl3pPr algn="ctr">
              <a:defRPr lang="en-US" sz="2700" b="1">
                <a:solidFill>
                  <a:srgbClr val="822433"/>
                </a:solidFill>
                <a:latin typeface="Roboto"/>
                <a:ea typeface="Roboto"/>
                <a:cs typeface="Roboto"/>
              </a:defRPr>
            </a:lvl3pPr>
            <a:lvl4pPr algn="ctr">
              <a:defRPr lang="en-US" sz="2700" b="1">
                <a:solidFill>
                  <a:srgbClr val="822433"/>
                </a:solidFill>
                <a:latin typeface="Roboto"/>
                <a:ea typeface="Roboto"/>
                <a:cs typeface="Roboto"/>
              </a:defRPr>
            </a:lvl4pPr>
            <a:lvl5pPr algn="ctr">
              <a:defRPr lang="en-US" sz="2700" b="1">
                <a:solidFill>
                  <a:srgbClr val="822433"/>
                </a:solidFill>
                <a:latin typeface="Roboto"/>
                <a:ea typeface="Roboto"/>
                <a:cs typeface="Roboto"/>
              </a:defRPr>
            </a:lvl5pPr>
            <a:lvl6pPr algn="ctr">
              <a:defRPr lang="en-US" sz="2700" b="1">
                <a:solidFill>
                  <a:srgbClr val="822433"/>
                </a:solidFill>
                <a:latin typeface="Roboto"/>
                <a:ea typeface="Roboto"/>
                <a:cs typeface="Roboto"/>
              </a:defRPr>
            </a:lvl6pPr>
            <a:lvl7pPr algn="ctr">
              <a:defRPr lang="en-US" sz="2700" b="1">
                <a:solidFill>
                  <a:srgbClr val="822433"/>
                </a:solidFill>
                <a:latin typeface="Roboto"/>
                <a:ea typeface="Roboto"/>
                <a:cs typeface="Roboto"/>
              </a:defRPr>
            </a:lvl7pPr>
            <a:lvl8pPr algn="ctr">
              <a:defRPr lang="en-US" sz="2700" b="1">
                <a:solidFill>
                  <a:srgbClr val="822433"/>
                </a:solidFill>
                <a:latin typeface="Roboto"/>
                <a:ea typeface="Roboto"/>
                <a:cs typeface="Roboto"/>
              </a:defRPr>
            </a:lvl8pPr>
            <a:lvl9pPr algn="ctr">
              <a:defRPr lang="en-US" sz="2700" b="1">
                <a:solidFill>
                  <a:srgbClr val="822433"/>
                </a:solidFill>
                <a:latin typeface="Roboto"/>
                <a:ea typeface="Roboto"/>
                <a:cs typeface="Roboto"/>
              </a:defRPr>
            </a:lvl9pPr>
          </a:lstStyle>
          <a:p>
            <a:pPr algn="ctr">
              <a:defRPr lang="en-US" sz="2700" b="1">
                <a:solidFill>
                  <a:srgbClr val="822433"/>
                </a:solidFill>
                <a:latin typeface="Roboto"/>
                <a:ea typeface="Roboto"/>
                <a:cs typeface="Roboto"/>
              </a:defRPr>
            </a:pPr>
            <a:r>
              <a:rPr lang="en-US" sz="2700" b="1">
                <a:solidFill>
                  <a:srgbClr val="822433"/>
                </a:solidFill>
                <a:latin typeface="Roboto"/>
                <a:ea typeface="Roboto"/>
                <a:cs typeface="Roboto"/>
              </a:rPr>
              <a:t>Wheel inspection</a:t>
            </a:r>
          </a:p>
        </p:txBody>
      </p:sp>
      <p:sp>
        <p:nvSpPr>
          <p:cNvPr id="13" name="wheel-method">
            <a:extLst>
              <a:ext uri="{FF2B5EF4-FFF2-40B4-BE49-F238E27FC236}">
                <a16:creationId xmlns:a16="http://schemas.microsoft.com/office/drawing/2014/main" id="{F8D16066-3240-49BC-9184-7406DE0639A5}"/>
              </a:ext>
            </a:extLst>
          </p:cNvPr>
          <p:cNvSpPr>
            <a:spLocks noGrp="1"/>
          </p:cNvSpPr>
          <p:nvPr/>
        </p:nvSpPr>
        <p:spPr>
          <a:xfrm>
            <a:off x="6953250" y="3609975"/>
            <a:ext cx="4762500" cy="762000"/>
          </a:xfrm>
          <a:prstGeom prst="rect">
            <a:avLst/>
          </a:prstGeom>
          <a:noFill/>
          <a:ln w="0">
            <a:noFill/>
          </a:ln>
        </p:spPr>
        <p:txBody>
          <a:bodyPr wrap="square" lIns="0" tIns="0" rIns="0" bIns="0" anchor="t">
            <a:noAutofit/>
          </a:bodyPr>
          <a:lstStyle>
            <a:defPPr algn="ctr">
              <a:defRPr lang="en-US" sz="2100" b="0">
                <a:solidFill>
                  <a:srgbClr val="202124"/>
                </a:solidFill>
                <a:latin typeface="Roboto"/>
                <a:ea typeface="Roboto"/>
                <a:cs typeface="Roboto"/>
              </a:defRPr>
            </a:defPPr>
            <a:lvl1pPr algn="ctr">
              <a:defRPr lang="en-US" sz="2100" b="0">
                <a:solidFill>
                  <a:srgbClr val="202124"/>
                </a:solidFill>
                <a:latin typeface="Roboto"/>
                <a:ea typeface="Roboto"/>
                <a:cs typeface="Roboto"/>
              </a:defRPr>
            </a:lvl1pPr>
            <a:lvl2pPr algn="ctr">
              <a:defRPr lang="en-US" sz="2100" b="0">
                <a:solidFill>
                  <a:srgbClr val="202124"/>
                </a:solidFill>
                <a:latin typeface="Roboto"/>
                <a:ea typeface="Roboto"/>
                <a:cs typeface="Roboto"/>
              </a:defRPr>
            </a:lvl2pPr>
            <a:lvl3pPr algn="ctr">
              <a:defRPr lang="en-US" sz="2100" b="0">
                <a:solidFill>
                  <a:srgbClr val="202124"/>
                </a:solidFill>
                <a:latin typeface="Roboto"/>
                <a:ea typeface="Roboto"/>
                <a:cs typeface="Roboto"/>
              </a:defRPr>
            </a:lvl3pPr>
            <a:lvl4pPr algn="ctr">
              <a:defRPr lang="en-US" sz="2100" b="0">
                <a:solidFill>
                  <a:srgbClr val="202124"/>
                </a:solidFill>
                <a:latin typeface="Roboto"/>
                <a:ea typeface="Roboto"/>
                <a:cs typeface="Roboto"/>
              </a:defRPr>
            </a:lvl4pPr>
            <a:lvl5pPr algn="ctr">
              <a:defRPr lang="en-US" sz="2100" b="0">
                <a:solidFill>
                  <a:srgbClr val="202124"/>
                </a:solidFill>
                <a:latin typeface="Roboto"/>
                <a:ea typeface="Roboto"/>
                <a:cs typeface="Roboto"/>
              </a:defRPr>
            </a:lvl5pPr>
            <a:lvl6pPr algn="ctr">
              <a:defRPr lang="en-US" sz="2100" b="0">
                <a:solidFill>
                  <a:srgbClr val="202124"/>
                </a:solidFill>
                <a:latin typeface="Roboto"/>
                <a:ea typeface="Roboto"/>
                <a:cs typeface="Roboto"/>
              </a:defRPr>
            </a:lvl6pPr>
            <a:lvl7pPr algn="ctr">
              <a:defRPr lang="en-US" sz="2100" b="0">
                <a:solidFill>
                  <a:srgbClr val="202124"/>
                </a:solidFill>
                <a:latin typeface="Roboto"/>
                <a:ea typeface="Roboto"/>
                <a:cs typeface="Roboto"/>
              </a:defRPr>
            </a:lvl7pPr>
            <a:lvl8pPr algn="ctr">
              <a:defRPr lang="en-US" sz="2100" b="0">
                <a:solidFill>
                  <a:srgbClr val="202124"/>
                </a:solidFill>
                <a:latin typeface="Roboto"/>
                <a:ea typeface="Roboto"/>
                <a:cs typeface="Roboto"/>
              </a:defRPr>
            </a:lvl8pPr>
            <a:lvl9pPr algn="ctr">
              <a:defRPr lang="en-US" sz="2100" b="0">
                <a:solidFill>
                  <a:srgbClr val="202124"/>
                </a:solidFill>
                <a:latin typeface="Roboto"/>
                <a:ea typeface="Roboto"/>
                <a:cs typeface="Roboto"/>
              </a:defRPr>
            </a:lvl9pPr>
          </a:lstStyle>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Synthetic data + anomaly detection</a:t>
            </a:r>
          </a:p>
        </p:txBody>
      </p:sp>
      <p:sp>
        <p:nvSpPr>
          <p:cNvPr id="14" name="two-settings">
            <a:extLst>
              <a:ext uri="{FF2B5EF4-FFF2-40B4-BE49-F238E27FC236}">
                <a16:creationId xmlns:a16="http://schemas.microsoft.com/office/drawing/2014/main" id="{9CDCCF09-8422-45E0-A50A-015C60A65381}"/>
              </a:ext>
            </a:extLst>
          </p:cNvPr>
          <p:cNvSpPr>
            <a:spLocks noGrp="1"/>
          </p:cNvSpPr>
          <p:nvPr/>
        </p:nvSpPr>
        <p:spPr>
          <a:xfrm>
            <a:off x="1714500" y="5229225"/>
            <a:ext cx="8763000" cy="438150"/>
          </a:xfrm>
          <a:prstGeom prst="rect">
            <a:avLst/>
          </a:prstGeom>
          <a:noFill/>
          <a:ln w="0">
            <a:noFill/>
          </a:ln>
        </p:spPr>
        <p:txBody>
          <a:bodyPr wrap="square" lIns="0" tIns="0" rIns="0" bIns="0" anchor="t">
            <a:noAutofit/>
          </a:bodyPr>
          <a:lstStyle>
            <a:defPPr algn="ctr">
              <a:defRPr lang="en-US" sz="2175" b="0">
                <a:solidFill>
                  <a:srgbClr val="202124"/>
                </a:solidFill>
                <a:latin typeface="Roboto"/>
                <a:ea typeface="Roboto"/>
                <a:cs typeface="Roboto"/>
              </a:defRPr>
            </a:defPPr>
            <a:lvl1pPr algn="ctr">
              <a:defRPr lang="en-US" sz="2175" b="0">
                <a:solidFill>
                  <a:srgbClr val="202124"/>
                </a:solidFill>
                <a:latin typeface="Roboto"/>
                <a:ea typeface="Roboto"/>
                <a:cs typeface="Roboto"/>
              </a:defRPr>
            </a:lvl1pPr>
            <a:lvl2pPr algn="ctr">
              <a:defRPr lang="en-US" sz="2175" b="0">
                <a:solidFill>
                  <a:srgbClr val="202124"/>
                </a:solidFill>
                <a:latin typeface="Roboto"/>
                <a:ea typeface="Roboto"/>
                <a:cs typeface="Roboto"/>
              </a:defRPr>
            </a:lvl2pPr>
            <a:lvl3pPr algn="ctr">
              <a:defRPr lang="en-US" sz="2175" b="0">
                <a:solidFill>
                  <a:srgbClr val="202124"/>
                </a:solidFill>
                <a:latin typeface="Roboto"/>
                <a:ea typeface="Roboto"/>
                <a:cs typeface="Roboto"/>
              </a:defRPr>
            </a:lvl3pPr>
            <a:lvl4pPr algn="ctr">
              <a:defRPr lang="en-US" sz="2175" b="0">
                <a:solidFill>
                  <a:srgbClr val="202124"/>
                </a:solidFill>
                <a:latin typeface="Roboto"/>
                <a:ea typeface="Roboto"/>
                <a:cs typeface="Roboto"/>
              </a:defRPr>
            </a:lvl4pPr>
            <a:lvl5pPr algn="ctr">
              <a:defRPr lang="en-US" sz="2175" b="0">
                <a:solidFill>
                  <a:srgbClr val="202124"/>
                </a:solidFill>
                <a:latin typeface="Roboto"/>
                <a:ea typeface="Roboto"/>
                <a:cs typeface="Roboto"/>
              </a:defRPr>
            </a:lvl5pPr>
            <a:lvl6pPr algn="ctr">
              <a:defRPr lang="en-US" sz="2175" b="0">
                <a:solidFill>
                  <a:srgbClr val="202124"/>
                </a:solidFill>
                <a:latin typeface="Roboto"/>
                <a:ea typeface="Roboto"/>
                <a:cs typeface="Roboto"/>
              </a:defRPr>
            </a:lvl6pPr>
            <a:lvl7pPr algn="ctr">
              <a:defRPr lang="en-US" sz="2175" b="0">
                <a:solidFill>
                  <a:srgbClr val="202124"/>
                </a:solidFill>
                <a:latin typeface="Roboto"/>
                <a:ea typeface="Roboto"/>
                <a:cs typeface="Roboto"/>
              </a:defRPr>
            </a:lvl7pPr>
            <a:lvl8pPr algn="ctr">
              <a:defRPr lang="en-US" sz="2175" b="0">
                <a:solidFill>
                  <a:srgbClr val="202124"/>
                </a:solidFill>
                <a:latin typeface="Roboto"/>
                <a:ea typeface="Roboto"/>
                <a:cs typeface="Roboto"/>
              </a:defRPr>
            </a:lvl8pPr>
            <a:lvl9pPr algn="ctr">
              <a:defRPr lang="en-US" sz="2175" b="0">
                <a:solidFill>
                  <a:srgbClr val="202124"/>
                </a:solidFill>
                <a:latin typeface="Roboto"/>
                <a:ea typeface="Roboto"/>
                <a:cs typeface="Roboto"/>
              </a:defRPr>
            </a:lvl9pPr>
          </a:lstStyle>
          <a:p>
            <a:pPr algn="ctr">
              <a:defRPr lang="en-US" sz="2175" b="0">
                <a:solidFill>
                  <a:srgbClr val="202124"/>
                </a:solidFill>
                <a:latin typeface="Roboto"/>
                <a:ea typeface="Roboto"/>
                <a:cs typeface="Roboto"/>
              </a:defRPr>
            </a:pPr>
            <a:r>
              <a:rPr lang="en-US" sz="2175" b="0">
                <a:solidFill>
                  <a:srgbClr val="202124"/>
                </a:solidFill>
                <a:latin typeface="Roboto"/>
                <a:ea typeface="Roboto"/>
                <a:cs typeface="Roboto"/>
              </a:rPr>
              <a:t>Independent datasets and evaluations</a:t>
            </a:r>
          </a:p>
        </p:txBody>
      </p:sp>
      <p:sp>
        <p:nvSpPr>
          <p:cNvPr id="15" name="shared-objective">
            <a:extLst>
              <a:ext uri="{FF2B5EF4-FFF2-40B4-BE49-F238E27FC236}">
                <a16:creationId xmlns:a16="http://schemas.microsoft.com/office/drawing/2014/main" id="{D6F6BEB5-E00C-4EB4-94D3-5E0FECAA90FF}"/>
              </a:ext>
            </a:extLst>
          </p:cNvPr>
          <p:cNvSpPr>
            <a:spLocks noGrp="1"/>
          </p:cNvSpPr>
          <p:nvPr/>
        </p:nvSpPr>
        <p:spPr>
          <a:xfrm>
            <a:off x="1143000" y="5734050"/>
            <a:ext cx="9906000" cy="342900"/>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1875" b="0">
                <a:solidFill>
                  <a:srgbClr val="656B73"/>
                </a:solidFill>
                <a:latin typeface="Roboto"/>
                <a:ea typeface="Roboto"/>
                <a:cs typeface="Roboto"/>
              </a:rPr>
              <a:t>Shared objective: quality at a manageable inference cost</a:t>
            </a:r>
          </a:p>
        </p:txBody>
      </p:sp>
    </p:spTree>
    <p:extLst>
      <p:ext uri="{BB962C8B-B14F-4D97-AF65-F5344CB8AC3E}">
        <p14:creationId xmlns:p14="http://schemas.microsoft.com/office/powerpoint/2010/main" val="222343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9E517FAA-E87A-470D-B897-B0914C9BE2CF}"/>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Semantic labels describe the scene</a:t>
            </a:r>
          </a:p>
        </p:txBody>
      </p:sp>
      <p:pic>
        <p:nvPicPr>
          <p:cNvPr id="2" name="Immagine 1">
            <a:extLst>
              <a:ext uri="{FF2B5EF4-FFF2-40B4-BE49-F238E27FC236}">
                <a16:creationId xmlns:a16="http://schemas.microsoft.com/office/drawing/2014/main" id="{40CC25FB-8B88-47FA-82D9-8FB75A93758C}"/>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510C9435-0987-4F03-A0E2-6F481CA14E3D}"/>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CD212069-9815-4A3F-8881-61DC12D68778}"/>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1ECDB649-9C27-4BFC-9482-F492026868DB}"/>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5 / 33</a:t>
            </a:r>
          </a:p>
        </p:txBody>
      </p:sp>
      <p:sp>
        <p:nvSpPr>
          <p:cNvPr id="6" name="source-citations">
            <a:extLst>
              <a:ext uri="{FF2B5EF4-FFF2-40B4-BE49-F238E27FC236}">
                <a16:creationId xmlns:a16="http://schemas.microsoft.com/office/drawing/2014/main" id="{602304A1-6DA5-4160-917C-ED0EA5EC61C6}"/>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[4] [5]</a:t>
            </a:r>
          </a:p>
        </p:txBody>
      </p:sp>
      <p:sp>
        <p:nvSpPr>
          <p:cNvPr id="7" name="label-s5mars-rgb.png">
            <a:extLst>
              <a:ext uri="{FF2B5EF4-FFF2-40B4-BE49-F238E27FC236}">
                <a16:creationId xmlns:a16="http://schemas.microsoft.com/office/drawing/2014/main" id="{14F13E1C-3705-474F-AED0-47AA1DAEE15C}"/>
              </a:ext>
            </a:extLst>
          </p:cNvPr>
          <p:cNvSpPr>
            <a:spLocks noGrp="1"/>
          </p:cNvSpPr>
          <p:nvPr/>
        </p:nvSpPr>
        <p:spPr>
          <a:xfrm>
            <a:off x="857250" y="1543050"/>
            <a:ext cx="3095625" cy="381000"/>
          </a:xfrm>
          <a:prstGeom prst="rect">
            <a:avLst/>
          </a:prstGeom>
          <a:noFill/>
          <a:ln w="0">
            <a:noFill/>
          </a:ln>
        </p:spPr>
        <p:txBody>
          <a:bodyPr wrap="square" lIns="0" tIns="0" rIns="0" bIns="0" anchor="t">
            <a:noAutofit/>
          </a:bodyPr>
          <a:lstStyle>
            <a:defPPr algn="ctr">
              <a:defRPr lang="en-US" sz="2100" b="1">
                <a:solidFill>
                  <a:srgbClr val="202124"/>
                </a:solidFill>
                <a:latin typeface="Roboto"/>
                <a:ea typeface="Roboto"/>
                <a:cs typeface="Roboto"/>
              </a:defRPr>
            </a:defPPr>
            <a:lvl1pPr algn="ctr">
              <a:defRPr lang="en-US" sz="2100" b="1">
                <a:solidFill>
                  <a:srgbClr val="202124"/>
                </a:solidFill>
                <a:latin typeface="Roboto"/>
                <a:ea typeface="Roboto"/>
                <a:cs typeface="Roboto"/>
              </a:defRPr>
            </a:lvl1pPr>
            <a:lvl2pPr algn="ctr">
              <a:defRPr lang="en-US" sz="2100" b="1">
                <a:solidFill>
                  <a:srgbClr val="202124"/>
                </a:solidFill>
                <a:latin typeface="Roboto"/>
                <a:ea typeface="Roboto"/>
                <a:cs typeface="Roboto"/>
              </a:defRPr>
            </a:lvl2pPr>
            <a:lvl3pPr algn="ctr">
              <a:defRPr lang="en-US" sz="2100" b="1">
                <a:solidFill>
                  <a:srgbClr val="202124"/>
                </a:solidFill>
                <a:latin typeface="Roboto"/>
                <a:ea typeface="Roboto"/>
                <a:cs typeface="Roboto"/>
              </a:defRPr>
            </a:lvl3pPr>
            <a:lvl4pPr algn="ctr">
              <a:defRPr lang="en-US" sz="2100" b="1">
                <a:solidFill>
                  <a:srgbClr val="202124"/>
                </a:solidFill>
                <a:latin typeface="Roboto"/>
                <a:ea typeface="Roboto"/>
                <a:cs typeface="Roboto"/>
              </a:defRPr>
            </a:lvl4pPr>
            <a:lvl5pPr algn="ctr">
              <a:defRPr lang="en-US" sz="2100" b="1">
                <a:solidFill>
                  <a:srgbClr val="202124"/>
                </a:solidFill>
                <a:latin typeface="Roboto"/>
                <a:ea typeface="Roboto"/>
                <a:cs typeface="Roboto"/>
              </a:defRPr>
            </a:lvl5pPr>
            <a:lvl6pPr algn="ctr">
              <a:defRPr lang="en-US" sz="2100" b="1">
                <a:solidFill>
                  <a:srgbClr val="202124"/>
                </a:solidFill>
                <a:latin typeface="Roboto"/>
                <a:ea typeface="Roboto"/>
                <a:cs typeface="Roboto"/>
              </a:defRPr>
            </a:lvl6pPr>
            <a:lvl7pPr algn="ctr">
              <a:defRPr lang="en-US" sz="2100" b="1">
                <a:solidFill>
                  <a:srgbClr val="202124"/>
                </a:solidFill>
                <a:latin typeface="Roboto"/>
                <a:ea typeface="Roboto"/>
                <a:cs typeface="Roboto"/>
              </a:defRPr>
            </a:lvl7pPr>
            <a:lvl8pPr algn="ctr">
              <a:defRPr lang="en-US" sz="2100" b="1">
                <a:solidFill>
                  <a:srgbClr val="202124"/>
                </a:solidFill>
                <a:latin typeface="Roboto"/>
                <a:ea typeface="Roboto"/>
                <a:cs typeface="Roboto"/>
              </a:defRPr>
            </a:lvl8pPr>
            <a:lvl9pPr algn="ctr">
              <a:defRPr lang="en-US" sz="2100" b="1">
                <a:solidFill>
                  <a:srgbClr val="202124"/>
                </a:solidFill>
                <a:latin typeface="Roboto"/>
                <a:ea typeface="Roboto"/>
                <a:cs typeface="Roboto"/>
              </a:defRPr>
            </a:lvl9pPr>
          </a:lstStyle>
          <a:p>
            <a:pPr algn="ctr">
              <a:defRPr lang="en-US" sz="2100" b="1">
                <a:solidFill>
                  <a:srgbClr val="202124"/>
                </a:solidFill>
                <a:latin typeface="Roboto"/>
                <a:ea typeface="Roboto"/>
                <a:cs typeface="Roboto"/>
              </a:defRPr>
            </a:pPr>
            <a:r>
              <a:rPr lang="en-US" sz="2100" b="1">
                <a:solidFill>
                  <a:srgbClr val="202124"/>
                </a:solidFill>
                <a:latin typeface="Roboto"/>
                <a:ea typeface="Roboto"/>
                <a:cs typeface="Roboto"/>
              </a:rPr>
              <a:t>RGB observation</a:t>
            </a:r>
          </a:p>
        </p:txBody>
      </p:sp>
      <p:pic>
        <p:nvPicPr>
          <p:cNvPr id="8" name="Immagine 7">
            <a:extLst>
              <a:ext uri="{FF2B5EF4-FFF2-40B4-BE49-F238E27FC236}">
                <a16:creationId xmlns:a16="http://schemas.microsoft.com/office/drawing/2014/main" id="{481B6320-B062-4932-AB02-0A9C0D87F2C5}"/>
              </a:ext>
            </a:extLst>
          </p:cNvPr>
          <p:cNvPicPr>
            <a:picLocks noChangeAspect="1"/>
          </p:cNvPicPr>
          <p:nvPr/>
        </p:nvPicPr>
        <p:blipFill>
          <a:blip r:embed="rId4"/>
          <a:stretch/>
        </p:blipFill>
        <p:spPr>
          <a:xfrm>
            <a:off x="857250" y="2114550"/>
            <a:ext cx="3095625" cy="3095625"/>
          </a:xfrm>
          <a:prstGeom prst="rect">
            <a:avLst/>
          </a:prstGeom>
        </p:spPr>
      </p:pic>
      <p:sp>
        <p:nvSpPr>
          <p:cNvPr id="9" name="label-s5mars-ground-truth.png">
            <a:extLst>
              <a:ext uri="{FF2B5EF4-FFF2-40B4-BE49-F238E27FC236}">
                <a16:creationId xmlns:a16="http://schemas.microsoft.com/office/drawing/2014/main" id="{F1756ACF-1933-449E-AD49-CEAE52541628}"/>
              </a:ext>
            </a:extLst>
          </p:cNvPr>
          <p:cNvSpPr>
            <a:spLocks noGrp="1"/>
          </p:cNvSpPr>
          <p:nvPr/>
        </p:nvSpPr>
        <p:spPr>
          <a:xfrm>
            <a:off x="4410075" y="1543050"/>
            <a:ext cx="3095625" cy="381000"/>
          </a:xfrm>
          <a:prstGeom prst="rect">
            <a:avLst/>
          </a:prstGeom>
          <a:noFill/>
          <a:ln w="0">
            <a:noFill/>
          </a:ln>
        </p:spPr>
        <p:txBody>
          <a:bodyPr wrap="square" lIns="0" tIns="0" rIns="0" bIns="0" anchor="t">
            <a:noAutofit/>
          </a:bodyPr>
          <a:lstStyle>
            <a:defPPr algn="ctr">
              <a:defRPr lang="en-US" sz="2100" b="1">
                <a:solidFill>
                  <a:srgbClr val="202124"/>
                </a:solidFill>
                <a:latin typeface="Roboto"/>
                <a:ea typeface="Roboto"/>
                <a:cs typeface="Roboto"/>
              </a:defRPr>
            </a:defPPr>
            <a:lvl1pPr algn="ctr">
              <a:defRPr lang="en-US" sz="2100" b="1">
                <a:solidFill>
                  <a:srgbClr val="202124"/>
                </a:solidFill>
                <a:latin typeface="Roboto"/>
                <a:ea typeface="Roboto"/>
                <a:cs typeface="Roboto"/>
              </a:defRPr>
            </a:lvl1pPr>
            <a:lvl2pPr algn="ctr">
              <a:defRPr lang="en-US" sz="2100" b="1">
                <a:solidFill>
                  <a:srgbClr val="202124"/>
                </a:solidFill>
                <a:latin typeface="Roboto"/>
                <a:ea typeface="Roboto"/>
                <a:cs typeface="Roboto"/>
              </a:defRPr>
            </a:lvl2pPr>
            <a:lvl3pPr algn="ctr">
              <a:defRPr lang="en-US" sz="2100" b="1">
                <a:solidFill>
                  <a:srgbClr val="202124"/>
                </a:solidFill>
                <a:latin typeface="Roboto"/>
                <a:ea typeface="Roboto"/>
                <a:cs typeface="Roboto"/>
              </a:defRPr>
            </a:lvl3pPr>
            <a:lvl4pPr algn="ctr">
              <a:defRPr lang="en-US" sz="2100" b="1">
                <a:solidFill>
                  <a:srgbClr val="202124"/>
                </a:solidFill>
                <a:latin typeface="Roboto"/>
                <a:ea typeface="Roboto"/>
                <a:cs typeface="Roboto"/>
              </a:defRPr>
            </a:lvl4pPr>
            <a:lvl5pPr algn="ctr">
              <a:defRPr lang="en-US" sz="2100" b="1">
                <a:solidFill>
                  <a:srgbClr val="202124"/>
                </a:solidFill>
                <a:latin typeface="Roboto"/>
                <a:ea typeface="Roboto"/>
                <a:cs typeface="Roboto"/>
              </a:defRPr>
            </a:lvl5pPr>
            <a:lvl6pPr algn="ctr">
              <a:defRPr lang="en-US" sz="2100" b="1">
                <a:solidFill>
                  <a:srgbClr val="202124"/>
                </a:solidFill>
                <a:latin typeface="Roboto"/>
                <a:ea typeface="Roboto"/>
                <a:cs typeface="Roboto"/>
              </a:defRPr>
            </a:lvl6pPr>
            <a:lvl7pPr algn="ctr">
              <a:defRPr lang="en-US" sz="2100" b="1">
                <a:solidFill>
                  <a:srgbClr val="202124"/>
                </a:solidFill>
                <a:latin typeface="Roboto"/>
                <a:ea typeface="Roboto"/>
                <a:cs typeface="Roboto"/>
              </a:defRPr>
            </a:lvl7pPr>
            <a:lvl8pPr algn="ctr">
              <a:defRPr lang="en-US" sz="2100" b="1">
                <a:solidFill>
                  <a:srgbClr val="202124"/>
                </a:solidFill>
                <a:latin typeface="Roboto"/>
                <a:ea typeface="Roboto"/>
                <a:cs typeface="Roboto"/>
              </a:defRPr>
            </a:lvl8pPr>
            <a:lvl9pPr algn="ctr">
              <a:defRPr lang="en-US" sz="2100" b="1">
                <a:solidFill>
                  <a:srgbClr val="202124"/>
                </a:solidFill>
                <a:latin typeface="Roboto"/>
                <a:ea typeface="Roboto"/>
                <a:cs typeface="Roboto"/>
              </a:defRPr>
            </a:lvl9pPr>
          </a:lstStyle>
          <a:p>
            <a:pPr algn="ctr">
              <a:defRPr lang="en-US" sz="2100" b="1">
                <a:solidFill>
                  <a:srgbClr val="202124"/>
                </a:solidFill>
                <a:latin typeface="Roboto"/>
                <a:ea typeface="Roboto"/>
                <a:cs typeface="Roboto"/>
              </a:defRPr>
            </a:pPr>
            <a:r>
              <a:rPr lang="en-US" sz="2100" b="1">
                <a:solidFill>
                  <a:srgbClr val="202124"/>
                </a:solidFill>
                <a:latin typeface="Roboto"/>
                <a:ea typeface="Roboto"/>
                <a:cs typeface="Roboto"/>
              </a:rPr>
              <a:t>Ground truth</a:t>
            </a:r>
          </a:p>
        </p:txBody>
      </p:sp>
      <p:pic>
        <p:nvPicPr>
          <p:cNvPr id="10" name="Immagine 9">
            <a:extLst>
              <a:ext uri="{FF2B5EF4-FFF2-40B4-BE49-F238E27FC236}">
                <a16:creationId xmlns:a16="http://schemas.microsoft.com/office/drawing/2014/main" id="{C329781E-F938-4F31-A2F8-45C8E05C62C5}"/>
              </a:ext>
            </a:extLst>
          </p:cNvPr>
          <p:cNvPicPr>
            <a:picLocks noChangeAspect="1"/>
          </p:cNvPicPr>
          <p:nvPr/>
        </p:nvPicPr>
        <p:blipFill>
          <a:blip r:embed="rId5"/>
          <a:stretch/>
        </p:blipFill>
        <p:spPr>
          <a:xfrm>
            <a:off x="4410075" y="2114550"/>
            <a:ext cx="3095625" cy="3095625"/>
          </a:xfrm>
          <a:prstGeom prst="rect">
            <a:avLst/>
          </a:prstGeom>
        </p:spPr>
      </p:pic>
      <p:sp>
        <p:nvSpPr>
          <p:cNvPr id="11" name="label-s5mars-segformer.png">
            <a:extLst>
              <a:ext uri="{FF2B5EF4-FFF2-40B4-BE49-F238E27FC236}">
                <a16:creationId xmlns:a16="http://schemas.microsoft.com/office/drawing/2014/main" id="{CE7C3D3D-FF19-4842-9E6E-34B15640F7BC}"/>
              </a:ext>
            </a:extLst>
          </p:cNvPr>
          <p:cNvSpPr>
            <a:spLocks noGrp="1"/>
          </p:cNvSpPr>
          <p:nvPr/>
        </p:nvSpPr>
        <p:spPr>
          <a:xfrm>
            <a:off x="7962900" y="1543050"/>
            <a:ext cx="3095625" cy="381000"/>
          </a:xfrm>
          <a:prstGeom prst="rect">
            <a:avLst/>
          </a:prstGeom>
          <a:noFill/>
          <a:ln w="0">
            <a:noFill/>
          </a:ln>
        </p:spPr>
        <p:txBody>
          <a:bodyPr wrap="square" lIns="0" tIns="0" rIns="0" bIns="0" anchor="t">
            <a:noAutofit/>
          </a:bodyPr>
          <a:lstStyle>
            <a:defPPr algn="ctr">
              <a:defRPr lang="en-US" sz="2100" b="1">
                <a:solidFill>
                  <a:srgbClr val="202124"/>
                </a:solidFill>
                <a:latin typeface="Roboto"/>
                <a:ea typeface="Roboto"/>
                <a:cs typeface="Roboto"/>
              </a:defRPr>
            </a:defPPr>
            <a:lvl1pPr algn="ctr">
              <a:defRPr lang="en-US" sz="2100" b="1">
                <a:solidFill>
                  <a:srgbClr val="202124"/>
                </a:solidFill>
                <a:latin typeface="Roboto"/>
                <a:ea typeface="Roboto"/>
                <a:cs typeface="Roboto"/>
              </a:defRPr>
            </a:lvl1pPr>
            <a:lvl2pPr algn="ctr">
              <a:defRPr lang="en-US" sz="2100" b="1">
                <a:solidFill>
                  <a:srgbClr val="202124"/>
                </a:solidFill>
                <a:latin typeface="Roboto"/>
                <a:ea typeface="Roboto"/>
                <a:cs typeface="Roboto"/>
              </a:defRPr>
            </a:lvl2pPr>
            <a:lvl3pPr algn="ctr">
              <a:defRPr lang="en-US" sz="2100" b="1">
                <a:solidFill>
                  <a:srgbClr val="202124"/>
                </a:solidFill>
                <a:latin typeface="Roboto"/>
                <a:ea typeface="Roboto"/>
                <a:cs typeface="Roboto"/>
              </a:defRPr>
            </a:lvl3pPr>
            <a:lvl4pPr algn="ctr">
              <a:defRPr lang="en-US" sz="2100" b="1">
                <a:solidFill>
                  <a:srgbClr val="202124"/>
                </a:solidFill>
                <a:latin typeface="Roboto"/>
                <a:ea typeface="Roboto"/>
                <a:cs typeface="Roboto"/>
              </a:defRPr>
            </a:lvl4pPr>
            <a:lvl5pPr algn="ctr">
              <a:defRPr lang="en-US" sz="2100" b="1">
                <a:solidFill>
                  <a:srgbClr val="202124"/>
                </a:solidFill>
                <a:latin typeface="Roboto"/>
                <a:ea typeface="Roboto"/>
                <a:cs typeface="Roboto"/>
              </a:defRPr>
            </a:lvl5pPr>
            <a:lvl6pPr algn="ctr">
              <a:defRPr lang="en-US" sz="2100" b="1">
                <a:solidFill>
                  <a:srgbClr val="202124"/>
                </a:solidFill>
                <a:latin typeface="Roboto"/>
                <a:ea typeface="Roboto"/>
                <a:cs typeface="Roboto"/>
              </a:defRPr>
            </a:lvl6pPr>
            <a:lvl7pPr algn="ctr">
              <a:defRPr lang="en-US" sz="2100" b="1">
                <a:solidFill>
                  <a:srgbClr val="202124"/>
                </a:solidFill>
                <a:latin typeface="Roboto"/>
                <a:ea typeface="Roboto"/>
                <a:cs typeface="Roboto"/>
              </a:defRPr>
            </a:lvl7pPr>
            <a:lvl8pPr algn="ctr">
              <a:defRPr lang="en-US" sz="2100" b="1">
                <a:solidFill>
                  <a:srgbClr val="202124"/>
                </a:solidFill>
                <a:latin typeface="Roboto"/>
                <a:ea typeface="Roboto"/>
                <a:cs typeface="Roboto"/>
              </a:defRPr>
            </a:lvl8pPr>
            <a:lvl9pPr algn="ctr">
              <a:defRPr lang="en-US" sz="2100" b="1">
                <a:solidFill>
                  <a:srgbClr val="202124"/>
                </a:solidFill>
                <a:latin typeface="Roboto"/>
                <a:ea typeface="Roboto"/>
                <a:cs typeface="Roboto"/>
              </a:defRPr>
            </a:lvl9pPr>
          </a:lstStyle>
          <a:p>
            <a:pPr algn="ctr">
              <a:defRPr lang="en-US" sz="2100" b="1">
                <a:solidFill>
                  <a:srgbClr val="202124"/>
                </a:solidFill>
                <a:latin typeface="Roboto"/>
                <a:ea typeface="Roboto"/>
                <a:cs typeface="Roboto"/>
              </a:defRPr>
            </a:pPr>
            <a:r>
              <a:rPr lang="en-US" sz="2100" b="1">
                <a:solidFill>
                  <a:srgbClr val="202124"/>
                </a:solidFill>
                <a:latin typeface="Roboto"/>
                <a:ea typeface="Roboto"/>
                <a:cs typeface="Roboto"/>
              </a:rPr>
              <a:t>SegFormer-B0</a:t>
            </a:r>
          </a:p>
        </p:txBody>
      </p:sp>
      <p:pic>
        <p:nvPicPr>
          <p:cNvPr id="12" name="Immagine 11">
            <a:extLst>
              <a:ext uri="{FF2B5EF4-FFF2-40B4-BE49-F238E27FC236}">
                <a16:creationId xmlns:a16="http://schemas.microsoft.com/office/drawing/2014/main" id="{368EC585-7090-41E1-A4A7-1AF683B880C5}"/>
              </a:ext>
            </a:extLst>
          </p:cNvPr>
          <p:cNvPicPr>
            <a:picLocks noChangeAspect="1"/>
          </p:cNvPicPr>
          <p:nvPr/>
        </p:nvPicPr>
        <p:blipFill>
          <a:blip r:embed="rId6"/>
          <a:stretch/>
        </p:blipFill>
        <p:spPr>
          <a:xfrm>
            <a:off x="7962900" y="2114550"/>
            <a:ext cx="3095625" cy="3095625"/>
          </a:xfrm>
          <a:prstGeom prst="rect">
            <a:avLst/>
          </a:prstGeom>
        </p:spPr>
      </p:pic>
      <p:sp>
        <p:nvSpPr>
          <p:cNvPr id="13" name="bedrock-label">
            <a:extLst>
              <a:ext uri="{FF2B5EF4-FFF2-40B4-BE49-F238E27FC236}">
                <a16:creationId xmlns:a16="http://schemas.microsoft.com/office/drawing/2014/main" id="{C4015DFE-6D96-4755-A745-D2137050A054}"/>
              </a:ext>
            </a:extLst>
          </p:cNvPr>
          <p:cNvSpPr>
            <a:spLocks noGrp="1"/>
          </p:cNvSpPr>
          <p:nvPr/>
        </p:nvSpPr>
        <p:spPr>
          <a:xfrm>
            <a:off x="2667000" y="5514975"/>
            <a:ext cx="1905000" cy="333375"/>
          </a:xfrm>
          <a:prstGeom prst="rect">
            <a:avLst/>
          </a:prstGeom>
          <a:noFill/>
          <a:ln w="0">
            <a:noFill/>
          </a:ln>
        </p:spPr>
        <p:txBody>
          <a:bodyPr wrap="square" lIns="0" tIns="0" rIns="0" bIns="0" anchor="t">
            <a:noAutofit/>
          </a:bodyPr>
          <a:lstStyle>
            <a:defPPr algn="ctr">
              <a:defRPr lang="en-US" sz="1875" b="1">
                <a:solidFill>
                  <a:srgbClr val="A67A1B"/>
                </a:solidFill>
                <a:latin typeface="Roboto"/>
                <a:ea typeface="Roboto"/>
                <a:cs typeface="Roboto"/>
              </a:defRPr>
            </a:defPPr>
            <a:lvl1pPr algn="ctr">
              <a:defRPr lang="en-US" sz="1875" b="1">
                <a:solidFill>
                  <a:srgbClr val="A67A1B"/>
                </a:solidFill>
                <a:latin typeface="Roboto"/>
                <a:ea typeface="Roboto"/>
                <a:cs typeface="Roboto"/>
              </a:defRPr>
            </a:lvl1pPr>
            <a:lvl2pPr algn="ctr">
              <a:defRPr lang="en-US" sz="1875" b="1">
                <a:solidFill>
                  <a:srgbClr val="A67A1B"/>
                </a:solidFill>
                <a:latin typeface="Roboto"/>
                <a:ea typeface="Roboto"/>
                <a:cs typeface="Roboto"/>
              </a:defRPr>
            </a:lvl2pPr>
            <a:lvl3pPr algn="ctr">
              <a:defRPr lang="en-US" sz="1875" b="1">
                <a:solidFill>
                  <a:srgbClr val="A67A1B"/>
                </a:solidFill>
                <a:latin typeface="Roboto"/>
                <a:ea typeface="Roboto"/>
                <a:cs typeface="Roboto"/>
              </a:defRPr>
            </a:lvl3pPr>
            <a:lvl4pPr algn="ctr">
              <a:defRPr lang="en-US" sz="1875" b="1">
                <a:solidFill>
                  <a:srgbClr val="A67A1B"/>
                </a:solidFill>
                <a:latin typeface="Roboto"/>
                <a:ea typeface="Roboto"/>
                <a:cs typeface="Roboto"/>
              </a:defRPr>
            </a:lvl4pPr>
            <a:lvl5pPr algn="ctr">
              <a:defRPr lang="en-US" sz="1875" b="1">
                <a:solidFill>
                  <a:srgbClr val="A67A1B"/>
                </a:solidFill>
                <a:latin typeface="Roboto"/>
                <a:ea typeface="Roboto"/>
                <a:cs typeface="Roboto"/>
              </a:defRPr>
            </a:lvl5pPr>
            <a:lvl6pPr algn="ctr">
              <a:defRPr lang="en-US" sz="1875" b="1">
                <a:solidFill>
                  <a:srgbClr val="A67A1B"/>
                </a:solidFill>
                <a:latin typeface="Roboto"/>
                <a:ea typeface="Roboto"/>
                <a:cs typeface="Roboto"/>
              </a:defRPr>
            </a:lvl6pPr>
            <a:lvl7pPr algn="ctr">
              <a:defRPr lang="en-US" sz="1875" b="1">
                <a:solidFill>
                  <a:srgbClr val="A67A1B"/>
                </a:solidFill>
                <a:latin typeface="Roboto"/>
                <a:ea typeface="Roboto"/>
                <a:cs typeface="Roboto"/>
              </a:defRPr>
            </a:lvl7pPr>
            <a:lvl8pPr algn="ctr">
              <a:defRPr lang="en-US" sz="1875" b="1">
                <a:solidFill>
                  <a:srgbClr val="A67A1B"/>
                </a:solidFill>
                <a:latin typeface="Roboto"/>
                <a:ea typeface="Roboto"/>
                <a:cs typeface="Roboto"/>
              </a:defRPr>
            </a:lvl8pPr>
            <a:lvl9pPr algn="ctr">
              <a:defRPr lang="en-US" sz="1875" b="1">
                <a:solidFill>
                  <a:srgbClr val="A67A1B"/>
                </a:solidFill>
                <a:latin typeface="Roboto"/>
                <a:ea typeface="Roboto"/>
                <a:cs typeface="Roboto"/>
              </a:defRPr>
            </a:lvl9pPr>
          </a:lstStyle>
          <a:p>
            <a:pPr algn="ctr">
              <a:defRPr lang="en-US" sz="1875" b="1">
                <a:solidFill>
                  <a:srgbClr val="A67A1B"/>
                </a:solidFill>
                <a:latin typeface="Roboto"/>
                <a:ea typeface="Roboto"/>
                <a:cs typeface="Roboto"/>
              </a:defRPr>
            </a:pPr>
            <a:r>
              <a:rPr lang="en-US" sz="1875" b="1">
                <a:solidFill>
                  <a:srgbClr val="A67A1B"/>
                </a:solidFill>
                <a:latin typeface="Roboto"/>
                <a:ea typeface="Roboto"/>
                <a:cs typeface="Roboto"/>
              </a:rPr>
              <a:t>Bedrock</a:t>
            </a:r>
          </a:p>
        </p:txBody>
      </p:sp>
      <p:sp>
        <p:nvSpPr>
          <p:cNvPr id="14" name="sand-label">
            <a:extLst>
              <a:ext uri="{FF2B5EF4-FFF2-40B4-BE49-F238E27FC236}">
                <a16:creationId xmlns:a16="http://schemas.microsoft.com/office/drawing/2014/main" id="{304EEE6D-C518-40CD-A641-3E2F0C3816B5}"/>
              </a:ext>
            </a:extLst>
          </p:cNvPr>
          <p:cNvSpPr>
            <a:spLocks noGrp="1"/>
          </p:cNvSpPr>
          <p:nvPr/>
        </p:nvSpPr>
        <p:spPr>
          <a:xfrm>
            <a:off x="5143500" y="5514975"/>
            <a:ext cx="1905000" cy="333375"/>
          </a:xfrm>
          <a:prstGeom prst="rect">
            <a:avLst/>
          </a:prstGeom>
          <a:noFill/>
          <a:ln w="0">
            <a:noFill/>
          </a:ln>
        </p:spPr>
        <p:txBody>
          <a:bodyPr wrap="square" lIns="0" tIns="0" rIns="0" bIns="0" anchor="t">
            <a:noAutofit/>
          </a:bodyPr>
          <a:lstStyle>
            <a:defPPr algn="ctr">
              <a:defRPr lang="en-US" sz="1875" b="1">
                <a:solidFill>
                  <a:srgbClr val="279D96"/>
                </a:solidFill>
                <a:latin typeface="Roboto"/>
                <a:ea typeface="Roboto"/>
                <a:cs typeface="Roboto"/>
              </a:defRPr>
            </a:defPPr>
            <a:lvl1pPr algn="ctr">
              <a:defRPr lang="en-US" sz="1875" b="1">
                <a:solidFill>
                  <a:srgbClr val="279D96"/>
                </a:solidFill>
                <a:latin typeface="Roboto"/>
                <a:ea typeface="Roboto"/>
                <a:cs typeface="Roboto"/>
              </a:defRPr>
            </a:lvl1pPr>
            <a:lvl2pPr algn="ctr">
              <a:defRPr lang="en-US" sz="1875" b="1">
                <a:solidFill>
                  <a:srgbClr val="279D96"/>
                </a:solidFill>
                <a:latin typeface="Roboto"/>
                <a:ea typeface="Roboto"/>
                <a:cs typeface="Roboto"/>
              </a:defRPr>
            </a:lvl2pPr>
            <a:lvl3pPr algn="ctr">
              <a:defRPr lang="en-US" sz="1875" b="1">
                <a:solidFill>
                  <a:srgbClr val="279D96"/>
                </a:solidFill>
                <a:latin typeface="Roboto"/>
                <a:ea typeface="Roboto"/>
                <a:cs typeface="Roboto"/>
              </a:defRPr>
            </a:lvl3pPr>
            <a:lvl4pPr algn="ctr">
              <a:defRPr lang="en-US" sz="1875" b="1">
                <a:solidFill>
                  <a:srgbClr val="279D96"/>
                </a:solidFill>
                <a:latin typeface="Roboto"/>
                <a:ea typeface="Roboto"/>
                <a:cs typeface="Roboto"/>
              </a:defRPr>
            </a:lvl4pPr>
            <a:lvl5pPr algn="ctr">
              <a:defRPr lang="en-US" sz="1875" b="1">
                <a:solidFill>
                  <a:srgbClr val="279D96"/>
                </a:solidFill>
                <a:latin typeface="Roboto"/>
                <a:ea typeface="Roboto"/>
                <a:cs typeface="Roboto"/>
              </a:defRPr>
            </a:lvl5pPr>
            <a:lvl6pPr algn="ctr">
              <a:defRPr lang="en-US" sz="1875" b="1">
                <a:solidFill>
                  <a:srgbClr val="279D96"/>
                </a:solidFill>
                <a:latin typeface="Roboto"/>
                <a:ea typeface="Roboto"/>
                <a:cs typeface="Roboto"/>
              </a:defRPr>
            </a:lvl6pPr>
            <a:lvl7pPr algn="ctr">
              <a:defRPr lang="en-US" sz="1875" b="1">
                <a:solidFill>
                  <a:srgbClr val="279D96"/>
                </a:solidFill>
                <a:latin typeface="Roboto"/>
                <a:ea typeface="Roboto"/>
                <a:cs typeface="Roboto"/>
              </a:defRPr>
            </a:lvl7pPr>
            <a:lvl8pPr algn="ctr">
              <a:defRPr lang="en-US" sz="1875" b="1">
                <a:solidFill>
                  <a:srgbClr val="279D96"/>
                </a:solidFill>
                <a:latin typeface="Roboto"/>
                <a:ea typeface="Roboto"/>
                <a:cs typeface="Roboto"/>
              </a:defRPr>
            </a:lvl8pPr>
            <a:lvl9pPr algn="ctr">
              <a:defRPr lang="en-US" sz="1875" b="1">
                <a:solidFill>
                  <a:srgbClr val="279D96"/>
                </a:solidFill>
                <a:latin typeface="Roboto"/>
                <a:ea typeface="Roboto"/>
                <a:cs typeface="Roboto"/>
              </a:defRPr>
            </a:lvl9pPr>
          </a:lstStyle>
          <a:p>
            <a:pPr algn="ctr">
              <a:defRPr lang="en-US" sz="1875" b="1">
                <a:solidFill>
                  <a:srgbClr val="279D96"/>
                </a:solidFill>
                <a:latin typeface="Roboto"/>
                <a:ea typeface="Roboto"/>
                <a:cs typeface="Roboto"/>
              </a:defRPr>
            </a:pPr>
            <a:r>
              <a:rPr lang="en-US" sz="1875" b="1">
                <a:solidFill>
                  <a:srgbClr val="279D96"/>
                </a:solidFill>
                <a:latin typeface="Roboto"/>
                <a:ea typeface="Roboto"/>
                <a:cs typeface="Roboto"/>
              </a:rPr>
              <a:t>Sand / Soil</a:t>
            </a:r>
          </a:p>
        </p:txBody>
      </p:sp>
      <p:sp>
        <p:nvSpPr>
          <p:cNvPr id="15" name="rock-label">
            <a:extLst>
              <a:ext uri="{FF2B5EF4-FFF2-40B4-BE49-F238E27FC236}">
                <a16:creationId xmlns:a16="http://schemas.microsoft.com/office/drawing/2014/main" id="{62900A90-B720-475F-9528-F0B93FF57556}"/>
              </a:ext>
            </a:extLst>
          </p:cNvPr>
          <p:cNvSpPr>
            <a:spLocks noGrp="1"/>
          </p:cNvSpPr>
          <p:nvPr/>
        </p:nvSpPr>
        <p:spPr>
          <a:xfrm>
            <a:off x="7620000" y="5514975"/>
            <a:ext cx="1905000" cy="333375"/>
          </a:xfrm>
          <a:prstGeom prst="rect">
            <a:avLst/>
          </a:prstGeom>
          <a:noFill/>
          <a:ln w="0">
            <a:noFill/>
          </a:ln>
        </p:spPr>
        <p:txBody>
          <a:bodyPr wrap="square" lIns="0" tIns="0" rIns="0" bIns="0" anchor="t">
            <a:noAutofit/>
          </a:bodyPr>
          <a:lstStyle>
            <a:defPPr algn="ctr">
              <a:defRPr lang="en-US" sz="1875" b="1">
                <a:solidFill>
                  <a:srgbClr val="E8324A"/>
                </a:solidFill>
                <a:latin typeface="Roboto"/>
                <a:ea typeface="Roboto"/>
                <a:cs typeface="Roboto"/>
              </a:defRPr>
            </a:defPPr>
            <a:lvl1pPr algn="ctr">
              <a:defRPr lang="en-US" sz="1875" b="1">
                <a:solidFill>
                  <a:srgbClr val="E8324A"/>
                </a:solidFill>
                <a:latin typeface="Roboto"/>
                <a:ea typeface="Roboto"/>
                <a:cs typeface="Roboto"/>
              </a:defRPr>
            </a:lvl1pPr>
            <a:lvl2pPr algn="ctr">
              <a:defRPr lang="en-US" sz="1875" b="1">
                <a:solidFill>
                  <a:srgbClr val="E8324A"/>
                </a:solidFill>
                <a:latin typeface="Roboto"/>
                <a:ea typeface="Roboto"/>
                <a:cs typeface="Roboto"/>
              </a:defRPr>
            </a:lvl2pPr>
            <a:lvl3pPr algn="ctr">
              <a:defRPr lang="en-US" sz="1875" b="1">
                <a:solidFill>
                  <a:srgbClr val="E8324A"/>
                </a:solidFill>
                <a:latin typeface="Roboto"/>
                <a:ea typeface="Roboto"/>
                <a:cs typeface="Roboto"/>
              </a:defRPr>
            </a:lvl3pPr>
            <a:lvl4pPr algn="ctr">
              <a:defRPr lang="en-US" sz="1875" b="1">
                <a:solidFill>
                  <a:srgbClr val="E8324A"/>
                </a:solidFill>
                <a:latin typeface="Roboto"/>
                <a:ea typeface="Roboto"/>
                <a:cs typeface="Roboto"/>
              </a:defRPr>
            </a:lvl4pPr>
            <a:lvl5pPr algn="ctr">
              <a:defRPr lang="en-US" sz="1875" b="1">
                <a:solidFill>
                  <a:srgbClr val="E8324A"/>
                </a:solidFill>
                <a:latin typeface="Roboto"/>
                <a:ea typeface="Roboto"/>
                <a:cs typeface="Roboto"/>
              </a:defRPr>
            </a:lvl5pPr>
            <a:lvl6pPr algn="ctr">
              <a:defRPr lang="en-US" sz="1875" b="1">
                <a:solidFill>
                  <a:srgbClr val="E8324A"/>
                </a:solidFill>
                <a:latin typeface="Roboto"/>
                <a:ea typeface="Roboto"/>
                <a:cs typeface="Roboto"/>
              </a:defRPr>
            </a:lvl6pPr>
            <a:lvl7pPr algn="ctr">
              <a:defRPr lang="en-US" sz="1875" b="1">
                <a:solidFill>
                  <a:srgbClr val="E8324A"/>
                </a:solidFill>
                <a:latin typeface="Roboto"/>
                <a:ea typeface="Roboto"/>
                <a:cs typeface="Roboto"/>
              </a:defRPr>
            </a:lvl7pPr>
            <a:lvl8pPr algn="ctr">
              <a:defRPr lang="en-US" sz="1875" b="1">
                <a:solidFill>
                  <a:srgbClr val="E8324A"/>
                </a:solidFill>
                <a:latin typeface="Roboto"/>
                <a:ea typeface="Roboto"/>
                <a:cs typeface="Roboto"/>
              </a:defRPr>
            </a:lvl8pPr>
            <a:lvl9pPr algn="ctr">
              <a:defRPr lang="en-US" sz="1875" b="1">
                <a:solidFill>
                  <a:srgbClr val="E8324A"/>
                </a:solidFill>
                <a:latin typeface="Roboto"/>
                <a:ea typeface="Roboto"/>
                <a:cs typeface="Roboto"/>
              </a:defRPr>
            </a:lvl9pPr>
          </a:lstStyle>
          <a:p>
            <a:pPr algn="ctr">
              <a:defRPr lang="en-US" sz="1875" b="1">
                <a:solidFill>
                  <a:srgbClr val="E8324A"/>
                </a:solidFill>
                <a:latin typeface="Roboto"/>
                <a:ea typeface="Roboto"/>
                <a:cs typeface="Roboto"/>
              </a:defRPr>
            </a:pPr>
            <a:r>
              <a:rPr lang="en-US" sz="1875" b="1" dirty="0">
                <a:solidFill>
                  <a:srgbClr val="E8324A"/>
                </a:solidFill>
                <a:latin typeface="Roboto"/>
                <a:ea typeface="Roboto"/>
                <a:cs typeface="Roboto"/>
              </a:rPr>
              <a:t>Rock</a:t>
            </a:r>
          </a:p>
        </p:txBody>
      </p:sp>
    </p:spTree>
    <p:extLst>
      <p:ext uri="{BB962C8B-B14F-4D97-AF65-F5344CB8AC3E}">
        <p14:creationId xmlns:p14="http://schemas.microsoft.com/office/powerpoint/2010/main" val="222343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3689DF60-0FD8-4864-9F16-67C6209C65F0}"/>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S⁵Mars provides real rover imagery</a:t>
            </a:r>
          </a:p>
        </p:txBody>
      </p:sp>
      <p:pic>
        <p:nvPicPr>
          <p:cNvPr id="2" name="Immagine 1">
            <a:extLst>
              <a:ext uri="{FF2B5EF4-FFF2-40B4-BE49-F238E27FC236}">
                <a16:creationId xmlns:a16="http://schemas.microsoft.com/office/drawing/2014/main" id="{BCDAEA20-C68E-4CBF-9331-C2D390E1FD63}"/>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78B8A443-2931-4802-B1B0-83A67F0E7B32}"/>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2FF314B0-775E-4730-B18D-C679033A0CC9}"/>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0721E2FE-5C33-477A-AB56-4169F182BFF4}"/>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6 / 33</a:t>
            </a:r>
          </a:p>
        </p:txBody>
      </p:sp>
      <p:sp>
        <p:nvSpPr>
          <p:cNvPr id="6" name="source-citations">
            <a:extLst>
              <a:ext uri="{FF2B5EF4-FFF2-40B4-BE49-F238E27FC236}">
                <a16:creationId xmlns:a16="http://schemas.microsoft.com/office/drawing/2014/main" id="{311CAD1C-7508-432B-A78E-A9332BF8B369}"/>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[4] [5]</a:t>
            </a:r>
          </a:p>
        </p:txBody>
      </p:sp>
      <p:pic>
        <p:nvPicPr>
          <p:cNvPr id="7" name="Immagine 6">
            <a:extLst>
              <a:ext uri="{FF2B5EF4-FFF2-40B4-BE49-F238E27FC236}">
                <a16:creationId xmlns:a16="http://schemas.microsoft.com/office/drawing/2014/main" id="{93808AF4-5F02-44CF-A035-A8317F0961F9}"/>
              </a:ext>
            </a:extLst>
          </p:cNvPr>
          <p:cNvPicPr>
            <a:picLocks noChangeAspect="1"/>
          </p:cNvPicPr>
          <p:nvPr/>
        </p:nvPicPr>
        <p:blipFill>
          <a:blip r:embed="rId4"/>
          <a:stretch/>
        </p:blipFill>
        <p:spPr>
          <a:xfrm>
            <a:off x="1047750" y="1543050"/>
            <a:ext cx="800100" cy="800100"/>
          </a:xfrm>
          <a:prstGeom prst="rect">
            <a:avLst/>
          </a:prstGeom>
        </p:spPr>
      </p:pic>
      <p:sp>
        <p:nvSpPr>
          <p:cNvPr id="8" name="dataset-source">
            <a:extLst>
              <a:ext uri="{FF2B5EF4-FFF2-40B4-BE49-F238E27FC236}">
                <a16:creationId xmlns:a16="http://schemas.microsoft.com/office/drawing/2014/main" id="{C3021D08-804F-4C1B-8E67-65961C32F464}"/>
              </a:ext>
            </a:extLst>
          </p:cNvPr>
          <p:cNvSpPr>
            <a:spLocks noGrp="1"/>
          </p:cNvSpPr>
          <p:nvPr/>
        </p:nvSpPr>
        <p:spPr>
          <a:xfrm>
            <a:off x="2190750" y="1724025"/>
            <a:ext cx="8239125" cy="581025"/>
          </a:xfrm>
          <a:prstGeom prst="rect">
            <a:avLst/>
          </a:prstGeom>
          <a:noFill/>
          <a:ln w="0">
            <a:noFill/>
          </a:ln>
        </p:spPr>
        <p:txBody>
          <a:bodyPr wrap="square" lIns="0" tIns="0" rIns="0" bIns="0" anchor="t">
            <a:noAutofit/>
          </a:bodyPr>
          <a:lstStyle>
            <a:defPPr algn="l">
              <a:defRPr lang="en-US" sz="2925" b="1">
                <a:solidFill>
                  <a:srgbClr val="202124"/>
                </a:solidFill>
                <a:latin typeface="Roboto"/>
                <a:ea typeface="Roboto"/>
                <a:cs typeface="Roboto"/>
              </a:defRPr>
            </a:defPPr>
            <a:lvl1pPr algn="l">
              <a:defRPr lang="en-US" sz="2925" b="1">
                <a:solidFill>
                  <a:srgbClr val="202124"/>
                </a:solidFill>
                <a:latin typeface="Roboto"/>
                <a:ea typeface="Roboto"/>
                <a:cs typeface="Roboto"/>
              </a:defRPr>
            </a:lvl1pPr>
            <a:lvl2pPr algn="l">
              <a:defRPr lang="en-US" sz="2925" b="1">
                <a:solidFill>
                  <a:srgbClr val="202124"/>
                </a:solidFill>
                <a:latin typeface="Roboto"/>
                <a:ea typeface="Roboto"/>
                <a:cs typeface="Roboto"/>
              </a:defRPr>
            </a:lvl2pPr>
            <a:lvl3pPr algn="l">
              <a:defRPr lang="en-US" sz="2925" b="1">
                <a:solidFill>
                  <a:srgbClr val="202124"/>
                </a:solidFill>
                <a:latin typeface="Roboto"/>
                <a:ea typeface="Roboto"/>
                <a:cs typeface="Roboto"/>
              </a:defRPr>
            </a:lvl3pPr>
            <a:lvl4pPr algn="l">
              <a:defRPr lang="en-US" sz="2925" b="1">
                <a:solidFill>
                  <a:srgbClr val="202124"/>
                </a:solidFill>
                <a:latin typeface="Roboto"/>
                <a:ea typeface="Roboto"/>
                <a:cs typeface="Roboto"/>
              </a:defRPr>
            </a:lvl4pPr>
            <a:lvl5pPr algn="l">
              <a:defRPr lang="en-US" sz="2925" b="1">
                <a:solidFill>
                  <a:srgbClr val="202124"/>
                </a:solidFill>
                <a:latin typeface="Roboto"/>
                <a:ea typeface="Roboto"/>
                <a:cs typeface="Roboto"/>
              </a:defRPr>
            </a:lvl5pPr>
            <a:lvl6pPr algn="l">
              <a:defRPr lang="en-US" sz="2925" b="1">
                <a:solidFill>
                  <a:srgbClr val="202124"/>
                </a:solidFill>
                <a:latin typeface="Roboto"/>
                <a:ea typeface="Roboto"/>
                <a:cs typeface="Roboto"/>
              </a:defRPr>
            </a:lvl6pPr>
            <a:lvl7pPr algn="l">
              <a:defRPr lang="en-US" sz="2925" b="1">
                <a:solidFill>
                  <a:srgbClr val="202124"/>
                </a:solidFill>
                <a:latin typeface="Roboto"/>
                <a:ea typeface="Roboto"/>
                <a:cs typeface="Roboto"/>
              </a:defRPr>
            </a:lvl7pPr>
            <a:lvl8pPr algn="l">
              <a:defRPr lang="en-US" sz="2925" b="1">
                <a:solidFill>
                  <a:srgbClr val="202124"/>
                </a:solidFill>
                <a:latin typeface="Roboto"/>
                <a:ea typeface="Roboto"/>
                <a:cs typeface="Roboto"/>
              </a:defRPr>
            </a:lvl8pPr>
            <a:lvl9pPr algn="l">
              <a:defRPr lang="en-US" sz="2925" b="1">
                <a:solidFill>
                  <a:srgbClr val="202124"/>
                </a:solidFill>
                <a:latin typeface="Roboto"/>
                <a:ea typeface="Roboto"/>
                <a:cs typeface="Roboto"/>
              </a:defRPr>
            </a:lvl9pPr>
          </a:lstStyle>
          <a:p>
            <a:pPr algn="l">
              <a:defRPr lang="en-US" sz="2925" b="1">
                <a:solidFill>
                  <a:srgbClr val="202124"/>
                </a:solidFill>
                <a:latin typeface="Roboto"/>
                <a:ea typeface="Roboto"/>
                <a:cs typeface="Roboto"/>
              </a:defRPr>
            </a:pPr>
            <a:r>
              <a:rPr lang="en-US" sz="2925" b="1">
                <a:solidFill>
                  <a:srgbClr val="202124"/>
                </a:solidFill>
                <a:latin typeface="Roboto"/>
                <a:ea typeface="Roboto"/>
                <a:cs typeface="Roboto"/>
              </a:rPr>
              <a:t>Curiosity / Mastcam</a:t>
            </a:r>
          </a:p>
        </p:txBody>
      </p:sp>
      <p:graphicFrame>
        <p:nvGraphicFramePr>
          <p:cNvPr id="9" name="Tabella 8">
            <a:extLst>
              <a:ext uri="{FF2B5EF4-FFF2-40B4-BE49-F238E27FC236}">
                <a16:creationId xmlns:a16="http://schemas.microsoft.com/office/drawing/2014/main" id="{A620E7FF-8C3E-416E-A5F9-1395FC6C6218}"/>
              </a:ext>
            </a:extLst>
          </p:cNvPr>
          <p:cNvGraphicFramePr/>
          <p:nvPr/>
        </p:nvGraphicFramePr>
        <p:xfrm>
          <a:off x="952500" y="2752725"/>
          <a:ext cx="9906000" cy="1752600"/>
        </p:xfrm>
        <a:graphic>
          <a:graphicData uri="http://schemas.openxmlformats.org/drawingml/2006/table">
            <a:tbl>
              <a:tblPr/>
              <a:tblGrid>
                <a:gridCol w="3302000">
                  <a:extLst>
                    <a:ext uri="{9D8B030D-6E8A-4147-A177-3AD203B41FA5}">
                      <a16:colId xmlns:a16="http://schemas.microsoft.com/office/drawing/2014/main" val="20000"/>
                    </a:ext>
                  </a:extLst>
                </a:gridCol>
                <a:gridCol w="3302000">
                  <a:extLst>
                    <a:ext uri="{9D8B030D-6E8A-4147-A177-3AD203B41FA5}">
                      <a16:colId xmlns:a16="http://schemas.microsoft.com/office/drawing/2014/main" val="20001"/>
                    </a:ext>
                  </a:extLst>
                </a:gridCol>
                <a:gridCol w="3302000">
                  <a:extLst>
                    <a:ext uri="{9D8B030D-6E8A-4147-A177-3AD203B41FA5}">
                      <a16:colId xmlns:a16="http://schemas.microsoft.com/office/drawing/2014/main" val="20002"/>
                    </a:ext>
                  </a:extLst>
                </a:gridCol>
              </a:tblGrid>
              <a:tr h="876300">
                <a:tc>
                  <a:txBody>
                    <a:bodyPr/>
                    <a:lstStyle/>
                    <a:p>
                      <a:pPr algn="ctr"/>
                      <a:r>
                        <a:rPr lang="en-US" sz="1875" b="1">
                          <a:solidFill>
                            <a:srgbClr val="202124"/>
                          </a:solidFill>
                          <a:latin typeface="Roboto"/>
                          <a:ea typeface="Roboto"/>
                          <a:cs typeface="Roboto"/>
                        </a:rPr>
                        <a:t>Training</a:t>
                      </a:r>
                    </a:p>
                  </a:txBody>
                  <a:tcPr marL="95250" marR="95250" marT="95250" marB="95250" anchor="ctr">
                    <a:lnL w="953">
                      <a:solidFill>
                        <a:srgbClr val="FFFFFF"/>
                      </a:solidFill>
                      <a:prstDash val="solid"/>
                    </a:lnL>
                    <a:lnR w="953">
                      <a:solidFill>
                        <a:srgbClr val="FFFFFF"/>
                      </a:solidFill>
                      <a:prstDash val="solid"/>
                    </a:lnR>
                    <a:lnT w="953">
                      <a:solidFill>
                        <a:srgbClr val="FFFFFF"/>
                      </a:solidFill>
                      <a:prstDash val="solid"/>
                    </a:lnT>
                    <a:lnB w="953">
                      <a:solidFill>
                        <a:srgbClr val="FFFFFF"/>
                      </a:solidFill>
                      <a:prstDash val="solid"/>
                    </a:lnB>
                    <a:solidFill>
                      <a:srgbClr val="FFFFFF"/>
                    </a:solidFill>
                  </a:tcPr>
                </a:tc>
                <a:tc>
                  <a:txBody>
                    <a:bodyPr/>
                    <a:lstStyle/>
                    <a:p>
                      <a:pPr algn="ctr"/>
                      <a:r>
                        <a:rPr lang="en-US" sz="1875" b="1">
                          <a:solidFill>
                            <a:srgbClr val="202124"/>
                          </a:solidFill>
                          <a:latin typeface="Roboto"/>
                          <a:ea typeface="Roboto"/>
                          <a:cs typeface="Roboto"/>
                        </a:rPr>
                        <a:t>Validation</a:t>
                      </a:r>
                    </a:p>
                  </a:txBody>
                  <a:tcPr marL="95250" marR="95250" marT="95250" marB="9525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FFFFFF"/>
                    </a:solidFill>
                  </a:tcPr>
                </a:tc>
                <a:tc>
                  <a:txBody>
                    <a:bodyPr/>
                    <a:lstStyle/>
                    <a:p>
                      <a:pPr algn="ctr"/>
                      <a:r>
                        <a:rPr lang="en-US" sz="1875" b="1">
                          <a:solidFill>
                            <a:srgbClr val="202124"/>
                          </a:solidFill>
                          <a:latin typeface="Roboto"/>
                          <a:ea typeface="Roboto"/>
                          <a:cs typeface="Roboto"/>
                        </a:rPr>
                        <a:t>Test</a:t>
                      </a:r>
                    </a:p>
                  </a:txBody>
                  <a:tcPr marL="95250" marR="95250" marT="95250" marB="9525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FFFFFF"/>
                    </a:solidFill>
                  </a:tcPr>
                </a:tc>
                <a:extLst>
                  <a:ext uri="{0D108BD9-81ED-4DB2-BD59-A6C34878D82A}">
                    <a16:rowId xmlns:a16="http://schemas.microsoft.com/office/drawing/2014/main" val="10000"/>
                  </a:ext>
                </a:extLst>
              </a:tr>
              <a:tr h="876300">
                <a:tc>
                  <a:txBody>
                    <a:bodyPr/>
                    <a:lstStyle/>
                    <a:p>
                      <a:pPr algn="ctr"/>
                      <a:r>
                        <a:rPr lang="en-US" sz="4350" b="1">
                          <a:solidFill>
                            <a:srgbClr val="822433"/>
                          </a:solidFill>
                          <a:latin typeface="Roboto"/>
                          <a:ea typeface="Roboto"/>
                          <a:cs typeface="Roboto"/>
                        </a:rPr>
                        <a:t>4,997</a:t>
                      </a:r>
                    </a:p>
                  </a:txBody>
                  <a:tcPr marL="95250" marR="95250" marT="95250" marB="9525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lang="en-US" sz="4350" b="1">
                          <a:solidFill>
                            <a:srgbClr val="822433"/>
                          </a:solidFill>
                          <a:latin typeface="Roboto"/>
                          <a:ea typeface="Roboto"/>
                          <a:cs typeface="Roboto"/>
                        </a:rPr>
                        <a:t>200</a:t>
                      </a:r>
                    </a:p>
                  </a:txBody>
                  <a:tcPr marL="95250" marR="95250" marT="95250" marB="9525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lang="en-US" sz="4350" b="1">
                          <a:solidFill>
                            <a:srgbClr val="822433"/>
                          </a:solidFill>
                          <a:latin typeface="Roboto"/>
                          <a:ea typeface="Roboto"/>
                          <a:cs typeface="Roboto"/>
                        </a:rPr>
                        <a:t>800</a:t>
                      </a:r>
                    </a:p>
                  </a:txBody>
                  <a:tcPr marL="95250" marR="95250" marT="95250" marB="9525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10" name="dataset-scope">
            <a:extLst>
              <a:ext uri="{FF2B5EF4-FFF2-40B4-BE49-F238E27FC236}">
                <a16:creationId xmlns:a16="http://schemas.microsoft.com/office/drawing/2014/main" id="{67231DC2-F741-41EC-A4B2-8CC04B3F290B}"/>
              </a:ext>
            </a:extLst>
          </p:cNvPr>
          <p:cNvSpPr>
            <a:spLocks noGrp="1"/>
          </p:cNvSpPr>
          <p:nvPr/>
        </p:nvSpPr>
        <p:spPr>
          <a:xfrm>
            <a:off x="1095375" y="4933950"/>
            <a:ext cx="9810750" cy="466725"/>
          </a:xfrm>
          <a:prstGeom prst="rect">
            <a:avLst/>
          </a:prstGeom>
          <a:noFill/>
          <a:ln w="0">
            <a:noFill/>
          </a:ln>
        </p:spPr>
        <p:txBody>
          <a:bodyPr wrap="square" lIns="0" tIns="0" rIns="0" bIns="0" anchor="t">
            <a:noAutofit/>
          </a:bodyPr>
          <a:lstStyle>
            <a:defPPr algn="ctr">
              <a:defRPr lang="en-US" sz="2250" b="0">
                <a:solidFill>
                  <a:srgbClr val="202124"/>
                </a:solidFill>
                <a:latin typeface="Roboto"/>
                <a:ea typeface="Roboto"/>
                <a:cs typeface="Roboto"/>
              </a:defRPr>
            </a:defPPr>
            <a:lvl1pPr algn="ctr">
              <a:defRPr lang="en-US" sz="2250" b="0">
                <a:solidFill>
                  <a:srgbClr val="202124"/>
                </a:solidFill>
                <a:latin typeface="Roboto"/>
                <a:ea typeface="Roboto"/>
                <a:cs typeface="Roboto"/>
              </a:defRPr>
            </a:lvl1pPr>
            <a:lvl2pPr algn="ctr">
              <a:defRPr lang="en-US" sz="2250" b="0">
                <a:solidFill>
                  <a:srgbClr val="202124"/>
                </a:solidFill>
                <a:latin typeface="Roboto"/>
                <a:ea typeface="Roboto"/>
                <a:cs typeface="Roboto"/>
              </a:defRPr>
            </a:lvl2pPr>
            <a:lvl3pPr algn="ctr">
              <a:defRPr lang="en-US" sz="2250" b="0">
                <a:solidFill>
                  <a:srgbClr val="202124"/>
                </a:solidFill>
                <a:latin typeface="Roboto"/>
                <a:ea typeface="Roboto"/>
                <a:cs typeface="Roboto"/>
              </a:defRPr>
            </a:lvl3pPr>
            <a:lvl4pPr algn="ctr">
              <a:defRPr lang="en-US" sz="2250" b="0">
                <a:solidFill>
                  <a:srgbClr val="202124"/>
                </a:solidFill>
                <a:latin typeface="Roboto"/>
                <a:ea typeface="Roboto"/>
                <a:cs typeface="Roboto"/>
              </a:defRPr>
            </a:lvl4pPr>
            <a:lvl5pPr algn="ctr">
              <a:defRPr lang="en-US" sz="2250" b="0">
                <a:solidFill>
                  <a:srgbClr val="202124"/>
                </a:solidFill>
                <a:latin typeface="Roboto"/>
                <a:ea typeface="Roboto"/>
                <a:cs typeface="Roboto"/>
              </a:defRPr>
            </a:lvl5pPr>
            <a:lvl6pPr algn="ctr">
              <a:defRPr lang="en-US" sz="2250" b="0">
                <a:solidFill>
                  <a:srgbClr val="202124"/>
                </a:solidFill>
                <a:latin typeface="Roboto"/>
                <a:ea typeface="Roboto"/>
                <a:cs typeface="Roboto"/>
              </a:defRPr>
            </a:lvl6pPr>
            <a:lvl7pPr algn="ctr">
              <a:defRPr lang="en-US" sz="2250" b="0">
                <a:solidFill>
                  <a:srgbClr val="202124"/>
                </a:solidFill>
                <a:latin typeface="Roboto"/>
                <a:ea typeface="Roboto"/>
                <a:cs typeface="Roboto"/>
              </a:defRPr>
            </a:lvl7pPr>
            <a:lvl8pPr algn="ctr">
              <a:defRPr lang="en-US" sz="2250" b="0">
                <a:solidFill>
                  <a:srgbClr val="202124"/>
                </a:solidFill>
                <a:latin typeface="Roboto"/>
                <a:ea typeface="Roboto"/>
                <a:cs typeface="Roboto"/>
              </a:defRPr>
            </a:lvl8pPr>
            <a:lvl9pPr algn="ctr">
              <a:defRPr lang="en-US" sz="2250" b="0">
                <a:solidFill>
                  <a:srgbClr val="202124"/>
                </a:solidFill>
                <a:latin typeface="Roboto"/>
                <a:ea typeface="Roboto"/>
                <a:cs typeface="Roboto"/>
              </a:defRPr>
            </a:lvl9pPr>
          </a:lstStyle>
          <a:p>
            <a:pPr algn="ctr">
              <a:defRPr lang="en-US" sz="2250" b="0">
                <a:solidFill>
                  <a:srgbClr val="202124"/>
                </a:solidFill>
                <a:latin typeface="Roboto"/>
                <a:ea typeface="Roboto"/>
                <a:cs typeface="Roboto"/>
              </a:defRPr>
            </a:pPr>
            <a:r>
              <a:rPr lang="en-US" sz="2250" b="0">
                <a:solidFill>
                  <a:srgbClr val="202124"/>
                </a:solidFill>
                <a:latin typeface="Roboto"/>
                <a:ea typeface="Roboto"/>
                <a:cs typeface="Roboto"/>
              </a:rPr>
              <a:t>8 target categories, including Rover</a:t>
            </a:r>
          </a:p>
        </p:txBody>
      </p:sp>
      <p:sp>
        <p:nvSpPr>
          <p:cNvPr id="11" name="sparse-labels">
            <a:extLst>
              <a:ext uri="{FF2B5EF4-FFF2-40B4-BE49-F238E27FC236}">
                <a16:creationId xmlns:a16="http://schemas.microsoft.com/office/drawing/2014/main" id="{19BD43A3-BF1E-4797-ACAC-AD3EFA48C6BB}"/>
              </a:ext>
            </a:extLst>
          </p:cNvPr>
          <p:cNvSpPr>
            <a:spLocks noGrp="1"/>
          </p:cNvSpPr>
          <p:nvPr/>
        </p:nvSpPr>
        <p:spPr>
          <a:xfrm>
            <a:off x="1095375" y="5524500"/>
            <a:ext cx="9810750" cy="381000"/>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1875" b="0">
                <a:solidFill>
                  <a:srgbClr val="656B73"/>
                </a:solidFill>
                <a:latin typeface="Roboto"/>
                <a:ea typeface="Roboto"/>
                <a:cs typeface="Roboto"/>
              </a:rPr>
              <a:t>Sparse annotations and predefined partitions</a:t>
            </a:r>
          </a:p>
        </p:txBody>
      </p:sp>
    </p:spTree>
    <p:extLst>
      <p:ext uri="{BB962C8B-B14F-4D97-AF65-F5344CB8AC3E}">
        <p14:creationId xmlns:p14="http://schemas.microsoft.com/office/powerpoint/2010/main" val="222343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0" name="slide-title">
            <a:extLst>
              <a:ext uri="{FF2B5EF4-FFF2-40B4-BE49-F238E27FC236}">
                <a16:creationId xmlns:a16="http://schemas.microsoft.com/office/drawing/2014/main" id="{6BCB4B93-88CF-46B5-BE16-7FF2ED7A953A}"/>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Seven segmentation configurations</a:t>
            </a:r>
          </a:p>
        </p:txBody>
      </p:sp>
      <p:pic>
        <p:nvPicPr>
          <p:cNvPr id="2" name="Immagine 1">
            <a:extLst>
              <a:ext uri="{FF2B5EF4-FFF2-40B4-BE49-F238E27FC236}">
                <a16:creationId xmlns:a16="http://schemas.microsoft.com/office/drawing/2014/main" id="{5858A969-9C28-406E-A326-0B9D79F3B6FB}"/>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A2B6A659-FCCC-40D6-AF9D-7E8E4960619A}"/>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FBB689D2-BDD9-4391-BACD-31F0B4B95282}"/>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78A60C8D-9176-42EA-B191-EF937AF50C2E}"/>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7 / 33</a:t>
            </a:r>
          </a:p>
        </p:txBody>
      </p:sp>
      <p:sp>
        <p:nvSpPr>
          <p:cNvPr id="6" name="source-citations">
            <a:extLst>
              <a:ext uri="{FF2B5EF4-FFF2-40B4-BE49-F238E27FC236}">
                <a16:creationId xmlns:a16="http://schemas.microsoft.com/office/drawing/2014/main" id="{A6890254-BD26-4154-A089-5DDA1B7FB921}"/>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[6] [7] [8] [9] [10]</a:t>
            </a:r>
          </a:p>
        </p:txBody>
      </p:sp>
      <p:pic>
        <p:nvPicPr>
          <p:cNvPr id="7" name="Immagine 6">
            <a:extLst>
              <a:ext uri="{FF2B5EF4-FFF2-40B4-BE49-F238E27FC236}">
                <a16:creationId xmlns:a16="http://schemas.microsoft.com/office/drawing/2014/main" id="{C848BAF2-C09A-4B62-94F7-7DBF8623B2FF}"/>
              </a:ext>
            </a:extLst>
          </p:cNvPr>
          <p:cNvPicPr>
            <a:picLocks noChangeAspect="1"/>
          </p:cNvPicPr>
          <p:nvPr/>
        </p:nvPicPr>
        <p:blipFill>
          <a:blip r:embed="rId4"/>
          <a:stretch/>
        </p:blipFill>
        <p:spPr>
          <a:xfrm>
            <a:off x="1323975" y="1952625"/>
            <a:ext cx="914400" cy="914400"/>
          </a:xfrm>
          <a:prstGeom prst="rect">
            <a:avLst/>
          </a:prstGeom>
        </p:spPr>
      </p:pic>
      <p:sp>
        <p:nvSpPr>
          <p:cNvPr id="8" name="U-Net-name">
            <a:extLst>
              <a:ext uri="{FF2B5EF4-FFF2-40B4-BE49-F238E27FC236}">
                <a16:creationId xmlns:a16="http://schemas.microsoft.com/office/drawing/2014/main" id="{3AE88BFD-DB7A-4FC5-BF05-E999379F8260}"/>
              </a:ext>
            </a:extLst>
          </p:cNvPr>
          <p:cNvSpPr>
            <a:spLocks noGrp="1"/>
          </p:cNvSpPr>
          <p:nvPr/>
        </p:nvSpPr>
        <p:spPr>
          <a:xfrm>
            <a:off x="809625" y="3219450"/>
            <a:ext cx="2190750" cy="495300"/>
          </a:xfrm>
          <a:prstGeom prst="rect">
            <a:avLst/>
          </a:prstGeom>
          <a:noFill/>
          <a:ln w="0">
            <a:noFill/>
          </a:ln>
        </p:spPr>
        <p:txBody>
          <a:bodyPr wrap="square" lIns="0" tIns="0" rIns="0" bIns="0" anchor="t">
            <a:noAutofit/>
          </a:bodyPr>
          <a:lstStyle>
            <a:defPPr algn="ctr">
              <a:defRPr lang="en-US" sz="2550" b="1">
                <a:solidFill>
                  <a:srgbClr val="822433"/>
                </a:solidFill>
                <a:latin typeface="Roboto"/>
                <a:ea typeface="Roboto"/>
                <a:cs typeface="Roboto"/>
              </a:defRPr>
            </a:defPPr>
            <a:lvl1pPr algn="ctr">
              <a:defRPr lang="en-US" sz="2550" b="1">
                <a:solidFill>
                  <a:srgbClr val="822433"/>
                </a:solidFill>
                <a:latin typeface="Roboto"/>
                <a:ea typeface="Roboto"/>
                <a:cs typeface="Roboto"/>
              </a:defRPr>
            </a:lvl1pPr>
            <a:lvl2pPr algn="ctr">
              <a:defRPr lang="en-US" sz="2550" b="1">
                <a:solidFill>
                  <a:srgbClr val="822433"/>
                </a:solidFill>
                <a:latin typeface="Roboto"/>
                <a:ea typeface="Roboto"/>
                <a:cs typeface="Roboto"/>
              </a:defRPr>
            </a:lvl2pPr>
            <a:lvl3pPr algn="ctr">
              <a:defRPr lang="en-US" sz="2550" b="1">
                <a:solidFill>
                  <a:srgbClr val="822433"/>
                </a:solidFill>
                <a:latin typeface="Roboto"/>
                <a:ea typeface="Roboto"/>
                <a:cs typeface="Roboto"/>
              </a:defRPr>
            </a:lvl3pPr>
            <a:lvl4pPr algn="ctr">
              <a:defRPr lang="en-US" sz="2550" b="1">
                <a:solidFill>
                  <a:srgbClr val="822433"/>
                </a:solidFill>
                <a:latin typeface="Roboto"/>
                <a:ea typeface="Roboto"/>
                <a:cs typeface="Roboto"/>
              </a:defRPr>
            </a:lvl4pPr>
            <a:lvl5pPr algn="ctr">
              <a:defRPr lang="en-US" sz="2550" b="1">
                <a:solidFill>
                  <a:srgbClr val="822433"/>
                </a:solidFill>
                <a:latin typeface="Roboto"/>
                <a:ea typeface="Roboto"/>
                <a:cs typeface="Roboto"/>
              </a:defRPr>
            </a:lvl5pPr>
            <a:lvl6pPr algn="ctr">
              <a:defRPr lang="en-US" sz="2550" b="1">
                <a:solidFill>
                  <a:srgbClr val="822433"/>
                </a:solidFill>
                <a:latin typeface="Roboto"/>
                <a:ea typeface="Roboto"/>
                <a:cs typeface="Roboto"/>
              </a:defRPr>
            </a:lvl6pPr>
            <a:lvl7pPr algn="ctr">
              <a:defRPr lang="en-US" sz="2550" b="1">
                <a:solidFill>
                  <a:srgbClr val="822433"/>
                </a:solidFill>
                <a:latin typeface="Roboto"/>
                <a:ea typeface="Roboto"/>
                <a:cs typeface="Roboto"/>
              </a:defRPr>
            </a:lvl7pPr>
            <a:lvl8pPr algn="ctr">
              <a:defRPr lang="en-US" sz="2550" b="1">
                <a:solidFill>
                  <a:srgbClr val="822433"/>
                </a:solidFill>
                <a:latin typeface="Roboto"/>
                <a:ea typeface="Roboto"/>
                <a:cs typeface="Roboto"/>
              </a:defRPr>
            </a:lvl8pPr>
            <a:lvl9pPr algn="ctr">
              <a:defRPr lang="en-US" sz="2550" b="1">
                <a:solidFill>
                  <a:srgbClr val="822433"/>
                </a:solidFill>
                <a:latin typeface="Roboto"/>
                <a:ea typeface="Roboto"/>
                <a:cs typeface="Roboto"/>
              </a:defRPr>
            </a:lvl9pPr>
          </a:lstStyle>
          <a:p>
            <a:pPr algn="ctr">
              <a:defRPr lang="en-US" sz="2550" b="1">
                <a:solidFill>
                  <a:srgbClr val="822433"/>
                </a:solidFill>
                <a:latin typeface="Roboto"/>
                <a:ea typeface="Roboto"/>
                <a:cs typeface="Roboto"/>
              </a:defRPr>
            </a:pPr>
            <a:r>
              <a:rPr lang="en-US" sz="2550" b="1">
                <a:solidFill>
                  <a:srgbClr val="822433"/>
                </a:solidFill>
                <a:latin typeface="Roboto"/>
                <a:ea typeface="Roboto"/>
                <a:cs typeface="Roboto"/>
              </a:rPr>
              <a:t>U-Net</a:t>
            </a:r>
          </a:p>
        </p:txBody>
      </p:sp>
      <p:sp>
        <p:nvSpPr>
          <p:cNvPr id="9" name="U-Net-details">
            <a:extLst>
              <a:ext uri="{FF2B5EF4-FFF2-40B4-BE49-F238E27FC236}">
                <a16:creationId xmlns:a16="http://schemas.microsoft.com/office/drawing/2014/main" id="{9564EFDB-DDBF-4D3A-8E48-AF7507C09FE4}"/>
              </a:ext>
            </a:extLst>
          </p:cNvPr>
          <p:cNvSpPr>
            <a:spLocks noGrp="1"/>
          </p:cNvSpPr>
          <p:nvPr/>
        </p:nvSpPr>
        <p:spPr>
          <a:xfrm>
            <a:off x="762000" y="4010025"/>
            <a:ext cx="2333625" cy="1000125"/>
          </a:xfrm>
          <a:prstGeom prst="rect">
            <a:avLst/>
          </a:prstGeom>
          <a:noFill/>
          <a:ln w="0">
            <a:noFill/>
          </a:ln>
        </p:spPr>
        <p:txBody>
          <a:bodyPr wrap="square" lIns="0" tIns="0" rIns="0" bIns="0" anchor="t">
            <a:noAutofit/>
          </a:bodyPr>
          <a:lstStyle>
            <a:defPPr algn="ctr">
              <a:defRPr lang="en-US" sz="1875" b="0">
                <a:solidFill>
                  <a:srgbClr val="202124"/>
                </a:solidFill>
                <a:latin typeface="Roboto"/>
                <a:ea typeface="Roboto"/>
                <a:cs typeface="Roboto"/>
              </a:defRPr>
            </a:defPPr>
            <a:lvl1pPr algn="ctr">
              <a:defRPr lang="en-US" sz="1875" b="0">
                <a:solidFill>
                  <a:srgbClr val="202124"/>
                </a:solidFill>
                <a:latin typeface="Roboto"/>
                <a:ea typeface="Roboto"/>
                <a:cs typeface="Roboto"/>
              </a:defRPr>
            </a:lvl1pPr>
            <a:lvl2pPr algn="ctr">
              <a:defRPr lang="en-US" sz="1875" b="0">
                <a:solidFill>
                  <a:srgbClr val="202124"/>
                </a:solidFill>
                <a:latin typeface="Roboto"/>
                <a:ea typeface="Roboto"/>
                <a:cs typeface="Roboto"/>
              </a:defRPr>
            </a:lvl2pPr>
            <a:lvl3pPr algn="ctr">
              <a:defRPr lang="en-US" sz="1875" b="0">
                <a:solidFill>
                  <a:srgbClr val="202124"/>
                </a:solidFill>
                <a:latin typeface="Roboto"/>
                <a:ea typeface="Roboto"/>
                <a:cs typeface="Roboto"/>
              </a:defRPr>
            </a:lvl3pPr>
            <a:lvl4pPr algn="ctr">
              <a:defRPr lang="en-US" sz="1875" b="0">
                <a:solidFill>
                  <a:srgbClr val="202124"/>
                </a:solidFill>
                <a:latin typeface="Roboto"/>
                <a:ea typeface="Roboto"/>
                <a:cs typeface="Roboto"/>
              </a:defRPr>
            </a:lvl4pPr>
            <a:lvl5pPr algn="ctr">
              <a:defRPr lang="en-US" sz="1875" b="0">
                <a:solidFill>
                  <a:srgbClr val="202124"/>
                </a:solidFill>
                <a:latin typeface="Roboto"/>
                <a:ea typeface="Roboto"/>
                <a:cs typeface="Roboto"/>
              </a:defRPr>
            </a:lvl5pPr>
            <a:lvl6pPr algn="ctr">
              <a:defRPr lang="en-US" sz="1875" b="0">
                <a:solidFill>
                  <a:srgbClr val="202124"/>
                </a:solidFill>
                <a:latin typeface="Roboto"/>
                <a:ea typeface="Roboto"/>
                <a:cs typeface="Roboto"/>
              </a:defRPr>
            </a:lvl6pPr>
            <a:lvl7pPr algn="ctr">
              <a:defRPr lang="en-US" sz="1875" b="0">
                <a:solidFill>
                  <a:srgbClr val="202124"/>
                </a:solidFill>
                <a:latin typeface="Roboto"/>
                <a:ea typeface="Roboto"/>
                <a:cs typeface="Roboto"/>
              </a:defRPr>
            </a:lvl7pPr>
            <a:lvl8pPr algn="ctr">
              <a:defRPr lang="en-US" sz="1875" b="0">
                <a:solidFill>
                  <a:srgbClr val="202124"/>
                </a:solidFill>
                <a:latin typeface="Roboto"/>
                <a:ea typeface="Roboto"/>
                <a:cs typeface="Roboto"/>
              </a:defRPr>
            </a:lvl8pPr>
            <a:lvl9pPr algn="ctr">
              <a:defRPr lang="en-US" sz="1875" b="0">
                <a:solidFill>
                  <a:srgbClr val="202124"/>
                </a:solidFill>
                <a:latin typeface="Roboto"/>
                <a:ea typeface="Roboto"/>
                <a:cs typeface="Roboto"/>
              </a:defRPr>
            </a:lvl9pPr>
          </a:lstStyle>
          <a:p>
            <a:pPr algn="ctr">
              <a:defRPr lang="en-US" sz="1875" b="0">
                <a:solidFill>
                  <a:srgbClr val="202124"/>
                </a:solidFill>
                <a:latin typeface="Roboto"/>
                <a:ea typeface="Roboto"/>
                <a:cs typeface="Roboto"/>
              </a:defRPr>
            </a:pPr>
            <a:r>
              <a:rPr lang="en-US" sz="1875" b="0">
                <a:solidFill>
                  <a:srgbClr val="202124"/>
                </a:solidFill>
                <a:latin typeface="Roboto"/>
                <a:ea typeface="Roboto"/>
                <a:cs typeface="Roboto"/>
              </a:rPr>
              <a:t>ResNet34</a:t>
            </a:r>
          </a:p>
          <a:p>
            <a:pPr algn="ctr">
              <a:defRPr lang="en-US" sz="1875" b="0">
                <a:solidFill>
                  <a:srgbClr val="202124"/>
                </a:solidFill>
                <a:latin typeface="Roboto"/>
                <a:ea typeface="Roboto"/>
                <a:cs typeface="Roboto"/>
              </a:defRPr>
            </a:pPr>
            <a:r>
              <a:rPr lang="en-US" sz="1875" b="0">
                <a:solidFill>
                  <a:srgbClr val="202124"/>
                </a:solidFill>
                <a:latin typeface="Roboto"/>
                <a:ea typeface="Roboto"/>
                <a:cs typeface="Roboto"/>
              </a:rPr>
              <a:t>MobileNetV2</a:t>
            </a:r>
          </a:p>
        </p:txBody>
      </p:sp>
      <p:pic>
        <p:nvPicPr>
          <p:cNvPr id="10" name="Immagine 9">
            <a:extLst>
              <a:ext uri="{FF2B5EF4-FFF2-40B4-BE49-F238E27FC236}">
                <a16:creationId xmlns:a16="http://schemas.microsoft.com/office/drawing/2014/main" id="{36A86C27-4707-4B06-AE96-5797E590687B}"/>
              </a:ext>
            </a:extLst>
          </p:cNvPr>
          <p:cNvPicPr>
            <a:picLocks noChangeAspect="1"/>
          </p:cNvPicPr>
          <p:nvPr/>
        </p:nvPicPr>
        <p:blipFill>
          <a:blip r:embed="rId5"/>
          <a:stretch/>
        </p:blipFill>
        <p:spPr>
          <a:xfrm>
            <a:off x="4152900" y="1952625"/>
            <a:ext cx="914400" cy="914400"/>
          </a:xfrm>
          <a:prstGeom prst="rect">
            <a:avLst/>
          </a:prstGeom>
        </p:spPr>
      </p:pic>
      <p:sp>
        <p:nvSpPr>
          <p:cNvPr id="11" name="DeepLab-name">
            <a:extLst>
              <a:ext uri="{FF2B5EF4-FFF2-40B4-BE49-F238E27FC236}">
                <a16:creationId xmlns:a16="http://schemas.microsoft.com/office/drawing/2014/main" id="{9AEA3E43-D2A3-4E4B-8E36-4BF5EA778B85}"/>
              </a:ext>
            </a:extLst>
          </p:cNvPr>
          <p:cNvSpPr>
            <a:spLocks noGrp="1"/>
          </p:cNvSpPr>
          <p:nvPr/>
        </p:nvSpPr>
        <p:spPr>
          <a:xfrm>
            <a:off x="3638550" y="3219450"/>
            <a:ext cx="2190750" cy="495300"/>
          </a:xfrm>
          <a:prstGeom prst="rect">
            <a:avLst/>
          </a:prstGeom>
          <a:noFill/>
          <a:ln w="0">
            <a:noFill/>
          </a:ln>
        </p:spPr>
        <p:txBody>
          <a:bodyPr wrap="square" lIns="0" tIns="0" rIns="0" bIns="0" anchor="t">
            <a:noAutofit/>
          </a:bodyPr>
          <a:lstStyle>
            <a:defPPr algn="ctr">
              <a:defRPr lang="en-US" sz="2550" b="1">
                <a:solidFill>
                  <a:srgbClr val="822433"/>
                </a:solidFill>
                <a:latin typeface="Roboto"/>
                <a:ea typeface="Roboto"/>
                <a:cs typeface="Roboto"/>
              </a:defRPr>
            </a:defPPr>
            <a:lvl1pPr algn="ctr">
              <a:defRPr lang="en-US" sz="2550" b="1">
                <a:solidFill>
                  <a:srgbClr val="822433"/>
                </a:solidFill>
                <a:latin typeface="Roboto"/>
                <a:ea typeface="Roboto"/>
                <a:cs typeface="Roboto"/>
              </a:defRPr>
            </a:lvl1pPr>
            <a:lvl2pPr algn="ctr">
              <a:defRPr lang="en-US" sz="2550" b="1">
                <a:solidFill>
                  <a:srgbClr val="822433"/>
                </a:solidFill>
                <a:latin typeface="Roboto"/>
                <a:ea typeface="Roboto"/>
                <a:cs typeface="Roboto"/>
              </a:defRPr>
            </a:lvl2pPr>
            <a:lvl3pPr algn="ctr">
              <a:defRPr lang="en-US" sz="2550" b="1">
                <a:solidFill>
                  <a:srgbClr val="822433"/>
                </a:solidFill>
                <a:latin typeface="Roboto"/>
                <a:ea typeface="Roboto"/>
                <a:cs typeface="Roboto"/>
              </a:defRPr>
            </a:lvl3pPr>
            <a:lvl4pPr algn="ctr">
              <a:defRPr lang="en-US" sz="2550" b="1">
                <a:solidFill>
                  <a:srgbClr val="822433"/>
                </a:solidFill>
                <a:latin typeface="Roboto"/>
                <a:ea typeface="Roboto"/>
                <a:cs typeface="Roboto"/>
              </a:defRPr>
            </a:lvl4pPr>
            <a:lvl5pPr algn="ctr">
              <a:defRPr lang="en-US" sz="2550" b="1">
                <a:solidFill>
                  <a:srgbClr val="822433"/>
                </a:solidFill>
                <a:latin typeface="Roboto"/>
                <a:ea typeface="Roboto"/>
                <a:cs typeface="Roboto"/>
              </a:defRPr>
            </a:lvl5pPr>
            <a:lvl6pPr algn="ctr">
              <a:defRPr lang="en-US" sz="2550" b="1">
                <a:solidFill>
                  <a:srgbClr val="822433"/>
                </a:solidFill>
                <a:latin typeface="Roboto"/>
                <a:ea typeface="Roboto"/>
                <a:cs typeface="Roboto"/>
              </a:defRPr>
            </a:lvl6pPr>
            <a:lvl7pPr algn="ctr">
              <a:defRPr lang="en-US" sz="2550" b="1">
                <a:solidFill>
                  <a:srgbClr val="822433"/>
                </a:solidFill>
                <a:latin typeface="Roboto"/>
                <a:ea typeface="Roboto"/>
                <a:cs typeface="Roboto"/>
              </a:defRPr>
            </a:lvl7pPr>
            <a:lvl8pPr algn="ctr">
              <a:defRPr lang="en-US" sz="2550" b="1">
                <a:solidFill>
                  <a:srgbClr val="822433"/>
                </a:solidFill>
                <a:latin typeface="Roboto"/>
                <a:ea typeface="Roboto"/>
                <a:cs typeface="Roboto"/>
              </a:defRPr>
            </a:lvl8pPr>
            <a:lvl9pPr algn="ctr">
              <a:defRPr lang="en-US" sz="2550" b="1">
                <a:solidFill>
                  <a:srgbClr val="822433"/>
                </a:solidFill>
                <a:latin typeface="Roboto"/>
                <a:ea typeface="Roboto"/>
                <a:cs typeface="Roboto"/>
              </a:defRPr>
            </a:lvl9pPr>
          </a:lstStyle>
          <a:p>
            <a:pPr algn="ctr">
              <a:defRPr lang="en-US" sz="2550" b="1">
                <a:solidFill>
                  <a:srgbClr val="822433"/>
                </a:solidFill>
                <a:latin typeface="Roboto"/>
                <a:ea typeface="Roboto"/>
                <a:cs typeface="Roboto"/>
              </a:defRPr>
            </a:pPr>
            <a:r>
              <a:rPr lang="en-US" sz="2550" b="1">
                <a:solidFill>
                  <a:srgbClr val="822433"/>
                </a:solidFill>
                <a:latin typeface="Roboto"/>
                <a:ea typeface="Roboto"/>
                <a:cs typeface="Roboto"/>
              </a:rPr>
              <a:t>DeepLab</a:t>
            </a:r>
          </a:p>
        </p:txBody>
      </p:sp>
      <p:sp>
        <p:nvSpPr>
          <p:cNvPr id="12" name="DeepLab-details">
            <a:extLst>
              <a:ext uri="{FF2B5EF4-FFF2-40B4-BE49-F238E27FC236}">
                <a16:creationId xmlns:a16="http://schemas.microsoft.com/office/drawing/2014/main" id="{E86313E8-E05D-4EEC-993A-2511F79D770D}"/>
              </a:ext>
            </a:extLst>
          </p:cNvPr>
          <p:cNvSpPr>
            <a:spLocks noGrp="1"/>
          </p:cNvSpPr>
          <p:nvPr/>
        </p:nvSpPr>
        <p:spPr>
          <a:xfrm>
            <a:off x="3590925" y="4010025"/>
            <a:ext cx="2333625" cy="1000125"/>
          </a:xfrm>
          <a:prstGeom prst="rect">
            <a:avLst/>
          </a:prstGeom>
          <a:noFill/>
          <a:ln w="0">
            <a:noFill/>
          </a:ln>
        </p:spPr>
        <p:txBody>
          <a:bodyPr wrap="square" lIns="0" tIns="0" rIns="0" bIns="0" anchor="t">
            <a:noAutofit/>
          </a:bodyPr>
          <a:lstStyle>
            <a:defPPr algn="ctr">
              <a:defRPr lang="en-US" sz="1875" b="0">
                <a:solidFill>
                  <a:srgbClr val="202124"/>
                </a:solidFill>
                <a:latin typeface="Roboto"/>
                <a:ea typeface="Roboto"/>
                <a:cs typeface="Roboto"/>
              </a:defRPr>
            </a:defPPr>
            <a:lvl1pPr algn="ctr">
              <a:defRPr lang="en-US" sz="1875" b="0">
                <a:solidFill>
                  <a:srgbClr val="202124"/>
                </a:solidFill>
                <a:latin typeface="Roboto"/>
                <a:ea typeface="Roboto"/>
                <a:cs typeface="Roboto"/>
              </a:defRPr>
            </a:lvl1pPr>
            <a:lvl2pPr algn="ctr">
              <a:defRPr lang="en-US" sz="1875" b="0">
                <a:solidFill>
                  <a:srgbClr val="202124"/>
                </a:solidFill>
                <a:latin typeface="Roboto"/>
                <a:ea typeface="Roboto"/>
                <a:cs typeface="Roboto"/>
              </a:defRPr>
            </a:lvl2pPr>
            <a:lvl3pPr algn="ctr">
              <a:defRPr lang="en-US" sz="1875" b="0">
                <a:solidFill>
                  <a:srgbClr val="202124"/>
                </a:solidFill>
                <a:latin typeface="Roboto"/>
                <a:ea typeface="Roboto"/>
                <a:cs typeface="Roboto"/>
              </a:defRPr>
            </a:lvl3pPr>
            <a:lvl4pPr algn="ctr">
              <a:defRPr lang="en-US" sz="1875" b="0">
                <a:solidFill>
                  <a:srgbClr val="202124"/>
                </a:solidFill>
                <a:latin typeface="Roboto"/>
                <a:ea typeface="Roboto"/>
                <a:cs typeface="Roboto"/>
              </a:defRPr>
            </a:lvl4pPr>
            <a:lvl5pPr algn="ctr">
              <a:defRPr lang="en-US" sz="1875" b="0">
                <a:solidFill>
                  <a:srgbClr val="202124"/>
                </a:solidFill>
                <a:latin typeface="Roboto"/>
                <a:ea typeface="Roboto"/>
                <a:cs typeface="Roboto"/>
              </a:defRPr>
            </a:lvl5pPr>
            <a:lvl6pPr algn="ctr">
              <a:defRPr lang="en-US" sz="1875" b="0">
                <a:solidFill>
                  <a:srgbClr val="202124"/>
                </a:solidFill>
                <a:latin typeface="Roboto"/>
                <a:ea typeface="Roboto"/>
                <a:cs typeface="Roboto"/>
              </a:defRPr>
            </a:lvl6pPr>
            <a:lvl7pPr algn="ctr">
              <a:defRPr lang="en-US" sz="1875" b="0">
                <a:solidFill>
                  <a:srgbClr val="202124"/>
                </a:solidFill>
                <a:latin typeface="Roboto"/>
                <a:ea typeface="Roboto"/>
                <a:cs typeface="Roboto"/>
              </a:defRPr>
            </a:lvl7pPr>
            <a:lvl8pPr algn="ctr">
              <a:defRPr lang="en-US" sz="1875" b="0">
                <a:solidFill>
                  <a:srgbClr val="202124"/>
                </a:solidFill>
                <a:latin typeface="Roboto"/>
                <a:ea typeface="Roboto"/>
                <a:cs typeface="Roboto"/>
              </a:defRPr>
            </a:lvl8pPr>
            <a:lvl9pPr algn="ctr">
              <a:defRPr lang="en-US" sz="1875" b="0">
                <a:solidFill>
                  <a:srgbClr val="202124"/>
                </a:solidFill>
                <a:latin typeface="Roboto"/>
                <a:ea typeface="Roboto"/>
                <a:cs typeface="Roboto"/>
              </a:defRPr>
            </a:lvl9pPr>
          </a:lstStyle>
          <a:p>
            <a:pPr algn="ctr">
              <a:defRPr lang="en-US" sz="1875" b="0">
                <a:solidFill>
                  <a:srgbClr val="202124"/>
                </a:solidFill>
                <a:latin typeface="Roboto"/>
                <a:ea typeface="Roboto"/>
                <a:cs typeface="Roboto"/>
              </a:defRPr>
            </a:pPr>
            <a:r>
              <a:rPr lang="en-US" sz="1875" b="0">
                <a:solidFill>
                  <a:srgbClr val="202124"/>
                </a:solidFill>
                <a:latin typeface="Roboto"/>
                <a:ea typeface="Roboto"/>
                <a:cs typeface="Roboto"/>
              </a:rPr>
              <a:t>V3 / ResNet34</a:t>
            </a:r>
          </a:p>
          <a:p>
            <a:pPr algn="ctr">
              <a:defRPr lang="en-US" sz="1875" b="0">
                <a:solidFill>
                  <a:srgbClr val="202124"/>
                </a:solidFill>
                <a:latin typeface="Roboto"/>
                <a:ea typeface="Roboto"/>
                <a:cs typeface="Roboto"/>
              </a:defRPr>
            </a:pPr>
            <a:r>
              <a:rPr lang="en-US" sz="1875" b="0">
                <a:solidFill>
                  <a:srgbClr val="202124"/>
                </a:solidFill>
                <a:latin typeface="Roboto"/>
                <a:ea typeface="Roboto"/>
                <a:cs typeface="Roboto"/>
              </a:rPr>
              <a:t>V3+ / MobileNetV2</a:t>
            </a:r>
          </a:p>
        </p:txBody>
      </p:sp>
      <p:pic>
        <p:nvPicPr>
          <p:cNvPr id="13" name="Immagine 12">
            <a:extLst>
              <a:ext uri="{FF2B5EF4-FFF2-40B4-BE49-F238E27FC236}">
                <a16:creationId xmlns:a16="http://schemas.microsoft.com/office/drawing/2014/main" id="{22C27F4B-1237-437F-9B79-4823400AC3EE}"/>
              </a:ext>
            </a:extLst>
          </p:cNvPr>
          <p:cNvPicPr>
            <a:picLocks noChangeAspect="1"/>
          </p:cNvPicPr>
          <p:nvPr/>
        </p:nvPicPr>
        <p:blipFill>
          <a:blip r:embed="rId6"/>
          <a:stretch/>
        </p:blipFill>
        <p:spPr>
          <a:xfrm>
            <a:off x="6981825" y="1952625"/>
            <a:ext cx="914400" cy="914400"/>
          </a:xfrm>
          <a:prstGeom prst="rect">
            <a:avLst/>
          </a:prstGeom>
        </p:spPr>
      </p:pic>
      <p:sp>
        <p:nvSpPr>
          <p:cNvPr id="14" name="SegFormer-name">
            <a:extLst>
              <a:ext uri="{FF2B5EF4-FFF2-40B4-BE49-F238E27FC236}">
                <a16:creationId xmlns:a16="http://schemas.microsoft.com/office/drawing/2014/main" id="{9DFF0975-4BE4-4F07-B629-6F6AFB35972C}"/>
              </a:ext>
            </a:extLst>
          </p:cNvPr>
          <p:cNvSpPr>
            <a:spLocks noGrp="1"/>
          </p:cNvSpPr>
          <p:nvPr/>
        </p:nvSpPr>
        <p:spPr>
          <a:xfrm>
            <a:off x="6467475" y="3219450"/>
            <a:ext cx="2190750" cy="495300"/>
          </a:xfrm>
          <a:prstGeom prst="rect">
            <a:avLst/>
          </a:prstGeom>
          <a:noFill/>
          <a:ln w="0">
            <a:noFill/>
          </a:ln>
        </p:spPr>
        <p:txBody>
          <a:bodyPr wrap="square" lIns="0" tIns="0" rIns="0" bIns="0" anchor="t">
            <a:noAutofit/>
          </a:bodyPr>
          <a:lstStyle>
            <a:defPPr algn="ctr">
              <a:defRPr lang="en-US" sz="2550" b="1">
                <a:solidFill>
                  <a:srgbClr val="822433"/>
                </a:solidFill>
                <a:latin typeface="Roboto"/>
                <a:ea typeface="Roboto"/>
                <a:cs typeface="Roboto"/>
              </a:defRPr>
            </a:defPPr>
            <a:lvl1pPr algn="ctr">
              <a:defRPr lang="en-US" sz="2550" b="1">
                <a:solidFill>
                  <a:srgbClr val="822433"/>
                </a:solidFill>
                <a:latin typeface="Roboto"/>
                <a:ea typeface="Roboto"/>
                <a:cs typeface="Roboto"/>
              </a:defRPr>
            </a:lvl1pPr>
            <a:lvl2pPr algn="ctr">
              <a:defRPr lang="en-US" sz="2550" b="1">
                <a:solidFill>
                  <a:srgbClr val="822433"/>
                </a:solidFill>
                <a:latin typeface="Roboto"/>
                <a:ea typeface="Roboto"/>
                <a:cs typeface="Roboto"/>
              </a:defRPr>
            </a:lvl2pPr>
            <a:lvl3pPr algn="ctr">
              <a:defRPr lang="en-US" sz="2550" b="1">
                <a:solidFill>
                  <a:srgbClr val="822433"/>
                </a:solidFill>
                <a:latin typeface="Roboto"/>
                <a:ea typeface="Roboto"/>
                <a:cs typeface="Roboto"/>
              </a:defRPr>
            </a:lvl3pPr>
            <a:lvl4pPr algn="ctr">
              <a:defRPr lang="en-US" sz="2550" b="1">
                <a:solidFill>
                  <a:srgbClr val="822433"/>
                </a:solidFill>
                <a:latin typeface="Roboto"/>
                <a:ea typeface="Roboto"/>
                <a:cs typeface="Roboto"/>
              </a:defRPr>
            </a:lvl4pPr>
            <a:lvl5pPr algn="ctr">
              <a:defRPr lang="en-US" sz="2550" b="1">
                <a:solidFill>
                  <a:srgbClr val="822433"/>
                </a:solidFill>
                <a:latin typeface="Roboto"/>
                <a:ea typeface="Roboto"/>
                <a:cs typeface="Roboto"/>
              </a:defRPr>
            </a:lvl5pPr>
            <a:lvl6pPr algn="ctr">
              <a:defRPr lang="en-US" sz="2550" b="1">
                <a:solidFill>
                  <a:srgbClr val="822433"/>
                </a:solidFill>
                <a:latin typeface="Roboto"/>
                <a:ea typeface="Roboto"/>
                <a:cs typeface="Roboto"/>
              </a:defRPr>
            </a:lvl6pPr>
            <a:lvl7pPr algn="ctr">
              <a:defRPr lang="en-US" sz="2550" b="1">
                <a:solidFill>
                  <a:srgbClr val="822433"/>
                </a:solidFill>
                <a:latin typeface="Roboto"/>
                <a:ea typeface="Roboto"/>
                <a:cs typeface="Roboto"/>
              </a:defRPr>
            </a:lvl7pPr>
            <a:lvl8pPr algn="ctr">
              <a:defRPr lang="en-US" sz="2550" b="1">
                <a:solidFill>
                  <a:srgbClr val="822433"/>
                </a:solidFill>
                <a:latin typeface="Roboto"/>
                <a:ea typeface="Roboto"/>
                <a:cs typeface="Roboto"/>
              </a:defRPr>
            </a:lvl8pPr>
            <a:lvl9pPr algn="ctr">
              <a:defRPr lang="en-US" sz="2550" b="1">
                <a:solidFill>
                  <a:srgbClr val="822433"/>
                </a:solidFill>
                <a:latin typeface="Roboto"/>
                <a:ea typeface="Roboto"/>
                <a:cs typeface="Roboto"/>
              </a:defRPr>
            </a:lvl9pPr>
          </a:lstStyle>
          <a:p>
            <a:pPr algn="ctr">
              <a:defRPr lang="en-US" sz="2550" b="1">
                <a:solidFill>
                  <a:srgbClr val="822433"/>
                </a:solidFill>
                <a:latin typeface="Roboto"/>
                <a:ea typeface="Roboto"/>
                <a:cs typeface="Roboto"/>
              </a:defRPr>
            </a:pPr>
            <a:r>
              <a:rPr lang="en-US" sz="2550" b="1">
                <a:solidFill>
                  <a:srgbClr val="822433"/>
                </a:solidFill>
                <a:latin typeface="Roboto"/>
                <a:ea typeface="Roboto"/>
                <a:cs typeface="Roboto"/>
              </a:rPr>
              <a:t>SegFormer</a:t>
            </a:r>
          </a:p>
        </p:txBody>
      </p:sp>
      <p:sp>
        <p:nvSpPr>
          <p:cNvPr id="15" name="SegFormer-details">
            <a:extLst>
              <a:ext uri="{FF2B5EF4-FFF2-40B4-BE49-F238E27FC236}">
                <a16:creationId xmlns:a16="http://schemas.microsoft.com/office/drawing/2014/main" id="{1706C98E-59EB-4559-B29B-8B390BC7556D}"/>
              </a:ext>
            </a:extLst>
          </p:cNvPr>
          <p:cNvSpPr>
            <a:spLocks noGrp="1"/>
          </p:cNvSpPr>
          <p:nvPr/>
        </p:nvSpPr>
        <p:spPr>
          <a:xfrm>
            <a:off x="6419850" y="4010025"/>
            <a:ext cx="2333625" cy="1000125"/>
          </a:xfrm>
          <a:prstGeom prst="rect">
            <a:avLst/>
          </a:prstGeom>
          <a:noFill/>
          <a:ln w="0">
            <a:noFill/>
          </a:ln>
        </p:spPr>
        <p:txBody>
          <a:bodyPr wrap="square" lIns="0" tIns="0" rIns="0" bIns="0" anchor="t">
            <a:noAutofit/>
          </a:bodyPr>
          <a:lstStyle>
            <a:defPPr algn="ctr">
              <a:defRPr lang="en-US" sz="1875" b="0">
                <a:solidFill>
                  <a:srgbClr val="202124"/>
                </a:solidFill>
                <a:latin typeface="Roboto"/>
                <a:ea typeface="Roboto"/>
                <a:cs typeface="Roboto"/>
              </a:defRPr>
            </a:defPPr>
            <a:lvl1pPr algn="ctr">
              <a:defRPr lang="en-US" sz="1875" b="0">
                <a:solidFill>
                  <a:srgbClr val="202124"/>
                </a:solidFill>
                <a:latin typeface="Roboto"/>
                <a:ea typeface="Roboto"/>
                <a:cs typeface="Roboto"/>
              </a:defRPr>
            </a:lvl1pPr>
            <a:lvl2pPr algn="ctr">
              <a:defRPr lang="en-US" sz="1875" b="0">
                <a:solidFill>
                  <a:srgbClr val="202124"/>
                </a:solidFill>
                <a:latin typeface="Roboto"/>
                <a:ea typeface="Roboto"/>
                <a:cs typeface="Roboto"/>
              </a:defRPr>
            </a:lvl2pPr>
            <a:lvl3pPr algn="ctr">
              <a:defRPr lang="en-US" sz="1875" b="0">
                <a:solidFill>
                  <a:srgbClr val="202124"/>
                </a:solidFill>
                <a:latin typeface="Roboto"/>
                <a:ea typeface="Roboto"/>
                <a:cs typeface="Roboto"/>
              </a:defRPr>
            </a:lvl3pPr>
            <a:lvl4pPr algn="ctr">
              <a:defRPr lang="en-US" sz="1875" b="0">
                <a:solidFill>
                  <a:srgbClr val="202124"/>
                </a:solidFill>
                <a:latin typeface="Roboto"/>
                <a:ea typeface="Roboto"/>
                <a:cs typeface="Roboto"/>
              </a:defRPr>
            </a:lvl4pPr>
            <a:lvl5pPr algn="ctr">
              <a:defRPr lang="en-US" sz="1875" b="0">
                <a:solidFill>
                  <a:srgbClr val="202124"/>
                </a:solidFill>
                <a:latin typeface="Roboto"/>
                <a:ea typeface="Roboto"/>
                <a:cs typeface="Roboto"/>
              </a:defRPr>
            </a:lvl5pPr>
            <a:lvl6pPr algn="ctr">
              <a:defRPr lang="en-US" sz="1875" b="0">
                <a:solidFill>
                  <a:srgbClr val="202124"/>
                </a:solidFill>
                <a:latin typeface="Roboto"/>
                <a:ea typeface="Roboto"/>
                <a:cs typeface="Roboto"/>
              </a:defRPr>
            </a:lvl6pPr>
            <a:lvl7pPr algn="ctr">
              <a:defRPr lang="en-US" sz="1875" b="0">
                <a:solidFill>
                  <a:srgbClr val="202124"/>
                </a:solidFill>
                <a:latin typeface="Roboto"/>
                <a:ea typeface="Roboto"/>
                <a:cs typeface="Roboto"/>
              </a:defRPr>
            </a:lvl7pPr>
            <a:lvl8pPr algn="ctr">
              <a:defRPr lang="en-US" sz="1875" b="0">
                <a:solidFill>
                  <a:srgbClr val="202124"/>
                </a:solidFill>
                <a:latin typeface="Roboto"/>
                <a:ea typeface="Roboto"/>
                <a:cs typeface="Roboto"/>
              </a:defRPr>
            </a:lvl8pPr>
            <a:lvl9pPr algn="ctr">
              <a:defRPr lang="en-US" sz="1875" b="0">
                <a:solidFill>
                  <a:srgbClr val="202124"/>
                </a:solidFill>
                <a:latin typeface="Roboto"/>
                <a:ea typeface="Roboto"/>
                <a:cs typeface="Roboto"/>
              </a:defRPr>
            </a:lvl9pPr>
          </a:lstStyle>
          <a:p>
            <a:pPr algn="ctr">
              <a:defRPr lang="en-US" sz="1875" b="0">
                <a:solidFill>
                  <a:srgbClr val="202124"/>
                </a:solidFill>
                <a:latin typeface="Roboto"/>
                <a:ea typeface="Roboto"/>
                <a:cs typeface="Roboto"/>
              </a:defRPr>
            </a:pPr>
            <a:r>
              <a:rPr lang="en-US" sz="1875" b="0">
                <a:solidFill>
                  <a:srgbClr val="202124"/>
                </a:solidFill>
                <a:latin typeface="Roboto"/>
                <a:ea typeface="Roboto"/>
                <a:cs typeface="Roboto"/>
              </a:rPr>
              <a:t>B0</a:t>
            </a:r>
          </a:p>
        </p:txBody>
      </p:sp>
      <p:pic>
        <p:nvPicPr>
          <p:cNvPr id="16" name="Immagine 15">
            <a:extLst>
              <a:ext uri="{FF2B5EF4-FFF2-40B4-BE49-F238E27FC236}">
                <a16:creationId xmlns:a16="http://schemas.microsoft.com/office/drawing/2014/main" id="{464FEC7E-6215-46C0-8372-E374B5452C9D}"/>
              </a:ext>
            </a:extLst>
          </p:cNvPr>
          <p:cNvPicPr>
            <a:picLocks noChangeAspect="1"/>
          </p:cNvPicPr>
          <p:nvPr/>
        </p:nvPicPr>
        <p:blipFill>
          <a:blip r:embed="rId7"/>
          <a:stretch/>
        </p:blipFill>
        <p:spPr>
          <a:xfrm>
            <a:off x="9810750" y="1952625"/>
            <a:ext cx="914400" cy="914400"/>
          </a:xfrm>
          <a:prstGeom prst="rect">
            <a:avLst/>
          </a:prstGeom>
        </p:spPr>
      </p:pic>
      <p:sp>
        <p:nvSpPr>
          <p:cNvPr id="17" name="LCNet-name">
            <a:extLst>
              <a:ext uri="{FF2B5EF4-FFF2-40B4-BE49-F238E27FC236}">
                <a16:creationId xmlns:a16="http://schemas.microsoft.com/office/drawing/2014/main" id="{64ACB7E5-0FC4-4FA4-AEAE-4CB1016C6FEE}"/>
              </a:ext>
            </a:extLst>
          </p:cNvPr>
          <p:cNvSpPr>
            <a:spLocks noGrp="1"/>
          </p:cNvSpPr>
          <p:nvPr/>
        </p:nvSpPr>
        <p:spPr>
          <a:xfrm>
            <a:off x="9296400" y="3219450"/>
            <a:ext cx="2190750" cy="495300"/>
          </a:xfrm>
          <a:prstGeom prst="rect">
            <a:avLst/>
          </a:prstGeom>
          <a:noFill/>
          <a:ln w="0">
            <a:noFill/>
          </a:ln>
        </p:spPr>
        <p:txBody>
          <a:bodyPr wrap="square" lIns="0" tIns="0" rIns="0" bIns="0" anchor="t">
            <a:noAutofit/>
          </a:bodyPr>
          <a:lstStyle>
            <a:defPPr algn="ctr">
              <a:defRPr lang="en-US" sz="2550" b="1">
                <a:solidFill>
                  <a:srgbClr val="822433"/>
                </a:solidFill>
                <a:latin typeface="Roboto"/>
                <a:ea typeface="Roboto"/>
                <a:cs typeface="Roboto"/>
              </a:defRPr>
            </a:defPPr>
            <a:lvl1pPr algn="ctr">
              <a:defRPr lang="en-US" sz="2550" b="1">
                <a:solidFill>
                  <a:srgbClr val="822433"/>
                </a:solidFill>
                <a:latin typeface="Roboto"/>
                <a:ea typeface="Roboto"/>
                <a:cs typeface="Roboto"/>
              </a:defRPr>
            </a:lvl1pPr>
            <a:lvl2pPr algn="ctr">
              <a:defRPr lang="en-US" sz="2550" b="1">
                <a:solidFill>
                  <a:srgbClr val="822433"/>
                </a:solidFill>
                <a:latin typeface="Roboto"/>
                <a:ea typeface="Roboto"/>
                <a:cs typeface="Roboto"/>
              </a:defRPr>
            </a:lvl2pPr>
            <a:lvl3pPr algn="ctr">
              <a:defRPr lang="en-US" sz="2550" b="1">
                <a:solidFill>
                  <a:srgbClr val="822433"/>
                </a:solidFill>
                <a:latin typeface="Roboto"/>
                <a:ea typeface="Roboto"/>
                <a:cs typeface="Roboto"/>
              </a:defRPr>
            </a:lvl3pPr>
            <a:lvl4pPr algn="ctr">
              <a:defRPr lang="en-US" sz="2550" b="1">
                <a:solidFill>
                  <a:srgbClr val="822433"/>
                </a:solidFill>
                <a:latin typeface="Roboto"/>
                <a:ea typeface="Roboto"/>
                <a:cs typeface="Roboto"/>
              </a:defRPr>
            </a:lvl4pPr>
            <a:lvl5pPr algn="ctr">
              <a:defRPr lang="en-US" sz="2550" b="1">
                <a:solidFill>
                  <a:srgbClr val="822433"/>
                </a:solidFill>
                <a:latin typeface="Roboto"/>
                <a:ea typeface="Roboto"/>
                <a:cs typeface="Roboto"/>
              </a:defRPr>
            </a:lvl5pPr>
            <a:lvl6pPr algn="ctr">
              <a:defRPr lang="en-US" sz="2550" b="1">
                <a:solidFill>
                  <a:srgbClr val="822433"/>
                </a:solidFill>
                <a:latin typeface="Roboto"/>
                <a:ea typeface="Roboto"/>
                <a:cs typeface="Roboto"/>
              </a:defRPr>
            </a:lvl6pPr>
            <a:lvl7pPr algn="ctr">
              <a:defRPr lang="en-US" sz="2550" b="1">
                <a:solidFill>
                  <a:srgbClr val="822433"/>
                </a:solidFill>
                <a:latin typeface="Roboto"/>
                <a:ea typeface="Roboto"/>
                <a:cs typeface="Roboto"/>
              </a:defRPr>
            </a:lvl7pPr>
            <a:lvl8pPr algn="ctr">
              <a:defRPr lang="en-US" sz="2550" b="1">
                <a:solidFill>
                  <a:srgbClr val="822433"/>
                </a:solidFill>
                <a:latin typeface="Roboto"/>
                <a:ea typeface="Roboto"/>
                <a:cs typeface="Roboto"/>
              </a:defRPr>
            </a:lvl8pPr>
            <a:lvl9pPr algn="ctr">
              <a:defRPr lang="en-US" sz="2550" b="1">
                <a:solidFill>
                  <a:srgbClr val="822433"/>
                </a:solidFill>
                <a:latin typeface="Roboto"/>
                <a:ea typeface="Roboto"/>
                <a:cs typeface="Roboto"/>
              </a:defRPr>
            </a:lvl9pPr>
          </a:lstStyle>
          <a:p>
            <a:pPr algn="ctr">
              <a:defRPr lang="en-US" sz="2550" b="1">
                <a:solidFill>
                  <a:srgbClr val="822433"/>
                </a:solidFill>
                <a:latin typeface="Roboto"/>
                <a:ea typeface="Roboto"/>
                <a:cs typeface="Roboto"/>
              </a:defRPr>
            </a:pPr>
            <a:r>
              <a:rPr lang="en-US" sz="2550" b="1">
                <a:solidFill>
                  <a:srgbClr val="822433"/>
                </a:solidFill>
                <a:latin typeface="Roboto"/>
                <a:ea typeface="Roboto"/>
                <a:cs typeface="Roboto"/>
              </a:rPr>
              <a:t>LCNet</a:t>
            </a:r>
          </a:p>
        </p:txBody>
      </p:sp>
      <p:sp>
        <p:nvSpPr>
          <p:cNvPr id="18" name="LCNet-details">
            <a:extLst>
              <a:ext uri="{FF2B5EF4-FFF2-40B4-BE49-F238E27FC236}">
                <a16:creationId xmlns:a16="http://schemas.microsoft.com/office/drawing/2014/main" id="{F3486C6D-D2A4-4071-A6FB-9B1C8F60E57F}"/>
              </a:ext>
            </a:extLst>
          </p:cNvPr>
          <p:cNvSpPr>
            <a:spLocks noGrp="1"/>
          </p:cNvSpPr>
          <p:nvPr/>
        </p:nvSpPr>
        <p:spPr>
          <a:xfrm>
            <a:off x="9248775" y="4010025"/>
            <a:ext cx="2333625" cy="1000125"/>
          </a:xfrm>
          <a:prstGeom prst="rect">
            <a:avLst/>
          </a:prstGeom>
          <a:noFill/>
          <a:ln w="0">
            <a:noFill/>
          </a:ln>
        </p:spPr>
        <p:txBody>
          <a:bodyPr wrap="square" lIns="0" tIns="0" rIns="0" bIns="0" anchor="t">
            <a:noAutofit/>
          </a:bodyPr>
          <a:lstStyle>
            <a:defPPr algn="ctr">
              <a:defRPr lang="en-US" sz="1875" b="0">
                <a:solidFill>
                  <a:srgbClr val="202124"/>
                </a:solidFill>
                <a:latin typeface="Roboto"/>
                <a:ea typeface="Roboto"/>
                <a:cs typeface="Roboto"/>
              </a:defRPr>
            </a:defPPr>
            <a:lvl1pPr algn="ctr">
              <a:defRPr lang="en-US" sz="1875" b="0">
                <a:solidFill>
                  <a:srgbClr val="202124"/>
                </a:solidFill>
                <a:latin typeface="Roboto"/>
                <a:ea typeface="Roboto"/>
                <a:cs typeface="Roboto"/>
              </a:defRPr>
            </a:lvl1pPr>
            <a:lvl2pPr algn="ctr">
              <a:defRPr lang="en-US" sz="1875" b="0">
                <a:solidFill>
                  <a:srgbClr val="202124"/>
                </a:solidFill>
                <a:latin typeface="Roboto"/>
                <a:ea typeface="Roboto"/>
                <a:cs typeface="Roboto"/>
              </a:defRPr>
            </a:lvl2pPr>
            <a:lvl3pPr algn="ctr">
              <a:defRPr lang="en-US" sz="1875" b="0">
                <a:solidFill>
                  <a:srgbClr val="202124"/>
                </a:solidFill>
                <a:latin typeface="Roboto"/>
                <a:ea typeface="Roboto"/>
                <a:cs typeface="Roboto"/>
              </a:defRPr>
            </a:lvl3pPr>
            <a:lvl4pPr algn="ctr">
              <a:defRPr lang="en-US" sz="1875" b="0">
                <a:solidFill>
                  <a:srgbClr val="202124"/>
                </a:solidFill>
                <a:latin typeface="Roboto"/>
                <a:ea typeface="Roboto"/>
                <a:cs typeface="Roboto"/>
              </a:defRPr>
            </a:lvl4pPr>
            <a:lvl5pPr algn="ctr">
              <a:defRPr lang="en-US" sz="1875" b="0">
                <a:solidFill>
                  <a:srgbClr val="202124"/>
                </a:solidFill>
                <a:latin typeface="Roboto"/>
                <a:ea typeface="Roboto"/>
                <a:cs typeface="Roboto"/>
              </a:defRPr>
            </a:lvl5pPr>
            <a:lvl6pPr algn="ctr">
              <a:defRPr lang="en-US" sz="1875" b="0">
                <a:solidFill>
                  <a:srgbClr val="202124"/>
                </a:solidFill>
                <a:latin typeface="Roboto"/>
                <a:ea typeface="Roboto"/>
                <a:cs typeface="Roboto"/>
              </a:defRPr>
            </a:lvl6pPr>
            <a:lvl7pPr algn="ctr">
              <a:defRPr lang="en-US" sz="1875" b="0">
                <a:solidFill>
                  <a:srgbClr val="202124"/>
                </a:solidFill>
                <a:latin typeface="Roboto"/>
                <a:ea typeface="Roboto"/>
                <a:cs typeface="Roboto"/>
              </a:defRPr>
            </a:lvl7pPr>
            <a:lvl8pPr algn="ctr">
              <a:defRPr lang="en-US" sz="1875" b="0">
                <a:solidFill>
                  <a:srgbClr val="202124"/>
                </a:solidFill>
                <a:latin typeface="Roboto"/>
                <a:ea typeface="Roboto"/>
                <a:cs typeface="Roboto"/>
              </a:defRPr>
            </a:lvl8pPr>
            <a:lvl9pPr algn="ctr">
              <a:defRPr lang="en-US" sz="1875" b="0">
                <a:solidFill>
                  <a:srgbClr val="202124"/>
                </a:solidFill>
                <a:latin typeface="Roboto"/>
                <a:ea typeface="Roboto"/>
                <a:cs typeface="Roboto"/>
              </a:defRPr>
            </a:lvl9pPr>
          </a:lstStyle>
          <a:p>
            <a:pPr algn="ctr">
              <a:defRPr lang="en-US" sz="1875" b="0">
                <a:solidFill>
                  <a:srgbClr val="202124"/>
                </a:solidFill>
                <a:latin typeface="Roboto"/>
                <a:ea typeface="Roboto"/>
                <a:cs typeface="Roboto"/>
              </a:defRPr>
            </a:pPr>
            <a:r>
              <a:rPr lang="en-US" sz="1875" b="0">
                <a:solidFill>
                  <a:srgbClr val="202124"/>
                </a:solidFill>
                <a:latin typeface="Roboto"/>
                <a:ea typeface="Roboto"/>
                <a:cs typeface="Roboto"/>
              </a:rPr>
              <a:t>3,7 and 3,11</a:t>
            </a:r>
          </a:p>
        </p:txBody>
      </p:sp>
      <p:sp>
        <p:nvSpPr>
          <p:cNvPr id="19" name="architecture-context">
            <a:extLst>
              <a:ext uri="{FF2B5EF4-FFF2-40B4-BE49-F238E27FC236}">
                <a16:creationId xmlns:a16="http://schemas.microsoft.com/office/drawing/2014/main" id="{CBFAE095-967B-46DB-AB7E-A6F052D1764D}"/>
              </a:ext>
            </a:extLst>
          </p:cNvPr>
          <p:cNvSpPr>
            <a:spLocks noGrp="1"/>
          </p:cNvSpPr>
          <p:nvPr/>
        </p:nvSpPr>
        <p:spPr>
          <a:xfrm>
            <a:off x="1047750" y="5514975"/>
            <a:ext cx="10096500" cy="514350"/>
          </a:xfrm>
          <a:prstGeom prst="rect">
            <a:avLst/>
          </a:prstGeom>
          <a:noFill/>
          <a:ln w="0">
            <a:noFill/>
          </a:ln>
        </p:spPr>
        <p:txBody>
          <a:bodyPr wrap="square" lIns="0" tIns="0" rIns="0" bIns="0" anchor="t">
            <a:noAutofit/>
          </a:bodyPr>
          <a:lstStyle>
            <a:defPPr algn="ctr">
              <a:defRPr lang="en-US" sz="2100" b="0">
                <a:solidFill>
                  <a:srgbClr val="656B73"/>
                </a:solidFill>
                <a:latin typeface="Roboto"/>
                <a:ea typeface="Roboto"/>
                <a:cs typeface="Roboto"/>
              </a:defRPr>
            </a:defPPr>
            <a:lvl1pPr algn="ctr">
              <a:defRPr lang="en-US" sz="2100" b="0">
                <a:solidFill>
                  <a:srgbClr val="656B73"/>
                </a:solidFill>
                <a:latin typeface="Roboto"/>
                <a:ea typeface="Roboto"/>
                <a:cs typeface="Roboto"/>
              </a:defRPr>
            </a:lvl1pPr>
            <a:lvl2pPr algn="ctr">
              <a:defRPr lang="en-US" sz="2100" b="0">
                <a:solidFill>
                  <a:srgbClr val="656B73"/>
                </a:solidFill>
                <a:latin typeface="Roboto"/>
                <a:ea typeface="Roboto"/>
                <a:cs typeface="Roboto"/>
              </a:defRPr>
            </a:lvl2pPr>
            <a:lvl3pPr algn="ctr">
              <a:defRPr lang="en-US" sz="2100" b="0">
                <a:solidFill>
                  <a:srgbClr val="656B73"/>
                </a:solidFill>
                <a:latin typeface="Roboto"/>
                <a:ea typeface="Roboto"/>
                <a:cs typeface="Roboto"/>
              </a:defRPr>
            </a:lvl3pPr>
            <a:lvl4pPr algn="ctr">
              <a:defRPr lang="en-US" sz="2100" b="0">
                <a:solidFill>
                  <a:srgbClr val="656B73"/>
                </a:solidFill>
                <a:latin typeface="Roboto"/>
                <a:ea typeface="Roboto"/>
                <a:cs typeface="Roboto"/>
              </a:defRPr>
            </a:lvl4pPr>
            <a:lvl5pPr algn="ctr">
              <a:defRPr lang="en-US" sz="2100" b="0">
                <a:solidFill>
                  <a:srgbClr val="656B73"/>
                </a:solidFill>
                <a:latin typeface="Roboto"/>
                <a:ea typeface="Roboto"/>
                <a:cs typeface="Roboto"/>
              </a:defRPr>
            </a:lvl5pPr>
            <a:lvl6pPr algn="ctr">
              <a:defRPr lang="en-US" sz="2100" b="0">
                <a:solidFill>
                  <a:srgbClr val="656B73"/>
                </a:solidFill>
                <a:latin typeface="Roboto"/>
                <a:ea typeface="Roboto"/>
                <a:cs typeface="Roboto"/>
              </a:defRPr>
            </a:lvl6pPr>
            <a:lvl7pPr algn="ctr">
              <a:defRPr lang="en-US" sz="2100" b="0">
                <a:solidFill>
                  <a:srgbClr val="656B73"/>
                </a:solidFill>
                <a:latin typeface="Roboto"/>
                <a:ea typeface="Roboto"/>
                <a:cs typeface="Roboto"/>
              </a:defRPr>
            </a:lvl7pPr>
            <a:lvl8pPr algn="ctr">
              <a:defRPr lang="en-US" sz="2100" b="0">
                <a:solidFill>
                  <a:srgbClr val="656B73"/>
                </a:solidFill>
                <a:latin typeface="Roboto"/>
                <a:ea typeface="Roboto"/>
                <a:cs typeface="Roboto"/>
              </a:defRPr>
            </a:lvl8pPr>
            <a:lvl9pPr algn="ctr">
              <a:defRPr lang="en-US" sz="2100" b="0">
                <a:solidFill>
                  <a:srgbClr val="656B73"/>
                </a:solidFill>
                <a:latin typeface="Roboto"/>
                <a:ea typeface="Roboto"/>
                <a:cs typeface="Roboto"/>
              </a:defRPr>
            </a:lvl9pPr>
          </a:lstStyle>
          <a:p>
            <a:pPr algn="ctr">
              <a:defRPr lang="en-US" sz="2100" b="0">
                <a:solidFill>
                  <a:srgbClr val="656B73"/>
                </a:solidFill>
                <a:latin typeface="Roboto"/>
                <a:ea typeface="Roboto"/>
                <a:cs typeface="Roboto"/>
              </a:defRPr>
            </a:pPr>
            <a:r>
              <a:rPr lang="en-US" sz="2100" b="0">
                <a:solidFill>
                  <a:srgbClr val="656B73"/>
                </a:solidFill>
                <a:latin typeface="Roboto"/>
                <a:ea typeface="Roboto"/>
                <a:cs typeface="Roboto"/>
              </a:rPr>
              <a:t>A common task, with different capacity and resource requirements</a:t>
            </a:r>
          </a:p>
        </p:txBody>
      </p:sp>
    </p:spTree>
    <p:extLst>
      <p:ext uri="{BB962C8B-B14F-4D97-AF65-F5344CB8AC3E}">
        <p14:creationId xmlns:p14="http://schemas.microsoft.com/office/powerpoint/2010/main" val="222343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7" name="slide-title">
            <a:extLst>
              <a:ext uri="{FF2B5EF4-FFF2-40B4-BE49-F238E27FC236}">
                <a16:creationId xmlns:a16="http://schemas.microsoft.com/office/drawing/2014/main" id="{CA7E1EE1-D912-4F04-A12B-29D66A913CD3}"/>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Reduced-precision deployment</a:t>
            </a:r>
          </a:p>
        </p:txBody>
      </p:sp>
      <p:pic>
        <p:nvPicPr>
          <p:cNvPr id="2" name="Immagine 1">
            <a:extLst>
              <a:ext uri="{FF2B5EF4-FFF2-40B4-BE49-F238E27FC236}">
                <a16:creationId xmlns:a16="http://schemas.microsoft.com/office/drawing/2014/main" id="{28308392-2CDD-4A8D-A2F2-44B9A9807007}"/>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70A41FF4-4991-495B-9425-93BA25EE7DBE}"/>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DF08111F-FC0B-4219-89E9-29A0DA111265}"/>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D0DD673E-2203-44A6-9A4F-DED335323887}"/>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8 / 33</a:t>
            </a:r>
          </a:p>
        </p:txBody>
      </p:sp>
      <p:sp>
        <p:nvSpPr>
          <p:cNvPr id="6" name="source-citations">
            <a:extLst>
              <a:ext uri="{FF2B5EF4-FFF2-40B4-BE49-F238E27FC236}">
                <a16:creationId xmlns:a16="http://schemas.microsoft.com/office/drawing/2014/main" id="{A3EA5D65-FAD0-449C-BC64-726E198A4EF4}"/>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[11]</a:t>
            </a:r>
          </a:p>
        </p:txBody>
      </p:sp>
      <p:pic>
        <p:nvPicPr>
          <p:cNvPr id="7" name="Immagine 6">
            <a:extLst>
              <a:ext uri="{FF2B5EF4-FFF2-40B4-BE49-F238E27FC236}">
                <a16:creationId xmlns:a16="http://schemas.microsoft.com/office/drawing/2014/main" id="{D7F2564B-A6D0-4CAB-9E82-3062892C8528}"/>
              </a:ext>
            </a:extLst>
          </p:cNvPr>
          <p:cNvPicPr>
            <a:picLocks noChangeAspect="1"/>
          </p:cNvPicPr>
          <p:nvPr/>
        </p:nvPicPr>
        <p:blipFill>
          <a:blip r:embed="rId4"/>
          <a:stretch/>
        </p:blipFill>
        <p:spPr>
          <a:xfrm>
            <a:off x="2047875" y="1771650"/>
            <a:ext cx="914400" cy="914400"/>
          </a:xfrm>
          <a:prstGeom prst="rect">
            <a:avLst/>
          </a:prstGeom>
        </p:spPr>
      </p:pic>
      <p:sp>
        <p:nvSpPr>
          <p:cNvPr id="8" name="FP16-label">
            <a:extLst>
              <a:ext uri="{FF2B5EF4-FFF2-40B4-BE49-F238E27FC236}">
                <a16:creationId xmlns:a16="http://schemas.microsoft.com/office/drawing/2014/main" id="{6B7F71CE-DD80-445F-A4B8-CE295910BDA7}"/>
              </a:ext>
            </a:extLst>
          </p:cNvPr>
          <p:cNvSpPr>
            <a:spLocks noGrp="1"/>
          </p:cNvSpPr>
          <p:nvPr/>
        </p:nvSpPr>
        <p:spPr>
          <a:xfrm>
            <a:off x="1190625" y="3086100"/>
            <a:ext cx="2619375" cy="581025"/>
          </a:xfrm>
          <a:prstGeom prst="rect">
            <a:avLst/>
          </a:prstGeom>
          <a:noFill/>
          <a:ln w="0">
            <a:noFill/>
          </a:ln>
        </p:spPr>
        <p:txBody>
          <a:bodyPr wrap="square" lIns="0" tIns="0" rIns="0" bIns="0" anchor="t">
            <a:noAutofit/>
          </a:bodyPr>
          <a:lstStyle>
            <a:defPPr algn="ctr">
              <a:defRPr lang="en-US" sz="3375" b="1">
                <a:solidFill>
                  <a:srgbClr val="822433"/>
                </a:solidFill>
                <a:latin typeface="Roboto"/>
                <a:ea typeface="Roboto"/>
                <a:cs typeface="Roboto"/>
              </a:defRPr>
            </a:defPPr>
            <a:lvl1pPr algn="ctr">
              <a:defRPr lang="en-US" sz="3375" b="1">
                <a:solidFill>
                  <a:srgbClr val="822433"/>
                </a:solidFill>
                <a:latin typeface="Roboto"/>
                <a:ea typeface="Roboto"/>
                <a:cs typeface="Roboto"/>
              </a:defRPr>
            </a:lvl1pPr>
            <a:lvl2pPr algn="ctr">
              <a:defRPr lang="en-US" sz="3375" b="1">
                <a:solidFill>
                  <a:srgbClr val="822433"/>
                </a:solidFill>
                <a:latin typeface="Roboto"/>
                <a:ea typeface="Roboto"/>
                <a:cs typeface="Roboto"/>
              </a:defRPr>
            </a:lvl2pPr>
            <a:lvl3pPr algn="ctr">
              <a:defRPr lang="en-US" sz="3375" b="1">
                <a:solidFill>
                  <a:srgbClr val="822433"/>
                </a:solidFill>
                <a:latin typeface="Roboto"/>
                <a:ea typeface="Roboto"/>
                <a:cs typeface="Roboto"/>
              </a:defRPr>
            </a:lvl3pPr>
            <a:lvl4pPr algn="ctr">
              <a:defRPr lang="en-US" sz="3375" b="1">
                <a:solidFill>
                  <a:srgbClr val="822433"/>
                </a:solidFill>
                <a:latin typeface="Roboto"/>
                <a:ea typeface="Roboto"/>
                <a:cs typeface="Roboto"/>
              </a:defRPr>
            </a:lvl4pPr>
            <a:lvl5pPr algn="ctr">
              <a:defRPr lang="en-US" sz="3375" b="1">
                <a:solidFill>
                  <a:srgbClr val="822433"/>
                </a:solidFill>
                <a:latin typeface="Roboto"/>
                <a:ea typeface="Roboto"/>
                <a:cs typeface="Roboto"/>
              </a:defRPr>
            </a:lvl5pPr>
            <a:lvl6pPr algn="ctr">
              <a:defRPr lang="en-US" sz="3375" b="1">
                <a:solidFill>
                  <a:srgbClr val="822433"/>
                </a:solidFill>
                <a:latin typeface="Roboto"/>
                <a:ea typeface="Roboto"/>
                <a:cs typeface="Roboto"/>
              </a:defRPr>
            </a:lvl6pPr>
            <a:lvl7pPr algn="ctr">
              <a:defRPr lang="en-US" sz="3375" b="1">
                <a:solidFill>
                  <a:srgbClr val="822433"/>
                </a:solidFill>
                <a:latin typeface="Roboto"/>
                <a:ea typeface="Roboto"/>
                <a:cs typeface="Roboto"/>
              </a:defRPr>
            </a:lvl7pPr>
            <a:lvl8pPr algn="ctr">
              <a:defRPr lang="en-US" sz="3375" b="1">
                <a:solidFill>
                  <a:srgbClr val="822433"/>
                </a:solidFill>
                <a:latin typeface="Roboto"/>
                <a:ea typeface="Roboto"/>
                <a:cs typeface="Roboto"/>
              </a:defRPr>
            </a:lvl8pPr>
            <a:lvl9pPr algn="ctr">
              <a:defRPr lang="en-US" sz="3375" b="1">
                <a:solidFill>
                  <a:srgbClr val="822433"/>
                </a:solidFill>
                <a:latin typeface="Roboto"/>
                <a:ea typeface="Roboto"/>
                <a:cs typeface="Roboto"/>
              </a:defRPr>
            </a:lvl9pPr>
          </a:lstStyle>
          <a:p>
            <a:pPr algn="ctr">
              <a:defRPr lang="en-US" sz="3375" b="1">
                <a:solidFill>
                  <a:srgbClr val="822433"/>
                </a:solidFill>
                <a:latin typeface="Roboto"/>
                <a:ea typeface="Roboto"/>
                <a:cs typeface="Roboto"/>
              </a:defRPr>
            </a:pPr>
            <a:r>
              <a:rPr lang="en-US" sz="3375" b="1">
                <a:solidFill>
                  <a:srgbClr val="822433"/>
                </a:solidFill>
                <a:latin typeface="Roboto"/>
                <a:ea typeface="Roboto"/>
                <a:cs typeface="Roboto"/>
              </a:rPr>
              <a:t>FP16</a:t>
            </a:r>
          </a:p>
        </p:txBody>
      </p:sp>
      <p:sp>
        <p:nvSpPr>
          <p:cNvPr id="9" name="FP16-definition">
            <a:extLst>
              <a:ext uri="{FF2B5EF4-FFF2-40B4-BE49-F238E27FC236}">
                <a16:creationId xmlns:a16="http://schemas.microsoft.com/office/drawing/2014/main" id="{FAC44057-0236-4C1B-8BA0-8E5AFBD9CA96}"/>
              </a:ext>
            </a:extLst>
          </p:cNvPr>
          <p:cNvSpPr>
            <a:spLocks noGrp="1"/>
          </p:cNvSpPr>
          <p:nvPr/>
        </p:nvSpPr>
        <p:spPr>
          <a:xfrm>
            <a:off x="1095375" y="3905250"/>
            <a:ext cx="2809875" cy="962025"/>
          </a:xfrm>
          <a:prstGeom prst="rect">
            <a:avLst/>
          </a:prstGeom>
          <a:noFill/>
          <a:ln w="0">
            <a:noFill/>
          </a:ln>
        </p:spPr>
        <p:txBody>
          <a:bodyPr wrap="square" lIns="0" tIns="0" rIns="0" bIns="0" anchor="t">
            <a:noAutofit/>
          </a:bodyPr>
          <a:lstStyle>
            <a:defPPr algn="ctr">
              <a:defRPr lang="en-US" sz="2100" b="0">
                <a:solidFill>
                  <a:srgbClr val="202124"/>
                </a:solidFill>
                <a:latin typeface="Roboto"/>
                <a:ea typeface="Roboto"/>
                <a:cs typeface="Roboto"/>
              </a:defRPr>
            </a:defPPr>
            <a:lvl1pPr algn="ctr">
              <a:defRPr lang="en-US" sz="2100" b="0">
                <a:solidFill>
                  <a:srgbClr val="202124"/>
                </a:solidFill>
                <a:latin typeface="Roboto"/>
                <a:ea typeface="Roboto"/>
                <a:cs typeface="Roboto"/>
              </a:defRPr>
            </a:lvl1pPr>
            <a:lvl2pPr algn="ctr">
              <a:defRPr lang="en-US" sz="2100" b="0">
                <a:solidFill>
                  <a:srgbClr val="202124"/>
                </a:solidFill>
                <a:latin typeface="Roboto"/>
                <a:ea typeface="Roboto"/>
                <a:cs typeface="Roboto"/>
              </a:defRPr>
            </a:lvl2pPr>
            <a:lvl3pPr algn="ctr">
              <a:defRPr lang="en-US" sz="2100" b="0">
                <a:solidFill>
                  <a:srgbClr val="202124"/>
                </a:solidFill>
                <a:latin typeface="Roboto"/>
                <a:ea typeface="Roboto"/>
                <a:cs typeface="Roboto"/>
              </a:defRPr>
            </a:lvl3pPr>
            <a:lvl4pPr algn="ctr">
              <a:defRPr lang="en-US" sz="2100" b="0">
                <a:solidFill>
                  <a:srgbClr val="202124"/>
                </a:solidFill>
                <a:latin typeface="Roboto"/>
                <a:ea typeface="Roboto"/>
                <a:cs typeface="Roboto"/>
              </a:defRPr>
            </a:lvl4pPr>
            <a:lvl5pPr algn="ctr">
              <a:defRPr lang="en-US" sz="2100" b="0">
                <a:solidFill>
                  <a:srgbClr val="202124"/>
                </a:solidFill>
                <a:latin typeface="Roboto"/>
                <a:ea typeface="Roboto"/>
                <a:cs typeface="Roboto"/>
              </a:defRPr>
            </a:lvl5pPr>
            <a:lvl6pPr algn="ctr">
              <a:defRPr lang="en-US" sz="2100" b="0">
                <a:solidFill>
                  <a:srgbClr val="202124"/>
                </a:solidFill>
                <a:latin typeface="Roboto"/>
                <a:ea typeface="Roboto"/>
                <a:cs typeface="Roboto"/>
              </a:defRPr>
            </a:lvl6pPr>
            <a:lvl7pPr algn="ctr">
              <a:defRPr lang="en-US" sz="2100" b="0">
                <a:solidFill>
                  <a:srgbClr val="202124"/>
                </a:solidFill>
                <a:latin typeface="Roboto"/>
                <a:ea typeface="Roboto"/>
                <a:cs typeface="Roboto"/>
              </a:defRPr>
            </a:lvl7pPr>
            <a:lvl8pPr algn="ctr">
              <a:defRPr lang="en-US" sz="2100" b="0">
                <a:solidFill>
                  <a:srgbClr val="202124"/>
                </a:solidFill>
                <a:latin typeface="Roboto"/>
                <a:ea typeface="Roboto"/>
                <a:cs typeface="Roboto"/>
              </a:defRPr>
            </a:lvl8pPr>
            <a:lvl9pPr algn="ctr">
              <a:defRPr lang="en-US" sz="2100" b="0">
                <a:solidFill>
                  <a:srgbClr val="202124"/>
                </a:solidFill>
                <a:latin typeface="Roboto"/>
                <a:ea typeface="Roboto"/>
                <a:cs typeface="Roboto"/>
              </a:defRPr>
            </a:lvl9pPr>
          </a:lstStyle>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Reduced floating-point</a:t>
            </a:r>
          </a:p>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precision</a:t>
            </a:r>
          </a:p>
        </p:txBody>
      </p:sp>
      <p:pic>
        <p:nvPicPr>
          <p:cNvPr id="10" name="Immagine 9">
            <a:extLst>
              <a:ext uri="{FF2B5EF4-FFF2-40B4-BE49-F238E27FC236}">
                <a16:creationId xmlns:a16="http://schemas.microsoft.com/office/drawing/2014/main" id="{E140D545-B73D-4D2E-AC96-622387F1E58E}"/>
              </a:ext>
            </a:extLst>
          </p:cNvPr>
          <p:cNvPicPr>
            <a:picLocks noChangeAspect="1"/>
          </p:cNvPicPr>
          <p:nvPr/>
        </p:nvPicPr>
        <p:blipFill>
          <a:blip r:embed="rId5"/>
          <a:stretch/>
        </p:blipFill>
        <p:spPr>
          <a:xfrm>
            <a:off x="5476875" y="1771650"/>
            <a:ext cx="914400" cy="914400"/>
          </a:xfrm>
          <a:prstGeom prst="rect">
            <a:avLst/>
          </a:prstGeom>
        </p:spPr>
      </p:pic>
      <p:sp>
        <p:nvSpPr>
          <p:cNvPr id="11" name="PTQ-label">
            <a:extLst>
              <a:ext uri="{FF2B5EF4-FFF2-40B4-BE49-F238E27FC236}">
                <a16:creationId xmlns:a16="http://schemas.microsoft.com/office/drawing/2014/main" id="{F6985454-AB72-4219-9ECC-22EE64DEE7D1}"/>
              </a:ext>
            </a:extLst>
          </p:cNvPr>
          <p:cNvSpPr>
            <a:spLocks noGrp="1"/>
          </p:cNvSpPr>
          <p:nvPr/>
        </p:nvSpPr>
        <p:spPr>
          <a:xfrm>
            <a:off x="4619625" y="3086100"/>
            <a:ext cx="2619375" cy="581025"/>
          </a:xfrm>
          <a:prstGeom prst="rect">
            <a:avLst/>
          </a:prstGeom>
          <a:noFill/>
          <a:ln w="0">
            <a:noFill/>
          </a:ln>
        </p:spPr>
        <p:txBody>
          <a:bodyPr wrap="square" lIns="0" tIns="0" rIns="0" bIns="0" anchor="t">
            <a:noAutofit/>
          </a:bodyPr>
          <a:lstStyle>
            <a:defPPr algn="ctr">
              <a:defRPr lang="en-US" sz="3375" b="1">
                <a:solidFill>
                  <a:srgbClr val="822433"/>
                </a:solidFill>
                <a:latin typeface="Roboto"/>
                <a:ea typeface="Roboto"/>
                <a:cs typeface="Roboto"/>
              </a:defRPr>
            </a:defPPr>
            <a:lvl1pPr algn="ctr">
              <a:defRPr lang="en-US" sz="3375" b="1">
                <a:solidFill>
                  <a:srgbClr val="822433"/>
                </a:solidFill>
                <a:latin typeface="Roboto"/>
                <a:ea typeface="Roboto"/>
                <a:cs typeface="Roboto"/>
              </a:defRPr>
            </a:lvl1pPr>
            <a:lvl2pPr algn="ctr">
              <a:defRPr lang="en-US" sz="3375" b="1">
                <a:solidFill>
                  <a:srgbClr val="822433"/>
                </a:solidFill>
                <a:latin typeface="Roboto"/>
                <a:ea typeface="Roboto"/>
                <a:cs typeface="Roboto"/>
              </a:defRPr>
            </a:lvl2pPr>
            <a:lvl3pPr algn="ctr">
              <a:defRPr lang="en-US" sz="3375" b="1">
                <a:solidFill>
                  <a:srgbClr val="822433"/>
                </a:solidFill>
                <a:latin typeface="Roboto"/>
                <a:ea typeface="Roboto"/>
                <a:cs typeface="Roboto"/>
              </a:defRPr>
            </a:lvl3pPr>
            <a:lvl4pPr algn="ctr">
              <a:defRPr lang="en-US" sz="3375" b="1">
                <a:solidFill>
                  <a:srgbClr val="822433"/>
                </a:solidFill>
                <a:latin typeface="Roboto"/>
                <a:ea typeface="Roboto"/>
                <a:cs typeface="Roboto"/>
              </a:defRPr>
            </a:lvl4pPr>
            <a:lvl5pPr algn="ctr">
              <a:defRPr lang="en-US" sz="3375" b="1">
                <a:solidFill>
                  <a:srgbClr val="822433"/>
                </a:solidFill>
                <a:latin typeface="Roboto"/>
                <a:ea typeface="Roboto"/>
                <a:cs typeface="Roboto"/>
              </a:defRPr>
            </a:lvl5pPr>
            <a:lvl6pPr algn="ctr">
              <a:defRPr lang="en-US" sz="3375" b="1">
                <a:solidFill>
                  <a:srgbClr val="822433"/>
                </a:solidFill>
                <a:latin typeface="Roboto"/>
                <a:ea typeface="Roboto"/>
                <a:cs typeface="Roboto"/>
              </a:defRPr>
            </a:lvl6pPr>
            <a:lvl7pPr algn="ctr">
              <a:defRPr lang="en-US" sz="3375" b="1">
                <a:solidFill>
                  <a:srgbClr val="822433"/>
                </a:solidFill>
                <a:latin typeface="Roboto"/>
                <a:ea typeface="Roboto"/>
                <a:cs typeface="Roboto"/>
              </a:defRPr>
            </a:lvl7pPr>
            <a:lvl8pPr algn="ctr">
              <a:defRPr lang="en-US" sz="3375" b="1">
                <a:solidFill>
                  <a:srgbClr val="822433"/>
                </a:solidFill>
                <a:latin typeface="Roboto"/>
                <a:ea typeface="Roboto"/>
                <a:cs typeface="Roboto"/>
              </a:defRPr>
            </a:lvl8pPr>
            <a:lvl9pPr algn="ctr">
              <a:defRPr lang="en-US" sz="3375" b="1">
                <a:solidFill>
                  <a:srgbClr val="822433"/>
                </a:solidFill>
                <a:latin typeface="Roboto"/>
                <a:ea typeface="Roboto"/>
                <a:cs typeface="Roboto"/>
              </a:defRPr>
            </a:lvl9pPr>
          </a:lstStyle>
          <a:p>
            <a:pPr algn="ctr">
              <a:defRPr lang="en-US" sz="3375" b="1">
                <a:solidFill>
                  <a:srgbClr val="822433"/>
                </a:solidFill>
                <a:latin typeface="Roboto"/>
                <a:ea typeface="Roboto"/>
                <a:cs typeface="Roboto"/>
              </a:defRPr>
            </a:pPr>
            <a:r>
              <a:rPr lang="en-US" sz="3375" b="1">
                <a:solidFill>
                  <a:srgbClr val="822433"/>
                </a:solidFill>
                <a:latin typeface="Roboto"/>
                <a:ea typeface="Roboto"/>
                <a:cs typeface="Roboto"/>
              </a:rPr>
              <a:t>PTQ</a:t>
            </a:r>
          </a:p>
        </p:txBody>
      </p:sp>
      <p:sp>
        <p:nvSpPr>
          <p:cNvPr id="12" name="PTQ-definition">
            <a:extLst>
              <a:ext uri="{FF2B5EF4-FFF2-40B4-BE49-F238E27FC236}">
                <a16:creationId xmlns:a16="http://schemas.microsoft.com/office/drawing/2014/main" id="{34CC296A-E5FA-4E36-9D68-B9C2E4B08385}"/>
              </a:ext>
            </a:extLst>
          </p:cNvPr>
          <p:cNvSpPr>
            <a:spLocks noGrp="1"/>
          </p:cNvSpPr>
          <p:nvPr/>
        </p:nvSpPr>
        <p:spPr>
          <a:xfrm>
            <a:off x="4524375" y="3905250"/>
            <a:ext cx="2809875" cy="962025"/>
          </a:xfrm>
          <a:prstGeom prst="rect">
            <a:avLst/>
          </a:prstGeom>
          <a:noFill/>
          <a:ln w="0">
            <a:noFill/>
          </a:ln>
        </p:spPr>
        <p:txBody>
          <a:bodyPr wrap="square" lIns="0" tIns="0" rIns="0" bIns="0" anchor="t">
            <a:noAutofit/>
          </a:bodyPr>
          <a:lstStyle>
            <a:defPPr algn="ctr">
              <a:defRPr lang="en-US" sz="2100" b="0">
                <a:solidFill>
                  <a:srgbClr val="202124"/>
                </a:solidFill>
                <a:latin typeface="Roboto"/>
                <a:ea typeface="Roboto"/>
                <a:cs typeface="Roboto"/>
              </a:defRPr>
            </a:defPPr>
            <a:lvl1pPr algn="ctr">
              <a:defRPr lang="en-US" sz="2100" b="0">
                <a:solidFill>
                  <a:srgbClr val="202124"/>
                </a:solidFill>
                <a:latin typeface="Roboto"/>
                <a:ea typeface="Roboto"/>
                <a:cs typeface="Roboto"/>
              </a:defRPr>
            </a:lvl1pPr>
            <a:lvl2pPr algn="ctr">
              <a:defRPr lang="en-US" sz="2100" b="0">
                <a:solidFill>
                  <a:srgbClr val="202124"/>
                </a:solidFill>
                <a:latin typeface="Roboto"/>
                <a:ea typeface="Roboto"/>
                <a:cs typeface="Roboto"/>
              </a:defRPr>
            </a:lvl2pPr>
            <a:lvl3pPr algn="ctr">
              <a:defRPr lang="en-US" sz="2100" b="0">
                <a:solidFill>
                  <a:srgbClr val="202124"/>
                </a:solidFill>
                <a:latin typeface="Roboto"/>
                <a:ea typeface="Roboto"/>
                <a:cs typeface="Roboto"/>
              </a:defRPr>
            </a:lvl3pPr>
            <a:lvl4pPr algn="ctr">
              <a:defRPr lang="en-US" sz="2100" b="0">
                <a:solidFill>
                  <a:srgbClr val="202124"/>
                </a:solidFill>
                <a:latin typeface="Roboto"/>
                <a:ea typeface="Roboto"/>
                <a:cs typeface="Roboto"/>
              </a:defRPr>
            </a:lvl4pPr>
            <a:lvl5pPr algn="ctr">
              <a:defRPr lang="en-US" sz="2100" b="0">
                <a:solidFill>
                  <a:srgbClr val="202124"/>
                </a:solidFill>
                <a:latin typeface="Roboto"/>
                <a:ea typeface="Roboto"/>
                <a:cs typeface="Roboto"/>
              </a:defRPr>
            </a:lvl5pPr>
            <a:lvl6pPr algn="ctr">
              <a:defRPr lang="en-US" sz="2100" b="0">
                <a:solidFill>
                  <a:srgbClr val="202124"/>
                </a:solidFill>
                <a:latin typeface="Roboto"/>
                <a:ea typeface="Roboto"/>
                <a:cs typeface="Roboto"/>
              </a:defRPr>
            </a:lvl6pPr>
            <a:lvl7pPr algn="ctr">
              <a:defRPr lang="en-US" sz="2100" b="0">
                <a:solidFill>
                  <a:srgbClr val="202124"/>
                </a:solidFill>
                <a:latin typeface="Roboto"/>
                <a:ea typeface="Roboto"/>
                <a:cs typeface="Roboto"/>
              </a:defRPr>
            </a:lvl7pPr>
            <a:lvl8pPr algn="ctr">
              <a:defRPr lang="en-US" sz="2100" b="0">
                <a:solidFill>
                  <a:srgbClr val="202124"/>
                </a:solidFill>
                <a:latin typeface="Roboto"/>
                <a:ea typeface="Roboto"/>
                <a:cs typeface="Roboto"/>
              </a:defRPr>
            </a:lvl8pPr>
            <a:lvl9pPr algn="ctr">
              <a:defRPr lang="en-US" sz="2100" b="0">
                <a:solidFill>
                  <a:srgbClr val="202124"/>
                </a:solidFill>
                <a:latin typeface="Roboto"/>
                <a:ea typeface="Roboto"/>
                <a:cs typeface="Roboto"/>
              </a:defRPr>
            </a:lvl9pPr>
          </a:lstStyle>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Calibrate after</a:t>
            </a:r>
          </a:p>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training</a:t>
            </a:r>
          </a:p>
        </p:txBody>
      </p:sp>
      <p:pic>
        <p:nvPicPr>
          <p:cNvPr id="13" name="Immagine 12">
            <a:extLst>
              <a:ext uri="{FF2B5EF4-FFF2-40B4-BE49-F238E27FC236}">
                <a16:creationId xmlns:a16="http://schemas.microsoft.com/office/drawing/2014/main" id="{C36D3319-8F6E-4353-9B6E-A5989B468C6B}"/>
              </a:ext>
            </a:extLst>
          </p:cNvPr>
          <p:cNvPicPr>
            <a:picLocks noChangeAspect="1"/>
          </p:cNvPicPr>
          <p:nvPr/>
        </p:nvPicPr>
        <p:blipFill>
          <a:blip r:embed="rId6"/>
          <a:stretch/>
        </p:blipFill>
        <p:spPr>
          <a:xfrm>
            <a:off x="8905875" y="1771650"/>
            <a:ext cx="914400" cy="914400"/>
          </a:xfrm>
          <a:prstGeom prst="rect">
            <a:avLst/>
          </a:prstGeom>
        </p:spPr>
      </p:pic>
      <p:sp>
        <p:nvSpPr>
          <p:cNvPr id="14" name="QAT-label">
            <a:extLst>
              <a:ext uri="{FF2B5EF4-FFF2-40B4-BE49-F238E27FC236}">
                <a16:creationId xmlns:a16="http://schemas.microsoft.com/office/drawing/2014/main" id="{D574AB64-3E16-4615-9606-D5CAC61F286A}"/>
              </a:ext>
            </a:extLst>
          </p:cNvPr>
          <p:cNvSpPr>
            <a:spLocks noGrp="1"/>
          </p:cNvSpPr>
          <p:nvPr/>
        </p:nvSpPr>
        <p:spPr>
          <a:xfrm>
            <a:off x="8048625" y="3086100"/>
            <a:ext cx="2619375" cy="581025"/>
          </a:xfrm>
          <a:prstGeom prst="rect">
            <a:avLst/>
          </a:prstGeom>
          <a:noFill/>
          <a:ln w="0">
            <a:noFill/>
          </a:ln>
        </p:spPr>
        <p:txBody>
          <a:bodyPr wrap="square" lIns="0" tIns="0" rIns="0" bIns="0" anchor="t">
            <a:noAutofit/>
          </a:bodyPr>
          <a:lstStyle>
            <a:defPPr algn="ctr">
              <a:defRPr lang="en-US" sz="3375" b="1">
                <a:solidFill>
                  <a:srgbClr val="822433"/>
                </a:solidFill>
                <a:latin typeface="Roboto"/>
                <a:ea typeface="Roboto"/>
                <a:cs typeface="Roboto"/>
              </a:defRPr>
            </a:defPPr>
            <a:lvl1pPr algn="ctr">
              <a:defRPr lang="en-US" sz="3375" b="1">
                <a:solidFill>
                  <a:srgbClr val="822433"/>
                </a:solidFill>
                <a:latin typeface="Roboto"/>
                <a:ea typeface="Roboto"/>
                <a:cs typeface="Roboto"/>
              </a:defRPr>
            </a:lvl1pPr>
            <a:lvl2pPr algn="ctr">
              <a:defRPr lang="en-US" sz="3375" b="1">
                <a:solidFill>
                  <a:srgbClr val="822433"/>
                </a:solidFill>
                <a:latin typeface="Roboto"/>
                <a:ea typeface="Roboto"/>
                <a:cs typeface="Roboto"/>
              </a:defRPr>
            </a:lvl2pPr>
            <a:lvl3pPr algn="ctr">
              <a:defRPr lang="en-US" sz="3375" b="1">
                <a:solidFill>
                  <a:srgbClr val="822433"/>
                </a:solidFill>
                <a:latin typeface="Roboto"/>
                <a:ea typeface="Roboto"/>
                <a:cs typeface="Roboto"/>
              </a:defRPr>
            </a:lvl3pPr>
            <a:lvl4pPr algn="ctr">
              <a:defRPr lang="en-US" sz="3375" b="1">
                <a:solidFill>
                  <a:srgbClr val="822433"/>
                </a:solidFill>
                <a:latin typeface="Roboto"/>
                <a:ea typeface="Roboto"/>
                <a:cs typeface="Roboto"/>
              </a:defRPr>
            </a:lvl4pPr>
            <a:lvl5pPr algn="ctr">
              <a:defRPr lang="en-US" sz="3375" b="1">
                <a:solidFill>
                  <a:srgbClr val="822433"/>
                </a:solidFill>
                <a:latin typeface="Roboto"/>
                <a:ea typeface="Roboto"/>
                <a:cs typeface="Roboto"/>
              </a:defRPr>
            </a:lvl5pPr>
            <a:lvl6pPr algn="ctr">
              <a:defRPr lang="en-US" sz="3375" b="1">
                <a:solidFill>
                  <a:srgbClr val="822433"/>
                </a:solidFill>
                <a:latin typeface="Roboto"/>
                <a:ea typeface="Roboto"/>
                <a:cs typeface="Roboto"/>
              </a:defRPr>
            </a:lvl6pPr>
            <a:lvl7pPr algn="ctr">
              <a:defRPr lang="en-US" sz="3375" b="1">
                <a:solidFill>
                  <a:srgbClr val="822433"/>
                </a:solidFill>
                <a:latin typeface="Roboto"/>
                <a:ea typeface="Roboto"/>
                <a:cs typeface="Roboto"/>
              </a:defRPr>
            </a:lvl7pPr>
            <a:lvl8pPr algn="ctr">
              <a:defRPr lang="en-US" sz="3375" b="1">
                <a:solidFill>
                  <a:srgbClr val="822433"/>
                </a:solidFill>
                <a:latin typeface="Roboto"/>
                <a:ea typeface="Roboto"/>
                <a:cs typeface="Roboto"/>
              </a:defRPr>
            </a:lvl8pPr>
            <a:lvl9pPr algn="ctr">
              <a:defRPr lang="en-US" sz="3375" b="1">
                <a:solidFill>
                  <a:srgbClr val="822433"/>
                </a:solidFill>
                <a:latin typeface="Roboto"/>
                <a:ea typeface="Roboto"/>
                <a:cs typeface="Roboto"/>
              </a:defRPr>
            </a:lvl9pPr>
          </a:lstStyle>
          <a:p>
            <a:pPr algn="ctr">
              <a:defRPr lang="en-US" sz="3375" b="1">
                <a:solidFill>
                  <a:srgbClr val="822433"/>
                </a:solidFill>
                <a:latin typeface="Roboto"/>
                <a:ea typeface="Roboto"/>
                <a:cs typeface="Roboto"/>
              </a:defRPr>
            </a:pPr>
            <a:r>
              <a:rPr lang="en-US" sz="3375" b="1">
                <a:solidFill>
                  <a:srgbClr val="822433"/>
                </a:solidFill>
                <a:latin typeface="Roboto"/>
                <a:ea typeface="Roboto"/>
                <a:cs typeface="Roboto"/>
              </a:rPr>
              <a:t>QAT</a:t>
            </a:r>
          </a:p>
        </p:txBody>
      </p:sp>
      <p:sp>
        <p:nvSpPr>
          <p:cNvPr id="15" name="QAT-definition">
            <a:extLst>
              <a:ext uri="{FF2B5EF4-FFF2-40B4-BE49-F238E27FC236}">
                <a16:creationId xmlns:a16="http://schemas.microsoft.com/office/drawing/2014/main" id="{95F9C4DE-AB05-49C7-89A2-9D13FDF73E07}"/>
              </a:ext>
            </a:extLst>
          </p:cNvPr>
          <p:cNvSpPr>
            <a:spLocks noGrp="1"/>
          </p:cNvSpPr>
          <p:nvPr/>
        </p:nvSpPr>
        <p:spPr>
          <a:xfrm>
            <a:off x="7953375" y="3905250"/>
            <a:ext cx="2809875" cy="962025"/>
          </a:xfrm>
          <a:prstGeom prst="rect">
            <a:avLst/>
          </a:prstGeom>
          <a:noFill/>
          <a:ln w="0">
            <a:noFill/>
          </a:ln>
        </p:spPr>
        <p:txBody>
          <a:bodyPr wrap="square" lIns="0" tIns="0" rIns="0" bIns="0" anchor="t">
            <a:noAutofit/>
          </a:bodyPr>
          <a:lstStyle>
            <a:defPPr algn="ctr">
              <a:defRPr lang="en-US" sz="2100" b="0">
                <a:solidFill>
                  <a:srgbClr val="202124"/>
                </a:solidFill>
                <a:latin typeface="Roboto"/>
                <a:ea typeface="Roboto"/>
                <a:cs typeface="Roboto"/>
              </a:defRPr>
            </a:defPPr>
            <a:lvl1pPr algn="ctr">
              <a:defRPr lang="en-US" sz="2100" b="0">
                <a:solidFill>
                  <a:srgbClr val="202124"/>
                </a:solidFill>
                <a:latin typeface="Roboto"/>
                <a:ea typeface="Roboto"/>
                <a:cs typeface="Roboto"/>
              </a:defRPr>
            </a:lvl1pPr>
            <a:lvl2pPr algn="ctr">
              <a:defRPr lang="en-US" sz="2100" b="0">
                <a:solidFill>
                  <a:srgbClr val="202124"/>
                </a:solidFill>
                <a:latin typeface="Roboto"/>
                <a:ea typeface="Roboto"/>
                <a:cs typeface="Roboto"/>
              </a:defRPr>
            </a:lvl2pPr>
            <a:lvl3pPr algn="ctr">
              <a:defRPr lang="en-US" sz="2100" b="0">
                <a:solidFill>
                  <a:srgbClr val="202124"/>
                </a:solidFill>
                <a:latin typeface="Roboto"/>
                <a:ea typeface="Roboto"/>
                <a:cs typeface="Roboto"/>
              </a:defRPr>
            </a:lvl3pPr>
            <a:lvl4pPr algn="ctr">
              <a:defRPr lang="en-US" sz="2100" b="0">
                <a:solidFill>
                  <a:srgbClr val="202124"/>
                </a:solidFill>
                <a:latin typeface="Roboto"/>
                <a:ea typeface="Roboto"/>
                <a:cs typeface="Roboto"/>
              </a:defRPr>
            </a:lvl4pPr>
            <a:lvl5pPr algn="ctr">
              <a:defRPr lang="en-US" sz="2100" b="0">
                <a:solidFill>
                  <a:srgbClr val="202124"/>
                </a:solidFill>
                <a:latin typeface="Roboto"/>
                <a:ea typeface="Roboto"/>
                <a:cs typeface="Roboto"/>
              </a:defRPr>
            </a:lvl5pPr>
            <a:lvl6pPr algn="ctr">
              <a:defRPr lang="en-US" sz="2100" b="0">
                <a:solidFill>
                  <a:srgbClr val="202124"/>
                </a:solidFill>
                <a:latin typeface="Roboto"/>
                <a:ea typeface="Roboto"/>
                <a:cs typeface="Roboto"/>
              </a:defRPr>
            </a:lvl6pPr>
            <a:lvl7pPr algn="ctr">
              <a:defRPr lang="en-US" sz="2100" b="0">
                <a:solidFill>
                  <a:srgbClr val="202124"/>
                </a:solidFill>
                <a:latin typeface="Roboto"/>
                <a:ea typeface="Roboto"/>
                <a:cs typeface="Roboto"/>
              </a:defRPr>
            </a:lvl7pPr>
            <a:lvl8pPr algn="ctr">
              <a:defRPr lang="en-US" sz="2100" b="0">
                <a:solidFill>
                  <a:srgbClr val="202124"/>
                </a:solidFill>
                <a:latin typeface="Roboto"/>
                <a:ea typeface="Roboto"/>
                <a:cs typeface="Roboto"/>
              </a:defRPr>
            </a:lvl8pPr>
            <a:lvl9pPr algn="ctr">
              <a:defRPr lang="en-US" sz="2100" b="0">
                <a:solidFill>
                  <a:srgbClr val="202124"/>
                </a:solidFill>
                <a:latin typeface="Roboto"/>
                <a:ea typeface="Roboto"/>
                <a:cs typeface="Roboto"/>
              </a:defRPr>
            </a:lvl9pPr>
          </a:lstStyle>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Fine-tune with</a:t>
            </a:r>
          </a:p>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quantization effects</a:t>
            </a:r>
          </a:p>
        </p:txBody>
      </p:sp>
      <p:sp>
        <p:nvSpPr>
          <p:cNvPr id="16" name="mixed-precision">
            <a:extLst>
              <a:ext uri="{FF2B5EF4-FFF2-40B4-BE49-F238E27FC236}">
                <a16:creationId xmlns:a16="http://schemas.microsoft.com/office/drawing/2014/main" id="{AC2C573C-8B02-4FBE-94DC-F83D58840BB9}"/>
              </a:ext>
            </a:extLst>
          </p:cNvPr>
          <p:cNvSpPr>
            <a:spLocks noGrp="1"/>
          </p:cNvSpPr>
          <p:nvPr/>
        </p:nvSpPr>
        <p:spPr>
          <a:xfrm>
            <a:off x="952500" y="5610225"/>
            <a:ext cx="10239375" cy="409575"/>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1875" b="0">
                <a:solidFill>
                  <a:srgbClr val="656B73"/>
                </a:solidFill>
                <a:latin typeface="Roboto"/>
                <a:ea typeface="Roboto"/>
                <a:cs typeface="Roboto"/>
              </a:rPr>
              <a:t>Selective INT8 deployment retains some floating-point operations</a:t>
            </a:r>
          </a:p>
        </p:txBody>
      </p:sp>
    </p:spTree>
    <p:extLst>
      <p:ext uri="{BB962C8B-B14F-4D97-AF65-F5344CB8AC3E}">
        <p14:creationId xmlns:p14="http://schemas.microsoft.com/office/powerpoint/2010/main" val="222343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732F3B15-3FE7-49AC-B1A1-B36CB29170D6}"/>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Perforation masks require dedicated data</a:t>
            </a:r>
          </a:p>
        </p:txBody>
      </p:sp>
      <p:pic>
        <p:nvPicPr>
          <p:cNvPr id="2" name="Immagine 1">
            <a:extLst>
              <a:ext uri="{FF2B5EF4-FFF2-40B4-BE49-F238E27FC236}">
                <a16:creationId xmlns:a16="http://schemas.microsoft.com/office/drawing/2014/main" id="{A4924A9B-0557-4D8D-8966-6D5F5566F6BA}"/>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4564801C-D065-4C9B-9BB3-AFA508F4C199}"/>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5BFF94E7-1188-459B-9B17-E132D0C20CF0}"/>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0CA95824-8DE9-4672-8339-8F2B791BCF10}"/>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9 / 33</a:t>
            </a:r>
          </a:p>
        </p:txBody>
      </p:sp>
      <p:sp>
        <p:nvSpPr>
          <p:cNvPr id="6" name="source-citations">
            <a:extLst>
              <a:ext uri="{FF2B5EF4-FFF2-40B4-BE49-F238E27FC236}">
                <a16:creationId xmlns:a16="http://schemas.microsoft.com/office/drawing/2014/main" id="{859B6459-B5A6-4098-86CE-E9CA8D49F4C9}"/>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[2]</a:t>
            </a:r>
          </a:p>
        </p:txBody>
      </p:sp>
      <p:pic>
        <p:nvPicPr>
          <p:cNvPr id="7" name="Immagine 6">
            <a:extLst>
              <a:ext uri="{FF2B5EF4-FFF2-40B4-BE49-F238E27FC236}">
                <a16:creationId xmlns:a16="http://schemas.microsoft.com/office/drawing/2014/main" id="{54E851D2-4042-4FD2-86A0-1A595857F109}"/>
              </a:ext>
            </a:extLst>
          </p:cNvPr>
          <p:cNvPicPr>
            <a:picLocks noChangeAspect="1"/>
          </p:cNvPicPr>
          <p:nvPr/>
        </p:nvPicPr>
        <p:blipFill>
          <a:blip r:embed="rId4"/>
          <a:stretch/>
        </p:blipFill>
        <p:spPr>
          <a:xfrm>
            <a:off x="1885950" y="1924050"/>
            <a:ext cx="1047750" cy="1047750"/>
          </a:xfrm>
          <a:prstGeom prst="rect">
            <a:avLst/>
          </a:prstGeom>
        </p:spPr>
      </p:pic>
      <p:sp>
        <p:nvSpPr>
          <p:cNvPr id="8" name="stack-of-photos-label">
            <a:extLst>
              <a:ext uri="{FF2B5EF4-FFF2-40B4-BE49-F238E27FC236}">
                <a16:creationId xmlns:a16="http://schemas.microsoft.com/office/drawing/2014/main" id="{4E7E8B77-5163-4685-83E2-813D14573069}"/>
              </a:ext>
            </a:extLst>
          </p:cNvPr>
          <p:cNvSpPr>
            <a:spLocks noGrp="1"/>
          </p:cNvSpPr>
          <p:nvPr/>
        </p:nvSpPr>
        <p:spPr>
          <a:xfrm>
            <a:off x="1095375" y="3390900"/>
            <a:ext cx="2809875" cy="590550"/>
          </a:xfrm>
          <a:prstGeom prst="rect">
            <a:avLst/>
          </a:prstGeom>
          <a:noFill/>
          <a:ln w="0">
            <a:noFill/>
          </a:ln>
        </p:spPr>
        <p:txBody>
          <a:bodyPr wrap="square" lIns="0" tIns="0" rIns="0" bIns="0" anchor="t">
            <a:noAutofit/>
          </a:bodyPr>
          <a:lstStyle>
            <a:defPPr algn="ctr">
              <a:defRPr lang="en-US" sz="2400" b="1">
                <a:solidFill>
                  <a:srgbClr val="822433"/>
                </a:solidFill>
                <a:latin typeface="Roboto"/>
                <a:ea typeface="Roboto"/>
                <a:cs typeface="Roboto"/>
              </a:defRPr>
            </a:defPPr>
            <a:lvl1pPr algn="ctr">
              <a:defRPr lang="en-US" sz="2400" b="1">
                <a:solidFill>
                  <a:srgbClr val="822433"/>
                </a:solidFill>
                <a:latin typeface="Roboto"/>
                <a:ea typeface="Roboto"/>
                <a:cs typeface="Roboto"/>
              </a:defRPr>
            </a:lvl1pPr>
            <a:lvl2pPr algn="ctr">
              <a:defRPr lang="en-US" sz="2400" b="1">
                <a:solidFill>
                  <a:srgbClr val="822433"/>
                </a:solidFill>
                <a:latin typeface="Roboto"/>
                <a:ea typeface="Roboto"/>
                <a:cs typeface="Roboto"/>
              </a:defRPr>
            </a:lvl2pPr>
            <a:lvl3pPr algn="ctr">
              <a:defRPr lang="en-US" sz="2400" b="1">
                <a:solidFill>
                  <a:srgbClr val="822433"/>
                </a:solidFill>
                <a:latin typeface="Roboto"/>
                <a:ea typeface="Roboto"/>
                <a:cs typeface="Roboto"/>
              </a:defRPr>
            </a:lvl3pPr>
            <a:lvl4pPr algn="ctr">
              <a:defRPr lang="en-US" sz="2400" b="1">
                <a:solidFill>
                  <a:srgbClr val="822433"/>
                </a:solidFill>
                <a:latin typeface="Roboto"/>
                <a:ea typeface="Roboto"/>
                <a:cs typeface="Roboto"/>
              </a:defRPr>
            </a:lvl4pPr>
            <a:lvl5pPr algn="ctr">
              <a:defRPr lang="en-US" sz="2400" b="1">
                <a:solidFill>
                  <a:srgbClr val="822433"/>
                </a:solidFill>
                <a:latin typeface="Roboto"/>
                <a:ea typeface="Roboto"/>
                <a:cs typeface="Roboto"/>
              </a:defRPr>
            </a:lvl5pPr>
            <a:lvl6pPr algn="ctr">
              <a:defRPr lang="en-US" sz="2400" b="1">
                <a:solidFill>
                  <a:srgbClr val="822433"/>
                </a:solidFill>
                <a:latin typeface="Roboto"/>
                <a:ea typeface="Roboto"/>
                <a:cs typeface="Roboto"/>
              </a:defRPr>
            </a:lvl6pPr>
            <a:lvl7pPr algn="ctr">
              <a:defRPr lang="en-US" sz="2400" b="1">
                <a:solidFill>
                  <a:srgbClr val="822433"/>
                </a:solidFill>
                <a:latin typeface="Roboto"/>
                <a:ea typeface="Roboto"/>
                <a:cs typeface="Roboto"/>
              </a:defRPr>
            </a:lvl7pPr>
            <a:lvl8pPr algn="ctr">
              <a:defRPr lang="en-US" sz="2400" b="1">
                <a:solidFill>
                  <a:srgbClr val="822433"/>
                </a:solidFill>
                <a:latin typeface="Roboto"/>
                <a:ea typeface="Roboto"/>
                <a:cs typeface="Roboto"/>
              </a:defRPr>
            </a:lvl8pPr>
            <a:lvl9pPr algn="ctr">
              <a:defRPr lang="en-US" sz="2400" b="1">
                <a:solidFill>
                  <a:srgbClr val="822433"/>
                </a:solidFill>
                <a:latin typeface="Roboto"/>
                <a:ea typeface="Roboto"/>
                <a:cs typeface="Roboto"/>
              </a:defRPr>
            </a:lvl9pPr>
          </a:lstStyle>
          <a:p>
            <a:pPr algn="ctr">
              <a:defRPr lang="en-US" sz="2400" b="1">
                <a:solidFill>
                  <a:srgbClr val="822433"/>
                </a:solidFill>
                <a:latin typeface="Roboto"/>
                <a:ea typeface="Roboto"/>
                <a:cs typeface="Roboto"/>
              </a:defRPr>
            </a:pPr>
            <a:r>
              <a:rPr lang="en-US" sz="2400" b="1">
                <a:solidFill>
                  <a:srgbClr val="822433"/>
                </a:solidFill>
                <a:latin typeface="Roboto"/>
                <a:ea typeface="Roboto"/>
                <a:cs typeface="Roboto"/>
              </a:rPr>
              <a:t>Wheel views</a:t>
            </a:r>
          </a:p>
        </p:txBody>
      </p:sp>
      <p:pic>
        <p:nvPicPr>
          <p:cNvPr id="9" name="Immagine 8">
            <a:extLst>
              <a:ext uri="{FF2B5EF4-FFF2-40B4-BE49-F238E27FC236}">
                <a16:creationId xmlns:a16="http://schemas.microsoft.com/office/drawing/2014/main" id="{9BB547B3-47E1-4FB0-9B28-137EF87C7B12}"/>
              </a:ext>
            </a:extLst>
          </p:cNvPr>
          <p:cNvPicPr>
            <a:picLocks noChangeAspect="1"/>
          </p:cNvPicPr>
          <p:nvPr/>
        </p:nvPicPr>
        <p:blipFill>
          <a:blip r:embed="rId5"/>
          <a:stretch/>
        </p:blipFill>
        <p:spPr>
          <a:xfrm>
            <a:off x="5314950" y="1924050"/>
            <a:ext cx="1047750" cy="1047750"/>
          </a:xfrm>
          <a:prstGeom prst="rect">
            <a:avLst/>
          </a:prstGeom>
        </p:spPr>
      </p:pic>
      <p:sp>
        <p:nvSpPr>
          <p:cNvPr id="10" name="image-file-label">
            <a:extLst>
              <a:ext uri="{FF2B5EF4-FFF2-40B4-BE49-F238E27FC236}">
                <a16:creationId xmlns:a16="http://schemas.microsoft.com/office/drawing/2014/main" id="{E489F3D0-08C4-4DB4-B7B8-4479074A5D6B}"/>
              </a:ext>
            </a:extLst>
          </p:cNvPr>
          <p:cNvSpPr>
            <a:spLocks noGrp="1"/>
          </p:cNvSpPr>
          <p:nvPr/>
        </p:nvSpPr>
        <p:spPr>
          <a:xfrm>
            <a:off x="4524375" y="3390900"/>
            <a:ext cx="2809875" cy="590550"/>
          </a:xfrm>
          <a:prstGeom prst="rect">
            <a:avLst/>
          </a:prstGeom>
          <a:noFill/>
          <a:ln w="0">
            <a:noFill/>
          </a:ln>
        </p:spPr>
        <p:txBody>
          <a:bodyPr wrap="square" lIns="0" tIns="0" rIns="0" bIns="0" anchor="t">
            <a:noAutofit/>
          </a:bodyPr>
          <a:lstStyle>
            <a:defPPr algn="ctr">
              <a:defRPr lang="en-US" sz="2400" b="1">
                <a:solidFill>
                  <a:srgbClr val="822433"/>
                </a:solidFill>
                <a:latin typeface="Roboto"/>
                <a:ea typeface="Roboto"/>
                <a:cs typeface="Roboto"/>
              </a:defRPr>
            </a:defPPr>
            <a:lvl1pPr algn="ctr">
              <a:defRPr lang="en-US" sz="2400" b="1">
                <a:solidFill>
                  <a:srgbClr val="822433"/>
                </a:solidFill>
                <a:latin typeface="Roboto"/>
                <a:ea typeface="Roboto"/>
                <a:cs typeface="Roboto"/>
              </a:defRPr>
            </a:lvl1pPr>
            <a:lvl2pPr algn="ctr">
              <a:defRPr lang="en-US" sz="2400" b="1">
                <a:solidFill>
                  <a:srgbClr val="822433"/>
                </a:solidFill>
                <a:latin typeface="Roboto"/>
                <a:ea typeface="Roboto"/>
                <a:cs typeface="Roboto"/>
              </a:defRPr>
            </a:lvl2pPr>
            <a:lvl3pPr algn="ctr">
              <a:defRPr lang="en-US" sz="2400" b="1">
                <a:solidFill>
                  <a:srgbClr val="822433"/>
                </a:solidFill>
                <a:latin typeface="Roboto"/>
                <a:ea typeface="Roboto"/>
                <a:cs typeface="Roboto"/>
              </a:defRPr>
            </a:lvl3pPr>
            <a:lvl4pPr algn="ctr">
              <a:defRPr lang="en-US" sz="2400" b="1">
                <a:solidFill>
                  <a:srgbClr val="822433"/>
                </a:solidFill>
                <a:latin typeface="Roboto"/>
                <a:ea typeface="Roboto"/>
                <a:cs typeface="Roboto"/>
              </a:defRPr>
            </a:lvl4pPr>
            <a:lvl5pPr algn="ctr">
              <a:defRPr lang="en-US" sz="2400" b="1">
                <a:solidFill>
                  <a:srgbClr val="822433"/>
                </a:solidFill>
                <a:latin typeface="Roboto"/>
                <a:ea typeface="Roboto"/>
                <a:cs typeface="Roboto"/>
              </a:defRPr>
            </a:lvl5pPr>
            <a:lvl6pPr algn="ctr">
              <a:defRPr lang="en-US" sz="2400" b="1">
                <a:solidFill>
                  <a:srgbClr val="822433"/>
                </a:solidFill>
                <a:latin typeface="Roboto"/>
                <a:ea typeface="Roboto"/>
                <a:cs typeface="Roboto"/>
              </a:defRPr>
            </a:lvl6pPr>
            <a:lvl7pPr algn="ctr">
              <a:defRPr lang="en-US" sz="2400" b="1">
                <a:solidFill>
                  <a:srgbClr val="822433"/>
                </a:solidFill>
                <a:latin typeface="Roboto"/>
                <a:ea typeface="Roboto"/>
                <a:cs typeface="Roboto"/>
              </a:defRPr>
            </a:lvl7pPr>
            <a:lvl8pPr algn="ctr">
              <a:defRPr lang="en-US" sz="2400" b="1">
                <a:solidFill>
                  <a:srgbClr val="822433"/>
                </a:solidFill>
                <a:latin typeface="Roboto"/>
                <a:ea typeface="Roboto"/>
                <a:cs typeface="Roboto"/>
              </a:defRPr>
            </a:lvl8pPr>
            <a:lvl9pPr algn="ctr">
              <a:defRPr lang="en-US" sz="2400" b="1">
                <a:solidFill>
                  <a:srgbClr val="822433"/>
                </a:solidFill>
                <a:latin typeface="Roboto"/>
                <a:ea typeface="Roboto"/>
                <a:cs typeface="Roboto"/>
              </a:defRPr>
            </a:lvl9pPr>
          </a:lstStyle>
          <a:p>
            <a:pPr algn="ctr">
              <a:defRPr lang="en-US" sz="2400" b="1">
                <a:solidFill>
                  <a:srgbClr val="822433"/>
                </a:solidFill>
                <a:latin typeface="Roboto"/>
                <a:ea typeface="Roboto"/>
                <a:cs typeface="Roboto"/>
              </a:defRPr>
            </a:pPr>
            <a:r>
              <a:rPr lang="en-US" sz="2400" b="1">
                <a:solidFill>
                  <a:srgbClr val="822433"/>
                </a:solidFill>
                <a:latin typeface="Roboto"/>
                <a:ea typeface="Roboto"/>
                <a:cs typeface="Roboto"/>
              </a:rPr>
              <a:t>Damage masks</a:t>
            </a:r>
          </a:p>
        </p:txBody>
      </p:sp>
      <p:pic>
        <p:nvPicPr>
          <p:cNvPr id="11" name="Immagine 10">
            <a:extLst>
              <a:ext uri="{FF2B5EF4-FFF2-40B4-BE49-F238E27FC236}">
                <a16:creationId xmlns:a16="http://schemas.microsoft.com/office/drawing/2014/main" id="{905874A1-C9DB-4FE2-87C5-CBE9BE5BC861}"/>
              </a:ext>
            </a:extLst>
          </p:cNvPr>
          <p:cNvPicPr>
            <a:picLocks noChangeAspect="1"/>
          </p:cNvPicPr>
          <p:nvPr/>
        </p:nvPicPr>
        <p:blipFill>
          <a:blip r:embed="rId6"/>
          <a:stretch/>
        </p:blipFill>
        <p:spPr>
          <a:xfrm>
            <a:off x="8743950" y="1924050"/>
            <a:ext cx="1047750" cy="1047750"/>
          </a:xfrm>
          <a:prstGeom prst="rect">
            <a:avLst/>
          </a:prstGeom>
        </p:spPr>
      </p:pic>
      <p:sp>
        <p:nvSpPr>
          <p:cNvPr id="12" name="settings-label">
            <a:extLst>
              <a:ext uri="{FF2B5EF4-FFF2-40B4-BE49-F238E27FC236}">
                <a16:creationId xmlns:a16="http://schemas.microsoft.com/office/drawing/2014/main" id="{D9F0008E-3408-4475-B95F-487B51D170E5}"/>
              </a:ext>
            </a:extLst>
          </p:cNvPr>
          <p:cNvSpPr>
            <a:spLocks noGrp="1"/>
          </p:cNvSpPr>
          <p:nvPr/>
        </p:nvSpPr>
        <p:spPr>
          <a:xfrm>
            <a:off x="7953375" y="3390900"/>
            <a:ext cx="2809875" cy="590550"/>
          </a:xfrm>
          <a:prstGeom prst="rect">
            <a:avLst/>
          </a:prstGeom>
          <a:noFill/>
          <a:ln w="0">
            <a:noFill/>
          </a:ln>
        </p:spPr>
        <p:txBody>
          <a:bodyPr wrap="square" lIns="0" tIns="0" rIns="0" bIns="0" anchor="t">
            <a:noAutofit/>
          </a:bodyPr>
          <a:lstStyle>
            <a:defPPr algn="ctr">
              <a:defRPr lang="en-US" sz="2400" b="1">
                <a:solidFill>
                  <a:srgbClr val="822433"/>
                </a:solidFill>
                <a:latin typeface="Roboto"/>
                <a:ea typeface="Roboto"/>
                <a:cs typeface="Roboto"/>
              </a:defRPr>
            </a:defPPr>
            <a:lvl1pPr algn="ctr">
              <a:defRPr lang="en-US" sz="2400" b="1">
                <a:solidFill>
                  <a:srgbClr val="822433"/>
                </a:solidFill>
                <a:latin typeface="Roboto"/>
                <a:ea typeface="Roboto"/>
                <a:cs typeface="Roboto"/>
              </a:defRPr>
            </a:lvl1pPr>
            <a:lvl2pPr algn="ctr">
              <a:defRPr lang="en-US" sz="2400" b="1">
                <a:solidFill>
                  <a:srgbClr val="822433"/>
                </a:solidFill>
                <a:latin typeface="Roboto"/>
                <a:ea typeface="Roboto"/>
                <a:cs typeface="Roboto"/>
              </a:defRPr>
            </a:lvl2pPr>
            <a:lvl3pPr algn="ctr">
              <a:defRPr lang="en-US" sz="2400" b="1">
                <a:solidFill>
                  <a:srgbClr val="822433"/>
                </a:solidFill>
                <a:latin typeface="Roboto"/>
                <a:ea typeface="Roboto"/>
                <a:cs typeface="Roboto"/>
              </a:defRPr>
            </a:lvl3pPr>
            <a:lvl4pPr algn="ctr">
              <a:defRPr lang="en-US" sz="2400" b="1">
                <a:solidFill>
                  <a:srgbClr val="822433"/>
                </a:solidFill>
                <a:latin typeface="Roboto"/>
                <a:ea typeface="Roboto"/>
                <a:cs typeface="Roboto"/>
              </a:defRPr>
            </a:lvl4pPr>
            <a:lvl5pPr algn="ctr">
              <a:defRPr lang="en-US" sz="2400" b="1">
                <a:solidFill>
                  <a:srgbClr val="822433"/>
                </a:solidFill>
                <a:latin typeface="Roboto"/>
                <a:ea typeface="Roboto"/>
                <a:cs typeface="Roboto"/>
              </a:defRPr>
            </a:lvl5pPr>
            <a:lvl6pPr algn="ctr">
              <a:defRPr lang="en-US" sz="2400" b="1">
                <a:solidFill>
                  <a:srgbClr val="822433"/>
                </a:solidFill>
                <a:latin typeface="Roboto"/>
                <a:ea typeface="Roboto"/>
                <a:cs typeface="Roboto"/>
              </a:defRPr>
            </a:lvl6pPr>
            <a:lvl7pPr algn="ctr">
              <a:defRPr lang="en-US" sz="2400" b="1">
                <a:solidFill>
                  <a:srgbClr val="822433"/>
                </a:solidFill>
                <a:latin typeface="Roboto"/>
                <a:ea typeface="Roboto"/>
                <a:cs typeface="Roboto"/>
              </a:defRPr>
            </a:lvl7pPr>
            <a:lvl8pPr algn="ctr">
              <a:defRPr lang="en-US" sz="2400" b="1">
                <a:solidFill>
                  <a:srgbClr val="822433"/>
                </a:solidFill>
                <a:latin typeface="Roboto"/>
                <a:ea typeface="Roboto"/>
                <a:cs typeface="Roboto"/>
              </a:defRPr>
            </a:lvl8pPr>
            <a:lvl9pPr algn="ctr">
              <a:defRPr lang="en-US" sz="2400" b="1">
                <a:solidFill>
                  <a:srgbClr val="822433"/>
                </a:solidFill>
                <a:latin typeface="Roboto"/>
                <a:ea typeface="Roboto"/>
                <a:cs typeface="Roboto"/>
              </a:defRPr>
            </a:lvl9pPr>
          </a:lstStyle>
          <a:p>
            <a:pPr algn="ctr">
              <a:defRPr lang="en-US" sz="2400" b="1">
                <a:solidFill>
                  <a:srgbClr val="822433"/>
                </a:solidFill>
                <a:latin typeface="Roboto"/>
                <a:ea typeface="Roboto"/>
                <a:cs typeface="Roboto"/>
              </a:defRPr>
            </a:pPr>
            <a:r>
              <a:rPr lang="en-US" sz="2400" b="1">
                <a:solidFill>
                  <a:srgbClr val="822433"/>
                </a:solidFill>
                <a:latin typeface="Roboto"/>
                <a:ea typeface="Roboto"/>
                <a:cs typeface="Roboto"/>
              </a:rPr>
              <a:t>Controlled variation</a:t>
            </a:r>
          </a:p>
        </p:txBody>
      </p:sp>
      <p:sp>
        <p:nvSpPr>
          <p:cNvPr id="13" name="benchmark-gap">
            <a:extLst>
              <a:ext uri="{FF2B5EF4-FFF2-40B4-BE49-F238E27FC236}">
                <a16:creationId xmlns:a16="http://schemas.microsoft.com/office/drawing/2014/main" id="{1F66D6DB-0DBD-457A-94AE-287B3E81EA6B}"/>
              </a:ext>
            </a:extLst>
          </p:cNvPr>
          <p:cNvSpPr>
            <a:spLocks noGrp="1"/>
          </p:cNvSpPr>
          <p:nvPr/>
        </p:nvSpPr>
        <p:spPr>
          <a:xfrm>
            <a:off x="1238250" y="4562475"/>
            <a:ext cx="9667875" cy="962025"/>
          </a:xfrm>
          <a:prstGeom prst="rect">
            <a:avLst/>
          </a:prstGeom>
          <a:noFill/>
          <a:ln w="0">
            <a:noFill/>
          </a:ln>
        </p:spPr>
        <p:txBody>
          <a:bodyPr wrap="square" lIns="0" tIns="0" rIns="0" bIns="0" anchor="t">
            <a:noAutofit/>
          </a:bodyPr>
          <a:lstStyle>
            <a:defPPr algn="ctr">
              <a:defRPr lang="en-US" sz="2250" b="0">
                <a:solidFill>
                  <a:srgbClr val="202124"/>
                </a:solidFill>
                <a:latin typeface="Roboto"/>
                <a:ea typeface="Roboto"/>
                <a:cs typeface="Roboto"/>
              </a:defRPr>
            </a:defPPr>
            <a:lvl1pPr algn="ctr">
              <a:defRPr lang="en-US" sz="2250" b="0">
                <a:solidFill>
                  <a:srgbClr val="202124"/>
                </a:solidFill>
                <a:latin typeface="Roboto"/>
                <a:ea typeface="Roboto"/>
                <a:cs typeface="Roboto"/>
              </a:defRPr>
            </a:lvl1pPr>
            <a:lvl2pPr algn="ctr">
              <a:defRPr lang="en-US" sz="2250" b="0">
                <a:solidFill>
                  <a:srgbClr val="202124"/>
                </a:solidFill>
                <a:latin typeface="Roboto"/>
                <a:ea typeface="Roboto"/>
                <a:cs typeface="Roboto"/>
              </a:defRPr>
            </a:lvl2pPr>
            <a:lvl3pPr algn="ctr">
              <a:defRPr lang="en-US" sz="2250" b="0">
                <a:solidFill>
                  <a:srgbClr val="202124"/>
                </a:solidFill>
                <a:latin typeface="Roboto"/>
                <a:ea typeface="Roboto"/>
                <a:cs typeface="Roboto"/>
              </a:defRPr>
            </a:lvl3pPr>
            <a:lvl4pPr algn="ctr">
              <a:defRPr lang="en-US" sz="2250" b="0">
                <a:solidFill>
                  <a:srgbClr val="202124"/>
                </a:solidFill>
                <a:latin typeface="Roboto"/>
                <a:ea typeface="Roboto"/>
                <a:cs typeface="Roboto"/>
              </a:defRPr>
            </a:lvl4pPr>
            <a:lvl5pPr algn="ctr">
              <a:defRPr lang="en-US" sz="2250" b="0">
                <a:solidFill>
                  <a:srgbClr val="202124"/>
                </a:solidFill>
                <a:latin typeface="Roboto"/>
                <a:ea typeface="Roboto"/>
                <a:cs typeface="Roboto"/>
              </a:defRPr>
            </a:lvl5pPr>
            <a:lvl6pPr algn="ctr">
              <a:defRPr lang="en-US" sz="2250" b="0">
                <a:solidFill>
                  <a:srgbClr val="202124"/>
                </a:solidFill>
                <a:latin typeface="Roboto"/>
                <a:ea typeface="Roboto"/>
                <a:cs typeface="Roboto"/>
              </a:defRPr>
            </a:lvl6pPr>
            <a:lvl7pPr algn="ctr">
              <a:defRPr lang="en-US" sz="2250" b="0">
                <a:solidFill>
                  <a:srgbClr val="202124"/>
                </a:solidFill>
                <a:latin typeface="Roboto"/>
                <a:ea typeface="Roboto"/>
                <a:cs typeface="Roboto"/>
              </a:defRPr>
            </a:lvl7pPr>
            <a:lvl8pPr algn="ctr">
              <a:defRPr lang="en-US" sz="2250" b="0">
                <a:solidFill>
                  <a:srgbClr val="202124"/>
                </a:solidFill>
                <a:latin typeface="Roboto"/>
                <a:ea typeface="Roboto"/>
                <a:cs typeface="Roboto"/>
              </a:defRPr>
            </a:lvl8pPr>
            <a:lvl9pPr algn="ctr">
              <a:defRPr lang="en-US" sz="2250" b="0">
                <a:solidFill>
                  <a:srgbClr val="202124"/>
                </a:solidFill>
                <a:latin typeface="Roboto"/>
                <a:ea typeface="Roboto"/>
                <a:cs typeface="Roboto"/>
              </a:defRPr>
            </a:lvl9pPr>
          </a:lstStyle>
          <a:p>
            <a:pPr algn="ctr">
              <a:defRPr lang="en-US" sz="2250" b="0">
                <a:solidFill>
                  <a:srgbClr val="202124"/>
                </a:solidFill>
                <a:latin typeface="Roboto"/>
                <a:ea typeface="Roboto"/>
                <a:cs typeface="Roboto"/>
              </a:defRPr>
            </a:pPr>
            <a:r>
              <a:rPr lang="en-US" sz="2250" b="0">
                <a:solidFill>
                  <a:srgbClr val="202124"/>
                </a:solidFill>
                <a:latin typeface="Roboto"/>
                <a:ea typeface="Roboto"/>
                <a:cs typeface="Roboto"/>
              </a:rPr>
              <a:t>The reviewed resources did not provide a ready-to-use</a:t>
            </a:r>
          </a:p>
          <a:p>
            <a:pPr algn="ctr">
              <a:defRPr lang="en-US" sz="2250" b="0">
                <a:solidFill>
                  <a:srgbClr val="202124"/>
                </a:solidFill>
                <a:latin typeface="Roboto"/>
                <a:ea typeface="Roboto"/>
                <a:cs typeface="Roboto"/>
              </a:defRPr>
            </a:pPr>
            <a:r>
              <a:rPr lang="en-US" sz="2250" b="0">
                <a:solidFill>
                  <a:srgbClr val="202124"/>
                </a:solidFill>
                <a:latin typeface="Roboto"/>
                <a:ea typeface="Roboto"/>
                <a:cs typeface="Roboto"/>
              </a:rPr>
              <a:t>perforation benchmark with pixel annotations</a:t>
            </a:r>
          </a:p>
        </p:txBody>
      </p:sp>
    </p:spTree>
    <p:extLst>
      <p:ext uri="{BB962C8B-B14F-4D97-AF65-F5344CB8AC3E}">
        <p14:creationId xmlns:p14="http://schemas.microsoft.com/office/powerpoint/2010/main" val="2223438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E6BA69E2-DA7B-4BEA-B2FF-542120FA76FE}"/>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The Blender generation scene</a:t>
            </a:r>
          </a:p>
        </p:txBody>
      </p:sp>
      <p:pic>
        <p:nvPicPr>
          <p:cNvPr id="2" name="Immagine 1">
            <a:extLst>
              <a:ext uri="{FF2B5EF4-FFF2-40B4-BE49-F238E27FC236}">
                <a16:creationId xmlns:a16="http://schemas.microsoft.com/office/drawing/2014/main" id="{153A94FE-3317-43D5-9767-4C329A732C81}"/>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11B009CC-238E-4C82-8369-7112B55BB974}"/>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C290AD00-D3A4-4423-B847-C7B6FD3556CB}"/>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EEE3CCB5-DF86-49E8-BC39-E7D3D4FD5516}"/>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10 / 33</a:t>
            </a:r>
          </a:p>
        </p:txBody>
      </p:sp>
      <p:sp>
        <p:nvSpPr>
          <p:cNvPr id="6" name="source-citations">
            <a:extLst>
              <a:ext uri="{FF2B5EF4-FFF2-40B4-BE49-F238E27FC236}">
                <a16:creationId xmlns:a16="http://schemas.microsoft.com/office/drawing/2014/main" id="{A7DF2838-1FC3-46B3-AB57-1328CE46B7E4}"/>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dirty="0">
                <a:solidFill>
                  <a:srgbClr val="656B73"/>
                </a:solidFill>
                <a:latin typeface="Roboto"/>
                <a:ea typeface="Roboto"/>
                <a:cs typeface="Roboto"/>
              </a:rPr>
              <a:t>[12] [13]</a:t>
            </a:r>
          </a:p>
        </p:txBody>
      </p:sp>
      <p:pic>
        <p:nvPicPr>
          <p:cNvPr id="7" name="Immagine 6">
            <a:extLst>
              <a:ext uri="{FF2B5EF4-FFF2-40B4-BE49-F238E27FC236}">
                <a16:creationId xmlns:a16="http://schemas.microsoft.com/office/drawing/2014/main" id="{4763A3A7-5CB9-4EB2-B356-50456AED2A6D}"/>
              </a:ext>
            </a:extLst>
          </p:cNvPr>
          <p:cNvPicPr>
            <a:picLocks noChangeAspect="1"/>
          </p:cNvPicPr>
          <p:nvPr/>
        </p:nvPicPr>
        <p:blipFill>
          <a:blip r:embed="rId4"/>
          <a:stretch/>
        </p:blipFill>
        <p:spPr>
          <a:xfrm>
            <a:off x="1277938" y="1476375"/>
            <a:ext cx="5969000" cy="4476750"/>
          </a:xfrm>
          <a:prstGeom prst="rect">
            <a:avLst/>
          </a:prstGeom>
        </p:spPr>
      </p:pic>
      <p:pic>
        <p:nvPicPr>
          <p:cNvPr id="8" name="Immagine 7">
            <a:extLst>
              <a:ext uri="{FF2B5EF4-FFF2-40B4-BE49-F238E27FC236}">
                <a16:creationId xmlns:a16="http://schemas.microsoft.com/office/drawing/2014/main" id="{86C814D8-15C3-430E-B152-7561D05A6C8F}"/>
              </a:ext>
            </a:extLst>
          </p:cNvPr>
          <p:cNvPicPr>
            <a:picLocks noChangeAspect="1"/>
          </p:cNvPicPr>
          <p:nvPr/>
        </p:nvPicPr>
        <p:blipFill>
          <a:blip r:embed="rId5"/>
          <a:stretch/>
        </p:blipFill>
        <p:spPr>
          <a:xfrm>
            <a:off x="8820150" y="1809750"/>
            <a:ext cx="762000" cy="762000"/>
          </a:xfrm>
          <a:prstGeom prst="rect">
            <a:avLst/>
          </a:prstGeom>
        </p:spPr>
      </p:pic>
      <p:sp>
        <p:nvSpPr>
          <p:cNvPr id="9" name="nasa-asset">
            <a:extLst>
              <a:ext uri="{FF2B5EF4-FFF2-40B4-BE49-F238E27FC236}">
                <a16:creationId xmlns:a16="http://schemas.microsoft.com/office/drawing/2014/main" id="{32BE36AE-ADF4-4DD5-B285-AE4601AFA3A3}"/>
              </a:ext>
            </a:extLst>
          </p:cNvPr>
          <p:cNvSpPr>
            <a:spLocks noGrp="1"/>
          </p:cNvSpPr>
          <p:nvPr/>
        </p:nvSpPr>
        <p:spPr>
          <a:xfrm>
            <a:off x="7981950" y="2781300"/>
            <a:ext cx="3333750" cy="723900"/>
          </a:xfrm>
          <a:prstGeom prst="rect">
            <a:avLst/>
          </a:prstGeom>
          <a:noFill/>
          <a:ln w="0">
            <a:noFill/>
          </a:ln>
        </p:spPr>
        <p:txBody>
          <a:bodyPr wrap="square" lIns="0" tIns="0" rIns="0" bIns="0" anchor="t">
            <a:noAutofit/>
          </a:bodyPr>
          <a:lstStyle>
            <a:defPPr algn="ctr">
              <a:defRPr lang="en-US" sz="2175" b="1">
                <a:solidFill>
                  <a:srgbClr val="822433"/>
                </a:solidFill>
                <a:latin typeface="Roboto"/>
                <a:ea typeface="Roboto"/>
                <a:cs typeface="Roboto"/>
              </a:defRPr>
            </a:defPPr>
            <a:lvl1pPr algn="ctr">
              <a:defRPr lang="en-US" sz="2175" b="1">
                <a:solidFill>
                  <a:srgbClr val="822433"/>
                </a:solidFill>
                <a:latin typeface="Roboto"/>
                <a:ea typeface="Roboto"/>
                <a:cs typeface="Roboto"/>
              </a:defRPr>
            </a:lvl1pPr>
            <a:lvl2pPr algn="ctr">
              <a:defRPr lang="en-US" sz="2175" b="1">
                <a:solidFill>
                  <a:srgbClr val="822433"/>
                </a:solidFill>
                <a:latin typeface="Roboto"/>
                <a:ea typeface="Roboto"/>
                <a:cs typeface="Roboto"/>
              </a:defRPr>
            </a:lvl2pPr>
            <a:lvl3pPr algn="ctr">
              <a:defRPr lang="en-US" sz="2175" b="1">
                <a:solidFill>
                  <a:srgbClr val="822433"/>
                </a:solidFill>
                <a:latin typeface="Roboto"/>
                <a:ea typeface="Roboto"/>
                <a:cs typeface="Roboto"/>
              </a:defRPr>
            </a:lvl3pPr>
            <a:lvl4pPr algn="ctr">
              <a:defRPr lang="en-US" sz="2175" b="1">
                <a:solidFill>
                  <a:srgbClr val="822433"/>
                </a:solidFill>
                <a:latin typeface="Roboto"/>
                <a:ea typeface="Roboto"/>
                <a:cs typeface="Roboto"/>
              </a:defRPr>
            </a:lvl4pPr>
            <a:lvl5pPr algn="ctr">
              <a:defRPr lang="en-US" sz="2175" b="1">
                <a:solidFill>
                  <a:srgbClr val="822433"/>
                </a:solidFill>
                <a:latin typeface="Roboto"/>
                <a:ea typeface="Roboto"/>
                <a:cs typeface="Roboto"/>
              </a:defRPr>
            </a:lvl5pPr>
            <a:lvl6pPr algn="ctr">
              <a:defRPr lang="en-US" sz="2175" b="1">
                <a:solidFill>
                  <a:srgbClr val="822433"/>
                </a:solidFill>
                <a:latin typeface="Roboto"/>
                <a:ea typeface="Roboto"/>
                <a:cs typeface="Roboto"/>
              </a:defRPr>
            </a:lvl6pPr>
            <a:lvl7pPr algn="ctr">
              <a:defRPr lang="en-US" sz="2175" b="1">
                <a:solidFill>
                  <a:srgbClr val="822433"/>
                </a:solidFill>
                <a:latin typeface="Roboto"/>
                <a:ea typeface="Roboto"/>
                <a:cs typeface="Roboto"/>
              </a:defRPr>
            </a:lvl7pPr>
            <a:lvl8pPr algn="ctr">
              <a:defRPr lang="en-US" sz="2175" b="1">
                <a:solidFill>
                  <a:srgbClr val="822433"/>
                </a:solidFill>
                <a:latin typeface="Roboto"/>
                <a:ea typeface="Roboto"/>
                <a:cs typeface="Roboto"/>
              </a:defRPr>
            </a:lvl8pPr>
            <a:lvl9pPr algn="ctr">
              <a:defRPr lang="en-US" sz="2175" b="1">
                <a:solidFill>
                  <a:srgbClr val="822433"/>
                </a:solidFill>
                <a:latin typeface="Roboto"/>
                <a:ea typeface="Roboto"/>
                <a:cs typeface="Roboto"/>
              </a:defRPr>
            </a:lvl9pPr>
          </a:lstStyle>
          <a:p>
            <a:pPr algn="ctr">
              <a:defRPr lang="en-US" sz="2175" b="1">
                <a:solidFill>
                  <a:srgbClr val="822433"/>
                </a:solidFill>
                <a:latin typeface="Roboto"/>
                <a:ea typeface="Roboto"/>
                <a:cs typeface="Roboto"/>
              </a:defRPr>
            </a:pPr>
            <a:r>
              <a:rPr lang="en-US" sz="2175" b="1" dirty="0">
                <a:solidFill>
                  <a:srgbClr val="822433"/>
                </a:solidFill>
                <a:latin typeface="Roboto"/>
                <a:ea typeface="Roboto"/>
                <a:cs typeface="Roboto"/>
              </a:rPr>
              <a:t>NASA Curiosity asset</a:t>
            </a:r>
          </a:p>
        </p:txBody>
      </p:sp>
      <p:pic>
        <p:nvPicPr>
          <p:cNvPr id="10" name="Immagine 9">
            <a:extLst>
              <a:ext uri="{FF2B5EF4-FFF2-40B4-BE49-F238E27FC236}">
                <a16:creationId xmlns:a16="http://schemas.microsoft.com/office/drawing/2014/main" id="{7DD11C12-30F3-4240-B893-2B0D598DC587}"/>
              </a:ext>
            </a:extLst>
          </p:cNvPr>
          <p:cNvPicPr>
            <a:picLocks noChangeAspect="1"/>
          </p:cNvPicPr>
          <p:nvPr/>
        </p:nvPicPr>
        <p:blipFill>
          <a:blip r:embed="rId6"/>
          <a:stretch/>
        </p:blipFill>
        <p:spPr>
          <a:xfrm>
            <a:off x="8820150" y="3800475"/>
            <a:ext cx="762000" cy="762000"/>
          </a:xfrm>
          <a:prstGeom prst="rect">
            <a:avLst/>
          </a:prstGeom>
        </p:spPr>
      </p:pic>
      <p:sp>
        <p:nvSpPr>
          <p:cNvPr id="11" name="gale-context">
            <a:extLst>
              <a:ext uri="{FF2B5EF4-FFF2-40B4-BE49-F238E27FC236}">
                <a16:creationId xmlns:a16="http://schemas.microsoft.com/office/drawing/2014/main" id="{0442BCF1-1517-4997-A5DB-A00D38E6C165}"/>
              </a:ext>
            </a:extLst>
          </p:cNvPr>
          <p:cNvSpPr>
            <a:spLocks noGrp="1"/>
          </p:cNvSpPr>
          <p:nvPr/>
        </p:nvSpPr>
        <p:spPr>
          <a:xfrm>
            <a:off x="7981950" y="4743450"/>
            <a:ext cx="3333750" cy="952500"/>
          </a:xfrm>
          <a:prstGeom prst="rect">
            <a:avLst/>
          </a:prstGeom>
          <a:noFill/>
          <a:ln w="0">
            <a:noFill/>
          </a:ln>
        </p:spPr>
        <p:txBody>
          <a:bodyPr wrap="square" lIns="0" tIns="0" rIns="0" bIns="0" anchor="t">
            <a:noAutofit/>
          </a:bodyPr>
          <a:lstStyle>
            <a:defPPr algn="ctr">
              <a:defRPr lang="en-US" sz="2175" b="0">
                <a:solidFill>
                  <a:srgbClr val="202124"/>
                </a:solidFill>
                <a:latin typeface="Roboto"/>
                <a:ea typeface="Roboto"/>
                <a:cs typeface="Roboto"/>
              </a:defRPr>
            </a:defPPr>
            <a:lvl1pPr algn="ctr">
              <a:defRPr lang="en-US" sz="2175" b="0">
                <a:solidFill>
                  <a:srgbClr val="202124"/>
                </a:solidFill>
                <a:latin typeface="Roboto"/>
                <a:ea typeface="Roboto"/>
                <a:cs typeface="Roboto"/>
              </a:defRPr>
            </a:lvl1pPr>
            <a:lvl2pPr algn="ctr">
              <a:defRPr lang="en-US" sz="2175" b="0">
                <a:solidFill>
                  <a:srgbClr val="202124"/>
                </a:solidFill>
                <a:latin typeface="Roboto"/>
                <a:ea typeface="Roboto"/>
                <a:cs typeface="Roboto"/>
              </a:defRPr>
            </a:lvl2pPr>
            <a:lvl3pPr algn="ctr">
              <a:defRPr lang="en-US" sz="2175" b="0">
                <a:solidFill>
                  <a:srgbClr val="202124"/>
                </a:solidFill>
                <a:latin typeface="Roboto"/>
                <a:ea typeface="Roboto"/>
                <a:cs typeface="Roboto"/>
              </a:defRPr>
            </a:lvl3pPr>
            <a:lvl4pPr algn="ctr">
              <a:defRPr lang="en-US" sz="2175" b="0">
                <a:solidFill>
                  <a:srgbClr val="202124"/>
                </a:solidFill>
                <a:latin typeface="Roboto"/>
                <a:ea typeface="Roboto"/>
                <a:cs typeface="Roboto"/>
              </a:defRPr>
            </a:lvl4pPr>
            <a:lvl5pPr algn="ctr">
              <a:defRPr lang="en-US" sz="2175" b="0">
                <a:solidFill>
                  <a:srgbClr val="202124"/>
                </a:solidFill>
                <a:latin typeface="Roboto"/>
                <a:ea typeface="Roboto"/>
                <a:cs typeface="Roboto"/>
              </a:defRPr>
            </a:lvl5pPr>
            <a:lvl6pPr algn="ctr">
              <a:defRPr lang="en-US" sz="2175" b="0">
                <a:solidFill>
                  <a:srgbClr val="202124"/>
                </a:solidFill>
                <a:latin typeface="Roboto"/>
                <a:ea typeface="Roboto"/>
                <a:cs typeface="Roboto"/>
              </a:defRPr>
            </a:lvl6pPr>
            <a:lvl7pPr algn="ctr">
              <a:defRPr lang="en-US" sz="2175" b="0">
                <a:solidFill>
                  <a:srgbClr val="202124"/>
                </a:solidFill>
                <a:latin typeface="Roboto"/>
                <a:ea typeface="Roboto"/>
                <a:cs typeface="Roboto"/>
              </a:defRPr>
            </a:lvl7pPr>
            <a:lvl8pPr algn="ctr">
              <a:defRPr lang="en-US" sz="2175" b="0">
                <a:solidFill>
                  <a:srgbClr val="202124"/>
                </a:solidFill>
                <a:latin typeface="Roboto"/>
                <a:ea typeface="Roboto"/>
                <a:cs typeface="Roboto"/>
              </a:defRPr>
            </a:lvl8pPr>
            <a:lvl9pPr algn="ctr">
              <a:defRPr lang="en-US" sz="2175" b="0">
                <a:solidFill>
                  <a:srgbClr val="202124"/>
                </a:solidFill>
                <a:latin typeface="Roboto"/>
                <a:ea typeface="Roboto"/>
                <a:cs typeface="Roboto"/>
              </a:defRPr>
            </a:lvl9pPr>
          </a:lstStyle>
          <a:p>
            <a:pPr algn="ctr">
              <a:defRPr lang="en-US" sz="2175" b="0">
                <a:solidFill>
                  <a:srgbClr val="202124"/>
                </a:solidFill>
                <a:latin typeface="Roboto"/>
                <a:ea typeface="Roboto"/>
                <a:cs typeface="Roboto"/>
              </a:defRPr>
            </a:pPr>
            <a:r>
              <a:rPr lang="en-US" sz="2175" b="0">
                <a:solidFill>
                  <a:srgbClr val="202124"/>
                </a:solidFill>
                <a:latin typeface="Roboto"/>
                <a:ea typeface="Roboto"/>
                <a:cs typeface="Roboto"/>
              </a:rPr>
              <a:t>HiRISE terrain</a:t>
            </a:r>
          </a:p>
          <a:p>
            <a:pPr algn="ctr">
              <a:defRPr lang="en-US" sz="2175" b="0">
                <a:solidFill>
                  <a:srgbClr val="202124"/>
                </a:solidFill>
                <a:latin typeface="Roboto"/>
                <a:ea typeface="Roboto"/>
                <a:cs typeface="Roboto"/>
              </a:defRPr>
            </a:pPr>
            <a:r>
              <a:rPr lang="en-US" sz="2175" b="0">
                <a:solidFill>
                  <a:srgbClr val="202124"/>
                </a:solidFill>
                <a:latin typeface="Roboto"/>
                <a:ea typeface="Roboto"/>
                <a:cs typeface="Roboto"/>
              </a:rPr>
              <a:t>and local detail</a:t>
            </a:r>
          </a:p>
        </p:txBody>
      </p:sp>
    </p:spTree>
    <p:extLst>
      <p:ext uri="{BB962C8B-B14F-4D97-AF65-F5344CB8AC3E}">
        <p14:creationId xmlns:p14="http://schemas.microsoft.com/office/powerpoint/2010/main" val="222343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500C151F-BB05-478A-8656-1E05C9E0DCDE}"/>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Matched views isolate the injected damage</a:t>
            </a:r>
          </a:p>
        </p:txBody>
      </p:sp>
      <p:pic>
        <p:nvPicPr>
          <p:cNvPr id="2" name="Immagine 1">
            <a:extLst>
              <a:ext uri="{FF2B5EF4-FFF2-40B4-BE49-F238E27FC236}">
                <a16:creationId xmlns:a16="http://schemas.microsoft.com/office/drawing/2014/main" id="{62D0B1D7-BB65-43AF-A857-6BD699E8B8AE}"/>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4718393E-160E-4CC8-B731-7C1FB05C0CA5}"/>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FFEBDF7B-CDE3-4F68-A8C4-313FE6C61F0F}"/>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77261050-BA8D-4D71-B718-17207303538F}"/>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11 / 33</a:t>
            </a:r>
          </a:p>
        </p:txBody>
      </p:sp>
      <p:sp>
        <p:nvSpPr>
          <p:cNvPr id="6" name="source-citations">
            <a:extLst>
              <a:ext uri="{FF2B5EF4-FFF2-40B4-BE49-F238E27FC236}">
                <a16:creationId xmlns:a16="http://schemas.microsoft.com/office/drawing/2014/main" id="{6168F92A-6A3F-49DF-AC53-FEDD2A76E7F2}"/>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results and methods</a:t>
            </a:r>
          </a:p>
        </p:txBody>
      </p:sp>
      <p:sp>
        <p:nvSpPr>
          <p:cNvPr id="7" name="label-paired-normal.png">
            <a:extLst>
              <a:ext uri="{FF2B5EF4-FFF2-40B4-BE49-F238E27FC236}">
                <a16:creationId xmlns:a16="http://schemas.microsoft.com/office/drawing/2014/main" id="{EF8B03E9-3227-4C39-A038-979D1E3A14E9}"/>
              </a:ext>
            </a:extLst>
          </p:cNvPr>
          <p:cNvSpPr>
            <a:spLocks noGrp="1"/>
          </p:cNvSpPr>
          <p:nvPr/>
        </p:nvSpPr>
        <p:spPr>
          <a:xfrm>
            <a:off x="762000" y="1552575"/>
            <a:ext cx="3171825" cy="409575"/>
          </a:xfrm>
          <a:prstGeom prst="rect">
            <a:avLst/>
          </a:prstGeom>
          <a:noFill/>
          <a:ln w="0">
            <a:noFill/>
          </a:ln>
        </p:spPr>
        <p:txBody>
          <a:bodyPr wrap="square" lIns="0" tIns="0" rIns="0" bIns="0" anchor="t">
            <a:noAutofit/>
          </a:bodyPr>
          <a:lstStyle>
            <a:defPPr algn="ctr">
              <a:defRPr lang="en-US" sz="2175" b="1">
                <a:solidFill>
                  <a:srgbClr val="202124"/>
                </a:solidFill>
                <a:latin typeface="Roboto"/>
                <a:ea typeface="Roboto"/>
                <a:cs typeface="Roboto"/>
              </a:defRPr>
            </a:defPPr>
            <a:lvl1pPr algn="ctr">
              <a:defRPr lang="en-US" sz="2175" b="1">
                <a:solidFill>
                  <a:srgbClr val="202124"/>
                </a:solidFill>
                <a:latin typeface="Roboto"/>
                <a:ea typeface="Roboto"/>
                <a:cs typeface="Roboto"/>
              </a:defRPr>
            </a:lvl1pPr>
            <a:lvl2pPr algn="ctr">
              <a:defRPr lang="en-US" sz="2175" b="1">
                <a:solidFill>
                  <a:srgbClr val="202124"/>
                </a:solidFill>
                <a:latin typeface="Roboto"/>
                <a:ea typeface="Roboto"/>
                <a:cs typeface="Roboto"/>
              </a:defRPr>
            </a:lvl2pPr>
            <a:lvl3pPr algn="ctr">
              <a:defRPr lang="en-US" sz="2175" b="1">
                <a:solidFill>
                  <a:srgbClr val="202124"/>
                </a:solidFill>
                <a:latin typeface="Roboto"/>
                <a:ea typeface="Roboto"/>
                <a:cs typeface="Roboto"/>
              </a:defRPr>
            </a:lvl3pPr>
            <a:lvl4pPr algn="ctr">
              <a:defRPr lang="en-US" sz="2175" b="1">
                <a:solidFill>
                  <a:srgbClr val="202124"/>
                </a:solidFill>
                <a:latin typeface="Roboto"/>
                <a:ea typeface="Roboto"/>
                <a:cs typeface="Roboto"/>
              </a:defRPr>
            </a:lvl4pPr>
            <a:lvl5pPr algn="ctr">
              <a:defRPr lang="en-US" sz="2175" b="1">
                <a:solidFill>
                  <a:srgbClr val="202124"/>
                </a:solidFill>
                <a:latin typeface="Roboto"/>
                <a:ea typeface="Roboto"/>
                <a:cs typeface="Roboto"/>
              </a:defRPr>
            </a:lvl5pPr>
            <a:lvl6pPr algn="ctr">
              <a:defRPr lang="en-US" sz="2175" b="1">
                <a:solidFill>
                  <a:srgbClr val="202124"/>
                </a:solidFill>
                <a:latin typeface="Roboto"/>
                <a:ea typeface="Roboto"/>
                <a:cs typeface="Roboto"/>
              </a:defRPr>
            </a:lvl6pPr>
            <a:lvl7pPr algn="ctr">
              <a:defRPr lang="en-US" sz="2175" b="1">
                <a:solidFill>
                  <a:srgbClr val="202124"/>
                </a:solidFill>
                <a:latin typeface="Roboto"/>
                <a:ea typeface="Roboto"/>
                <a:cs typeface="Roboto"/>
              </a:defRPr>
            </a:lvl7pPr>
            <a:lvl8pPr algn="ctr">
              <a:defRPr lang="en-US" sz="2175" b="1">
                <a:solidFill>
                  <a:srgbClr val="202124"/>
                </a:solidFill>
                <a:latin typeface="Roboto"/>
                <a:ea typeface="Roboto"/>
                <a:cs typeface="Roboto"/>
              </a:defRPr>
            </a:lvl8pPr>
            <a:lvl9pPr algn="ctr">
              <a:defRPr lang="en-US" sz="2175" b="1">
                <a:solidFill>
                  <a:srgbClr val="202124"/>
                </a:solidFill>
                <a:latin typeface="Roboto"/>
                <a:ea typeface="Roboto"/>
                <a:cs typeface="Roboto"/>
              </a:defRPr>
            </a:lvl9pPr>
          </a:lstStyle>
          <a:p>
            <a:pPr algn="ctr">
              <a:defRPr lang="en-US" sz="2175" b="1">
                <a:solidFill>
                  <a:srgbClr val="202124"/>
                </a:solidFill>
                <a:latin typeface="Roboto"/>
                <a:ea typeface="Roboto"/>
                <a:cs typeface="Roboto"/>
              </a:defRPr>
            </a:pPr>
            <a:r>
              <a:rPr lang="en-US" sz="2175" b="1">
                <a:solidFill>
                  <a:srgbClr val="202124"/>
                </a:solidFill>
                <a:latin typeface="Roboto"/>
                <a:ea typeface="Roboto"/>
                <a:cs typeface="Roboto"/>
              </a:rPr>
              <a:t>Normal</a:t>
            </a:r>
          </a:p>
        </p:txBody>
      </p:sp>
      <p:pic>
        <p:nvPicPr>
          <p:cNvPr id="8" name="Immagine 7">
            <a:extLst>
              <a:ext uri="{FF2B5EF4-FFF2-40B4-BE49-F238E27FC236}">
                <a16:creationId xmlns:a16="http://schemas.microsoft.com/office/drawing/2014/main" id="{0A29C2F0-84AC-427F-ABDF-95DC82B3305A}"/>
              </a:ext>
            </a:extLst>
          </p:cNvPr>
          <p:cNvPicPr>
            <a:picLocks noChangeAspect="1"/>
          </p:cNvPicPr>
          <p:nvPr/>
        </p:nvPicPr>
        <p:blipFill>
          <a:blip r:embed="rId4"/>
          <a:stretch/>
        </p:blipFill>
        <p:spPr>
          <a:xfrm>
            <a:off x="762000" y="2291953"/>
            <a:ext cx="3171825" cy="2378869"/>
          </a:xfrm>
          <a:prstGeom prst="rect">
            <a:avLst/>
          </a:prstGeom>
        </p:spPr>
      </p:pic>
      <p:sp>
        <p:nvSpPr>
          <p:cNvPr id="9" name="label-paired-hole.png">
            <a:extLst>
              <a:ext uri="{FF2B5EF4-FFF2-40B4-BE49-F238E27FC236}">
                <a16:creationId xmlns:a16="http://schemas.microsoft.com/office/drawing/2014/main" id="{D5738DAC-D969-47E6-9253-C2E26CEC169A}"/>
              </a:ext>
            </a:extLst>
          </p:cNvPr>
          <p:cNvSpPr>
            <a:spLocks noGrp="1"/>
          </p:cNvSpPr>
          <p:nvPr/>
        </p:nvSpPr>
        <p:spPr>
          <a:xfrm>
            <a:off x="4362450" y="1552575"/>
            <a:ext cx="3171825" cy="409575"/>
          </a:xfrm>
          <a:prstGeom prst="rect">
            <a:avLst/>
          </a:prstGeom>
          <a:noFill/>
          <a:ln w="0">
            <a:noFill/>
          </a:ln>
        </p:spPr>
        <p:txBody>
          <a:bodyPr wrap="square" lIns="0" tIns="0" rIns="0" bIns="0" anchor="t">
            <a:noAutofit/>
          </a:bodyPr>
          <a:lstStyle>
            <a:defPPr algn="ctr">
              <a:defRPr lang="en-US" sz="2175" b="1">
                <a:solidFill>
                  <a:srgbClr val="202124"/>
                </a:solidFill>
                <a:latin typeface="Roboto"/>
                <a:ea typeface="Roboto"/>
                <a:cs typeface="Roboto"/>
              </a:defRPr>
            </a:defPPr>
            <a:lvl1pPr algn="ctr">
              <a:defRPr lang="en-US" sz="2175" b="1">
                <a:solidFill>
                  <a:srgbClr val="202124"/>
                </a:solidFill>
                <a:latin typeface="Roboto"/>
                <a:ea typeface="Roboto"/>
                <a:cs typeface="Roboto"/>
              </a:defRPr>
            </a:lvl1pPr>
            <a:lvl2pPr algn="ctr">
              <a:defRPr lang="en-US" sz="2175" b="1">
                <a:solidFill>
                  <a:srgbClr val="202124"/>
                </a:solidFill>
                <a:latin typeface="Roboto"/>
                <a:ea typeface="Roboto"/>
                <a:cs typeface="Roboto"/>
              </a:defRPr>
            </a:lvl2pPr>
            <a:lvl3pPr algn="ctr">
              <a:defRPr lang="en-US" sz="2175" b="1">
                <a:solidFill>
                  <a:srgbClr val="202124"/>
                </a:solidFill>
                <a:latin typeface="Roboto"/>
                <a:ea typeface="Roboto"/>
                <a:cs typeface="Roboto"/>
              </a:defRPr>
            </a:lvl3pPr>
            <a:lvl4pPr algn="ctr">
              <a:defRPr lang="en-US" sz="2175" b="1">
                <a:solidFill>
                  <a:srgbClr val="202124"/>
                </a:solidFill>
                <a:latin typeface="Roboto"/>
                <a:ea typeface="Roboto"/>
                <a:cs typeface="Roboto"/>
              </a:defRPr>
            </a:lvl4pPr>
            <a:lvl5pPr algn="ctr">
              <a:defRPr lang="en-US" sz="2175" b="1">
                <a:solidFill>
                  <a:srgbClr val="202124"/>
                </a:solidFill>
                <a:latin typeface="Roboto"/>
                <a:ea typeface="Roboto"/>
                <a:cs typeface="Roboto"/>
              </a:defRPr>
            </a:lvl5pPr>
            <a:lvl6pPr algn="ctr">
              <a:defRPr lang="en-US" sz="2175" b="1">
                <a:solidFill>
                  <a:srgbClr val="202124"/>
                </a:solidFill>
                <a:latin typeface="Roboto"/>
                <a:ea typeface="Roboto"/>
                <a:cs typeface="Roboto"/>
              </a:defRPr>
            </a:lvl6pPr>
            <a:lvl7pPr algn="ctr">
              <a:defRPr lang="en-US" sz="2175" b="1">
                <a:solidFill>
                  <a:srgbClr val="202124"/>
                </a:solidFill>
                <a:latin typeface="Roboto"/>
                <a:ea typeface="Roboto"/>
                <a:cs typeface="Roboto"/>
              </a:defRPr>
            </a:lvl7pPr>
            <a:lvl8pPr algn="ctr">
              <a:defRPr lang="en-US" sz="2175" b="1">
                <a:solidFill>
                  <a:srgbClr val="202124"/>
                </a:solidFill>
                <a:latin typeface="Roboto"/>
                <a:ea typeface="Roboto"/>
                <a:cs typeface="Roboto"/>
              </a:defRPr>
            </a:lvl8pPr>
            <a:lvl9pPr algn="ctr">
              <a:defRPr lang="en-US" sz="2175" b="1">
                <a:solidFill>
                  <a:srgbClr val="202124"/>
                </a:solidFill>
                <a:latin typeface="Roboto"/>
                <a:ea typeface="Roboto"/>
                <a:cs typeface="Roboto"/>
              </a:defRPr>
            </a:lvl9pPr>
          </a:lstStyle>
          <a:p>
            <a:pPr algn="ctr">
              <a:defRPr lang="en-US" sz="2175" b="1">
                <a:solidFill>
                  <a:srgbClr val="202124"/>
                </a:solidFill>
                <a:latin typeface="Roboto"/>
                <a:ea typeface="Roboto"/>
                <a:cs typeface="Roboto"/>
              </a:defRPr>
            </a:pPr>
            <a:r>
              <a:rPr lang="en-US" sz="2175" b="1">
                <a:solidFill>
                  <a:srgbClr val="202124"/>
                </a:solidFill>
                <a:latin typeface="Roboto"/>
                <a:ea typeface="Roboto"/>
                <a:cs typeface="Roboto"/>
              </a:rPr>
              <a:t>Perforated</a:t>
            </a:r>
          </a:p>
        </p:txBody>
      </p:sp>
      <p:pic>
        <p:nvPicPr>
          <p:cNvPr id="10" name="Immagine 9">
            <a:extLst>
              <a:ext uri="{FF2B5EF4-FFF2-40B4-BE49-F238E27FC236}">
                <a16:creationId xmlns:a16="http://schemas.microsoft.com/office/drawing/2014/main" id="{2CFE0E49-2812-4B63-BD33-1322E74C79F6}"/>
              </a:ext>
            </a:extLst>
          </p:cNvPr>
          <p:cNvPicPr>
            <a:picLocks noChangeAspect="1"/>
          </p:cNvPicPr>
          <p:nvPr/>
        </p:nvPicPr>
        <p:blipFill>
          <a:blip r:embed="rId5"/>
          <a:stretch/>
        </p:blipFill>
        <p:spPr>
          <a:xfrm>
            <a:off x="4362450" y="2291953"/>
            <a:ext cx="3171825" cy="2378869"/>
          </a:xfrm>
          <a:prstGeom prst="rect">
            <a:avLst/>
          </a:prstGeom>
        </p:spPr>
      </p:pic>
      <p:sp>
        <p:nvSpPr>
          <p:cNvPr id="11" name="label-paired-hole-mask.png">
            <a:extLst>
              <a:ext uri="{FF2B5EF4-FFF2-40B4-BE49-F238E27FC236}">
                <a16:creationId xmlns:a16="http://schemas.microsoft.com/office/drawing/2014/main" id="{1375E603-3F17-4928-990A-E8F47079EABF}"/>
              </a:ext>
            </a:extLst>
          </p:cNvPr>
          <p:cNvSpPr>
            <a:spLocks noGrp="1"/>
          </p:cNvSpPr>
          <p:nvPr/>
        </p:nvSpPr>
        <p:spPr>
          <a:xfrm>
            <a:off x="7962900" y="1552575"/>
            <a:ext cx="3171825" cy="409575"/>
          </a:xfrm>
          <a:prstGeom prst="rect">
            <a:avLst/>
          </a:prstGeom>
          <a:noFill/>
          <a:ln w="0">
            <a:noFill/>
          </a:ln>
        </p:spPr>
        <p:txBody>
          <a:bodyPr wrap="square" lIns="0" tIns="0" rIns="0" bIns="0" anchor="t">
            <a:noAutofit/>
          </a:bodyPr>
          <a:lstStyle>
            <a:defPPr algn="ctr">
              <a:defRPr lang="en-US" sz="2175" b="1">
                <a:solidFill>
                  <a:srgbClr val="202124"/>
                </a:solidFill>
                <a:latin typeface="Roboto"/>
                <a:ea typeface="Roboto"/>
                <a:cs typeface="Roboto"/>
              </a:defRPr>
            </a:defPPr>
            <a:lvl1pPr algn="ctr">
              <a:defRPr lang="en-US" sz="2175" b="1">
                <a:solidFill>
                  <a:srgbClr val="202124"/>
                </a:solidFill>
                <a:latin typeface="Roboto"/>
                <a:ea typeface="Roboto"/>
                <a:cs typeface="Roboto"/>
              </a:defRPr>
            </a:lvl1pPr>
            <a:lvl2pPr algn="ctr">
              <a:defRPr lang="en-US" sz="2175" b="1">
                <a:solidFill>
                  <a:srgbClr val="202124"/>
                </a:solidFill>
                <a:latin typeface="Roboto"/>
                <a:ea typeface="Roboto"/>
                <a:cs typeface="Roboto"/>
              </a:defRPr>
            </a:lvl2pPr>
            <a:lvl3pPr algn="ctr">
              <a:defRPr lang="en-US" sz="2175" b="1">
                <a:solidFill>
                  <a:srgbClr val="202124"/>
                </a:solidFill>
                <a:latin typeface="Roboto"/>
                <a:ea typeface="Roboto"/>
                <a:cs typeface="Roboto"/>
              </a:defRPr>
            </a:lvl3pPr>
            <a:lvl4pPr algn="ctr">
              <a:defRPr lang="en-US" sz="2175" b="1">
                <a:solidFill>
                  <a:srgbClr val="202124"/>
                </a:solidFill>
                <a:latin typeface="Roboto"/>
                <a:ea typeface="Roboto"/>
                <a:cs typeface="Roboto"/>
              </a:defRPr>
            </a:lvl4pPr>
            <a:lvl5pPr algn="ctr">
              <a:defRPr lang="en-US" sz="2175" b="1">
                <a:solidFill>
                  <a:srgbClr val="202124"/>
                </a:solidFill>
                <a:latin typeface="Roboto"/>
                <a:ea typeface="Roboto"/>
                <a:cs typeface="Roboto"/>
              </a:defRPr>
            </a:lvl5pPr>
            <a:lvl6pPr algn="ctr">
              <a:defRPr lang="en-US" sz="2175" b="1">
                <a:solidFill>
                  <a:srgbClr val="202124"/>
                </a:solidFill>
                <a:latin typeface="Roboto"/>
                <a:ea typeface="Roboto"/>
                <a:cs typeface="Roboto"/>
              </a:defRPr>
            </a:lvl6pPr>
            <a:lvl7pPr algn="ctr">
              <a:defRPr lang="en-US" sz="2175" b="1">
                <a:solidFill>
                  <a:srgbClr val="202124"/>
                </a:solidFill>
                <a:latin typeface="Roboto"/>
                <a:ea typeface="Roboto"/>
                <a:cs typeface="Roboto"/>
              </a:defRPr>
            </a:lvl7pPr>
            <a:lvl8pPr algn="ctr">
              <a:defRPr lang="en-US" sz="2175" b="1">
                <a:solidFill>
                  <a:srgbClr val="202124"/>
                </a:solidFill>
                <a:latin typeface="Roboto"/>
                <a:ea typeface="Roboto"/>
                <a:cs typeface="Roboto"/>
              </a:defRPr>
            </a:lvl8pPr>
            <a:lvl9pPr algn="ctr">
              <a:defRPr lang="en-US" sz="2175" b="1">
                <a:solidFill>
                  <a:srgbClr val="202124"/>
                </a:solidFill>
                <a:latin typeface="Roboto"/>
                <a:ea typeface="Roboto"/>
                <a:cs typeface="Roboto"/>
              </a:defRPr>
            </a:lvl9pPr>
          </a:lstStyle>
          <a:p>
            <a:pPr algn="ctr">
              <a:defRPr lang="en-US" sz="2175" b="1">
                <a:solidFill>
                  <a:srgbClr val="202124"/>
                </a:solidFill>
                <a:latin typeface="Roboto"/>
                <a:ea typeface="Roboto"/>
                <a:cs typeface="Roboto"/>
              </a:defRPr>
            </a:pPr>
            <a:r>
              <a:rPr lang="en-US" sz="2175" b="1">
                <a:solidFill>
                  <a:srgbClr val="202124"/>
                </a:solidFill>
                <a:latin typeface="Roboto"/>
                <a:ea typeface="Roboto"/>
                <a:cs typeface="Roboto"/>
              </a:rPr>
              <a:t>Damage mask</a:t>
            </a:r>
          </a:p>
        </p:txBody>
      </p:sp>
      <p:pic>
        <p:nvPicPr>
          <p:cNvPr id="12" name="Immagine 11">
            <a:extLst>
              <a:ext uri="{FF2B5EF4-FFF2-40B4-BE49-F238E27FC236}">
                <a16:creationId xmlns:a16="http://schemas.microsoft.com/office/drawing/2014/main" id="{DBAAA1AD-14AF-4474-B69E-5A63FD026E83}"/>
              </a:ext>
            </a:extLst>
          </p:cNvPr>
          <p:cNvPicPr>
            <a:picLocks noChangeAspect="1"/>
          </p:cNvPicPr>
          <p:nvPr/>
        </p:nvPicPr>
        <p:blipFill>
          <a:blip r:embed="rId6"/>
          <a:stretch/>
        </p:blipFill>
        <p:spPr>
          <a:xfrm>
            <a:off x="7962900" y="2291953"/>
            <a:ext cx="3171825" cy="2378869"/>
          </a:xfrm>
          <a:prstGeom prst="rect">
            <a:avLst/>
          </a:prstGeom>
        </p:spPr>
      </p:pic>
      <p:pic>
        <p:nvPicPr>
          <p:cNvPr id="13" name="Immagine 12">
            <a:extLst>
              <a:ext uri="{FF2B5EF4-FFF2-40B4-BE49-F238E27FC236}">
                <a16:creationId xmlns:a16="http://schemas.microsoft.com/office/drawing/2014/main" id="{0D3602C1-FB8B-4B03-B34C-825253E138C5}"/>
              </a:ext>
            </a:extLst>
          </p:cNvPr>
          <p:cNvPicPr>
            <a:picLocks noChangeAspect="1"/>
          </p:cNvPicPr>
          <p:nvPr/>
        </p:nvPicPr>
        <p:blipFill>
          <a:blip r:embed="rId7"/>
          <a:stretch/>
        </p:blipFill>
        <p:spPr>
          <a:xfrm>
            <a:off x="2571750" y="5305425"/>
            <a:ext cx="476250" cy="476250"/>
          </a:xfrm>
          <a:prstGeom prst="rect">
            <a:avLst/>
          </a:prstGeom>
        </p:spPr>
      </p:pic>
      <p:sp>
        <p:nvSpPr>
          <p:cNvPr id="14" name="pair-settings">
            <a:extLst>
              <a:ext uri="{FF2B5EF4-FFF2-40B4-BE49-F238E27FC236}">
                <a16:creationId xmlns:a16="http://schemas.microsoft.com/office/drawing/2014/main" id="{2E79D003-D5F4-44F0-BEA4-9FEB5587A9E9}"/>
              </a:ext>
            </a:extLst>
          </p:cNvPr>
          <p:cNvSpPr>
            <a:spLocks noGrp="1"/>
          </p:cNvSpPr>
          <p:nvPr/>
        </p:nvSpPr>
        <p:spPr>
          <a:xfrm>
            <a:off x="3286125" y="5381625"/>
            <a:ext cx="7477125" cy="447675"/>
          </a:xfrm>
          <a:prstGeom prst="rect">
            <a:avLst/>
          </a:prstGeom>
          <a:noFill/>
          <a:ln w="0">
            <a:noFill/>
          </a:ln>
        </p:spPr>
        <p:txBody>
          <a:bodyPr wrap="square" lIns="0" tIns="0" rIns="0" bIns="0" anchor="t">
            <a:noAutofit/>
          </a:bodyPr>
          <a:lstStyle>
            <a:defPPr algn="l">
              <a:defRPr lang="en-US" sz="2100" b="0">
                <a:solidFill>
                  <a:srgbClr val="202124"/>
                </a:solidFill>
                <a:latin typeface="Roboto"/>
                <a:ea typeface="Roboto"/>
                <a:cs typeface="Roboto"/>
              </a:defRPr>
            </a:defPPr>
            <a:lvl1pPr algn="l">
              <a:defRPr lang="en-US" sz="2100" b="0">
                <a:solidFill>
                  <a:srgbClr val="202124"/>
                </a:solidFill>
                <a:latin typeface="Roboto"/>
                <a:ea typeface="Roboto"/>
                <a:cs typeface="Roboto"/>
              </a:defRPr>
            </a:lvl1pPr>
            <a:lvl2pPr algn="l">
              <a:defRPr lang="en-US" sz="2100" b="0">
                <a:solidFill>
                  <a:srgbClr val="202124"/>
                </a:solidFill>
                <a:latin typeface="Roboto"/>
                <a:ea typeface="Roboto"/>
                <a:cs typeface="Roboto"/>
              </a:defRPr>
            </a:lvl2pPr>
            <a:lvl3pPr algn="l">
              <a:defRPr lang="en-US" sz="2100" b="0">
                <a:solidFill>
                  <a:srgbClr val="202124"/>
                </a:solidFill>
                <a:latin typeface="Roboto"/>
                <a:ea typeface="Roboto"/>
                <a:cs typeface="Roboto"/>
              </a:defRPr>
            </a:lvl3pPr>
            <a:lvl4pPr algn="l">
              <a:defRPr lang="en-US" sz="2100" b="0">
                <a:solidFill>
                  <a:srgbClr val="202124"/>
                </a:solidFill>
                <a:latin typeface="Roboto"/>
                <a:ea typeface="Roboto"/>
                <a:cs typeface="Roboto"/>
              </a:defRPr>
            </a:lvl4pPr>
            <a:lvl5pPr algn="l">
              <a:defRPr lang="en-US" sz="2100" b="0">
                <a:solidFill>
                  <a:srgbClr val="202124"/>
                </a:solidFill>
                <a:latin typeface="Roboto"/>
                <a:ea typeface="Roboto"/>
                <a:cs typeface="Roboto"/>
              </a:defRPr>
            </a:lvl5pPr>
            <a:lvl6pPr algn="l">
              <a:defRPr lang="en-US" sz="2100" b="0">
                <a:solidFill>
                  <a:srgbClr val="202124"/>
                </a:solidFill>
                <a:latin typeface="Roboto"/>
                <a:ea typeface="Roboto"/>
                <a:cs typeface="Roboto"/>
              </a:defRPr>
            </a:lvl6pPr>
            <a:lvl7pPr algn="l">
              <a:defRPr lang="en-US" sz="2100" b="0">
                <a:solidFill>
                  <a:srgbClr val="202124"/>
                </a:solidFill>
                <a:latin typeface="Roboto"/>
                <a:ea typeface="Roboto"/>
                <a:cs typeface="Roboto"/>
              </a:defRPr>
            </a:lvl7pPr>
            <a:lvl8pPr algn="l">
              <a:defRPr lang="en-US" sz="2100" b="0">
                <a:solidFill>
                  <a:srgbClr val="202124"/>
                </a:solidFill>
                <a:latin typeface="Roboto"/>
                <a:ea typeface="Roboto"/>
                <a:cs typeface="Roboto"/>
              </a:defRPr>
            </a:lvl8pPr>
            <a:lvl9pPr algn="l">
              <a:defRPr lang="en-US" sz="2100" b="0">
                <a:solidFill>
                  <a:srgbClr val="202124"/>
                </a:solidFill>
                <a:latin typeface="Roboto"/>
                <a:ea typeface="Roboto"/>
                <a:cs typeface="Roboto"/>
              </a:defRPr>
            </a:lvl9pPr>
          </a:lstStyle>
          <a:p>
            <a:pPr algn="l">
              <a:defRPr lang="en-US" sz="2100" b="0">
                <a:solidFill>
                  <a:srgbClr val="202124"/>
                </a:solidFill>
                <a:latin typeface="Roboto"/>
                <a:ea typeface="Roboto"/>
                <a:cs typeface="Roboto"/>
              </a:defRPr>
            </a:pPr>
            <a:r>
              <a:rPr lang="en-US" sz="2100" b="0">
                <a:solidFill>
                  <a:srgbClr val="202124"/>
                </a:solidFill>
                <a:latin typeface="Roboto"/>
                <a:ea typeface="Roboto"/>
                <a:cs typeface="Roboto"/>
              </a:rPr>
              <a:t>Matched camera, lighting, pose and wear</a:t>
            </a:r>
          </a:p>
        </p:txBody>
      </p:sp>
    </p:spTree>
    <p:extLst>
      <p:ext uri="{BB962C8B-B14F-4D97-AF65-F5344CB8AC3E}">
        <p14:creationId xmlns:p14="http://schemas.microsoft.com/office/powerpoint/2010/main" val="222343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7" name="slide-title">
            <a:extLst>
              <a:ext uri="{FF2B5EF4-FFF2-40B4-BE49-F238E27FC236}">
                <a16:creationId xmlns:a16="http://schemas.microsoft.com/office/drawing/2014/main" id="{11EEA516-999E-4E33-9BC1-01CC819C8524}"/>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Normal appearance varies across observations</a:t>
            </a:r>
          </a:p>
        </p:txBody>
      </p:sp>
      <p:pic>
        <p:nvPicPr>
          <p:cNvPr id="2" name="Immagine 1">
            <a:extLst>
              <a:ext uri="{FF2B5EF4-FFF2-40B4-BE49-F238E27FC236}">
                <a16:creationId xmlns:a16="http://schemas.microsoft.com/office/drawing/2014/main" id="{648D20AC-4C3D-4C4E-A192-11629E70A1B4}"/>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B385EAFA-74AB-4C2C-A077-AFD686E278E1}"/>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FA4A88F5-3355-412A-BE55-D1EEA1B55204}"/>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ADB4EB85-6C18-40E1-82B1-D325AEE0F996}"/>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12 / 33</a:t>
            </a:r>
          </a:p>
        </p:txBody>
      </p:sp>
      <p:sp>
        <p:nvSpPr>
          <p:cNvPr id="6" name="source-citations">
            <a:extLst>
              <a:ext uri="{FF2B5EF4-FFF2-40B4-BE49-F238E27FC236}">
                <a16:creationId xmlns:a16="http://schemas.microsoft.com/office/drawing/2014/main" id="{A3EFD833-869D-4437-A704-D67C5E2A1D80}"/>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[14]</a:t>
            </a:r>
          </a:p>
        </p:txBody>
      </p:sp>
      <p:pic>
        <p:nvPicPr>
          <p:cNvPr id="7" name="Immagine 6">
            <a:extLst>
              <a:ext uri="{FF2B5EF4-FFF2-40B4-BE49-F238E27FC236}">
                <a16:creationId xmlns:a16="http://schemas.microsoft.com/office/drawing/2014/main" id="{09DB40C5-FF79-452A-8C6F-11552699AFEA}"/>
              </a:ext>
            </a:extLst>
          </p:cNvPr>
          <p:cNvPicPr>
            <a:picLocks noChangeAspect="1"/>
          </p:cNvPicPr>
          <p:nvPr/>
        </p:nvPicPr>
        <p:blipFill>
          <a:blip r:embed="rId4"/>
          <a:stretch/>
        </p:blipFill>
        <p:spPr>
          <a:xfrm>
            <a:off x="1028700" y="1485900"/>
            <a:ext cx="495300" cy="495300"/>
          </a:xfrm>
          <a:prstGeom prst="rect">
            <a:avLst/>
          </a:prstGeom>
        </p:spPr>
      </p:pic>
      <p:sp>
        <p:nvSpPr>
          <p:cNvPr id="8" name="label-dr_lighting_clear.png">
            <a:extLst>
              <a:ext uri="{FF2B5EF4-FFF2-40B4-BE49-F238E27FC236}">
                <a16:creationId xmlns:a16="http://schemas.microsoft.com/office/drawing/2014/main" id="{B04D1D95-7785-4190-B402-0B57E55A1F00}"/>
              </a:ext>
            </a:extLst>
          </p:cNvPr>
          <p:cNvSpPr>
            <a:spLocks noGrp="1"/>
          </p:cNvSpPr>
          <p:nvPr/>
        </p:nvSpPr>
        <p:spPr>
          <a:xfrm>
            <a:off x="1657350" y="1562100"/>
            <a:ext cx="2247900" cy="419100"/>
          </a:xfrm>
          <a:prstGeom prst="rect">
            <a:avLst/>
          </a:prstGeom>
          <a:noFill/>
          <a:ln w="0">
            <a:noFill/>
          </a:ln>
        </p:spPr>
        <p:txBody>
          <a:bodyPr wrap="square" lIns="0" tIns="0" rIns="0" bIns="0" anchor="t">
            <a:noAutofit/>
          </a:bodyPr>
          <a:lstStyle>
            <a:defPPr algn="l">
              <a:defRPr lang="en-US" sz="2100" b="1">
                <a:solidFill>
                  <a:srgbClr val="202124"/>
                </a:solidFill>
                <a:latin typeface="Roboto"/>
                <a:ea typeface="Roboto"/>
                <a:cs typeface="Roboto"/>
              </a:defRPr>
            </a:defPPr>
            <a:lvl1pPr algn="l">
              <a:defRPr lang="en-US" sz="2100" b="1">
                <a:solidFill>
                  <a:srgbClr val="202124"/>
                </a:solidFill>
                <a:latin typeface="Roboto"/>
                <a:ea typeface="Roboto"/>
                <a:cs typeface="Roboto"/>
              </a:defRPr>
            </a:lvl1pPr>
            <a:lvl2pPr algn="l">
              <a:defRPr lang="en-US" sz="2100" b="1">
                <a:solidFill>
                  <a:srgbClr val="202124"/>
                </a:solidFill>
                <a:latin typeface="Roboto"/>
                <a:ea typeface="Roboto"/>
                <a:cs typeface="Roboto"/>
              </a:defRPr>
            </a:lvl2pPr>
            <a:lvl3pPr algn="l">
              <a:defRPr lang="en-US" sz="2100" b="1">
                <a:solidFill>
                  <a:srgbClr val="202124"/>
                </a:solidFill>
                <a:latin typeface="Roboto"/>
                <a:ea typeface="Roboto"/>
                <a:cs typeface="Roboto"/>
              </a:defRPr>
            </a:lvl3pPr>
            <a:lvl4pPr algn="l">
              <a:defRPr lang="en-US" sz="2100" b="1">
                <a:solidFill>
                  <a:srgbClr val="202124"/>
                </a:solidFill>
                <a:latin typeface="Roboto"/>
                <a:ea typeface="Roboto"/>
                <a:cs typeface="Roboto"/>
              </a:defRPr>
            </a:lvl4pPr>
            <a:lvl5pPr algn="l">
              <a:defRPr lang="en-US" sz="2100" b="1">
                <a:solidFill>
                  <a:srgbClr val="202124"/>
                </a:solidFill>
                <a:latin typeface="Roboto"/>
                <a:ea typeface="Roboto"/>
                <a:cs typeface="Roboto"/>
              </a:defRPr>
            </a:lvl5pPr>
            <a:lvl6pPr algn="l">
              <a:defRPr lang="en-US" sz="2100" b="1">
                <a:solidFill>
                  <a:srgbClr val="202124"/>
                </a:solidFill>
                <a:latin typeface="Roboto"/>
                <a:ea typeface="Roboto"/>
                <a:cs typeface="Roboto"/>
              </a:defRPr>
            </a:lvl6pPr>
            <a:lvl7pPr algn="l">
              <a:defRPr lang="en-US" sz="2100" b="1">
                <a:solidFill>
                  <a:srgbClr val="202124"/>
                </a:solidFill>
                <a:latin typeface="Roboto"/>
                <a:ea typeface="Roboto"/>
                <a:cs typeface="Roboto"/>
              </a:defRPr>
            </a:lvl7pPr>
            <a:lvl8pPr algn="l">
              <a:defRPr lang="en-US" sz="2100" b="1">
                <a:solidFill>
                  <a:srgbClr val="202124"/>
                </a:solidFill>
                <a:latin typeface="Roboto"/>
                <a:ea typeface="Roboto"/>
                <a:cs typeface="Roboto"/>
              </a:defRPr>
            </a:lvl8pPr>
            <a:lvl9pPr algn="l">
              <a:defRPr lang="en-US" sz="2100" b="1">
                <a:solidFill>
                  <a:srgbClr val="202124"/>
                </a:solidFill>
                <a:latin typeface="Roboto"/>
                <a:ea typeface="Roboto"/>
                <a:cs typeface="Roboto"/>
              </a:defRPr>
            </a:lvl9pPr>
          </a:lstStyle>
          <a:p>
            <a:pPr algn="l">
              <a:defRPr lang="en-US" sz="2100" b="1">
                <a:solidFill>
                  <a:srgbClr val="202124"/>
                </a:solidFill>
                <a:latin typeface="Roboto"/>
                <a:ea typeface="Roboto"/>
                <a:cs typeface="Roboto"/>
              </a:defRPr>
            </a:pPr>
            <a:r>
              <a:rPr lang="en-US" sz="2100" b="1">
                <a:solidFill>
                  <a:srgbClr val="202124"/>
                </a:solidFill>
                <a:latin typeface="Roboto"/>
                <a:ea typeface="Roboto"/>
                <a:cs typeface="Roboto"/>
              </a:rPr>
              <a:t>Lighting &amp; dust</a:t>
            </a:r>
          </a:p>
        </p:txBody>
      </p:sp>
      <p:pic>
        <p:nvPicPr>
          <p:cNvPr id="9" name="Immagine 8">
            <a:extLst>
              <a:ext uri="{FF2B5EF4-FFF2-40B4-BE49-F238E27FC236}">
                <a16:creationId xmlns:a16="http://schemas.microsoft.com/office/drawing/2014/main" id="{95E39D96-3D34-4299-BDB4-2455ED31F24A}"/>
              </a:ext>
            </a:extLst>
          </p:cNvPr>
          <p:cNvPicPr>
            <a:picLocks noChangeAspect="1"/>
          </p:cNvPicPr>
          <p:nvPr/>
        </p:nvPicPr>
        <p:blipFill>
          <a:blip r:embed="rId5"/>
          <a:stretch/>
        </p:blipFill>
        <p:spPr>
          <a:xfrm>
            <a:off x="963613" y="2171700"/>
            <a:ext cx="2768600" cy="2076450"/>
          </a:xfrm>
          <a:prstGeom prst="rect">
            <a:avLst/>
          </a:prstGeom>
        </p:spPr>
      </p:pic>
      <p:pic>
        <p:nvPicPr>
          <p:cNvPr id="10" name="Immagine 9">
            <a:extLst>
              <a:ext uri="{FF2B5EF4-FFF2-40B4-BE49-F238E27FC236}">
                <a16:creationId xmlns:a16="http://schemas.microsoft.com/office/drawing/2014/main" id="{233265BC-64B2-4CC0-97F9-70839AE00835}"/>
              </a:ext>
            </a:extLst>
          </p:cNvPr>
          <p:cNvPicPr>
            <a:picLocks noChangeAspect="1"/>
          </p:cNvPicPr>
          <p:nvPr/>
        </p:nvPicPr>
        <p:blipFill>
          <a:blip r:embed="rId6"/>
          <a:stretch/>
        </p:blipFill>
        <p:spPr>
          <a:xfrm>
            <a:off x="4629150" y="1485900"/>
            <a:ext cx="495300" cy="495300"/>
          </a:xfrm>
          <a:prstGeom prst="rect">
            <a:avLst/>
          </a:prstGeom>
        </p:spPr>
      </p:pic>
      <p:sp>
        <p:nvSpPr>
          <p:cNvPr id="11" name="label-dr_wear_evident.png">
            <a:extLst>
              <a:ext uri="{FF2B5EF4-FFF2-40B4-BE49-F238E27FC236}">
                <a16:creationId xmlns:a16="http://schemas.microsoft.com/office/drawing/2014/main" id="{9930AA0A-B40A-4FF2-A55B-F1704BAC41AD}"/>
              </a:ext>
            </a:extLst>
          </p:cNvPr>
          <p:cNvSpPr>
            <a:spLocks noGrp="1"/>
          </p:cNvSpPr>
          <p:nvPr/>
        </p:nvSpPr>
        <p:spPr>
          <a:xfrm>
            <a:off x="5257800" y="1562100"/>
            <a:ext cx="2247900" cy="419100"/>
          </a:xfrm>
          <a:prstGeom prst="rect">
            <a:avLst/>
          </a:prstGeom>
          <a:noFill/>
          <a:ln w="0">
            <a:noFill/>
          </a:ln>
        </p:spPr>
        <p:txBody>
          <a:bodyPr wrap="square" lIns="0" tIns="0" rIns="0" bIns="0" anchor="t">
            <a:noAutofit/>
          </a:bodyPr>
          <a:lstStyle>
            <a:defPPr algn="l">
              <a:defRPr lang="en-US" sz="2100" b="1">
                <a:solidFill>
                  <a:srgbClr val="202124"/>
                </a:solidFill>
                <a:latin typeface="Roboto"/>
                <a:ea typeface="Roboto"/>
                <a:cs typeface="Roboto"/>
              </a:defRPr>
            </a:defPPr>
            <a:lvl1pPr algn="l">
              <a:defRPr lang="en-US" sz="2100" b="1">
                <a:solidFill>
                  <a:srgbClr val="202124"/>
                </a:solidFill>
                <a:latin typeface="Roboto"/>
                <a:ea typeface="Roboto"/>
                <a:cs typeface="Roboto"/>
              </a:defRPr>
            </a:lvl1pPr>
            <a:lvl2pPr algn="l">
              <a:defRPr lang="en-US" sz="2100" b="1">
                <a:solidFill>
                  <a:srgbClr val="202124"/>
                </a:solidFill>
                <a:latin typeface="Roboto"/>
                <a:ea typeface="Roboto"/>
                <a:cs typeface="Roboto"/>
              </a:defRPr>
            </a:lvl2pPr>
            <a:lvl3pPr algn="l">
              <a:defRPr lang="en-US" sz="2100" b="1">
                <a:solidFill>
                  <a:srgbClr val="202124"/>
                </a:solidFill>
                <a:latin typeface="Roboto"/>
                <a:ea typeface="Roboto"/>
                <a:cs typeface="Roboto"/>
              </a:defRPr>
            </a:lvl3pPr>
            <a:lvl4pPr algn="l">
              <a:defRPr lang="en-US" sz="2100" b="1">
                <a:solidFill>
                  <a:srgbClr val="202124"/>
                </a:solidFill>
                <a:latin typeface="Roboto"/>
                <a:ea typeface="Roboto"/>
                <a:cs typeface="Roboto"/>
              </a:defRPr>
            </a:lvl4pPr>
            <a:lvl5pPr algn="l">
              <a:defRPr lang="en-US" sz="2100" b="1">
                <a:solidFill>
                  <a:srgbClr val="202124"/>
                </a:solidFill>
                <a:latin typeface="Roboto"/>
                <a:ea typeface="Roboto"/>
                <a:cs typeface="Roboto"/>
              </a:defRPr>
            </a:lvl5pPr>
            <a:lvl6pPr algn="l">
              <a:defRPr lang="en-US" sz="2100" b="1">
                <a:solidFill>
                  <a:srgbClr val="202124"/>
                </a:solidFill>
                <a:latin typeface="Roboto"/>
                <a:ea typeface="Roboto"/>
                <a:cs typeface="Roboto"/>
              </a:defRPr>
            </a:lvl6pPr>
            <a:lvl7pPr algn="l">
              <a:defRPr lang="en-US" sz="2100" b="1">
                <a:solidFill>
                  <a:srgbClr val="202124"/>
                </a:solidFill>
                <a:latin typeface="Roboto"/>
                <a:ea typeface="Roboto"/>
                <a:cs typeface="Roboto"/>
              </a:defRPr>
            </a:lvl7pPr>
            <a:lvl8pPr algn="l">
              <a:defRPr lang="en-US" sz="2100" b="1">
                <a:solidFill>
                  <a:srgbClr val="202124"/>
                </a:solidFill>
                <a:latin typeface="Roboto"/>
                <a:ea typeface="Roboto"/>
                <a:cs typeface="Roboto"/>
              </a:defRPr>
            </a:lvl8pPr>
            <a:lvl9pPr algn="l">
              <a:defRPr lang="en-US" sz="2100" b="1">
                <a:solidFill>
                  <a:srgbClr val="202124"/>
                </a:solidFill>
                <a:latin typeface="Roboto"/>
                <a:ea typeface="Roboto"/>
                <a:cs typeface="Roboto"/>
              </a:defRPr>
            </a:lvl9pPr>
          </a:lstStyle>
          <a:p>
            <a:pPr algn="l">
              <a:defRPr lang="en-US" sz="2100" b="1">
                <a:solidFill>
                  <a:srgbClr val="202124"/>
                </a:solidFill>
                <a:latin typeface="Roboto"/>
                <a:ea typeface="Roboto"/>
                <a:cs typeface="Roboto"/>
              </a:defRPr>
            </a:pPr>
            <a:r>
              <a:rPr lang="en-US" sz="2100" b="1">
                <a:solidFill>
                  <a:srgbClr val="202124"/>
                </a:solidFill>
                <a:latin typeface="Roboto"/>
                <a:ea typeface="Roboto"/>
                <a:cs typeface="Roboto"/>
              </a:rPr>
              <a:t>Benign wear</a:t>
            </a:r>
          </a:p>
        </p:txBody>
      </p:sp>
      <p:pic>
        <p:nvPicPr>
          <p:cNvPr id="12" name="Immagine 11">
            <a:extLst>
              <a:ext uri="{FF2B5EF4-FFF2-40B4-BE49-F238E27FC236}">
                <a16:creationId xmlns:a16="http://schemas.microsoft.com/office/drawing/2014/main" id="{830EEBFF-935B-4050-A2CB-E7ABE882E3D7}"/>
              </a:ext>
            </a:extLst>
          </p:cNvPr>
          <p:cNvPicPr>
            <a:picLocks noChangeAspect="1"/>
          </p:cNvPicPr>
          <p:nvPr/>
        </p:nvPicPr>
        <p:blipFill>
          <a:blip r:embed="rId7"/>
          <a:stretch/>
        </p:blipFill>
        <p:spPr>
          <a:xfrm>
            <a:off x="4564063" y="2171700"/>
            <a:ext cx="2768600" cy="2076450"/>
          </a:xfrm>
          <a:prstGeom prst="rect">
            <a:avLst/>
          </a:prstGeom>
        </p:spPr>
      </p:pic>
      <p:pic>
        <p:nvPicPr>
          <p:cNvPr id="13" name="Immagine 12">
            <a:extLst>
              <a:ext uri="{FF2B5EF4-FFF2-40B4-BE49-F238E27FC236}">
                <a16:creationId xmlns:a16="http://schemas.microsoft.com/office/drawing/2014/main" id="{46137E5A-3C02-4DFE-9976-4F684763AB7D}"/>
              </a:ext>
            </a:extLst>
          </p:cNvPr>
          <p:cNvPicPr>
            <a:picLocks noChangeAspect="1"/>
          </p:cNvPicPr>
          <p:nvPr/>
        </p:nvPicPr>
        <p:blipFill>
          <a:blip r:embed="rId8"/>
          <a:stretch/>
        </p:blipFill>
        <p:spPr>
          <a:xfrm>
            <a:off x="8229600" y="1485900"/>
            <a:ext cx="495300" cy="495300"/>
          </a:xfrm>
          <a:prstGeom prst="rect">
            <a:avLst/>
          </a:prstGeom>
        </p:spPr>
      </p:pic>
      <p:sp>
        <p:nvSpPr>
          <p:cNvPr id="14" name="label-dr_pose_detail.png">
            <a:extLst>
              <a:ext uri="{FF2B5EF4-FFF2-40B4-BE49-F238E27FC236}">
                <a16:creationId xmlns:a16="http://schemas.microsoft.com/office/drawing/2014/main" id="{4C0BAFD1-ABDB-46F6-8575-2CBCFA57C0E5}"/>
              </a:ext>
            </a:extLst>
          </p:cNvPr>
          <p:cNvSpPr>
            <a:spLocks noGrp="1"/>
          </p:cNvSpPr>
          <p:nvPr/>
        </p:nvSpPr>
        <p:spPr>
          <a:xfrm>
            <a:off x="8858250" y="1562100"/>
            <a:ext cx="2247900" cy="419100"/>
          </a:xfrm>
          <a:prstGeom prst="rect">
            <a:avLst/>
          </a:prstGeom>
          <a:noFill/>
          <a:ln w="0">
            <a:noFill/>
          </a:ln>
        </p:spPr>
        <p:txBody>
          <a:bodyPr wrap="square" lIns="0" tIns="0" rIns="0" bIns="0" anchor="t">
            <a:noAutofit/>
          </a:bodyPr>
          <a:lstStyle>
            <a:defPPr algn="l">
              <a:defRPr lang="en-US" sz="2100" b="1">
                <a:solidFill>
                  <a:srgbClr val="202124"/>
                </a:solidFill>
                <a:latin typeface="Roboto"/>
                <a:ea typeface="Roboto"/>
                <a:cs typeface="Roboto"/>
              </a:defRPr>
            </a:defPPr>
            <a:lvl1pPr algn="l">
              <a:defRPr lang="en-US" sz="2100" b="1">
                <a:solidFill>
                  <a:srgbClr val="202124"/>
                </a:solidFill>
                <a:latin typeface="Roboto"/>
                <a:ea typeface="Roboto"/>
                <a:cs typeface="Roboto"/>
              </a:defRPr>
            </a:lvl1pPr>
            <a:lvl2pPr algn="l">
              <a:defRPr lang="en-US" sz="2100" b="1">
                <a:solidFill>
                  <a:srgbClr val="202124"/>
                </a:solidFill>
                <a:latin typeface="Roboto"/>
                <a:ea typeface="Roboto"/>
                <a:cs typeface="Roboto"/>
              </a:defRPr>
            </a:lvl2pPr>
            <a:lvl3pPr algn="l">
              <a:defRPr lang="en-US" sz="2100" b="1">
                <a:solidFill>
                  <a:srgbClr val="202124"/>
                </a:solidFill>
                <a:latin typeface="Roboto"/>
                <a:ea typeface="Roboto"/>
                <a:cs typeface="Roboto"/>
              </a:defRPr>
            </a:lvl3pPr>
            <a:lvl4pPr algn="l">
              <a:defRPr lang="en-US" sz="2100" b="1">
                <a:solidFill>
                  <a:srgbClr val="202124"/>
                </a:solidFill>
                <a:latin typeface="Roboto"/>
                <a:ea typeface="Roboto"/>
                <a:cs typeface="Roboto"/>
              </a:defRPr>
            </a:lvl4pPr>
            <a:lvl5pPr algn="l">
              <a:defRPr lang="en-US" sz="2100" b="1">
                <a:solidFill>
                  <a:srgbClr val="202124"/>
                </a:solidFill>
                <a:latin typeface="Roboto"/>
                <a:ea typeface="Roboto"/>
                <a:cs typeface="Roboto"/>
              </a:defRPr>
            </a:lvl5pPr>
            <a:lvl6pPr algn="l">
              <a:defRPr lang="en-US" sz="2100" b="1">
                <a:solidFill>
                  <a:srgbClr val="202124"/>
                </a:solidFill>
                <a:latin typeface="Roboto"/>
                <a:ea typeface="Roboto"/>
                <a:cs typeface="Roboto"/>
              </a:defRPr>
            </a:lvl6pPr>
            <a:lvl7pPr algn="l">
              <a:defRPr lang="en-US" sz="2100" b="1">
                <a:solidFill>
                  <a:srgbClr val="202124"/>
                </a:solidFill>
                <a:latin typeface="Roboto"/>
                <a:ea typeface="Roboto"/>
                <a:cs typeface="Roboto"/>
              </a:defRPr>
            </a:lvl7pPr>
            <a:lvl8pPr algn="l">
              <a:defRPr lang="en-US" sz="2100" b="1">
                <a:solidFill>
                  <a:srgbClr val="202124"/>
                </a:solidFill>
                <a:latin typeface="Roboto"/>
                <a:ea typeface="Roboto"/>
                <a:cs typeface="Roboto"/>
              </a:defRPr>
            </a:lvl8pPr>
            <a:lvl9pPr algn="l">
              <a:defRPr lang="en-US" sz="2100" b="1">
                <a:solidFill>
                  <a:srgbClr val="202124"/>
                </a:solidFill>
                <a:latin typeface="Roboto"/>
                <a:ea typeface="Roboto"/>
                <a:cs typeface="Roboto"/>
              </a:defRPr>
            </a:lvl9pPr>
          </a:lstStyle>
          <a:p>
            <a:pPr algn="l">
              <a:defRPr lang="en-US" sz="2100" b="1">
                <a:solidFill>
                  <a:srgbClr val="202124"/>
                </a:solidFill>
                <a:latin typeface="Roboto"/>
                <a:ea typeface="Roboto"/>
                <a:cs typeface="Roboto"/>
              </a:defRPr>
            </a:pPr>
            <a:r>
              <a:rPr lang="en-US" sz="2100" b="1">
                <a:solidFill>
                  <a:srgbClr val="202124"/>
                </a:solidFill>
                <a:latin typeface="Roboto"/>
                <a:ea typeface="Roboto"/>
                <a:cs typeface="Roboto"/>
              </a:rPr>
              <a:t>Viewpoint</a:t>
            </a:r>
          </a:p>
        </p:txBody>
      </p:sp>
      <p:pic>
        <p:nvPicPr>
          <p:cNvPr id="15" name="Immagine 14">
            <a:extLst>
              <a:ext uri="{FF2B5EF4-FFF2-40B4-BE49-F238E27FC236}">
                <a16:creationId xmlns:a16="http://schemas.microsoft.com/office/drawing/2014/main" id="{8BD9B428-EEED-46AE-B1AF-F0CC58A28EAE}"/>
              </a:ext>
            </a:extLst>
          </p:cNvPr>
          <p:cNvPicPr>
            <a:picLocks noChangeAspect="1"/>
          </p:cNvPicPr>
          <p:nvPr/>
        </p:nvPicPr>
        <p:blipFill>
          <a:blip r:embed="rId9"/>
          <a:stretch/>
        </p:blipFill>
        <p:spPr>
          <a:xfrm>
            <a:off x="8164513" y="2171700"/>
            <a:ext cx="2768600" cy="2076450"/>
          </a:xfrm>
          <a:prstGeom prst="rect">
            <a:avLst/>
          </a:prstGeom>
        </p:spPr>
      </p:pic>
      <p:sp>
        <p:nvSpPr>
          <p:cNvPr id="16" name="normal-variation">
            <a:extLst>
              <a:ext uri="{FF2B5EF4-FFF2-40B4-BE49-F238E27FC236}">
                <a16:creationId xmlns:a16="http://schemas.microsoft.com/office/drawing/2014/main" id="{A53C0ECA-5EC0-4279-A71C-269E00189A92}"/>
              </a:ext>
            </a:extLst>
          </p:cNvPr>
          <p:cNvSpPr>
            <a:spLocks noGrp="1"/>
          </p:cNvSpPr>
          <p:nvPr/>
        </p:nvSpPr>
        <p:spPr>
          <a:xfrm>
            <a:off x="762000" y="5857875"/>
            <a:ext cx="10668000" cy="304800"/>
          </a:xfrm>
          <a:prstGeom prst="rect">
            <a:avLst/>
          </a:prstGeom>
          <a:noFill/>
          <a:ln w="0">
            <a:noFill/>
          </a:ln>
        </p:spPr>
        <p:txBody>
          <a:bodyPr wrap="square" lIns="0" tIns="0" rIns="0" bIns="0" anchor="t">
            <a:noAutofit/>
          </a:bodyPr>
          <a:lstStyle>
            <a:defPPr algn="ctr">
              <a:defRPr lang="en-US" sz="2100" b="0">
                <a:solidFill>
                  <a:srgbClr val="656B73"/>
                </a:solidFill>
                <a:latin typeface="Roboto"/>
                <a:ea typeface="Roboto"/>
                <a:cs typeface="Roboto"/>
              </a:defRPr>
            </a:defPPr>
            <a:lvl1pPr algn="ctr">
              <a:defRPr lang="en-US" sz="2100" b="0">
                <a:solidFill>
                  <a:srgbClr val="656B73"/>
                </a:solidFill>
                <a:latin typeface="Roboto"/>
                <a:ea typeface="Roboto"/>
                <a:cs typeface="Roboto"/>
              </a:defRPr>
            </a:lvl1pPr>
            <a:lvl2pPr algn="ctr">
              <a:defRPr lang="en-US" sz="2100" b="0">
                <a:solidFill>
                  <a:srgbClr val="656B73"/>
                </a:solidFill>
                <a:latin typeface="Roboto"/>
                <a:ea typeface="Roboto"/>
                <a:cs typeface="Roboto"/>
              </a:defRPr>
            </a:lvl2pPr>
            <a:lvl3pPr algn="ctr">
              <a:defRPr lang="en-US" sz="2100" b="0">
                <a:solidFill>
                  <a:srgbClr val="656B73"/>
                </a:solidFill>
                <a:latin typeface="Roboto"/>
                <a:ea typeface="Roboto"/>
                <a:cs typeface="Roboto"/>
              </a:defRPr>
            </a:lvl3pPr>
            <a:lvl4pPr algn="ctr">
              <a:defRPr lang="en-US" sz="2100" b="0">
                <a:solidFill>
                  <a:srgbClr val="656B73"/>
                </a:solidFill>
                <a:latin typeface="Roboto"/>
                <a:ea typeface="Roboto"/>
                <a:cs typeface="Roboto"/>
              </a:defRPr>
            </a:lvl4pPr>
            <a:lvl5pPr algn="ctr">
              <a:defRPr lang="en-US" sz="2100" b="0">
                <a:solidFill>
                  <a:srgbClr val="656B73"/>
                </a:solidFill>
                <a:latin typeface="Roboto"/>
                <a:ea typeface="Roboto"/>
                <a:cs typeface="Roboto"/>
              </a:defRPr>
            </a:lvl5pPr>
            <a:lvl6pPr algn="ctr">
              <a:defRPr lang="en-US" sz="2100" b="0">
                <a:solidFill>
                  <a:srgbClr val="656B73"/>
                </a:solidFill>
                <a:latin typeface="Roboto"/>
                <a:ea typeface="Roboto"/>
                <a:cs typeface="Roboto"/>
              </a:defRPr>
            </a:lvl6pPr>
            <a:lvl7pPr algn="ctr">
              <a:defRPr lang="en-US" sz="2100" b="0">
                <a:solidFill>
                  <a:srgbClr val="656B73"/>
                </a:solidFill>
                <a:latin typeface="Roboto"/>
                <a:ea typeface="Roboto"/>
                <a:cs typeface="Roboto"/>
              </a:defRPr>
            </a:lvl7pPr>
            <a:lvl8pPr algn="ctr">
              <a:defRPr lang="en-US" sz="2100" b="0">
                <a:solidFill>
                  <a:srgbClr val="656B73"/>
                </a:solidFill>
                <a:latin typeface="Roboto"/>
                <a:ea typeface="Roboto"/>
                <a:cs typeface="Roboto"/>
              </a:defRPr>
            </a:lvl8pPr>
            <a:lvl9pPr algn="ctr">
              <a:defRPr lang="en-US" sz="2100" b="0">
                <a:solidFill>
                  <a:srgbClr val="656B73"/>
                </a:solidFill>
                <a:latin typeface="Roboto"/>
                <a:ea typeface="Roboto"/>
                <a:cs typeface="Roboto"/>
              </a:defRPr>
            </a:lvl9pPr>
          </a:lstStyle>
          <a:p>
            <a:pPr algn="ctr">
              <a:defRPr lang="en-US" sz="2100" b="0">
                <a:solidFill>
                  <a:srgbClr val="656B73"/>
                </a:solidFill>
                <a:latin typeface="Roboto"/>
                <a:ea typeface="Roboto"/>
                <a:cs typeface="Roboto"/>
              </a:defRPr>
            </a:pPr>
            <a:r>
              <a:rPr lang="en-US" sz="1650" b="0">
                <a:solidFill>
                  <a:srgbClr val="656B73"/>
                </a:solidFill>
                <a:latin typeface="Roboto"/>
                <a:ea typeface="Roboto"/>
                <a:cs typeface="Roboto"/>
              </a:rPr>
              <a:t>Shares of all 10,000 images. Variation is independent of the anomaly label.</a:t>
            </a:r>
          </a:p>
        </p:txBody>
      </p:sp>
      <p:sp>
        <p:nvSpPr>
          <p:cNvPr id="18" name="variation12-label-0-0">
            <a:extLst>
              <a:ext uri="{FF2B5EF4-FFF2-40B4-BE49-F238E27FC236}">
                <a16:creationId xmlns:a16="http://schemas.microsoft.com/office/drawing/2014/main" id="{BF15800E-8A48-74C9-340E-F9514F297E78}"/>
              </a:ext>
            </a:extLst>
          </p:cNvPr>
          <p:cNvSpPr>
            <a:spLocks noGrp="1"/>
          </p:cNvSpPr>
          <p:nvPr/>
        </p:nvSpPr>
        <p:spPr>
          <a:xfrm>
            <a:off x="933450" y="4438650"/>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Dusty</a:t>
            </a:r>
          </a:p>
        </p:txBody>
      </p:sp>
      <p:sp>
        <p:nvSpPr>
          <p:cNvPr id="19" name="variation12-share-0-0">
            <a:extLst>
              <a:ext uri="{FF2B5EF4-FFF2-40B4-BE49-F238E27FC236}">
                <a16:creationId xmlns:a16="http://schemas.microsoft.com/office/drawing/2014/main" id="{04365EB7-44D6-B213-F862-4E56711CC058}"/>
              </a:ext>
            </a:extLst>
          </p:cNvPr>
          <p:cNvSpPr>
            <a:spLocks noGrp="1"/>
          </p:cNvSpPr>
          <p:nvPr/>
        </p:nvSpPr>
        <p:spPr>
          <a:xfrm>
            <a:off x="3124200" y="4438650"/>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75%</a:t>
            </a:r>
          </a:p>
        </p:txBody>
      </p:sp>
      <p:sp>
        <p:nvSpPr>
          <p:cNvPr id="20" name="variation12-label-0-1">
            <a:extLst>
              <a:ext uri="{FF2B5EF4-FFF2-40B4-BE49-F238E27FC236}">
                <a16:creationId xmlns:a16="http://schemas.microsoft.com/office/drawing/2014/main" id="{4D4F1F61-D25C-F3AC-0986-DFB73DD492CD}"/>
              </a:ext>
            </a:extLst>
          </p:cNvPr>
          <p:cNvSpPr>
            <a:spLocks noGrp="1"/>
          </p:cNvSpPr>
          <p:nvPr/>
        </p:nvSpPr>
        <p:spPr>
          <a:xfrm>
            <a:off x="933450" y="4752975"/>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Clear</a:t>
            </a:r>
          </a:p>
        </p:txBody>
      </p:sp>
      <p:sp>
        <p:nvSpPr>
          <p:cNvPr id="21" name="variation12-share-0-1">
            <a:extLst>
              <a:ext uri="{FF2B5EF4-FFF2-40B4-BE49-F238E27FC236}">
                <a16:creationId xmlns:a16="http://schemas.microsoft.com/office/drawing/2014/main" id="{6129FAF7-9329-FA1F-04F0-DF6691DAC455}"/>
              </a:ext>
            </a:extLst>
          </p:cNvPr>
          <p:cNvSpPr>
            <a:spLocks noGrp="1"/>
          </p:cNvSpPr>
          <p:nvPr/>
        </p:nvSpPr>
        <p:spPr>
          <a:xfrm>
            <a:off x="3124200" y="4752975"/>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25%</a:t>
            </a:r>
          </a:p>
        </p:txBody>
      </p:sp>
      <p:sp>
        <p:nvSpPr>
          <p:cNvPr id="22" name="variation12-label-1-0">
            <a:extLst>
              <a:ext uri="{FF2B5EF4-FFF2-40B4-BE49-F238E27FC236}">
                <a16:creationId xmlns:a16="http://schemas.microsoft.com/office/drawing/2014/main" id="{3F7FCB1E-FC66-0FD0-260A-8DD250C2AEC5}"/>
              </a:ext>
            </a:extLst>
          </p:cNvPr>
          <p:cNvSpPr>
            <a:spLocks noGrp="1"/>
          </p:cNvSpPr>
          <p:nvPr/>
        </p:nvSpPr>
        <p:spPr>
          <a:xfrm>
            <a:off x="4533900" y="4438650"/>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No extra wear</a:t>
            </a:r>
          </a:p>
        </p:txBody>
      </p:sp>
      <p:sp>
        <p:nvSpPr>
          <p:cNvPr id="23" name="variation12-share-1-0">
            <a:extLst>
              <a:ext uri="{FF2B5EF4-FFF2-40B4-BE49-F238E27FC236}">
                <a16:creationId xmlns:a16="http://schemas.microsoft.com/office/drawing/2014/main" id="{A6C8829E-39F4-542B-7AA6-CE9A7F692F63}"/>
              </a:ext>
            </a:extLst>
          </p:cNvPr>
          <p:cNvSpPr>
            <a:spLocks noGrp="1"/>
          </p:cNvSpPr>
          <p:nvPr/>
        </p:nvSpPr>
        <p:spPr>
          <a:xfrm>
            <a:off x="6724650" y="4438650"/>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20%</a:t>
            </a:r>
          </a:p>
        </p:txBody>
      </p:sp>
      <p:sp>
        <p:nvSpPr>
          <p:cNvPr id="24" name="variation12-label-1-1">
            <a:extLst>
              <a:ext uri="{FF2B5EF4-FFF2-40B4-BE49-F238E27FC236}">
                <a16:creationId xmlns:a16="http://schemas.microsoft.com/office/drawing/2014/main" id="{1076DBBA-7039-EF2E-6541-EC76DE340D72}"/>
              </a:ext>
            </a:extLst>
          </p:cNvPr>
          <p:cNvSpPr>
            <a:spLocks noGrp="1"/>
          </p:cNvSpPr>
          <p:nvPr/>
        </p:nvSpPr>
        <p:spPr>
          <a:xfrm>
            <a:off x="4533900" y="4752975"/>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Light wear</a:t>
            </a:r>
          </a:p>
        </p:txBody>
      </p:sp>
      <p:sp>
        <p:nvSpPr>
          <p:cNvPr id="25" name="variation12-share-1-1">
            <a:extLst>
              <a:ext uri="{FF2B5EF4-FFF2-40B4-BE49-F238E27FC236}">
                <a16:creationId xmlns:a16="http://schemas.microsoft.com/office/drawing/2014/main" id="{D1FB5B40-48C5-5258-41A5-E454785B9C89}"/>
              </a:ext>
            </a:extLst>
          </p:cNvPr>
          <p:cNvSpPr>
            <a:spLocks noGrp="1"/>
          </p:cNvSpPr>
          <p:nvPr/>
        </p:nvSpPr>
        <p:spPr>
          <a:xfrm>
            <a:off x="6724650" y="4752975"/>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45%</a:t>
            </a:r>
          </a:p>
        </p:txBody>
      </p:sp>
      <p:sp>
        <p:nvSpPr>
          <p:cNvPr id="26" name="variation12-label-1-2">
            <a:extLst>
              <a:ext uri="{FF2B5EF4-FFF2-40B4-BE49-F238E27FC236}">
                <a16:creationId xmlns:a16="http://schemas.microsoft.com/office/drawing/2014/main" id="{2F690682-3B92-03E1-42B5-AFBB95F425B3}"/>
              </a:ext>
            </a:extLst>
          </p:cNvPr>
          <p:cNvSpPr>
            <a:spLocks noGrp="1"/>
          </p:cNvSpPr>
          <p:nvPr/>
        </p:nvSpPr>
        <p:spPr>
          <a:xfrm>
            <a:off x="4533900" y="5067300"/>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Evident wear</a:t>
            </a:r>
          </a:p>
        </p:txBody>
      </p:sp>
      <p:sp>
        <p:nvSpPr>
          <p:cNvPr id="27" name="variation12-share-1-2">
            <a:extLst>
              <a:ext uri="{FF2B5EF4-FFF2-40B4-BE49-F238E27FC236}">
                <a16:creationId xmlns:a16="http://schemas.microsoft.com/office/drawing/2014/main" id="{0D4A9361-ABF3-9AFB-D7A1-2CF12CF7ACD8}"/>
              </a:ext>
            </a:extLst>
          </p:cNvPr>
          <p:cNvSpPr>
            <a:spLocks noGrp="1"/>
          </p:cNvSpPr>
          <p:nvPr/>
        </p:nvSpPr>
        <p:spPr>
          <a:xfrm>
            <a:off x="6724650" y="5067300"/>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35%</a:t>
            </a:r>
          </a:p>
        </p:txBody>
      </p:sp>
      <p:sp>
        <p:nvSpPr>
          <p:cNvPr id="28" name="variation12-label-2-0">
            <a:extLst>
              <a:ext uri="{FF2B5EF4-FFF2-40B4-BE49-F238E27FC236}">
                <a16:creationId xmlns:a16="http://schemas.microsoft.com/office/drawing/2014/main" id="{69B88619-1D99-BD9E-DA22-20E25A8AB8EF}"/>
              </a:ext>
            </a:extLst>
          </p:cNvPr>
          <p:cNvSpPr>
            <a:spLocks noGrp="1"/>
          </p:cNvSpPr>
          <p:nvPr/>
        </p:nvSpPr>
        <p:spPr>
          <a:xfrm>
            <a:off x="8134350" y="4438650"/>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A: Overhead</a:t>
            </a:r>
          </a:p>
        </p:txBody>
      </p:sp>
      <p:sp>
        <p:nvSpPr>
          <p:cNvPr id="29" name="variation12-share-2-0">
            <a:extLst>
              <a:ext uri="{FF2B5EF4-FFF2-40B4-BE49-F238E27FC236}">
                <a16:creationId xmlns:a16="http://schemas.microsoft.com/office/drawing/2014/main" id="{F486CD2C-45C4-A5CA-8229-5319D9E72B39}"/>
              </a:ext>
            </a:extLst>
          </p:cNvPr>
          <p:cNvSpPr>
            <a:spLocks noGrp="1"/>
          </p:cNvSpPr>
          <p:nvPr/>
        </p:nvSpPr>
        <p:spPr>
          <a:xfrm>
            <a:off x="10325100" y="4438650"/>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40%</a:t>
            </a:r>
          </a:p>
        </p:txBody>
      </p:sp>
      <p:sp>
        <p:nvSpPr>
          <p:cNvPr id="30" name="variation12-label-2-1">
            <a:extLst>
              <a:ext uri="{FF2B5EF4-FFF2-40B4-BE49-F238E27FC236}">
                <a16:creationId xmlns:a16="http://schemas.microsoft.com/office/drawing/2014/main" id="{743A265F-FCB8-0F7E-4B8B-B41E10068BF1}"/>
              </a:ext>
            </a:extLst>
          </p:cNvPr>
          <p:cNvSpPr>
            <a:spLocks noGrp="1"/>
          </p:cNvSpPr>
          <p:nvPr/>
        </p:nvSpPr>
        <p:spPr>
          <a:xfrm>
            <a:off x="8134350" y="4752975"/>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C1: Leading</a:t>
            </a:r>
          </a:p>
        </p:txBody>
      </p:sp>
      <p:sp>
        <p:nvSpPr>
          <p:cNvPr id="31" name="variation12-share-2-1">
            <a:extLst>
              <a:ext uri="{FF2B5EF4-FFF2-40B4-BE49-F238E27FC236}">
                <a16:creationId xmlns:a16="http://schemas.microsoft.com/office/drawing/2014/main" id="{9669349B-52D0-C914-DA46-4FA4C2A903AD}"/>
              </a:ext>
            </a:extLst>
          </p:cNvPr>
          <p:cNvSpPr>
            <a:spLocks noGrp="1"/>
          </p:cNvSpPr>
          <p:nvPr/>
        </p:nvSpPr>
        <p:spPr>
          <a:xfrm>
            <a:off x="10325100" y="4752975"/>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27.5%</a:t>
            </a:r>
          </a:p>
        </p:txBody>
      </p:sp>
      <p:sp>
        <p:nvSpPr>
          <p:cNvPr id="32" name="variation12-label-2-2">
            <a:extLst>
              <a:ext uri="{FF2B5EF4-FFF2-40B4-BE49-F238E27FC236}">
                <a16:creationId xmlns:a16="http://schemas.microsoft.com/office/drawing/2014/main" id="{C818E8F0-8725-458A-8DE6-EABC250FD76E}"/>
              </a:ext>
            </a:extLst>
          </p:cNvPr>
          <p:cNvSpPr>
            <a:spLocks noGrp="1"/>
          </p:cNvSpPr>
          <p:nvPr/>
        </p:nvSpPr>
        <p:spPr>
          <a:xfrm>
            <a:off x="8134350" y="5067300"/>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C2: Trailing</a:t>
            </a:r>
          </a:p>
        </p:txBody>
      </p:sp>
      <p:sp>
        <p:nvSpPr>
          <p:cNvPr id="33" name="variation12-share-2-2">
            <a:extLst>
              <a:ext uri="{FF2B5EF4-FFF2-40B4-BE49-F238E27FC236}">
                <a16:creationId xmlns:a16="http://schemas.microsoft.com/office/drawing/2014/main" id="{64FFD75B-5ED7-497A-0EB0-F7EA8823AD32}"/>
              </a:ext>
            </a:extLst>
          </p:cNvPr>
          <p:cNvSpPr>
            <a:spLocks noGrp="1"/>
          </p:cNvSpPr>
          <p:nvPr/>
        </p:nvSpPr>
        <p:spPr>
          <a:xfrm>
            <a:off x="10325100" y="5067300"/>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27.5%</a:t>
            </a:r>
          </a:p>
        </p:txBody>
      </p:sp>
      <p:sp>
        <p:nvSpPr>
          <p:cNvPr id="34" name="variation12-label-2-3">
            <a:extLst>
              <a:ext uri="{FF2B5EF4-FFF2-40B4-BE49-F238E27FC236}">
                <a16:creationId xmlns:a16="http://schemas.microsoft.com/office/drawing/2014/main" id="{90D74AEA-2362-E623-D0DB-55A21688C61C}"/>
              </a:ext>
            </a:extLst>
          </p:cNvPr>
          <p:cNvSpPr>
            <a:spLocks noGrp="1"/>
          </p:cNvSpPr>
          <p:nvPr/>
        </p:nvSpPr>
        <p:spPr>
          <a:xfrm>
            <a:off x="8134350" y="5381625"/>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D: Upper detail</a:t>
            </a:r>
          </a:p>
        </p:txBody>
      </p:sp>
      <p:sp>
        <p:nvSpPr>
          <p:cNvPr id="35" name="variation12-share-2-3">
            <a:extLst>
              <a:ext uri="{FF2B5EF4-FFF2-40B4-BE49-F238E27FC236}">
                <a16:creationId xmlns:a16="http://schemas.microsoft.com/office/drawing/2014/main" id="{7B0E2F91-80B6-06F8-4617-03AB2BC4D809}"/>
              </a:ext>
            </a:extLst>
          </p:cNvPr>
          <p:cNvSpPr>
            <a:spLocks noGrp="1"/>
          </p:cNvSpPr>
          <p:nvPr/>
        </p:nvSpPr>
        <p:spPr>
          <a:xfrm>
            <a:off x="10325100" y="5381625"/>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5%</a:t>
            </a:r>
          </a:p>
        </p:txBody>
      </p:sp>
    </p:spTree>
    <p:extLst>
      <p:ext uri="{BB962C8B-B14F-4D97-AF65-F5344CB8AC3E}">
        <p14:creationId xmlns:p14="http://schemas.microsoft.com/office/powerpoint/2010/main" val="222343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7CA5A6DC-F717-4490-81BA-7A73C430D018}"/>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10,000 annotated synthetic images</a:t>
            </a:r>
          </a:p>
        </p:txBody>
      </p:sp>
      <p:pic>
        <p:nvPicPr>
          <p:cNvPr id="2" name="Immagine 1">
            <a:extLst>
              <a:ext uri="{FF2B5EF4-FFF2-40B4-BE49-F238E27FC236}">
                <a16:creationId xmlns:a16="http://schemas.microsoft.com/office/drawing/2014/main" id="{790C7282-CBBB-47CA-83C3-F686C6BD56BF}"/>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AA6D5BA0-C654-48B7-9653-DDE62B88DA6F}"/>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01DF30F3-3AFA-4BB9-BE02-D739F8E5407B}"/>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7CBDB447-D310-4511-95A6-05DEBE548B87}"/>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13 / 33</a:t>
            </a:r>
          </a:p>
        </p:txBody>
      </p:sp>
      <p:sp>
        <p:nvSpPr>
          <p:cNvPr id="6" name="source-citations">
            <a:extLst>
              <a:ext uri="{FF2B5EF4-FFF2-40B4-BE49-F238E27FC236}">
                <a16:creationId xmlns:a16="http://schemas.microsoft.com/office/drawing/2014/main" id="{459721AE-1F13-43F4-A1C3-5F051D641D0E}"/>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results and methods</a:t>
            </a:r>
          </a:p>
        </p:txBody>
      </p:sp>
      <p:graphicFrame>
        <p:nvGraphicFramePr>
          <p:cNvPr id="7" name="Tabella 6">
            <a:extLst>
              <a:ext uri="{FF2B5EF4-FFF2-40B4-BE49-F238E27FC236}">
                <a16:creationId xmlns:a16="http://schemas.microsoft.com/office/drawing/2014/main" id="{6A48E340-7766-4D30-9A74-0F38687F0389}"/>
              </a:ext>
            </a:extLst>
          </p:cNvPr>
          <p:cNvGraphicFramePr/>
          <p:nvPr/>
        </p:nvGraphicFramePr>
        <p:xfrm>
          <a:off x="952500" y="1676400"/>
          <a:ext cx="9906000" cy="3371850"/>
        </p:xfrm>
        <a:graphic>
          <a:graphicData uri="http://schemas.openxmlformats.org/drawingml/2006/table">
            <a:tbl>
              <a:tblPr/>
              <a:tblGrid>
                <a:gridCol w="3302000">
                  <a:extLst>
                    <a:ext uri="{9D8B030D-6E8A-4147-A177-3AD203B41FA5}">
                      <a16:colId xmlns:a16="http://schemas.microsoft.com/office/drawing/2014/main" val="20000"/>
                    </a:ext>
                  </a:extLst>
                </a:gridCol>
                <a:gridCol w="3302000">
                  <a:extLst>
                    <a:ext uri="{9D8B030D-6E8A-4147-A177-3AD203B41FA5}">
                      <a16:colId xmlns:a16="http://schemas.microsoft.com/office/drawing/2014/main" val="20001"/>
                    </a:ext>
                  </a:extLst>
                </a:gridCol>
                <a:gridCol w="3302000">
                  <a:extLst>
                    <a:ext uri="{9D8B030D-6E8A-4147-A177-3AD203B41FA5}">
                      <a16:colId xmlns:a16="http://schemas.microsoft.com/office/drawing/2014/main" val="20002"/>
                    </a:ext>
                  </a:extLst>
                </a:gridCol>
              </a:tblGrid>
              <a:tr h="1123950">
                <a:tc>
                  <a:txBody>
                    <a:bodyPr/>
                    <a:lstStyle/>
                    <a:p>
                      <a:pPr algn="ctr"/>
                      <a:r>
                        <a:rPr lang="en-US" sz="1875" b="1">
                          <a:solidFill>
                            <a:srgbClr val="202124"/>
                          </a:solidFill>
                          <a:latin typeface="Roboto"/>
                          <a:ea typeface="Roboto"/>
                          <a:cs typeface="Roboto"/>
                        </a:rPr>
                        <a:t>Training</a:t>
                      </a:r>
                    </a:p>
                  </a:txBody>
                  <a:tcPr marL="95250" marR="95250" marT="95250" marB="95250" anchor="ctr">
                    <a:lnL w="953">
                      <a:solidFill>
                        <a:srgbClr val="FFFFFF"/>
                      </a:solidFill>
                      <a:prstDash val="solid"/>
                    </a:lnL>
                    <a:lnR w="953">
                      <a:solidFill>
                        <a:srgbClr val="FFFFFF"/>
                      </a:solidFill>
                      <a:prstDash val="solid"/>
                    </a:lnR>
                    <a:lnT w="953">
                      <a:solidFill>
                        <a:srgbClr val="FFFFFF"/>
                      </a:solidFill>
                      <a:prstDash val="solid"/>
                    </a:lnT>
                    <a:lnB w="953">
                      <a:solidFill>
                        <a:srgbClr val="FFFFFF"/>
                      </a:solidFill>
                      <a:prstDash val="solid"/>
                    </a:lnB>
                    <a:solidFill>
                      <a:srgbClr val="FFFFFF"/>
                    </a:solidFill>
                  </a:tcPr>
                </a:tc>
                <a:tc>
                  <a:txBody>
                    <a:bodyPr/>
                    <a:lstStyle/>
                    <a:p>
                      <a:pPr algn="ctr"/>
                      <a:r>
                        <a:rPr lang="en-US" sz="1875" b="1">
                          <a:solidFill>
                            <a:srgbClr val="202124"/>
                          </a:solidFill>
                          <a:latin typeface="Roboto"/>
                          <a:ea typeface="Roboto"/>
                          <a:cs typeface="Roboto"/>
                        </a:rPr>
                        <a:t>Validation</a:t>
                      </a:r>
                    </a:p>
                  </a:txBody>
                  <a:tcPr marL="95250" marR="95250" marT="95250" marB="9525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FFFFFF"/>
                    </a:solidFill>
                  </a:tcPr>
                </a:tc>
                <a:tc>
                  <a:txBody>
                    <a:bodyPr/>
                    <a:lstStyle/>
                    <a:p>
                      <a:pPr algn="ctr"/>
                      <a:r>
                        <a:rPr lang="en-US" sz="1875" b="1">
                          <a:solidFill>
                            <a:srgbClr val="202124"/>
                          </a:solidFill>
                          <a:latin typeface="Roboto"/>
                          <a:ea typeface="Roboto"/>
                          <a:cs typeface="Roboto"/>
                        </a:rPr>
                        <a:t>Test</a:t>
                      </a:r>
                    </a:p>
                  </a:txBody>
                  <a:tcPr marL="95250" marR="95250" marT="95250" marB="9525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FFFFFF"/>
                    </a:solidFill>
                  </a:tcPr>
                </a:tc>
                <a:extLst>
                  <a:ext uri="{0D108BD9-81ED-4DB2-BD59-A6C34878D82A}">
                    <a16:rowId xmlns:a16="http://schemas.microsoft.com/office/drawing/2014/main" val="10000"/>
                  </a:ext>
                </a:extLst>
              </a:tr>
              <a:tr h="1123950">
                <a:tc>
                  <a:txBody>
                    <a:bodyPr/>
                    <a:lstStyle/>
                    <a:p>
                      <a:pPr algn="ctr"/>
                      <a:r>
                        <a:rPr lang="en-US" sz="4350" b="1">
                          <a:solidFill>
                            <a:srgbClr val="822433"/>
                          </a:solidFill>
                          <a:latin typeface="Roboto"/>
                          <a:ea typeface="Roboto"/>
                          <a:cs typeface="Roboto"/>
                        </a:rPr>
                        <a:t>7,000</a:t>
                      </a:r>
                    </a:p>
                  </a:txBody>
                  <a:tcPr marL="95250" marR="95250" marT="95250" marB="9525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lang="en-US" sz="4350" b="1">
                          <a:solidFill>
                            <a:srgbClr val="822433"/>
                          </a:solidFill>
                          <a:latin typeface="Roboto"/>
                          <a:ea typeface="Roboto"/>
                          <a:cs typeface="Roboto"/>
                        </a:rPr>
                        <a:t>1,000</a:t>
                      </a:r>
                    </a:p>
                  </a:txBody>
                  <a:tcPr marL="95250" marR="95250" marT="95250" marB="9525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lang="en-US" sz="4350" b="1">
                          <a:solidFill>
                            <a:srgbClr val="822433"/>
                          </a:solidFill>
                          <a:latin typeface="Roboto"/>
                          <a:ea typeface="Roboto"/>
                          <a:cs typeface="Roboto"/>
                        </a:rPr>
                        <a:t>2,000</a:t>
                      </a:r>
                    </a:p>
                  </a:txBody>
                  <a:tcPr marL="95250" marR="95250" marT="95250" marB="9525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extLst>
                  <a:ext uri="{0D108BD9-81ED-4DB2-BD59-A6C34878D82A}">
                    <a16:rowId xmlns:a16="http://schemas.microsoft.com/office/drawing/2014/main" val="10001"/>
                  </a:ext>
                </a:extLst>
              </a:tr>
              <a:tr h="1123950">
                <a:tc>
                  <a:txBody>
                    <a:bodyPr/>
                    <a:lstStyle/>
                    <a:p>
                      <a:pPr algn="ctr"/>
                      <a:r>
                        <a:rPr lang="en-US" sz="1875">
                          <a:solidFill>
                            <a:srgbClr val="656B73"/>
                          </a:solidFill>
                          <a:latin typeface="Roboto"/>
                          <a:ea typeface="Roboto"/>
                          <a:cs typeface="Roboto"/>
                        </a:rPr>
                        <a:t>Normal only</a:t>
                      </a:r>
                    </a:p>
                  </a:txBody>
                  <a:tcPr marL="95250" marR="95250" marT="95250" marB="9525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lang="en-US" sz="1875">
                          <a:solidFill>
                            <a:srgbClr val="656B73"/>
                          </a:solidFill>
                          <a:latin typeface="Roboto"/>
                          <a:ea typeface="Roboto"/>
                          <a:cs typeface="Roboto"/>
                        </a:rPr>
                        <a:t>750 normal</a:t>
                      </a:r>
                    </a:p>
                    <a:p>
                      <a:pPr algn="ctr"/>
                      <a:r>
                        <a:rPr lang="en-US" sz="1875">
                          <a:solidFill>
                            <a:srgbClr val="656B73"/>
                          </a:solidFill>
                          <a:latin typeface="Roboto"/>
                          <a:ea typeface="Roboto"/>
                          <a:cs typeface="Roboto"/>
                        </a:rPr>
                        <a:t>250 perforated</a:t>
                      </a:r>
                    </a:p>
                  </a:txBody>
                  <a:tcPr marL="95250" marR="95250" marT="95250" marB="9525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lang="en-US" sz="1875">
                          <a:solidFill>
                            <a:srgbClr val="656B73"/>
                          </a:solidFill>
                          <a:latin typeface="Roboto"/>
                          <a:ea typeface="Roboto"/>
                          <a:cs typeface="Roboto"/>
                        </a:rPr>
                        <a:t>1,000 normal</a:t>
                      </a:r>
                    </a:p>
                    <a:p>
                      <a:pPr algn="ctr"/>
                      <a:r>
                        <a:rPr lang="en-US" sz="1875">
                          <a:solidFill>
                            <a:srgbClr val="656B73"/>
                          </a:solidFill>
                          <a:latin typeface="Roboto"/>
                          <a:ea typeface="Roboto"/>
                          <a:cs typeface="Roboto"/>
                        </a:rPr>
                        <a:t>1,000 perforated</a:t>
                      </a:r>
                    </a:p>
                  </a:txBody>
                  <a:tcPr marL="95250" marR="95250" marT="95250" marB="9525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extLst>
                  <a:ext uri="{0D108BD9-81ED-4DB2-BD59-A6C34878D82A}">
                    <a16:rowId xmlns:a16="http://schemas.microsoft.com/office/drawing/2014/main" val="10002"/>
                  </a:ext>
                </a:extLst>
              </a:tr>
            </a:tbl>
          </a:graphicData>
        </a:graphic>
      </p:graphicFrame>
      <p:pic>
        <p:nvPicPr>
          <p:cNvPr id="8" name="Immagine 7">
            <a:extLst>
              <a:ext uri="{FF2B5EF4-FFF2-40B4-BE49-F238E27FC236}">
                <a16:creationId xmlns:a16="http://schemas.microsoft.com/office/drawing/2014/main" id="{1F5D5F31-CDDD-4F59-B63A-B8BB2CA189B1}"/>
              </a:ext>
            </a:extLst>
          </p:cNvPr>
          <p:cNvPicPr>
            <a:picLocks noChangeAspect="1"/>
          </p:cNvPicPr>
          <p:nvPr/>
        </p:nvPicPr>
        <p:blipFill>
          <a:blip r:embed="rId4"/>
          <a:stretch/>
        </p:blipFill>
        <p:spPr>
          <a:xfrm>
            <a:off x="2476500" y="5438775"/>
            <a:ext cx="476250" cy="476250"/>
          </a:xfrm>
          <a:prstGeom prst="rect">
            <a:avLst/>
          </a:prstGeom>
        </p:spPr>
      </p:pic>
      <p:sp>
        <p:nvSpPr>
          <p:cNvPr id="9" name="split-integrity">
            <a:extLst>
              <a:ext uri="{FF2B5EF4-FFF2-40B4-BE49-F238E27FC236}">
                <a16:creationId xmlns:a16="http://schemas.microsoft.com/office/drawing/2014/main" id="{6B727CBB-EFFA-4F0A-ACBC-9AD8E89AB049}"/>
              </a:ext>
            </a:extLst>
          </p:cNvPr>
          <p:cNvSpPr>
            <a:spLocks noGrp="1"/>
          </p:cNvSpPr>
          <p:nvPr/>
        </p:nvSpPr>
        <p:spPr>
          <a:xfrm>
            <a:off x="3209925" y="5514975"/>
            <a:ext cx="7524750" cy="390525"/>
          </a:xfrm>
          <a:prstGeom prst="rect">
            <a:avLst/>
          </a:prstGeom>
          <a:noFill/>
          <a:ln w="0">
            <a:noFill/>
          </a:ln>
        </p:spPr>
        <p:txBody>
          <a:bodyPr wrap="square" lIns="0" tIns="0" rIns="0" bIns="0" anchor="t">
            <a:noAutofit/>
          </a:bodyPr>
          <a:lstStyle>
            <a:defPPr algn="l">
              <a:defRPr lang="en-US" sz="2100" b="0">
                <a:solidFill>
                  <a:srgbClr val="202124"/>
                </a:solidFill>
                <a:latin typeface="Roboto"/>
                <a:ea typeface="Roboto"/>
                <a:cs typeface="Roboto"/>
              </a:defRPr>
            </a:defPPr>
            <a:lvl1pPr algn="l">
              <a:defRPr lang="en-US" sz="2100" b="0">
                <a:solidFill>
                  <a:srgbClr val="202124"/>
                </a:solidFill>
                <a:latin typeface="Roboto"/>
                <a:ea typeface="Roboto"/>
                <a:cs typeface="Roboto"/>
              </a:defRPr>
            </a:lvl1pPr>
            <a:lvl2pPr algn="l">
              <a:defRPr lang="en-US" sz="2100" b="0">
                <a:solidFill>
                  <a:srgbClr val="202124"/>
                </a:solidFill>
                <a:latin typeface="Roboto"/>
                <a:ea typeface="Roboto"/>
                <a:cs typeface="Roboto"/>
              </a:defRPr>
            </a:lvl2pPr>
            <a:lvl3pPr algn="l">
              <a:defRPr lang="en-US" sz="2100" b="0">
                <a:solidFill>
                  <a:srgbClr val="202124"/>
                </a:solidFill>
                <a:latin typeface="Roboto"/>
                <a:ea typeface="Roboto"/>
                <a:cs typeface="Roboto"/>
              </a:defRPr>
            </a:lvl3pPr>
            <a:lvl4pPr algn="l">
              <a:defRPr lang="en-US" sz="2100" b="0">
                <a:solidFill>
                  <a:srgbClr val="202124"/>
                </a:solidFill>
                <a:latin typeface="Roboto"/>
                <a:ea typeface="Roboto"/>
                <a:cs typeface="Roboto"/>
              </a:defRPr>
            </a:lvl4pPr>
            <a:lvl5pPr algn="l">
              <a:defRPr lang="en-US" sz="2100" b="0">
                <a:solidFill>
                  <a:srgbClr val="202124"/>
                </a:solidFill>
                <a:latin typeface="Roboto"/>
                <a:ea typeface="Roboto"/>
                <a:cs typeface="Roboto"/>
              </a:defRPr>
            </a:lvl5pPr>
            <a:lvl6pPr algn="l">
              <a:defRPr lang="en-US" sz="2100" b="0">
                <a:solidFill>
                  <a:srgbClr val="202124"/>
                </a:solidFill>
                <a:latin typeface="Roboto"/>
                <a:ea typeface="Roboto"/>
                <a:cs typeface="Roboto"/>
              </a:defRPr>
            </a:lvl6pPr>
            <a:lvl7pPr algn="l">
              <a:defRPr lang="en-US" sz="2100" b="0">
                <a:solidFill>
                  <a:srgbClr val="202124"/>
                </a:solidFill>
                <a:latin typeface="Roboto"/>
                <a:ea typeface="Roboto"/>
                <a:cs typeface="Roboto"/>
              </a:defRPr>
            </a:lvl7pPr>
            <a:lvl8pPr algn="l">
              <a:defRPr lang="en-US" sz="2100" b="0">
                <a:solidFill>
                  <a:srgbClr val="202124"/>
                </a:solidFill>
                <a:latin typeface="Roboto"/>
                <a:ea typeface="Roboto"/>
                <a:cs typeface="Roboto"/>
              </a:defRPr>
            </a:lvl8pPr>
            <a:lvl9pPr algn="l">
              <a:defRPr lang="en-US" sz="2100" b="0">
                <a:solidFill>
                  <a:srgbClr val="202124"/>
                </a:solidFill>
                <a:latin typeface="Roboto"/>
                <a:ea typeface="Roboto"/>
                <a:cs typeface="Roboto"/>
              </a:defRPr>
            </a:lvl9pPr>
          </a:lstStyle>
          <a:p>
            <a:pPr algn="l">
              <a:defRPr lang="en-US" sz="2100" b="0">
                <a:solidFill>
                  <a:srgbClr val="202124"/>
                </a:solidFill>
                <a:latin typeface="Roboto"/>
                <a:ea typeface="Roboto"/>
                <a:cs typeface="Roboto"/>
              </a:defRPr>
            </a:pPr>
            <a:r>
              <a:rPr lang="en-US" sz="2100" b="0">
                <a:solidFill>
                  <a:srgbClr val="202124"/>
                </a:solidFill>
                <a:latin typeface="Roboto"/>
                <a:ea typeface="Roboto"/>
                <a:cs typeface="Roboto"/>
              </a:rPr>
              <a:t>Every matched pair stays within one split</a:t>
            </a:r>
          </a:p>
        </p:txBody>
      </p:sp>
    </p:spTree>
    <p:extLst>
      <p:ext uri="{BB962C8B-B14F-4D97-AF65-F5344CB8AC3E}">
        <p14:creationId xmlns:p14="http://schemas.microsoft.com/office/powerpoint/2010/main" val="222343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200E0735-9E3E-4BF6-ABE5-DB49E48DCEBE}"/>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Anomaly detection learns normal appearance</a:t>
            </a:r>
          </a:p>
        </p:txBody>
      </p:sp>
      <p:pic>
        <p:nvPicPr>
          <p:cNvPr id="2" name="Immagine 1">
            <a:extLst>
              <a:ext uri="{FF2B5EF4-FFF2-40B4-BE49-F238E27FC236}">
                <a16:creationId xmlns:a16="http://schemas.microsoft.com/office/drawing/2014/main" id="{1A7A672A-87F0-4798-9F24-A888601ABF5C}"/>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D88DC61C-D6F1-4CD6-98C9-D3032A1C6B51}"/>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236224D6-893B-4E41-92B8-50641580E2D0}"/>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B4ED92E8-F98C-4D49-82B8-8D4C31D8596A}"/>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14 / 33</a:t>
            </a:r>
          </a:p>
        </p:txBody>
      </p:sp>
      <p:sp>
        <p:nvSpPr>
          <p:cNvPr id="6" name="source-citations">
            <a:extLst>
              <a:ext uri="{FF2B5EF4-FFF2-40B4-BE49-F238E27FC236}">
                <a16:creationId xmlns:a16="http://schemas.microsoft.com/office/drawing/2014/main" id="{18CDC037-F385-4F74-8D1C-68B66E23BB4D}"/>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[15]</a:t>
            </a:r>
          </a:p>
        </p:txBody>
      </p:sp>
      <p:pic>
        <p:nvPicPr>
          <p:cNvPr id="7" name="Immagine 6">
            <a:extLst>
              <a:ext uri="{FF2B5EF4-FFF2-40B4-BE49-F238E27FC236}">
                <a16:creationId xmlns:a16="http://schemas.microsoft.com/office/drawing/2014/main" id="{0FC91BCF-EDA0-45E7-B770-0E03C2285D05}"/>
              </a:ext>
            </a:extLst>
          </p:cNvPr>
          <p:cNvPicPr>
            <a:picLocks noChangeAspect="1"/>
          </p:cNvPicPr>
          <p:nvPr/>
        </p:nvPicPr>
        <p:blipFill>
          <a:blip r:embed="rId4"/>
          <a:stretch/>
        </p:blipFill>
        <p:spPr>
          <a:xfrm>
            <a:off x="1047750" y="1543050"/>
            <a:ext cx="5524500" cy="4143375"/>
          </a:xfrm>
          <a:prstGeom prst="rect">
            <a:avLst/>
          </a:prstGeom>
        </p:spPr>
      </p:pic>
      <p:pic>
        <p:nvPicPr>
          <p:cNvPr id="8" name="Immagine 7">
            <a:extLst>
              <a:ext uri="{FF2B5EF4-FFF2-40B4-BE49-F238E27FC236}">
                <a16:creationId xmlns:a16="http://schemas.microsoft.com/office/drawing/2014/main" id="{4ED12177-DF6C-46C8-9C3A-478B5B69F98B}"/>
              </a:ext>
            </a:extLst>
          </p:cNvPr>
          <p:cNvPicPr>
            <a:picLocks noChangeAspect="1"/>
          </p:cNvPicPr>
          <p:nvPr/>
        </p:nvPicPr>
        <p:blipFill>
          <a:blip r:embed="rId5"/>
          <a:stretch/>
        </p:blipFill>
        <p:spPr>
          <a:xfrm>
            <a:off x="7829550" y="1628775"/>
            <a:ext cx="723900" cy="723900"/>
          </a:xfrm>
          <a:prstGeom prst="rect">
            <a:avLst/>
          </a:prstGeom>
        </p:spPr>
      </p:pic>
      <p:sp>
        <p:nvSpPr>
          <p:cNvPr id="9" name="normal-training">
            <a:extLst>
              <a:ext uri="{FF2B5EF4-FFF2-40B4-BE49-F238E27FC236}">
                <a16:creationId xmlns:a16="http://schemas.microsoft.com/office/drawing/2014/main" id="{2F059E66-9D67-4C6B-A470-9A041B592BD5}"/>
              </a:ext>
            </a:extLst>
          </p:cNvPr>
          <p:cNvSpPr>
            <a:spLocks noGrp="1"/>
          </p:cNvSpPr>
          <p:nvPr/>
        </p:nvSpPr>
        <p:spPr>
          <a:xfrm>
            <a:off x="7086600" y="2505075"/>
            <a:ext cx="4429125" cy="523875"/>
          </a:xfrm>
          <a:prstGeom prst="rect">
            <a:avLst/>
          </a:prstGeom>
          <a:noFill/>
          <a:ln w="0">
            <a:noFill/>
          </a:ln>
        </p:spPr>
        <p:txBody>
          <a:bodyPr wrap="square" lIns="0" tIns="0" rIns="0" bIns="0" anchor="t">
            <a:noAutofit/>
          </a:bodyPr>
          <a:lstStyle>
            <a:defPPr algn="ctr">
              <a:defRPr lang="en-US" sz="2400" b="1">
                <a:solidFill>
                  <a:srgbClr val="822433"/>
                </a:solidFill>
                <a:latin typeface="Roboto"/>
                <a:ea typeface="Roboto"/>
                <a:cs typeface="Roboto"/>
              </a:defRPr>
            </a:defPPr>
            <a:lvl1pPr algn="ctr">
              <a:defRPr lang="en-US" sz="2400" b="1">
                <a:solidFill>
                  <a:srgbClr val="822433"/>
                </a:solidFill>
                <a:latin typeface="Roboto"/>
                <a:ea typeface="Roboto"/>
                <a:cs typeface="Roboto"/>
              </a:defRPr>
            </a:lvl1pPr>
            <a:lvl2pPr algn="ctr">
              <a:defRPr lang="en-US" sz="2400" b="1">
                <a:solidFill>
                  <a:srgbClr val="822433"/>
                </a:solidFill>
                <a:latin typeface="Roboto"/>
                <a:ea typeface="Roboto"/>
                <a:cs typeface="Roboto"/>
              </a:defRPr>
            </a:lvl2pPr>
            <a:lvl3pPr algn="ctr">
              <a:defRPr lang="en-US" sz="2400" b="1">
                <a:solidFill>
                  <a:srgbClr val="822433"/>
                </a:solidFill>
                <a:latin typeface="Roboto"/>
                <a:ea typeface="Roboto"/>
                <a:cs typeface="Roboto"/>
              </a:defRPr>
            </a:lvl3pPr>
            <a:lvl4pPr algn="ctr">
              <a:defRPr lang="en-US" sz="2400" b="1">
                <a:solidFill>
                  <a:srgbClr val="822433"/>
                </a:solidFill>
                <a:latin typeface="Roboto"/>
                <a:ea typeface="Roboto"/>
                <a:cs typeface="Roboto"/>
              </a:defRPr>
            </a:lvl4pPr>
            <a:lvl5pPr algn="ctr">
              <a:defRPr lang="en-US" sz="2400" b="1">
                <a:solidFill>
                  <a:srgbClr val="822433"/>
                </a:solidFill>
                <a:latin typeface="Roboto"/>
                <a:ea typeface="Roboto"/>
                <a:cs typeface="Roboto"/>
              </a:defRPr>
            </a:lvl5pPr>
            <a:lvl6pPr algn="ctr">
              <a:defRPr lang="en-US" sz="2400" b="1">
                <a:solidFill>
                  <a:srgbClr val="822433"/>
                </a:solidFill>
                <a:latin typeface="Roboto"/>
                <a:ea typeface="Roboto"/>
                <a:cs typeface="Roboto"/>
              </a:defRPr>
            </a:lvl6pPr>
            <a:lvl7pPr algn="ctr">
              <a:defRPr lang="en-US" sz="2400" b="1">
                <a:solidFill>
                  <a:srgbClr val="822433"/>
                </a:solidFill>
                <a:latin typeface="Roboto"/>
                <a:ea typeface="Roboto"/>
                <a:cs typeface="Roboto"/>
              </a:defRPr>
            </a:lvl7pPr>
            <a:lvl8pPr algn="ctr">
              <a:defRPr lang="en-US" sz="2400" b="1">
                <a:solidFill>
                  <a:srgbClr val="822433"/>
                </a:solidFill>
                <a:latin typeface="Roboto"/>
                <a:ea typeface="Roboto"/>
                <a:cs typeface="Roboto"/>
              </a:defRPr>
            </a:lvl8pPr>
            <a:lvl9pPr algn="ctr">
              <a:defRPr lang="en-US" sz="2400" b="1">
                <a:solidFill>
                  <a:srgbClr val="822433"/>
                </a:solidFill>
                <a:latin typeface="Roboto"/>
                <a:ea typeface="Roboto"/>
                <a:cs typeface="Roboto"/>
              </a:defRPr>
            </a:lvl9pPr>
          </a:lstStyle>
          <a:p>
            <a:pPr algn="ctr">
              <a:defRPr lang="en-US" sz="2400" b="1">
                <a:solidFill>
                  <a:srgbClr val="822433"/>
                </a:solidFill>
                <a:latin typeface="Roboto"/>
                <a:ea typeface="Roboto"/>
                <a:cs typeface="Roboto"/>
              </a:defRPr>
            </a:pPr>
            <a:r>
              <a:rPr lang="en-US" sz="2400" b="1">
                <a:solidFill>
                  <a:srgbClr val="822433"/>
                </a:solidFill>
                <a:latin typeface="Roboto"/>
                <a:ea typeface="Roboto"/>
                <a:cs typeface="Roboto"/>
              </a:rPr>
              <a:t>Normal-only training</a:t>
            </a:r>
          </a:p>
        </p:txBody>
      </p:sp>
      <p:pic>
        <p:nvPicPr>
          <p:cNvPr id="10" name="Immagine 9">
            <a:extLst>
              <a:ext uri="{FF2B5EF4-FFF2-40B4-BE49-F238E27FC236}">
                <a16:creationId xmlns:a16="http://schemas.microsoft.com/office/drawing/2014/main" id="{82E228ED-E628-4D4E-97D5-589D5CA06157}"/>
              </a:ext>
            </a:extLst>
          </p:cNvPr>
          <p:cNvPicPr>
            <a:picLocks noChangeAspect="1"/>
          </p:cNvPicPr>
          <p:nvPr/>
        </p:nvPicPr>
        <p:blipFill>
          <a:blip r:embed="rId6"/>
          <a:stretch/>
        </p:blipFill>
        <p:spPr>
          <a:xfrm>
            <a:off x="7258050" y="3590925"/>
            <a:ext cx="552450" cy="552450"/>
          </a:xfrm>
          <a:prstGeom prst="rect">
            <a:avLst/>
          </a:prstGeom>
        </p:spPr>
      </p:pic>
      <p:sp>
        <p:nvSpPr>
          <p:cNvPr id="11" name="image-score">
            <a:extLst>
              <a:ext uri="{FF2B5EF4-FFF2-40B4-BE49-F238E27FC236}">
                <a16:creationId xmlns:a16="http://schemas.microsoft.com/office/drawing/2014/main" id="{F4C2C526-F35E-41CC-BF51-58B9199C7C57}"/>
              </a:ext>
            </a:extLst>
          </p:cNvPr>
          <p:cNvSpPr>
            <a:spLocks noGrp="1"/>
          </p:cNvSpPr>
          <p:nvPr/>
        </p:nvSpPr>
        <p:spPr>
          <a:xfrm>
            <a:off x="8039100" y="3667125"/>
            <a:ext cx="3562350" cy="514350"/>
          </a:xfrm>
          <a:prstGeom prst="rect">
            <a:avLst/>
          </a:prstGeom>
          <a:noFill/>
          <a:ln w="0">
            <a:noFill/>
          </a:ln>
        </p:spPr>
        <p:txBody>
          <a:bodyPr wrap="square" lIns="0" tIns="0" rIns="0" bIns="0" anchor="t">
            <a:noAutofit/>
          </a:bodyPr>
          <a:lstStyle>
            <a:defPPr algn="l">
              <a:defRPr lang="en-US" sz="2100" b="0">
                <a:solidFill>
                  <a:srgbClr val="202124"/>
                </a:solidFill>
                <a:latin typeface="Roboto"/>
                <a:ea typeface="Roboto"/>
                <a:cs typeface="Roboto"/>
              </a:defRPr>
            </a:defPPr>
            <a:lvl1pPr algn="l">
              <a:defRPr lang="en-US" sz="2100" b="0">
                <a:solidFill>
                  <a:srgbClr val="202124"/>
                </a:solidFill>
                <a:latin typeface="Roboto"/>
                <a:ea typeface="Roboto"/>
                <a:cs typeface="Roboto"/>
              </a:defRPr>
            </a:lvl1pPr>
            <a:lvl2pPr algn="l">
              <a:defRPr lang="en-US" sz="2100" b="0">
                <a:solidFill>
                  <a:srgbClr val="202124"/>
                </a:solidFill>
                <a:latin typeface="Roboto"/>
                <a:ea typeface="Roboto"/>
                <a:cs typeface="Roboto"/>
              </a:defRPr>
            </a:lvl2pPr>
            <a:lvl3pPr algn="l">
              <a:defRPr lang="en-US" sz="2100" b="0">
                <a:solidFill>
                  <a:srgbClr val="202124"/>
                </a:solidFill>
                <a:latin typeface="Roboto"/>
                <a:ea typeface="Roboto"/>
                <a:cs typeface="Roboto"/>
              </a:defRPr>
            </a:lvl3pPr>
            <a:lvl4pPr algn="l">
              <a:defRPr lang="en-US" sz="2100" b="0">
                <a:solidFill>
                  <a:srgbClr val="202124"/>
                </a:solidFill>
                <a:latin typeface="Roboto"/>
                <a:ea typeface="Roboto"/>
                <a:cs typeface="Roboto"/>
              </a:defRPr>
            </a:lvl4pPr>
            <a:lvl5pPr algn="l">
              <a:defRPr lang="en-US" sz="2100" b="0">
                <a:solidFill>
                  <a:srgbClr val="202124"/>
                </a:solidFill>
                <a:latin typeface="Roboto"/>
                <a:ea typeface="Roboto"/>
                <a:cs typeface="Roboto"/>
              </a:defRPr>
            </a:lvl5pPr>
            <a:lvl6pPr algn="l">
              <a:defRPr lang="en-US" sz="2100" b="0">
                <a:solidFill>
                  <a:srgbClr val="202124"/>
                </a:solidFill>
                <a:latin typeface="Roboto"/>
                <a:ea typeface="Roboto"/>
                <a:cs typeface="Roboto"/>
              </a:defRPr>
            </a:lvl6pPr>
            <a:lvl7pPr algn="l">
              <a:defRPr lang="en-US" sz="2100" b="0">
                <a:solidFill>
                  <a:srgbClr val="202124"/>
                </a:solidFill>
                <a:latin typeface="Roboto"/>
                <a:ea typeface="Roboto"/>
                <a:cs typeface="Roboto"/>
              </a:defRPr>
            </a:lvl7pPr>
            <a:lvl8pPr algn="l">
              <a:defRPr lang="en-US" sz="2100" b="0">
                <a:solidFill>
                  <a:srgbClr val="202124"/>
                </a:solidFill>
                <a:latin typeface="Roboto"/>
                <a:ea typeface="Roboto"/>
                <a:cs typeface="Roboto"/>
              </a:defRPr>
            </a:lvl8pPr>
            <a:lvl9pPr algn="l">
              <a:defRPr lang="en-US" sz="2100" b="0">
                <a:solidFill>
                  <a:srgbClr val="202124"/>
                </a:solidFill>
                <a:latin typeface="Roboto"/>
                <a:ea typeface="Roboto"/>
                <a:cs typeface="Roboto"/>
              </a:defRPr>
            </a:lvl9pPr>
          </a:lstStyle>
          <a:p>
            <a:pPr algn="l">
              <a:defRPr lang="en-US" sz="2100" b="0">
                <a:solidFill>
                  <a:srgbClr val="202124"/>
                </a:solidFill>
                <a:latin typeface="Roboto"/>
                <a:ea typeface="Roboto"/>
                <a:cs typeface="Roboto"/>
              </a:defRPr>
            </a:pPr>
            <a:r>
              <a:rPr lang="en-US" sz="2100" b="0">
                <a:solidFill>
                  <a:srgbClr val="202124"/>
                </a:solidFill>
                <a:latin typeface="Roboto"/>
                <a:ea typeface="Roboto"/>
                <a:cs typeface="Roboto"/>
              </a:rPr>
              <a:t>Image anomaly score</a:t>
            </a:r>
          </a:p>
        </p:txBody>
      </p:sp>
      <p:pic>
        <p:nvPicPr>
          <p:cNvPr id="12" name="Immagine 11">
            <a:extLst>
              <a:ext uri="{FF2B5EF4-FFF2-40B4-BE49-F238E27FC236}">
                <a16:creationId xmlns:a16="http://schemas.microsoft.com/office/drawing/2014/main" id="{6F725AD3-29CE-48B1-8450-35D9ED09B8CF}"/>
              </a:ext>
            </a:extLst>
          </p:cNvPr>
          <p:cNvPicPr>
            <a:picLocks noChangeAspect="1"/>
          </p:cNvPicPr>
          <p:nvPr/>
        </p:nvPicPr>
        <p:blipFill>
          <a:blip r:embed="rId7"/>
          <a:stretch/>
        </p:blipFill>
        <p:spPr>
          <a:xfrm>
            <a:off x="7258050" y="4591050"/>
            <a:ext cx="552450" cy="552450"/>
          </a:xfrm>
          <a:prstGeom prst="rect">
            <a:avLst/>
          </a:prstGeom>
        </p:spPr>
      </p:pic>
      <p:sp>
        <p:nvSpPr>
          <p:cNvPr id="13" name="spatial-map">
            <a:extLst>
              <a:ext uri="{FF2B5EF4-FFF2-40B4-BE49-F238E27FC236}">
                <a16:creationId xmlns:a16="http://schemas.microsoft.com/office/drawing/2014/main" id="{95E0CA58-58F3-405C-9977-675A5B773B14}"/>
              </a:ext>
            </a:extLst>
          </p:cNvPr>
          <p:cNvSpPr>
            <a:spLocks noGrp="1"/>
          </p:cNvSpPr>
          <p:nvPr/>
        </p:nvSpPr>
        <p:spPr>
          <a:xfrm>
            <a:off x="8039100" y="4667250"/>
            <a:ext cx="3562350" cy="514350"/>
          </a:xfrm>
          <a:prstGeom prst="rect">
            <a:avLst/>
          </a:prstGeom>
          <a:noFill/>
          <a:ln w="0">
            <a:noFill/>
          </a:ln>
        </p:spPr>
        <p:txBody>
          <a:bodyPr wrap="square" lIns="0" tIns="0" rIns="0" bIns="0" anchor="t">
            <a:noAutofit/>
          </a:bodyPr>
          <a:lstStyle>
            <a:defPPr algn="l">
              <a:defRPr lang="en-US" sz="2100" b="0">
                <a:solidFill>
                  <a:srgbClr val="202124"/>
                </a:solidFill>
                <a:latin typeface="Roboto"/>
                <a:ea typeface="Roboto"/>
                <a:cs typeface="Roboto"/>
              </a:defRPr>
            </a:defPPr>
            <a:lvl1pPr algn="l">
              <a:defRPr lang="en-US" sz="2100" b="0">
                <a:solidFill>
                  <a:srgbClr val="202124"/>
                </a:solidFill>
                <a:latin typeface="Roboto"/>
                <a:ea typeface="Roboto"/>
                <a:cs typeface="Roboto"/>
              </a:defRPr>
            </a:lvl1pPr>
            <a:lvl2pPr algn="l">
              <a:defRPr lang="en-US" sz="2100" b="0">
                <a:solidFill>
                  <a:srgbClr val="202124"/>
                </a:solidFill>
                <a:latin typeface="Roboto"/>
                <a:ea typeface="Roboto"/>
                <a:cs typeface="Roboto"/>
              </a:defRPr>
            </a:lvl2pPr>
            <a:lvl3pPr algn="l">
              <a:defRPr lang="en-US" sz="2100" b="0">
                <a:solidFill>
                  <a:srgbClr val="202124"/>
                </a:solidFill>
                <a:latin typeface="Roboto"/>
                <a:ea typeface="Roboto"/>
                <a:cs typeface="Roboto"/>
              </a:defRPr>
            </a:lvl3pPr>
            <a:lvl4pPr algn="l">
              <a:defRPr lang="en-US" sz="2100" b="0">
                <a:solidFill>
                  <a:srgbClr val="202124"/>
                </a:solidFill>
                <a:latin typeface="Roboto"/>
                <a:ea typeface="Roboto"/>
                <a:cs typeface="Roboto"/>
              </a:defRPr>
            </a:lvl4pPr>
            <a:lvl5pPr algn="l">
              <a:defRPr lang="en-US" sz="2100" b="0">
                <a:solidFill>
                  <a:srgbClr val="202124"/>
                </a:solidFill>
                <a:latin typeface="Roboto"/>
                <a:ea typeface="Roboto"/>
                <a:cs typeface="Roboto"/>
              </a:defRPr>
            </a:lvl5pPr>
            <a:lvl6pPr algn="l">
              <a:defRPr lang="en-US" sz="2100" b="0">
                <a:solidFill>
                  <a:srgbClr val="202124"/>
                </a:solidFill>
                <a:latin typeface="Roboto"/>
                <a:ea typeface="Roboto"/>
                <a:cs typeface="Roboto"/>
              </a:defRPr>
            </a:lvl6pPr>
            <a:lvl7pPr algn="l">
              <a:defRPr lang="en-US" sz="2100" b="0">
                <a:solidFill>
                  <a:srgbClr val="202124"/>
                </a:solidFill>
                <a:latin typeface="Roboto"/>
                <a:ea typeface="Roboto"/>
                <a:cs typeface="Roboto"/>
              </a:defRPr>
            </a:lvl7pPr>
            <a:lvl8pPr algn="l">
              <a:defRPr lang="en-US" sz="2100" b="0">
                <a:solidFill>
                  <a:srgbClr val="202124"/>
                </a:solidFill>
                <a:latin typeface="Roboto"/>
                <a:ea typeface="Roboto"/>
                <a:cs typeface="Roboto"/>
              </a:defRPr>
            </a:lvl8pPr>
            <a:lvl9pPr algn="l">
              <a:defRPr lang="en-US" sz="2100" b="0">
                <a:solidFill>
                  <a:srgbClr val="202124"/>
                </a:solidFill>
                <a:latin typeface="Roboto"/>
                <a:ea typeface="Roboto"/>
                <a:cs typeface="Roboto"/>
              </a:defRPr>
            </a:lvl9pPr>
          </a:lstStyle>
          <a:p>
            <a:pPr algn="l">
              <a:defRPr lang="en-US" sz="2100" b="0">
                <a:solidFill>
                  <a:srgbClr val="202124"/>
                </a:solidFill>
                <a:latin typeface="Roboto"/>
                <a:ea typeface="Roboto"/>
                <a:cs typeface="Roboto"/>
              </a:defRPr>
            </a:pPr>
            <a:r>
              <a:rPr lang="en-US" sz="2100" b="0">
                <a:solidFill>
                  <a:srgbClr val="202124"/>
                </a:solidFill>
                <a:latin typeface="Roboto"/>
                <a:ea typeface="Roboto"/>
                <a:cs typeface="Roboto"/>
              </a:rPr>
              <a:t>Spatial anomaly map</a:t>
            </a:r>
          </a:p>
        </p:txBody>
      </p:sp>
      <p:sp>
        <p:nvSpPr>
          <p:cNvPr id="14" name="normality">
            <a:extLst>
              <a:ext uri="{FF2B5EF4-FFF2-40B4-BE49-F238E27FC236}">
                <a16:creationId xmlns:a16="http://schemas.microsoft.com/office/drawing/2014/main" id="{7F3E5AD8-4E8F-47C3-BFFF-6C51BFB86727}"/>
              </a:ext>
            </a:extLst>
          </p:cNvPr>
          <p:cNvSpPr>
            <a:spLocks noGrp="1"/>
          </p:cNvSpPr>
          <p:nvPr/>
        </p:nvSpPr>
        <p:spPr>
          <a:xfrm>
            <a:off x="1162050" y="5810250"/>
            <a:ext cx="10001250" cy="295275"/>
          </a:xfrm>
          <a:prstGeom prst="rect">
            <a:avLst/>
          </a:prstGeom>
          <a:noFill/>
          <a:ln w="0">
            <a:noFill/>
          </a:ln>
        </p:spPr>
        <p:txBody>
          <a:bodyPr wrap="square" lIns="0" tIns="0" rIns="0" bIns="0" anchor="t">
            <a:noAutofit/>
          </a:bodyPr>
          <a:lstStyle>
            <a:defPPr algn="l">
              <a:defRPr lang="en-US" sz="1800" b="0">
                <a:solidFill>
                  <a:srgbClr val="656B73"/>
                </a:solidFill>
                <a:latin typeface="Roboto"/>
                <a:ea typeface="Roboto"/>
                <a:cs typeface="Roboto"/>
              </a:defRPr>
            </a:defPPr>
            <a:lvl1pPr algn="l">
              <a:defRPr lang="en-US" sz="1800" b="0">
                <a:solidFill>
                  <a:srgbClr val="656B73"/>
                </a:solidFill>
                <a:latin typeface="Roboto"/>
                <a:ea typeface="Roboto"/>
                <a:cs typeface="Roboto"/>
              </a:defRPr>
            </a:lvl1pPr>
            <a:lvl2pPr algn="l">
              <a:defRPr lang="en-US" sz="1800" b="0">
                <a:solidFill>
                  <a:srgbClr val="656B73"/>
                </a:solidFill>
                <a:latin typeface="Roboto"/>
                <a:ea typeface="Roboto"/>
                <a:cs typeface="Roboto"/>
              </a:defRPr>
            </a:lvl2pPr>
            <a:lvl3pPr algn="l">
              <a:defRPr lang="en-US" sz="1800" b="0">
                <a:solidFill>
                  <a:srgbClr val="656B73"/>
                </a:solidFill>
                <a:latin typeface="Roboto"/>
                <a:ea typeface="Roboto"/>
                <a:cs typeface="Roboto"/>
              </a:defRPr>
            </a:lvl3pPr>
            <a:lvl4pPr algn="l">
              <a:defRPr lang="en-US" sz="1800" b="0">
                <a:solidFill>
                  <a:srgbClr val="656B73"/>
                </a:solidFill>
                <a:latin typeface="Roboto"/>
                <a:ea typeface="Roboto"/>
                <a:cs typeface="Roboto"/>
              </a:defRPr>
            </a:lvl4pPr>
            <a:lvl5pPr algn="l">
              <a:defRPr lang="en-US" sz="1800" b="0">
                <a:solidFill>
                  <a:srgbClr val="656B73"/>
                </a:solidFill>
                <a:latin typeface="Roboto"/>
                <a:ea typeface="Roboto"/>
                <a:cs typeface="Roboto"/>
              </a:defRPr>
            </a:lvl5pPr>
            <a:lvl6pPr algn="l">
              <a:defRPr lang="en-US" sz="1800" b="0">
                <a:solidFill>
                  <a:srgbClr val="656B73"/>
                </a:solidFill>
                <a:latin typeface="Roboto"/>
                <a:ea typeface="Roboto"/>
                <a:cs typeface="Roboto"/>
              </a:defRPr>
            </a:lvl6pPr>
            <a:lvl7pPr algn="l">
              <a:defRPr lang="en-US" sz="1800" b="0">
                <a:solidFill>
                  <a:srgbClr val="656B73"/>
                </a:solidFill>
                <a:latin typeface="Roboto"/>
                <a:ea typeface="Roboto"/>
                <a:cs typeface="Roboto"/>
              </a:defRPr>
            </a:lvl7pPr>
            <a:lvl8pPr algn="l">
              <a:defRPr lang="en-US" sz="1800" b="0">
                <a:solidFill>
                  <a:srgbClr val="656B73"/>
                </a:solidFill>
                <a:latin typeface="Roboto"/>
                <a:ea typeface="Roboto"/>
                <a:cs typeface="Roboto"/>
              </a:defRPr>
            </a:lvl8pPr>
            <a:lvl9pPr algn="l">
              <a:defRPr lang="en-US" sz="1800" b="0">
                <a:solidFill>
                  <a:srgbClr val="656B73"/>
                </a:solidFill>
                <a:latin typeface="Roboto"/>
                <a:ea typeface="Roboto"/>
                <a:cs typeface="Roboto"/>
              </a:defRPr>
            </a:lvl9pPr>
          </a:lstStyle>
          <a:p>
            <a:pPr algn="l">
              <a:defRPr lang="en-US" sz="1800" b="0">
                <a:solidFill>
                  <a:srgbClr val="656B73"/>
                </a:solidFill>
                <a:latin typeface="Roboto"/>
                <a:ea typeface="Roboto"/>
                <a:cs typeface="Roboto"/>
              </a:defRPr>
            </a:pPr>
            <a:r>
              <a:rPr lang="en-US" sz="1800" b="0">
                <a:solidFill>
                  <a:srgbClr val="656B73"/>
                </a:solidFill>
                <a:latin typeface="Roboto"/>
                <a:ea typeface="Roboto"/>
                <a:cs typeface="Roboto"/>
              </a:rPr>
              <a:t>Dust and scratches can still be normal</a:t>
            </a:r>
          </a:p>
        </p:txBody>
      </p:sp>
    </p:spTree>
    <p:extLst>
      <p:ext uri="{BB962C8B-B14F-4D97-AF65-F5344CB8AC3E}">
        <p14:creationId xmlns:p14="http://schemas.microsoft.com/office/powerpoint/2010/main" val="222343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0" name="slide-title">
            <a:extLst>
              <a:ext uri="{FF2B5EF4-FFF2-40B4-BE49-F238E27FC236}">
                <a16:creationId xmlns:a16="http://schemas.microsoft.com/office/drawing/2014/main" id="{BDC4FAE5-A10B-4ECE-BC42-8A8B16D48089}"/>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Normality through memory or feature matching</a:t>
            </a:r>
          </a:p>
        </p:txBody>
      </p:sp>
      <p:pic>
        <p:nvPicPr>
          <p:cNvPr id="2" name="Immagine 1">
            <a:extLst>
              <a:ext uri="{FF2B5EF4-FFF2-40B4-BE49-F238E27FC236}">
                <a16:creationId xmlns:a16="http://schemas.microsoft.com/office/drawing/2014/main" id="{F5B33580-6849-47B6-9647-249F7347E9B6}"/>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286C9EBF-3C96-47A7-87B6-22179934871C}"/>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272F711B-485C-4542-8100-EFA986C6DCEC}"/>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33301F37-7D21-474A-9281-BFAB285D1168}"/>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15 / 33</a:t>
            </a:r>
          </a:p>
        </p:txBody>
      </p:sp>
      <p:sp>
        <p:nvSpPr>
          <p:cNvPr id="6" name="source-citations">
            <a:extLst>
              <a:ext uri="{FF2B5EF4-FFF2-40B4-BE49-F238E27FC236}">
                <a16:creationId xmlns:a16="http://schemas.microsoft.com/office/drawing/2014/main" id="{871CEEB4-5C97-4384-8896-469D05B06D1B}"/>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[16] [17]</a:t>
            </a:r>
          </a:p>
        </p:txBody>
      </p:sp>
      <p:sp>
        <p:nvSpPr>
          <p:cNvPr id="7" name="patchcore">
            <a:extLst>
              <a:ext uri="{FF2B5EF4-FFF2-40B4-BE49-F238E27FC236}">
                <a16:creationId xmlns:a16="http://schemas.microsoft.com/office/drawing/2014/main" id="{75930D4B-F997-4667-A743-F28DA686BD96}"/>
              </a:ext>
            </a:extLst>
          </p:cNvPr>
          <p:cNvSpPr>
            <a:spLocks noGrp="1"/>
          </p:cNvSpPr>
          <p:nvPr/>
        </p:nvSpPr>
        <p:spPr>
          <a:xfrm>
            <a:off x="762000" y="1743075"/>
            <a:ext cx="2619375" cy="581025"/>
          </a:xfrm>
          <a:prstGeom prst="rect">
            <a:avLst/>
          </a:prstGeom>
          <a:noFill/>
          <a:ln w="0">
            <a:noFill/>
          </a:ln>
        </p:spPr>
        <p:txBody>
          <a:bodyPr wrap="square" lIns="0" tIns="0" rIns="0" bIns="0" anchor="t">
            <a:noAutofit/>
          </a:bodyPr>
          <a:lstStyle>
            <a:defPPr algn="l">
              <a:defRPr lang="en-US" sz="2700" b="1">
                <a:solidFill>
                  <a:srgbClr val="822433"/>
                </a:solidFill>
                <a:latin typeface="Roboto"/>
                <a:ea typeface="Roboto"/>
                <a:cs typeface="Roboto"/>
              </a:defRPr>
            </a:defPPr>
            <a:lvl1pPr algn="l">
              <a:defRPr lang="en-US" sz="2700" b="1">
                <a:solidFill>
                  <a:srgbClr val="822433"/>
                </a:solidFill>
                <a:latin typeface="Roboto"/>
                <a:ea typeface="Roboto"/>
                <a:cs typeface="Roboto"/>
              </a:defRPr>
            </a:lvl1pPr>
            <a:lvl2pPr algn="l">
              <a:defRPr lang="en-US" sz="2700" b="1">
                <a:solidFill>
                  <a:srgbClr val="822433"/>
                </a:solidFill>
                <a:latin typeface="Roboto"/>
                <a:ea typeface="Roboto"/>
                <a:cs typeface="Roboto"/>
              </a:defRPr>
            </a:lvl2pPr>
            <a:lvl3pPr algn="l">
              <a:defRPr lang="en-US" sz="2700" b="1">
                <a:solidFill>
                  <a:srgbClr val="822433"/>
                </a:solidFill>
                <a:latin typeface="Roboto"/>
                <a:ea typeface="Roboto"/>
                <a:cs typeface="Roboto"/>
              </a:defRPr>
            </a:lvl3pPr>
            <a:lvl4pPr algn="l">
              <a:defRPr lang="en-US" sz="2700" b="1">
                <a:solidFill>
                  <a:srgbClr val="822433"/>
                </a:solidFill>
                <a:latin typeface="Roboto"/>
                <a:ea typeface="Roboto"/>
                <a:cs typeface="Roboto"/>
              </a:defRPr>
            </a:lvl4pPr>
            <a:lvl5pPr algn="l">
              <a:defRPr lang="en-US" sz="2700" b="1">
                <a:solidFill>
                  <a:srgbClr val="822433"/>
                </a:solidFill>
                <a:latin typeface="Roboto"/>
                <a:ea typeface="Roboto"/>
                <a:cs typeface="Roboto"/>
              </a:defRPr>
            </a:lvl5pPr>
            <a:lvl6pPr algn="l">
              <a:defRPr lang="en-US" sz="2700" b="1">
                <a:solidFill>
                  <a:srgbClr val="822433"/>
                </a:solidFill>
                <a:latin typeface="Roboto"/>
                <a:ea typeface="Roboto"/>
                <a:cs typeface="Roboto"/>
              </a:defRPr>
            </a:lvl6pPr>
            <a:lvl7pPr algn="l">
              <a:defRPr lang="en-US" sz="2700" b="1">
                <a:solidFill>
                  <a:srgbClr val="822433"/>
                </a:solidFill>
                <a:latin typeface="Roboto"/>
                <a:ea typeface="Roboto"/>
                <a:cs typeface="Roboto"/>
              </a:defRPr>
            </a:lvl7pPr>
            <a:lvl8pPr algn="l">
              <a:defRPr lang="en-US" sz="2700" b="1">
                <a:solidFill>
                  <a:srgbClr val="822433"/>
                </a:solidFill>
                <a:latin typeface="Roboto"/>
                <a:ea typeface="Roboto"/>
                <a:cs typeface="Roboto"/>
              </a:defRPr>
            </a:lvl8pPr>
            <a:lvl9pPr algn="l">
              <a:defRPr lang="en-US" sz="2700" b="1">
                <a:solidFill>
                  <a:srgbClr val="822433"/>
                </a:solidFill>
                <a:latin typeface="Roboto"/>
                <a:ea typeface="Roboto"/>
                <a:cs typeface="Roboto"/>
              </a:defRPr>
            </a:lvl9pPr>
          </a:lstStyle>
          <a:p>
            <a:pPr algn="l">
              <a:defRPr lang="en-US" sz="2700" b="1">
                <a:solidFill>
                  <a:srgbClr val="822433"/>
                </a:solidFill>
                <a:latin typeface="Roboto"/>
                <a:ea typeface="Roboto"/>
                <a:cs typeface="Roboto"/>
              </a:defRPr>
            </a:pPr>
            <a:r>
              <a:rPr lang="en-US" sz="2700" b="1">
                <a:solidFill>
                  <a:srgbClr val="822433"/>
                </a:solidFill>
                <a:latin typeface="Roboto"/>
                <a:ea typeface="Roboto"/>
                <a:cs typeface="Roboto"/>
              </a:rPr>
              <a:t>PatchCore</a:t>
            </a:r>
          </a:p>
        </p:txBody>
      </p:sp>
      <p:pic>
        <p:nvPicPr>
          <p:cNvPr id="8" name="Immagine 7">
            <a:extLst>
              <a:ext uri="{FF2B5EF4-FFF2-40B4-BE49-F238E27FC236}">
                <a16:creationId xmlns:a16="http://schemas.microsoft.com/office/drawing/2014/main" id="{9337ACC9-EE3D-450C-87E6-D74F742B4D14}"/>
              </a:ext>
            </a:extLst>
          </p:cNvPr>
          <p:cNvPicPr>
            <a:picLocks noChangeAspect="1"/>
          </p:cNvPicPr>
          <p:nvPr/>
        </p:nvPicPr>
        <p:blipFill>
          <a:blip r:embed="rId4"/>
          <a:stretch/>
        </p:blipFill>
        <p:spPr>
          <a:xfrm>
            <a:off x="3829050" y="1695450"/>
            <a:ext cx="742950" cy="742950"/>
          </a:xfrm>
          <a:prstGeom prst="rect">
            <a:avLst/>
          </a:prstGeom>
        </p:spPr>
      </p:pic>
      <p:sp>
        <p:nvSpPr>
          <p:cNvPr id="9" name="pc-layers">
            <a:extLst>
              <a:ext uri="{FF2B5EF4-FFF2-40B4-BE49-F238E27FC236}">
                <a16:creationId xmlns:a16="http://schemas.microsoft.com/office/drawing/2014/main" id="{1191F071-0C8A-41D3-BB35-51E8389FA67E}"/>
              </a:ext>
            </a:extLst>
          </p:cNvPr>
          <p:cNvSpPr>
            <a:spLocks noGrp="1"/>
          </p:cNvSpPr>
          <p:nvPr/>
        </p:nvSpPr>
        <p:spPr>
          <a:xfrm>
            <a:off x="3219450" y="2705100"/>
            <a:ext cx="2047875" cy="628650"/>
          </a:xfrm>
          <a:prstGeom prst="rect">
            <a:avLst/>
          </a:prstGeom>
          <a:noFill/>
          <a:ln w="0">
            <a:noFill/>
          </a:ln>
        </p:spPr>
        <p:txBody>
          <a:bodyPr wrap="square" lIns="0" tIns="0" rIns="0" bIns="0" anchor="t">
            <a:noAutofit/>
          </a:bodyPr>
          <a:lstStyle>
            <a:defPPr algn="ctr">
              <a:defRPr lang="en-US" sz="1875" b="0">
                <a:solidFill>
                  <a:srgbClr val="202124"/>
                </a:solidFill>
                <a:latin typeface="Roboto"/>
                <a:ea typeface="Roboto"/>
                <a:cs typeface="Roboto"/>
              </a:defRPr>
            </a:defPPr>
            <a:lvl1pPr algn="ctr">
              <a:defRPr lang="en-US" sz="1875" b="0">
                <a:solidFill>
                  <a:srgbClr val="202124"/>
                </a:solidFill>
                <a:latin typeface="Roboto"/>
                <a:ea typeface="Roboto"/>
                <a:cs typeface="Roboto"/>
              </a:defRPr>
            </a:lvl1pPr>
            <a:lvl2pPr algn="ctr">
              <a:defRPr lang="en-US" sz="1875" b="0">
                <a:solidFill>
                  <a:srgbClr val="202124"/>
                </a:solidFill>
                <a:latin typeface="Roboto"/>
                <a:ea typeface="Roboto"/>
                <a:cs typeface="Roboto"/>
              </a:defRPr>
            </a:lvl2pPr>
            <a:lvl3pPr algn="ctr">
              <a:defRPr lang="en-US" sz="1875" b="0">
                <a:solidFill>
                  <a:srgbClr val="202124"/>
                </a:solidFill>
                <a:latin typeface="Roboto"/>
                <a:ea typeface="Roboto"/>
                <a:cs typeface="Roboto"/>
              </a:defRPr>
            </a:lvl3pPr>
            <a:lvl4pPr algn="ctr">
              <a:defRPr lang="en-US" sz="1875" b="0">
                <a:solidFill>
                  <a:srgbClr val="202124"/>
                </a:solidFill>
                <a:latin typeface="Roboto"/>
                <a:ea typeface="Roboto"/>
                <a:cs typeface="Roboto"/>
              </a:defRPr>
            </a:lvl4pPr>
            <a:lvl5pPr algn="ctr">
              <a:defRPr lang="en-US" sz="1875" b="0">
                <a:solidFill>
                  <a:srgbClr val="202124"/>
                </a:solidFill>
                <a:latin typeface="Roboto"/>
                <a:ea typeface="Roboto"/>
                <a:cs typeface="Roboto"/>
              </a:defRPr>
            </a:lvl5pPr>
            <a:lvl6pPr algn="ctr">
              <a:defRPr lang="en-US" sz="1875" b="0">
                <a:solidFill>
                  <a:srgbClr val="202124"/>
                </a:solidFill>
                <a:latin typeface="Roboto"/>
                <a:ea typeface="Roboto"/>
                <a:cs typeface="Roboto"/>
              </a:defRPr>
            </a:lvl6pPr>
            <a:lvl7pPr algn="ctr">
              <a:defRPr lang="en-US" sz="1875" b="0">
                <a:solidFill>
                  <a:srgbClr val="202124"/>
                </a:solidFill>
                <a:latin typeface="Roboto"/>
                <a:ea typeface="Roboto"/>
                <a:cs typeface="Roboto"/>
              </a:defRPr>
            </a:lvl7pPr>
            <a:lvl8pPr algn="ctr">
              <a:defRPr lang="en-US" sz="1875" b="0">
                <a:solidFill>
                  <a:srgbClr val="202124"/>
                </a:solidFill>
                <a:latin typeface="Roboto"/>
                <a:ea typeface="Roboto"/>
                <a:cs typeface="Roboto"/>
              </a:defRPr>
            </a:lvl8pPr>
            <a:lvl9pPr algn="ctr">
              <a:defRPr lang="en-US" sz="1875" b="0">
                <a:solidFill>
                  <a:srgbClr val="202124"/>
                </a:solidFill>
                <a:latin typeface="Roboto"/>
                <a:ea typeface="Roboto"/>
                <a:cs typeface="Roboto"/>
              </a:defRPr>
            </a:lvl9pPr>
          </a:lstStyle>
          <a:p>
            <a:pPr algn="ctr">
              <a:defRPr lang="en-US" sz="1875" b="0">
                <a:solidFill>
                  <a:srgbClr val="202124"/>
                </a:solidFill>
                <a:latin typeface="Roboto"/>
                <a:ea typeface="Roboto"/>
                <a:cs typeface="Roboto"/>
              </a:defRPr>
            </a:pPr>
            <a:r>
              <a:rPr lang="en-US" sz="1875" b="0">
                <a:solidFill>
                  <a:srgbClr val="202124"/>
                </a:solidFill>
                <a:latin typeface="Roboto"/>
                <a:ea typeface="Roboto"/>
                <a:cs typeface="Roboto"/>
              </a:rPr>
              <a:t>Normal features</a:t>
            </a:r>
          </a:p>
        </p:txBody>
      </p:sp>
      <p:pic>
        <p:nvPicPr>
          <p:cNvPr id="10" name="Immagine 9">
            <a:extLst>
              <a:ext uri="{FF2B5EF4-FFF2-40B4-BE49-F238E27FC236}">
                <a16:creationId xmlns:a16="http://schemas.microsoft.com/office/drawing/2014/main" id="{FCC2432E-1372-4C2C-AF22-C0FA74F449C0}"/>
              </a:ext>
            </a:extLst>
          </p:cNvPr>
          <p:cNvPicPr>
            <a:picLocks noChangeAspect="1"/>
          </p:cNvPicPr>
          <p:nvPr/>
        </p:nvPicPr>
        <p:blipFill>
          <a:blip r:embed="rId5"/>
          <a:stretch/>
        </p:blipFill>
        <p:spPr>
          <a:xfrm>
            <a:off x="6400800" y="1695450"/>
            <a:ext cx="742950" cy="742950"/>
          </a:xfrm>
          <a:prstGeom prst="rect">
            <a:avLst/>
          </a:prstGeom>
        </p:spPr>
      </p:pic>
      <p:sp>
        <p:nvSpPr>
          <p:cNvPr id="11" name="pc-database">
            <a:extLst>
              <a:ext uri="{FF2B5EF4-FFF2-40B4-BE49-F238E27FC236}">
                <a16:creationId xmlns:a16="http://schemas.microsoft.com/office/drawing/2014/main" id="{8472903B-F4CA-4AA7-976F-D4CA05B3249F}"/>
              </a:ext>
            </a:extLst>
          </p:cNvPr>
          <p:cNvSpPr>
            <a:spLocks noGrp="1"/>
          </p:cNvSpPr>
          <p:nvPr/>
        </p:nvSpPr>
        <p:spPr>
          <a:xfrm>
            <a:off x="5791200" y="2705100"/>
            <a:ext cx="2047875" cy="628650"/>
          </a:xfrm>
          <a:prstGeom prst="rect">
            <a:avLst/>
          </a:prstGeom>
          <a:noFill/>
          <a:ln w="0">
            <a:noFill/>
          </a:ln>
        </p:spPr>
        <p:txBody>
          <a:bodyPr wrap="square" lIns="0" tIns="0" rIns="0" bIns="0" anchor="t">
            <a:noAutofit/>
          </a:bodyPr>
          <a:lstStyle>
            <a:defPPr algn="ctr">
              <a:defRPr lang="en-US" sz="1875" b="0">
                <a:solidFill>
                  <a:srgbClr val="202124"/>
                </a:solidFill>
                <a:latin typeface="Roboto"/>
                <a:ea typeface="Roboto"/>
                <a:cs typeface="Roboto"/>
              </a:defRPr>
            </a:defPPr>
            <a:lvl1pPr algn="ctr">
              <a:defRPr lang="en-US" sz="1875" b="0">
                <a:solidFill>
                  <a:srgbClr val="202124"/>
                </a:solidFill>
                <a:latin typeface="Roboto"/>
                <a:ea typeface="Roboto"/>
                <a:cs typeface="Roboto"/>
              </a:defRPr>
            </a:lvl1pPr>
            <a:lvl2pPr algn="ctr">
              <a:defRPr lang="en-US" sz="1875" b="0">
                <a:solidFill>
                  <a:srgbClr val="202124"/>
                </a:solidFill>
                <a:latin typeface="Roboto"/>
                <a:ea typeface="Roboto"/>
                <a:cs typeface="Roboto"/>
              </a:defRPr>
            </a:lvl2pPr>
            <a:lvl3pPr algn="ctr">
              <a:defRPr lang="en-US" sz="1875" b="0">
                <a:solidFill>
                  <a:srgbClr val="202124"/>
                </a:solidFill>
                <a:latin typeface="Roboto"/>
                <a:ea typeface="Roboto"/>
                <a:cs typeface="Roboto"/>
              </a:defRPr>
            </a:lvl3pPr>
            <a:lvl4pPr algn="ctr">
              <a:defRPr lang="en-US" sz="1875" b="0">
                <a:solidFill>
                  <a:srgbClr val="202124"/>
                </a:solidFill>
                <a:latin typeface="Roboto"/>
                <a:ea typeface="Roboto"/>
                <a:cs typeface="Roboto"/>
              </a:defRPr>
            </a:lvl4pPr>
            <a:lvl5pPr algn="ctr">
              <a:defRPr lang="en-US" sz="1875" b="0">
                <a:solidFill>
                  <a:srgbClr val="202124"/>
                </a:solidFill>
                <a:latin typeface="Roboto"/>
                <a:ea typeface="Roboto"/>
                <a:cs typeface="Roboto"/>
              </a:defRPr>
            </a:lvl5pPr>
            <a:lvl6pPr algn="ctr">
              <a:defRPr lang="en-US" sz="1875" b="0">
                <a:solidFill>
                  <a:srgbClr val="202124"/>
                </a:solidFill>
                <a:latin typeface="Roboto"/>
                <a:ea typeface="Roboto"/>
                <a:cs typeface="Roboto"/>
              </a:defRPr>
            </a:lvl6pPr>
            <a:lvl7pPr algn="ctr">
              <a:defRPr lang="en-US" sz="1875" b="0">
                <a:solidFill>
                  <a:srgbClr val="202124"/>
                </a:solidFill>
                <a:latin typeface="Roboto"/>
                <a:ea typeface="Roboto"/>
                <a:cs typeface="Roboto"/>
              </a:defRPr>
            </a:lvl7pPr>
            <a:lvl8pPr algn="ctr">
              <a:defRPr lang="en-US" sz="1875" b="0">
                <a:solidFill>
                  <a:srgbClr val="202124"/>
                </a:solidFill>
                <a:latin typeface="Roboto"/>
                <a:ea typeface="Roboto"/>
                <a:cs typeface="Roboto"/>
              </a:defRPr>
            </a:lvl8pPr>
            <a:lvl9pPr algn="ctr">
              <a:defRPr lang="en-US" sz="1875" b="0">
                <a:solidFill>
                  <a:srgbClr val="202124"/>
                </a:solidFill>
                <a:latin typeface="Roboto"/>
                <a:ea typeface="Roboto"/>
                <a:cs typeface="Roboto"/>
              </a:defRPr>
            </a:lvl9pPr>
          </a:lstStyle>
          <a:p>
            <a:pPr algn="ctr">
              <a:defRPr lang="en-US" sz="1875" b="0">
                <a:solidFill>
                  <a:srgbClr val="202124"/>
                </a:solidFill>
                <a:latin typeface="Roboto"/>
                <a:ea typeface="Roboto"/>
                <a:cs typeface="Roboto"/>
              </a:defRPr>
            </a:pPr>
            <a:r>
              <a:rPr lang="en-US" sz="1875" b="0">
                <a:solidFill>
                  <a:srgbClr val="202124"/>
                </a:solidFill>
                <a:latin typeface="Roboto"/>
                <a:ea typeface="Roboto"/>
                <a:cs typeface="Roboto"/>
              </a:rPr>
              <a:t>Memory bank</a:t>
            </a:r>
          </a:p>
        </p:txBody>
      </p:sp>
      <p:pic>
        <p:nvPicPr>
          <p:cNvPr id="12" name="Immagine 11">
            <a:extLst>
              <a:ext uri="{FF2B5EF4-FFF2-40B4-BE49-F238E27FC236}">
                <a16:creationId xmlns:a16="http://schemas.microsoft.com/office/drawing/2014/main" id="{A12A9C48-73E9-434E-9548-B489B894A6EC}"/>
              </a:ext>
            </a:extLst>
          </p:cNvPr>
          <p:cNvPicPr>
            <a:picLocks noChangeAspect="1"/>
          </p:cNvPicPr>
          <p:nvPr/>
        </p:nvPicPr>
        <p:blipFill>
          <a:blip r:embed="rId6"/>
          <a:stretch/>
        </p:blipFill>
        <p:spPr>
          <a:xfrm>
            <a:off x="8972550" y="1695450"/>
            <a:ext cx="742950" cy="742950"/>
          </a:xfrm>
          <a:prstGeom prst="rect">
            <a:avLst/>
          </a:prstGeom>
        </p:spPr>
      </p:pic>
      <p:sp>
        <p:nvSpPr>
          <p:cNvPr id="13" name="pc-search">
            <a:extLst>
              <a:ext uri="{FF2B5EF4-FFF2-40B4-BE49-F238E27FC236}">
                <a16:creationId xmlns:a16="http://schemas.microsoft.com/office/drawing/2014/main" id="{8D2C7F6A-E6FB-458C-8850-6B14F69D9CAE}"/>
              </a:ext>
            </a:extLst>
          </p:cNvPr>
          <p:cNvSpPr>
            <a:spLocks noGrp="1"/>
          </p:cNvSpPr>
          <p:nvPr/>
        </p:nvSpPr>
        <p:spPr>
          <a:xfrm>
            <a:off x="8362950" y="2705100"/>
            <a:ext cx="2047875" cy="628650"/>
          </a:xfrm>
          <a:prstGeom prst="rect">
            <a:avLst/>
          </a:prstGeom>
          <a:noFill/>
          <a:ln w="0">
            <a:noFill/>
          </a:ln>
        </p:spPr>
        <p:txBody>
          <a:bodyPr wrap="square" lIns="0" tIns="0" rIns="0" bIns="0" anchor="t">
            <a:noAutofit/>
          </a:bodyPr>
          <a:lstStyle>
            <a:defPPr algn="ctr">
              <a:defRPr lang="en-US" sz="1875" b="0">
                <a:solidFill>
                  <a:srgbClr val="202124"/>
                </a:solidFill>
                <a:latin typeface="Roboto"/>
                <a:ea typeface="Roboto"/>
                <a:cs typeface="Roboto"/>
              </a:defRPr>
            </a:defPPr>
            <a:lvl1pPr algn="ctr">
              <a:defRPr lang="en-US" sz="1875" b="0">
                <a:solidFill>
                  <a:srgbClr val="202124"/>
                </a:solidFill>
                <a:latin typeface="Roboto"/>
                <a:ea typeface="Roboto"/>
                <a:cs typeface="Roboto"/>
              </a:defRPr>
            </a:lvl1pPr>
            <a:lvl2pPr algn="ctr">
              <a:defRPr lang="en-US" sz="1875" b="0">
                <a:solidFill>
                  <a:srgbClr val="202124"/>
                </a:solidFill>
                <a:latin typeface="Roboto"/>
                <a:ea typeface="Roboto"/>
                <a:cs typeface="Roboto"/>
              </a:defRPr>
            </a:lvl2pPr>
            <a:lvl3pPr algn="ctr">
              <a:defRPr lang="en-US" sz="1875" b="0">
                <a:solidFill>
                  <a:srgbClr val="202124"/>
                </a:solidFill>
                <a:latin typeface="Roboto"/>
                <a:ea typeface="Roboto"/>
                <a:cs typeface="Roboto"/>
              </a:defRPr>
            </a:lvl3pPr>
            <a:lvl4pPr algn="ctr">
              <a:defRPr lang="en-US" sz="1875" b="0">
                <a:solidFill>
                  <a:srgbClr val="202124"/>
                </a:solidFill>
                <a:latin typeface="Roboto"/>
                <a:ea typeface="Roboto"/>
                <a:cs typeface="Roboto"/>
              </a:defRPr>
            </a:lvl4pPr>
            <a:lvl5pPr algn="ctr">
              <a:defRPr lang="en-US" sz="1875" b="0">
                <a:solidFill>
                  <a:srgbClr val="202124"/>
                </a:solidFill>
                <a:latin typeface="Roboto"/>
                <a:ea typeface="Roboto"/>
                <a:cs typeface="Roboto"/>
              </a:defRPr>
            </a:lvl5pPr>
            <a:lvl6pPr algn="ctr">
              <a:defRPr lang="en-US" sz="1875" b="0">
                <a:solidFill>
                  <a:srgbClr val="202124"/>
                </a:solidFill>
                <a:latin typeface="Roboto"/>
                <a:ea typeface="Roboto"/>
                <a:cs typeface="Roboto"/>
              </a:defRPr>
            </a:lvl6pPr>
            <a:lvl7pPr algn="ctr">
              <a:defRPr lang="en-US" sz="1875" b="0">
                <a:solidFill>
                  <a:srgbClr val="202124"/>
                </a:solidFill>
                <a:latin typeface="Roboto"/>
                <a:ea typeface="Roboto"/>
                <a:cs typeface="Roboto"/>
              </a:defRPr>
            </a:lvl7pPr>
            <a:lvl8pPr algn="ctr">
              <a:defRPr lang="en-US" sz="1875" b="0">
                <a:solidFill>
                  <a:srgbClr val="202124"/>
                </a:solidFill>
                <a:latin typeface="Roboto"/>
                <a:ea typeface="Roboto"/>
                <a:cs typeface="Roboto"/>
              </a:defRPr>
            </a:lvl8pPr>
            <a:lvl9pPr algn="ctr">
              <a:defRPr lang="en-US" sz="1875" b="0">
                <a:solidFill>
                  <a:srgbClr val="202124"/>
                </a:solidFill>
                <a:latin typeface="Roboto"/>
                <a:ea typeface="Roboto"/>
                <a:cs typeface="Roboto"/>
              </a:defRPr>
            </a:lvl9pPr>
          </a:lstStyle>
          <a:p>
            <a:pPr algn="ctr">
              <a:defRPr lang="en-US" sz="1875" b="0">
                <a:solidFill>
                  <a:srgbClr val="202124"/>
                </a:solidFill>
                <a:latin typeface="Roboto"/>
                <a:ea typeface="Roboto"/>
                <a:cs typeface="Roboto"/>
              </a:defRPr>
            </a:pPr>
            <a:r>
              <a:rPr lang="en-US" sz="1875" b="0">
                <a:solidFill>
                  <a:srgbClr val="202124"/>
                </a:solidFill>
                <a:latin typeface="Roboto"/>
                <a:ea typeface="Roboto"/>
                <a:cs typeface="Roboto"/>
              </a:rPr>
              <a:t>Feature distance</a:t>
            </a:r>
          </a:p>
        </p:txBody>
      </p:sp>
      <p:sp>
        <p:nvSpPr>
          <p:cNvPr id="14" name="ead">
            <a:extLst>
              <a:ext uri="{FF2B5EF4-FFF2-40B4-BE49-F238E27FC236}">
                <a16:creationId xmlns:a16="http://schemas.microsoft.com/office/drawing/2014/main" id="{96E8E49B-56E0-4546-A6BC-4C5E4A163225}"/>
              </a:ext>
            </a:extLst>
          </p:cNvPr>
          <p:cNvSpPr>
            <a:spLocks noGrp="1"/>
          </p:cNvSpPr>
          <p:nvPr/>
        </p:nvSpPr>
        <p:spPr>
          <a:xfrm>
            <a:off x="762000" y="4095750"/>
            <a:ext cx="2857500" cy="581025"/>
          </a:xfrm>
          <a:prstGeom prst="rect">
            <a:avLst/>
          </a:prstGeom>
          <a:noFill/>
          <a:ln w="0">
            <a:noFill/>
          </a:ln>
        </p:spPr>
        <p:txBody>
          <a:bodyPr wrap="square" lIns="0" tIns="0" rIns="0" bIns="0" anchor="t">
            <a:noAutofit/>
          </a:bodyPr>
          <a:lstStyle>
            <a:defPPr algn="l">
              <a:defRPr lang="en-US" sz="2700" b="1">
                <a:solidFill>
                  <a:srgbClr val="822433"/>
                </a:solidFill>
                <a:latin typeface="Roboto"/>
                <a:ea typeface="Roboto"/>
                <a:cs typeface="Roboto"/>
              </a:defRPr>
            </a:defPPr>
            <a:lvl1pPr algn="l">
              <a:defRPr lang="en-US" sz="2700" b="1">
                <a:solidFill>
                  <a:srgbClr val="822433"/>
                </a:solidFill>
                <a:latin typeface="Roboto"/>
                <a:ea typeface="Roboto"/>
                <a:cs typeface="Roboto"/>
              </a:defRPr>
            </a:lvl1pPr>
            <a:lvl2pPr algn="l">
              <a:defRPr lang="en-US" sz="2700" b="1">
                <a:solidFill>
                  <a:srgbClr val="822433"/>
                </a:solidFill>
                <a:latin typeface="Roboto"/>
                <a:ea typeface="Roboto"/>
                <a:cs typeface="Roboto"/>
              </a:defRPr>
            </a:lvl2pPr>
            <a:lvl3pPr algn="l">
              <a:defRPr lang="en-US" sz="2700" b="1">
                <a:solidFill>
                  <a:srgbClr val="822433"/>
                </a:solidFill>
                <a:latin typeface="Roboto"/>
                <a:ea typeface="Roboto"/>
                <a:cs typeface="Roboto"/>
              </a:defRPr>
            </a:lvl3pPr>
            <a:lvl4pPr algn="l">
              <a:defRPr lang="en-US" sz="2700" b="1">
                <a:solidFill>
                  <a:srgbClr val="822433"/>
                </a:solidFill>
                <a:latin typeface="Roboto"/>
                <a:ea typeface="Roboto"/>
                <a:cs typeface="Roboto"/>
              </a:defRPr>
            </a:lvl4pPr>
            <a:lvl5pPr algn="l">
              <a:defRPr lang="en-US" sz="2700" b="1">
                <a:solidFill>
                  <a:srgbClr val="822433"/>
                </a:solidFill>
                <a:latin typeface="Roboto"/>
                <a:ea typeface="Roboto"/>
                <a:cs typeface="Roboto"/>
              </a:defRPr>
            </a:lvl5pPr>
            <a:lvl6pPr algn="l">
              <a:defRPr lang="en-US" sz="2700" b="1">
                <a:solidFill>
                  <a:srgbClr val="822433"/>
                </a:solidFill>
                <a:latin typeface="Roboto"/>
                <a:ea typeface="Roboto"/>
                <a:cs typeface="Roboto"/>
              </a:defRPr>
            </a:lvl6pPr>
            <a:lvl7pPr algn="l">
              <a:defRPr lang="en-US" sz="2700" b="1">
                <a:solidFill>
                  <a:srgbClr val="822433"/>
                </a:solidFill>
                <a:latin typeface="Roboto"/>
                <a:ea typeface="Roboto"/>
                <a:cs typeface="Roboto"/>
              </a:defRPr>
            </a:lvl7pPr>
            <a:lvl8pPr algn="l">
              <a:defRPr lang="en-US" sz="2700" b="1">
                <a:solidFill>
                  <a:srgbClr val="822433"/>
                </a:solidFill>
                <a:latin typeface="Roboto"/>
                <a:ea typeface="Roboto"/>
                <a:cs typeface="Roboto"/>
              </a:defRPr>
            </a:lvl8pPr>
            <a:lvl9pPr algn="l">
              <a:defRPr lang="en-US" sz="2700" b="1">
                <a:solidFill>
                  <a:srgbClr val="822433"/>
                </a:solidFill>
                <a:latin typeface="Roboto"/>
                <a:ea typeface="Roboto"/>
                <a:cs typeface="Roboto"/>
              </a:defRPr>
            </a:lvl9pPr>
          </a:lstStyle>
          <a:p>
            <a:pPr algn="l">
              <a:defRPr lang="en-US" sz="2700" b="1">
                <a:solidFill>
                  <a:srgbClr val="822433"/>
                </a:solidFill>
                <a:latin typeface="Roboto"/>
                <a:ea typeface="Roboto"/>
                <a:cs typeface="Roboto"/>
              </a:defRPr>
            </a:pPr>
            <a:r>
              <a:rPr lang="en-US" sz="2700" b="1">
                <a:solidFill>
                  <a:srgbClr val="822433"/>
                </a:solidFill>
                <a:latin typeface="Roboto"/>
                <a:ea typeface="Roboto"/>
                <a:cs typeface="Roboto"/>
              </a:rPr>
              <a:t>EfficientAD-S</a:t>
            </a:r>
          </a:p>
        </p:txBody>
      </p:sp>
      <p:pic>
        <p:nvPicPr>
          <p:cNvPr id="15" name="Immagine 14">
            <a:extLst>
              <a:ext uri="{FF2B5EF4-FFF2-40B4-BE49-F238E27FC236}">
                <a16:creationId xmlns:a16="http://schemas.microsoft.com/office/drawing/2014/main" id="{AE6AF282-9DA8-406D-AE60-2845715D0CC0}"/>
              </a:ext>
            </a:extLst>
          </p:cNvPr>
          <p:cNvPicPr>
            <a:picLocks noChangeAspect="1"/>
          </p:cNvPicPr>
          <p:nvPr/>
        </p:nvPicPr>
        <p:blipFill>
          <a:blip r:embed="rId7"/>
          <a:stretch/>
        </p:blipFill>
        <p:spPr>
          <a:xfrm>
            <a:off x="4762500" y="3876675"/>
            <a:ext cx="809625" cy="809625"/>
          </a:xfrm>
          <a:prstGeom prst="rect">
            <a:avLst/>
          </a:prstGeom>
        </p:spPr>
      </p:pic>
      <p:pic>
        <p:nvPicPr>
          <p:cNvPr id="16" name="Immagine 15">
            <a:extLst>
              <a:ext uri="{FF2B5EF4-FFF2-40B4-BE49-F238E27FC236}">
                <a16:creationId xmlns:a16="http://schemas.microsoft.com/office/drawing/2014/main" id="{5B0EDAF7-FAE3-4D2E-BB36-5EAD502FF4A1}"/>
              </a:ext>
            </a:extLst>
          </p:cNvPr>
          <p:cNvPicPr>
            <a:picLocks noChangeAspect="1"/>
          </p:cNvPicPr>
          <p:nvPr/>
        </p:nvPicPr>
        <p:blipFill>
          <a:blip r:embed="rId8"/>
          <a:stretch/>
        </p:blipFill>
        <p:spPr>
          <a:xfrm>
            <a:off x="7905750" y="3876675"/>
            <a:ext cx="809625" cy="809625"/>
          </a:xfrm>
          <a:prstGeom prst="rect">
            <a:avLst/>
          </a:prstGeom>
        </p:spPr>
      </p:pic>
      <p:sp>
        <p:nvSpPr>
          <p:cNvPr id="17" name="teacher">
            <a:extLst>
              <a:ext uri="{FF2B5EF4-FFF2-40B4-BE49-F238E27FC236}">
                <a16:creationId xmlns:a16="http://schemas.microsoft.com/office/drawing/2014/main" id="{837CE9E0-AAAE-4987-BC1F-F5A5046A63FE}"/>
              </a:ext>
            </a:extLst>
          </p:cNvPr>
          <p:cNvSpPr>
            <a:spLocks noGrp="1"/>
          </p:cNvSpPr>
          <p:nvPr/>
        </p:nvSpPr>
        <p:spPr>
          <a:xfrm>
            <a:off x="4219575" y="4886325"/>
            <a:ext cx="1905000" cy="381000"/>
          </a:xfrm>
          <a:prstGeom prst="rect">
            <a:avLst/>
          </a:prstGeom>
          <a:noFill/>
          <a:ln w="0">
            <a:noFill/>
          </a:ln>
        </p:spPr>
        <p:txBody>
          <a:bodyPr wrap="square" lIns="0" tIns="0" rIns="0" bIns="0" anchor="t">
            <a:noAutofit/>
          </a:bodyPr>
          <a:lstStyle>
            <a:defPPr algn="ctr">
              <a:defRPr lang="en-US" sz="2025" b="1">
                <a:solidFill>
                  <a:srgbClr val="202124"/>
                </a:solidFill>
                <a:latin typeface="Roboto"/>
                <a:ea typeface="Roboto"/>
                <a:cs typeface="Roboto"/>
              </a:defRPr>
            </a:defPPr>
            <a:lvl1pPr algn="ctr">
              <a:defRPr lang="en-US" sz="2025" b="1">
                <a:solidFill>
                  <a:srgbClr val="202124"/>
                </a:solidFill>
                <a:latin typeface="Roboto"/>
                <a:ea typeface="Roboto"/>
                <a:cs typeface="Roboto"/>
              </a:defRPr>
            </a:lvl1pPr>
            <a:lvl2pPr algn="ctr">
              <a:defRPr lang="en-US" sz="2025" b="1">
                <a:solidFill>
                  <a:srgbClr val="202124"/>
                </a:solidFill>
                <a:latin typeface="Roboto"/>
                <a:ea typeface="Roboto"/>
                <a:cs typeface="Roboto"/>
              </a:defRPr>
            </a:lvl2pPr>
            <a:lvl3pPr algn="ctr">
              <a:defRPr lang="en-US" sz="2025" b="1">
                <a:solidFill>
                  <a:srgbClr val="202124"/>
                </a:solidFill>
                <a:latin typeface="Roboto"/>
                <a:ea typeface="Roboto"/>
                <a:cs typeface="Roboto"/>
              </a:defRPr>
            </a:lvl3pPr>
            <a:lvl4pPr algn="ctr">
              <a:defRPr lang="en-US" sz="2025" b="1">
                <a:solidFill>
                  <a:srgbClr val="202124"/>
                </a:solidFill>
                <a:latin typeface="Roboto"/>
                <a:ea typeface="Roboto"/>
                <a:cs typeface="Roboto"/>
              </a:defRPr>
            </a:lvl4pPr>
            <a:lvl5pPr algn="ctr">
              <a:defRPr lang="en-US" sz="2025" b="1">
                <a:solidFill>
                  <a:srgbClr val="202124"/>
                </a:solidFill>
                <a:latin typeface="Roboto"/>
                <a:ea typeface="Roboto"/>
                <a:cs typeface="Roboto"/>
              </a:defRPr>
            </a:lvl5pPr>
            <a:lvl6pPr algn="ctr">
              <a:defRPr lang="en-US" sz="2025" b="1">
                <a:solidFill>
                  <a:srgbClr val="202124"/>
                </a:solidFill>
                <a:latin typeface="Roboto"/>
                <a:ea typeface="Roboto"/>
                <a:cs typeface="Roboto"/>
              </a:defRPr>
            </a:lvl6pPr>
            <a:lvl7pPr algn="ctr">
              <a:defRPr lang="en-US" sz="2025" b="1">
                <a:solidFill>
                  <a:srgbClr val="202124"/>
                </a:solidFill>
                <a:latin typeface="Roboto"/>
                <a:ea typeface="Roboto"/>
                <a:cs typeface="Roboto"/>
              </a:defRPr>
            </a:lvl7pPr>
            <a:lvl8pPr algn="ctr">
              <a:defRPr lang="en-US" sz="2025" b="1">
                <a:solidFill>
                  <a:srgbClr val="202124"/>
                </a:solidFill>
                <a:latin typeface="Roboto"/>
                <a:ea typeface="Roboto"/>
                <a:cs typeface="Roboto"/>
              </a:defRPr>
            </a:lvl8pPr>
            <a:lvl9pPr algn="ctr">
              <a:defRPr lang="en-US" sz="2025" b="1">
                <a:solidFill>
                  <a:srgbClr val="202124"/>
                </a:solidFill>
                <a:latin typeface="Roboto"/>
                <a:ea typeface="Roboto"/>
                <a:cs typeface="Roboto"/>
              </a:defRPr>
            </a:lvl9pPr>
          </a:lstStyle>
          <a:p>
            <a:pPr algn="ctr">
              <a:defRPr lang="en-US" sz="2025" b="1">
                <a:solidFill>
                  <a:srgbClr val="202124"/>
                </a:solidFill>
                <a:latin typeface="Roboto"/>
                <a:ea typeface="Roboto"/>
                <a:cs typeface="Roboto"/>
              </a:defRPr>
            </a:pPr>
            <a:r>
              <a:rPr lang="en-US" sz="2025" b="1">
                <a:solidFill>
                  <a:srgbClr val="202124"/>
                </a:solidFill>
                <a:latin typeface="Roboto"/>
                <a:ea typeface="Roboto"/>
                <a:cs typeface="Roboto"/>
              </a:rPr>
              <a:t>Teacher</a:t>
            </a:r>
          </a:p>
        </p:txBody>
      </p:sp>
      <p:sp>
        <p:nvSpPr>
          <p:cNvPr id="18" name="student">
            <a:extLst>
              <a:ext uri="{FF2B5EF4-FFF2-40B4-BE49-F238E27FC236}">
                <a16:creationId xmlns:a16="http://schemas.microsoft.com/office/drawing/2014/main" id="{B69BEDA3-D615-4BAB-B694-A3A47551BB0D}"/>
              </a:ext>
            </a:extLst>
          </p:cNvPr>
          <p:cNvSpPr>
            <a:spLocks noGrp="1"/>
          </p:cNvSpPr>
          <p:nvPr/>
        </p:nvSpPr>
        <p:spPr>
          <a:xfrm>
            <a:off x="7362825" y="4886325"/>
            <a:ext cx="1905000" cy="381000"/>
          </a:xfrm>
          <a:prstGeom prst="rect">
            <a:avLst/>
          </a:prstGeom>
          <a:noFill/>
          <a:ln w="0">
            <a:noFill/>
          </a:ln>
        </p:spPr>
        <p:txBody>
          <a:bodyPr wrap="square" lIns="0" tIns="0" rIns="0" bIns="0" anchor="t">
            <a:noAutofit/>
          </a:bodyPr>
          <a:lstStyle>
            <a:defPPr algn="ctr">
              <a:defRPr lang="en-US" sz="2025" b="1">
                <a:solidFill>
                  <a:srgbClr val="202124"/>
                </a:solidFill>
                <a:latin typeface="Roboto"/>
                <a:ea typeface="Roboto"/>
                <a:cs typeface="Roboto"/>
              </a:defRPr>
            </a:defPPr>
            <a:lvl1pPr algn="ctr">
              <a:defRPr lang="en-US" sz="2025" b="1">
                <a:solidFill>
                  <a:srgbClr val="202124"/>
                </a:solidFill>
                <a:latin typeface="Roboto"/>
                <a:ea typeface="Roboto"/>
                <a:cs typeface="Roboto"/>
              </a:defRPr>
            </a:lvl1pPr>
            <a:lvl2pPr algn="ctr">
              <a:defRPr lang="en-US" sz="2025" b="1">
                <a:solidFill>
                  <a:srgbClr val="202124"/>
                </a:solidFill>
                <a:latin typeface="Roboto"/>
                <a:ea typeface="Roboto"/>
                <a:cs typeface="Roboto"/>
              </a:defRPr>
            </a:lvl2pPr>
            <a:lvl3pPr algn="ctr">
              <a:defRPr lang="en-US" sz="2025" b="1">
                <a:solidFill>
                  <a:srgbClr val="202124"/>
                </a:solidFill>
                <a:latin typeface="Roboto"/>
                <a:ea typeface="Roboto"/>
                <a:cs typeface="Roboto"/>
              </a:defRPr>
            </a:lvl3pPr>
            <a:lvl4pPr algn="ctr">
              <a:defRPr lang="en-US" sz="2025" b="1">
                <a:solidFill>
                  <a:srgbClr val="202124"/>
                </a:solidFill>
                <a:latin typeface="Roboto"/>
                <a:ea typeface="Roboto"/>
                <a:cs typeface="Roboto"/>
              </a:defRPr>
            </a:lvl4pPr>
            <a:lvl5pPr algn="ctr">
              <a:defRPr lang="en-US" sz="2025" b="1">
                <a:solidFill>
                  <a:srgbClr val="202124"/>
                </a:solidFill>
                <a:latin typeface="Roboto"/>
                <a:ea typeface="Roboto"/>
                <a:cs typeface="Roboto"/>
              </a:defRPr>
            </a:lvl5pPr>
            <a:lvl6pPr algn="ctr">
              <a:defRPr lang="en-US" sz="2025" b="1">
                <a:solidFill>
                  <a:srgbClr val="202124"/>
                </a:solidFill>
                <a:latin typeface="Roboto"/>
                <a:ea typeface="Roboto"/>
                <a:cs typeface="Roboto"/>
              </a:defRPr>
            </a:lvl6pPr>
            <a:lvl7pPr algn="ctr">
              <a:defRPr lang="en-US" sz="2025" b="1">
                <a:solidFill>
                  <a:srgbClr val="202124"/>
                </a:solidFill>
                <a:latin typeface="Roboto"/>
                <a:ea typeface="Roboto"/>
                <a:cs typeface="Roboto"/>
              </a:defRPr>
            </a:lvl7pPr>
            <a:lvl8pPr algn="ctr">
              <a:defRPr lang="en-US" sz="2025" b="1">
                <a:solidFill>
                  <a:srgbClr val="202124"/>
                </a:solidFill>
                <a:latin typeface="Roboto"/>
                <a:ea typeface="Roboto"/>
                <a:cs typeface="Roboto"/>
              </a:defRPr>
            </a:lvl8pPr>
            <a:lvl9pPr algn="ctr">
              <a:defRPr lang="en-US" sz="2025" b="1">
                <a:solidFill>
                  <a:srgbClr val="202124"/>
                </a:solidFill>
                <a:latin typeface="Roboto"/>
                <a:ea typeface="Roboto"/>
                <a:cs typeface="Roboto"/>
              </a:defRPr>
            </a:lvl9pPr>
          </a:lstStyle>
          <a:p>
            <a:pPr algn="ctr">
              <a:defRPr lang="en-US" sz="2025" b="1">
                <a:solidFill>
                  <a:srgbClr val="202124"/>
                </a:solidFill>
                <a:latin typeface="Roboto"/>
                <a:ea typeface="Roboto"/>
                <a:cs typeface="Roboto"/>
              </a:defRPr>
            </a:pPr>
            <a:r>
              <a:rPr lang="en-US" sz="2025" b="1">
                <a:solidFill>
                  <a:srgbClr val="202124"/>
                </a:solidFill>
                <a:latin typeface="Roboto"/>
                <a:ea typeface="Roboto"/>
                <a:cs typeface="Roboto"/>
              </a:rPr>
              <a:t>Student</a:t>
            </a:r>
          </a:p>
        </p:txBody>
      </p:sp>
      <p:sp>
        <p:nvSpPr>
          <p:cNvPr id="19" name="feature-matching">
            <a:extLst>
              <a:ext uri="{FF2B5EF4-FFF2-40B4-BE49-F238E27FC236}">
                <a16:creationId xmlns:a16="http://schemas.microsoft.com/office/drawing/2014/main" id="{52A7FD9C-AFE1-4242-87B2-3C6291C64E96}"/>
              </a:ext>
            </a:extLst>
          </p:cNvPr>
          <p:cNvSpPr>
            <a:spLocks noGrp="1"/>
          </p:cNvSpPr>
          <p:nvPr/>
        </p:nvSpPr>
        <p:spPr>
          <a:xfrm>
            <a:off x="3619500" y="5581650"/>
            <a:ext cx="7620000" cy="409575"/>
          </a:xfrm>
          <a:prstGeom prst="rect">
            <a:avLst/>
          </a:prstGeom>
          <a:noFill/>
          <a:ln w="0">
            <a:noFill/>
          </a:ln>
        </p:spPr>
        <p:txBody>
          <a:bodyPr wrap="square" lIns="0" tIns="0" rIns="0" bIns="0" anchor="t">
            <a:noAutofit/>
          </a:bodyPr>
          <a:lstStyle>
            <a:defPPr algn="ctr">
              <a:defRPr lang="en-US" sz="2025" b="0">
                <a:solidFill>
                  <a:srgbClr val="656B73"/>
                </a:solidFill>
                <a:latin typeface="Roboto"/>
                <a:ea typeface="Roboto"/>
                <a:cs typeface="Roboto"/>
              </a:defRPr>
            </a:defPPr>
            <a:lvl1pPr algn="ctr">
              <a:defRPr lang="en-US" sz="2025" b="0">
                <a:solidFill>
                  <a:srgbClr val="656B73"/>
                </a:solidFill>
                <a:latin typeface="Roboto"/>
                <a:ea typeface="Roboto"/>
                <a:cs typeface="Roboto"/>
              </a:defRPr>
            </a:lvl1pPr>
            <a:lvl2pPr algn="ctr">
              <a:defRPr lang="en-US" sz="2025" b="0">
                <a:solidFill>
                  <a:srgbClr val="656B73"/>
                </a:solidFill>
                <a:latin typeface="Roboto"/>
                <a:ea typeface="Roboto"/>
                <a:cs typeface="Roboto"/>
              </a:defRPr>
            </a:lvl2pPr>
            <a:lvl3pPr algn="ctr">
              <a:defRPr lang="en-US" sz="2025" b="0">
                <a:solidFill>
                  <a:srgbClr val="656B73"/>
                </a:solidFill>
                <a:latin typeface="Roboto"/>
                <a:ea typeface="Roboto"/>
                <a:cs typeface="Roboto"/>
              </a:defRPr>
            </a:lvl3pPr>
            <a:lvl4pPr algn="ctr">
              <a:defRPr lang="en-US" sz="2025" b="0">
                <a:solidFill>
                  <a:srgbClr val="656B73"/>
                </a:solidFill>
                <a:latin typeface="Roboto"/>
                <a:ea typeface="Roboto"/>
                <a:cs typeface="Roboto"/>
              </a:defRPr>
            </a:lvl4pPr>
            <a:lvl5pPr algn="ctr">
              <a:defRPr lang="en-US" sz="2025" b="0">
                <a:solidFill>
                  <a:srgbClr val="656B73"/>
                </a:solidFill>
                <a:latin typeface="Roboto"/>
                <a:ea typeface="Roboto"/>
                <a:cs typeface="Roboto"/>
              </a:defRPr>
            </a:lvl5pPr>
            <a:lvl6pPr algn="ctr">
              <a:defRPr lang="en-US" sz="2025" b="0">
                <a:solidFill>
                  <a:srgbClr val="656B73"/>
                </a:solidFill>
                <a:latin typeface="Roboto"/>
                <a:ea typeface="Roboto"/>
                <a:cs typeface="Roboto"/>
              </a:defRPr>
            </a:lvl6pPr>
            <a:lvl7pPr algn="ctr">
              <a:defRPr lang="en-US" sz="2025" b="0">
                <a:solidFill>
                  <a:srgbClr val="656B73"/>
                </a:solidFill>
                <a:latin typeface="Roboto"/>
                <a:ea typeface="Roboto"/>
                <a:cs typeface="Roboto"/>
              </a:defRPr>
            </a:lvl7pPr>
            <a:lvl8pPr algn="ctr">
              <a:defRPr lang="en-US" sz="2025" b="0">
                <a:solidFill>
                  <a:srgbClr val="656B73"/>
                </a:solidFill>
                <a:latin typeface="Roboto"/>
                <a:ea typeface="Roboto"/>
                <a:cs typeface="Roboto"/>
              </a:defRPr>
            </a:lvl8pPr>
            <a:lvl9pPr algn="ctr">
              <a:defRPr lang="en-US" sz="2025" b="0">
                <a:solidFill>
                  <a:srgbClr val="656B73"/>
                </a:solidFill>
                <a:latin typeface="Roboto"/>
                <a:ea typeface="Roboto"/>
                <a:cs typeface="Roboto"/>
              </a:defRPr>
            </a:lvl9pPr>
          </a:lstStyle>
          <a:p>
            <a:pPr algn="ctr">
              <a:defRPr lang="en-US" sz="2025" b="0">
                <a:solidFill>
                  <a:srgbClr val="656B73"/>
                </a:solidFill>
                <a:latin typeface="Roboto"/>
                <a:ea typeface="Roboto"/>
                <a:cs typeface="Roboto"/>
              </a:defRPr>
            </a:pPr>
            <a:r>
              <a:rPr lang="en-US" sz="2025" b="0">
                <a:solidFill>
                  <a:srgbClr val="656B73"/>
                </a:solidFill>
                <a:latin typeface="Roboto"/>
                <a:ea typeface="Roboto"/>
                <a:cs typeface="Roboto"/>
              </a:rPr>
              <a:t>Anomaly evidence from feature disagreement</a:t>
            </a:r>
          </a:p>
        </p:txBody>
      </p:sp>
    </p:spTree>
    <p:extLst>
      <p:ext uri="{BB962C8B-B14F-4D97-AF65-F5344CB8AC3E}">
        <p14:creationId xmlns:p14="http://schemas.microsoft.com/office/powerpoint/2010/main" val="222343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3882E950-121F-42B3-9A97-E716F6DE4179}"/>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Synthetic perturbations support training</a:t>
            </a:r>
          </a:p>
        </p:txBody>
      </p:sp>
      <p:pic>
        <p:nvPicPr>
          <p:cNvPr id="2" name="Immagine 1">
            <a:extLst>
              <a:ext uri="{FF2B5EF4-FFF2-40B4-BE49-F238E27FC236}">
                <a16:creationId xmlns:a16="http://schemas.microsoft.com/office/drawing/2014/main" id="{97CB1058-5AAA-4EE3-BD2B-4978E3D95901}"/>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9BBC2D12-1390-4A57-827C-879EC98D6FD2}"/>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981C1874-F4ED-4DCE-8086-3A04D8356E36}"/>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A44DDE30-B042-4FC5-B8B5-1EE46A123DB5}"/>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16 / 33</a:t>
            </a:r>
          </a:p>
        </p:txBody>
      </p:sp>
      <p:sp>
        <p:nvSpPr>
          <p:cNvPr id="6" name="source-citations">
            <a:extLst>
              <a:ext uri="{FF2B5EF4-FFF2-40B4-BE49-F238E27FC236}">
                <a16:creationId xmlns:a16="http://schemas.microsoft.com/office/drawing/2014/main" id="{A41E48E7-DBC7-44FA-AAB1-222556FB480A}"/>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[18] [19] [20]</a:t>
            </a:r>
          </a:p>
        </p:txBody>
      </p:sp>
      <p:sp>
        <p:nvSpPr>
          <p:cNvPr id="7" name="ssn">
            <a:extLst>
              <a:ext uri="{FF2B5EF4-FFF2-40B4-BE49-F238E27FC236}">
                <a16:creationId xmlns:a16="http://schemas.microsoft.com/office/drawing/2014/main" id="{8DB27289-4CC0-429A-8959-E7B0679F2038}"/>
              </a:ext>
            </a:extLst>
          </p:cNvPr>
          <p:cNvSpPr>
            <a:spLocks noGrp="1"/>
          </p:cNvSpPr>
          <p:nvPr/>
        </p:nvSpPr>
        <p:spPr>
          <a:xfrm>
            <a:off x="1047750" y="1647825"/>
            <a:ext cx="4524375" cy="561975"/>
          </a:xfrm>
          <a:prstGeom prst="rect">
            <a:avLst/>
          </a:prstGeom>
          <a:noFill/>
          <a:ln w="0">
            <a:noFill/>
          </a:ln>
        </p:spPr>
        <p:txBody>
          <a:bodyPr wrap="square" lIns="0" tIns="0" rIns="0" bIns="0" anchor="t">
            <a:noAutofit/>
          </a:bodyPr>
          <a:lstStyle>
            <a:defPPr algn="ctr">
              <a:defRPr lang="en-US" sz="2700" b="1">
                <a:solidFill>
                  <a:srgbClr val="822433"/>
                </a:solidFill>
                <a:latin typeface="Roboto"/>
                <a:ea typeface="Roboto"/>
                <a:cs typeface="Roboto"/>
              </a:defRPr>
            </a:defPPr>
            <a:lvl1pPr algn="ctr">
              <a:defRPr lang="en-US" sz="2700" b="1">
                <a:solidFill>
                  <a:srgbClr val="822433"/>
                </a:solidFill>
                <a:latin typeface="Roboto"/>
                <a:ea typeface="Roboto"/>
                <a:cs typeface="Roboto"/>
              </a:defRPr>
            </a:lvl1pPr>
            <a:lvl2pPr algn="ctr">
              <a:defRPr lang="en-US" sz="2700" b="1">
                <a:solidFill>
                  <a:srgbClr val="822433"/>
                </a:solidFill>
                <a:latin typeface="Roboto"/>
                <a:ea typeface="Roboto"/>
                <a:cs typeface="Roboto"/>
              </a:defRPr>
            </a:lvl2pPr>
            <a:lvl3pPr algn="ctr">
              <a:defRPr lang="en-US" sz="2700" b="1">
                <a:solidFill>
                  <a:srgbClr val="822433"/>
                </a:solidFill>
                <a:latin typeface="Roboto"/>
                <a:ea typeface="Roboto"/>
                <a:cs typeface="Roboto"/>
              </a:defRPr>
            </a:lvl3pPr>
            <a:lvl4pPr algn="ctr">
              <a:defRPr lang="en-US" sz="2700" b="1">
                <a:solidFill>
                  <a:srgbClr val="822433"/>
                </a:solidFill>
                <a:latin typeface="Roboto"/>
                <a:ea typeface="Roboto"/>
                <a:cs typeface="Roboto"/>
              </a:defRPr>
            </a:lvl4pPr>
            <a:lvl5pPr algn="ctr">
              <a:defRPr lang="en-US" sz="2700" b="1">
                <a:solidFill>
                  <a:srgbClr val="822433"/>
                </a:solidFill>
                <a:latin typeface="Roboto"/>
                <a:ea typeface="Roboto"/>
                <a:cs typeface="Roboto"/>
              </a:defRPr>
            </a:lvl5pPr>
            <a:lvl6pPr algn="ctr">
              <a:defRPr lang="en-US" sz="2700" b="1">
                <a:solidFill>
                  <a:srgbClr val="822433"/>
                </a:solidFill>
                <a:latin typeface="Roboto"/>
                <a:ea typeface="Roboto"/>
                <a:cs typeface="Roboto"/>
              </a:defRPr>
            </a:lvl6pPr>
            <a:lvl7pPr algn="ctr">
              <a:defRPr lang="en-US" sz="2700" b="1">
                <a:solidFill>
                  <a:srgbClr val="822433"/>
                </a:solidFill>
                <a:latin typeface="Roboto"/>
                <a:ea typeface="Roboto"/>
                <a:cs typeface="Roboto"/>
              </a:defRPr>
            </a:lvl7pPr>
            <a:lvl8pPr algn="ctr">
              <a:defRPr lang="en-US" sz="2700" b="1">
                <a:solidFill>
                  <a:srgbClr val="822433"/>
                </a:solidFill>
                <a:latin typeface="Roboto"/>
                <a:ea typeface="Roboto"/>
                <a:cs typeface="Roboto"/>
              </a:defRPr>
            </a:lvl8pPr>
            <a:lvl9pPr algn="ctr">
              <a:defRPr lang="en-US" sz="2700" b="1">
                <a:solidFill>
                  <a:srgbClr val="822433"/>
                </a:solidFill>
                <a:latin typeface="Roboto"/>
                <a:ea typeface="Roboto"/>
                <a:cs typeface="Roboto"/>
              </a:defRPr>
            </a:lvl9pPr>
          </a:lstStyle>
          <a:p>
            <a:pPr algn="ctr">
              <a:defRPr lang="en-US" sz="2700" b="1">
                <a:solidFill>
                  <a:srgbClr val="822433"/>
                </a:solidFill>
                <a:latin typeface="Roboto"/>
                <a:ea typeface="Roboto"/>
                <a:cs typeface="Roboto"/>
              </a:defRPr>
            </a:pPr>
            <a:r>
              <a:rPr lang="en-US" sz="2700" b="1">
                <a:solidFill>
                  <a:srgbClr val="822433"/>
                </a:solidFill>
                <a:latin typeface="Roboto"/>
                <a:ea typeface="Roboto"/>
                <a:cs typeface="Roboto"/>
              </a:rPr>
              <a:t>SuperSimpleNet</a:t>
            </a:r>
          </a:p>
        </p:txBody>
      </p:sp>
      <p:sp>
        <p:nvSpPr>
          <p:cNvPr id="8" name="tg">
            <a:extLst>
              <a:ext uri="{FF2B5EF4-FFF2-40B4-BE49-F238E27FC236}">
                <a16:creationId xmlns:a16="http://schemas.microsoft.com/office/drawing/2014/main" id="{B258A5D8-6A08-450B-929E-FC1F7E61BDEA}"/>
              </a:ext>
            </a:extLst>
          </p:cNvPr>
          <p:cNvSpPr>
            <a:spLocks noGrp="1"/>
          </p:cNvSpPr>
          <p:nvPr/>
        </p:nvSpPr>
        <p:spPr>
          <a:xfrm>
            <a:off x="6667500" y="1647825"/>
            <a:ext cx="4524375" cy="561975"/>
          </a:xfrm>
          <a:prstGeom prst="rect">
            <a:avLst/>
          </a:prstGeom>
          <a:noFill/>
          <a:ln w="0">
            <a:noFill/>
          </a:ln>
        </p:spPr>
        <p:txBody>
          <a:bodyPr wrap="square" lIns="0" tIns="0" rIns="0" bIns="0" anchor="t">
            <a:noAutofit/>
          </a:bodyPr>
          <a:lstStyle>
            <a:defPPr algn="ctr">
              <a:defRPr lang="en-US" sz="2700" b="1">
                <a:solidFill>
                  <a:srgbClr val="822433"/>
                </a:solidFill>
                <a:latin typeface="Roboto"/>
                <a:ea typeface="Roboto"/>
                <a:cs typeface="Roboto"/>
              </a:defRPr>
            </a:defPPr>
            <a:lvl1pPr algn="ctr">
              <a:defRPr lang="en-US" sz="2700" b="1">
                <a:solidFill>
                  <a:srgbClr val="822433"/>
                </a:solidFill>
                <a:latin typeface="Roboto"/>
                <a:ea typeface="Roboto"/>
                <a:cs typeface="Roboto"/>
              </a:defRPr>
            </a:lvl1pPr>
            <a:lvl2pPr algn="ctr">
              <a:defRPr lang="en-US" sz="2700" b="1">
                <a:solidFill>
                  <a:srgbClr val="822433"/>
                </a:solidFill>
                <a:latin typeface="Roboto"/>
                <a:ea typeface="Roboto"/>
                <a:cs typeface="Roboto"/>
              </a:defRPr>
            </a:lvl2pPr>
            <a:lvl3pPr algn="ctr">
              <a:defRPr lang="en-US" sz="2700" b="1">
                <a:solidFill>
                  <a:srgbClr val="822433"/>
                </a:solidFill>
                <a:latin typeface="Roboto"/>
                <a:ea typeface="Roboto"/>
                <a:cs typeface="Roboto"/>
              </a:defRPr>
            </a:lvl3pPr>
            <a:lvl4pPr algn="ctr">
              <a:defRPr lang="en-US" sz="2700" b="1">
                <a:solidFill>
                  <a:srgbClr val="822433"/>
                </a:solidFill>
                <a:latin typeface="Roboto"/>
                <a:ea typeface="Roboto"/>
                <a:cs typeface="Roboto"/>
              </a:defRPr>
            </a:lvl4pPr>
            <a:lvl5pPr algn="ctr">
              <a:defRPr lang="en-US" sz="2700" b="1">
                <a:solidFill>
                  <a:srgbClr val="822433"/>
                </a:solidFill>
                <a:latin typeface="Roboto"/>
                <a:ea typeface="Roboto"/>
                <a:cs typeface="Roboto"/>
              </a:defRPr>
            </a:lvl5pPr>
            <a:lvl6pPr algn="ctr">
              <a:defRPr lang="en-US" sz="2700" b="1">
                <a:solidFill>
                  <a:srgbClr val="822433"/>
                </a:solidFill>
                <a:latin typeface="Roboto"/>
                <a:ea typeface="Roboto"/>
                <a:cs typeface="Roboto"/>
              </a:defRPr>
            </a:lvl6pPr>
            <a:lvl7pPr algn="ctr">
              <a:defRPr lang="en-US" sz="2700" b="1">
                <a:solidFill>
                  <a:srgbClr val="822433"/>
                </a:solidFill>
                <a:latin typeface="Roboto"/>
                <a:ea typeface="Roboto"/>
                <a:cs typeface="Roboto"/>
              </a:defRPr>
            </a:lvl7pPr>
            <a:lvl8pPr algn="ctr">
              <a:defRPr lang="en-US" sz="2700" b="1">
                <a:solidFill>
                  <a:srgbClr val="822433"/>
                </a:solidFill>
                <a:latin typeface="Roboto"/>
                <a:ea typeface="Roboto"/>
                <a:cs typeface="Roboto"/>
              </a:defRPr>
            </a:lvl8pPr>
            <a:lvl9pPr algn="ctr">
              <a:defRPr lang="en-US" sz="2700" b="1">
                <a:solidFill>
                  <a:srgbClr val="822433"/>
                </a:solidFill>
                <a:latin typeface="Roboto"/>
                <a:ea typeface="Roboto"/>
                <a:cs typeface="Roboto"/>
              </a:defRPr>
            </a:lvl9pPr>
          </a:lstStyle>
          <a:p>
            <a:pPr algn="ctr">
              <a:defRPr lang="en-US" sz="2700" b="1">
                <a:solidFill>
                  <a:srgbClr val="822433"/>
                </a:solidFill>
                <a:latin typeface="Roboto"/>
                <a:ea typeface="Roboto"/>
                <a:cs typeface="Roboto"/>
              </a:defRPr>
            </a:pPr>
            <a:r>
              <a:rPr lang="en-US" sz="2700" b="1">
                <a:solidFill>
                  <a:srgbClr val="822433"/>
                </a:solidFill>
                <a:latin typeface="Roboto"/>
                <a:ea typeface="Roboto"/>
                <a:cs typeface="Roboto"/>
              </a:rPr>
              <a:t>TinyGLASS</a:t>
            </a:r>
          </a:p>
        </p:txBody>
      </p:sp>
      <p:pic>
        <p:nvPicPr>
          <p:cNvPr id="9" name="Immagine 8">
            <a:extLst>
              <a:ext uri="{FF2B5EF4-FFF2-40B4-BE49-F238E27FC236}">
                <a16:creationId xmlns:a16="http://schemas.microsoft.com/office/drawing/2014/main" id="{80AB6AAE-5B37-496D-AA42-79A2C1AEB5BF}"/>
              </a:ext>
            </a:extLst>
          </p:cNvPr>
          <p:cNvPicPr>
            <a:picLocks noChangeAspect="1"/>
          </p:cNvPicPr>
          <p:nvPr/>
        </p:nvPicPr>
        <p:blipFill>
          <a:blip r:embed="rId4"/>
          <a:stretch/>
        </p:blipFill>
        <p:spPr>
          <a:xfrm>
            <a:off x="2714625" y="2571750"/>
            <a:ext cx="990600" cy="990600"/>
          </a:xfrm>
          <a:prstGeom prst="rect">
            <a:avLst/>
          </a:prstGeom>
        </p:spPr>
      </p:pic>
      <p:pic>
        <p:nvPicPr>
          <p:cNvPr id="10" name="Immagine 9">
            <a:extLst>
              <a:ext uri="{FF2B5EF4-FFF2-40B4-BE49-F238E27FC236}">
                <a16:creationId xmlns:a16="http://schemas.microsoft.com/office/drawing/2014/main" id="{F7021DD3-D0F2-428F-BDA2-201C543C468C}"/>
              </a:ext>
            </a:extLst>
          </p:cNvPr>
          <p:cNvPicPr>
            <a:picLocks noChangeAspect="1"/>
          </p:cNvPicPr>
          <p:nvPr/>
        </p:nvPicPr>
        <p:blipFill>
          <a:blip r:embed="rId5"/>
          <a:stretch/>
        </p:blipFill>
        <p:spPr>
          <a:xfrm>
            <a:off x="7629525" y="2571750"/>
            <a:ext cx="933450" cy="933450"/>
          </a:xfrm>
          <a:prstGeom prst="rect">
            <a:avLst/>
          </a:prstGeom>
        </p:spPr>
      </p:pic>
      <p:pic>
        <p:nvPicPr>
          <p:cNvPr id="11" name="Immagine 10">
            <a:extLst>
              <a:ext uri="{FF2B5EF4-FFF2-40B4-BE49-F238E27FC236}">
                <a16:creationId xmlns:a16="http://schemas.microsoft.com/office/drawing/2014/main" id="{E477A513-DEAA-4557-893E-E0090EC6B4F1}"/>
              </a:ext>
            </a:extLst>
          </p:cNvPr>
          <p:cNvPicPr>
            <a:picLocks noChangeAspect="1"/>
          </p:cNvPicPr>
          <p:nvPr/>
        </p:nvPicPr>
        <p:blipFill>
          <a:blip r:embed="rId6"/>
          <a:stretch/>
        </p:blipFill>
        <p:spPr>
          <a:xfrm>
            <a:off x="9239250" y="2571750"/>
            <a:ext cx="933450" cy="933450"/>
          </a:xfrm>
          <a:prstGeom prst="rect">
            <a:avLst/>
          </a:prstGeom>
        </p:spPr>
      </p:pic>
      <p:sp>
        <p:nvSpPr>
          <p:cNvPr id="12" name="ssn-perturbation">
            <a:extLst>
              <a:ext uri="{FF2B5EF4-FFF2-40B4-BE49-F238E27FC236}">
                <a16:creationId xmlns:a16="http://schemas.microsoft.com/office/drawing/2014/main" id="{5005FF93-C97A-4891-A026-A3A7A5E753A9}"/>
              </a:ext>
            </a:extLst>
          </p:cNvPr>
          <p:cNvSpPr>
            <a:spLocks noGrp="1"/>
          </p:cNvSpPr>
          <p:nvPr/>
        </p:nvSpPr>
        <p:spPr>
          <a:xfrm>
            <a:off x="933450" y="4048125"/>
            <a:ext cx="4762500" cy="657225"/>
          </a:xfrm>
          <a:prstGeom prst="rect">
            <a:avLst/>
          </a:prstGeom>
          <a:noFill/>
          <a:ln w="0">
            <a:noFill/>
          </a:ln>
        </p:spPr>
        <p:txBody>
          <a:bodyPr wrap="square" lIns="0" tIns="0" rIns="0" bIns="0" anchor="t">
            <a:noAutofit/>
          </a:bodyPr>
          <a:lstStyle>
            <a:defPPr algn="ctr">
              <a:defRPr lang="en-US" sz="2175" b="0">
                <a:solidFill>
                  <a:srgbClr val="202124"/>
                </a:solidFill>
                <a:latin typeface="Roboto"/>
                <a:ea typeface="Roboto"/>
                <a:cs typeface="Roboto"/>
              </a:defRPr>
            </a:defPPr>
            <a:lvl1pPr algn="ctr">
              <a:defRPr lang="en-US" sz="2175" b="0">
                <a:solidFill>
                  <a:srgbClr val="202124"/>
                </a:solidFill>
                <a:latin typeface="Roboto"/>
                <a:ea typeface="Roboto"/>
                <a:cs typeface="Roboto"/>
              </a:defRPr>
            </a:lvl1pPr>
            <a:lvl2pPr algn="ctr">
              <a:defRPr lang="en-US" sz="2175" b="0">
                <a:solidFill>
                  <a:srgbClr val="202124"/>
                </a:solidFill>
                <a:latin typeface="Roboto"/>
                <a:ea typeface="Roboto"/>
                <a:cs typeface="Roboto"/>
              </a:defRPr>
            </a:lvl2pPr>
            <a:lvl3pPr algn="ctr">
              <a:defRPr lang="en-US" sz="2175" b="0">
                <a:solidFill>
                  <a:srgbClr val="202124"/>
                </a:solidFill>
                <a:latin typeface="Roboto"/>
                <a:ea typeface="Roboto"/>
                <a:cs typeface="Roboto"/>
              </a:defRPr>
            </a:lvl3pPr>
            <a:lvl4pPr algn="ctr">
              <a:defRPr lang="en-US" sz="2175" b="0">
                <a:solidFill>
                  <a:srgbClr val="202124"/>
                </a:solidFill>
                <a:latin typeface="Roboto"/>
                <a:ea typeface="Roboto"/>
                <a:cs typeface="Roboto"/>
              </a:defRPr>
            </a:lvl4pPr>
            <a:lvl5pPr algn="ctr">
              <a:defRPr lang="en-US" sz="2175" b="0">
                <a:solidFill>
                  <a:srgbClr val="202124"/>
                </a:solidFill>
                <a:latin typeface="Roboto"/>
                <a:ea typeface="Roboto"/>
                <a:cs typeface="Roboto"/>
              </a:defRPr>
            </a:lvl5pPr>
            <a:lvl6pPr algn="ctr">
              <a:defRPr lang="en-US" sz="2175" b="0">
                <a:solidFill>
                  <a:srgbClr val="202124"/>
                </a:solidFill>
                <a:latin typeface="Roboto"/>
                <a:ea typeface="Roboto"/>
                <a:cs typeface="Roboto"/>
              </a:defRPr>
            </a:lvl6pPr>
            <a:lvl7pPr algn="ctr">
              <a:defRPr lang="en-US" sz="2175" b="0">
                <a:solidFill>
                  <a:srgbClr val="202124"/>
                </a:solidFill>
                <a:latin typeface="Roboto"/>
                <a:ea typeface="Roboto"/>
                <a:cs typeface="Roboto"/>
              </a:defRPr>
            </a:lvl7pPr>
            <a:lvl8pPr algn="ctr">
              <a:defRPr lang="en-US" sz="2175" b="0">
                <a:solidFill>
                  <a:srgbClr val="202124"/>
                </a:solidFill>
                <a:latin typeface="Roboto"/>
                <a:ea typeface="Roboto"/>
                <a:cs typeface="Roboto"/>
              </a:defRPr>
            </a:lvl8pPr>
            <a:lvl9pPr algn="ctr">
              <a:defRPr lang="en-US" sz="2175" b="0">
                <a:solidFill>
                  <a:srgbClr val="202124"/>
                </a:solidFill>
                <a:latin typeface="Roboto"/>
                <a:ea typeface="Roboto"/>
                <a:cs typeface="Roboto"/>
              </a:defRPr>
            </a:lvl9pPr>
          </a:lstStyle>
          <a:p>
            <a:pPr algn="ctr">
              <a:defRPr lang="en-US" sz="2175" b="0">
                <a:solidFill>
                  <a:srgbClr val="202124"/>
                </a:solidFill>
                <a:latin typeface="Roboto"/>
                <a:ea typeface="Roboto"/>
                <a:cs typeface="Roboto"/>
              </a:defRPr>
            </a:pPr>
            <a:r>
              <a:rPr lang="en-US" sz="2175" b="0">
                <a:solidFill>
                  <a:srgbClr val="202124"/>
                </a:solidFill>
                <a:latin typeface="Roboto"/>
                <a:ea typeface="Roboto"/>
                <a:cs typeface="Roboto"/>
              </a:rPr>
              <a:t>Noise in feature space</a:t>
            </a:r>
          </a:p>
        </p:txBody>
      </p:sp>
      <p:sp>
        <p:nvSpPr>
          <p:cNvPr id="13" name="tg-perturbation">
            <a:extLst>
              <a:ext uri="{FF2B5EF4-FFF2-40B4-BE49-F238E27FC236}">
                <a16:creationId xmlns:a16="http://schemas.microsoft.com/office/drawing/2014/main" id="{710C9083-A4FD-4A46-B13C-E661745C5FAB}"/>
              </a:ext>
            </a:extLst>
          </p:cNvPr>
          <p:cNvSpPr>
            <a:spLocks noGrp="1"/>
          </p:cNvSpPr>
          <p:nvPr/>
        </p:nvSpPr>
        <p:spPr>
          <a:xfrm>
            <a:off x="6486525" y="4048125"/>
            <a:ext cx="4905375" cy="657225"/>
          </a:xfrm>
          <a:prstGeom prst="rect">
            <a:avLst/>
          </a:prstGeom>
          <a:noFill/>
          <a:ln w="0">
            <a:noFill/>
          </a:ln>
        </p:spPr>
        <p:txBody>
          <a:bodyPr wrap="square" lIns="0" tIns="0" rIns="0" bIns="0" anchor="t">
            <a:noAutofit/>
          </a:bodyPr>
          <a:lstStyle>
            <a:defPPr algn="ctr">
              <a:defRPr lang="en-US" sz="2175" b="0">
                <a:solidFill>
                  <a:srgbClr val="202124"/>
                </a:solidFill>
                <a:latin typeface="Roboto"/>
                <a:ea typeface="Roboto"/>
                <a:cs typeface="Roboto"/>
              </a:defRPr>
            </a:defPPr>
            <a:lvl1pPr algn="ctr">
              <a:defRPr lang="en-US" sz="2175" b="0">
                <a:solidFill>
                  <a:srgbClr val="202124"/>
                </a:solidFill>
                <a:latin typeface="Roboto"/>
                <a:ea typeface="Roboto"/>
                <a:cs typeface="Roboto"/>
              </a:defRPr>
            </a:lvl1pPr>
            <a:lvl2pPr algn="ctr">
              <a:defRPr lang="en-US" sz="2175" b="0">
                <a:solidFill>
                  <a:srgbClr val="202124"/>
                </a:solidFill>
                <a:latin typeface="Roboto"/>
                <a:ea typeface="Roboto"/>
                <a:cs typeface="Roboto"/>
              </a:defRPr>
            </a:lvl2pPr>
            <a:lvl3pPr algn="ctr">
              <a:defRPr lang="en-US" sz="2175" b="0">
                <a:solidFill>
                  <a:srgbClr val="202124"/>
                </a:solidFill>
                <a:latin typeface="Roboto"/>
                <a:ea typeface="Roboto"/>
                <a:cs typeface="Roboto"/>
              </a:defRPr>
            </a:lvl3pPr>
            <a:lvl4pPr algn="ctr">
              <a:defRPr lang="en-US" sz="2175" b="0">
                <a:solidFill>
                  <a:srgbClr val="202124"/>
                </a:solidFill>
                <a:latin typeface="Roboto"/>
                <a:ea typeface="Roboto"/>
                <a:cs typeface="Roboto"/>
              </a:defRPr>
            </a:lvl4pPr>
            <a:lvl5pPr algn="ctr">
              <a:defRPr lang="en-US" sz="2175" b="0">
                <a:solidFill>
                  <a:srgbClr val="202124"/>
                </a:solidFill>
                <a:latin typeface="Roboto"/>
                <a:ea typeface="Roboto"/>
                <a:cs typeface="Roboto"/>
              </a:defRPr>
            </a:lvl5pPr>
            <a:lvl6pPr algn="ctr">
              <a:defRPr lang="en-US" sz="2175" b="0">
                <a:solidFill>
                  <a:srgbClr val="202124"/>
                </a:solidFill>
                <a:latin typeface="Roboto"/>
                <a:ea typeface="Roboto"/>
                <a:cs typeface="Roboto"/>
              </a:defRPr>
            </a:lvl6pPr>
            <a:lvl7pPr algn="ctr">
              <a:defRPr lang="en-US" sz="2175" b="0">
                <a:solidFill>
                  <a:srgbClr val="202124"/>
                </a:solidFill>
                <a:latin typeface="Roboto"/>
                <a:ea typeface="Roboto"/>
                <a:cs typeface="Roboto"/>
              </a:defRPr>
            </a:lvl7pPr>
            <a:lvl8pPr algn="ctr">
              <a:defRPr lang="en-US" sz="2175" b="0">
                <a:solidFill>
                  <a:srgbClr val="202124"/>
                </a:solidFill>
                <a:latin typeface="Roboto"/>
                <a:ea typeface="Roboto"/>
                <a:cs typeface="Roboto"/>
              </a:defRPr>
            </a:lvl8pPr>
            <a:lvl9pPr algn="ctr">
              <a:defRPr lang="en-US" sz="2175" b="0">
                <a:solidFill>
                  <a:srgbClr val="202124"/>
                </a:solidFill>
                <a:latin typeface="Roboto"/>
                <a:ea typeface="Roboto"/>
                <a:cs typeface="Roboto"/>
              </a:defRPr>
            </a:lvl9pPr>
          </a:lstStyle>
          <a:p>
            <a:pPr algn="ctr">
              <a:defRPr lang="en-US" sz="2175" b="0">
                <a:solidFill>
                  <a:srgbClr val="202124"/>
                </a:solidFill>
                <a:latin typeface="Roboto"/>
                <a:ea typeface="Roboto"/>
                <a:cs typeface="Roboto"/>
              </a:defRPr>
            </a:pPr>
            <a:r>
              <a:rPr lang="en-US" sz="2175" b="0">
                <a:solidFill>
                  <a:srgbClr val="202124"/>
                </a:solidFill>
                <a:latin typeface="Roboto"/>
                <a:ea typeface="Roboto"/>
                <a:cs typeface="Roboto"/>
              </a:rPr>
              <a:t>Image + feature perturbations</a:t>
            </a:r>
          </a:p>
        </p:txBody>
      </p:sp>
      <p:sp>
        <p:nvSpPr>
          <p:cNvPr id="14" name="tg-backbone">
            <a:extLst>
              <a:ext uri="{FF2B5EF4-FFF2-40B4-BE49-F238E27FC236}">
                <a16:creationId xmlns:a16="http://schemas.microsoft.com/office/drawing/2014/main" id="{04BD506B-8ED2-4C27-9D59-C3F757717F77}"/>
              </a:ext>
            </a:extLst>
          </p:cNvPr>
          <p:cNvSpPr>
            <a:spLocks noGrp="1"/>
          </p:cNvSpPr>
          <p:nvPr/>
        </p:nvSpPr>
        <p:spPr>
          <a:xfrm>
            <a:off x="6486525" y="4667250"/>
            <a:ext cx="4905375" cy="514350"/>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1875" b="0">
                <a:solidFill>
                  <a:srgbClr val="656B73"/>
                </a:solidFill>
                <a:latin typeface="Roboto"/>
                <a:ea typeface="Roboto"/>
                <a:cs typeface="Roboto"/>
              </a:rPr>
              <a:t>Compact ResNet-18 backbone</a:t>
            </a:r>
          </a:p>
        </p:txBody>
      </p:sp>
      <p:sp>
        <p:nvSpPr>
          <p:cNvPr id="15" name="held-out-damage">
            <a:extLst>
              <a:ext uri="{FF2B5EF4-FFF2-40B4-BE49-F238E27FC236}">
                <a16:creationId xmlns:a16="http://schemas.microsoft.com/office/drawing/2014/main" id="{9A6AAF6A-E7E3-404F-BB6A-62EE8783342E}"/>
              </a:ext>
            </a:extLst>
          </p:cNvPr>
          <p:cNvSpPr>
            <a:spLocks noGrp="1"/>
          </p:cNvSpPr>
          <p:nvPr/>
        </p:nvSpPr>
        <p:spPr>
          <a:xfrm>
            <a:off x="1238250" y="5657850"/>
            <a:ext cx="9906000" cy="419100"/>
          </a:xfrm>
          <a:prstGeom prst="rect">
            <a:avLst/>
          </a:prstGeom>
          <a:noFill/>
          <a:ln w="0">
            <a:noFill/>
          </a:ln>
        </p:spPr>
        <p:txBody>
          <a:bodyPr wrap="square" lIns="0" tIns="0" rIns="0" bIns="0" anchor="t">
            <a:noAutofit/>
          </a:bodyPr>
          <a:lstStyle>
            <a:defPPr algn="ctr">
              <a:defRPr lang="en-US" sz="2175" b="1">
                <a:solidFill>
                  <a:srgbClr val="822433"/>
                </a:solidFill>
                <a:latin typeface="Roboto"/>
                <a:ea typeface="Roboto"/>
                <a:cs typeface="Roboto"/>
              </a:defRPr>
            </a:defPPr>
            <a:lvl1pPr algn="ctr">
              <a:defRPr lang="en-US" sz="2175" b="1">
                <a:solidFill>
                  <a:srgbClr val="822433"/>
                </a:solidFill>
                <a:latin typeface="Roboto"/>
                <a:ea typeface="Roboto"/>
                <a:cs typeface="Roboto"/>
              </a:defRPr>
            </a:lvl1pPr>
            <a:lvl2pPr algn="ctr">
              <a:defRPr lang="en-US" sz="2175" b="1">
                <a:solidFill>
                  <a:srgbClr val="822433"/>
                </a:solidFill>
                <a:latin typeface="Roboto"/>
                <a:ea typeface="Roboto"/>
                <a:cs typeface="Roboto"/>
              </a:defRPr>
            </a:lvl2pPr>
            <a:lvl3pPr algn="ctr">
              <a:defRPr lang="en-US" sz="2175" b="1">
                <a:solidFill>
                  <a:srgbClr val="822433"/>
                </a:solidFill>
                <a:latin typeface="Roboto"/>
                <a:ea typeface="Roboto"/>
                <a:cs typeface="Roboto"/>
              </a:defRPr>
            </a:lvl3pPr>
            <a:lvl4pPr algn="ctr">
              <a:defRPr lang="en-US" sz="2175" b="1">
                <a:solidFill>
                  <a:srgbClr val="822433"/>
                </a:solidFill>
                <a:latin typeface="Roboto"/>
                <a:ea typeface="Roboto"/>
                <a:cs typeface="Roboto"/>
              </a:defRPr>
            </a:lvl4pPr>
            <a:lvl5pPr algn="ctr">
              <a:defRPr lang="en-US" sz="2175" b="1">
                <a:solidFill>
                  <a:srgbClr val="822433"/>
                </a:solidFill>
                <a:latin typeface="Roboto"/>
                <a:ea typeface="Roboto"/>
                <a:cs typeface="Roboto"/>
              </a:defRPr>
            </a:lvl5pPr>
            <a:lvl6pPr algn="ctr">
              <a:defRPr lang="en-US" sz="2175" b="1">
                <a:solidFill>
                  <a:srgbClr val="822433"/>
                </a:solidFill>
                <a:latin typeface="Roboto"/>
                <a:ea typeface="Roboto"/>
                <a:cs typeface="Roboto"/>
              </a:defRPr>
            </a:lvl6pPr>
            <a:lvl7pPr algn="ctr">
              <a:defRPr lang="en-US" sz="2175" b="1">
                <a:solidFill>
                  <a:srgbClr val="822433"/>
                </a:solidFill>
                <a:latin typeface="Roboto"/>
                <a:ea typeface="Roboto"/>
                <a:cs typeface="Roboto"/>
              </a:defRPr>
            </a:lvl7pPr>
            <a:lvl8pPr algn="ctr">
              <a:defRPr lang="en-US" sz="2175" b="1">
                <a:solidFill>
                  <a:srgbClr val="822433"/>
                </a:solidFill>
                <a:latin typeface="Roboto"/>
                <a:ea typeface="Roboto"/>
                <a:cs typeface="Roboto"/>
              </a:defRPr>
            </a:lvl8pPr>
            <a:lvl9pPr algn="ctr">
              <a:defRPr lang="en-US" sz="2175" b="1">
                <a:solidFill>
                  <a:srgbClr val="822433"/>
                </a:solidFill>
                <a:latin typeface="Roboto"/>
                <a:ea typeface="Roboto"/>
                <a:cs typeface="Roboto"/>
              </a:defRPr>
            </a:lvl9pPr>
          </a:lstStyle>
          <a:p>
            <a:pPr algn="ctr">
              <a:defRPr lang="en-US" sz="2175" b="1">
                <a:solidFill>
                  <a:srgbClr val="822433"/>
                </a:solidFill>
                <a:latin typeface="Roboto"/>
                <a:ea typeface="Roboto"/>
                <a:cs typeface="Roboto"/>
              </a:defRPr>
            </a:pPr>
            <a:r>
              <a:rPr lang="en-US" sz="2175" b="1">
                <a:solidFill>
                  <a:srgbClr val="822433"/>
                </a:solidFill>
                <a:latin typeface="Roboto"/>
                <a:ea typeface="Roboto"/>
                <a:cs typeface="Roboto"/>
              </a:rPr>
              <a:t>Perforated Blender renders remain held out</a:t>
            </a:r>
          </a:p>
        </p:txBody>
      </p:sp>
    </p:spTree>
    <p:extLst>
      <p:ext uri="{BB962C8B-B14F-4D97-AF65-F5344CB8AC3E}">
        <p14:creationId xmlns:p14="http://schemas.microsoft.com/office/powerpoint/2010/main" val="222343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E2ACD22B-BCC6-459F-A1C1-DCE6C150CCF8}"/>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A controlled wheel-focused evaluation</a:t>
            </a:r>
          </a:p>
        </p:txBody>
      </p:sp>
      <p:pic>
        <p:nvPicPr>
          <p:cNvPr id="2" name="Immagine 1">
            <a:extLst>
              <a:ext uri="{FF2B5EF4-FFF2-40B4-BE49-F238E27FC236}">
                <a16:creationId xmlns:a16="http://schemas.microsoft.com/office/drawing/2014/main" id="{4224C9BE-65EE-451F-8B73-337E0D7D66B6}"/>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0DBB586F-6DC1-4A78-AF13-5941B51A60D6}"/>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0020474B-E932-4EED-A0B1-ECEB944A79FC}"/>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29BF38F2-32D5-4506-8F52-1A6165C6E427}"/>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17 / 33</a:t>
            </a:r>
          </a:p>
        </p:txBody>
      </p:sp>
      <p:sp>
        <p:nvSpPr>
          <p:cNvPr id="6" name="source-citations">
            <a:extLst>
              <a:ext uri="{FF2B5EF4-FFF2-40B4-BE49-F238E27FC236}">
                <a16:creationId xmlns:a16="http://schemas.microsoft.com/office/drawing/2014/main" id="{94821ACC-EEB0-4F5D-826E-4A4C1A10BF22}"/>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results and methods</a:t>
            </a:r>
          </a:p>
        </p:txBody>
      </p:sp>
      <p:pic>
        <p:nvPicPr>
          <p:cNvPr id="7" name="Immagine 6">
            <a:extLst>
              <a:ext uri="{FF2B5EF4-FFF2-40B4-BE49-F238E27FC236}">
                <a16:creationId xmlns:a16="http://schemas.microsoft.com/office/drawing/2014/main" id="{E029A4F7-C4BC-4DE4-8AE1-4EB5F8ED528F}"/>
              </a:ext>
            </a:extLst>
          </p:cNvPr>
          <p:cNvPicPr>
            <a:picLocks noChangeAspect="1"/>
          </p:cNvPicPr>
          <p:nvPr/>
        </p:nvPicPr>
        <p:blipFill>
          <a:blip r:embed="rId4"/>
          <a:stretch/>
        </p:blipFill>
        <p:spPr>
          <a:xfrm>
            <a:off x="1513176" y="1524000"/>
            <a:ext cx="8832273" cy="4048125"/>
          </a:xfrm>
          <a:prstGeom prst="rect">
            <a:avLst/>
          </a:prstGeom>
        </p:spPr>
      </p:pic>
      <p:pic>
        <p:nvPicPr>
          <p:cNvPr id="8" name="Immagine 7">
            <a:extLst>
              <a:ext uri="{FF2B5EF4-FFF2-40B4-BE49-F238E27FC236}">
                <a16:creationId xmlns:a16="http://schemas.microsoft.com/office/drawing/2014/main" id="{0851F48E-FDD5-4D73-94B2-FB0BED0BFC03}"/>
              </a:ext>
            </a:extLst>
          </p:cNvPr>
          <p:cNvPicPr>
            <a:picLocks noChangeAspect="1"/>
          </p:cNvPicPr>
          <p:nvPr/>
        </p:nvPicPr>
        <p:blipFill>
          <a:blip r:embed="rId5"/>
          <a:stretch/>
        </p:blipFill>
        <p:spPr>
          <a:xfrm>
            <a:off x="914400" y="5686425"/>
            <a:ext cx="381000" cy="381000"/>
          </a:xfrm>
          <a:prstGeom prst="rect">
            <a:avLst/>
          </a:prstGeom>
        </p:spPr>
      </p:pic>
      <p:sp>
        <p:nvSpPr>
          <p:cNvPr id="9" name="pose-scope">
            <a:extLst>
              <a:ext uri="{FF2B5EF4-FFF2-40B4-BE49-F238E27FC236}">
                <a16:creationId xmlns:a16="http://schemas.microsoft.com/office/drawing/2014/main" id="{F06A4DE2-2B7D-4DD2-86C3-EDF1511D17A3}"/>
              </a:ext>
            </a:extLst>
          </p:cNvPr>
          <p:cNvSpPr>
            <a:spLocks noGrp="1"/>
          </p:cNvSpPr>
          <p:nvPr/>
        </p:nvSpPr>
        <p:spPr>
          <a:xfrm>
            <a:off x="1495425" y="5743575"/>
            <a:ext cx="9667875" cy="323850"/>
          </a:xfrm>
          <a:prstGeom prst="rect">
            <a:avLst/>
          </a:prstGeom>
          <a:noFill/>
          <a:ln w="0">
            <a:noFill/>
          </a:ln>
        </p:spPr>
        <p:txBody>
          <a:bodyPr wrap="square" lIns="0" tIns="0" rIns="0" bIns="0" anchor="t">
            <a:noAutofit/>
          </a:bodyPr>
          <a:lstStyle>
            <a:defPPr algn="l">
              <a:defRPr lang="en-US" sz="1875" b="0">
                <a:solidFill>
                  <a:srgbClr val="656B73"/>
                </a:solidFill>
                <a:latin typeface="Roboto"/>
                <a:ea typeface="Roboto"/>
                <a:cs typeface="Roboto"/>
              </a:defRPr>
            </a:defPPr>
            <a:lvl1pPr algn="l">
              <a:defRPr lang="en-US" sz="1875" b="0">
                <a:solidFill>
                  <a:srgbClr val="656B73"/>
                </a:solidFill>
                <a:latin typeface="Roboto"/>
                <a:ea typeface="Roboto"/>
                <a:cs typeface="Roboto"/>
              </a:defRPr>
            </a:lvl1pPr>
            <a:lvl2pPr algn="l">
              <a:defRPr lang="en-US" sz="1875" b="0">
                <a:solidFill>
                  <a:srgbClr val="656B73"/>
                </a:solidFill>
                <a:latin typeface="Roboto"/>
                <a:ea typeface="Roboto"/>
                <a:cs typeface="Roboto"/>
              </a:defRPr>
            </a:lvl2pPr>
            <a:lvl3pPr algn="l">
              <a:defRPr lang="en-US" sz="1875" b="0">
                <a:solidFill>
                  <a:srgbClr val="656B73"/>
                </a:solidFill>
                <a:latin typeface="Roboto"/>
                <a:ea typeface="Roboto"/>
                <a:cs typeface="Roboto"/>
              </a:defRPr>
            </a:lvl3pPr>
            <a:lvl4pPr algn="l">
              <a:defRPr lang="en-US" sz="1875" b="0">
                <a:solidFill>
                  <a:srgbClr val="656B73"/>
                </a:solidFill>
                <a:latin typeface="Roboto"/>
                <a:ea typeface="Roboto"/>
                <a:cs typeface="Roboto"/>
              </a:defRPr>
            </a:lvl4pPr>
            <a:lvl5pPr algn="l">
              <a:defRPr lang="en-US" sz="1875" b="0">
                <a:solidFill>
                  <a:srgbClr val="656B73"/>
                </a:solidFill>
                <a:latin typeface="Roboto"/>
                <a:ea typeface="Roboto"/>
                <a:cs typeface="Roboto"/>
              </a:defRPr>
            </a:lvl5pPr>
            <a:lvl6pPr algn="l">
              <a:defRPr lang="en-US" sz="1875" b="0">
                <a:solidFill>
                  <a:srgbClr val="656B73"/>
                </a:solidFill>
                <a:latin typeface="Roboto"/>
                <a:ea typeface="Roboto"/>
                <a:cs typeface="Roboto"/>
              </a:defRPr>
            </a:lvl6pPr>
            <a:lvl7pPr algn="l">
              <a:defRPr lang="en-US" sz="1875" b="0">
                <a:solidFill>
                  <a:srgbClr val="656B73"/>
                </a:solidFill>
                <a:latin typeface="Roboto"/>
                <a:ea typeface="Roboto"/>
                <a:cs typeface="Roboto"/>
              </a:defRPr>
            </a:lvl7pPr>
            <a:lvl8pPr algn="l">
              <a:defRPr lang="en-US" sz="1875" b="0">
                <a:solidFill>
                  <a:srgbClr val="656B73"/>
                </a:solidFill>
                <a:latin typeface="Roboto"/>
                <a:ea typeface="Roboto"/>
                <a:cs typeface="Roboto"/>
              </a:defRPr>
            </a:lvl8pPr>
            <a:lvl9pPr algn="l">
              <a:defRPr lang="en-US" sz="1875" b="0">
                <a:solidFill>
                  <a:srgbClr val="656B73"/>
                </a:solidFill>
                <a:latin typeface="Roboto"/>
                <a:ea typeface="Roboto"/>
                <a:cs typeface="Roboto"/>
              </a:defRPr>
            </a:lvl9pPr>
          </a:lstStyle>
          <a:p>
            <a:pPr algn="l">
              <a:defRPr lang="en-US" sz="1875" b="0">
                <a:solidFill>
                  <a:srgbClr val="656B73"/>
                </a:solidFill>
                <a:latin typeface="Roboto"/>
                <a:ea typeface="Roboto"/>
                <a:cs typeface="Roboto"/>
              </a:defRPr>
            </a:pPr>
            <a:r>
              <a:rPr lang="en-US" sz="1875" b="0">
                <a:solidFill>
                  <a:srgbClr val="656B73"/>
                </a:solidFill>
                <a:latin typeface="Roboto"/>
                <a:ea typeface="Roboto"/>
                <a:cs typeface="Roboto"/>
              </a:rPr>
              <a:t>Pose A: 2,800 normal training images and 808 test images</a:t>
            </a:r>
          </a:p>
        </p:txBody>
      </p:sp>
    </p:spTree>
    <p:extLst>
      <p:ext uri="{BB962C8B-B14F-4D97-AF65-F5344CB8AC3E}">
        <p14:creationId xmlns:p14="http://schemas.microsoft.com/office/powerpoint/2010/main" val="222343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30CE24E6-EF81-4C80-805C-4070AF04A76A}"/>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SegFormer-B0 leads the FP32 comparison</a:t>
            </a:r>
          </a:p>
        </p:txBody>
      </p:sp>
      <p:pic>
        <p:nvPicPr>
          <p:cNvPr id="2" name="Immagine 1">
            <a:extLst>
              <a:ext uri="{FF2B5EF4-FFF2-40B4-BE49-F238E27FC236}">
                <a16:creationId xmlns:a16="http://schemas.microsoft.com/office/drawing/2014/main" id="{97620631-AD59-40A5-96EA-51FBAA52915B}"/>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E814A54F-B529-4F0C-A91F-F62451A1F27F}"/>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1C529CDA-7F0E-4C10-9128-B307EE73336E}"/>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880A399D-82EC-44C4-A1C9-F84604DA15B3}"/>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18 / 33</a:t>
            </a:r>
          </a:p>
        </p:txBody>
      </p:sp>
      <p:sp>
        <p:nvSpPr>
          <p:cNvPr id="6" name="source-citations">
            <a:extLst>
              <a:ext uri="{FF2B5EF4-FFF2-40B4-BE49-F238E27FC236}">
                <a16:creationId xmlns:a16="http://schemas.microsoft.com/office/drawing/2014/main" id="{B9789666-75F8-47E9-9C73-D2F740EFB54A}"/>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results and methods</a:t>
            </a:r>
          </a:p>
        </p:txBody>
      </p:sp>
      <p:graphicFrame>
        <p:nvGraphicFramePr>
          <p:cNvPr id="7" name="Chart">
            <a:extLst>
              <a:ext uri="{FF2B5EF4-FFF2-40B4-BE49-F238E27FC236}">
                <a16:creationId xmlns:a16="http://schemas.microsoft.com/office/drawing/2014/main" id="{DC2B686E-A32F-450F-A3C0-2F552E586BB8}"/>
              </a:ext>
            </a:extLst>
          </p:cNvPr>
          <p:cNvGraphicFramePr/>
          <p:nvPr/>
        </p:nvGraphicFramePr>
        <p:xfrm>
          <a:off x="762000" y="1514475"/>
          <a:ext cx="7715250" cy="4171950"/>
        </p:xfrm>
        <a:graphic>
          <a:graphicData uri="http://schemas.openxmlformats.org/drawingml/2006/chart">
            <c:chart xmlns:c="http://schemas.openxmlformats.org/drawingml/2006/chart" xmlns:r="http://schemas.openxmlformats.org/officeDocument/2006/relationships" r:id="rId4"/>
          </a:graphicData>
        </a:graphic>
      </p:graphicFrame>
      <p:pic>
        <p:nvPicPr>
          <p:cNvPr id="8" name="Immagine 7">
            <a:extLst>
              <a:ext uri="{FF2B5EF4-FFF2-40B4-BE49-F238E27FC236}">
                <a16:creationId xmlns:a16="http://schemas.microsoft.com/office/drawing/2014/main" id="{D1A91194-06A3-40B1-8C6C-A78CF665D88F}"/>
              </a:ext>
            </a:extLst>
          </p:cNvPr>
          <p:cNvPicPr>
            <a:picLocks noChangeAspect="1"/>
          </p:cNvPicPr>
          <p:nvPr/>
        </p:nvPicPr>
        <p:blipFill>
          <a:blip r:embed="rId5"/>
          <a:stretch/>
        </p:blipFill>
        <p:spPr>
          <a:xfrm>
            <a:off x="9601200" y="1819275"/>
            <a:ext cx="819150" cy="819150"/>
          </a:xfrm>
          <a:prstGeom prst="rect">
            <a:avLst/>
          </a:prstGeom>
        </p:spPr>
      </p:pic>
      <p:sp>
        <p:nvSpPr>
          <p:cNvPr id="9" name="best-seg-value">
            <a:extLst>
              <a:ext uri="{FF2B5EF4-FFF2-40B4-BE49-F238E27FC236}">
                <a16:creationId xmlns:a16="http://schemas.microsoft.com/office/drawing/2014/main" id="{8490EEC1-9D04-4F82-8852-30DB863B1236}"/>
              </a:ext>
            </a:extLst>
          </p:cNvPr>
          <p:cNvSpPr>
            <a:spLocks noGrp="1"/>
          </p:cNvSpPr>
          <p:nvPr/>
        </p:nvSpPr>
        <p:spPr>
          <a:xfrm>
            <a:off x="8772525" y="3000375"/>
            <a:ext cx="2905125" cy="895350"/>
          </a:xfrm>
          <a:prstGeom prst="rect">
            <a:avLst/>
          </a:prstGeom>
          <a:noFill/>
          <a:ln w="0">
            <a:noFill/>
          </a:ln>
        </p:spPr>
        <p:txBody>
          <a:bodyPr wrap="square" lIns="0" tIns="0" rIns="0" bIns="0" anchor="t">
            <a:noAutofit/>
          </a:bodyPr>
          <a:lstStyle>
            <a:defPPr algn="ctr">
              <a:defRPr lang="en-US" sz="4800" b="1">
                <a:solidFill>
                  <a:srgbClr val="822433"/>
                </a:solidFill>
                <a:latin typeface="Roboto"/>
                <a:ea typeface="Roboto"/>
                <a:cs typeface="Roboto"/>
              </a:defRPr>
            </a:defPPr>
            <a:lvl1pPr algn="ctr">
              <a:defRPr lang="en-US" sz="4800" b="1">
                <a:solidFill>
                  <a:srgbClr val="822433"/>
                </a:solidFill>
                <a:latin typeface="Roboto"/>
                <a:ea typeface="Roboto"/>
                <a:cs typeface="Roboto"/>
              </a:defRPr>
            </a:lvl1pPr>
            <a:lvl2pPr algn="ctr">
              <a:defRPr lang="en-US" sz="4800" b="1">
                <a:solidFill>
                  <a:srgbClr val="822433"/>
                </a:solidFill>
                <a:latin typeface="Roboto"/>
                <a:ea typeface="Roboto"/>
                <a:cs typeface="Roboto"/>
              </a:defRPr>
            </a:lvl2pPr>
            <a:lvl3pPr algn="ctr">
              <a:defRPr lang="en-US" sz="4800" b="1">
                <a:solidFill>
                  <a:srgbClr val="822433"/>
                </a:solidFill>
                <a:latin typeface="Roboto"/>
                <a:ea typeface="Roboto"/>
                <a:cs typeface="Roboto"/>
              </a:defRPr>
            </a:lvl3pPr>
            <a:lvl4pPr algn="ctr">
              <a:defRPr lang="en-US" sz="4800" b="1">
                <a:solidFill>
                  <a:srgbClr val="822433"/>
                </a:solidFill>
                <a:latin typeface="Roboto"/>
                <a:ea typeface="Roboto"/>
                <a:cs typeface="Roboto"/>
              </a:defRPr>
            </a:lvl4pPr>
            <a:lvl5pPr algn="ctr">
              <a:defRPr lang="en-US" sz="4800" b="1">
                <a:solidFill>
                  <a:srgbClr val="822433"/>
                </a:solidFill>
                <a:latin typeface="Roboto"/>
                <a:ea typeface="Roboto"/>
                <a:cs typeface="Roboto"/>
              </a:defRPr>
            </a:lvl5pPr>
            <a:lvl6pPr algn="ctr">
              <a:defRPr lang="en-US" sz="4800" b="1">
                <a:solidFill>
                  <a:srgbClr val="822433"/>
                </a:solidFill>
                <a:latin typeface="Roboto"/>
                <a:ea typeface="Roboto"/>
                <a:cs typeface="Roboto"/>
              </a:defRPr>
            </a:lvl6pPr>
            <a:lvl7pPr algn="ctr">
              <a:defRPr lang="en-US" sz="4800" b="1">
                <a:solidFill>
                  <a:srgbClr val="822433"/>
                </a:solidFill>
                <a:latin typeface="Roboto"/>
                <a:ea typeface="Roboto"/>
                <a:cs typeface="Roboto"/>
              </a:defRPr>
            </a:lvl7pPr>
            <a:lvl8pPr algn="ctr">
              <a:defRPr lang="en-US" sz="4800" b="1">
                <a:solidFill>
                  <a:srgbClr val="822433"/>
                </a:solidFill>
                <a:latin typeface="Roboto"/>
                <a:ea typeface="Roboto"/>
                <a:cs typeface="Roboto"/>
              </a:defRPr>
            </a:lvl8pPr>
            <a:lvl9pPr algn="ctr">
              <a:defRPr lang="en-US" sz="4800" b="1">
                <a:solidFill>
                  <a:srgbClr val="822433"/>
                </a:solidFill>
                <a:latin typeface="Roboto"/>
                <a:ea typeface="Roboto"/>
                <a:cs typeface="Roboto"/>
              </a:defRPr>
            </a:lvl9pPr>
          </a:lstStyle>
          <a:p>
            <a:pPr algn="ctr">
              <a:defRPr lang="en-US" sz="4800" b="1">
                <a:solidFill>
                  <a:srgbClr val="822433"/>
                </a:solidFill>
                <a:latin typeface="Roboto"/>
                <a:ea typeface="Roboto"/>
                <a:cs typeface="Roboto"/>
              </a:defRPr>
            </a:pPr>
            <a:r>
              <a:rPr lang="en-US" sz="4800" b="1">
                <a:solidFill>
                  <a:srgbClr val="822433"/>
                </a:solidFill>
                <a:latin typeface="Roboto"/>
                <a:ea typeface="Roboto"/>
                <a:cs typeface="Roboto"/>
              </a:rPr>
              <a:t>75.55%</a:t>
            </a:r>
          </a:p>
        </p:txBody>
      </p:sp>
      <p:sp>
        <p:nvSpPr>
          <p:cNvPr id="10" name="best-seg-model">
            <a:extLst>
              <a:ext uri="{FF2B5EF4-FFF2-40B4-BE49-F238E27FC236}">
                <a16:creationId xmlns:a16="http://schemas.microsoft.com/office/drawing/2014/main" id="{BE3D5579-F603-4F33-8DF5-768DE27A4847}"/>
              </a:ext>
            </a:extLst>
          </p:cNvPr>
          <p:cNvSpPr>
            <a:spLocks noGrp="1"/>
          </p:cNvSpPr>
          <p:nvPr/>
        </p:nvSpPr>
        <p:spPr>
          <a:xfrm>
            <a:off x="8858250" y="3981450"/>
            <a:ext cx="2762250" cy="438150"/>
          </a:xfrm>
          <a:prstGeom prst="rect">
            <a:avLst/>
          </a:prstGeom>
          <a:noFill/>
          <a:ln w="0">
            <a:noFill/>
          </a:ln>
        </p:spPr>
        <p:txBody>
          <a:bodyPr wrap="square" lIns="0" tIns="0" rIns="0" bIns="0" anchor="t">
            <a:noAutofit/>
          </a:bodyPr>
          <a:lstStyle>
            <a:defPPr algn="ctr">
              <a:defRPr lang="en-US" sz="2175" b="1">
                <a:solidFill>
                  <a:srgbClr val="202124"/>
                </a:solidFill>
                <a:latin typeface="Roboto"/>
                <a:ea typeface="Roboto"/>
                <a:cs typeface="Roboto"/>
              </a:defRPr>
            </a:defPPr>
            <a:lvl1pPr algn="ctr">
              <a:defRPr lang="en-US" sz="2175" b="1">
                <a:solidFill>
                  <a:srgbClr val="202124"/>
                </a:solidFill>
                <a:latin typeface="Roboto"/>
                <a:ea typeface="Roboto"/>
                <a:cs typeface="Roboto"/>
              </a:defRPr>
            </a:lvl1pPr>
            <a:lvl2pPr algn="ctr">
              <a:defRPr lang="en-US" sz="2175" b="1">
                <a:solidFill>
                  <a:srgbClr val="202124"/>
                </a:solidFill>
                <a:latin typeface="Roboto"/>
                <a:ea typeface="Roboto"/>
                <a:cs typeface="Roboto"/>
              </a:defRPr>
            </a:lvl2pPr>
            <a:lvl3pPr algn="ctr">
              <a:defRPr lang="en-US" sz="2175" b="1">
                <a:solidFill>
                  <a:srgbClr val="202124"/>
                </a:solidFill>
                <a:latin typeface="Roboto"/>
                <a:ea typeface="Roboto"/>
                <a:cs typeface="Roboto"/>
              </a:defRPr>
            </a:lvl3pPr>
            <a:lvl4pPr algn="ctr">
              <a:defRPr lang="en-US" sz="2175" b="1">
                <a:solidFill>
                  <a:srgbClr val="202124"/>
                </a:solidFill>
                <a:latin typeface="Roboto"/>
                <a:ea typeface="Roboto"/>
                <a:cs typeface="Roboto"/>
              </a:defRPr>
            </a:lvl4pPr>
            <a:lvl5pPr algn="ctr">
              <a:defRPr lang="en-US" sz="2175" b="1">
                <a:solidFill>
                  <a:srgbClr val="202124"/>
                </a:solidFill>
                <a:latin typeface="Roboto"/>
                <a:ea typeface="Roboto"/>
                <a:cs typeface="Roboto"/>
              </a:defRPr>
            </a:lvl5pPr>
            <a:lvl6pPr algn="ctr">
              <a:defRPr lang="en-US" sz="2175" b="1">
                <a:solidFill>
                  <a:srgbClr val="202124"/>
                </a:solidFill>
                <a:latin typeface="Roboto"/>
                <a:ea typeface="Roboto"/>
                <a:cs typeface="Roboto"/>
              </a:defRPr>
            </a:lvl6pPr>
            <a:lvl7pPr algn="ctr">
              <a:defRPr lang="en-US" sz="2175" b="1">
                <a:solidFill>
                  <a:srgbClr val="202124"/>
                </a:solidFill>
                <a:latin typeface="Roboto"/>
                <a:ea typeface="Roboto"/>
                <a:cs typeface="Roboto"/>
              </a:defRPr>
            </a:lvl7pPr>
            <a:lvl8pPr algn="ctr">
              <a:defRPr lang="en-US" sz="2175" b="1">
                <a:solidFill>
                  <a:srgbClr val="202124"/>
                </a:solidFill>
                <a:latin typeface="Roboto"/>
                <a:ea typeface="Roboto"/>
                <a:cs typeface="Roboto"/>
              </a:defRPr>
            </a:lvl8pPr>
            <a:lvl9pPr algn="ctr">
              <a:defRPr lang="en-US" sz="2175" b="1">
                <a:solidFill>
                  <a:srgbClr val="202124"/>
                </a:solidFill>
                <a:latin typeface="Roboto"/>
                <a:ea typeface="Roboto"/>
                <a:cs typeface="Roboto"/>
              </a:defRPr>
            </a:lvl9pPr>
          </a:lstStyle>
          <a:p>
            <a:pPr algn="ctr">
              <a:defRPr lang="en-US" sz="2175" b="1">
                <a:solidFill>
                  <a:srgbClr val="202124"/>
                </a:solidFill>
                <a:latin typeface="Roboto"/>
                <a:ea typeface="Roboto"/>
                <a:cs typeface="Roboto"/>
              </a:defRPr>
            </a:pPr>
            <a:r>
              <a:rPr lang="en-US" sz="2175" b="1">
                <a:solidFill>
                  <a:srgbClr val="202124"/>
                </a:solidFill>
                <a:latin typeface="Roboto"/>
                <a:ea typeface="Roboto"/>
                <a:cs typeface="Roboto"/>
              </a:rPr>
              <a:t>SegFormer-B0</a:t>
            </a:r>
          </a:p>
        </p:txBody>
      </p:sp>
      <p:sp>
        <p:nvSpPr>
          <p:cNvPr id="11" name="best-seg-params">
            <a:extLst>
              <a:ext uri="{FF2B5EF4-FFF2-40B4-BE49-F238E27FC236}">
                <a16:creationId xmlns:a16="http://schemas.microsoft.com/office/drawing/2014/main" id="{E911DE26-6DBA-46F1-89D0-BBD2B905C712}"/>
              </a:ext>
            </a:extLst>
          </p:cNvPr>
          <p:cNvSpPr>
            <a:spLocks noGrp="1"/>
          </p:cNvSpPr>
          <p:nvPr/>
        </p:nvSpPr>
        <p:spPr>
          <a:xfrm>
            <a:off x="8858250" y="4648200"/>
            <a:ext cx="2762250" cy="409575"/>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1875" b="0">
                <a:solidFill>
                  <a:srgbClr val="656B73"/>
                </a:solidFill>
                <a:latin typeface="Roboto"/>
                <a:ea typeface="Roboto"/>
                <a:cs typeface="Roboto"/>
              </a:rPr>
              <a:t>3.72M parameters</a:t>
            </a:r>
          </a:p>
        </p:txBody>
      </p:sp>
      <p:sp>
        <p:nvSpPr>
          <p:cNvPr id="12" name="segmetric">
            <a:extLst>
              <a:ext uri="{FF2B5EF4-FFF2-40B4-BE49-F238E27FC236}">
                <a16:creationId xmlns:a16="http://schemas.microsoft.com/office/drawing/2014/main" id="{FB4132A6-41F2-4CDA-8ED8-10B2C7683566}"/>
              </a:ext>
            </a:extLst>
          </p:cNvPr>
          <p:cNvSpPr>
            <a:spLocks noGrp="1"/>
          </p:cNvSpPr>
          <p:nvPr/>
        </p:nvSpPr>
        <p:spPr>
          <a:xfrm>
            <a:off x="857250" y="5781675"/>
            <a:ext cx="10096500" cy="333375"/>
          </a:xfrm>
          <a:prstGeom prst="rect">
            <a:avLst/>
          </a:prstGeom>
          <a:noFill/>
          <a:ln w="0">
            <a:noFill/>
          </a:ln>
        </p:spPr>
        <p:txBody>
          <a:bodyPr wrap="square" lIns="0" tIns="0" rIns="0" bIns="0" anchor="t">
            <a:noAutofit/>
          </a:bodyPr>
          <a:lstStyle>
            <a:defPPr algn="l">
              <a:defRPr lang="en-US" sz="1875" b="0">
                <a:solidFill>
                  <a:srgbClr val="656B73"/>
                </a:solidFill>
                <a:latin typeface="Roboto"/>
                <a:ea typeface="Roboto"/>
                <a:cs typeface="Roboto"/>
              </a:defRPr>
            </a:defPPr>
            <a:lvl1pPr algn="l">
              <a:defRPr lang="en-US" sz="1875" b="0">
                <a:solidFill>
                  <a:srgbClr val="656B73"/>
                </a:solidFill>
                <a:latin typeface="Roboto"/>
                <a:ea typeface="Roboto"/>
                <a:cs typeface="Roboto"/>
              </a:defRPr>
            </a:lvl1pPr>
            <a:lvl2pPr algn="l">
              <a:defRPr lang="en-US" sz="1875" b="0">
                <a:solidFill>
                  <a:srgbClr val="656B73"/>
                </a:solidFill>
                <a:latin typeface="Roboto"/>
                <a:ea typeface="Roboto"/>
                <a:cs typeface="Roboto"/>
              </a:defRPr>
            </a:lvl2pPr>
            <a:lvl3pPr algn="l">
              <a:defRPr lang="en-US" sz="1875" b="0">
                <a:solidFill>
                  <a:srgbClr val="656B73"/>
                </a:solidFill>
                <a:latin typeface="Roboto"/>
                <a:ea typeface="Roboto"/>
                <a:cs typeface="Roboto"/>
              </a:defRPr>
            </a:lvl3pPr>
            <a:lvl4pPr algn="l">
              <a:defRPr lang="en-US" sz="1875" b="0">
                <a:solidFill>
                  <a:srgbClr val="656B73"/>
                </a:solidFill>
                <a:latin typeface="Roboto"/>
                <a:ea typeface="Roboto"/>
                <a:cs typeface="Roboto"/>
              </a:defRPr>
            </a:lvl4pPr>
            <a:lvl5pPr algn="l">
              <a:defRPr lang="en-US" sz="1875" b="0">
                <a:solidFill>
                  <a:srgbClr val="656B73"/>
                </a:solidFill>
                <a:latin typeface="Roboto"/>
                <a:ea typeface="Roboto"/>
                <a:cs typeface="Roboto"/>
              </a:defRPr>
            </a:lvl5pPr>
            <a:lvl6pPr algn="l">
              <a:defRPr lang="en-US" sz="1875" b="0">
                <a:solidFill>
                  <a:srgbClr val="656B73"/>
                </a:solidFill>
                <a:latin typeface="Roboto"/>
                <a:ea typeface="Roboto"/>
                <a:cs typeface="Roboto"/>
              </a:defRPr>
            </a:lvl6pPr>
            <a:lvl7pPr algn="l">
              <a:defRPr lang="en-US" sz="1875" b="0">
                <a:solidFill>
                  <a:srgbClr val="656B73"/>
                </a:solidFill>
                <a:latin typeface="Roboto"/>
                <a:ea typeface="Roboto"/>
                <a:cs typeface="Roboto"/>
              </a:defRPr>
            </a:lvl7pPr>
            <a:lvl8pPr algn="l">
              <a:defRPr lang="en-US" sz="1875" b="0">
                <a:solidFill>
                  <a:srgbClr val="656B73"/>
                </a:solidFill>
                <a:latin typeface="Roboto"/>
                <a:ea typeface="Roboto"/>
                <a:cs typeface="Roboto"/>
              </a:defRPr>
            </a:lvl8pPr>
            <a:lvl9pPr algn="l">
              <a:defRPr lang="en-US" sz="1875" b="0">
                <a:solidFill>
                  <a:srgbClr val="656B73"/>
                </a:solidFill>
                <a:latin typeface="Roboto"/>
                <a:ea typeface="Roboto"/>
                <a:cs typeface="Roboto"/>
              </a:defRPr>
            </a:lvl9pPr>
          </a:lstStyle>
          <a:p>
            <a:pPr algn="l">
              <a:defRPr lang="en-US" sz="1875" b="0">
                <a:solidFill>
                  <a:srgbClr val="656B73"/>
                </a:solidFill>
                <a:latin typeface="Roboto"/>
                <a:ea typeface="Roboto"/>
                <a:cs typeface="Roboto"/>
              </a:defRPr>
            </a:pPr>
            <a:r>
              <a:rPr lang="en-US" sz="1875" b="0">
                <a:solidFill>
                  <a:srgbClr val="656B73"/>
                </a:solidFill>
                <a:latin typeface="Roboto"/>
                <a:ea typeface="Roboto"/>
                <a:cs typeface="Roboto"/>
              </a:rPr>
              <a:t>S⁵Mars test mIoU (%), FP32 configurations</a:t>
            </a:r>
          </a:p>
        </p:txBody>
      </p:sp>
    </p:spTree>
    <p:extLst>
      <p:ext uri="{BB962C8B-B14F-4D97-AF65-F5344CB8AC3E}">
        <p14:creationId xmlns:p14="http://schemas.microsoft.com/office/powerpoint/2010/main" val="222343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CBA08497-F276-4302-8875-7FF7C5310BEB}"/>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Cross-mission generalization on MarsSeg</a:t>
            </a:r>
          </a:p>
        </p:txBody>
      </p:sp>
      <p:pic>
        <p:nvPicPr>
          <p:cNvPr id="2" name="Immagine 1">
            <a:extLst>
              <a:ext uri="{FF2B5EF4-FFF2-40B4-BE49-F238E27FC236}">
                <a16:creationId xmlns:a16="http://schemas.microsoft.com/office/drawing/2014/main" id="{3A314161-8AA7-4158-8797-98EF73D17819}"/>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C2035AF3-97F4-456F-ACA2-B3FEEF14980B}"/>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212454B4-0E25-43E6-BC44-3F26618C1B92}"/>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0A6D9D16-2ADD-41B7-B0AE-477850CAB4A5}"/>
              </a:ext>
            </a:extLst>
          </p:cNvPr>
          <p:cNvSpPr>
            <a:spLocks noGrp="1"/>
          </p:cNvSpPr>
          <p:nvPr/>
        </p:nvSpPr>
        <p:spPr>
          <a:xfrm>
            <a:off x="10572750" y="6581775"/>
            <a:ext cx="1238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19 / 33</a:t>
            </a:r>
          </a:p>
        </p:txBody>
      </p:sp>
      <p:sp>
        <p:nvSpPr>
          <p:cNvPr id="6" name="source-citations">
            <a:extLst>
              <a:ext uri="{FF2B5EF4-FFF2-40B4-BE49-F238E27FC236}">
                <a16:creationId xmlns:a16="http://schemas.microsoft.com/office/drawing/2014/main" id="{6DA22454-4133-4FCC-8FFC-913BFF187311}"/>
              </a:ext>
            </a:extLst>
          </p:cNvPr>
          <p:cNvSpPr>
            <a:spLocks noGrp="1"/>
          </p:cNvSpPr>
          <p:nvPr/>
        </p:nvSpPr>
        <p:spPr>
          <a:xfrm>
            <a:off x="762000" y="6200775"/>
            <a:ext cx="10477500" cy="238125"/>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Section 5.5. [5] [9]</a:t>
            </a:r>
          </a:p>
        </p:txBody>
      </p:sp>
      <p:sp>
        <p:nvSpPr>
          <p:cNvPr id="7" name="mission-labels">
            <a:extLst>
              <a:ext uri="{FF2B5EF4-FFF2-40B4-BE49-F238E27FC236}">
                <a16:creationId xmlns:a16="http://schemas.microsoft.com/office/drawing/2014/main" id="{FBB91330-998A-4B03-B26E-D4826F9F11CA}"/>
              </a:ext>
            </a:extLst>
          </p:cNvPr>
          <p:cNvSpPr>
            <a:spLocks noGrp="1"/>
          </p:cNvSpPr>
          <p:nvPr/>
        </p:nvSpPr>
        <p:spPr>
          <a:xfrm>
            <a:off x="762000" y="1438275"/>
            <a:ext cx="10477500" cy="457200"/>
          </a:xfrm>
          <a:prstGeom prst="rect">
            <a:avLst/>
          </a:prstGeom>
          <a:noFill/>
          <a:ln w="0">
            <a:noFill/>
          </a:ln>
        </p:spPr>
        <p:txBody>
          <a:bodyPr wrap="square" lIns="0" tIns="0" rIns="0" bIns="0" anchor="t">
            <a:noAutofit/>
          </a:bodyPr>
          <a:lstStyle>
            <a:defPPr algn="l">
              <a:defRPr lang="en-US" sz="2100" b="0">
                <a:solidFill>
                  <a:srgbClr val="656B73"/>
                </a:solidFill>
                <a:latin typeface="Roboto"/>
                <a:ea typeface="Roboto"/>
                <a:cs typeface="Roboto"/>
              </a:defRPr>
            </a:defPPr>
            <a:lvl1pPr algn="l">
              <a:defRPr lang="en-US" sz="2100" b="0">
                <a:solidFill>
                  <a:srgbClr val="656B73"/>
                </a:solidFill>
                <a:latin typeface="Roboto"/>
                <a:ea typeface="Roboto"/>
                <a:cs typeface="Roboto"/>
              </a:defRPr>
            </a:lvl1pPr>
            <a:lvl2pPr algn="l">
              <a:defRPr lang="en-US" sz="2100" b="0">
                <a:solidFill>
                  <a:srgbClr val="656B73"/>
                </a:solidFill>
                <a:latin typeface="Roboto"/>
                <a:ea typeface="Roboto"/>
                <a:cs typeface="Roboto"/>
              </a:defRPr>
            </a:lvl2pPr>
            <a:lvl3pPr algn="l">
              <a:defRPr lang="en-US" sz="2100" b="0">
                <a:solidFill>
                  <a:srgbClr val="656B73"/>
                </a:solidFill>
                <a:latin typeface="Roboto"/>
                <a:ea typeface="Roboto"/>
                <a:cs typeface="Roboto"/>
              </a:defRPr>
            </a:lvl3pPr>
            <a:lvl4pPr algn="l">
              <a:defRPr lang="en-US" sz="2100" b="0">
                <a:solidFill>
                  <a:srgbClr val="656B73"/>
                </a:solidFill>
                <a:latin typeface="Roboto"/>
                <a:ea typeface="Roboto"/>
                <a:cs typeface="Roboto"/>
              </a:defRPr>
            </a:lvl4pPr>
            <a:lvl5pPr algn="l">
              <a:defRPr lang="en-US" sz="2100" b="0">
                <a:solidFill>
                  <a:srgbClr val="656B73"/>
                </a:solidFill>
                <a:latin typeface="Roboto"/>
                <a:ea typeface="Roboto"/>
                <a:cs typeface="Roboto"/>
              </a:defRPr>
            </a:lvl5pPr>
            <a:lvl6pPr algn="l">
              <a:defRPr lang="en-US" sz="2100" b="0">
                <a:solidFill>
                  <a:srgbClr val="656B73"/>
                </a:solidFill>
                <a:latin typeface="Roboto"/>
                <a:ea typeface="Roboto"/>
                <a:cs typeface="Roboto"/>
              </a:defRPr>
            </a:lvl6pPr>
            <a:lvl7pPr algn="l">
              <a:defRPr lang="en-US" sz="2100" b="0">
                <a:solidFill>
                  <a:srgbClr val="656B73"/>
                </a:solidFill>
                <a:latin typeface="Roboto"/>
                <a:ea typeface="Roboto"/>
                <a:cs typeface="Roboto"/>
              </a:defRPr>
            </a:lvl7pPr>
            <a:lvl8pPr algn="l">
              <a:defRPr lang="en-US" sz="2100" b="0">
                <a:solidFill>
                  <a:srgbClr val="656B73"/>
                </a:solidFill>
                <a:latin typeface="Roboto"/>
                <a:ea typeface="Roboto"/>
                <a:cs typeface="Roboto"/>
              </a:defRPr>
            </a:lvl8pPr>
            <a:lvl9pPr algn="l">
              <a:defRPr lang="en-US" sz="2100" b="0">
                <a:solidFill>
                  <a:srgbClr val="656B73"/>
                </a:solidFill>
                <a:latin typeface="Roboto"/>
                <a:ea typeface="Roboto"/>
                <a:cs typeface="Roboto"/>
              </a:defRPr>
            </a:lvl9pPr>
          </a:lstStyle>
          <a:p>
            <a:pPr algn="l">
              <a:defRPr lang="en-US" sz="2100" b="0">
                <a:solidFill>
                  <a:srgbClr val="656B73"/>
                </a:solidFill>
                <a:latin typeface="Roboto"/>
                <a:ea typeface="Roboto"/>
                <a:cs typeface="Roboto"/>
              </a:defRPr>
            </a:pPr>
            <a:r>
              <a:rPr lang="en-US" sz="2100" b="0">
                <a:solidFill>
                  <a:srgbClr val="656B73"/>
                </a:solidFill>
                <a:latin typeface="Roboto"/>
                <a:ea typeface="Roboto"/>
                <a:cs typeface="Roboto"/>
              </a:rPr>
              <a:t>MSL: Curiosity     MER: Spirit / Opportunity</a:t>
            </a:r>
          </a:p>
        </p:txBody>
      </p:sp>
      <p:graphicFrame>
        <p:nvGraphicFramePr>
          <p:cNvPr id="8" name="Tabella 7">
            <a:extLst>
              <a:ext uri="{FF2B5EF4-FFF2-40B4-BE49-F238E27FC236}">
                <a16:creationId xmlns:a16="http://schemas.microsoft.com/office/drawing/2014/main" id="{8E49184A-7C75-4297-8537-A9B380CDA4F1}"/>
              </a:ext>
            </a:extLst>
          </p:cNvPr>
          <p:cNvGraphicFramePr/>
          <p:nvPr>
            <p:extLst>
              <p:ext uri="{D42A27DB-BD31-4B8C-83A1-F6EECF244321}">
                <p14:modId xmlns:p14="http://schemas.microsoft.com/office/powerpoint/2010/main" val="3228392095"/>
              </p:ext>
            </p:extLst>
          </p:nvPr>
        </p:nvGraphicFramePr>
        <p:xfrm>
          <a:off x="762000" y="2357755"/>
          <a:ext cx="10668000" cy="2790825"/>
        </p:xfrm>
        <a:graphic>
          <a:graphicData uri="http://schemas.openxmlformats.org/drawingml/2006/table">
            <a:tbl>
              <a:tblPr/>
              <a:tblGrid>
                <a:gridCol w="3048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558165">
                <a:tc rowSpan="2">
                  <a:txBody>
                    <a:bodyPr/>
                    <a:lstStyle/>
                    <a:p>
                      <a:pPr algn="ctr"/>
                      <a:r>
                        <a:rPr lang="en-US" sz="1950" b="1">
                          <a:solidFill>
                            <a:srgbClr val="202124"/>
                          </a:solidFill>
                          <a:latin typeface="Roboto"/>
                          <a:ea typeface="Roboto"/>
                          <a:cs typeface="Roboto"/>
                        </a:rPr>
                        <a:t>Model</a:t>
                      </a:r>
                    </a:p>
                  </a:txBody>
                  <a:tcPr marL="76200" marR="76200" marT="47625" marB="47625" anchor="ctr">
                    <a:lnL w="0">
                      <a:noFill/>
                    </a:lnL>
                    <a:lnR w="0">
                      <a:noFill/>
                    </a:lnR>
                    <a:lnT w="0">
                      <a:noFill/>
                    </a:lnT>
                    <a:lnB w="0">
                      <a:noFill/>
                    </a:lnB>
                    <a:lnTlToBr w="0">
                      <a:noFill/>
                    </a:lnTlToBr>
                    <a:lnBlToTr w="0">
                      <a:noFill/>
                    </a:lnBlToTr>
                    <a:solidFill>
                      <a:srgbClr val="FFFFFF"/>
                    </a:solidFill>
                  </a:tcPr>
                </a:tc>
                <a:tc gridSpan="2">
                  <a:txBody>
                    <a:bodyPr/>
                    <a:lstStyle/>
                    <a:p>
                      <a:pPr algn="ctr"/>
                      <a:r>
                        <a:rPr lang="en-US" sz="1950" b="1">
                          <a:solidFill>
                            <a:srgbClr val="202124"/>
                          </a:solidFill>
                          <a:latin typeface="Roboto"/>
                          <a:ea typeface="Roboto"/>
                          <a:cs typeface="Roboto"/>
                        </a:rPr>
                        <a:t>MSL training</a:t>
                      </a:r>
                    </a:p>
                  </a:txBody>
                  <a:tcPr marL="76200" marR="76200" marT="47625" marB="47625" anchor="ctr">
                    <a:lnL w="0">
                      <a:noFill/>
                    </a:lnL>
                    <a:lnR w="0">
                      <a:noFill/>
                    </a:lnR>
                    <a:lnT w="0">
                      <a:noFill/>
                    </a:lnT>
                    <a:lnB w="0">
                      <a:noFill/>
                    </a:lnB>
                    <a:lnTlToBr w="0">
                      <a:noFill/>
                    </a:lnTlToBr>
                    <a:lnBlToTr w="0">
                      <a:noFill/>
                    </a:lnBlToTr>
                    <a:solidFill>
                      <a:srgbClr val="FFFFFF"/>
                    </a:solidFill>
                  </a:tcPr>
                </a:tc>
                <a:tc hMerge="1">
                  <a:txBody>
                    <a:bodyPr/>
                    <a:lstStyle/>
                    <a:p>
                      <a:pPr algn="ctr"/>
                      <a:endParaRPr/>
                    </a:p>
                  </a:txBody>
                  <a:tcPr marL="76200" marR="76200" marT="47625" marB="47625" anchor="ctr">
                    <a:lnL w="0">
                      <a:noFill/>
                    </a:lnL>
                    <a:lnR w="0">
                      <a:noFill/>
                    </a:lnR>
                    <a:lnT w="0">
                      <a:noFill/>
                    </a:lnT>
                    <a:lnB w="0">
                      <a:noFill/>
                    </a:lnB>
                    <a:lnTlToBr w="0">
                      <a:noFill/>
                    </a:lnTlToBr>
                    <a:lnBlToTr w="0">
                      <a:noFill/>
                    </a:lnBlToTr>
                    <a:solidFill>
                      <a:srgbClr val="FFFFFF"/>
                    </a:solidFill>
                  </a:tcPr>
                </a:tc>
                <a:tc gridSpan="2">
                  <a:txBody>
                    <a:bodyPr/>
                    <a:lstStyle/>
                    <a:p>
                      <a:pPr algn="ctr"/>
                      <a:r>
                        <a:rPr lang="en-US" sz="1950" b="1">
                          <a:solidFill>
                            <a:srgbClr val="202124"/>
                          </a:solidFill>
                          <a:latin typeface="Roboto"/>
                          <a:ea typeface="Roboto"/>
                          <a:cs typeface="Roboto"/>
                        </a:rPr>
                        <a:t>MER training</a:t>
                      </a:r>
                    </a:p>
                  </a:txBody>
                  <a:tcPr marL="76200" marR="76200" marT="47625" marB="47625" anchor="ctr">
                    <a:lnL w="0">
                      <a:noFill/>
                    </a:lnL>
                    <a:lnR w="0">
                      <a:noFill/>
                    </a:lnR>
                    <a:lnT w="0">
                      <a:noFill/>
                    </a:lnT>
                    <a:lnB w="0">
                      <a:noFill/>
                    </a:lnB>
                    <a:lnTlToBr w="0">
                      <a:noFill/>
                    </a:lnTlToBr>
                    <a:lnBlToTr w="0">
                      <a:noFill/>
                    </a:lnBlToTr>
                    <a:solidFill>
                      <a:srgbClr val="FFFFFF"/>
                    </a:solidFill>
                  </a:tcPr>
                </a:tc>
                <a:tc hMerge="1">
                  <a:txBody>
                    <a:bodyPr/>
                    <a:lstStyle/>
                    <a:p>
                      <a:pPr algn="ctr"/>
                      <a:endParaRP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0"/>
                  </a:ext>
                </a:extLst>
              </a:tr>
              <a:tr h="558165">
                <a:tc vMerge="1">
                  <a:txBody>
                    <a:bodyPr/>
                    <a:lstStyle/>
                    <a:p>
                      <a:pPr algn="ctr"/>
                      <a:endParaRP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1950" b="1">
                          <a:solidFill>
                            <a:srgbClr val="202124"/>
                          </a:solidFill>
                          <a:latin typeface="Roboto"/>
                          <a:ea typeface="Roboto"/>
                          <a:cs typeface="Roboto"/>
                        </a:rPr>
                        <a:t>MSL test</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b="1">
                          <a:solidFill>
                            <a:srgbClr val="822433"/>
                          </a:solidFill>
                          <a:latin typeface="Roboto"/>
                          <a:ea typeface="Roboto"/>
                          <a:cs typeface="Roboto"/>
                        </a:rPr>
                        <a:t>MER test</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1950" b="1">
                          <a:solidFill>
                            <a:srgbClr val="202124"/>
                          </a:solidFill>
                          <a:latin typeface="Roboto"/>
                          <a:ea typeface="Roboto"/>
                          <a:cs typeface="Roboto"/>
                        </a:rPr>
                        <a:t>MER test</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b="1">
                          <a:solidFill>
                            <a:srgbClr val="822433"/>
                          </a:solidFill>
                          <a:latin typeface="Roboto"/>
                          <a:ea typeface="Roboto"/>
                          <a:cs typeface="Roboto"/>
                        </a:rPr>
                        <a:t>MSL test</a:t>
                      </a: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1"/>
                  </a:ext>
                </a:extLst>
              </a:tr>
              <a:tr h="558165">
                <a:tc>
                  <a:txBody>
                    <a:bodyPr/>
                    <a:lstStyle/>
                    <a:p>
                      <a:pPr algn="l"/>
                      <a:r>
                        <a:rPr lang="en-US" sz="2100">
                          <a:solidFill>
                            <a:srgbClr val="202124"/>
                          </a:solidFill>
                          <a:latin typeface="Roboto"/>
                          <a:ea typeface="Roboto"/>
                          <a:cs typeface="Roboto"/>
                        </a:rPr>
                        <a:t>SegFormer-B0</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a:solidFill>
                            <a:srgbClr val="202124"/>
                          </a:solidFill>
                          <a:latin typeface="Roboto"/>
                          <a:ea typeface="Roboto"/>
                          <a:cs typeface="Roboto"/>
                        </a:rPr>
                        <a:t>70.63</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b="1">
                          <a:solidFill>
                            <a:srgbClr val="822433"/>
                          </a:solidFill>
                          <a:latin typeface="Roboto"/>
                          <a:ea typeface="Roboto"/>
                          <a:cs typeface="Roboto"/>
                        </a:rPr>
                        <a:t>52.06</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a:solidFill>
                            <a:srgbClr val="202124"/>
                          </a:solidFill>
                          <a:latin typeface="Roboto"/>
                          <a:ea typeface="Roboto"/>
                          <a:cs typeface="Roboto"/>
                        </a:rPr>
                        <a:t>66.75</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b="1">
                          <a:solidFill>
                            <a:srgbClr val="822433"/>
                          </a:solidFill>
                          <a:latin typeface="Roboto"/>
                          <a:ea typeface="Roboto"/>
                          <a:cs typeface="Roboto"/>
                        </a:rPr>
                        <a:t>48.11</a:t>
                      </a: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2"/>
                  </a:ext>
                </a:extLst>
              </a:tr>
              <a:tr h="558165">
                <a:tc>
                  <a:txBody>
                    <a:bodyPr/>
                    <a:lstStyle/>
                    <a:p>
                      <a:pPr algn="l"/>
                      <a:r>
                        <a:rPr lang="en-US" sz="2100">
                          <a:solidFill>
                            <a:srgbClr val="202124"/>
                          </a:solidFill>
                          <a:latin typeface="Roboto"/>
                          <a:ea typeface="Roboto"/>
                          <a:cs typeface="Roboto"/>
                        </a:rPr>
                        <a:t>U-Net R34</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b="1">
                          <a:solidFill>
                            <a:srgbClr val="202124"/>
                          </a:solidFill>
                          <a:latin typeface="Roboto"/>
                          <a:ea typeface="Roboto"/>
                          <a:cs typeface="Roboto"/>
                        </a:rPr>
                        <a:t>71.80</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a:solidFill>
                            <a:srgbClr val="822433"/>
                          </a:solidFill>
                          <a:latin typeface="Roboto"/>
                          <a:ea typeface="Roboto"/>
                          <a:cs typeface="Roboto"/>
                        </a:rPr>
                        <a:t>27.43</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b="1">
                          <a:solidFill>
                            <a:srgbClr val="202124"/>
                          </a:solidFill>
                          <a:latin typeface="Roboto"/>
                          <a:ea typeface="Roboto"/>
                          <a:cs typeface="Roboto"/>
                        </a:rPr>
                        <a:t>67.76</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a:solidFill>
                            <a:srgbClr val="822433"/>
                          </a:solidFill>
                          <a:latin typeface="Roboto"/>
                          <a:ea typeface="Roboto"/>
                          <a:cs typeface="Roboto"/>
                        </a:rPr>
                        <a:t>13.82</a:t>
                      </a: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3"/>
                  </a:ext>
                </a:extLst>
              </a:tr>
              <a:tr h="558165">
                <a:tc>
                  <a:txBody>
                    <a:bodyPr/>
                    <a:lstStyle/>
                    <a:p>
                      <a:pPr algn="l"/>
                      <a:r>
                        <a:rPr lang="en-US" sz="2100">
                          <a:solidFill>
                            <a:srgbClr val="202124"/>
                          </a:solidFill>
                          <a:latin typeface="Roboto"/>
                          <a:ea typeface="Roboto"/>
                          <a:cs typeface="Roboto"/>
                        </a:rPr>
                        <a:t>DeepLabV3+ MV2</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a:solidFill>
                            <a:srgbClr val="202124"/>
                          </a:solidFill>
                          <a:latin typeface="Roboto"/>
                          <a:ea typeface="Roboto"/>
                          <a:cs typeface="Roboto"/>
                        </a:rPr>
                        <a:t>68.98</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a:solidFill>
                            <a:srgbClr val="822433"/>
                          </a:solidFill>
                          <a:latin typeface="Roboto"/>
                          <a:ea typeface="Roboto"/>
                          <a:cs typeface="Roboto"/>
                        </a:rPr>
                        <a:t>38.27</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a:solidFill>
                            <a:srgbClr val="202124"/>
                          </a:solidFill>
                          <a:latin typeface="Roboto"/>
                          <a:ea typeface="Roboto"/>
                          <a:cs typeface="Roboto"/>
                        </a:rPr>
                        <a:t>65.10</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400" dirty="0">
                          <a:solidFill>
                            <a:srgbClr val="822433"/>
                          </a:solidFill>
                          <a:latin typeface="Roboto"/>
                          <a:ea typeface="Roboto"/>
                          <a:cs typeface="Roboto"/>
                        </a:rPr>
                        <a:t>12.86</a:t>
                      </a: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4"/>
                  </a:ext>
                </a:extLst>
              </a:tr>
            </a:tbl>
          </a:graphicData>
        </a:graphic>
      </p:graphicFrame>
      <p:sp>
        <p:nvSpPr>
          <p:cNvPr id="9" name="cross-takeaway">
            <a:extLst>
              <a:ext uri="{FF2B5EF4-FFF2-40B4-BE49-F238E27FC236}">
                <a16:creationId xmlns:a16="http://schemas.microsoft.com/office/drawing/2014/main" id="{FDF94632-6C1A-4F49-AFE2-5993E9FCAC8C}"/>
              </a:ext>
            </a:extLst>
          </p:cNvPr>
          <p:cNvSpPr>
            <a:spLocks noGrp="1"/>
          </p:cNvSpPr>
          <p:nvPr/>
        </p:nvSpPr>
        <p:spPr>
          <a:xfrm>
            <a:off x="762000" y="5276850"/>
            <a:ext cx="10572750" cy="542925"/>
          </a:xfrm>
          <a:prstGeom prst="rect">
            <a:avLst/>
          </a:prstGeom>
          <a:noFill/>
          <a:ln w="0">
            <a:noFill/>
          </a:ln>
        </p:spPr>
        <p:txBody>
          <a:bodyPr wrap="square" lIns="0" tIns="0" rIns="0" bIns="0" anchor="t">
            <a:noAutofit/>
          </a:bodyPr>
          <a:lstStyle>
            <a:defPPr algn="l">
              <a:defRPr lang="en-US" sz="2550" b="1">
                <a:solidFill>
                  <a:srgbClr val="822433"/>
                </a:solidFill>
                <a:latin typeface="Roboto"/>
                <a:ea typeface="Roboto"/>
                <a:cs typeface="Roboto"/>
              </a:defRPr>
            </a:defPPr>
            <a:lvl1pPr algn="l">
              <a:defRPr lang="en-US" sz="2550" b="1">
                <a:solidFill>
                  <a:srgbClr val="822433"/>
                </a:solidFill>
                <a:latin typeface="Roboto"/>
                <a:ea typeface="Roboto"/>
                <a:cs typeface="Roboto"/>
              </a:defRPr>
            </a:lvl1pPr>
            <a:lvl2pPr algn="l">
              <a:defRPr lang="en-US" sz="2550" b="1">
                <a:solidFill>
                  <a:srgbClr val="822433"/>
                </a:solidFill>
                <a:latin typeface="Roboto"/>
                <a:ea typeface="Roboto"/>
                <a:cs typeface="Roboto"/>
              </a:defRPr>
            </a:lvl2pPr>
            <a:lvl3pPr algn="l">
              <a:defRPr lang="en-US" sz="2550" b="1">
                <a:solidFill>
                  <a:srgbClr val="822433"/>
                </a:solidFill>
                <a:latin typeface="Roboto"/>
                <a:ea typeface="Roboto"/>
                <a:cs typeface="Roboto"/>
              </a:defRPr>
            </a:lvl3pPr>
            <a:lvl4pPr algn="l">
              <a:defRPr lang="en-US" sz="2550" b="1">
                <a:solidFill>
                  <a:srgbClr val="822433"/>
                </a:solidFill>
                <a:latin typeface="Roboto"/>
                <a:ea typeface="Roboto"/>
                <a:cs typeface="Roboto"/>
              </a:defRPr>
            </a:lvl4pPr>
            <a:lvl5pPr algn="l">
              <a:defRPr lang="en-US" sz="2550" b="1">
                <a:solidFill>
                  <a:srgbClr val="822433"/>
                </a:solidFill>
                <a:latin typeface="Roboto"/>
                <a:ea typeface="Roboto"/>
                <a:cs typeface="Roboto"/>
              </a:defRPr>
            </a:lvl5pPr>
            <a:lvl6pPr algn="l">
              <a:defRPr lang="en-US" sz="2550" b="1">
                <a:solidFill>
                  <a:srgbClr val="822433"/>
                </a:solidFill>
                <a:latin typeface="Roboto"/>
                <a:ea typeface="Roboto"/>
                <a:cs typeface="Roboto"/>
              </a:defRPr>
            </a:lvl6pPr>
            <a:lvl7pPr algn="l">
              <a:defRPr lang="en-US" sz="2550" b="1">
                <a:solidFill>
                  <a:srgbClr val="822433"/>
                </a:solidFill>
                <a:latin typeface="Roboto"/>
                <a:ea typeface="Roboto"/>
                <a:cs typeface="Roboto"/>
              </a:defRPr>
            </a:lvl7pPr>
            <a:lvl8pPr algn="l">
              <a:defRPr lang="en-US" sz="2550" b="1">
                <a:solidFill>
                  <a:srgbClr val="822433"/>
                </a:solidFill>
                <a:latin typeface="Roboto"/>
                <a:ea typeface="Roboto"/>
                <a:cs typeface="Roboto"/>
              </a:defRPr>
            </a:lvl8pPr>
            <a:lvl9pPr algn="l">
              <a:defRPr lang="en-US" sz="2550" b="1">
                <a:solidFill>
                  <a:srgbClr val="822433"/>
                </a:solidFill>
                <a:latin typeface="Roboto"/>
                <a:ea typeface="Roboto"/>
                <a:cs typeface="Roboto"/>
              </a:defRPr>
            </a:lvl9pPr>
          </a:lstStyle>
          <a:p>
            <a:pPr algn="l">
              <a:defRPr lang="en-US" sz="2550" b="1">
                <a:solidFill>
                  <a:srgbClr val="822433"/>
                </a:solidFill>
                <a:latin typeface="Roboto"/>
                <a:ea typeface="Roboto"/>
                <a:cs typeface="Roboto"/>
              </a:defRPr>
            </a:pPr>
            <a:r>
              <a:rPr lang="en-US" sz="2550" b="1">
                <a:solidFill>
                  <a:srgbClr val="822433"/>
                </a:solidFill>
                <a:latin typeface="Roboto"/>
                <a:ea typeface="Roboto"/>
                <a:cs typeface="Roboto"/>
              </a:rPr>
              <a:t>SegFormer-B0 transfers best in both directions</a:t>
            </a:r>
          </a:p>
        </p:txBody>
      </p:sp>
      <p:sp>
        <p:nvSpPr>
          <p:cNvPr id="10" name="cross-scope">
            <a:extLst>
              <a:ext uri="{FF2B5EF4-FFF2-40B4-BE49-F238E27FC236}">
                <a16:creationId xmlns:a16="http://schemas.microsoft.com/office/drawing/2014/main" id="{3B1FADAD-21A8-4184-BC97-76E7B69EC421}"/>
              </a:ext>
            </a:extLst>
          </p:cNvPr>
          <p:cNvSpPr>
            <a:spLocks noGrp="1"/>
          </p:cNvSpPr>
          <p:nvPr/>
        </p:nvSpPr>
        <p:spPr>
          <a:xfrm>
            <a:off x="762000" y="5819775"/>
            <a:ext cx="10668000" cy="333375"/>
          </a:xfrm>
          <a:prstGeom prst="rect">
            <a:avLst/>
          </a:prstGeom>
          <a:noFill/>
          <a:ln w="0">
            <a:noFill/>
          </a:ln>
        </p:spPr>
        <p:txBody>
          <a:bodyPr wrap="square" lIns="0" tIns="0" rIns="0" bIns="0" anchor="t">
            <a:noAutofit/>
          </a:bodyPr>
          <a:lstStyle>
            <a:defPPr algn="l">
              <a:defRPr lang="en-US" sz="1725" b="0">
                <a:solidFill>
                  <a:srgbClr val="656B73"/>
                </a:solidFill>
                <a:latin typeface="Roboto"/>
                <a:ea typeface="Roboto"/>
                <a:cs typeface="Roboto"/>
              </a:defRPr>
            </a:defPPr>
            <a:lvl1pPr algn="l">
              <a:defRPr lang="en-US" sz="1725" b="0">
                <a:solidFill>
                  <a:srgbClr val="656B73"/>
                </a:solidFill>
                <a:latin typeface="Roboto"/>
                <a:ea typeface="Roboto"/>
                <a:cs typeface="Roboto"/>
              </a:defRPr>
            </a:lvl1pPr>
            <a:lvl2pPr algn="l">
              <a:defRPr lang="en-US" sz="1725" b="0">
                <a:solidFill>
                  <a:srgbClr val="656B73"/>
                </a:solidFill>
                <a:latin typeface="Roboto"/>
                <a:ea typeface="Roboto"/>
                <a:cs typeface="Roboto"/>
              </a:defRPr>
            </a:lvl2pPr>
            <a:lvl3pPr algn="l">
              <a:defRPr lang="en-US" sz="1725" b="0">
                <a:solidFill>
                  <a:srgbClr val="656B73"/>
                </a:solidFill>
                <a:latin typeface="Roboto"/>
                <a:ea typeface="Roboto"/>
                <a:cs typeface="Roboto"/>
              </a:defRPr>
            </a:lvl3pPr>
            <a:lvl4pPr algn="l">
              <a:defRPr lang="en-US" sz="1725" b="0">
                <a:solidFill>
                  <a:srgbClr val="656B73"/>
                </a:solidFill>
                <a:latin typeface="Roboto"/>
                <a:ea typeface="Roboto"/>
                <a:cs typeface="Roboto"/>
              </a:defRPr>
            </a:lvl4pPr>
            <a:lvl5pPr algn="l">
              <a:defRPr lang="en-US" sz="1725" b="0">
                <a:solidFill>
                  <a:srgbClr val="656B73"/>
                </a:solidFill>
                <a:latin typeface="Roboto"/>
                <a:ea typeface="Roboto"/>
                <a:cs typeface="Roboto"/>
              </a:defRPr>
            </a:lvl5pPr>
            <a:lvl6pPr algn="l">
              <a:defRPr lang="en-US" sz="1725" b="0">
                <a:solidFill>
                  <a:srgbClr val="656B73"/>
                </a:solidFill>
                <a:latin typeface="Roboto"/>
                <a:ea typeface="Roboto"/>
                <a:cs typeface="Roboto"/>
              </a:defRPr>
            </a:lvl6pPr>
            <a:lvl7pPr algn="l">
              <a:defRPr lang="en-US" sz="1725" b="0">
                <a:solidFill>
                  <a:srgbClr val="656B73"/>
                </a:solidFill>
                <a:latin typeface="Roboto"/>
                <a:ea typeface="Roboto"/>
                <a:cs typeface="Roboto"/>
              </a:defRPr>
            </a:lvl7pPr>
            <a:lvl8pPr algn="l">
              <a:defRPr lang="en-US" sz="1725" b="0">
                <a:solidFill>
                  <a:srgbClr val="656B73"/>
                </a:solidFill>
                <a:latin typeface="Roboto"/>
                <a:ea typeface="Roboto"/>
                <a:cs typeface="Roboto"/>
              </a:defRPr>
            </a:lvl8pPr>
            <a:lvl9pPr algn="l">
              <a:defRPr lang="en-US" sz="1725" b="0">
                <a:solidFill>
                  <a:srgbClr val="656B73"/>
                </a:solidFill>
                <a:latin typeface="Roboto"/>
                <a:ea typeface="Roboto"/>
                <a:cs typeface="Roboto"/>
              </a:defRPr>
            </a:lvl9pPr>
          </a:lstStyle>
          <a:p>
            <a:pPr algn="l">
              <a:defRPr lang="en-US" sz="1725" b="0">
                <a:solidFill>
                  <a:srgbClr val="656B73"/>
                </a:solidFill>
                <a:latin typeface="Roboto"/>
                <a:ea typeface="Roboto"/>
                <a:cs typeface="Roboto"/>
              </a:defRPr>
            </a:pPr>
            <a:r>
              <a:rPr lang="en-US" sz="1725" b="0">
                <a:solidFill>
                  <a:srgbClr val="656B73"/>
                </a:solidFill>
                <a:latin typeface="Roboto"/>
                <a:ea typeface="Roboto"/>
                <a:cs typeface="Roboto"/>
              </a:rPr>
              <a:t>Test mIoU (%). Separate training runs, shared labels, no target fine-tuning.</a:t>
            </a:r>
          </a:p>
        </p:txBody>
      </p:sp>
    </p:spTree>
    <p:extLst>
      <p:ext uri="{BB962C8B-B14F-4D97-AF65-F5344CB8AC3E}">
        <p14:creationId xmlns:p14="http://schemas.microsoft.com/office/powerpoint/2010/main" val="222343817"/>
      </p:ext>
    </p:extLst>
  </p:cSld>
  <p:clrMapOvr>
    <a:masterClrMapping/>
  </p:clrMapOvr>
</p:sld>
</file>

<file path=ppt/slides/slide20.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38C9C846-1B68-463A-B01B-CD2F2CB84AEF}"/>
              </a:ext>
            </a:extLst>
          </p:cNvPr>
          <p:cNvSpPr>
            <a:spLocks xmlns:a="http://schemas.openxmlformats.org/drawingml/2006/main" noGrp="1"/>
          </p:cNvSpPr>
          <p:nvPr/>
        </p:nvSpPr>
        <p:spPr>
          <a:xfrm xmlns:a="http://schemas.openxmlformats.org/drawingml/2006/main">
            <a:off x="762000" y="485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0" lang="en-US">
                <a:solidFill>
                  <a:srgbClr val="202124"/>
                </a:solidFill>
                <a:latin typeface="Roboto"/>
                <a:ea typeface="Roboto"/>
                <a:cs typeface="Roboto"/>
              </a:defRPr>
            </a:defPPr>
            <a:lvl1pPr algn="l">
              <a:defRPr sz="3200" b="0" lang="en-US">
                <a:solidFill>
                  <a:srgbClr val="202124"/>
                </a:solidFill>
                <a:latin typeface="Roboto"/>
                <a:ea typeface="Roboto"/>
                <a:cs typeface="Roboto"/>
              </a:defRPr>
            </a:lvl1pPr>
            <a:lvl2pPr algn="l">
              <a:defRPr sz="3200" b="0" lang="en-US">
                <a:solidFill>
                  <a:srgbClr val="202124"/>
                </a:solidFill>
                <a:latin typeface="Roboto"/>
                <a:ea typeface="Roboto"/>
                <a:cs typeface="Roboto"/>
              </a:defRPr>
            </a:lvl2pPr>
            <a:lvl3pPr algn="l">
              <a:defRPr sz="3200" b="0" lang="en-US">
                <a:solidFill>
                  <a:srgbClr val="202124"/>
                </a:solidFill>
                <a:latin typeface="Roboto"/>
                <a:ea typeface="Roboto"/>
                <a:cs typeface="Roboto"/>
              </a:defRPr>
            </a:lvl3pPr>
            <a:lvl4pPr algn="l">
              <a:defRPr sz="3200" b="0" lang="en-US">
                <a:solidFill>
                  <a:srgbClr val="202124"/>
                </a:solidFill>
                <a:latin typeface="Roboto"/>
                <a:ea typeface="Roboto"/>
                <a:cs typeface="Roboto"/>
              </a:defRPr>
            </a:lvl4pPr>
            <a:lvl5pPr algn="l">
              <a:defRPr sz="3200" b="0" lang="en-US">
                <a:solidFill>
                  <a:srgbClr val="202124"/>
                </a:solidFill>
                <a:latin typeface="Roboto"/>
                <a:ea typeface="Roboto"/>
                <a:cs typeface="Roboto"/>
              </a:defRPr>
            </a:lvl5pPr>
            <a:lvl6pPr algn="l">
              <a:defRPr sz="3200" b="0" lang="en-US">
                <a:solidFill>
                  <a:srgbClr val="202124"/>
                </a:solidFill>
                <a:latin typeface="Roboto"/>
                <a:ea typeface="Roboto"/>
                <a:cs typeface="Roboto"/>
              </a:defRPr>
            </a:lvl6pPr>
            <a:lvl7pPr algn="l">
              <a:defRPr sz="3200" b="0" lang="en-US">
                <a:solidFill>
                  <a:srgbClr val="202124"/>
                </a:solidFill>
                <a:latin typeface="Roboto"/>
                <a:ea typeface="Roboto"/>
                <a:cs typeface="Roboto"/>
              </a:defRPr>
            </a:lvl7pPr>
            <a:lvl8pPr algn="l">
              <a:defRPr sz="3200" b="0" lang="en-US">
                <a:solidFill>
                  <a:srgbClr val="202124"/>
                </a:solidFill>
                <a:latin typeface="Roboto"/>
                <a:ea typeface="Roboto"/>
                <a:cs typeface="Roboto"/>
              </a:defRPr>
            </a:lvl8pPr>
            <a:lvl9pPr algn="l">
              <a:defRPr sz="3200" b="0" lang="en-US">
                <a:solidFill>
                  <a:srgbClr val="202124"/>
                </a:solidFill>
                <a:latin typeface="Roboto"/>
                <a:ea typeface="Roboto"/>
                <a:cs typeface="Roboto"/>
              </a:defRPr>
            </a:lvl9pPr>
          </a:lstStyle>
          <a:p xmlns:a="http://schemas.openxmlformats.org/drawingml/2006/main">
            <a:pPr algn="l">
              <a:defRPr sz="3200" b="0" lang="en-US">
                <a:solidFill>
                  <a:srgbClr val="202124"/>
                </a:solidFill>
                <a:latin typeface="Roboto"/>
                <a:ea typeface="Roboto"/>
                <a:cs typeface="Roboto"/>
              </a:defRPr>
            </a:pPr>
            <a:r>
              <a:rPr sz="3200" b="0" lang="en-US">
                <a:solidFill>
                  <a:srgbClr val="202124"/>
                </a:solidFill>
                <a:latin typeface="Roboto"/>
                <a:ea typeface="Roboto"/>
                <a:cs typeface="Roboto"/>
              </a:rPr>
              <a:t>Quantization: accuracy, latency and energy</a:t>
            </a:r>
          </a:p>
        </p:txBody>
      </p:sp>
      <p:pic>
        <p:nvPicPr>
          <p:cNvPr id="2" name="">
            <a:extLst xmlns:a="http://schemas.openxmlformats.org/drawingml/2006/main">
              <a:ext uri="{FF2B5EF4-FFF2-40B4-BE49-F238E27FC236}">
                <a16:creationId xmlns:a16="http://schemas.microsoft.com/office/drawing/2014/main" id="{CF6C2727-C928-47F2-A43C-45A1026133B0}"/>
              </a:ext>
            </a:extLst>
          </p:cNvPr>
          <p:cNvPicPr>
            <a:picLocks xmlns:a="http://schemas.openxmlformats.org/drawingml/2006/main" noChangeAspect="1"/>
          </p:cNvPicPr>
          <p:nvPr/>
        </p:nvPicPr>
        <p:blipFill>
          <a:blip xmlns:r="http://schemas.openxmlformats.org/officeDocument/2006/relationships" xmlns:a="http://schemas.openxmlformats.org/drawingml/2006/main" r:embed="Rd5c44a9c5b7f47d0"/>
          <a:stretch xmlns:a="http://schemas.openxmlformats.org/drawingml/2006/main"/>
        </p:blipFill>
        <p:spPr>
          <a:xfrm xmlns:a="http://schemas.openxmlformats.org/drawingml/2006/main">
            <a:off x="11049000" y="238125"/>
            <a:ext cx="838200" cy="838200"/>
          </a:xfrm>
          <a:prstGeom xmlns:a="http://schemas.openxmlformats.org/drawingml/2006/main" prst="rect">
            <a:avLst/>
          </a:prstGeom>
        </p:spPr>
      </p:pic>
      <p:sp>
        <p:nvSpPr>
          <p:cNvPr id="3" name="footer-author">
            <a:extLst xmlns:a="http://schemas.openxmlformats.org/drawingml/2006/main">
              <a:ext uri="{FF2B5EF4-FFF2-40B4-BE49-F238E27FC236}">
                <a16:creationId xmlns:a16="http://schemas.microsoft.com/office/drawing/2014/main" id="{9FC8F98B-5EA0-48DF-A816-3F48269D80B7}"/>
              </a:ext>
            </a:extLst>
          </p:cNvPr>
          <p:cNvSpPr>
            <a:spLocks xmlns:a="http://schemas.openxmlformats.org/drawingml/2006/main" noGrp="1"/>
          </p:cNvSpPr>
          <p:nvPr/>
        </p:nvSpPr>
        <p:spPr>
          <a:xfrm xmlns:a="http://schemas.openxmlformats.org/drawingml/2006/main">
            <a:off x="762000" y="6581775"/>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lang="en-US">
                <a:solidFill>
                  <a:srgbClr val="656B73"/>
                </a:solidFill>
                <a:latin typeface="Roboto"/>
                <a:ea typeface="Roboto"/>
                <a:cs typeface="Roboto"/>
              </a:defRPr>
            </a:defPPr>
            <a:lvl1pPr algn="l">
              <a:defRPr sz="1000" b="0" lang="en-US">
                <a:solidFill>
                  <a:srgbClr val="656B73"/>
                </a:solidFill>
                <a:latin typeface="Roboto"/>
                <a:ea typeface="Roboto"/>
                <a:cs typeface="Roboto"/>
              </a:defRPr>
            </a:lvl1pPr>
            <a:lvl2pPr algn="l">
              <a:defRPr sz="1000" b="0" lang="en-US">
                <a:solidFill>
                  <a:srgbClr val="656B73"/>
                </a:solidFill>
                <a:latin typeface="Roboto"/>
                <a:ea typeface="Roboto"/>
                <a:cs typeface="Roboto"/>
              </a:defRPr>
            </a:lvl2pPr>
            <a:lvl3pPr algn="l">
              <a:defRPr sz="1000" b="0" lang="en-US">
                <a:solidFill>
                  <a:srgbClr val="656B73"/>
                </a:solidFill>
                <a:latin typeface="Roboto"/>
                <a:ea typeface="Roboto"/>
                <a:cs typeface="Roboto"/>
              </a:defRPr>
            </a:lvl3pPr>
            <a:lvl4pPr algn="l">
              <a:defRPr sz="1000" b="0" lang="en-US">
                <a:solidFill>
                  <a:srgbClr val="656B73"/>
                </a:solidFill>
                <a:latin typeface="Roboto"/>
                <a:ea typeface="Roboto"/>
                <a:cs typeface="Roboto"/>
              </a:defRPr>
            </a:lvl4pPr>
            <a:lvl5pPr algn="l">
              <a:defRPr sz="1000" b="0" lang="en-US">
                <a:solidFill>
                  <a:srgbClr val="656B73"/>
                </a:solidFill>
                <a:latin typeface="Roboto"/>
                <a:ea typeface="Roboto"/>
                <a:cs typeface="Roboto"/>
              </a:defRPr>
            </a:lvl5pPr>
            <a:lvl6pPr algn="l">
              <a:defRPr sz="1000" b="0" lang="en-US">
                <a:solidFill>
                  <a:srgbClr val="656B73"/>
                </a:solidFill>
                <a:latin typeface="Roboto"/>
                <a:ea typeface="Roboto"/>
                <a:cs typeface="Roboto"/>
              </a:defRPr>
            </a:lvl6pPr>
            <a:lvl7pPr algn="l">
              <a:defRPr sz="1000" b="0" lang="en-US">
                <a:solidFill>
                  <a:srgbClr val="656B73"/>
                </a:solidFill>
                <a:latin typeface="Roboto"/>
                <a:ea typeface="Roboto"/>
                <a:cs typeface="Roboto"/>
              </a:defRPr>
            </a:lvl7pPr>
            <a:lvl8pPr algn="l">
              <a:defRPr sz="1000" b="0" lang="en-US">
                <a:solidFill>
                  <a:srgbClr val="656B73"/>
                </a:solidFill>
                <a:latin typeface="Roboto"/>
                <a:ea typeface="Roboto"/>
                <a:cs typeface="Roboto"/>
              </a:defRPr>
            </a:lvl8pPr>
            <a:lvl9pPr algn="l">
              <a:defRPr sz="1000" b="0" lang="en-US">
                <a:solidFill>
                  <a:srgbClr val="656B73"/>
                </a:solidFill>
                <a:latin typeface="Roboto"/>
                <a:ea typeface="Roboto"/>
                <a:cs typeface="Roboto"/>
              </a:defRPr>
            </a:lvl9pPr>
          </a:lstStyle>
          <a:p xmlns:a="http://schemas.openxmlformats.org/drawingml/2006/main">
            <a:pPr algn="l">
              <a:defRPr sz="1000" b="0" lang="en-US">
                <a:solidFill>
                  <a:srgbClr val="656B73"/>
                </a:solidFill>
                <a:latin typeface="Roboto"/>
                <a:ea typeface="Roboto"/>
                <a:cs typeface="Roboto"/>
              </a:defRPr>
            </a:pPr>
            <a:r>
              <a:rPr sz="1000" b="0" lang="en-US">
                <a:solidFill>
                  <a:srgbClr val="656B73"/>
                </a:solidFill>
                <a:latin typeface="Roboto"/>
                <a:ea typeface="Roboto"/>
                <a:cs typeface="Roboto"/>
              </a:rPr>
              <a:t>Daniele Venturini</a:t>
            </a:r>
          </a:p>
        </p:txBody>
      </p:sp>
      <p:sp>
        <p:nvSpPr>
          <p:cNvPr id="4" name="footer-date">
            <a:extLst xmlns:a="http://schemas.openxmlformats.org/drawingml/2006/main">
              <a:ext uri="{FF2B5EF4-FFF2-40B4-BE49-F238E27FC236}">
                <a16:creationId xmlns:a16="http://schemas.microsoft.com/office/drawing/2014/main" id="{4418EF20-B869-432C-B0C5-C275D0FB806E}"/>
              </a:ext>
            </a:extLst>
          </p:cNvPr>
          <p:cNvSpPr>
            <a:spLocks xmlns:a="http://schemas.openxmlformats.org/drawingml/2006/main" noGrp="1"/>
          </p:cNvSpPr>
          <p:nvPr/>
        </p:nvSpPr>
        <p:spPr>
          <a:xfrm xmlns:a="http://schemas.openxmlformats.org/drawingml/2006/main">
            <a:off x="8096250" y="6581775"/>
            <a:ext cx="190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00" b="0" lang="en-US">
                <a:solidFill>
                  <a:srgbClr val="656B73"/>
                </a:solidFill>
                <a:latin typeface="Roboto"/>
                <a:ea typeface="Roboto"/>
                <a:cs typeface="Roboto"/>
              </a:defRPr>
            </a:defPPr>
            <a:lvl1pPr algn="r">
              <a:defRPr sz="1000" b="0" lang="en-US">
                <a:solidFill>
                  <a:srgbClr val="656B73"/>
                </a:solidFill>
                <a:latin typeface="Roboto"/>
                <a:ea typeface="Roboto"/>
                <a:cs typeface="Roboto"/>
              </a:defRPr>
            </a:lvl1pPr>
            <a:lvl2pPr algn="r">
              <a:defRPr sz="1000" b="0" lang="en-US">
                <a:solidFill>
                  <a:srgbClr val="656B73"/>
                </a:solidFill>
                <a:latin typeface="Roboto"/>
                <a:ea typeface="Roboto"/>
                <a:cs typeface="Roboto"/>
              </a:defRPr>
            </a:lvl2pPr>
            <a:lvl3pPr algn="r">
              <a:defRPr sz="1000" b="0" lang="en-US">
                <a:solidFill>
                  <a:srgbClr val="656B73"/>
                </a:solidFill>
                <a:latin typeface="Roboto"/>
                <a:ea typeface="Roboto"/>
                <a:cs typeface="Roboto"/>
              </a:defRPr>
            </a:lvl3pPr>
            <a:lvl4pPr algn="r">
              <a:defRPr sz="1000" b="0" lang="en-US">
                <a:solidFill>
                  <a:srgbClr val="656B73"/>
                </a:solidFill>
                <a:latin typeface="Roboto"/>
                <a:ea typeface="Roboto"/>
                <a:cs typeface="Roboto"/>
              </a:defRPr>
            </a:lvl4pPr>
            <a:lvl5pPr algn="r">
              <a:defRPr sz="1000" b="0" lang="en-US">
                <a:solidFill>
                  <a:srgbClr val="656B73"/>
                </a:solidFill>
                <a:latin typeface="Roboto"/>
                <a:ea typeface="Roboto"/>
                <a:cs typeface="Roboto"/>
              </a:defRPr>
            </a:lvl5pPr>
            <a:lvl6pPr algn="r">
              <a:defRPr sz="1000" b="0" lang="en-US">
                <a:solidFill>
                  <a:srgbClr val="656B73"/>
                </a:solidFill>
                <a:latin typeface="Roboto"/>
                <a:ea typeface="Roboto"/>
                <a:cs typeface="Roboto"/>
              </a:defRPr>
            </a:lvl6pPr>
            <a:lvl7pPr algn="r">
              <a:defRPr sz="1000" b="0" lang="en-US">
                <a:solidFill>
                  <a:srgbClr val="656B73"/>
                </a:solidFill>
                <a:latin typeface="Roboto"/>
                <a:ea typeface="Roboto"/>
                <a:cs typeface="Roboto"/>
              </a:defRPr>
            </a:lvl7pPr>
            <a:lvl8pPr algn="r">
              <a:defRPr sz="1000" b="0" lang="en-US">
                <a:solidFill>
                  <a:srgbClr val="656B73"/>
                </a:solidFill>
                <a:latin typeface="Roboto"/>
                <a:ea typeface="Roboto"/>
                <a:cs typeface="Roboto"/>
              </a:defRPr>
            </a:lvl8pPr>
            <a:lvl9pPr algn="r">
              <a:defRPr sz="1000" b="0" lang="en-US">
                <a:solidFill>
                  <a:srgbClr val="656B73"/>
                </a:solidFill>
                <a:latin typeface="Roboto"/>
                <a:ea typeface="Roboto"/>
                <a:cs typeface="Roboto"/>
              </a:defRPr>
            </a:lvl9pPr>
          </a:lstStyle>
          <a:p xmlns:a="http://schemas.openxmlformats.org/drawingml/2006/main">
            <a:pPr algn="r">
              <a:defRPr sz="1000" b="0" lang="en-US">
                <a:solidFill>
                  <a:srgbClr val="656B73"/>
                </a:solidFill>
                <a:latin typeface="Roboto"/>
                <a:ea typeface="Roboto"/>
                <a:cs typeface="Roboto"/>
              </a:defRPr>
            </a:pPr>
            <a:r>
              <a:rPr sz="1000" b="0" lang="en-US">
                <a:solidFill>
                  <a:srgbClr val="656B73"/>
                </a:solidFill>
                <a:latin typeface="Roboto"/>
                <a:ea typeface="Roboto"/>
                <a:cs typeface="Roboto"/>
              </a:rPr>
              <a:t>27 October 2026</a:t>
            </a:r>
          </a:p>
        </p:txBody>
      </p:sp>
      <p:sp>
        <p:nvSpPr>
          <p:cNvPr id="5" name="footer-page">
            <a:extLst xmlns:a="http://schemas.openxmlformats.org/drawingml/2006/main">
              <a:ext uri="{FF2B5EF4-FFF2-40B4-BE49-F238E27FC236}">
                <a16:creationId xmlns:a16="http://schemas.microsoft.com/office/drawing/2014/main" id="{389D2C74-6693-4859-AED3-CE679BD2C1CA}"/>
              </a:ext>
            </a:extLst>
          </p:cNvPr>
          <p:cNvSpPr>
            <a:spLocks xmlns:a="http://schemas.openxmlformats.org/drawingml/2006/main" noGrp="1"/>
          </p:cNvSpPr>
          <p:nvPr/>
        </p:nvSpPr>
        <p:spPr>
          <a:xfrm xmlns:a="http://schemas.openxmlformats.org/drawingml/2006/main">
            <a:off x="10953750" y="6581775"/>
            <a:ext cx="857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00" b="0" lang="en-US">
                <a:solidFill>
                  <a:srgbClr val="656B73"/>
                </a:solidFill>
                <a:latin typeface="Roboto"/>
                <a:ea typeface="Roboto"/>
                <a:cs typeface="Roboto"/>
              </a:defRPr>
            </a:defPPr>
            <a:lvl1pPr algn="r">
              <a:defRPr sz="1000" b="0" lang="en-US">
                <a:solidFill>
                  <a:srgbClr val="656B73"/>
                </a:solidFill>
                <a:latin typeface="Roboto"/>
                <a:ea typeface="Roboto"/>
                <a:cs typeface="Roboto"/>
              </a:defRPr>
            </a:lvl1pPr>
            <a:lvl2pPr algn="r">
              <a:defRPr sz="1000" b="0" lang="en-US">
                <a:solidFill>
                  <a:srgbClr val="656B73"/>
                </a:solidFill>
                <a:latin typeface="Roboto"/>
                <a:ea typeface="Roboto"/>
                <a:cs typeface="Roboto"/>
              </a:defRPr>
            </a:lvl2pPr>
            <a:lvl3pPr algn="r">
              <a:defRPr sz="1000" b="0" lang="en-US">
                <a:solidFill>
                  <a:srgbClr val="656B73"/>
                </a:solidFill>
                <a:latin typeface="Roboto"/>
                <a:ea typeface="Roboto"/>
                <a:cs typeface="Roboto"/>
              </a:defRPr>
            </a:lvl3pPr>
            <a:lvl4pPr algn="r">
              <a:defRPr sz="1000" b="0" lang="en-US">
                <a:solidFill>
                  <a:srgbClr val="656B73"/>
                </a:solidFill>
                <a:latin typeface="Roboto"/>
                <a:ea typeface="Roboto"/>
                <a:cs typeface="Roboto"/>
              </a:defRPr>
            </a:lvl4pPr>
            <a:lvl5pPr algn="r">
              <a:defRPr sz="1000" b="0" lang="en-US">
                <a:solidFill>
                  <a:srgbClr val="656B73"/>
                </a:solidFill>
                <a:latin typeface="Roboto"/>
                <a:ea typeface="Roboto"/>
                <a:cs typeface="Roboto"/>
              </a:defRPr>
            </a:lvl5pPr>
            <a:lvl6pPr algn="r">
              <a:defRPr sz="1000" b="0" lang="en-US">
                <a:solidFill>
                  <a:srgbClr val="656B73"/>
                </a:solidFill>
                <a:latin typeface="Roboto"/>
                <a:ea typeface="Roboto"/>
                <a:cs typeface="Roboto"/>
              </a:defRPr>
            </a:lvl6pPr>
            <a:lvl7pPr algn="r">
              <a:defRPr sz="1000" b="0" lang="en-US">
                <a:solidFill>
                  <a:srgbClr val="656B73"/>
                </a:solidFill>
                <a:latin typeface="Roboto"/>
                <a:ea typeface="Roboto"/>
                <a:cs typeface="Roboto"/>
              </a:defRPr>
            </a:lvl7pPr>
            <a:lvl8pPr algn="r">
              <a:defRPr sz="1000" b="0" lang="en-US">
                <a:solidFill>
                  <a:srgbClr val="656B73"/>
                </a:solidFill>
                <a:latin typeface="Roboto"/>
                <a:ea typeface="Roboto"/>
                <a:cs typeface="Roboto"/>
              </a:defRPr>
            </a:lvl8pPr>
            <a:lvl9pPr algn="r">
              <a:defRPr sz="1000" b="0" lang="en-US">
                <a:solidFill>
                  <a:srgbClr val="656B73"/>
                </a:solidFill>
                <a:latin typeface="Roboto"/>
                <a:ea typeface="Roboto"/>
                <a:cs typeface="Roboto"/>
              </a:defRPr>
            </a:lvl9pPr>
          </a:lstStyle>
          <a:p xmlns:a="http://schemas.openxmlformats.org/drawingml/2006/main">
            <a:pPr algn="r">
              <a:defRPr sz="1000" b="0" lang="en-US">
                <a:solidFill>
                  <a:srgbClr val="656B73"/>
                </a:solidFill>
                <a:latin typeface="Roboto"/>
                <a:ea typeface="Roboto"/>
                <a:cs typeface="Roboto"/>
              </a:defRPr>
            </a:pPr>
            <a:r>
              <a:rPr sz="1000" b="0" lang="en-US">
                <a:solidFill>
                  <a:srgbClr val="656B73"/>
                </a:solidFill>
                <a:latin typeface="Roboto"/>
                <a:ea typeface="Roboto"/>
                <a:cs typeface="Roboto"/>
              </a:rPr>
              <a:t>20 / 33</a:t>
            </a:r>
          </a:p>
        </p:txBody>
      </p:sp>
      <p:graphicFrame>
        <p:nvGraphicFramePr>
          <p:cNvPr id="6" name="">
            <a:extLst xmlns:a="http://schemas.openxmlformats.org/drawingml/2006/main">
              <a:ext uri="{FF2B5EF4-FFF2-40B4-BE49-F238E27FC236}">
                <a16:creationId xmlns:a16="http://schemas.microsoft.com/office/drawing/2014/main" id="{9FAB0041-3BB4-4097-A505-421B42E1DEC1}"/>
              </a:ext>
            </a:extLst>
          </p:cNvPr>
          <p:cNvGraphicFramePr/>
          <p:nvPr/>
        </p:nvGraphicFramePr>
        <p:xfrm>
          <a:off xmlns:a="http://schemas.openxmlformats.org/drawingml/2006/main" x="762000" y="1466850"/>
          <a:ext xmlns:a="http://schemas.openxmlformats.org/drawingml/2006/main" cx="10668000" cy="4038600"/>
        </p:xfrm>
        <a:graphic xmlns:a="http://schemas.openxmlformats.org/drawingml/2006/main">
          <a:graphicData uri="http://schemas.openxmlformats.org/drawingml/2006/table">
            <a:tbl>
              <a:tblPr firstRow="0" bandRow="0"/>
              <a:tblGrid>
                <a:gridCol w="2714625"/>
                <a:gridCol w="1857375"/>
                <a:gridCol w="1905000"/>
                <a:gridCol w="1905000"/>
                <a:gridCol w="2286000"/>
              </a:tblGrid>
              <a:tr h="609600">
                <a:tc>
                  <a:txBody>
                    <a:bodyPr/>
                    <a:lstStyle/>
                    <a:p>
                      <a:pPr algn="ctr"/>
                      <a:r>
                        <a:rPr sz="1800" b="1" lang="en-US">
                          <a:solidFill>
                            <a:srgbClr val="202124"/>
                          </a:solidFill>
                          <a:latin typeface="Roboto"/>
                          <a:ea typeface="Roboto"/>
                          <a:cs typeface="Roboto"/>
                        </a:rPr>
                        <a:t>Model</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1800" b="1" lang="en-US">
                          <a:solidFill>
                            <a:srgbClr val="202124"/>
                          </a:solidFill>
                          <a:latin typeface="Roboto"/>
                          <a:ea typeface="Roboto"/>
                          <a:cs typeface="Roboto"/>
                        </a:rPr>
                        <a:t>Variant</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1800" b="1" lang="en-US">
                          <a:solidFill>
                            <a:srgbClr val="202124"/>
                          </a:solidFill>
                          <a:latin typeface="Roboto"/>
                          <a:ea typeface="Roboto"/>
                          <a:cs typeface="Roboto"/>
                        </a:rPr>
                        <a:t>Test mIoU</a:t>
                      </a:r>
                    </a:p>
                    <a:p>
                      <a:pPr algn="ctr"/>
                      <a:r>
                        <a:rPr sz="1800" b="1" lang="en-US">
                          <a:solidFill>
                            <a:srgbClr val="202124"/>
                          </a:solidFill>
                          <a:latin typeface="Roboto"/>
                          <a:ea typeface="Roboto"/>
                          <a:cs typeface="Roboto"/>
                        </a:rPr>
                        <a:t>(%)</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1800" b="1" lang="en-US">
                          <a:solidFill>
                            <a:srgbClr val="202124"/>
                          </a:solidFill>
                          <a:latin typeface="Roboto"/>
                          <a:ea typeface="Roboto"/>
                          <a:cs typeface="Roboto"/>
                        </a:rPr>
                        <a:t>Latency</a:t>
                      </a:r>
                    </a:p>
                    <a:p>
                      <a:pPr algn="ctr"/>
                      <a:r>
                        <a:rPr sz="1800" b="1" lang="en-US">
                          <a:solidFill>
                            <a:srgbClr val="202124"/>
                          </a:solidFill>
                          <a:latin typeface="Roboto"/>
                          <a:ea typeface="Roboto"/>
                          <a:cs typeface="Roboto"/>
                        </a:rPr>
                        <a:t>(ms)</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1800" b="1" lang="en-US">
                          <a:solidFill>
                            <a:srgbClr val="202124"/>
                          </a:solidFill>
                          <a:latin typeface="Roboto"/>
                          <a:ea typeface="Roboto"/>
                          <a:cs typeface="Roboto"/>
                        </a:rPr>
                        <a:t>Energy</a:t>
                      </a:r>
                    </a:p>
                    <a:p>
                      <a:pPr algn="ctr"/>
                      <a:r>
                        <a:rPr sz="1800" b="1" lang="en-US">
                          <a:solidFill>
                            <a:srgbClr val="202124"/>
                          </a:solidFill>
                          <a:latin typeface="Roboto"/>
                          <a:ea typeface="Roboto"/>
                          <a:cs typeface="Roboto"/>
                        </a:rPr>
                        <a:t>(mJ/image)</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28625">
                <a:tc rowSpan="4">
                  <a:txBody>
                    <a:bodyPr/>
                    <a:lstStyle/>
                    <a:p>
                      <a:pPr algn="l"/>
                      <a:r>
                        <a:rPr sz="2025" b="1" lang="en-US">
                          <a:solidFill>
                            <a:srgbClr val="202124"/>
                          </a:solidFill>
                          <a:latin typeface="Roboto"/>
                          <a:ea typeface="Roboto"/>
                          <a:cs typeface="Roboto"/>
                        </a:rPr>
                        <a:t>DeepLabV3+</a:t>
                      </a:r>
                    </a:p>
                    <a:p>
                      <a:pPr algn="l"/>
                      <a:r>
                        <a:rPr sz="2025" b="1" lang="en-US">
                          <a:solidFill>
                            <a:srgbClr val="202124"/>
                          </a:solidFill>
                          <a:latin typeface="Roboto"/>
                          <a:ea typeface="Roboto"/>
                          <a:cs typeface="Roboto"/>
                        </a:rPr>
                        <a:t>MobileNetV2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FP32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64.07</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8.84</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653.72</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28625">
                <a:tc vMerge="1">
                  <a:txBody>
                    <a:bodyPr/>
                    <a:lstStyle/>
                    <a:p>
                      <a:pPr algn="ctr"/>
                      <a:r>
                        <a:rPr sz="2025" lang="en-US">
                          <a:solidFill>
                            <a:srgbClr val="202124"/>
                          </a:solidFill>
                          <a:latin typeface="Roboto"/>
                          <a:ea typeface="Roboto"/>
                          <a:cs typeface="Roboto"/>
                        </a:rPr>
                        <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FP16</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64.07</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6.03</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377.88</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28625">
                <a:tc vMerge="1">
                  <a:txBody>
                    <a:bodyPr/>
                    <a:lstStyle/>
                    <a:p>
                      <a:pPr algn="ctr"/>
                      <a:r>
                        <a:rPr sz="2025" lang="en-US">
                          <a:solidFill>
                            <a:srgbClr val="202124"/>
                          </a:solidFill>
                          <a:latin typeface="Roboto"/>
                          <a:ea typeface="Roboto"/>
                          <a:cs typeface="Roboto"/>
                        </a:rPr>
                        <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PTQ INT8</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59.14</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4.02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159.19</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28625">
                <a:tc vMerge="1">
                  <a:txBody>
                    <a:bodyPr/>
                    <a:lstStyle/>
                    <a:p>
                      <a:pPr algn="ctr"/>
                      <a:r>
                        <a:rPr sz="2025" lang="en-US">
                          <a:solidFill>
                            <a:srgbClr val="202124"/>
                          </a:solidFill>
                          <a:latin typeface="Roboto"/>
                          <a:ea typeface="Roboto"/>
                          <a:cs typeface="Roboto"/>
                        </a:rPr>
                        <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b="1" lang="en-US">
                          <a:solidFill>
                            <a:srgbClr val="822433"/>
                          </a:solidFill>
                          <a:latin typeface="Roboto"/>
                          <a:ea typeface="Roboto"/>
                          <a:cs typeface="Roboto"/>
                        </a:rPr>
                        <a:t>QAT INT8</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b="1" lang="en-US">
                          <a:solidFill>
                            <a:srgbClr val="822433"/>
                          </a:solidFill>
                          <a:latin typeface="Roboto"/>
                          <a:ea typeface="Roboto"/>
                          <a:cs typeface="Roboto"/>
                        </a:rPr>
                        <a:t>65.63</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b="1" lang="en-US">
                          <a:solidFill>
                            <a:srgbClr val="822433"/>
                          </a:solidFill>
                          <a:latin typeface="Roboto"/>
                          <a:ea typeface="Roboto"/>
                          <a:cs typeface="Roboto"/>
                        </a:rPr>
                        <a:t>3.01</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b="1" lang="en-US">
                          <a:solidFill>
                            <a:srgbClr val="822433"/>
                          </a:solidFill>
                          <a:latin typeface="Roboto"/>
                          <a:ea typeface="Roboto"/>
                          <a:cs typeface="Roboto"/>
                        </a:rPr>
                        <a:t>115.34</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28625">
                <a:tc rowSpan="4">
                  <a:txBody>
                    <a:bodyPr/>
                    <a:lstStyle/>
                    <a:p>
                      <a:pPr algn="l"/>
                      <a:r>
                        <a:rPr sz="2025" b="1" lang="en-US">
                          <a:solidFill>
                            <a:srgbClr val="202124"/>
                          </a:solidFill>
                          <a:latin typeface="Roboto"/>
                          <a:ea typeface="Roboto"/>
                          <a:cs typeface="Roboto"/>
                        </a:rPr>
                        <a:t>SegFormer-B0</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FP32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75.55</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11.88</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835.72</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28625">
                <a:tc vMerge="1">
                  <a:txBody>
                    <a:bodyPr/>
                    <a:lstStyle/>
                    <a:p>
                      <a:pPr algn="ctr"/>
                      <a:r>
                        <a:rPr sz="2025" lang="en-US">
                          <a:solidFill>
                            <a:srgbClr val="202124"/>
                          </a:solidFill>
                          <a:latin typeface="Roboto"/>
                          <a:ea typeface="Roboto"/>
                          <a:cs typeface="Roboto"/>
                        </a:rPr>
                        <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FP16</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75.55</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7.17</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432.07</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28625">
                <a:tc vMerge="1">
                  <a:txBody>
                    <a:bodyPr/>
                    <a:lstStyle/>
                    <a:p>
                      <a:pPr algn="ctr"/>
                      <a:r>
                        <a:rPr sz="2025" lang="en-US">
                          <a:solidFill>
                            <a:srgbClr val="202124"/>
                          </a:solidFill>
                          <a:latin typeface="Roboto"/>
                          <a:ea typeface="Roboto"/>
                          <a:cs typeface="Roboto"/>
                        </a:rPr>
                        <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PTQ INT8</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75.60</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5.92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lang="en-US">
                          <a:solidFill>
                            <a:srgbClr val="202124"/>
                          </a:solidFill>
                          <a:latin typeface="Roboto"/>
                          <a:ea typeface="Roboto"/>
                          <a:cs typeface="Roboto"/>
                        </a:rPr>
                        <a:t>327.99</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28625">
                <a:tc vMerge="1">
                  <a:txBody>
                    <a:bodyPr/>
                    <a:lstStyle/>
                    <a:p>
                      <a:pPr algn="ctr"/>
                      <a:r>
                        <a:rPr sz="2025" lang="en-US">
                          <a:solidFill>
                            <a:srgbClr val="202124"/>
                          </a:solidFill>
                          <a:latin typeface="Roboto"/>
                          <a:ea typeface="Roboto"/>
                          <a:cs typeface="Roboto"/>
                        </a:rPr>
                        <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b="1" lang="en-US">
                          <a:solidFill>
                            <a:srgbClr val="822433"/>
                          </a:solidFill>
                          <a:latin typeface="Roboto"/>
                          <a:ea typeface="Roboto"/>
                          <a:cs typeface="Roboto"/>
                        </a:rPr>
                        <a:t>QAT INT8</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b="1" lang="en-US">
                          <a:solidFill>
                            <a:srgbClr val="822433"/>
                          </a:solidFill>
                          <a:latin typeface="Roboto"/>
                          <a:ea typeface="Roboto"/>
                          <a:cs typeface="Roboto"/>
                        </a:rPr>
                        <a:t>76.93</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b="1" lang="en-US">
                          <a:solidFill>
                            <a:srgbClr val="822433"/>
                          </a:solidFill>
                          <a:latin typeface="Roboto"/>
                          <a:ea typeface="Roboto"/>
                          <a:cs typeface="Roboto"/>
                        </a:rPr>
                        <a:t>5.66</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025" b="1" lang="en-US">
                          <a:solidFill>
                            <a:srgbClr val="822433"/>
                          </a:solidFill>
                          <a:latin typeface="Roboto"/>
                          <a:ea typeface="Roboto"/>
                          <a:cs typeface="Roboto"/>
                        </a:rPr>
                        <a:t>291.76</a:t>
                      </a:r>
                    </a:p>
                  </a:txBody>
                  <a:tcPr marL="76200" marR="76200" marT="38100" marB="38100" anchor="ctr">
                    <a:lnL w="0">
                      <a:noFill/>
                    </a:lnL>
                    <a:lnR w="0">
                      <a:noFill/>
                    </a:lnR>
                    <a:lnT w="0">
                      <a:noFill/>
                    </a:lnT>
                    <a:lnB w="0">
                      <a:noFill/>
                    </a:lnB>
                    <a:lnTlToBr w="0">
                      <a:noFill/>
                    </a:lnTlToBr>
                    <a:lnBlToTr w="0">
                      <a:noFill/>
                    </a:lnBlToTr>
                    <a:solidFill>
                      <a:srgbClr val="FFFFFF"/>
                    </a:solidFill>
                  </a:tcPr>
                </a:tc>
              </a:tr>
            </a:tbl>
          </a:graphicData>
        </a:graphic>
      </p:graphicFrame>
      <p:sp>
        <p:nvSpPr>
          <p:cNvPr id="7" name="benchmark-scope">
            <a:extLst xmlns:a="http://schemas.openxmlformats.org/drawingml/2006/main">
              <a:ext uri="{FF2B5EF4-FFF2-40B4-BE49-F238E27FC236}">
                <a16:creationId xmlns:a16="http://schemas.microsoft.com/office/drawing/2014/main" id="{CA12262C-BB0C-4ACC-B1F6-B184BBC30970}"/>
              </a:ext>
            </a:extLst>
          </p:cNvPr>
          <p:cNvSpPr>
            <a:spLocks xmlns:a="http://schemas.openxmlformats.org/drawingml/2006/main" noGrp="1"/>
          </p:cNvSpPr>
          <p:nvPr/>
        </p:nvSpPr>
        <p:spPr>
          <a:xfrm xmlns:a="http://schemas.openxmlformats.org/drawingml/2006/main">
            <a:off x="762000" y="56388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lang="en-US">
                <a:solidFill>
                  <a:srgbClr val="656B73"/>
                </a:solidFill>
                <a:latin typeface="Roboto"/>
                <a:ea typeface="Roboto"/>
                <a:cs typeface="Roboto"/>
              </a:defRPr>
            </a:defPPr>
            <a:lvl1pPr algn="l">
              <a:defRPr sz="1725" b="0" lang="en-US">
                <a:solidFill>
                  <a:srgbClr val="656B73"/>
                </a:solidFill>
                <a:latin typeface="Roboto"/>
                <a:ea typeface="Roboto"/>
                <a:cs typeface="Roboto"/>
              </a:defRPr>
            </a:lvl1pPr>
            <a:lvl2pPr algn="l">
              <a:defRPr sz="1725" b="0" lang="en-US">
                <a:solidFill>
                  <a:srgbClr val="656B73"/>
                </a:solidFill>
                <a:latin typeface="Roboto"/>
                <a:ea typeface="Roboto"/>
                <a:cs typeface="Roboto"/>
              </a:defRPr>
            </a:lvl2pPr>
            <a:lvl3pPr algn="l">
              <a:defRPr sz="1725" b="0" lang="en-US">
                <a:solidFill>
                  <a:srgbClr val="656B73"/>
                </a:solidFill>
                <a:latin typeface="Roboto"/>
                <a:ea typeface="Roboto"/>
                <a:cs typeface="Roboto"/>
              </a:defRPr>
            </a:lvl3pPr>
            <a:lvl4pPr algn="l">
              <a:defRPr sz="1725" b="0" lang="en-US">
                <a:solidFill>
                  <a:srgbClr val="656B73"/>
                </a:solidFill>
                <a:latin typeface="Roboto"/>
                <a:ea typeface="Roboto"/>
                <a:cs typeface="Roboto"/>
              </a:defRPr>
            </a:lvl4pPr>
            <a:lvl5pPr algn="l">
              <a:defRPr sz="1725" b="0" lang="en-US">
                <a:solidFill>
                  <a:srgbClr val="656B73"/>
                </a:solidFill>
                <a:latin typeface="Roboto"/>
                <a:ea typeface="Roboto"/>
                <a:cs typeface="Roboto"/>
              </a:defRPr>
            </a:lvl5pPr>
            <a:lvl6pPr algn="l">
              <a:defRPr sz="1725" b="0" lang="en-US">
                <a:solidFill>
                  <a:srgbClr val="656B73"/>
                </a:solidFill>
                <a:latin typeface="Roboto"/>
                <a:ea typeface="Roboto"/>
                <a:cs typeface="Roboto"/>
              </a:defRPr>
            </a:lvl6pPr>
            <a:lvl7pPr algn="l">
              <a:defRPr sz="1725" b="0" lang="en-US">
                <a:solidFill>
                  <a:srgbClr val="656B73"/>
                </a:solidFill>
                <a:latin typeface="Roboto"/>
                <a:ea typeface="Roboto"/>
                <a:cs typeface="Roboto"/>
              </a:defRPr>
            </a:lvl7pPr>
            <a:lvl8pPr algn="l">
              <a:defRPr sz="1725" b="0" lang="en-US">
                <a:solidFill>
                  <a:srgbClr val="656B73"/>
                </a:solidFill>
                <a:latin typeface="Roboto"/>
                <a:ea typeface="Roboto"/>
                <a:cs typeface="Roboto"/>
              </a:defRPr>
            </a:lvl8pPr>
            <a:lvl9pPr algn="l">
              <a:defRPr sz="1725" b="0" lang="en-US">
                <a:solidFill>
                  <a:srgbClr val="656B73"/>
                </a:solidFill>
                <a:latin typeface="Roboto"/>
                <a:ea typeface="Roboto"/>
                <a:cs typeface="Roboto"/>
              </a:defRPr>
            </a:lvl9pPr>
          </a:lstStyle>
          <a:p xmlns:a="http://schemas.openxmlformats.org/drawingml/2006/main">
            <a:pPr algn="l">
              <a:defRPr sz="1725" b="0" lang="en-US">
                <a:solidFill>
                  <a:srgbClr val="656B73"/>
                </a:solidFill>
                <a:latin typeface="Roboto"/>
                <a:ea typeface="Roboto"/>
                <a:cs typeface="Roboto"/>
              </a:defRPr>
            </a:pPr>
            <a:r>
              <a:rPr sz="1725" b="0" lang="en-US">
                <a:solidFill>
                  <a:srgbClr val="656B73"/>
                </a:solidFill>
                <a:latin typeface="Roboto"/>
                <a:ea typeface="Roboto"/>
                <a:cs typeface="Roboto"/>
              </a:rPr>
              <a:t>NVIDIA T4, batch 1, 512 × 512. Forward pass only; preprocessing excluded.</a:t>
            </a:r>
          </a:p>
        </p:txBody>
      </p:sp>
      <p:sp>
        <p:nvSpPr>
          <p:cNvPr id="8" name="quantization-scope">
            <a:extLst xmlns:a="http://schemas.openxmlformats.org/drawingml/2006/main">
              <a:ext uri="{FF2B5EF4-FFF2-40B4-BE49-F238E27FC236}">
                <a16:creationId xmlns:a16="http://schemas.microsoft.com/office/drawing/2014/main" id="{17816970-D709-4913-BF49-8A964EE36EC1}"/>
              </a:ext>
            </a:extLst>
          </p:cNvPr>
          <p:cNvSpPr>
            <a:spLocks xmlns:a="http://schemas.openxmlformats.org/drawingml/2006/main" noGrp="1"/>
          </p:cNvSpPr>
          <p:nvPr/>
        </p:nvSpPr>
        <p:spPr>
          <a:xfrm xmlns:a="http://schemas.openxmlformats.org/drawingml/2006/main">
            <a:off x="762000" y="5962650"/>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lang="en-US">
                <a:solidFill>
                  <a:srgbClr val="656B73"/>
                </a:solidFill>
                <a:latin typeface="Roboto"/>
                <a:ea typeface="Roboto"/>
                <a:cs typeface="Roboto"/>
              </a:defRPr>
            </a:defPPr>
            <a:lvl1pPr algn="l">
              <a:defRPr sz="1650" b="0" lang="en-US">
                <a:solidFill>
                  <a:srgbClr val="656B73"/>
                </a:solidFill>
                <a:latin typeface="Roboto"/>
                <a:ea typeface="Roboto"/>
                <a:cs typeface="Roboto"/>
              </a:defRPr>
            </a:lvl1pPr>
            <a:lvl2pPr algn="l">
              <a:defRPr sz="1650" b="0" lang="en-US">
                <a:solidFill>
                  <a:srgbClr val="656B73"/>
                </a:solidFill>
                <a:latin typeface="Roboto"/>
                <a:ea typeface="Roboto"/>
                <a:cs typeface="Roboto"/>
              </a:defRPr>
            </a:lvl2pPr>
            <a:lvl3pPr algn="l">
              <a:defRPr sz="1650" b="0" lang="en-US">
                <a:solidFill>
                  <a:srgbClr val="656B73"/>
                </a:solidFill>
                <a:latin typeface="Roboto"/>
                <a:ea typeface="Roboto"/>
                <a:cs typeface="Roboto"/>
              </a:defRPr>
            </a:lvl3pPr>
            <a:lvl4pPr algn="l">
              <a:defRPr sz="1650" b="0" lang="en-US">
                <a:solidFill>
                  <a:srgbClr val="656B73"/>
                </a:solidFill>
                <a:latin typeface="Roboto"/>
                <a:ea typeface="Roboto"/>
                <a:cs typeface="Roboto"/>
              </a:defRPr>
            </a:lvl4pPr>
            <a:lvl5pPr algn="l">
              <a:defRPr sz="1650" b="0" lang="en-US">
                <a:solidFill>
                  <a:srgbClr val="656B73"/>
                </a:solidFill>
                <a:latin typeface="Roboto"/>
                <a:ea typeface="Roboto"/>
                <a:cs typeface="Roboto"/>
              </a:defRPr>
            </a:lvl5pPr>
            <a:lvl6pPr algn="l">
              <a:defRPr sz="1650" b="0" lang="en-US">
                <a:solidFill>
                  <a:srgbClr val="656B73"/>
                </a:solidFill>
                <a:latin typeface="Roboto"/>
                <a:ea typeface="Roboto"/>
                <a:cs typeface="Roboto"/>
              </a:defRPr>
            </a:lvl6pPr>
            <a:lvl7pPr algn="l">
              <a:defRPr sz="1650" b="0" lang="en-US">
                <a:solidFill>
                  <a:srgbClr val="656B73"/>
                </a:solidFill>
                <a:latin typeface="Roboto"/>
                <a:ea typeface="Roboto"/>
                <a:cs typeface="Roboto"/>
              </a:defRPr>
            </a:lvl7pPr>
            <a:lvl8pPr algn="l">
              <a:defRPr sz="1650" b="0" lang="en-US">
                <a:solidFill>
                  <a:srgbClr val="656B73"/>
                </a:solidFill>
                <a:latin typeface="Roboto"/>
                <a:ea typeface="Roboto"/>
                <a:cs typeface="Roboto"/>
              </a:defRPr>
            </a:lvl8pPr>
            <a:lvl9pPr algn="l">
              <a:defRPr sz="1650" b="0" lang="en-US">
                <a:solidFill>
                  <a:srgbClr val="656B73"/>
                </a:solidFill>
                <a:latin typeface="Roboto"/>
                <a:ea typeface="Roboto"/>
                <a:cs typeface="Roboto"/>
              </a:defRPr>
            </a:lvl9pPr>
          </a:lstStyle>
          <a:p xmlns:a="http://schemas.openxmlformats.org/drawingml/2006/main">
            <a:pPr algn="l">
              <a:defRPr sz="1650" b="0" lang="en-US">
                <a:solidFill>
                  <a:srgbClr val="656B73"/>
                </a:solidFill>
                <a:latin typeface="Roboto"/>
                <a:ea typeface="Roboto"/>
                <a:cs typeface="Roboto"/>
              </a:defRPr>
            </a:pPr>
            <a:r>
              <a:rPr sz="1650" b="0" lang="en-US">
                <a:solidFill>
                  <a:srgbClr val="656B73"/>
                </a:solidFill>
                <a:latin typeface="Roboto"/>
                <a:ea typeface="Roboto"/>
                <a:cs typeface="Roboto"/>
              </a:rPr>
              <a:t>Selective INT8. QAT includes fine-tuning and distillation; runtimes differ.</a:t>
            </a:r>
          </a:p>
        </p:txBody>
      </p:sp>
      <p:sp>
        <p:nvSpPr>
          <p:cNvPr id="9" name="source-citations">
            <a:extLst xmlns:a="http://schemas.openxmlformats.org/drawingml/2006/main">
              <a:ext uri="{FF2B5EF4-FFF2-40B4-BE49-F238E27FC236}">
                <a16:creationId xmlns:a16="http://schemas.microsoft.com/office/drawing/2014/main" id="{82D5C4C5-D081-439C-BBDF-A1719D0D999A}"/>
              </a:ext>
            </a:extLst>
          </p:cNvPr>
          <p:cNvSpPr>
            <a:spLocks xmlns:a="http://schemas.openxmlformats.org/drawingml/2006/main" noGrp="1"/>
          </p:cNvSpPr>
          <p:nvPr/>
        </p:nvSpPr>
        <p:spPr>
          <a:xfrm xmlns:a="http://schemas.openxmlformats.org/drawingml/2006/main">
            <a:off x="762000" y="6324600"/>
            <a:ext cx="10763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lang="en-US">
                <a:solidFill>
                  <a:srgbClr val="656B73"/>
                </a:solidFill>
                <a:latin typeface="Roboto"/>
                <a:ea typeface="Roboto"/>
                <a:cs typeface="Roboto"/>
              </a:defRPr>
            </a:defPPr>
            <a:lvl1pPr algn="l">
              <a:defRPr sz="1125" b="0" lang="en-US">
                <a:solidFill>
                  <a:srgbClr val="656B73"/>
                </a:solidFill>
                <a:latin typeface="Roboto"/>
                <a:ea typeface="Roboto"/>
                <a:cs typeface="Roboto"/>
              </a:defRPr>
            </a:lvl1pPr>
            <a:lvl2pPr algn="l">
              <a:defRPr sz="1125" b="0" lang="en-US">
                <a:solidFill>
                  <a:srgbClr val="656B73"/>
                </a:solidFill>
                <a:latin typeface="Roboto"/>
                <a:ea typeface="Roboto"/>
                <a:cs typeface="Roboto"/>
              </a:defRPr>
            </a:lvl2pPr>
            <a:lvl3pPr algn="l">
              <a:defRPr sz="1125" b="0" lang="en-US">
                <a:solidFill>
                  <a:srgbClr val="656B73"/>
                </a:solidFill>
                <a:latin typeface="Roboto"/>
                <a:ea typeface="Roboto"/>
                <a:cs typeface="Roboto"/>
              </a:defRPr>
            </a:lvl3pPr>
            <a:lvl4pPr algn="l">
              <a:defRPr sz="1125" b="0" lang="en-US">
                <a:solidFill>
                  <a:srgbClr val="656B73"/>
                </a:solidFill>
                <a:latin typeface="Roboto"/>
                <a:ea typeface="Roboto"/>
                <a:cs typeface="Roboto"/>
              </a:defRPr>
            </a:lvl4pPr>
            <a:lvl5pPr algn="l">
              <a:defRPr sz="1125" b="0" lang="en-US">
                <a:solidFill>
                  <a:srgbClr val="656B73"/>
                </a:solidFill>
                <a:latin typeface="Roboto"/>
                <a:ea typeface="Roboto"/>
                <a:cs typeface="Roboto"/>
              </a:defRPr>
            </a:lvl5pPr>
            <a:lvl6pPr algn="l">
              <a:defRPr sz="1125" b="0" lang="en-US">
                <a:solidFill>
                  <a:srgbClr val="656B73"/>
                </a:solidFill>
                <a:latin typeface="Roboto"/>
                <a:ea typeface="Roboto"/>
                <a:cs typeface="Roboto"/>
              </a:defRPr>
            </a:lvl6pPr>
            <a:lvl7pPr algn="l">
              <a:defRPr sz="1125" b="0" lang="en-US">
                <a:solidFill>
                  <a:srgbClr val="656B73"/>
                </a:solidFill>
                <a:latin typeface="Roboto"/>
                <a:ea typeface="Roboto"/>
                <a:cs typeface="Roboto"/>
              </a:defRPr>
            </a:lvl7pPr>
            <a:lvl8pPr algn="l">
              <a:defRPr sz="1125" b="0" lang="en-US">
                <a:solidFill>
                  <a:srgbClr val="656B73"/>
                </a:solidFill>
                <a:latin typeface="Roboto"/>
                <a:ea typeface="Roboto"/>
                <a:cs typeface="Roboto"/>
              </a:defRPr>
            </a:lvl8pPr>
            <a:lvl9pPr algn="l">
              <a:defRPr sz="1125" b="0" lang="en-US">
                <a:solidFill>
                  <a:srgbClr val="656B73"/>
                </a:solidFill>
                <a:latin typeface="Roboto"/>
                <a:ea typeface="Roboto"/>
                <a:cs typeface="Roboto"/>
              </a:defRPr>
            </a:lvl9pPr>
          </a:lstStyle>
          <a:p xmlns:a="http://schemas.openxmlformats.org/drawingml/2006/main">
            <a:pPr algn="l">
              <a:defRPr sz="1125" b="0" lang="en-US">
                <a:solidFill>
                  <a:srgbClr val="656B73"/>
                </a:solidFill>
                <a:latin typeface="Roboto"/>
                <a:ea typeface="Roboto"/>
                <a:cs typeface="Roboto"/>
              </a:defRPr>
            </a:pPr>
            <a:r>
              <a:rPr sz="1125" b="0" lang="en-US">
                <a:solidFill>
                  <a:srgbClr val="656B73"/>
                </a:solidFill>
                <a:latin typeface="Roboto"/>
                <a:ea typeface="Roboto"/>
                <a:cs typeface="Roboto"/>
              </a:rPr>
              <a:t>Thesis, Section 5.3. Selected deployments from the quantization comparison.</a:t>
            </a:r>
          </a:p>
        </p:txBody>
      </p:sp>
    </p:spTree>
    <p:extLst>
      <p:ext uri="{BB962C8B-B14F-4D97-AF65-F5344CB8AC3E}">
        <p14:creationId xmlns:p14="http://schemas.microsoft.com/office/powerpoint/2010/main" val="222343817"/>
      </p:ext>
    </p:extLst>
  </p:cSld>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D89B1A08-5208-4AB6-A146-DACCE7D96209}"/>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PatchCore-L gives the highest Image AUROC</a:t>
            </a:r>
          </a:p>
        </p:txBody>
      </p:sp>
      <p:pic>
        <p:nvPicPr>
          <p:cNvPr id="2" name="Immagine 1">
            <a:extLst>
              <a:ext uri="{FF2B5EF4-FFF2-40B4-BE49-F238E27FC236}">
                <a16:creationId xmlns:a16="http://schemas.microsoft.com/office/drawing/2014/main" id="{8EC74CA9-0940-431C-8B68-77CCD2B0EFBC}"/>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9A7FBD36-C07F-4CCC-A4BE-3AB4E4FBECF7}"/>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93912486-769D-4064-8A0B-299CF9CB68D9}"/>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F1D428EC-574E-46C4-B125-5EED51CBE554}"/>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21 / 33</a:t>
            </a:r>
          </a:p>
        </p:txBody>
      </p:sp>
      <p:sp>
        <p:nvSpPr>
          <p:cNvPr id="6" name="source-citations">
            <a:extLst>
              <a:ext uri="{FF2B5EF4-FFF2-40B4-BE49-F238E27FC236}">
                <a16:creationId xmlns:a16="http://schemas.microsoft.com/office/drawing/2014/main" id="{C773613C-03BB-4049-B555-CBC1F2CCFB7F}"/>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results and methods</a:t>
            </a:r>
          </a:p>
        </p:txBody>
      </p:sp>
      <p:graphicFrame>
        <p:nvGraphicFramePr>
          <p:cNvPr id="7" name="Chart">
            <a:extLst>
              <a:ext uri="{FF2B5EF4-FFF2-40B4-BE49-F238E27FC236}">
                <a16:creationId xmlns:a16="http://schemas.microsoft.com/office/drawing/2014/main" id="{A50780A9-2B9E-41FB-9D1F-E28D9BF77B7C}"/>
              </a:ext>
            </a:extLst>
          </p:cNvPr>
          <p:cNvGraphicFramePr/>
          <p:nvPr/>
        </p:nvGraphicFramePr>
        <p:xfrm>
          <a:off x="762000" y="1543050"/>
          <a:ext cx="7810500" cy="4143375"/>
        </p:xfrm>
        <a:graphic>
          <a:graphicData uri="http://schemas.openxmlformats.org/drawingml/2006/chart">
            <c:chart xmlns:c="http://schemas.openxmlformats.org/drawingml/2006/chart" xmlns:r="http://schemas.openxmlformats.org/officeDocument/2006/relationships" r:id="rId4"/>
          </a:graphicData>
        </a:graphic>
      </p:graphicFrame>
      <p:pic>
        <p:nvPicPr>
          <p:cNvPr id="8" name="Immagine 7">
            <a:extLst>
              <a:ext uri="{FF2B5EF4-FFF2-40B4-BE49-F238E27FC236}">
                <a16:creationId xmlns:a16="http://schemas.microsoft.com/office/drawing/2014/main" id="{9EF1EF6B-E759-4AF2-8BFE-F5FFCB122E6C}"/>
              </a:ext>
            </a:extLst>
          </p:cNvPr>
          <p:cNvPicPr>
            <a:picLocks noChangeAspect="1"/>
          </p:cNvPicPr>
          <p:nvPr/>
        </p:nvPicPr>
        <p:blipFill>
          <a:blip r:embed="rId5"/>
          <a:stretch/>
        </p:blipFill>
        <p:spPr>
          <a:xfrm>
            <a:off x="9686925" y="1790700"/>
            <a:ext cx="809625" cy="809625"/>
          </a:xfrm>
          <a:prstGeom prst="rect">
            <a:avLst/>
          </a:prstGeom>
        </p:spPr>
      </p:pic>
      <p:sp>
        <p:nvSpPr>
          <p:cNvPr id="9" name="ad-best-value">
            <a:extLst>
              <a:ext uri="{FF2B5EF4-FFF2-40B4-BE49-F238E27FC236}">
                <a16:creationId xmlns:a16="http://schemas.microsoft.com/office/drawing/2014/main" id="{F93BEAFE-0BC7-4F6F-BB3B-B78D800DBDE2}"/>
              </a:ext>
            </a:extLst>
          </p:cNvPr>
          <p:cNvSpPr>
            <a:spLocks noGrp="1"/>
          </p:cNvSpPr>
          <p:nvPr/>
        </p:nvSpPr>
        <p:spPr>
          <a:xfrm>
            <a:off x="8886825" y="2990850"/>
            <a:ext cx="2819400" cy="895350"/>
          </a:xfrm>
          <a:prstGeom prst="rect">
            <a:avLst/>
          </a:prstGeom>
          <a:noFill/>
          <a:ln w="0">
            <a:noFill/>
          </a:ln>
        </p:spPr>
        <p:txBody>
          <a:bodyPr wrap="square" lIns="0" tIns="0" rIns="0" bIns="0" anchor="t">
            <a:noAutofit/>
          </a:bodyPr>
          <a:lstStyle>
            <a:defPPr algn="ctr">
              <a:defRPr lang="en-US" sz="4800" b="1">
                <a:solidFill>
                  <a:srgbClr val="822433"/>
                </a:solidFill>
                <a:latin typeface="Roboto"/>
                <a:ea typeface="Roboto"/>
                <a:cs typeface="Roboto"/>
              </a:defRPr>
            </a:defPPr>
            <a:lvl1pPr algn="ctr">
              <a:defRPr lang="en-US" sz="4800" b="1">
                <a:solidFill>
                  <a:srgbClr val="822433"/>
                </a:solidFill>
                <a:latin typeface="Roboto"/>
                <a:ea typeface="Roboto"/>
                <a:cs typeface="Roboto"/>
              </a:defRPr>
            </a:lvl1pPr>
            <a:lvl2pPr algn="ctr">
              <a:defRPr lang="en-US" sz="4800" b="1">
                <a:solidFill>
                  <a:srgbClr val="822433"/>
                </a:solidFill>
                <a:latin typeface="Roboto"/>
                <a:ea typeface="Roboto"/>
                <a:cs typeface="Roboto"/>
              </a:defRPr>
            </a:lvl2pPr>
            <a:lvl3pPr algn="ctr">
              <a:defRPr lang="en-US" sz="4800" b="1">
                <a:solidFill>
                  <a:srgbClr val="822433"/>
                </a:solidFill>
                <a:latin typeface="Roboto"/>
                <a:ea typeface="Roboto"/>
                <a:cs typeface="Roboto"/>
              </a:defRPr>
            </a:lvl3pPr>
            <a:lvl4pPr algn="ctr">
              <a:defRPr lang="en-US" sz="4800" b="1">
                <a:solidFill>
                  <a:srgbClr val="822433"/>
                </a:solidFill>
                <a:latin typeface="Roboto"/>
                <a:ea typeface="Roboto"/>
                <a:cs typeface="Roboto"/>
              </a:defRPr>
            </a:lvl4pPr>
            <a:lvl5pPr algn="ctr">
              <a:defRPr lang="en-US" sz="4800" b="1">
                <a:solidFill>
                  <a:srgbClr val="822433"/>
                </a:solidFill>
                <a:latin typeface="Roboto"/>
                <a:ea typeface="Roboto"/>
                <a:cs typeface="Roboto"/>
              </a:defRPr>
            </a:lvl5pPr>
            <a:lvl6pPr algn="ctr">
              <a:defRPr lang="en-US" sz="4800" b="1">
                <a:solidFill>
                  <a:srgbClr val="822433"/>
                </a:solidFill>
                <a:latin typeface="Roboto"/>
                <a:ea typeface="Roboto"/>
                <a:cs typeface="Roboto"/>
              </a:defRPr>
            </a:lvl6pPr>
            <a:lvl7pPr algn="ctr">
              <a:defRPr lang="en-US" sz="4800" b="1">
                <a:solidFill>
                  <a:srgbClr val="822433"/>
                </a:solidFill>
                <a:latin typeface="Roboto"/>
                <a:ea typeface="Roboto"/>
                <a:cs typeface="Roboto"/>
              </a:defRPr>
            </a:lvl7pPr>
            <a:lvl8pPr algn="ctr">
              <a:defRPr lang="en-US" sz="4800" b="1">
                <a:solidFill>
                  <a:srgbClr val="822433"/>
                </a:solidFill>
                <a:latin typeface="Roboto"/>
                <a:ea typeface="Roboto"/>
                <a:cs typeface="Roboto"/>
              </a:defRPr>
            </a:lvl8pPr>
            <a:lvl9pPr algn="ctr">
              <a:defRPr lang="en-US" sz="4800" b="1">
                <a:solidFill>
                  <a:srgbClr val="822433"/>
                </a:solidFill>
                <a:latin typeface="Roboto"/>
                <a:ea typeface="Roboto"/>
                <a:cs typeface="Roboto"/>
              </a:defRPr>
            </a:lvl9pPr>
          </a:lstStyle>
          <a:p>
            <a:pPr algn="ctr">
              <a:defRPr lang="en-US" sz="4800" b="1">
                <a:solidFill>
                  <a:srgbClr val="822433"/>
                </a:solidFill>
                <a:latin typeface="Roboto"/>
                <a:ea typeface="Roboto"/>
                <a:cs typeface="Roboto"/>
              </a:defRPr>
            </a:pPr>
            <a:r>
              <a:rPr lang="en-US" sz="4800" b="1">
                <a:solidFill>
                  <a:srgbClr val="822433"/>
                </a:solidFill>
                <a:latin typeface="Roboto"/>
                <a:ea typeface="Roboto"/>
                <a:cs typeface="Roboto"/>
              </a:rPr>
              <a:t>86.43%</a:t>
            </a:r>
          </a:p>
        </p:txBody>
      </p:sp>
      <p:sp>
        <p:nvSpPr>
          <p:cNvPr id="10" name="ad-best-model">
            <a:extLst>
              <a:ext uri="{FF2B5EF4-FFF2-40B4-BE49-F238E27FC236}">
                <a16:creationId xmlns:a16="http://schemas.microsoft.com/office/drawing/2014/main" id="{AEEFD3C9-1181-4E19-B6AA-4B598DBB87F4}"/>
              </a:ext>
            </a:extLst>
          </p:cNvPr>
          <p:cNvSpPr>
            <a:spLocks noGrp="1"/>
          </p:cNvSpPr>
          <p:nvPr/>
        </p:nvSpPr>
        <p:spPr>
          <a:xfrm>
            <a:off x="8963025" y="4010025"/>
            <a:ext cx="2667000" cy="438150"/>
          </a:xfrm>
          <a:prstGeom prst="rect">
            <a:avLst/>
          </a:prstGeom>
          <a:noFill/>
          <a:ln w="0">
            <a:noFill/>
          </a:ln>
        </p:spPr>
        <p:txBody>
          <a:bodyPr wrap="square" lIns="0" tIns="0" rIns="0" bIns="0" anchor="t">
            <a:noAutofit/>
          </a:bodyPr>
          <a:lstStyle>
            <a:defPPr algn="ctr">
              <a:defRPr lang="en-US" sz="2250" b="1">
                <a:solidFill>
                  <a:srgbClr val="202124"/>
                </a:solidFill>
                <a:latin typeface="Roboto"/>
                <a:ea typeface="Roboto"/>
                <a:cs typeface="Roboto"/>
              </a:defRPr>
            </a:defPPr>
            <a:lvl1pPr algn="ctr">
              <a:defRPr lang="en-US" sz="2250" b="1">
                <a:solidFill>
                  <a:srgbClr val="202124"/>
                </a:solidFill>
                <a:latin typeface="Roboto"/>
                <a:ea typeface="Roboto"/>
                <a:cs typeface="Roboto"/>
              </a:defRPr>
            </a:lvl1pPr>
            <a:lvl2pPr algn="ctr">
              <a:defRPr lang="en-US" sz="2250" b="1">
                <a:solidFill>
                  <a:srgbClr val="202124"/>
                </a:solidFill>
                <a:latin typeface="Roboto"/>
                <a:ea typeface="Roboto"/>
                <a:cs typeface="Roboto"/>
              </a:defRPr>
            </a:lvl2pPr>
            <a:lvl3pPr algn="ctr">
              <a:defRPr lang="en-US" sz="2250" b="1">
                <a:solidFill>
                  <a:srgbClr val="202124"/>
                </a:solidFill>
                <a:latin typeface="Roboto"/>
                <a:ea typeface="Roboto"/>
                <a:cs typeface="Roboto"/>
              </a:defRPr>
            </a:lvl3pPr>
            <a:lvl4pPr algn="ctr">
              <a:defRPr lang="en-US" sz="2250" b="1">
                <a:solidFill>
                  <a:srgbClr val="202124"/>
                </a:solidFill>
                <a:latin typeface="Roboto"/>
                <a:ea typeface="Roboto"/>
                <a:cs typeface="Roboto"/>
              </a:defRPr>
            </a:lvl4pPr>
            <a:lvl5pPr algn="ctr">
              <a:defRPr lang="en-US" sz="2250" b="1">
                <a:solidFill>
                  <a:srgbClr val="202124"/>
                </a:solidFill>
                <a:latin typeface="Roboto"/>
                <a:ea typeface="Roboto"/>
                <a:cs typeface="Roboto"/>
              </a:defRPr>
            </a:lvl5pPr>
            <a:lvl6pPr algn="ctr">
              <a:defRPr lang="en-US" sz="2250" b="1">
                <a:solidFill>
                  <a:srgbClr val="202124"/>
                </a:solidFill>
                <a:latin typeface="Roboto"/>
                <a:ea typeface="Roboto"/>
                <a:cs typeface="Roboto"/>
              </a:defRPr>
            </a:lvl6pPr>
            <a:lvl7pPr algn="ctr">
              <a:defRPr lang="en-US" sz="2250" b="1">
                <a:solidFill>
                  <a:srgbClr val="202124"/>
                </a:solidFill>
                <a:latin typeface="Roboto"/>
                <a:ea typeface="Roboto"/>
                <a:cs typeface="Roboto"/>
              </a:defRPr>
            </a:lvl7pPr>
            <a:lvl8pPr algn="ctr">
              <a:defRPr lang="en-US" sz="2250" b="1">
                <a:solidFill>
                  <a:srgbClr val="202124"/>
                </a:solidFill>
                <a:latin typeface="Roboto"/>
                <a:ea typeface="Roboto"/>
                <a:cs typeface="Roboto"/>
              </a:defRPr>
            </a:lvl8pPr>
            <a:lvl9pPr algn="ctr">
              <a:defRPr lang="en-US" sz="2250" b="1">
                <a:solidFill>
                  <a:srgbClr val="202124"/>
                </a:solidFill>
                <a:latin typeface="Roboto"/>
                <a:ea typeface="Roboto"/>
                <a:cs typeface="Roboto"/>
              </a:defRPr>
            </a:lvl9pPr>
          </a:lstStyle>
          <a:p>
            <a:pPr algn="ctr">
              <a:defRPr lang="en-US" sz="2250" b="1">
                <a:solidFill>
                  <a:srgbClr val="202124"/>
                </a:solidFill>
                <a:latin typeface="Roboto"/>
                <a:ea typeface="Roboto"/>
                <a:cs typeface="Roboto"/>
              </a:defRPr>
            </a:pPr>
            <a:r>
              <a:rPr lang="en-US" sz="2250" b="1">
                <a:solidFill>
                  <a:srgbClr val="202124"/>
                </a:solidFill>
                <a:latin typeface="Roboto"/>
                <a:ea typeface="Roboto"/>
                <a:cs typeface="Roboto"/>
              </a:rPr>
              <a:t>PatchCore-L</a:t>
            </a:r>
          </a:p>
        </p:txBody>
      </p:sp>
      <p:sp>
        <p:nvSpPr>
          <p:cNvPr id="11" name="ad-best-scope">
            <a:extLst>
              <a:ext uri="{FF2B5EF4-FFF2-40B4-BE49-F238E27FC236}">
                <a16:creationId xmlns:a16="http://schemas.microsoft.com/office/drawing/2014/main" id="{237D440C-DE13-465D-8122-E3DF2533E426}"/>
              </a:ext>
            </a:extLst>
          </p:cNvPr>
          <p:cNvSpPr>
            <a:spLocks noGrp="1"/>
          </p:cNvSpPr>
          <p:nvPr/>
        </p:nvSpPr>
        <p:spPr>
          <a:xfrm>
            <a:off x="8772525" y="4686300"/>
            <a:ext cx="3038475" cy="409575"/>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1875" b="0">
                <a:solidFill>
                  <a:srgbClr val="656B73"/>
                </a:solidFill>
                <a:latin typeface="Roboto"/>
                <a:ea typeface="Roboto"/>
                <a:cs typeface="Roboto"/>
              </a:rPr>
              <a:t>Synthetic pose-A test</a:t>
            </a:r>
          </a:p>
        </p:txBody>
      </p:sp>
      <p:sp>
        <p:nvSpPr>
          <p:cNvPr id="12" name="admetric">
            <a:extLst>
              <a:ext uri="{FF2B5EF4-FFF2-40B4-BE49-F238E27FC236}">
                <a16:creationId xmlns:a16="http://schemas.microsoft.com/office/drawing/2014/main" id="{A23E0FCD-C8FE-42F6-BD96-27F4AFF8E783}"/>
              </a:ext>
            </a:extLst>
          </p:cNvPr>
          <p:cNvSpPr>
            <a:spLocks noGrp="1"/>
          </p:cNvSpPr>
          <p:nvPr/>
        </p:nvSpPr>
        <p:spPr>
          <a:xfrm>
            <a:off x="857250" y="5791200"/>
            <a:ext cx="10287000" cy="352425"/>
          </a:xfrm>
          <a:prstGeom prst="rect">
            <a:avLst/>
          </a:prstGeom>
          <a:noFill/>
          <a:ln w="0">
            <a:noFill/>
          </a:ln>
        </p:spPr>
        <p:txBody>
          <a:bodyPr wrap="square" lIns="0" tIns="0" rIns="0" bIns="0" anchor="t">
            <a:noAutofit/>
          </a:bodyPr>
          <a:lstStyle>
            <a:defPPr algn="l">
              <a:defRPr lang="en-US" sz="1800" b="0">
                <a:solidFill>
                  <a:srgbClr val="656B73"/>
                </a:solidFill>
                <a:latin typeface="Roboto"/>
                <a:ea typeface="Roboto"/>
                <a:cs typeface="Roboto"/>
              </a:defRPr>
            </a:defPPr>
            <a:lvl1pPr algn="l">
              <a:defRPr lang="en-US" sz="1800" b="0">
                <a:solidFill>
                  <a:srgbClr val="656B73"/>
                </a:solidFill>
                <a:latin typeface="Roboto"/>
                <a:ea typeface="Roboto"/>
                <a:cs typeface="Roboto"/>
              </a:defRPr>
            </a:lvl1pPr>
            <a:lvl2pPr algn="l">
              <a:defRPr lang="en-US" sz="1800" b="0">
                <a:solidFill>
                  <a:srgbClr val="656B73"/>
                </a:solidFill>
                <a:latin typeface="Roboto"/>
                <a:ea typeface="Roboto"/>
                <a:cs typeface="Roboto"/>
              </a:defRPr>
            </a:lvl2pPr>
            <a:lvl3pPr algn="l">
              <a:defRPr lang="en-US" sz="1800" b="0">
                <a:solidFill>
                  <a:srgbClr val="656B73"/>
                </a:solidFill>
                <a:latin typeface="Roboto"/>
                <a:ea typeface="Roboto"/>
                <a:cs typeface="Roboto"/>
              </a:defRPr>
            </a:lvl3pPr>
            <a:lvl4pPr algn="l">
              <a:defRPr lang="en-US" sz="1800" b="0">
                <a:solidFill>
                  <a:srgbClr val="656B73"/>
                </a:solidFill>
                <a:latin typeface="Roboto"/>
                <a:ea typeface="Roboto"/>
                <a:cs typeface="Roboto"/>
              </a:defRPr>
            </a:lvl4pPr>
            <a:lvl5pPr algn="l">
              <a:defRPr lang="en-US" sz="1800" b="0">
                <a:solidFill>
                  <a:srgbClr val="656B73"/>
                </a:solidFill>
                <a:latin typeface="Roboto"/>
                <a:ea typeface="Roboto"/>
                <a:cs typeface="Roboto"/>
              </a:defRPr>
            </a:lvl5pPr>
            <a:lvl6pPr algn="l">
              <a:defRPr lang="en-US" sz="1800" b="0">
                <a:solidFill>
                  <a:srgbClr val="656B73"/>
                </a:solidFill>
                <a:latin typeface="Roboto"/>
                <a:ea typeface="Roboto"/>
                <a:cs typeface="Roboto"/>
              </a:defRPr>
            </a:lvl6pPr>
            <a:lvl7pPr algn="l">
              <a:defRPr lang="en-US" sz="1800" b="0">
                <a:solidFill>
                  <a:srgbClr val="656B73"/>
                </a:solidFill>
                <a:latin typeface="Roboto"/>
                <a:ea typeface="Roboto"/>
                <a:cs typeface="Roboto"/>
              </a:defRPr>
            </a:lvl7pPr>
            <a:lvl8pPr algn="l">
              <a:defRPr lang="en-US" sz="1800" b="0">
                <a:solidFill>
                  <a:srgbClr val="656B73"/>
                </a:solidFill>
                <a:latin typeface="Roboto"/>
                <a:ea typeface="Roboto"/>
                <a:cs typeface="Roboto"/>
              </a:defRPr>
            </a:lvl8pPr>
            <a:lvl9pPr algn="l">
              <a:defRPr lang="en-US" sz="1800" b="0">
                <a:solidFill>
                  <a:srgbClr val="656B73"/>
                </a:solidFill>
                <a:latin typeface="Roboto"/>
                <a:ea typeface="Roboto"/>
                <a:cs typeface="Roboto"/>
              </a:defRPr>
            </a:lvl9pPr>
          </a:lstStyle>
          <a:p>
            <a:pPr algn="l">
              <a:defRPr lang="en-US" sz="1800" b="0">
                <a:solidFill>
                  <a:srgbClr val="656B73"/>
                </a:solidFill>
                <a:latin typeface="Roboto"/>
                <a:ea typeface="Roboto"/>
                <a:cs typeface="Roboto"/>
              </a:defRPr>
            </a:pPr>
            <a:r>
              <a:rPr lang="en-US" sz="1800" b="0">
                <a:solidFill>
                  <a:srgbClr val="656B73"/>
                </a:solidFill>
                <a:latin typeface="Roboto"/>
                <a:ea typeface="Roboto"/>
                <a:cs typeface="Roboto"/>
              </a:rPr>
              <a:t>Image AUROC (%) measures ranking, without an operational threshold</a:t>
            </a:r>
          </a:p>
        </p:txBody>
      </p:sp>
    </p:spTree>
    <p:extLst>
      <p:ext uri="{BB962C8B-B14F-4D97-AF65-F5344CB8AC3E}">
        <p14:creationId xmlns:p14="http://schemas.microsoft.com/office/powerpoint/2010/main" val="222343817"/>
      </p:ext>
    </p:extLst>
  </p:cSld>
  <p:clrMapOvr>
    <a:masterClrMapping/>
  </p:clrMapOvr>
</p:sld>
</file>

<file path=ppt/slides/slide22.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306D76EC-69D8-4F8A-8B3E-968B01464607}"/>
              </a:ext>
            </a:extLst>
          </p:cNvPr>
          <p:cNvSpPr>
            <a:spLocks xmlns:a="http://schemas.openxmlformats.org/drawingml/2006/main" noGrp="1"/>
          </p:cNvSpPr>
          <p:nvPr/>
        </p:nvSpPr>
        <p:spPr>
          <a:xfrm xmlns:a="http://schemas.openxmlformats.org/drawingml/2006/main">
            <a:off x="762000" y="485775"/>
            <a:ext cx="9858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0" lang="en-US">
                <a:solidFill>
                  <a:srgbClr val="202124"/>
                </a:solidFill>
                <a:latin typeface="Roboto"/>
                <a:ea typeface="Roboto"/>
                <a:cs typeface="Roboto"/>
              </a:defRPr>
            </a:defPPr>
            <a:lvl1pPr algn="l">
              <a:defRPr sz="3200" b="0" lang="en-US">
                <a:solidFill>
                  <a:srgbClr val="202124"/>
                </a:solidFill>
                <a:latin typeface="Roboto"/>
                <a:ea typeface="Roboto"/>
                <a:cs typeface="Roboto"/>
              </a:defRPr>
            </a:lvl1pPr>
            <a:lvl2pPr algn="l">
              <a:defRPr sz="3200" b="0" lang="en-US">
                <a:solidFill>
                  <a:srgbClr val="202124"/>
                </a:solidFill>
                <a:latin typeface="Roboto"/>
                <a:ea typeface="Roboto"/>
                <a:cs typeface="Roboto"/>
              </a:defRPr>
            </a:lvl2pPr>
            <a:lvl3pPr algn="l">
              <a:defRPr sz="3200" b="0" lang="en-US">
                <a:solidFill>
                  <a:srgbClr val="202124"/>
                </a:solidFill>
                <a:latin typeface="Roboto"/>
                <a:ea typeface="Roboto"/>
                <a:cs typeface="Roboto"/>
              </a:defRPr>
            </a:lvl3pPr>
            <a:lvl4pPr algn="l">
              <a:defRPr sz="3200" b="0" lang="en-US">
                <a:solidFill>
                  <a:srgbClr val="202124"/>
                </a:solidFill>
                <a:latin typeface="Roboto"/>
                <a:ea typeface="Roboto"/>
                <a:cs typeface="Roboto"/>
              </a:defRPr>
            </a:lvl4pPr>
            <a:lvl5pPr algn="l">
              <a:defRPr sz="3200" b="0" lang="en-US">
                <a:solidFill>
                  <a:srgbClr val="202124"/>
                </a:solidFill>
                <a:latin typeface="Roboto"/>
                <a:ea typeface="Roboto"/>
                <a:cs typeface="Roboto"/>
              </a:defRPr>
            </a:lvl5pPr>
            <a:lvl6pPr algn="l">
              <a:defRPr sz="3200" b="0" lang="en-US">
                <a:solidFill>
                  <a:srgbClr val="202124"/>
                </a:solidFill>
                <a:latin typeface="Roboto"/>
                <a:ea typeface="Roboto"/>
                <a:cs typeface="Roboto"/>
              </a:defRPr>
            </a:lvl6pPr>
            <a:lvl7pPr algn="l">
              <a:defRPr sz="3200" b="0" lang="en-US">
                <a:solidFill>
                  <a:srgbClr val="202124"/>
                </a:solidFill>
                <a:latin typeface="Roboto"/>
                <a:ea typeface="Roboto"/>
                <a:cs typeface="Roboto"/>
              </a:defRPr>
            </a:lvl7pPr>
            <a:lvl8pPr algn="l">
              <a:defRPr sz="3200" b="0" lang="en-US">
                <a:solidFill>
                  <a:srgbClr val="202124"/>
                </a:solidFill>
                <a:latin typeface="Roboto"/>
                <a:ea typeface="Roboto"/>
                <a:cs typeface="Roboto"/>
              </a:defRPr>
            </a:lvl8pPr>
            <a:lvl9pPr algn="l">
              <a:defRPr sz="3200" b="0" lang="en-US">
                <a:solidFill>
                  <a:srgbClr val="202124"/>
                </a:solidFill>
                <a:latin typeface="Roboto"/>
                <a:ea typeface="Roboto"/>
                <a:cs typeface="Roboto"/>
              </a:defRPr>
            </a:lvl9pPr>
          </a:lstStyle>
          <a:p xmlns:a="http://schemas.openxmlformats.org/drawingml/2006/main">
            <a:pPr algn="l">
              <a:defRPr sz="3200" b="0" lang="en-US">
                <a:solidFill>
                  <a:srgbClr val="202124"/>
                </a:solidFill>
                <a:latin typeface="Roboto"/>
                <a:ea typeface="Roboto"/>
                <a:cs typeface="Roboto"/>
              </a:defRPr>
            </a:pPr>
            <a:r>
              <a:rPr sz="3200" b="0" lang="en-US">
                <a:solidFill>
                  <a:srgbClr val="202124"/>
                </a:solidFill>
                <a:latin typeface="Roboto"/>
                <a:ea typeface="Roboto"/>
                <a:cs typeface="Roboto"/>
              </a:rPr>
              <a:t>TinyGLASS-384 has the lowest inference cost</a:t>
            </a:r>
          </a:p>
        </p:txBody>
      </p:sp>
      <p:pic>
        <p:nvPicPr>
          <p:cNvPr id="2" name="">
            <a:extLst xmlns:a="http://schemas.openxmlformats.org/drawingml/2006/main">
              <a:ext uri="{FF2B5EF4-FFF2-40B4-BE49-F238E27FC236}">
                <a16:creationId xmlns:a16="http://schemas.microsoft.com/office/drawing/2014/main" id="{30672FFF-7150-4C40-8D58-2E31C684EC85}"/>
              </a:ext>
            </a:extLst>
          </p:cNvPr>
          <p:cNvPicPr>
            <a:picLocks xmlns:a="http://schemas.openxmlformats.org/drawingml/2006/main" noChangeAspect="1"/>
          </p:cNvPicPr>
          <p:nvPr/>
        </p:nvPicPr>
        <p:blipFill>
          <a:blip xmlns:r="http://schemas.openxmlformats.org/officeDocument/2006/relationships" xmlns:a="http://schemas.openxmlformats.org/drawingml/2006/main" r:embed="R977952af57374a34"/>
          <a:stretch xmlns:a="http://schemas.openxmlformats.org/drawingml/2006/main"/>
        </p:blipFill>
        <p:spPr>
          <a:xfrm xmlns:a="http://schemas.openxmlformats.org/drawingml/2006/main">
            <a:off x="11049000" y="238125"/>
            <a:ext cx="838200" cy="8382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992C9DEF-0624-4B33-B4A7-3BE096779FEC}"/>
              </a:ext>
            </a:extLst>
          </p:cNvPr>
          <p:cNvPicPr>
            <a:picLocks xmlns:a="http://schemas.openxmlformats.org/drawingml/2006/main" noChangeAspect="1"/>
          </p:cNvPicPr>
          <p:nvPr/>
        </p:nvPicPr>
        <p:blipFill>
          <a:blip xmlns:r="http://schemas.openxmlformats.org/officeDocument/2006/relationships" xmlns:a="http://schemas.openxmlformats.org/drawingml/2006/main" r:embed="R7d3a7b721650404a"/>
          <a:stretch xmlns:a="http://schemas.openxmlformats.org/drawingml/2006/main"/>
        </p:blipFill>
        <p:spPr>
          <a:xfrm xmlns:a="http://schemas.openxmlformats.org/drawingml/2006/main">
            <a:off x="5067300" y="1419225"/>
            <a:ext cx="438150" cy="4381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D161E990-739E-47F8-ADD2-BE41B971F85F}"/>
              </a:ext>
            </a:extLst>
          </p:cNvPr>
          <p:cNvPicPr>
            <a:picLocks xmlns:a="http://schemas.openxmlformats.org/drawingml/2006/main" noChangeAspect="1"/>
          </p:cNvPicPr>
          <p:nvPr/>
        </p:nvPicPr>
        <p:blipFill>
          <a:blip xmlns:r="http://schemas.openxmlformats.org/officeDocument/2006/relationships" xmlns:a="http://schemas.openxmlformats.org/drawingml/2006/main" r:embed="R0e2ac463d4374c47"/>
          <a:stretch xmlns:a="http://schemas.openxmlformats.org/drawingml/2006/main"/>
        </p:blipFill>
        <p:spPr>
          <a:xfrm xmlns:a="http://schemas.openxmlformats.org/drawingml/2006/main">
            <a:off x="7448550" y="1419225"/>
            <a:ext cx="438150" cy="4381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2D1108E5-2FDF-4EDC-AF21-D6C3D2C712BC}"/>
              </a:ext>
            </a:extLst>
          </p:cNvPr>
          <p:cNvPicPr>
            <a:picLocks xmlns:a="http://schemas.openxmlformats.org/drawingml/2006/main" noChangeAspect="1"/>
          </p:cNvPicPr>
          <p:nvPr/>
        </p:nvPicPr>
        <p:blipFill>
          <a:blip xmlns:r="http://schemas.openxmlformats.org/officeDocument/2006/relationships" xmlns:a="http://schemas.openxmlformats.org/drawingml/2006/main" r:embed="R554e32552bf54e06"/>
          <a:stretch xmlns:a="http://schemas.openxmlformats.org/drawingml/2006/main"/>
        </p:blipFill>
        <p:spPr>
          <a:xfrm xmlns:a="http://schemas.openxmlformats.org/drawingml/2006/main">
            <a:off x="9925050" y="1419225"/>
            <a:ext cx="438150" cy="438150"/>
          </a:xfrm>
          <a:prstGeom xmlns:a="http://schemas.openxmlformats.org/drawingml/2006/main" prst="rect">
            <a:avLst/>
          </a:prstGeom>
        </p:spPr>
      </p:pic>
      <p:sp>
        <p:nvSpPr>
          <p:cNvPr id="6" name="footer-author">
            <a:extLst xmlns:a="http://schemas.openxmlformats.org/drawingml/2006/main">
              <a:ext uri="{FF2B5EF4-FFF2-40B4-BE49-F238E27FC236}">
                <a16:creationId xmlns:a16="http://schemas.microsoft.com/office/drawing/2014/main" id="{AA62213D-8D2C-45F1-AE2C-537B29E9C429}"/>
              </a:ext>
            </a:extLst>
          </p:cNvPr>
          <p:cNvSpPr>
            <a:spLocks xmlns:a="http://schemas.openxmlformats.org/drawingml/2006/main" noGrp="1"/>
          </p:cNvSpPr>
          <p:nvPr/>
        </p:nvSpPr>
        <p:spPr>
          <a:xfrm xmlns:a="http://schemas.openxmlformats.org/drawingml/2006/main">
            <a:off x="762000" y="6581775"/>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00" b="0" lang="en-US">
                <a:solidFill>
                  <a:srgbClr val="656B73"/>
                </a:solidFill>
                <a:latin typeface="Roboto"/>
                <a:ea typeface="Roboto"/>
                <a:cs typeface="Roboto"/>
              </a:defRPr>
            </a:defPPr>
            <a:lvl1pPr algn="l">
              <a:defRPr sz="1000" b="0" lang="en-US">
                <a:solidFill>
                  <a:srgbClr val="656B73"/>
                </a:solidFill>
                <a:latin typeface="Roboto"/>
                <a:ea typeface="Roboto"/>
                <a:cs typeface="Roboto"/>
              </a:defRPr>
            </a:lvl1pPr>
            <a:lvl2pPr algn="l">
              <a:defRPr sz="1000" b="0" lang="en-US">
                <a:solidFill>
                  <a:srgbClr val="656B73"/>
                </a:solidFill>
                <a:latin typeface="Roboto"/>
                <a:ea typeface="Roboto"/>
                <a:cs typeface="Roboto"/>
              </a:defRPr>
            </a:lvl2pPr>
            <a:lvl3pPr algn="l">
              <a:defRPr sz="1000" b="0" lang="en-US">
                <a:solidFill>
                  <a:srgbClr val="656B73"/>
                </a:solidFill>
                <a:latin typeface="Roboto"/>
                <a:ea typeface="Roboto"/>
                <a:cs typeface="Roboto"/>
              </a:defRPr>
            </a:lvl3pPr>
            <a:lvl4pPr algn="l">
              <a:defRPr sz="1000" b="0" lang="en-US">
                <a:solidFill>
                  <a:srgbClr val="656B73"/>
                </a:solidFill>
                <a:latin typeface="Roboto"/>
                <a:ea typeface="Roboto"/>
                <a:cs typeface="Roboto"/>
              </a:defRPr>
            </a:lvl4pPr>
            <a:lvl5pPr algn="l">
              <a:defRPr sz="1000" b="0" lang="en-US">
                <a:solidFill>
                  <a:srgbClr val="656B73"/>
                </a:solidFill>
                <a:latin typeface="Roboto"/>
                <a:ea typeface="Roboto"/>
                <a:cs typeface="Roboto"/>
              </a:defRPr>
            </a:lvl5pPr>
            <a:lvl6pPr algn="l">
              <a:defRPr sz="1000" b="0" lang="en-US">
                <a:solidFill>
                  <a:srgbClr val="656B73"/>
                </a:solidFill>
                <a:latin typeface="Roboto"/>
                <a:ea typeface="Roboto"/>
                <a:cs typeface="Roboto"/>
              </a:defRPr>
            </a:lvl6pPr>
            <a:lvl7pPr algn="l">
              <a:defRPr sz="1000" b="0" lang="en-US">
                <a:solidFill>
                  <a:srgbClr val="656B73"/>
                </a:solidFill>
                <a:latin typeface="Roboto"/>
                <a:ea typeface="Roboto"/>
                <a:cs typeface="Roboto"/>
              </a:defRPr>
            </a:lvl7pPr>
            <a:lvl8pPr algn="l">
              <a:defRPr sz="1000" b="0" lang="en-US">
                <a:solidFill>
                  <a:srgbClr val="656B73"/>
                </a:solidFill>
                <a:latin typeface="Roboto"/>
                <a:ea typeface="Roboto"/>
                <a:cs typeface="Roboto"/>
              </a:defRPr>
            </a:lvl8pPr>
            <a:lvl9pPr algn="l">
              <a:defRPr sz="1000" b="0" lang="en-US">
                <a:solidFill>
                  <a:srgbClr val="656B73"/>
                </a:solidFill>
                <a:latin typeface="Roboto"/>
                <a:ea typeface="Roboto"/>
                <a:cs typeface="Roboto"/>
              </a:defRPr>
            </a:lvl9pPr>
          </a:lstStyle>
          <a:p xmlns:a="http://schemas.openxmlformats.org/drawingml/2006/main">
            <a:pPr algn="l">
              <a:defRPr sz="1000" b="0" lang="en-US">
                <a:solidFill>
                  <a:srgbClr val="656B73"/>
                </a:solidFill>
                <a:latin typeface="Roboto"/>
                <a:ea typeface="Roboto"/>
                <a:cs typeface="Roboto"/>
              </a:defRPr>
            </a:pPr>
            <a:r>
              <a:rPr sz="1000" b="0" lang="en-US">
                <a:solidFill>
                  <a:srgbClr val="656B73"/>
                </a:solidFill>
                <a:latin typeface="Roboto"/>
                <a:ea typeface="Roboto"/>
                <a:cs typeface="Roboto"/>
              </a:rPr>
              <a:t>Daniele Venturini</a:t>
            </a:r>
          </a:p>
        </p:txBody>
      </p:sp>
      <p:sp>
        <p:nvSpPr>
          <p:cNvPr id="7" name="footer-date">
            <a:extLst xmlns:a="http://schemas.openxmlformats.org/drawingml/2006/main">
              <a:ext uri="{FF2B5EF4-FFF2-40B4-BE49-F238E27FC236}">
                <a16:creationId xmlns:a16="http://schemas.microsoft.com/office/drawing/2014/main" id="{D1182EC1-493E-49DE-8511-C4E988401D5B}"/>
              </a:ext>
            </a:extLst>
          </p:cNvPr>
          <p:cNvSpPr>
            <a:spLocks xmlns:a="http://schemas.openxmlformats.org/drawingml/2006/main" noGrp="1"/>
          </p:cNvSpPr>
          <p:nvPr/>
        </p:nvSpPr>
        <p:spPr>
          <a:xfrm xmlns:a="http://schemas.openxmlformats.org/drawingml/2006/main">
            <a:off x="8096250" y="6581775"/>
            <a:ext cx="1905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00" b="0" lang="en-US">
                <a:solidFill>
                  <a:srgbClr val="656B73"/>
                </a:solidFill>
                <a:latin typeface="Roboto"/>
                <a:ea typeface="Roboto"/>
                <a:cs typeface="Roboto"/>
              </a:defRPr>
            </a:defPPr>
            <a:lvl1pPr algn="r">
              <a:defRPr sz="1000" b="0" lang="en-US">
                <a:solidFill>
                  <a:srgbClr val="656B73"/>
                </a:solidFill>
                <a:latin typeface="Roboto"/>
                <a:ea typeface="Roboto"/>
                <a:cs typeface="Roboto"/>
              </a:defRPr>
            </a:lvl1pPr>
            <a:lvl2pPr algn="r">
              <a:defRPr sz="1000" b="0" lang="en-US">
                <a:solidFill>
                  <a:srgbClr val="656B73"/>
                </a:solidFill>
                <a:latin typeface="Roboto"/>
                <a:ea typeface="Roboto"/>
                <a:cs typeface="Roboto"/>
              </a:defRPr>
            </a:lvl2pPr>
            <a:lvl3pPr algn="r">
              <a:defRPr sz="1000" b="0" lang="en-US">
                <a:solidFill>
                  <a:srgbClr val="656B73"/>
                </a:solidFill>
                <a:latin typeface="Roboto"/>
                <a:ea typeface="Roboto"/>
                <a:cs typeface="Roboto"/>
              </a:defRPr>
            </a:lvl3pPr>
            <a:lvl4pPr algn="r">
              <a:defRPr sz="1000" b="0" lang="en-US">
                <a:solidFill>
                  <a:srgbClr val="656B73"/>
                </a:solidFill>
                <a:latin typeface="Roboto"/>
                <a:ea typeface="Roboto"/>
                <a:cs typeface="Roboto"/>
              </a:defRPr>
            </a:lvl4pPr>
            <a:lvl5pPr algn="r">
              <a:defRPr sz="1000" b="0" lang="en-US">
                <a:solidFill>
                  <a:srgbClr val="656B73"/>
                </a:solidFill>
                <a:latin typeface="Roboto"/>
                <a:ea typeface="Roboto"/>
                <a:cs typeface="Roboto"/>
              </a:defRPr>
            </a:lvl5pPr>
            <a:lvl6pPr algn="r">
              <a:defRPr sz="1000" b="0" lang="en-US">
                <a:solidFill>
                  <a:srgbClr val="656B73"/>
                </a:solidFill>
                <a:latin typeface="Roboto"/>
                <a:ea typeface="Roboto"/>
                <a:cs typeface="Roboto"/>
              </a:defRPr>
            </a:lvl6pPr>
            <a:lvl7pPr algn="r">
              <a:defRPr sz="1000" b="0" lang="en-US">
                <a:solidFill>
                  <a:srgbClr val="656B73"/>
                </a:solidFill>
                <a:latin typeface="Roboto"/>
                <a:ea typeface="Roboto"/>
                <a:cs typeface="Roboto"/>
              </a:defRPr>
            </a:lvl7pPr>
            <a:lvl8pPr algn="r">
              <a:defRPr sz="1000" b="0" lang="en-US">
                <a:solidFill>
                  <a:srgbClr val="656B73"/>
                </a:solidFill>
                <a:latin typeface="Roboto"/>
                <a:ea typeface="Roboto"/>
                <a:cs typeface="Roboto"/>
              </a:defRPr>
            </a:lvl8pPr>
            <a:lvl9pPr algn="r">
              <a:defRPr sz="1000" b="0" lang="en-US">
                <a:solidFill>
                  <a:srgbClr val="656B73"/>
                </a:solidFill>
                <a:latin typeface="Roboto"/>
                <a:ea typeface="Roboto"/>
                <a:cs typeface="Roboto"/>
              </a:defRPr>
            </a:lvl9pPr>
          </a:lstStyle>
          <a:p xmlns:a="http://schemas.openxmlformats.org/drawingml/2006/main">
            <a:pPr algn="r">
              <a:defRPr sz="1000" b="0" lang="en-US">
                <a:solidFill>
                  <a:srgbClr val="656B73"/>
                </a:solidFill>
                <a:latin typeface="Roboto"/>
                <a:ea typeface="Roboto"/>
                <a:cs typeface="Roboto"/>
              </a:defRPr>
            </a:pPr>
            <a:r>
              <a:rPr sz="1000" b="0" lang="en-US">
                <a:solidFill>
                  <a:srgbClr val="656B73"/>
                </a:solidFill>
                <a:latin typeface="Roboto"/>
                <a:ea typeface="Roboto"/>
                <a:cs typeface="Roboto"/>
              </a:rPr>
              <a:t>27 October 2026</a:t>
            </a:r>
          </a:p>
        </p:txBody>
      </p:sp>
      <p:sp>
        <p:nvSpPr>
          <p:cNvPr id="8" name="footer-page">
            <a:extLst xmlns:a="http://schemas.openxmlformats.org/drawingml/2006/main">
              <a:ext uri="{FF2B5EF4-FFF2-40B4-BE49-F238E27FC236}">
                <a16:creationId xmlns:a16="http://schemas.microsoft.com/office/drawing/2014/main" id="{634C2A48-5EA9-4DCC-B3BB-BDF2BCA573E1}"/>
              </a:ext>
            </a:extLst>
          </p:cNvPr>
          <p:cNvSpPr>
            <a:spLocks xmlns:a="http://schemas.openxmlformats.org/drawingml/2006/main" noGrp="1"/>
          </p:cNvSpPr>
          <p:nvPr/>
        </p:nvSpPr>
        <p:spPr>
          <a:xfrm xmlns:a="http://schemas.openxmlformats.org/drawingml/2006/main">
            <a:off x="10953750" y="6581775"/>
            <a:ext cx="8572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00" b="0" lang="en-US">
                <a:solidFill>
                  <a:srgbClr val="656B73"/>
                </a:solidFill>
                <a:latin typeface="Roboto"/>
                <a:ea typeface="Roboto"/>
                <a:cs typeface="Roboto"/>
              </a:defRPr>
            </a:defPPr>
            <a:lvl1pPr algn="r">
              <a:defRPr sz="1000" b="0" lang="en-US">
                <a:solidFill>
                  <a:srgbClr val="656B73"/>
                </a:solidFill>
                <a:latin typeface="Roboto"/>
                <a:ea typeface="Roboto"/>
                <a:cs typeface="Roboto"/>
              </a:defRPr>
            </a:lvl1pPr>
            <a:lvl2pPr algn="r">
              <a:defRPr sz="1000" b="0" lang="en-US">
                <a:solidFill>
                  <a:srgbClr val="656B73"/>
                </a:solidFill>
                <a:latin typeface="Roboto"/>
                <a:ea typeface="Roboto"/>
                <a:cs typeface="Roboto"/>
              </a:defRPr>
            </a:lvl2pPr>
            <a:lvl3pPr algn="r">
              <a:defRPr sz="1000" b="0" lang="en-US">
                <a:solidFill>
                  <a:srgbClr val="656B73"/>
                </a:solidFill>
                <a:latin typeface="Roboto"/>
                <a:ea typeface="Roboto"/>
                <a:cs typeface="Roboto"/>
              </a:defRPr>
            </a:lvl3pPr>
            <a:lvl4pPr algn="r">
              <a:defRPr sz="1000" b="0" lang="en-US">
                <a:solidFill>
                  <a:srgbClr val="656B73"/>
                </a:solidFill>
                <a:latin typeface="Roboto"/>
                <a:ea typeface="Roboto"/>
                <a:cs typeface="Roboto"/>
              </a:defRPr>
            </a:lvl4pPr>
            <a:lvl5pPr algn="r">
              <a:defRPr sz="1000" b="0" lang="en-US">
                <a:solidFill>
                  <a:srgbClr val="656B73"/>
                </a:solidFill>
                <a:latin typeface="Roboto"/>
                <a:ea typeface="Roboto"/>
                <a:cs typeface="Roboto"/>
              </a:defRPr>
            </a:lvl5pPr>
            <a:lvl6pPr algn="r">
              <a:defRPr sz="1000" b="0" lang="en-US">
                <a:solidFill>
                  <a:srgbClr val="656B73"/>
                </a:solidFill>
                <a:latin typeface="Roboto"/>
                <a:ea typeface="Roboto"/>
                <a:cs typeface="Roboto"/>
              </a:defRPr>
            </a:lvl6pPr>
            <a:lvl7pPr algn="r">
              <a:defRPr sz="1000" b="0" lang="en-US">
                <a:solidFill>
                  <a:srgbClr val="656B73"/>
                </a:solidFill>
                <a:latin typeface="Roboto"/>
                <a:ea typeface="Roboto"/>
                <a:cs typeface="Roboto"/>
              </a:defRPr>
            </a:lvl7pPr>
            <a:lvl8pPr algn="r">
              <a:defRPr sz="1000" b="0" lang="en-US">
                <a:solidFill>
                  <a:srgbClr val="656B73"/>
                </a:solidFill>
                <a:latin typeface="Roboto"/>
                <a:ea typeface="Roboto"/>
                <a:cs typeface="Roboto"/>
              </a:defRPr>
            </a:lvl8pPr>
            <a:lvl9pPr algn="r">
              <a:defRPr sz="1000" b="0" lang="en-US">
                <a:solidFill>
                  <a:srgbClr val="656B73"/>
                </a:solidFill>
                <a:latin typeface="Roboto"/>
                <a:ea typeface="Roboto"/>
                <a:cs typeface="Roboto"/>
              </a:defRPr>
            </a:lvl9pPr>
          </a:lstStyle>
          <a:p xmlns:a="http://schemas.openxmlformats.org/drawingml/2006/main">
            <a:pPr algn="r">
              <a:defRPr sz="1000" b="0" lang="en-US">
                <a:solidFill>
                  <a:srgbClr val="656B73"/>
                </a:solidFill>
                <a:latin typeface="Roboto"/>
                <a:ea typeface="Roboto"/>
                <a:cs typeface="Roboto"/>
              </a:defRPr>
            </a:pPr>
            <a:r>
              <a:rPr sz="1000" b="0" lang="en-US">
                <a:solidFill>
                  <a:srgbClr val="656B73"/>
                </a:solidFill>
                <a:latin typeface="Roboto"/>
                <a:ea typeface="Roboto"/>
                <a:cs typeface="Roboto"/>
              </a:rPr>
              <a:t>22 / 33</a:t>
            </a:r>
          </a:p>
        </p:txBody>
      </p:sp>
      <p:graphicFrame>
        <p:nvGraphicFramePr>
          <p:cNvPr id="9" name="">
            <a:extLst xmlns:a="http://schemas.openxmlformats.org/drawingml/2006/main">
              <a:ext uri="{FF2B5EF4-FFF2-40B4-BE49-F238E27FC236}">
                <a16:creationId xmlns:a16="http://schemas.microsoft.com/office/drawing/2014/main" id="{A2B49B54-F143-43B7-825E-87CFE6FF7C63}"/>
              </a:ext>
            </a:extLst>
          </p:cNvPr>
          <p:cNvGraphicFramePr/>
          <p:nvPr/>
        </p:nvGraphicFramePr>
        <p:xfrm>
          <a:off xmlns:a="http://schemas.openxmlformats.org/drawingml/2006/main" x="762000" y="1933575"/>
          <a:ext xmlns:a="http://schemas.openxmlformats.org/drawingml/2006/main" cx="10668000" cy="3467100"/>
        </p:xfrm>
        <a:graphic xmlns:a="http://schemas.openxmlformats.org/drawingml/2006/main">
          <a:graphicData uri="http://schemas.openxmlformats.org/drawingml/2006/table">
            <a:tbl>
              <a:tblPr firstRow="0" bandRow="0"/>
              <a:tblGrid>
                <a:gridCol w="3333750"/>
                <a:gridCol w="2381250"/>
                <a:gridCol w="2381250"/>
                <a:gridCol w="2571750"/>
              </a:tblGrid>
              <a:tr h="609600">
                <a:tc>
                  <a:txBody>
                    <a:bodyPr/>
                    <a:lstStyle/>
                    <a:p>
                      <a:pPr algn="ctr"/>
                      <a:r>
                        <a:rPr sz="1950" b="1" lang="en-US">
                          <a:solidFill>
                            <a:srgbClr val="202124"/>
                          </a:solidFill>
                          <a:latin typeface="Roboto"/>
                          <a:ea typeface="Roboto"/>
                          <a:cs typeface="Roboto"/>
                        </a:rPr>
                        <a:t>Model</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1950" b="1" lang="en-US">
                          <a:solidFill>
                            <a:srgbClr val="202124"/>
                          </a:solidFill>
                          <a:latin typeface="Roboto"/>
                          <a:ea typeface="Roboto"/>
                          <a:cs typeface="Roboto"/>
                        </a:rPr>
                        <a:t>Latency</a:t>
                      </a:r>
                    </a:p>
                    <a:p>
                      <a:pPr algn="ctr"/>
                      <a:r>
                        <a:rPr sz="1950" b="1" lang="en-US">
                          <a:solidFill>
                            <a:srgbClr val="202124"/>
                          </a:solidFill>
                          <a:latin typeface="Roboto"/>
                          <a:ea typeface="Roboto"/>
                          <a:cs typeface="Roboto"/>
                        </a:rPr>
                        <a:t>(ms)</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1950" b="1" lang="en-US">
                          <a:solidFill>
                            <a:srgbClr val="202124"/>
                          </a:solidFill>
                          <a:latin typeface="Roboto"/>
                          <a:ea typeface="Roboto"/>
                          <a:cs typeface="Roboto"/>
                        </a:rPr>
                        <a:t>GPU energy</a:t>
                      </a:r>
                    </a:p>
                    <a:p>
                      <a:pPr algn="ctr"/>
                      <a:r>
                        <a:rPr sz="1950" b="1" lang="en-US">
                          <a:solidFill>
                            <a:srgbClr val="202124"/>
                          </a:solidFill>
                          <a:latin typeface="Roboto"/>
                          <a:ea typeface="Roboto"/>
                          <a:cs typeface="Roboto"/>
                        </a:rPr>
                        <a:t>(J/image)</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1950" b="1" lang="en-US">
                          <a:solidFill>
                            <a:srgbClr val="202124"/>
                          </a:solidFill>
                          <a:latin typeface="Roboto"/>
                          <a:ea typeface="Roboto"/>
                          <a:cs typeface="Roboto"/>
                        </a:rPr>
                        <a:t>Peak memory</a:t>
                      </a:r>
                    </a:p>
                    <a:p>
                      <a:pPr algn="ctr"/>
                      <a:r>
                        <a:rPr sz="1950" b="1" lang="en-US">
                          <a:solidFill>
                            <a:srgbClr val="202124"/>
                          </a:solidFill>
                          <a:latin typeface="Roboto"/>
                          <a:ea typeface="Roboto"/>
                          <a:cs typeface="Roboto"/>
                        </a:rPr>
                        <a:t>(MiB)</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76250">
                <a:tc>
                  <a:txBody>
                    <a:bodyPr/>
                    <a:lstStyle/>
                    <a:p>
                      <a:pPr algn="l"/>
                      <a:r>
                        <a:rPr sz="2100" b="1" lang="en-US">
                          <a:solidFill>
                            <a:srgbClr val="822433"/>
                          </a:solidFill>
                          <a:latin typeface="Roboto"/>
                          <a:ea typeface="Roboto"/>
                          <a:cs typeface="Roboto"/>
                        </a:rPr>
                        <a:t>TinyGLASS-384</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b="1" lang="en-US">
                          <a:solidFill>
                            <a:srgbClr val="822433"/>
                          </a:solidFill>
                          <a:latin typeface="Roboto"/>
                          <a:ea typeface="Roboto"/>
                          <a:cs typeface="Roboto"/>
                        </a:rPr>
                        <a:t>5.13</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b="1" lang="en-US">
                          <a:solidFill>
                            <a:srgbClr val="822433"/>
                          </a:solidFill>
                          <a:latin typeface="Roboto"/>
                          <a:ea typeface="Roboto"/>
                          <a:cs typeface="Roboto"/>
                        </a:rPr>
                        <a:t>0.239</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b="1" lang="en-US">
                          <a:solidFill>
                            <a:srgbClr val="822433"/>
                          </a:solidFill>
                          <a:latin typeface="Roboto"/>
                          <a:ea typeface="Roboto"/>
                          <a:cs typeface="Roboto"/>
                        </a:rPr>
                        <a:t>38.72</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76250">
                <a:tc>
                  <a:txBody>
                    <a:bodyPr/>
                    <a:lstStyle/>
                    <a:p>
                      <a:pPr algn="l"/>
                      <a:r>
                        <a:rPr sz="2100" lang="en-US">
                          <a:solidFill>
                            <a:srgbClr val="202124"/>
                          </a:solidFill>
                          <a:latin typeface="Roboto"/>
                          <a:ea typeface="Roboto"/>
                          <a:cs typeface="Roboto"/>
                        </a:rPr>
                        <a:t>TinyGLASS-512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6.29</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0.369</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55.03</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76250">
                <a:tc>
                  <a:txBody>
                    <a:bodyPr/>
                    <a:lstStyle/>
                    <a:p>
                      <a:pPr algn="l"/>
                      <a:r>
                        <a:rPr sz="2100" lang="en-US">
                          <a:solidFill>
                            <a:srgbClr val="202124"/>
                          </a:solidFill>
                          <a:latin typeface="Roboto"/>
                          <a:ea typeface="Roboto"/>
                          <a:cs typeface="Roboto"/>
                        </a:rPr>
                        <a:t>SuperSimpleNet</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27.54</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1.939</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219.69</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76250">
                <a:tc>
                  <a:txBody>
                    <a:bodyPr/>
                    <a:lstStyle/>
                    <a:p>
                      <a:pPr algn="l"/>
                      <a:r>
                        <a:rPr sz="2100" lang="en-US">
                          <a:solidFill>
                            <a:srgbClr val="202124"/>
                          </a:solidFill>
                          <a:latin typeface="Roboto"/>
                          <a:ea typeface="Roboto"/>
                          <a:cs typeface="Roboto"/>
                        </a:rPr>
                        <a:t>EfficientAD-S</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57.72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4.032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878.45</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76250">
                <a:tc>
                  <a:txBody>
                    <a:bodyPr/>
                    <a:lstStyle/>
                    <a:p>
                      <a:pPr algn="l"/>
                      <a:r>
                        <a:rPr sz="2100" lang="en-US">
                          <a:solidFill>
                            <a:srgbClr val="202124"/>
                          </a:solidFill>
                          <a:latin typeface="Roboto"/>
                          <a:ea typeface="Roboto"/>
                          <a:cs typeface="Roboto"/>
                        </a:rPr>
                        <a:t>PatchCore-L</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62.89</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4.116</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385.25</a:t>
                      </a:r>
                    </a:p>
                  </a:txBody>
                  <a:tcPr marL="76200" marR="76200" marT="38100" marB="38100" anchor="ctr">
                    <a:lnL w="0">
                      <a:noFill/>
                    </a:lnL>
                    <a:lnR w="0">
                      <a:noFill/>
                    </a:lnR>
                    <a:lnT w="0">
                      <a:noFill/>
                    </a:lnT>
                    <a:lnB w="0">
                      <a:noFill/>
                    </a:lnB>
                    <a:lnTlToBr w="0">
                      <a:noFill/>
                    </a:lnTlToBr>
                    <a:lnBlToTr w="0">
                      <a:noFill/>
                    </a:lnBlToTr>
                    <a:solidFill>
                      <a:srgbClr val="FFFFFF"/>
                    </a:solidFill>
                  </a:tcPr>
                </a:tc>
              </a:tr>
              <a:tr h="476250">
                <a:tc>
                  <a:txBody>
                    <a:bodyPr/>
                    <a:lstStyle/>
                    <a:p>
                      <a:pPr algn="l"/>
                      <a:r>
                        <a:rPr sz="2100" lang="en-US">
                          <a:solidFill>
                            <a:srgbClr val="202124"/>
                          </a:solidFill>
                          <a:latin typeface="Roboto"/>
                          <a:ea typeface="Roboto"/>
                          <a:cs typeface="Roboto"/>
                        </a:rPr>
                        <a:t>PatchCore-S</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101.21</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6.849</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sz="2250" lang="en-US">
                          <a:solidFill>
                            <a:srgbClr val="202124"/>
                          </a:solidFill>
                          <a:latin typeface="Roboto"/>
                          <a:ea typeface="Roboto"/>
                          <a:cs typeface="Roboto"/>
                        </a:rPr>
                        <a:t>277.53</a:t>
                      </a:r>
                    </a:p>
                  </a:txBody>
                  <a:tcPr marL="76200" marR="76200" marT="38100" marB="38100" anchor="ctr">
                    <a:lnL w="0">
                      <a:noFill/>
                    </a:lnL>
                    <a:lnR w="0">
                      <a:noFill/>
                    </a:lnR>
                    <a:lnT w="0">
                      <a:noFill/>
                    </a:lnT>
                    <a:lnB w="0">
                      <a:noFill/>
                    </a:lnB>
                    <a:lnTlToBr w="0">
                      <a:noFill/>
                    </a:lnTlToBr>
                    <a:lnBlToTr w="0">
                      <a:noFill/>
                    </a:lnBlToTr>
                    <a:solidFill>
                      <a:srgbClr val="FFFFFF"/>
                    </a:solidFill>
                  </a:tcPr>
                </a:tc>
              </a:tr>
            </a:tbl>
          </a:graphicData>
        </a:graphic>
      </p:graphicFrame>
      <p:sp>
        <p:nvSpPr>
          <p:cNvPr id="10" name="benchmark-scope">
            <a:extLst xmlns:a="http://schemas.openxmlformats.org/drawingml/2006/main">
              <a:ext uri="{FF2B5EF4-FFF2-40B4-BE49-F238E27FC236}">
                <a16:creationId xmlns:a16="http://schemas.microsoft.com/office/drawing/2014/main" id="{D53614CD-A377-4D97-9CF9-030A5FD0E9AE}"/>
              </a:ext>
            </a:extLst>
          </p:cNvPr>
          <p:cNvSpPr>
            <a:spLocks xmlns:a="http://schemas.openxmlformats.org/drawingml/2006/main" noGrp="1"/>
          </p:cNvSpPr>
          <p:nvPr/>
        </p:nvSpPr>
        <p:spPr>
          <a:xfrm xmlns:a="http://schemas.openxmlformats.org/drawingml/2006/main">
            <a:off x="762000" y="5657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lang="en-US">
                <a:solidFill>
                  <a:srgbClr val="656B73"/>
                </a:solidFill>
                <a:latin typeface="Roboto"/>
                <a:ea typeface="Roboto"/>
                <a:cs typeface="Roboto"/>
              </a:defRPr>
            </a:defPPr>
            <a:lvl1pPr algn="l">
              <a:defRPr sz="1725" b="0" lang="en-US">
                <a:solidFill>
                  <a:srgbClr val="656B73"/>
                </a:solidFill>
                <a:latin typeface="Roboto"/>
                <a:ea typeface="Roboto"/>
                <a:cs typeface="Roboto"/>
              </a:defRPr>
            </a:lvl1pPr>
            <a:lvl2pPr algn="l">
              <a:defRPr sz="1725" b="0" lang="en-US">
                <a:solidFill>
                  <a:srgbClr val="656B73"/>
                </a:solidFill>
                <a:latin typeface="Roboto"/>
                <a:ea typeface="Roboto"/>
                <a:cs typeface="Roboto"/>
              </a:defRPr>
            </a:lvl2pPr>
            <a:lvl3pPr algn="l">
              <a:defRPr sz="1725" b="0" lang="en-US">
                <a:solidFill>
                  <a:srgbClr val="656B73"/>
                </a:solidFill>
                <a:latin typeface="Roboto"/>
                <a:ea typeface="Roboto"/>
                <a:cs typeface="Roboto"/>
              </a:defRPr>
            </a:lvl3pPr>
            <a:lvl4pPr algn="l">
              <a:defRPr sz="1725" b="0" lang="en-US">
                <a:solidFill>
                  <a:srgbClr val="656B73"/>
                </a:solidFill>
                <a:latin typeface="Roboto"/>
                <a:ea typeface="Roboto"/>
                <a:cs typeface="Roboto"/>
              </a:defRPr>
            </a:lvl4pPr>
            <a:lvl5pPr algn="l">
              <a:defRPr sz="1725" b="0" lang="en-US">
                <a:solidFill>
                  <a:srgbClr val="656B73"/>
                </a:solidFill>
                <a:latin typeface="Roboto"/>
                <a:ea typeface="Roboto"/>
                <a:cs typeface="Roboto"/>
              </a:defRPr>
            </a:lvl5pPr>
            <a:lvl6pPr algn="l">
              <a:defRPr sz="1725" b="0" lang="en-US">
                <a:solidFill>
                  <a:srgbClr val="656B73"/>
                </a:solidFill>
                <a:latin typeface="Roboto"/>
                <a:ea typeface="Roboto"/>
                <a:cs typeface="Roboto"/>
              </a:defRPr>
            </a:lvl6pPr>
            <a:lvl7pPr algn="l">
              <a:defRPr sz="1725" b="0" lang="en-US">
                <a:solidFill>
                  <a:srgbClr val="656B73"/>
                </a:solidFill>
                <a:latin typeface="Roboto"/>
                <a:ea typeface="Roboto"/>
                <a:cs typeface="Roboto"/>
              </a:defRPr>
            </a:lvl7pPr>
            <a:lvl8pPr algn="l">
              <a:defRPr sz="1725" b="0" lang="en-US">
                <a:solidFill>
                  <a:srgbClr val="656B73"/>
                </a:solidFill>
                <a:latin typeface="Roboto"/>
                <a:ea typeface="Roboto"/>
                <a:cs typeface="Roboto"/>
              </a:defRPr>
            </a:lvl8pPr>
            <a:lvl9pPr algn="l">
              <a:defRPr sz="1725" b="0" lang="en-US">
                <a:solidFill>
                  <a:srgbClr val="656B73"/>
                </a:solidFill>
                <a:latin typeface="Roboto"/>
                <a:ea typeface="Roboto"/>
                <a:cs typeface="Roboto"/>
              </a:defRPr>
            </a:lvl9pPr>
          </a:lstStyle>
          <a:p xmlns:a="http://schemas.openxmlformats.org/drawingml/2006/main">
            <a:pPr algn="l">
              <a:defRPr sz="1725" b="0" lang="en-US">
                <a:solidFill>
                  <a:srgbClr val="656B73"/>
                </a:solidFill>
                <a:latin typeface="Roboto"/>
                <a:ea typeface="Roboto"/>
                <a:cs typeface="Roboto"/>
              </a:defRPr>
            </a:pPr>
            <a:r>
              <a:rPr sz="1725" b="0" lang="en-US">
                <a:solidFill>
                  <a:srgbClr val="656B73"/>
                </a:solidFill>
                <a:latin typeface="Roboto"/>
                <a:ea typeface="Roboto"/>
                <a:cs typeface="Roboto"/>
              </a:rPr>
              <a:t>NVIDIA T4, batch 1. Inputs already on GPU; preprocessing and transfer excluded.</a:t>
            </a:r>
          </a:p>
        </p:txBody>
      </p:sp>
      <p:sp>
        <p:nvSpPr>
          <p:cNvPr id="11" name="energy-scope">
            <a:extLst xmlns:a="http://schemas.openxmlformats.org/drawingml/2006/main">
              <a:ext uri="{FF2B5EF4-FFF2-40B4-BE49-F238E27FC236}">
                <a16:creationId xmlns:a16="http://schemas.microsoft.com/office/drawing/2014/main" id="{293BB57D-A467-4987-9ADF-BD127F15BB66}"/>
              </a:ext>
            </a:extLst>
          </p:cNvPr>
          <p:cNvSpPr>
            <a:spLocks xmlns:a="http://schemas.openxmlformats.org/drawingml/2006/main" noGrp="1"/>
          </p:cNvSpPr>
          <p:nvPr/>
        </p:nvSpPr>
        <p:spPr>
          <a:xfrm xmlns:a="http://schemas.openxmlformats.org/drawingml/2006/main">
            <a:off x="762000" y="5991225"/>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lang="en-US">
                <a:solidFill>
                  <a:srgbClr val="656B73"/>
                </a:solidFill>
                <a:latin typeface="Roboto"/>
                <a:ea typeface="Roboto"/>
                <a:cs typeface="Roboto"/>
              </a:defRPr>
            </a:defPPr>
            <a:lvl1pPr algn="l">
              <a:defRPr sz="1650" b="0" lang="en-US">
                <a:solidFill>
                  <a:srgbClr val="656B73"/>
                </a:solidFill>
                <a:latin typeface="Roboto"/>
                <a:ea typeface="Roboto"/>
                <a:cs typeface="Roboto"/>
              </a:defRPr>
            </a:lvl1pPr>
            <a:lvl2pPr algn="l">
              <a:defRPr sz="1650" b="0" lang="en-US">
                <a:solidFill>
                  <a:srgbClr val="656B73"/>
                </a:solidFill>
                <a:latin typeface="Roboto"/>
                <a:ea typeface="Roboto"/>
                <a:cs typeface="Roboto"/>
              </a:defRPr>
            </a:lvl2pPr>
            <a:lvl3pPr algn="l">
              <a:defRPr sz="1650" b="0" lang="en-US">
                <a:solidFill>
                  <a:srgbClr val="656B73"/>
                </a:solidFill>
                <a:latin typeface="Roboto"/>
                <a:ea typeface="Roboto"/>
                <a:cs typeface="Roboto"/>
              </a:defRPr>
            </a:lvl3pPr>
            <a:lvl4pPr algn="l">
              <a:defRPr sz="1650" b="0" lang="en-US">
                <a:solidFill>
                  <a:srgbClr val="656B73"/>
                </a:solidFill>
                <a:latin typeface="Roboto"/>
                <a:ea typeface="Roboto"/>
                <a:cs typeface="Roboto"/>
              </a:defRPr>
            </a:lvl4pPr>
            <a:lvl5pPr algn="l">
              <a:defRPr sz="1650" b="0" lang="en-US">
                <a:solidFill>
                  <a:srgbClr val="656B73"/>
                </a:solidFill>
                <a:latin typeface="Roboto"/>
                <a:ea typeface="Roboto"/>
                <a:cs typeface="Roboto"/>
              </a:defRPr>
            </a:lvl5pPr>
            <a:lvl6pPr algn="l">
              <a:defRPr sz="1650" b="0" lang="en-US">
                <a:solidFill>
                  <a:srgbClr val="656B73"/>
                </a:solidFill>
                <a:latin typeface="Roboto"/>
                <a:ea typeface="Roboto"/>
                <a:cs typeface="Roboto"/>
              </a:defRPr>
            </a:lvl6pPr>
            <a:lvl7pPr algn="l">
              <a:defRPr sz="1650" b="0" lang="en-US">
                <a:solidFill>
                  <a:srgbClr val="656B73"/>
                </a:solidFill>
                <a:latin typeface="Roboto"/>
                <a:ea typeface="Roboto"/>
                <a:cs typeface="Roboto"/>
              </a:defRPr>
            </a:lvl7pPr>
            <a:lvl8pPr algn="l">
              <a:defRPr sz="1650" b="0" lang="en-US">
                <a:solidFill>
                  <a:srgbClr val="656B73"/>
                </a:solidFill>
                <a:latin typeface="Roboto"/>
                <a:ea typeface="Roboto"/>
                <a:cs typeface="Roboto"/>
              </a:defRPr>
            </a:lvl8pPr>
            <a:lvl9pPr algn="l">
              <a:defRPr sz="1650" b="0" lang="en-US">
                <a:solidFill>
                  <a:srgbClr val="656B73"/>
                </a:solidFill>
                <a:latin typeface="Roboto"/>
                <a:ea typeface="Roboto"/>
                <a:cs typeface="Roboto"/>
              </a:defRPr>
            </a:lvl9pPr>
          </a:lstStyle>
          <a:p xmlns:a="http://schemas.openxmlformats.org/drawingml/2006/main">
            <a:pPr algn="l">
              <a:defRPr sz="1650" b="0" lang="en-US">
                <a:solidFill>
                  <a:srgbClr val="656B73"/>
                </a:solidFill>
                <a:latin typeface="Roboto"/>
                <a:ea typeface="Roboto"/>
                <a:cs typeface="Roboto"/>
              </a:defRPr>
            </a:pPr>
            <a:r>
              <a:rPr sz="1650" b="0" lang="en-US">
                <a:solidFill>
                  <a:srgbClr val="656B73"/>
                </a:solidFill>
                <a:latin typeface="Roboto"/>
                <a:ea typeface="Roboto"/>
                <a:cs typeface="Roboto"/>
              </a:rPr>
              <a:t>Whole-GPU energy includes idle consumption and excludes CPU energy.</a:t>
            </a:r>
          </a:p>
        </p:txBody>
      </p:sp>
      <p:sp>
        <p:nvSpPr>
          <p:cNvPr id="12" name="source-citations">
            <a:extLst xmlns:a="http://schemas.openxmlformats.org/drawingml/2006/main">
              <a:ext uri="{FF2B5EF4-FFF2-40B4-BE49-F238E27FC236}">
                <a16:creationId xmlns:a16="http://schemas.microsoft.com/office/drawing/2014/main" id="{5F5EDEA6-7E9E-4A16-A893-7386B1A211D8}"/>
              </a:ext>
            </a:extLst>
          </p:cNvPr>
          <p:cNvSpPr>
            <a:spLocks xmlns:a="http://schemas.openxmlformats.org/drawingml/2006/main" noGrp="1"/>
          </p:cNvSpPr>
          <p:nvPr/>
        </p:nvSpPr>
        <p:spPr>
          <a:xfrm xmlns:a="http://schemas.openxmlformats.org/drawingml/2006/main">
            <a:off x="762000" y="6334125"/>
            <a:ext cx="1076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lang="en-US">
                <a:solidFill>
                  <a:srgbClr val="656B73"/>
                </a:solidFill>
                <a:latin typeface="Roboto"/>
                <a:ea typeface="Roboto"/>
                <a:cs typeface="Roboto"/>
              </a:defRPr>
            </a:defPPr>
            <a:lvl1pPr algn="l">
              <a:defRPr sz="1125" b="0" lang="en-US">
                <a:solidFill>
                  <a:srgbClr val="656B73"/>
                </a:solidFill>
                <a:latin typeface="Roboto"/>
                <a:ea typeface="Roboto"/>
                <a:cs typeface="Roboto"/>
              </a:defRPr>
            </a:lvl1pPr>
            <a:lvl2pPr algn="l">
              <a:defRPr sz="1125" b="0" lang="en-US">
                <a:solidFill>
                  <a:srgbClr val="656B73"/>
                </a:solidFill>
                <a:latin typeface="Roboto"/>
                <a:ea typeface="Roboto"/>
                <a:cs typeface="Roboto"/>
              </a:defRPr>
            </a:lvl2pPr>
            <a:lvl3pPr algn="l">
              <a:defRPr sz="1125" b="0" lang="en-US">
                <a:solidFill>
                  <a:srgbClr val="656B73"/>
                </a:solidFill>
                <a:latin typeface="Roboto"/>
                <a:ea typeface="Roboto"/>
                <a:cs typeface="Roboto"/>
              </a:defRPr>
            </a:lvl3pPr>
            <a:lvl4pPr algn="l">
              <a:defRPr sz="1125" b="0" lang="en-US">
                <a:solidFill>
                  <a:srgbClr val="656B73"/>
                </a:solidFill>
                <a:latin typeface="Roboto"/>
                <a:ea typeface="Roboto"/>
                <a:cs typeface="Roboto"/>
              </a:defRPr>
            </a:lvl4pPr>
            <a:lvl5pPr algn="l">
              <a:defRPr sz="1125" b="0" lang="en-US">
                <a:solidFill>
                  <a:srgbClr val="656B73"/>
                </a:solidFill>
                <a:latin typeface="Roboto"/>
                <a:ea typeface="Roboto"/>
                <a:cs typeface="Roboto"/>
              </a:defRPr>
            </a:lvl5pPr>
            <a:lvl6pPr algn="l">
              <a:defRPr sz="1125" b="0" lang="en-US">
                <a:solidFill>
                  <a:srgbClr val="656B73"/>
                </a:solidFill>
                <a:latin typeface="Roboto"/>
                <a:ea typeface="Roboto"/>
                <a:cs typeface="Roboto"/>
              </a:defRPr>
            </a:lvl6pPr>
            <a:lvl7pPr algn="l">
              <a:defRPr sz="1125" b="0" lang="en-US">
                <a:solidFill>
                  <a:srgbClr val="656B73"/>
                </a:solidFill>
                <a:latin typeface="Roboto"/>
                <a:ea typeface="Roboto"/>
                <a:cs typeface="Roboto"/>
              </a:defRPr>
            </a:lvl7pPr>
            <a:lvl8pPr algn="l">
              <a:defRPr sz="1125" b="0" lang="en-US">
                <a:solidFill>
                  <a:srgbClr val="656B73"/>
                </a:solidFill>
                <a:latin typeface="Roboto"/>
                <a:ea typeface="Roboto"/>
                <a:cs typeface="Roboto"/>
              </a:defRPr>
            </a:lvl8pPr>
            <a:lvl9pPr algn="l">
              <a:defRPr sz="1125" b="0" lang="en-US">
                <a:solidFill>
                  <a:srgbClr val="656B73"/>
                </a:solidFill>
                <a:latin typeface="Roboto"/>
                <a:ea typeface="Roboto"/>
                <a:cs typeface="Roboto"/>
              </a:defRPr>
            </a:lvl9pPr>
          </a:lstStyle>
          <a:p xmlns:a="http://schemas.openxmlformats.org/drawingml/2006/main">
            <a:pPr algn="l">
              <a:defRPr sz="1125" b="0" lang="en-US">
                <a:solidFill>
                  <a:srgbClr val="656B73"/>
                </a:solidFill>
                <a:latin typeface="Roboto"/>
                <a:ea typeface="Roboto"/>
                <a:cs typeface="Roboto"/>
              </a:defRPr>
            </a:pPr>
            <a:r>
              <a:rPr sz="1125" b="0" lang="en-US">
                <a:solidFill>
                  <a:srgbClr val="656B73"/>
                </a:solidFill>
                <a:latin typeface="Roboto"/>
                <a:ea typeface="Roboto"/>
                <a:cs typeface="Roboto"/>
              </a:rPr>
              <a:t>Thesis, Chapter 6, Table 6.3. Pose-A configurations with model-specific preprocessing.</a:t>
            </a:r>
          </a:p>
        </p:txBody>
      </p:sp>
    </p:spTree>
    <p:extLst>
      <p:ext uri="{BB962C8B-B14F-4D97-AF65-F5344CB8AC3E}">
        <p14:creationId xmlns:p14="http://schemas.microsoft.com/office/powerpoint/2010/main" val="222343817"/>
      </p:ext>
    </p:extLst>
  </p:cSld>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9" name="slide-title">
            <a:extLst>
              <a:ext uri="{FF2B5EF4-FFF2-40B4-BE49-F238E27FC236}">
                <a16:creationId xmlns:a16="http://schemas.microsoft.com/office/drawing/2014/main" id="{574D8553-FAE4-435A-95F4-03322F045146}"/>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Localization maps and pixel precision</a:t>
            </a:r>
          </a:p>
        </p:txBody>
      </p:sp>
      <p:pic>
        <p:nvPicPr>
          <p:cNvPr id="2" name="Immagine 1">
            <a:extLst>
              <a:ext uri="{FF2B5EF4-FFF2-40B4-BE49-F238E27FC236}">
                <a16:creationId xmlns:a16="http://schemas.microsoft.com/office/drawing/2014/main" id="{DBC6D942-B08C-4F31-A08A-32A4E2287E19}"/>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8AD5EAB4-0187-4255-A04B-EB8DFEDBC7BC}"/>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37DF04DC-E83F-4DA2-B558-8FEF26A6EBDD}"/>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1BAA4044-9EF3-4009-A194-0CF7B4D6508F}"/>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23 / 33</a:t>
            </a:r>
          </a:p>
        </p:txBody>
      </p:sp>
      <p:sp>
        <p:nvSpPr>
          <p:cNvPr id="6" name="source-citations">
            <a:extLst>
              <a:ext uri="{FF2B5EF4-FFF2-40B4-BE49-F238E27FC236}">
                <a16:creationId xmlns:a16="http://schemas.microsoft.com/office/drawing/2014/main" id="{45B01D40-B330-4116-B8E1-E86019F235D1}"/>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results and methods</a:t>
            </a:r>
          </a:p>
        </p:txBody>
      </p:sp>
      <p:sp>
        <p:nvSpPr>
          <p:cNvPr id="7" name="label-damage-rgb.png">
            <a:extLst>
              <a:ext uri="{FF2B5EF4-FFF2-40B4-BE49-F238E27FC236}">
                <a16:creationId xmlns:a16="http://schemas.microsoft.com/office/drawing/2014/main" id="{DEF6B458-C63A-4A1A-9814-132D965714A9}"/>
              </a:ext>
            </a:extLst>
          </p:cNvPr>
          <p:cNvSpPr>
            <a:spLocks noGrp="1"/>
          </p:cNvSpPr>
          <p:nvPr/>
        </p:nvSpPr>
        <p:spPr>
          <a:xfrm>
            <a:off x="762000" y="1590675"/>
            <a:ext cx="2381250" cy="361950"/>
          </a:xfrm>
          <a:prstGeom prst="rect">
            <a:avLst/>
          </a:prstGeom>
          <a:noFill/>
          <a:ln w="0">
            <a:noFill/>
          </a:ln>
        </p:spPr>
        <p:txBody>
          <a:bodyPr wrap="square" lIns="0" tIns="0" rIns="0" bIns="0" anchor="t">
            <a:noAutofit/>
          </a:bodyPr>
          <a:lstStyle>
            <a:defPPr algn="ctr">
              <a:defRPr lang="en-US" sz="1950" b="1">
                <a:solidFill>
                  <a:srgbClr val="202124"/>
                </a:solidFill>
                <a:latin typeface="Roboto"/>
                <a:ea typeface="Roboto"/>
                <a:cs typeface="Roboto"/>
              </a:defRPr>
            </a:defPPr>
            <a:lvl1pPr algn="ctr">
              <a:defRPr lang="en-US" sz="1950" b="1">
                <a:solidFill>
                  <a:srgbClr val="202124"/>
                </a:solidFill>
                <a:latin typeface="Roboto"/>
                <a:ea typeface="Roboto"/>
                <a:cs typeface="Roboto"/>
              </a:defRPr>
            </a:lvl1pPr>
            <a:lvl2pPr algn="ctr">
              <a:defRPr lang="en-US" sz="1950" b="1">
                <a:solidFill>
                  <a:srgbClr val="202124"/>
                </a:solidFill>
                <a:latin typeface="Roboto"/>
                <a:ea typeface="Roboto"/>
                <a:cs typeface="Roboto"/>
              </a:defRPr>
            </a:lvl2pPr>
            <a:lvl3pPr algn="ctr">
              <a:defRPr lang="en-US" sz="1950" b="1">
                <a:solidFill>
                  <a:srgbClr val="202124"/>
                </a:solidFill>
                <a:latin typeface="Roboto"/>
                <a:ea typeface="Roboto"/>
                <a:cs typeface="Roboto"/>
              </a:defRPr>
            </a:lvl3pPr>
            <a:lvl4pPr algn="ctr">
              <a:defRPr lang="en-US" sz="1950" b="1">
                <a:solidFill>
                  <a:srgbClr val="202124"/>
                </a:solidFill>
                <a:latin typeface="Roboto"/>
                <a:ea typeface="Roboto"/>
                <a:cs typeface="Roboto"/>
              </a:defRPr>
            </a:lvl4pPr>
            <a:lvl5pPr algn="ctr">
              <a:defRPr lang="en-US" sz="1950" b="1">
                <a:solidFill>
                  <a:srgbClr val="202124"/>
                </a:solidFill>
                <a:latin typeface="Roboto"/>
                <a:ea typeface="Roboto"/>
                <a:cs typeface="Roboto"/>
              </a:defRPr>
            </a:lvl5pPr>
            <a:lvl6pPr algn="ctr">
              <a:defRPr lang="en-US" sz="1950" b="1">
                <a:solidFill>
                  <a:srgbClr val="202124"/>
                </a:solidFill>
                <a:latin typeface="Roboto"/>
                <a:ea typeface="Roboto"/>
                <a:cs typeface="Roboto"/>
              </a:defRPr>
            </a:lvl6pPr>
            <a:lvl7pPr algn="ctr">
              <a:defRPr lang="en-US" sz="1950" b="1">
                <a:solidFill>
                  <a:srgbClr val="202124"/>
                </a:solidFill>
                <a:latin typeface="Roboto"/>
                <a:ea typeface="Roboto"/>
                <a:cs typeface="Roboto"/>
              </a:defRPr>
            </a:lvl7pPr>
            <a:lvl8pPr algn="ctr">
              <a:defRPr lang="en-US" sz="1950" b="1">
                <a:solidFill>
                  <a:srgbClr val="202124"/>
                </a:solidFill>
                <a:latin typeface="Roboto"/>
                <a:ea typeface="Roboto"/>
                <a:cs typeface="Roboto"/>
              </a:defRPr>
            </a:lvl8pPr>
            <a:lvl9pPr algn="ctr">
              <a:defRPr lang="en-US" sz="1950" b="1">
                <a:solidFill>
                  <a:srgbClr val="202124"/>
                </a:solidFill>
                <a:latin typeface="Roboto"/>
                <a:ea typeface="Roboto"/>
                <a:cs typeface="Roboto"/>
              </a:defRPr>
            </a:lvl9pPr>
          </a:lstStyle>
          <a:p>
            <a:pPr algn="ctr">
              <a:defRPr lang="en-US" sz="1950" b="1">
                <a:solidFill>
                  <a:srgbClr val="202124"/>
                </a:solidFill>
                <a:latin typeface="Roboto"/>
                <a:ea typeface="Roboto"/>
                <a:cs typeface="Roboto"/>
              </a:defRPr>
            </a:pPr>
            <a:r>
              <a:rPr lang="en-US" sz="1950" b="1">
                <a:solidFill>
                  <a:srgbClr val="202124"/>
                </a:solidFill>
                <a:latin typeface="Roboto"/>
                <a:ea typeface="Roboto"/>
                <a:cs typeface="Roboto"/>
              </a:rPr>
              <a:t>Observation</a:t>
            </a:r>
          </a:p>
        </p:txBody>
      </p:sp>
      <p:pic>
        <p:nvPicPr>
          <p:cNvPr id="8" name="Immagine 7">
            <a:extLst>
              <a:ext uri="{FF2B5EF4-FFF2-40B4-BE49-F238E27FC236}">
                <a16:creationId xmlns:a16="http://schemas.microsoft.com/office/drawing/2014/main" id="{D50DFB43-5732-4452-A416-EC53DDD5EF13}"/>
              </a:ext>
            </a:extLst>
          </p:cNvPr>
          <p:cNvPicPr>
            <a:picLocks noChangeAspect="1"/>
          </p:cNvPicPr>
          <p:nvPr/>
        </p:nvPicPr>
        <p:blipFill>
          <a:blip r:embed="rId4"/>
          <a:stretch/>
        </p:blipFill>
        <p:spPr>
          <a:xfrm>
            <a:off x="762000" y="2181225"/>
            <a:ext cx="2381250" cy="2381250"/>
          </a:xfrm>
          <a:prstGeom prst="rect">
            <a:avLst/>
          </a:prstGeom>
        </p:spPr>
      </p:pic>
      <p:sp>
        <p:nvSpPr>
          <p:cNvPr id="9" name="label-damage-ground-truth.png">
            <a:extLst>
              <a:ext uri="{FF2B5EF4-FFF2-40B4-BE49-F238E27FC236}">
                <a16:creationId xmlns:a16="http://schemas.microsoft.com/office/drawing/2014/main" id="{F2C55262-C6DD-4C98-9E1B-52D1741B823A}"/>
              </a:ext>
            </a:extLst>
          </p:cNvPr>
          <p:cNvSpPr>
            <a:spLocks noGrp="1"/>
          </p:cNvSpPr>
          <p:nvPr/>
        </p:nvSpPr>
        <p:spPr>
          <a:xfrm>
            <a:off x="3495675" y="1590675"/>
            <a:ext cx="2381250" cy="361950"/>
          </a:xfrm>
          <a:prstGeom prst="rect">
            <a:avLst/>
          </a:prstGeom>
          <a:noFill/>
          <a:ln w="0">
            <a:noFill/>
          </a:ln>
        </p:spPr>
        <p:txBody>
          <a:bodyPr wrap="square" lIns="0" tIns="0" rIns="0" bIns="0" anchor="t">
            <a:noAutofit/>
          </a:bodyPr>
          <a:lstStyle>
            <a:defPPr algn="ctr">
              <a:defRPr lang="en-US" sz="1950" b="1">
                <a:solidFill>
                  <a:srgbClr val="202124"/>
                </a:solidFill>
                <a:latin typeface="Roboto"/>
                <a:ea typeface="Roboto"/>
                <a:cs typeface="Roboto"/>
              </a:defRPr>
            </a:defPPr>
            <a:lvl1pPr algn="ctr">
              <a:defRPr lang="en-US" sz="1950" b="1">
                <a:solidFill>
                  <a:srgbClr val="202124"/>
                </a:solidFill>
                <a:latin typeface="Roboto"/>
                <a:ea typeface="Roboto"/>
                <a:cs typeface="Roboto"/>
              </a:defRPr>
            </a:lvl1pPr>
            <a:lvl2pPr algn="ctr">
              <a:defRPr lang="en-US" sz="1950" b="1">
                <a:solidFill>
                  <a:srgbClr val="202124"/>
                </a:solidFill>
                <a:latin typeface="Roboto"/>
                <a:ea typeface="Roboto"/>
                <a:cs typeface="Roboto"/>
              </a:defRPr>
            </a:lvl2pPr>
            <a:lvl3pPr algn="ctr">
              <a:defRPr lang="en-US" sz="1950" b="1">
                <a:solidFill>
                  <a:srgbClr val="202124"/>
                </a:solidFill>
                <a:latin typeface="Roboto"/>
                <a:ea typeface="Roboto"/>
                <a:cs typeface="Roboto"/>
              </a:defRPr>
            </a:lvl3pPr>
            <a:lvl4pPr algn="ctr">
              <a:defRPr lang="en-US" sz="1950" b="1">
                <a:solidFill>
                  <a:srgbClr val="202124"/>
                </a:solidFill>
                <a:latin typeface="Roboto"/>
                <a:ea typeface="Roboto"/>
                <a:cs typeface="Roboto"/>
              </a:defRPr>
            </a:lvl4pPr>
            <a:lvl5pPr algn="ctr">
              <a:defRPr lang="en-US" sz="1950" b="1">
                <a:solidFill>
                  <a:srgbClr val="202124"/>
                </a:solidFill>
                <a:latin typeface="Roboto"/>
                <a:ea typeface="Roboto"/>
                <a:cs typeface="Roboto"/>
              </a:defRPr>
            </a:lvl5pPr>
            <a:lvl6pPr algn="ctr">
              <a:defRPr lang="en-US" sz="1950" b="1">
                <a:solidFill>
                  <a:srgbClr val="202124"/>
                </a:solidFill>
                <a:latin typeface="Roboto"/>
                <a:ea typeface="Roboto"/>
                <a:cs typeface="Roboto"/>
              </a:defRPr>
            </a:lvl6pPr>
            <a:lvl7pPr algn="ctr">
              <a:defRPr lang="en-US" sz="1950" b="1">
                <a:solidFill>
                  <a:srgbClr val="202124"/>
                </a:solidFill>
                <a:latin typeface="Roboto"/>
                <a:ea typeface="Roboto"/>
                <a:cs typeface="Roboto"/>
              </a:defRPr>
            </a:lvl7pPr>
            <a:lvl8pPr algn="ctr">
              <a:defRPr lang="en-US" sz="1950" b="1">
                <a:solidFill>
                  <a:srgbClr val="202124"/>
                </a:solidFill>
                <a:latin typeface="Roboto"/>
                <a:ea typeface="Roboto"/>
                <a:cs typeface="Roboto"/>
              </a:defRPr>
            </a:lvl8pPr>
            <a:lvl9pPr algn="ctr">
              <a:defRPr lang="en-US" sz="1950" b="1">
                <a:solidFill>
                  <a:srgbClr val="202124"/>
                </a:solidFill>
                <a:latin typeface="Roboto"/>
                <a:ea typeface="Roboto"/>
                <a:cs typeface="Roboto"/>
              </a:defRPr>
            </a:lvl9pPr>
          </a:lstStyle>
          <a:p>
            <a:pPr algn="ctr">
              <a:defRPr lang="en-US" sz="1950" b="1">
                <a:solidFill>
                  <a:srgbClr val="202124"/>
                </a:solidFill>
                <a:latin typeface="Roboto"/>
                <a:ea typeface="Roboto"/>
                <a:cs typeface="Roboto"/>
              </a:defRPr>
            </a:pPr>
            <a:r>
              <a:rPr lang="en-US" sz="1950" b="1">
                <a:solidFill>
                  <a:srgbClr val="202124"/>
                </a:solidFill>
                <a:latin typeface="Roboto"/>
                <a:ea typeface="Roboto"/>
                <a:cs typeface="Roboto"/>
              </a:rPr>
              <a:t>Ground truth</a:t>
            </a:r>
          </a:p>
        </p:txBody>
      </p:sp>
      <p:pic>
        <p:nvPicPr>
          <p:cNvPr id="10" name="Immagine 9">
            <a:extLst>
              <a:ext uri="{FF2B5EF4-FFF2-40B4-BE49-F238E27FC236}">
                <a16:creationId xmlns:a16="http://schemas.microsoft.com/office/drawing/2014/main" id="{180D8BA9-86C9-4297-A985-4B68F0BC40D0}"/>
              </a:ext>
            </a:extLst>
          </p:cNvPr>
          <p:cNvPicPr>
            <a:picLocks noChangeAspect="1"/>
          </p:cNvPicPr>
          <p:nvPr/>
        </p:nvPicPr>
        <p:blipFill>
          <a:blip r:embed="rId5"/>
          <a:stretch/>
        </p:blipFill>
        <p:spPr>
          <a:xfrm>
            <a:off x="3495675" y="2181225"/>
            <a:ext cx="2381250" cy="2381250"/>
          </a:xfrm>
          <a:prstGeom prst="rect">
            <a:avLst/>
          </a:prstGeom>
        </p:spPr>
      </p:pic>
      <p:sp>
        <p:nvSpPr>
          <p:cNvPr id="11" name="label-damage-ssn.png">
            <a:extLst>
              <a:ext uri="{FF2B5EF4-FFF2-40B4-BE49-F238E27FC236}">
                <a16:creationId xmlns:a16="http://schemas.microsoft.com/office/drawing/2014/main" id="{118C882D-373C-47E2-88F7-1040CB7E5051}"/>
              </a:ext>
            </a:extLst>
          </p:cNvPr>
          <p:cNvSpPr>
            <a:spLocks noGrp="1"/>
          </p:cNvSpPr>
          <p:nvPr/>
        </p:nvSpPr>
        <p:spPr>
          <a:xfrm>
            <a:off x="6229350" y="1590675"/>
            <a:ext cx="2381250" cy="361950"/>
          </a:xfrm>
          <a:prstGeom prst="rect">
            <a:avLst/>
          </a:prstGeom>
          <a:noFill/>
          <a:ln w="0">
            <a:noFill/>
          </a:ln>
        </p:spPr>
        <p:txBody>
          <a:bodyPr wrap="square" lIns="0" tIns="0" rIns="0" bIns="0" anchor="t">
            <a:noAutofit/>
          </a:bodyPr>
          <a:lstStyle>
            <a:defPPr algn="ctr">
              <a:defRPr lang="en-US" sz="1950" b="1">
                <a:solidFill>
                  <a:srgbClr val="202124"/>
                </a:solidFill>
                <a:latin typeface="Roboto"/>
                <a:ea typeface="Roboto"/>
                <a:cs typeface="Roboto"/>
              </a:defRPr>
            </a:defPPr>
            <a:lvl1pPr algn="ctr">
              <a:defRPr lang="en-US" sz="1950" b="1">
                <a:solidFill>
                  <a:srgbClr val="202124"/>
                </a:solidFill>
                <a:latin typeface="Roboto"/>
                <a:ea typeface="Roboto"/>
                <a:cs typeface="Roboto"/>
              </a:defRPr>
            </a:lvl1pPr>
            <a:lvl2pPr algn="ctr">
              <a:defRPr lang="en-US" sz="1950" b="1">
                <a:solidFill>
                  <a:srgbClr val="202124"/>
                </a:solidFill>
                <a:latin typeface="Roboto"/>
                <a:ea typeface="Roboto"/>
                <a:cs typeface="Roboto"/>
              </a:defRPr>
            </a:lvl2pPr>
            <a:lvl3pPr algn="ctr">
              <a:defRPr lang="en-US" sz="1950" b="1">
                <a:solidFill>
                  <a:srgbClr val="202124"/>
                </a:solidFill>
                <a:latin typeface="Roboto"/>
                <a:ea typeface="Roboto"/>
                <a:cs typeface="Roboto"/>
              </a:defRPr>
            </a:lvl3pPr>
            <a:lvl4pPr algn="ctr">
              <a:defRPr lang="en-US" sz="1950" b="1">
                <a:solidFill>
                  <a:srgbClr val="202124"/>
                </a:solidFill>
                <a:latin typeface="Roboto"/>
                <a:ea typeface="Roboto"/>
                <a:cs typeface="Roboto"/>
              </a:defRPr>
            </a:lvl4pPr>
            <a:lvl5pPr algn="ctr">
              <a:defRPr lang="en-US" sz="1950" b="1">
                <a:solidFill>
                  <a:srgbClr val="202124"/>
                </a:solidFill>
                <a:latin typeface="Roboto"/>
                <a:ea typeface="Roboto"/>
                <a:cs typeface="Roboto"/>
              </a:defRPr>
            </a:lvl5pPr>
            <a:lvl6pPr algn="ctr">
              <a:defRPr lang="en-US" sz="1950" b="1">
                <a:solidFill>
                  <a:srgbClr val="202124"/>
                </a:solidFill>
                <a:latin typeface="Roboto"/>
                <a:ea typeface="Roboto"/>
                <a:cs typeface="Roboto"/>
              </a:defRPr>
            </a:lvl6pPr>
            <a:lvl7pPr algn="ctr">
              <a:defRPr lang="en-US" sz="1950" b="1">
                <a:solidFill>
                  <a:srgbClr val="202124"/>
                </a:solidFill>
                <a:latin typeface="Roboto"/>
                <a:ea typeface="Roboto"/>
                <a:cs typeface="Roboto"/>
              </a:defRPr>
            </a:lvl7pPr>
            <a:lvl8pPr algn="ctr">
              <a:defRPr lang="en-US" sz="1950" b="1">
                <a:solidFill>
                  <a:srgbClr val="202124"/>
                </a:solidFill>
                <a:latin typeface="Roboto"/>
                <a:ea typeface="Roboto"/>
                <a:cs typeface="Roboto"/>
              </a:defRPr>
            </a:lvl8pPr>
            <a:lvl9pPr algn="ctr">
              <a:defRPr lang="en-US" sz="1950" b="1">
                <a:solidFill>
                  <a:srgbClr val="202124"/>
                </a:solidFill>
                <a:latin typeface="Roboto"/>
                <a:ea typeface="Roboto"/>
                <a:cs typeface="Roboto"/>
              </a:defRPr>
            </a:lvl9pPr>
          </a:lstStyle>
          <a:p>
            <a:pPr algn="ctr">
              <a:defRPr lang="en-US" sz="1950" b="1">
                <a:solidFill>
                  <a:srgbClr val="202124"/>
                </a:solidFill>
                <a:latin typeface="Roboto"/>
                <a:ea typeface="Roboto"/>
                <a:cs typeface="Roboto"/>
              </a:defRPr>
            </a:pPr>
            <a:r>
              <a:rPr lang="en-US" sz="1950" b="1">
                <a:solidFill>
                  <a:srgbClr val="202124"/>
                </a:solidFill>
                <a:latin typeface="Roboto"/>
                <a:ea typeface="Roboto"/>
                <a:cs typeface="Roboto"/>
              </a:rPr>
              <a:t>SuperSimpleNet</a:t>
            </a:r>
          </a:p>
        </p:txBody>
      </p:sp>
      <p:pic>
        <p:nvPicPr>
          <p:cNvPr id="12" name="Immagine 11">
            <a:extLst>
              <a:ext uri="{FF2B5EF4-FFF2-40B4-BE49-F238E27FC236}">
                <a16:creationId xmlns:a16="http://schemas.microsoft.com/office/drawing/2014/main" id="{1EFCC26F-C76A-4938-A884-7FFFA6A1586C}"/>
              </a:ext>
            </a:extLst>
          </p:cNvPr>
          <p:cNvPicPr>
            <a:picLocks noChangeAspect="1"/>
          </p:cNvPicPr>
          <p:nvPr/>
        </p:nvPicPr>
        <p:blipFill>
          <a:blip r:embed="rId6"/>
          <a:stretch/>
        </p:blipFill>
        <p:spPr>
          <a:xfrm>
            <a:off x="6229350" y="2181225"/>
            <a:ext cx="2381250" cy="2381250"/>
          </a:xfrm>
          <a:prstGeom prst="rect">
            <a:avLst/>
          </a:prstGeom>
        </p:spPr>
      </p:pic>
      <p:sp>
        <p:nvSpPr>
          <p:cNvPr id="13" name="label-damage-tg512.png">
            <a:extLst>
              <a:ext uri="{FF2B5EF4-FFF2-40B4-BE49-F238E27FC236}">
                <a16:creationId xmlns:a16="http://schemas.microsoft.com/office/drawing/2014/main" id="{5F29003C-B82D-4031-AB18-31E0773053F5}"/>
              </a:ext>
            </a:extLst>
          </p:cNvPr>
          <p:cNvSpPr>
            <a:spLocks noGrp="1"/>
          </p:cNvSpPr>
          <p:nvPr/>
        </p:nvSpPr>
        <p:spPr>
          <a:xfrm>
            <a:off x="8963025" y="1590675"/>
            <a:ext cx="2381250" cy="361950"/>
          </a:xfrm>
          <a:prstGeom prst="rect">
            <a:avLst/>
          </a:prstGeom>
          <a:noFill/>
          <a:ln w="0">
            <a:noFill/>
          </a:ln>
        </p:spPr>
        <p:txBody>
          <a:bodyPr wrap="square" lIns="0" tIns="0" rIns="0" bIns="0" anchor="t">
            <a:noAutofit/>
          </a:bodyPr>
          <a:lstStyle>
            <a:defPPr algn="ctr">
              <a:defRPr lang="en-US" sz="1950" b="1">
                <a:solidFill>
                  <a:srgbClr val="202124"/>
                </a:solidFill>
                <a:latin typeface="Roboto"/>
                <a:ea typeface="Roboto"/>
                <a:cs typeface="Roboto"/>
              </a:defRPr>
            </a:defPPr>
            <a:lvl1pPr algn="ctr">
              <a:defRPr lang="en-US" sz="1950" b="1">
                <a:solidFill>
                  <a:srgbClr val="202124"/>
                </a:solidFill>
                <a:latin typeface="Roboto"/>
                <a:ea typeface="Roboto"/>
                <a:cs typeface="Roboto"/>
              </a:defRPr>
            </a:lvl1pPr>
            <a:lvl2pPr algn="ctr">
              <a:defRPr lang="en-US" sz="1950" b="1">
                <a:solidFill>
                  <a:srgbClr val="202124"/>
                </a:solidFill>
                <a:latin typeface="Roboto"/>
                <a:ea typeface="Roboto"/>
                <a:cs typeface="Roboto"/>
              </a:defRPr>
            </a:lvl2pPr>
            <a:lvl3pPr algn="ctr">
              <a:defRPr lang="en-US" sz="1950" b="1">
                <a:solidFill>
                  <a:srgbClr val="202124"/>
                </a:solidFill>
                <a:latin typeface="Roboto"/>
                <a:ea typeface="Roboto"/>
                <a:cs typeface="Roboto"/>
              </a:defRPr>
            </a:lvl3pPr>
            <a:lvl4pPr algn="ctr">
              <a:defRPr lang="en-US" sz="1950" b="1">
                <a:solidFill>
                  <a:srgbClr val="202124"/>
                </a:solidFill>
                <a:latin typeface="Roboto"/>
                <a:ea typeface="Roboto"/>
                <a:cs typeface="Roboto"/>
              </a:defRPr>
            </a:lvl4pPr>
            <a:lvl5pPr algn="ctr">
              <a:defRPr lang="en-US" sz="1950" b="1">
                <a:solidFill>
                  <a:srgbClr val="202124"/>
                </a:solidFill>
                <a:latin typeface="Roboto"/>
                <a:ea typeface="Roboto"/>
                <a:cs typeface="Roboto"/>
              </a:defRPr>
            </a:lvl5pPr>
            <a:lvl6pPr algn="ctr">
              <a:defRPr lang="en-US" sz="1950" b="1">
                <a:solidFill>
                  <a:srgbClr val="202124"/>
                </a:solidFill>
                <a:latin typeface="Roboto"/>
                <a:ea typeface="Roboto"/>
                <a:cs typeface="Roboto"/>
              </a:defRPr>
            </a:lvl6pPr>
            <a:lvl7pPr algn="ctr">
              <a:defRPr lang="en-US" sz="1950" b="1">
                <a:solidFill>
                  <a:srgbClr val="202124"/>
                </a:solidFill>
                <a:latin typeface="Roboto"/>
                <a:ea typeface="Roboto"/>
                <a:cs typeface="Roboto"/>
              </a:defRPr>
            </a:lvl7pPr>
            <a:lvl8pPr algn="ctr">
              <a:defRPr lang="en-US" sz="1950" b="1">
                <a:solidFill>
                  <a:srgbClr val="202124"/>
                </a:solidFill>
                <a:latin typeface="Roboto"/>
                <a:ea typeface="Roboto"/>
                <a:cs typeface="Roboto"/>
              </a:defRPr>
            </a:lvl8pPr>
            <a:lvl9pPr algn="ctr">
              <a:defRPr lang="en-US" sz="1950" b="1">
                <a:solidFill>
                  <a:srgbClr val="202124"/>
                </a:solidFill>
                <a:latin typeface="Roboto"/>
                <a:ea typeface="Roboto"/>
                <a:cs typeface="Roboto"/>
              </a:defRPr>
            </a:lvl9pPr>
          </a:lstStyle>
          <a:p>
            <a:pPr algn="ctr">
              <a:defRPr lang="en-US" sz="1950" b="1">
                <a:solidFill>
                  <a:srgbClr val="202124"/>
                </a:solidFill>
                <a:latin typeface="Roboto"/>
                <a:ea typeface="Roboto"/>
                <a:cs typeface="Roboto"/>
              </a:defRPr>
            </a:pPr>
            <a:r>
              <a:rPr lang="en-US" sz="1950" b="1">
                <a:solidFill>
                  <a:srgbClr val="202124"/>
                </a:solidFill>
                <a:latin typeface="Roboto"/>
                <a:ea typeface="Roboto"/>
                <a:cs typeface="Roboto"/>
              </a:rPr>
              <a:t>TinyGLASS-512</a:t>
            </a:r>
          </a:p>
        </p:txBody>
      </p:sp>
      <p:pic>
        <p:nvPicPr>
          <p:cNvPr id="14" name="Immagine 13">
            <a:extLst>
              <a:ext uri="{FF2B5EF4-FFF2-40B4-BE49-F238E27FC236}">
                <a16:creationId xmlns:a16="http://schemas.microsoft.com/office/drawing/2014/main" id="{3CF825CD-0E26-47DC-8704-762D27731911}"/>
              </a:ext>
            </a:extLst>
          </p:cNvPr>
          <p:cNvPicPr>
            <a:picLocks noChangeAspect="1"/>
          </p:cNvPicPr>
          <p:nvPr/>
        </p:nvPicPr>
        <p:blipFill>
          <a:blip r:embed="rId7"/>
          <a:stretch/>
        </p:blipFill>
        <p:spPr>
          <a:xfrm>
            <a:off x="8963025" y="2181225"/>
            <a:ext cx="2381250" cy="2381250"/>
          </a:xfrm>
          <a:prstGeom prst="rect">
            <a:avLst/>
          </a:prstGeom>
        </p:spPr>
      </p:pic>
      <p:sp>
        <p:nvSpPr>
          <p:cNvPr id="15" name="ssn-map-ap">
            <a:extLst>
              <a:ext uri="{FF2B5EF4-FFF2-40B4-BE49-F238E27FC236}">
                <a16:creationId xmlns:a16="http://schemas.microsoft.com/office/drawing/2014/main" id="{B4524095-C623-4E51-BA52-1C7D0BA1160C}"/>
              </a:ext>
            </a:extLst>
          </p:cNvPr>
          <p:cNvSpPr>
            <a:spLocks noGrp="1"/>
          </p:cNvSpPr>
          <p:nvPr/>
        </p:nvSpPr>
        <p:spPr>
          <a:xfrm>
            <a:off x="6229350" y="4857750"/>
            <a:ext cx="2381250" cy="542925"/>
          </a:xfrm>
          <a:prstGeom prst="rect">
            <a:avLst/>
          </a:prstGeom>
          <a:noFill/>
          <a:ln w="0">
            <a:noFill/>
          </a:ln>
        </p:spPr>
        <p:txBody>
          <a:bodyPr wrap="square" lIns="0" tIns="0" rIns="0" bIns="0" anchor="t">
            <a:noAutofit/>
          </a:bodyPr>
          <a:lstStyle>
            <a:defPPr algn="ctr">
              <a:defRPr lang="en-US" sz="3000" b="1">
                <a:solidFill>
                  <a:srgbClr val="2C8390"/>
                </a:solidFill>
                <a:latin typeface="Roboto"/>
                <a:ea typeface="Roboto"/>
                <a:cs typeface="Roboto"/>
              </a:defRPr>
            </a:defPPr>
            <a:lvl1pPr algn="ctr">
              <a:defRPr lang="en-US" sz="3000" b="1">
                <a:solidFill>
                  <a:srgbClr val="2C8390"/>
                </a:solidFill>
                <a:latin typeface="Roboto"/>
                <a:ea typeface="Roboto"/>
                <a:cs typeface="Roboto"/>
              </a:defRPr>
            </a:lvl1pPr>
            <a:lvl2pPr algn="ctr">
              <a:defRPr lang="en-US" sz="3000" b="1">
                <a:solidFill>
                  <a:srgbClr val="2C8390"/>
                </a:solidFill>
                <a:latin typeface="Roboto"/>
                <a:ea typeface="Roboto"/>
                <a:cs typeface="Roboto"/>
              </a:defRPr>
            </a:lvl2pPr>
            <a:lvl3pPr algn="ctr">
              <a:defRPr lang="en-US" sz="3000" b="1">
                <a:solidFill>
                  <a:srgbClr val="2C8390"/>
                </a:solidFill>
                <a:latin typeface="Roboto"/>
                <a:ea typeface="Roboto"/>
                <a:cs typeface="Roboto"/>
              </a:defRPr>
            </a:lvl3pPr>
            <a:lvl4pPr algn="ctr">
              <a:defRPr lang="en-US" sz="3000" b="1">
                <a:solidFill>
                  <a:srgbClr val="2C8390"/>
                </a:solidFill>
                <a:latin typeface="Roboto"/>
                <a:ea typeface="Roboto"/>
                <a:cs typeface="Roboto"/>
              </a:defRPr>
            </a:lvl4pPr>
            <a:lvl5pPr algn="ctr">
              <a:defRPr lang="en-US" sz="3000" b="1">
                <a:solidFill>
                  <a:srgbClr val="2C8390"/>
                </a:solidFill>
                <a:latin typeface="Roboto"/>
                <a:ea typeface="Roboto"/>
                <a:cs typeface="Roboto"/>
              </a:defRPr>
            </a:lvl5pPr>
            <a:lvl6pPr algn="ctr">
              <a:defRPr lang="en-US" sz="3000" b="1">
                <a:solidFill>
                  <a:srgbClr val="2C8390"/>
                </a:solidFill>
                <a:latin typeface="Roboto"/>
                <a:ea typeface="Roboto"/>
                <a:cs typeface="Roboto"/>
              </a:defRPr>
            </a:lvl6pPr>
            <a:lvl7pPr algn="ctr">
              <a:defRPr lang="en-US" sz="3000" b="1">
                <a:solidFill>
                  <a:srgbClr val="2C8390"/>
                </a:solidFill>
                <a:latin typeface="Roboto"/>
                <a:ea typeface="Roboto"/>
                <a:cs typeface="Roboto"/>
              </a:defRPr>
            </a:lvl7pPr>
            <a:lvl8pPr algn="ctr">
              <a:defRPr lang="en-US" sz="3000" b="1">
                <a:solidFill>
                  <a:srgbClr val="2C8390"/>
                </a:solidFill>
                <a:latin typeface="Roboto"/>
                <a:ea typeface="Roboto"/>
                <a:cs typeface="Roboto"/>
              </a:defRPr>
            </a:lvl8pPr>
            <a:lvl9pPr algn="ctr">
              <a:defRPr lang="en-US" sz="3000" b="1">
                <a:solidFill>
                  <a:srgbClr val="2C8390"/>
                </a:solidFill>
                <a:latin typeface="Roboto"/>
                <a:ea typeface="Roboto"/>
                <a:cs typeface="Roboto"/>
              </a:defRPr>
            </a:lvl9pPr>
          </a:lstStyle>
          <a:p>
            <a:pPr algn="ctr">
              <a:defRPr lang="en-US" sz="3000" b="1">
                <a:solidFill>
                  <a:srgbClr val="2C8390"/>
                </a:solidFill>
                <a:latin typeface="Roboto"/>
                <a:ea typeface="Roboto"/>
                <a:cs typeface="Roboto"/>
              </a:defRPr>
            </a:pPr>
            <a:r>
              <a:rPr lang="en-US" sz="3000" b="1">
                <a:solidFill>
                  <a:srgbClr val="2C8390"/>
                </a:solidFill>
                <a:latin typeface="Roboto"/>
                <a:ea typeface="Roboto"/>
                <a:cs typeface="Roboto"/>
              </a:rPr>
              <a:t>19.10%</a:t>
            </a:r>
          </a:p>
        </p:txBody>
      </p:sp>
      <p:sp>
        <p:nvSpPr>
          <p:cNvPr id="16" name="tg-map-ap">
            <a:extLst>
              <a:ext uri="{FF2B5EF4-FFF2-40B4-BE49-F238E27FC236}">
                <a16:creationId xmlns:a16="http://schemas.microsoft.com/office/drawing/2014/main" id="{97854497-1B3A-49C5-A355-535C4820F770}"/>
              </a:ext>
            </a:extLst>
          </p:cNvPr>
          <p:cNvSpPr>
            <a:spLocks noGrp="1"/>
          </p:cNvSpPr>
          <p:nvPr/>
        </p:nvSpPr>
        <p:spPr>
          <a:xfrm>
            <a:off x="8963025" y="4857750"/>
            <a:ext cx="2381250" cy="542925"/>
          </a:xfrm>
          <a:prstGeom prst="rect">
            <a:avLst/>
          </a:prstGeom>
          <a:noFill/>
          <a:ln w="0">
            <a:noFill/>
          </a:ln>
        </p:spPr>
        <p:txBody>
          <a:bodyPr wrap="square" lIns="0" tIns="0" rIns="0" bIns="0" anchor="t">
            <a:noAutofit/>
          </a:bodyPr>
          <a:lstStyle>
            <a:defPPr algn="ctr">
              <a:defRPr lang="en-US" sz="3000" b="1">
                <a:solidFill>
                  <a:srgbClr val="822433"/>
                </a:solidFill>
                <a:latin typeface="Roboto"/>
                <a:ea typeface="Roboto"/>
                <a:cs typeface="Roboto"/>
              </a:defRPr>
            </a:defPPr>
            <a:lvl1pPr algn="ctr">
              <a:defRPr lang="en-US" sz="3000" b="1">
                <a:solidFill>
                  <a:srgbClr val="822433"/>
                </a:solidFill>
                <a:latin typeface="Roboto"/>
                <a:ea typeface="Roboto"/>
                <a:cs typeface="Roboto"/>
              </a:defRPr>
            </a:lvl1pPr>
            <a:lvl2pPr algn="ctr">
              <a:defRPr lang="en-US" sz="3000" b="1">
                <a:solidFill>
                  <a:srgbClr val="822433"/>
                </a:solidFill>
                <a:latin typeface="Roboto"/>
                <a:ea typeface="Roboto"/>
                <a:cs typeface="Roboto"/>
              </a:defRPr>
            </a:lvl2pPr>
            <a:lvl3pPr algn="ctr">
              <a:defRPr lang="en-US" sz="3000" b="1">
                <a:solidFill>
                  <a:srgbClr val="822433"/>
                </a:solidFill>
                <a:latin typeface="Roboto"/>
                <a:ea typeface="Roboto"/>
                <a:cs typeface="Roboto"/>
              </a:defRPr>
            </a:lvl3pPr>
            <a:lvl4pPr algn="ctr">
              <a:defRPr lang="en-US" sz="3000" b="1">
                <a:solidFill>
                  <a:srgbClr val="822433"/>
                </a:solidFill>
                <a:latin typeface="Roboto"/>
                <a:ea typeface="Roboto"/>
                <a:cs typeface="Roboto"/>
              </a:defRPr>
            </a:lvl4pPr>
            <a:lvl5pPr algn="ctr">
              <a:defRPr lang="en-US" sz="3000" b="1">
                <a:solidFill>
                  <a:srgbClr val="822433"/>
                </a:solidFill>
                <a:latin typeface="Roboto"/>
                <a:ea typeface="Roboto"/>
                <a:cs typeface="Roboto"/>
              </a:defRPr>
            </a:lvl5pPr>
            <a:lvl6pPr algn="ctr">
              <a:defRPr lang="en-US" sz="3000" b="1">
                <a:solidFill>
                  <a:srgbClr val="822433"/>
                </a:solidFill>
                <a:latin typeface="Roboto"/>
                <a:ea typeface="Roboto"/>
                <a:cs typeface="Roboto"/>
              </a:defRPr>
            </a:lvl6pPr>
            <a:lvl7pPr algn="ctr">
              <a:defRPr lang="en-US" sz="3000" b="1">
                <a:solidFill>
                  <a:srgbClr val="822433"/>
                </a:solidFill>
                <a:latin typeface="Roboto"/>
                <a:ea typeface="Roboto"/>
                <a:cs typeface="Roboto"/>
              </a:defRPr>
            </a:lvl7pPr>
            <a:lvl8pPr algn="ctr">
              <a:defRPr lang="en-US" sz="3000" b="1">
                <a:solidFill>
                  <a:srgbClr val="822433"/>
                </a:solidFill>
                <a:latin typeface="Roboto"/>
                <a:ea typeface="Roboto"/>
                <a:cs typeface="Roboto"/>
              </a:defRPr>
            </a:lvl8pPr>
            <a:lvl9pPr algn="ctr">
              <a:defRPr lang="en-US" sz="3000" b="1">
                <a:solidFill>
                  <a:srgbClr val="822433"/>
                </a:solidFill>
                <a:latin typeface="Roboto"/>
                <a:ea typeface="Roboto"/>
                <a:cs typeface="Roboto"/>
              </a:defRPr>
            </a:lvl9pPr>
          </a:lstStyle>
          <a:p>
            <a:pPr algn="ctr">
              <a:defRPr lang="en-US" sz="3000" b="1">
                <a:solidFill>
                  <a:srgbClr val="822433"/>
                </a:solidFill>
                <a:latin typeface="Roboto"/>
                <a:ea typeface="Roboto"/>
                <a:cs typeface="Roboto"/>
              </a:defRPr>
            </a:pPr>
            <a:r>
              <a:rPr lang="en-US" sz="3000" b="1">
                <a:solidFill>
                  <a:srgbClr val="822433"/>
                </a:solidFill>
                <a:latin typeface="Roboto"/>
                <a:ea typeface="Roboto"/>
                <a:cs typeface="Roboto"/>
              </a:rPr>
              <a:t>27.59%</a:t>
            </a:r>
          </a:p>
        </p:txBody>
      </p:sp>
      <p:sp>
        <p:nvSpPr>
          <p:cNvPr id="17" name="map-precision-label">
            <a:extLst>
              <a:ext uri="{FF2B5EF4-FFF2-40B4-BE49-F238E27FC236}">
                <a16:creationId xmlns:a16="http://schemas.microsoft.com/office/drawing/2014/main" id="{7A72C7A6-22DF-40E2-A2AE-BEAB63C13CB2}"/>
              </a:ext>
            </a:extLst>
          </p:cNvPr>
          <p:cNvSpPr>
            <a:spLocks noGrp="1"/>
          </p:cNvSpPr>
          <p:nvPr/>
        </p:nvSpPr>
        <p:spPr>
          <a:xfrm>
            <a:off x="5791200" y="5524500"/>
            <a:ext cx="5810250" cy="390525"/>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1875" b="0">
                <a:solidFill>
                  <a:srgbClr val="656B73"/>
                </a:solidFill>
                <a:latin typeface="Roboto"/>
                <a:ea typeface="Roboto"/>
                <a:cs typeface="Roboto"/>
              </a:rPr>
              <a:t>Pixel AP, full pose-A test</a:t>
            </a:r>
          </a:p>
        </p:txBody>
      </p:sp>
      <p:sp>
        <p:nvSpPr>
          <p:cNvPr id="18" name="map-note">
            <a:extLst>
              <a:ext uri="{FF2B5EF4-FFF2-40B4-BE49-F238E27FC236}">
                <a16:creationId xmlns:a16="http://schemas.microsoft.com/office/drawing/2014/main" id="{A8E1CE62-4EE8-4E0F-994A-A8EDAE6C2524}"/>
              </a:ext>
            </a:extLst>
          </p:cNvPr>
          <p:cNvSpPr>
            <a:spLocks noGrp="1"/>
          </p:cNvSpPr>
          <p:nvPr/>
        </p:nvSpPr>
        <p:spPr>
          <a:xfrm>
            <a:off x="762000" y="5629275"/>
            <a:ext cx="4762500" cy="466725"/>
          </a:xfrm>
          <a:prstGeom prst="rect">
            <a:avLst/>
          </a:prstGeom>
          <a:noFill/>
          <a:ln w="0">
            <a:noFill/>
          </a:ln>
        </p:spPr>
        <p:txBody>
          <a:bodyPr wrap="square" lIns="0" tIns="0" rIns="0" bIns="0" anchor="t">
            <a:noAutofit/>
          </a:bodyPr>
          <a:lstStyle>
            <a:defPPr algn="l">
              <a:defRPr lang="en-US" sz="1650" b="0">
                <a:solidFill>
                  <a:srgbClr val="656B73"/>
                </a:solidFill>
                <a:latin typeface="Roboto"/>
                <a:ea typeface="Roboto"/>
                <a:cs typeface="Roboto"/>
              </a:defRPr>
            </a:defPPr>
            <a:lvl1pPr algn="l">
              <a:defRPr lang="en-US" sz="1650" b="0">
                <a:solidFill>
                  <a:srgbClr val="656B73"/>
                </a:solidFill>
                <a:latin typeface="Roboto"/>
                <a:ea typeface="Roboto"/>
                <a:cs typeface="Roboto"/>
              </a:defRPr>
            </a:lvl1pPr>
            <a:lvl2pPr algn="l">
              <a:defRPr lang="en-US" sz="1650" b="0">
                <a:solidFill>
                  <a:srgbClr val="656B73"/>
                </a:solidFill>
                <a:latin typeface="Roboto"/>
                <a:ea typeface="Roboto"/>
                <a:cs typeface="Roboto"/>
              </a:defRPr>
            </a:lvl2pPr>
            <a:lvl3pPr algn="l">
              <a:defRPr lang="en-US" sz="1650" b="0">
                <a:solidFill>
                  <a:srgbClr val="656B73"/>
                </a:solidFill>
                <a:latin typeface="Roboto"/>
                <a:ea typeface="Roboto"/>
                <a:cs typeface="Roboto"/>
              </a:defRPr>
            </a:lvl3pPr>
            <a:lvl4pPr algn="l">
              <a:defRPr lang="en-US" sz="1650" b="0">
                <a:solidFill>
                  <a:srgbClr val="656B73"/>
                </a:solidFill>
                <a:latin typeface="Roboto"/>
                <a:ea typeface="Roboto"/>
                <a:cs typeface="Roboto"/>
              </a:defRPr>
            </a:lvl4pPr>
            <a:lvl5pPr algn="l">
              <a:defRPr lang="en-US" sz="1650" b="0">
                <a:solidFill>
                  <a:srgbClr val="656B73"/>
                </a:solidFill>
                <a:latin typeface="Roboto"/>
                <a:ea typeface="Roboto"/>
                <a:cs typeface="Roboto"/>
              </a:defRPr>
            </a:lvl5pPr>
            <a:lvl6pPr algn="l">
              <a:defRPr lang="en-US" sz="1650" b="0">
                <a:solidFill>
                  <a:srgbClr val="656B73"/>
                </a:solidFill>
                <a:latin typeface="Roboto"/>
                <a:ea typeface="Roboto"/>
                <a:cs typeface="Roboto"/>
              </a:defRPr>
            </a:lvl6pPr>
            <a:lvl7pPr algn="l">
              <a:defRPr lang="en-US" sz="1650" b="0">
                <a:solidFill>
                  <a:srgbClr val="656B73"/>
                </a:solidFill>
                <a:latin typeface="Roboto"/>
                <a:ea typeface="Roboto"/>
                <a:cs typeface="Roboto"/>
              </a:defRPr>
            </a:lvl7pPr>
            <a:lvl8pPr algn="l">
              <a:defRPr lang="en-US" sz="1650" b="0">
                <a:solidFill>
                  <a:srgbClr val="656B73"/>
                </a:solidFill>
                <a:latin typeface="Roboto"/>
                <a:ea typeface="Roboto"/>
                <a:cs typeface="Roboto"/>
              </a:defRPr>
            </a:lvl8pPr>
            <a:lvl9pPr algn="l">
              <a:defRPr lang="en-US" sz="1650" b="0">
                <a:solidFill>
                  <a:srgbClr val="656B73"/>
                </a:solidFill>
                <a:latin typeface="Roboto"/>
                <a:ea typeface="Roboto"/>
                <a:cs typeface="Roboto"/>
              </a:defRPr>
            </a:lvl9pPr>
          </a:lstStyle>
          <a:p>
            <a:pPr algn="l">
              <a:defRPr lang="en-US" sz="1650" b="0">
                <a:solidFill>
                  <a:srgbClr val="656B73"/>
                </a:solidFill>
                <a:latin typeface="Roboto"/>
                <a:ea typeface="Roboto"/>
                <a:cs typeface="Roboto"/>
              </a:defRPr>
            </a:pPr>
            <a:r>
              <a:rPr lang="en-US" sz="1650" b="0">
                <a:solidFill>
                  <a:srgbClr val="656B73"/>
                </a:solidFill>
                <a:latin typeface="Roboto"/>
                <a:ea typeface="Roboto"/>
                <a:cs typeface="Roboto"/>
              </a:rPr>
              <a:t>Normalized maps illustrate one observation</a:t>
            </a:r>
          </a:p>
        </p:txBody>
      </p:sp>
    </p:spTree>
    <p:extLst>
      <p:ext uri="{BB962C8B-B14F-4D97-AF65-F5344CB8AC3E}">
        <p14:creationId xmlns:p14="http://schemas.microsoft.com/office/powerpoint/2010/main" val="222343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33E2116C-C700-4EAE-AEC0-66BA3F2DAFA4}"/>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Real-image and hardware validation come next</a:t>
            </a:r>
          </a:p>
        </p:txBody>
      </p:sp>
      <p:pic>
        <p:nvPicPr>
          <p:cNvPr id="2" name="Immagine 1">
            <a:extLst>
              <a:ext uri="{FF2B5EF4-FFF2-40B4-BE49-F238E27FC236}">
                <a16:creationId xmlns:a16="http://schemas.microsoft.com/office/drawing/2014/main" id="{EF1CA5A1-B246-4AE7-A400-E9D603F87D5D}"/>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D0D1B105-FF47-4728-A5E3-7DE7A54E6FAE}"/>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B27B5A92-701E-4C66-85A2-E2F950F333B1}"/>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0FD1A3E4-12A2-4371-8591-722E82136950}"/>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24 / 33</a:t>
            </a:r>
          </a:p>
        </p:txBody>
      </p:sp>
      <p:sp>
        <p:nvSpPr>
          <p:cNvPr id="6" name="source-citations">
            <a:extLst>
              <a:ext uri="{FF2B5EF4-FFF2-40B4-BE49-F238E27FC236}">
                <a16:creationId xmlns:a16="http://schemas.microsoft.com/office/drawing/2014/main" id="{6A246D3B-9E60-4D6B-93B4-B9EF5F27D096}"/>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results and methods</a:t>
            </a:r>
          </a:p>
        </p:txBody>
      </p:sp>
      <p:pic>
        <p:nvPicPr>
          <p:cNvPr id="7" name="Immagine 6">
            <a:extLst>
              <a:ext uri="{FF2B5EF4-FFF2-40B4-BE49-F238E27FC236}">
                <a16:creationId xmlns:a16="http://schemas.microsoft.com/office/drawing/2014/main" id="{46B04ACC-0502-451E-B268-C6A1F7B090A7}"/>
              </a:ext>
            </a:extLst>
          </p:cNvPr>
          <p:cNvPicPr>
            <a:picLocks noChangeAspect="1"/>
          </p:cNvPicPr>
          <p:nvPr/>
        </p:nvPicPr>
        <p:blipFill>
          <a:blip r:embed="rId4"/>
          <a:stretch/>
        </p:blipFill>
        <p:spPr>
          <a:xfrm>
            <a:off x="2714625" y="1666875"/>
            <a:ext cx="952500" cy="952500"/>
          </a:xfrm>
          <a:prstGeom prst="rect">
            <a:avLst/>
          </a:prstGeom>
        </p:spPr>
      </p:pic>
      <p:pic>
        <p:nvPicPr>
          <p:cNvPr id="8" name="Immagine 7">
            <a:extLst>
              <a:ext uri="{FF2B5EF4-FFF2-40B4-BE49-F238E27FC236}">
                <a16:creationId xmlns:a16="http://schemas.microsoft.com/office/drawing/2014/main" id="{629F4362-6D04-4987-8BEC-4D80D4A08DA8}"/>
              </a:ext>
            </a:extLst>
          </p:cNvPr>
          <p:cNvPicPr>
            <a:picLocks noChangeAspect="1"/>
          </p:cNvPicPr>
          <p:nvPr/>
        </p:nvPicPr>
        <p:blipFill>
          <a:blip r:embed="rId5"/>
          <a:stretch/>
        </p:blipFill>
        <p:spPr>
          <a:xfrm>
            <a:off x="8572500" y="1666875"/>
            <a:ext cx="952500" cy="952500"/>
          </a:xfrm>
          <a:prstGeom prst="rect">
            <a:avLst/>
          </a:prstGeom>
        </p:spPr>
      </p:pic>
      <p:sp>
        <p:nvSpPr>
          <p:cNvPr id="9" name="real-validation">
            <a:extLst>
              <a:ext uri="{FF2B5EF4-FFF2-40B4-BE49-F238E27FC236}">
                <a16:creationId xmlns:a16="http://schemas.microsoft.com/office/drawing/2014/main" id="{9B103614-C635-4F07-AFB0-D066258ECB51}"/>
              </a:ext>
            </a:extLst>
          </p:cNvPr>
          <p:cNvSpPr>
            <a:spLocks noGrp="1"/>
          </p:cNvSpPr>
          <p:nvPr/>
        </p:nvSpPr>
        <p:spPr>
          <a:xfrm>
            <a:off x="1114425" y="3048000"/>
            <a:ext cx="4191000" cy="523875"/>
          </a:xfrm>
          <a:prstGeom prst="rect">
            <a:avLst/>
          </a:prstGeom>
          <a:noFill/>
          <a:ln w="0">
            <a:noFill/>
          </a:ln>
        </p:spPr>
        <p:txBody>
          <a:bodyPr wrap="square" lIns="0" tIns="0" rIns="0" bIns="0" anchor="t">
            <a:noAutofit/>
          </a:bodyPr>
          <a:lstStyle>
            <a:defPPr algn="ctr">
              <a:defRPr lang="en-US" sz="2550" b="1">
                <a:solidFill>
                  <a:srgbClr val="822433"/>
                </a:solidFill>
                <a:latin typeface="Roboto"/>
                <a:ea typeface="Roboto"/>
                <a:cs typeface="Roboto"/>
              </a:defRPr>
            </a:defPPr>
            <a:lvl1pPr algn="ctr">
              <a:defRPr lang="en-US" sz="2550" b="1">
                <a:solidFill>
                  <a:srgbClr val="822433"/>
                </a:solidFill>
                <a:latin typeface="Roboto"/>
                <a:ea typeface="Roboto"/>
                <a:cs typeface="Roboto"/>
              </a:defRPr>
            </a:lvl1pPr>
            <a:lvl2pPr algn="ctr">
              <a:defRPr lang="en-US" sz="2550" b="1">
                <a:solidFill>
                  <a:srgbClr val="822433"/>
                </a:solidFill>
                <a:latin typeface="Roboto"/>
                <a:ea typeface="Roboto"/>
                <a:cs typeface="Roboto"/>
              </a:defRPr>
            </a:lvl2pPr>
            <a:lvl3pPr algn="ctr">
              <a:defRPr lang="en-US" sz="2550" b="1">
                <a:solidFill>
                  <a:srgbClr val="822433"/>
                </a:solidFill>
                <a:latin typeface="Roboto"/>
                <a:ea typeface="Roboto"/>
                <a:cs typeface="Roboto"/>
              </a:defRPr>
            </a:lvl3pPr>
            <a:lvl4pPr algn="ctr">
              <a:defRPr lang="en-US" sz="2550" b="1">
                <a:solidFill>
                  <a:srgbClr val="822433"/>
                </a:solidFill>
                <a:latin typeface="Roboto"/>
                <a:ea typeface="Roboto"/>
                <a:cs typeface="Roboto"/>
              </a:defRPr>
            </a:lvl4pPr>
            <a:lvl5pPr algn="ctr">
              <a:defRPr lang="en-US" sz="2550" b="1">
                <a:solidFill>
                  <a:srgbClr val="822433"/>
                </a:solidFill>
                <a:latin typeface="Roboto"/>
                <a:ea typeface="Roboto"/>
                <a:cs typeface="Roboto"/>
              </a:defRPr>
            </a:lvl5pPr>
            <a:lvl6pPr algn="ctr">
              <a:defRPr lang="en-US" sz="2550" b="1">
                <a:solidFill>
                  <a:srgbClr val="822433"/>
                </a:solidFill>
                <a:latin typeface="Roboto"/>
                <a:ea typeface="Roboto"/>
                <a:cs typeface="Roboto"/>
              </a:defRPr>
            </a:lvl6pPr>
            <a:lvl7pPr algn="ctr">
              <a:defRPr lang="en-US" sz="2550" b="1">
                <a:solidFill>
                  <a:srgbClr val="822433"/>
                </a:solidFill>
                <a:latin typeface="Roboto"/>
                <a:ea typeface="Roboto"/>
                <a:cs typeface="Roboto"/>
              </a:defRPr>
            </a:lvl7pPr>
            <a:lvl8pPr algn="ctr">
              <a:defRPr lang="en-US" sz="2550" b="1">
                <a:solidFill>
                  <a:srgbClr val="822433"/>
                </a:solidFill>
                <a:latin typeface="Roboto"/>
                <a:ea typeface="Roboto"/>
                <a:cs typeface="Roboto"/>
              </a:defRPr>
            </a:lvl8pPr>
            <a:lvl9pPr algn="ctr">
              <a:defRPr lang="en-US" sz="2550" b="1">
                <a:solidFill>
                  <a:srgbClr val="822433"/>
                </a:solidFill>
                <a:latin typeface="Roboto"/>
                <a:ea typeface="Roboto"/>
                <a:cs typeface="Roboto"/>
              </a:defRPr>
            </a:lvl9pPr>
          </a:lstStyle>
          <a:p>
            <a:pPr algn="ctr">
              <a:defRPr lang="en-US" sz="2550" b="1">
                <a:solidFill>
                  <a:srgbClr val="822433"/>
                </a:solidFill>
                <a:latin typeface="Roboto"/>
                <a:ea typeface="Roboto"/>
                <a:cs typeface="Roboto"/>
              </a:defRPr>
            </a:pPr>
            <a:r>
              <a:rPr lang="en-US" sz="2550" b="1">
                <a:solidFill>
                  <a:srgbClr val="822433"/>
                </a:solidFill>
                <a:latin typeface="Roboto"/>
                <a:ea typeface="Roboto"/>
                <a:cs typeface="Roboto"/>
              </a:rPr>
              <a:t>Real wheel imagery</a:t>
            </a:r>
          </a:p>
        </p:txBody>
      </p:sp>
      <p:sp>
        <p:nvSpPr>
          <p:cNvPr id="10" name="real-next">
            <a:extLst>
              <a:ext uri="{FF2B5EF4-FFF2-40B4-BE49-F238E27FC236}">
                <a16:creationId xmlns:a16="http://schemas.microsoft.com/office/drawing/2014/main" id="{27A11C4D-6554-47AD-9331-C0E9560813E7}"/>
              </a:ext>
            </a:extLst>
          </p:cNvPr>
          <p:cNvSpPr>
            <a:spLocks noGrp="1"/>
          </p:cNvSpPr>
          <p:nvPr/>
        </p:nvSpPr>
        <p:spPr>
          <a:xfrm>
            <a:off x="990600" y="3838575"/>
            <a:ext cx="4457700" cy="962025"/>
          </a:xfrm>
          <a:prstGeom prst="rect">
            <a:avLst/>
          </a:prstGeom>
          <a:noFill/>
          <a:ln w="0">
            <a:noFill/>
          </a:ln>
        </p:spPr>
        <p:txBody>
          <a:bodyPr wrap="square" lIns="0" tIns="0" rIns="0" bIns="0" anchor="t">
            <a:noAutofit/>
          </a:bodyPr>
          <a:lstStyle>
            <a:defPPr algn="ctr">
              <a:defRPr lang="en-US" sz="2100" b="0">
                <a:solidFill>
                  <a:srgbClr val="202124"/>
                </a:solidFill>
                <a:latin typeface="Roboto"/>
                <a:ea typeface="Roboto"/>
                <a:cs typeface="Roboto"/>
              </a:defRPr>
            </a:defPPr>
            <a:lvl1pPr algn="ctr">
              <a:defRPr lang="en-US" sz="2100" b="0">
                <a:solidFill>
                  <a:srgbClr val="202124"/>
                </a:solidFill>
                <a:latin typeface="Roboto"/>
                <a:ea typeface="Roboto"/>
                <a:cs typeface="Roboto"/>
              </a:defRPr>
            </a:lvl1pPr>
            <a:lvl2pPr algn="ctr">
              <a:defRPr lang="en-US" sz="2100" b="0">
                <a:solidFill>
                  <a:srgbClr val="202124"/>
                </a:solidFill>
                <a:latin typeface="Roboto"/>
                <a:ea typeface="Roboto"/>
                <a:cs typeface="Roboto"/>
              </a:defRPr>
            </a:lvl2pPr>
            <a:lvl3pPr algn="ctr">
              <a:defRPr lang="en-US" sz="2100" b="0">
                <a:solidFill>
                  <a:srgbClr val="202124"/>
                </a:solidFill>
                <a:latin typeface="Roboto"/>
                <a:ea typeface="Roboto"/>
                <a:cs typeface="Roboto"/>
              </a:defRPr>
            </a:lvl3pPr>
            <a:lvl4pPr algn="ctr">
              <a:defRPr lang="en-US" sz="2100" b="0">
                <a:solidFill>
                  <a:srgbClr val="202124"/>
                </a:solidFill>
                <a:latin typeface="Roboto"/>
                <a:ea typeface="Roboto"/>
                <a:cs typeface="Roboto"/>
              </a:defRPr>
            </a:lvl4pPr>
            <a:lvl5pPr algn="ctr">
              <a:defRPr lang="en-US" sz="2100" b="0">
                <a:solidFill>
                  <a:srgbClr val="202124"/>
                </a:solidFill>
                <a:latin typeface="Roboto"/>
                <a:ea typeface="Roboto"/>
                <a:cs typeface="Roboto"/>
              </a:defRPr>
            </a:lvl5pPr>
            <a:lvl6pPr algn="ctr">
              <a:defRPr lang="en-US" sz="2100" b="0">
                <a:solidFill>
                  <a:srgbClr val="202124"/>
                </a:solidFill>
                <a:latin typeface="Roboto"/>
                <a:ea typeface="Roboto"/>
                <a:cs typeface="Roboto"/>
              </a:defRPr>
            </a:lvl6pPr>
            <a:lvl7pPr algn="ctr">
              <a:defRPr lang="en-US" sz="2100" b="0">
                <a:solidFill>
                  <a:srgbClr val="202124"/>
                </a:solidFill>
                <a:latin typeface="Roboto"/>
                <a:ea typeface="Roboto"/>
                <a:cs typeface="Roboto"/>
              </a:defRPr>
            </a:lvl7pPr>
            <a:lvl8pPr algn="ctr">
              <a:defRPr lang="en-US" sz="2100" b="0">
                <a:solidFill>
                  <a:srgbClr val="202124"/>
                </a:solidFill>
                <a:latin typeface="Roboto"/>
                <a:ea typeface="Roboto"/>
                <a:cs typeface="Roboto"/>
              </a:defRPr>
            </a:lvl8pPr>
            <a:lvl9pPr algn="ctr">
              <a:defRPr lang="en-US" sz="2100" b="0">
                <a:solidFill>
                  <a:srgbClr val="202124"/>
                </a:solidFill>
                <a:latin typeface="Roboto"/>
                <a:ea typeface="Roboto"/>
                <a:cs typeface="Roboto"/>
              </a:defRPr>
            </a:lvl9pPr>
          </a:lstStyle>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Validate synthetic-to-real transfer</a:t>
            </a:r>
          </a:p>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and adaptation</a:t>
            </a:r>
          </a:p>
        </p:txBody>
      </p:sp>
      <p:sp>
        <p:nvSpPr>
          <p:cNvPr id="11" name="hardware-validation">
            <a:extLst>
              <a:ext uri="{FF2B5EF4-FFF2-40B4-BE49-F238E27FC236}">
                <a16:creationId xmlns:a16="http://schemas.microsoft.com/office/drawing/2014/main" id="{F375D7F0-847D-489E-B422-17BC2604E72D}"/>
              </a:ext>
            </a:extLst>
          </p:cNvPr>
          <p:cNvSpPr>
            <a:spLocks noGrp="1"/>
          </p:cNvSpPr>
          <p:nvPr/>
        </p:nvSpPr>
        <p:spPr>
          <a:xfrm>
            <a:off x="6724650" y="3048000"/>
            <a:ext cx="4810125" cy="523875"/>
          </a:xfrm>
          <a:prstGeom prst="rect">
            <a:avLst/>
          </a:prstGeom>
          <a:noFill/>
          <a:ln w="0">
            <a:noFill/>
          </a:ln>
        </p:spPr>
        <p:txBody>
          <a:bodyPr wrap="square" lIns="0" tIns="0" rIns="0" bIns="0" anchor="t">
            <a:noAutofit/>
          </a:bodyPr>
          <a:lstStyle>
            <a:defPPr algn="ctr">
              <a:defRPr lang="en-US" sz="2550" b="1">
                <a:solidFill>
                  <a:srgbClr val="822433"/>
                </a:solidFill>
                <a:latin typeface="Roboto"/>
                <a:ea typeface="Roboto"/>
                <a:cs typeface="Roboto"/>
              </a:defRPr>
            </a:defPPr>
            <a:lvl1pPr algn="ctr">
              <a:defRPr lang="en-US" sz="2550" b="1">
                <a:solidFill>
                  <a:srgbClr val="822433"/>
                </a:solidFill>
                <a:latin typeface="Roboto"/>
                <a:ea typeface="Roboto"/>
                <a:cs typeface="Roboto"/>
              </a:defRPr>
            </a:lvl1pPr>
            <a:lvl2pPr algn="ctr">
              <a:defRPr lang="en-US" sz="2550" b="1">
                <a:solidFill>
                  <a:srgbClr val="822433"/>
                </a:solidFill>
                <a:latin typeface="Roboto"/>
                <a:ea typeface="Roboto"/>
                <a:cs typeface="Roboto"/>
              </a:defRPr>
            </a:lvl2pPr>
            <a:lvl3pPr algn="ctr">
              <a:defRPr lang="en-US" sz="2550" b="1">
                <a:solidFill>
                  <a:srgbClr val="822433"/>
                </a:solidFill>
                <a:latin typeface="Roboto"/>
                <a:ea typeface="Roboto"/>
                <a:cs typeface="Roboto"/>
              </a:defRPr>
            </a:lvl3pPr>
            <a:lvl4pPr algn="ctr">
              <a:defRPr lang="en-US" sz="2550" b="1">
                <a:solidFill>
                  <a:srgbClr val="822433"/>
                </a:solidFill>
                <a:latin typeface="Roboto"/>
                <a:ea typeface="Roboto"/>
                <a:cs typeface="Roboto"/>
              </a:defRPr>
            </a:lvl4pPr>
            <a:lvl5pPr algn="ctr">
              <a:defRPr lang="en-US" sz="2550" b="1">
                <a:solidFill>
                  <a:srgbClr val="822433"/>
                </a:solidFill>
                <a:latin typeface="Roboto"/>
                <a:ea typeface="Roboto"/>
                <a:cs typeface="Roboto"/>
              </a:defRPr>
            </a:lvl5pPr>
            <a:lvl6pPr algn="ctr">
              <a:defRPr lang="en-US" sz="2550" b="1">
                <a:solidFill>
                  <a:srgbClr val="822433"/>
                </a:solidFill>
                <a:latin typeface="Roboto"/>
                <a:ea typeface="Roboto"/>
                <a:cs typeface="Roboto"/>
              </a:defRPr>
            </a:lvl6pPr>
            <a:lvl7pPr algn="ctr">
              <a:defRPr lang="en-US" sz="2550" b="1">
                <a:solidFill>
                  <a:srgbClr val="822433"/>
                </a:solidFill>
                <a:latin typeface="Roboto"/>
                <a:ea typeface="Roboto"/>
                <a:cs typeface="Roboto"/>
              </a:defRPr>
            </a:lvl7pPr>
            <a:lvl8pPr algn="ctr">
              <a:defRPr lang="en-US" sz="2550" b="1">
                <a:solidFill>
                  <a:srgbClr val="822433"/>
                </a:solidFill>
                <a:latin typeface="Roboto"/>
                <a:ea typeface="Roboto"/>
                <a:cs typeface="Roboto"/>
              </a:defRPr>
            </a:lvl8pPr>
            <a:lvl9pPr algn="ctr">
              <a:defRPr lang="en-US" sz="2550" b="1">
                <a:solidFill>
                  <a:srgbClr val="822433"/>
                </a:solidFill>
                <a:latin typeface="Roboto"/>
                <a:ea typeface="Roboto"/>
                <a:cs typeface="Roboto"/>
              </a:defRPr>
            </a:lvl9pPr>
          </a:lstStyle>
          <a:p>
            <a:pPr algn="ctr">
              <a:defRPr lang="en-US" sz="2550" b="1">
                <a:solidFill>
                  <a:srgbClr val="822433"/>
                </a:solidFill>
                <a:latin typeface="Roboto"/>
                <a:ea typeface="Roboto"/>
                <a:cs typeface="Roboto"/>
              </a:defRPr>
            </a:pPr>
            <a:r>
              <a:rPr lang="en-US" sz="2550" b="1">
                <a:solidFill>
                  <a:srgbClr val="822433"/>
                </a:solidFill>
                <a:latin typeface="Roboto"/>
                <a:ea typeface="Roboto"/>
                <a:cs typeface="Roboto"/>
              </a:rPr>
              <a:t>Representative hardware</a:t>
            </a:r>
          </a:p>
        </p:txBody>
      </p:sp>
      <p:sp>
        <p:nvSpPr>
          <p:cNvPr id="12" name="hardware-next">
            <a:extLst>
              <a:ext uri="{FF2B5EF4-FFF2-40B4-BE49-F238E27FC236}">
                <a16:creationId xmlns:a16="http://schemas.microsoft.com/office/drawing/2014/main" id="{D91E0934-7C3D-4A19-83FF-4AC4940075BB}"/>
              </a:ext>
            </a:extLst>
          </p:cNvPr>
          <p:cNvSpPr>
            <a:spLocks noGrp="1"/>
          </p:cNvSpPr>
          <p:nvPr/>
        </p:nvSpPr>
        <p:spPr>
          <a:xfrm>
            <a:off x="6610350" y="3838575"/>
            <a:ext cx="5048250" cy="962025"/>
          </a:xfrm>
          <a:prstGeom prst="rect">
            <a:avLst/>
          </a:prstGeom>
          <a:noFill/>
          <a:ln w="0">
            <a:noFill/>
          </a:ln>
        </p:spPr>
        <p:txBody>
          <a:bodyPr wrap="square" lIns="0" tIns="0" rIns="0" bIns="0" anchor="t">
            <a:noAutofit/>
          </a:bodyPr>
          <a:lstStyle>
            <a:defPPr algn="ctr">
              <a:defRPr lang="en-US" sz="2100" b="0">
                <a:solidFill>
                  <a:srgbClr val="202124"/>
                </a:solidFill>
                <a:latin typeface="Roboto"/>
                <a:ea typeface="Roboto"/>
                <a:cs typeface="Roboto"/>
              </a:defRPr>
            </a:defPPr>
            <a:lvl1pPr algn="ctr">
              <a:defRPr lang="en-US" sz="2100" b="0">
                <a:solidFill>
                  <a:srgbClr val="202124"/>
                </a:solidFill>
                <a:latin typeface="Roboto"/>
                <a:ea typeface="Roboto"/>
                <a:cs typeface="Roboto"/>
              </a:defRPr>
            </a:lvl1pPr>
            <a:lvl2pPr algn="ctr">
              <a:defRPr lang="en-US" sz="2100" b="0">
                <a:solidFill>
                  <a:srgbClr val="202124"/>
                </a:solidFill>
                <a:latin typeface="Roboto"/>
                <a:ea typeface="Roboto"/>
                <a:cs typeface="Roboto"/>
              </a:defRPr>
            </a:lvl2pPr>
            <a:lvl3pPr algn="ctr">
              <a:defRPr lang="en-US" sz="2100" b="0">
                <a:solidFill>
                  <a:srgbClr val="202124"/>
                </a:solidFill>
                <a:latin typeface="Roboto"/>
                <a:ea typeface="Roboto"/>
                <a:cs typeface="Roboto"/>
              </a:defRPr>
            </a:lvl3pPr>
            <a:lvl4pPr algn="ctr">
              <a:defRPr lang="en-US" sz="2100" b="0">
                <a:solidFill>
                  <a:srgbClr val="202124"/>
                </a:solidFill>
                <a:latin typeface="Roboto"/>
                <a:ea typeface="Roboto"/>
                <a:cs typeface="Roboto"/>
              </a:defRPr>
            </a:lvl4pPr>
            <a:lvl5pPr algn="ctr">
              <a:defRPr lang="en-US" sz="2100" b="0">
                <a:solidFill>
                  <a:srgbClr val="202124"/>
                </a:solidFill>
                <a:latin typeface="Roboto"/>
                <a:ea typeface="Roboto"/>
                <a:cs typeface="Roboto"/>
              </a:defRPr>
            </a:lvl5pPr>
            <a:lvl6pPr algn="ctr">
              <a:defRPr lang="en-US" sz="2100" b="0">
                <a:solidFill>
                  <a:srgbClr val="202124"/>
                </a:solidFill>
                <a:latin typeface="Roboto"/>
                <a:ea typeface="Roboto"/>
                <a:cs typeface="Roboto"/>
              </a:defRPr>
            </a:lvl6pPr>
            <a:lvl7pPr algn="ctr">
              <a:defRPr lang="en-US" sz="2100" b="0">
                <a:solidFill>
                  <a:srgbClr val="202124"/>
                </a:solidFill>
                <a:latin typeface="Roboto"/>
                <a:ea typeface="Roboto"/>
                <a:cs typeface="Roboto"/>
              </a:defRPr>
            </a:lvl7pPr>
            <a:lvl8pPr algn="ctr">
              <a:defRPr lang="en-US" sz="2100" b="0">
                <a:solidFill>
                  <a:srgbClr val="202124"/>
                </a:solidFill>
                <a:latin typeface="Roboto"/>
                <a:ea typeface="Roboto"/>
                <a:cs typeface="Roboto"/>
              </a:defRPr>
            </a:lvl8pPr>
            <a:lvl9pPr algn="ctr">
              <a:defRPr lang="en-US" sz="2100" b="0">
                <a:solidFill>
                  <a:srgbClr val="202124"/>
                </a:solidFill>
                <a:latin typeface="Roboto"/>
                <a:ea typeface="Roboto"/>
                <a:cs typeface="Roboto"/>
              </a:defRPr>
            </a:lvl9pPr>
          </a:lstStyle>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Measure the complete pipeline,</a:t>
            </a:r>
          </a:p>
          <a:p>
            <a:pPr algn="ctr">
              <a:defRPr lang="en-US" sz="2100" b="0">
                <a:solidFill>
                  <a:srgbClr val="202124"/>
                </a:solidFill>
                <a:latin typeface="Roboto"/>
                <a:ea typeface="Roboto"/>
                <a:cs typeface="Roboto"/>
              </a:defRPr>
            </a:pPr>
            <a:r>
              <a:rPr lang="en-US" sz="2100" b="0">
                <a:solidFill>
                  <a:srgbClr val="202124"/>
                </a:solidFill>
                <a:latin typeface="Roboto"/>
                <a:ea typeface="Roboto"/>
                <a:cs typeface="Roboto"/>
              </a:rPr>
              <a:t>including preprocessing and transfer</a:t>
            </a:r>
          </a:p>
        </p:txBody>
      </p:sp>
      <p:sp>
        <p:nvSpPr>
          <p:cNvPr id="13" name="current-scope">
            <a:extLst>
              <a:ext uri="{FF2B5EF4-FFF2-40B4-BE49-F238E27FC236}">
                <a16:creationId xmlns:a16="http://schemas.microsoft.com/office/drawing/2014/main" id="{0AA317C0-879B-4736-9717-B67F4800CE11}"/>
              </a:ext>
            </a:extLst>
          </p:cNvPr>
          <p:cNvSpPr>
            <a:spLocks noGrp="1"/>
          </p:cNvSpPr>
          <p:nvPr/>
        </p:nvSpPr>
        <p:spPr>
          <a:xfrm>
            <a:off x="952500" y="5629275"/>
            <a:ext cx="10287000" cy="438150"/>
          </a:xfrm>
          <a:prstGeom prst="rect">
            <a:avLst/>
          </a:prstGeom>
          <a:noFill/>
          <a:ln w="0">
            <a:noFill/>
          </a:ln>
        </p:spPr>
        <p:txBody>
          <a:bodyPr wrap="square" lIns="0" tIns="0" rIns="0" bIns="0" anchor="t">
            <a:noAutofit/>
          </a:bodyPr>
          <a:lstStyle>
            <a:defPPr algn="ctr">
              <a:defRPr lang="en-US" sz="1800" b="0">
                <a:solidFill>
                  <a:srgbClr val="656B73"/>
                </a:solidFill>
                <a:latin typeface="Roboto"/>
                <a:ea typeface="Roboto"/>
                <a:cs typeface="Roboto"/>
              </a:defRPr>
            </a:defPPr>
            <a:lvl1pPr algn="ctr">
              <a:defRPr lang="en-US" sz="1800" b="0">
                <a:solidFill>
                  <a:srgbClr val="656B73"/>
                </a:solidFill>
                <a:latin typeface="Roboto"/>
                <a:ea typeface="Roboto"/>
                <a:cs typeface="Roboto"/>
              </a:defRPr>
            </a:lvl1pPr>
            <a:lvl2pPr algn="ctr">
              <a:defRPr lang="en-US" sz="1800" b="0">
                <a:solidFill>
                  <a:srgbClr val="656B73"/>
                </a:solidFill>
                <a:latin typeface="Roboto"/>
                <a:ea typeface="Roboto"/>
                <a:cs typeface="Roboto"/>
              </a:defRPr>
            </a:lvl2pPr>
            <a:lvl3pPr algn="ctr">
              <a:defRPr lang="en-US" sz="1800" b="0">
                <a:solidFill>
                  <a:srgbClr val="656B73"/>
                </a:solidFill>
                <a:latin typeface="Roboto"/>
                <a:ea typeface="Roboto"/>
                <a:cs typeface="Roboto"/>
              </a:defRPr>
            </a:lvl3pPr>
            <a:lvl4pPr algn="ctr">
              <a:defRPr lang="en-US" sz="1800" b="0">
                <a:solidFill>
                  <a:srgbClr val="656B73"/>
                </a:solidFill>
                <a:latin typeface="Roboto"/>
                <a:ea typeface="Roboto"/>
                <a:cs typeface="Roboto"/>
              </a:defRPr>
            </a:lvl4pPr>
            <a:lvl5pPr algn="ctr">
              <a:defRPr lang="en-US" sz="1800" b="0">
                <a:solidFill>
                  <a:srgbClr val="656B73"/>
                </a:solidFill>
                <a:latin typeface="Roboto"/>
                <a:ea typeface="Roboto"/>
                <a:cs typeface="Roboto"/>
              </a:defRPr>
            </a:lvl5pPr>
            <a:lvl6pPr algn="ctr">
              <a:defRPr lang="en-US" sz="1800" b="0">
                <a:solidFill>
                  <a:srgbClr val="656B73"/>
                </a:solidFill>
                <a:latin typeface="Roboto"/>
                <a:ea typeface="Roboto"/>
                <a:cs typeface="Roboto"/>
              </a:defRPr>
            </a:lvl6pPr>
            <a:lvl7pPr algn="ctr">
              <a:defRPr lang="en-US" sz="1800" b="0">
                <a:solidFill>
                  <a:srgbClr val="656B73"/>
                </a:solidFill>
                <a:latin typeface="Roboto"/>
                <a:ea typeface="Roboto"/>
                <a:cs typeface="Roboto"/>
              </a:defRPr>
            </a:lvl7pPr>
            <a:lvl8pPr algn="ctr">
              <a:defRPr lang="en-US" sz="1800" b="0">
                <a:solidFill>
                  <a:srgbClr val="656B73"/>
                </a:solidFill>
                <a:latin typeface="Roboto"/>
                <a:ea typeface="Roboto"/>
                <a:cs typeface="Roboto"/>
              </a:defRPr>
            </a:lvl8pPr>
            <a:lvl9pPr algn="ctr">
              <a:defRPr lang="en-US" sz="1800" b="0">
                <a:solidFill>
                  <a:srgbClr val="656B73"/>
                </a:solidFill>
                <a:latin typeface="Roboto"/>
                <a:ea typeface="Roboto"/>
                <a:cs typeface="Roboto"/>
              </a:defRPr>
            </a:lvl9pPr>
          </a:lstStyle>
          <a:p>
            <a:pPr algn="ctr">
              <a:defRPr lang="en-US" sz="1800" b="0">
                <a:solidFill>
                  <a:srgbClr val="656B73"/>
                </a:solidFill>
                <a:latin typeface="Roboto"/>
                <a:ea typeface="Roboto"/>
                <a:cs typeface="Roboto"/>
              </a:defRPr>
            </a:pPr>
            <a:r>
              <a:rPr lang="en-US" sz="1800" b="0">
                <a:solidFill>
                  <a:srgbClr val="656B73"/>
                </a:solidFill>
                <a:latin typeface="Roboto"/>
                <a:ea typeface="Roboto"/>
                <a:cs typeface="Roboto"/>
              </a:rPr>
              <a:t>Current inspection scope: one asset, one damage class, controlled pose A</a:t>
            </a:r>
          </a:p>
        </p:txBody>
      </p:sp>
    </p:spTree>
    <p:extLst>
      <p:ext uri="{BB962C8B-B14F-4D97-AF65-F5344CB8AC3E}">
        <p14:creationId xmlns:p14="http://schemas.microsoft.com/office/powerpoint/2010/main" val="222343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9" name="slide-title">
            <a:extLst>
              <a:ext uri="{FF2B5EF4-FFF2-40B4-BE49-F238E27FC236}">
                <a16:creationId xmlns:a16="http://schemas.microsoft.com/office/drawing/2014/main" id="{B0C71B23-2DB4-4136-8551-03366D4E5770}"/>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Contributions to future rover perception</a:t>
            </a:r>
          </a:p>
        </p:txBody>
      </p:sp>
      <p:pic>
        <p:nvPicPr>
          <p:cNvPr id="2" name="Immagine 1">
            <a:extLst>
              <a:ext uri="{FF2B5EF4-FFF2-40B4-BE49-F238E27FC236}">
                <a16:creationId xmlns:a16="http://schemas.microsoft.com/office/drawing/2014/main" id="{7EBF3041-DCD8-4E31-B9D0-777F4070BF3A}"/>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CE3EDE6C-6B2C-4B28-BABB-3EFB4B83A189}"/>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3466F9E0-CD1D-4F2E-A88D-1B2ECF38C695}"/>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29C1CB79-3C7E-4EBA-AB5F-C82DF9DEAE2F}"/>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25 / 33</a:t>
            </a:r>
          </a:p>
        </p:txBody>
      </p:sp>
      <p:sp>
        <p:nvSpPr>
          <p:cNvPr id="6" name="source-citations">
            <a:extLst>
              <a:ext uri="{FF2B5EF4-FFF2-40B4-BE49-F238E27FC236}">
                <a16:creationId xmlns:a16="http://schemas.microsoft.com/office/drawing/2014/main" id="{2FB79894-CE94-4D54-88F6-F26CD801FF22}"/>
              </a:ext>
            </a:extLst>
          </p:cNvPr>
          <p:cNvSpPr>
            <a:spLocks noGrp="1"/>
          </p:cNvSpPr>
          <p:nvPr/>
        </p:nvSpPr>
        <p:spPr>
          <a:xfrm>
            <a:off x="762000" y="6200775"/>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results and methods</a:t>
            </a:r>
          </a:p>
        </p:txBody>
      </p:sp>
      <p:pic>
        <p:nvPicPr>
          <p:cNvPr id="7" name="Immagine 6">
            <a:extLst>
              <a:ext uri="{FF2B5EF4-FFF2-40B4-BE49-F238E27FC236}">
                <a16:creationId xmlns:a16="http://schemas.microsoft.com/office/drawing/2014/main" id="{4C815947-7F5D-44B4-9E02-6C4F740AA22B}"/>
              </a:ext>
            </a:extLst>
          </p:cNvPr>
          <p:cNvPicPr>
            <a:picLocks noChangeAspect="1"/>
          </p:cNvPicPr>
          <p:nvPr/>
        </p:nvPicPr>
        <p:blipFill>
          <a:blip r:embed="rId4"/>
          <a:stretch/>
        </p:blipFill>
        <p:spPr>
          <a:xfrm>
            <a:off x="1876425" y="1638300"/>
            <a:ext cx="838200" cy="838200"/>
          </a:xfrm>
          <a:prstGeom prst="rect">
            <a:avLst/>
          </a:prstGeom>
        </p:spPr>
      </p:pic>
      <p:sp>
        <p:nvSpPr>
          <p:cNvPr id="8" name="artificial-intelligence-contribution">
            <a:extLst>
              <a:ext uri="{FF2B5EF4-FFF2-40B4-BE49-F238E27FC236}">
                <a16:creationId xmlns:a16="http://schemas.microsoft.com/office/drawing/2014/main" id="{3CCAE429-872D-4AF4-82F3-46E3FD25823F}"/>
              </a:ext>
            </a:extLst>
          </p:cNvPr>
          <p:cNvSpPr>
            <a:spLocks noGrp="1"/>
          </p:cNvSpPr>
          <p:nvPr/>
        </p:nvSpPr>
        <p:spPr>
          <a:xfrm>
            <a:off x="857250" y="2914650"/>
            <a:ext cx="3095625" cy="590550"/>
          </a:xfrm>
          <a:prstGeom prst="rect">
            <a:avLst/>
          </a:prstGeom>
          <a:noFill/>
          <a:ln w="0">
            <a:noFill/>
          </a:ln>
        </p:spPr>
        <p:txBody>
          <a:bodyPr wrap="square" lIns="0" tIns="0" rIns="0" bIns="0" anchor="t">
            <a:noAutofit/>
          </a:bodyPr>
          <a:lstStyle>
            <a:defPPr algn="ctr">
              <a:defRPr lang="en-US" sz="2175" b="1">
                <a:solidFill>
                  <a:srgbClr val="202124"/>
                </a:solidFill>
                <a:latin typeface="Roboto"/>
                <a:ea typeface="Roboto"/>
                <a:cs typeface="Roboto"/>
              </a:defRPr>
            </a:defPPr>
            <a:lvl1pPr algn="ctr">
              <a:defRPr lang="en-US" sz="2175" b="1">
                <a:solidFill>
                  <a:srgbClr val="202124"/>
                </a:solidFill>
                <a:latin typeface="Roboto"/>
                <a:ea typeface="Roboto"/>
                <a:cs typeface="Roboto"/>
              </a:defRPr>
            </a:lvl1pPr>
            <a:lvl2pPr algn="ctr">
              <a:defRPr lang="en-US" sz="2175" b="1">
                <a:solidFill>
                  <a:srgbClr val="202124"/>
                </a:solidFill>
                <a:latin typeface="Roboto"/>
                <a:ea typeface="Roboto"/>
                <a:cs typeface="Roboto"/>
              </a:defRPr>
            </a:lvl2pPr>
            <a:lvl3pPr algn="ctr">
              <a:defRPr lang="en-US" sz="2175" b="1">
                <a:solidFill>
                  <a:srgbClr val="202124"/>
                </a:solidFill>
                <a:latin typeface="Roboto"/>
                <a:ea typeface="Roboto"/>
                <a:cs typeface="Roboto"/>
              </a:defRPr>
            </a:lvl3pPr>
            <a:lvl4pPr algn="ctr">
              <a:defRPr lang="en-US" sz="2175" b="1">
                <a:solidFill>
                  <a:srgbClr val="202124"/>
                </a:solidFill>
                <a:latin typeface="Roboto"/>
                <a:ea typeface="Roboto"/>
                <a:cs typeface="Roboto"/>
              </a:defRPr>
            </a:lvl4pPr>
            <a:lvl5pPr algn="ctr">
              <a:defRPr lang="en-US" sz="2175" b="1">
                <a:solidFill>
                  <a:srgbClr val="202124"/>
                </a:solidFill>
                <a:latin typeface="Roboto"/>
                <a:ea typeface="Roboto"/>
                <a:cs typeface="Roboto"/>
              </a:defRPr>
            </a:lvl5pPr>
            <a:lvl6pPr algn="ctr">
              <a:defRPr lang="en-US" sz="2175" b="1">
                <a:solidFill>
                  <a:srgbClr val="202124"/>
                </a:solidFill>
                <a:latin typeface="Roboto"/>
                <a:ea typeface="Roboto"/>
                <a:cs typeface="Roboto"/>
              </a:defRPr>
            </a:lvl6pPr>
            <a:lvl7pPr algn="ctr">
              <a:defRPr lang="en-US" sz="2175" b="1">
                <a:solidFill>
                  <a:srgbClr val="202124"/>
                </a:solidFill>
                <a:latin typeface="Roboto"/>
                <a:ea typeface="Roboto"/>
                <a:cs typeface="Roboto"/>
              </a:defRPr>
            </a:lvl7pPr>
            <a:lvl8pPr algn="ctr">
              <a:defRPr lang="en-US" sz="2175" b="1">
                <a:solidFill>
                  <a:srgbClr val="202124"/>
                </a:solidFill>
                <a:latin typeface="Roboto"/>
                <a:ea typeface="Roboto"/>
                <a:cs typeface="Roboto"/>
              </a:defRPr>
            </a:lvl8pPr>
            <a:lvl9pPr algn="ctr">
              <a:defRPr lang="en-US" sz="2175" b="1">
                <a:solidFill>
                  <a:srgbClr val="202124"/>
                </a:solidFill>
                <a:latin typeface="Roboto"/>
                <a:ea typeface="Roboto"/>
                <a:cs typeface="Roboto"/>
              </a:defRPr>
            </a:lvl9pPr>
          </a:lstStyle>
          <a:p>
            <a:pPr algn="ctr">
              <a:defRPr lang="en-US" sz="2175" b="1">
                <a:solidFill>
                  <a:srgbClr val="202124"/>
                </a:solidFill>
                <a:latin typeface="Roboto"/>
                <a:ea typeface="Roboto"/>
                <a:cs typeface="Roboto"/>
              </a:defRPr>
            </a:pPr>
            <a:r>
              <a:rPr lang="en-US" sz="2175" b="1">
                <a:solidFill>
                  <a:srgbClr val="202124"/>
                </a:solidFill>
                <a:latin typeface="Roboto"/>
                <a:ea typeface="Roboto"/>
                <a:cs typeface="Roboto"/>
              </a:rPr>
              <a:t>Scene understanding</a:t>
            </a:r>
          </a:p>
        </p:txBody>
      </p:sp>
      <p:sp>
        <p:nvSpPr>
          <p:cNvPr id="9" name="artificial-intelligence-number">
            <a:extLst>
              <a:ext uri="{FF2B5EF4-FFF2-40B4-BE49-F238E27FC236}">
                <a16:creationId xmlns:a16="http://schemas.microsoft.com/office/drawing/2014/main" id="{C34DF1C2-8DF5-4C79-83C2-7DC0EBBE2123}"/>
              </a:ext>
            </a:extLst>
          </p:cNvPr>
          <p:cNvSpPr>
            <a:spLocks noGrp="1"/>
          </p:cNvSpPr>
          <p:nvPr/>
        </p:nvSpPr>
        <p:spPr>
          <a:xfrm>
            <a:off x="828675" y="3905250"/>
            <a:ext cx="3152775" cy="904875"/>
          </a:xfrm>
          <a:prstGeom prst="rect">
            <a:avLst/>
          </a:prstGeom>
          <a:noFill/>
          <a:ln w="0">
            <a:noFill/>
          </a:ln>
        </p:spPr>
        <p:txBody>
          <a:bodyPr wrap="square" lIns="0" tIns="0" rIns="0" bIns="0" anchor="t">
            <a:noAutofit/>
          </a:bodyPr>
          <a:lstStyle>
            <a:defPPr algn="ctr">
              <a:defRPr lang="en-US" sz="4575" b="1">
                <a:solidFill>
                  <a:srgbClr val="822433"/>
                </a:solidFill>
                <a:latin typeface="Roboto"/>
                <a:ea typeface="Roboto"/>
                <a:cs typeface="Roboto"/>
              </a:defRPr>
            </a:defPPr>
            <a:lvl1pPr algn="ctr">
              <a:defRPr lang="en-US" sz="4575" b="1">
                <a:solidFill>
                  <a:srgbClr val="822433"/>
                </a:solidFill>
                <a:latin typeface="Roboto"/>
                <a:ea typeface="Roboto"/>
                <a:cs typeface="Roboto"/>
              </a:defRPr>
            </a:lvl1pPr>
            <a:lvl2pPr algn="ctr">
              <a:defRPr lang="en-US" sz="4575" b="1">
                <a:solidFill>
                  <a:srgbClr val="822433"/>
                </a:solidFill>
                <a:latin typeface="Roboto"/>
                <a:ea typeface="Roboto"/>
                <a:cs typeface="Roboto"/>
              </a:defRPr>
            </a:lvl2pPr>
            <a:lvl3pPr algn="ctr">
              <a:defRPr lang="en-US" sz="4575" b="1">
                <a:solidFill>
                  <a:srgbClr val="822433"/>
                </a:solidFill>
                <a:latin typeface="Roboto"/>
                <a:ea typeface="Roboto"/>
                <a:cs typeface="Roboto"/>
              </a:defRPr>
            </a:lvl3pPr>
            <a:lvl4pPr algn="ctr">
              <a:defRPr lang="en-US" sz="4575" b="1">
                <a:solidFill>
                  <a:srgbClr val="822433"/>
                </a:solidFill>
                <a:latin typeface="Roboto"/>
                <a:ea typeface="Roboto"/>
                <a:cs typeface="Roboto"/>
              </a:defRPr>
            </a:lvl4pPr>
            <a:lvl5pPr algn="ctr">
              <a:defRPr lang="en-US" sz="4575" b="1">
                <a:solidFill>
                  <a:srgbClr val="822433"/>
                </a:solidFill>
                <a:latin typeface="Roboto"/>
                <a:ea typeface="Roboto"/>
                <a:cs typeface="Roboto"/>
              </a:defRPr>
            </a:lvl5pPr>
            <a:lvl6pPr algn="ctr">
              <a:defRPr lang="en-US" sz="4575" b="1">
                <a:solidFill>
                  <a:srgbClr val="822433"/>
                </a:solidFill>
                <a:latin typeface="Roboto"/>
                <a:ea typeface="Roboto"/>
                <a:cs typeface="Roboto"/>
              </a:defRPr>
            </a:lvl6pPr>
            <a:lvl7pPr algn="ctr">
              <a:defRPr lang="en-US" sz="4575" b="1">
                <a:solidFill>
                  <a:srgbClr val="822433"/>
                </a:solidFill>
                <a:latin typeface="Roboto"/>
                <a:ea typeface="Roboto"/>
                <a:cs typeface="Roboto"/>
              </a:defRPr>
            </a:lvl7pPr>
            <a:lvl8pPr algn="ctr">
              <a:defRPr lang="en-US" sz="4575" b="1">
                <a:solidFill>
                  <a:srgbClr val="822433"/>
                </a:solidFill>
                <a:latin typeface="Roboto"/>
                <a:ea typeface="Roboto"/>
                <a:cs typeface="Roboto"/>
              </a:defRPr>
            </a:lvl8pPr>
            <a:lvl9pPr algn="ctr">
              <a:defRPr lang="en-US" sz="4575" b="1">
                <a:solidFill>
                  <a:srgbClr val="822433"/>
                </a:solidFill>
                <a:latin typeface="Roboto"/>
                <a:ea typeface="Roboto"/>
                <a:cs typeface="Roboto"/>
              </a:defRPr>
            </a:lvl9pPr>
          </a:lstStyle>
          <a:p>
            <a:pPr algn="ctr">
              <a:defRPr lang="en-US" sz="4575" b="1">
                <a:solidFill>
                  <a:srgbClr val="822433"/>
                </a:solidFill>
                <a:latin typeface="Roboto"/>
                <a:ea typeface="Roboto"/>
                <a:cs typeface="Roboto"/>
              </a:defRPr>
            </a:pPr>
            <a:r>
              <a:rPr lang="en-US" sz="4575" b="1">
                <a:solidFill>
                  <a:srgbClr val="822433"/>
                </a:solidFill>
                <a:latin typeface="Roboto"/>
                <a:ea typeface="Roboto"/>
                <a:cs typeface="Roboto"/>
              </a:rPr>
              <a:t>76.93%</a:t>
            </a:r>
          </a:p>
        </p:txBody>
      </p:sp>
      <p:sp>
        <p:nvSpPr>
          <p:cNvPr id="10" name="artificial-intelligence-detail">
            <a:extLst>
              <a:ext uri="{FF2B5EF4-FFF2-40B4-BE49-F238E27FC236}">
                <a16:creationId xmlns:a16="http://schemas.microsoft.com/office/drawing/2014/main" id="{6CF64F38-DADA-4F04-9A61-3A20E3A16C7B}"/>
              </a:ext>
            </a:extLst>
          </p:cNvPr>
          <p:cNvSpPr>
            <a:spLocks noGrp="1"/>
          </p:cNvSpPr>
          <p:nvPr/>
        </p:nvSpPr>
        <p:spPr>
          <a:xfrm>
            <a:off x="790575" y="4933950"/>
            <a:ext cx="3228975" cy="704850"/>
          </a:xfrm>
          <a:prstGeom prst="rect">
            <a:avLst/>
          </a:prstGeom>
          <a:noFill/>
          <a:ln w="0">
            <a:noFill/>
          </a:ln>
        </p:spPr>
        <p:txBody>
          <a:bodyPr wrap="square" lIns="0" tIns="0" rIns="0" bIns="0" anchor="t">
            <a:noAutofit/>
          </a:bodyPr>
          <a:lstStyle>
            <a:defPPr algn="ctr">
              <a:defRPr lang="en-US" sz="1800" b="0">
                <a:solidFill>
                  <a:srgbClr val="656B73"/>
                </a:solidFill>
                <a:latin typeface="Roboto"/>
                <a:ea typeface="Roboto"/>
                <a:cs typeface="Roboto"/>
              </a:defRPr>
            </a:defPPr>
            <a:lvl1pPr algn="ctr">
              <a:defRPr lang="en-US" sz="1800" b="0">
                <a:solidFill>
                  <a:srgbClr val="656B73"/>
                </a:solidFill>
                <a:latin typeface="Roboto"/>
                <a:ea typeface="Roboto"/>
                <a:cs typeface="Roboto"/>
              </a:defRPr>
            </a:lvl1pPr>
            <a:lvl2pPr algn="ctr">
              <a:defRPr lang="en-US" sz="1800" b="0">
                <a:solidFill>
                  <a:srgbClr val="656B73"/>
                </a:solidFill>
                <a:latin typeface="Roboto"/>
                <a:ea typeface="Roboto"/>
                <a:cs typeface="Roboto"/>
              </a:defRPr>
            </a:lvl2pPr>
            <a:lvl3pPr algn="ctr">
              <a:defRPr lang="en-US" sz="1800" b="0">
                <a:solidFill>
                  <a:srgbClr val="656B73"/>
                </a:solidFill>
                <a:latin typeface="Roboto"/>
                <a:ea typeface="Roboto"/>
                <a:cs typeface="Roboto"/>
              </a:defRPr>
            </a:lvl3pPr>
            <a:lvl4pPr algn="ctr">
              <a:defRPr lang="en-US" sz="1800" b="0">
                <a:solidFill>
                  <a:srgbClr val="656B73"/>
                </a:solidFill>
                <a:latin typeface="Roboto"/>
                <a:ea typeface="Roboto"/>
                <a:cs typeface="Roboto"/>
              </a:defRPr>
            </a:lvl4pPr>
            <a:lvl5pPr algn="ctr">
              <a:defRPr lang="en-US" sz="1800" b="0">
                <a:solidFill>
                  <a:srgbClr val="656B73"/>
                </a:solidFill>
                <a:latin typeface="Roboto"/>
                <a:ea typeface="Roboto"/>
                <a:cs typeface="Roboto"/>
              </a:defRPr>
            </a:lvl5pPr>
            <a:lvl6pPr algn="ctr">
              <a:defRPr lang="en-US" sz="1800" b="0">
                <a:solidFill>
                  <a:srgbClr val="656B73"/>
                </a:solidFill>
                <a:latin typeface="Roboto"/>
                <a:ea typeface="Roboto"/>
                <a:cs typeface="Roboto"/>
              </a:defRPr>
            </a:lvl6pPr>
            <a:lvl7pPr algn="ctr">
              <a:defRPr lang="en-US" sz="1800" b="0">
                <a:solidFill>
                  <a:srgbClr val="656B73"/>
                </a:solidFill>
                <a:latin typeface="Roboto"/>
                <a:ea typeface="Roboto"/>
                <a:cs typeface="Roboto"/>
              </a:defRPr>
            </a:lvl7pPr>
            <a:lvl8pPr algn="ctr">
              <a:defRPr lang="en-US" sz="1800" b="0">
                <a:solidFill>
                  <a:srgbClr val="656B73"/>
                </a:solidFill>
                <a:latin typeface="Roboto"/>
                <a:ea typeface="Roboto"/>
                <a:cs typeface="Roboto"/>
              </a:defRPr>
            </a:lvl8pPr>
            <a:lvl9pPr algn="ctr">
              <a:defRPr lang="en-US" sz="1800" b="0">
                <a:solidFill>
                  <a:srgbClr val="656B73"/>
                </a:solidFill>
                <a:latin typeface="Roboto"/>
                <a:ea typeface="Roboto"/>
                <a:cs typeface="Roboto"/>
              </a:defRPr>
            </a:lvl9pPr>
          </a:lstStyle>
          <a:p>
            <a:pPr algn="ctr">
              <a:defRPr lang="en-US" sz="1800" b="0">
                <a:solidFill>
                  <a:srgbClr val="656B73"/>
                </a:solidFill>
                <a:latin typeface="Roboto"/>
                <a:ea typeface="Roboto"/>
                <a:cs typeface="Roboto"/>
              </a:defRPr>
            </a:pPr>
            <a:r>
              <a:rPr lang="en-US" sz="1800" b="0">
                <a:solidFill>
                  <a:srgbClr val="656B73"/>
                </a:solidFill>
                <a:latin typeface="Roboto"/>
                <a:ea typeface="Roboto"/>
                <a:cs typeface="Roboto"/>
              </a:rPr>
              <a:t>S⁵Mars test mIoU</a:t>
            </a:r>
          </a:p>
        </p:txBody>
      </p:sp>
      <p:pic>
        <p:nvPicPr>
          <p:cNvPr id="11" name="Immagine 10">
            <a:extLst>
              <a:ext uri="{FF2B5EF4-FFF2-40B4-BE49-F238E27FC236}">
                <a16:creationId xmlns:a16="http://schemas.microsoft.com/office/drawing/2014/main" id="{111785A9-FBB5-4B2B-BB20-6F766F0756BF}"/>
              </a:ext>
            </a:extLst>
          </p:cNvPr>
          <p:cNvPicPr>
            <a:picLocks noChangeAspect="1"/>
          </p:cNvPicPr>
          <p:nvPr/>
        </p:nvPicPr>
        <p:blipFill>
          <a:blip r:embed="rId5"/>
          <a:stretch/>
        </p:blipFill>
        <p:spPr>
          <a:xfrm>
            <a:off x="5562600" y="1638300"/>
            <a:ext cx="838200" cy="838200"/>
          </a:xfrm>
          <a:prstGeom prst="rect">
            <a:avLst/>
          </a:prstGeom>
        </p:spPr>
      </p:pic>
      <p:sp>
        <p:nvSpPr>
          <p:cNvPr id="12" name="database-contribution">
            <a:extLst>
              <a:ext uri="{FF2B5EF4-FFF2-40B4-BE49-F238E27FC236}">
                <a16:creationId xmlns:a16="http://schemas.microsoft.com/office/drawing/2014/main" id="{5C51018F-D06A-4F6F-A5B6-37B5670CF776}"/>
              </a:ext>
            </a:extLst>
          </p:cNvPr>
          <p:cNvSpPr>
            <a:spLocks noGrp="1"/>
          </p:cNvSpPr>
          <p:nvPr/>
        </p:nvSpPr>
        <p:spPr>
          <a:xfrm>
            <a:off x="4543425" y="2914650"/>
            <a:ext cx="3095625" cy="590550"/>
          </a:xfrm>
          <a:prstGeom prst="rect">
            <a:avLst/>
          </a:prstGeom>
          <a:noFill/>
          <a:ln w="0">
            <a:noFill/>
          </a:ln>
        </p:spPr>
        <p:txBody>
          <a:bodyPr wrap="square" lIns="0" tIns="0" rIns="0" bIns="0" anchor="t">
            <a:noAutofit/>
          </a:bodyPr>
          <a:lstStyle>
            <a:defPPr algn="ctr">
              <a:defRPr lang="en-US" sz="2175" b="1">
                <a:solidFill>
                  <a:srgbClr val="202124"/>
                </a:solidFill>
                <a:latin typeface="Roboto"/>
                <a:ea typeface="Roboto"/>
                <a:cs typeface="Roboto"/>
              </a:defRPr>
            </a:defPPr>
            <a:lvl1pPr algn="ctr">
              <a:defRPr lang="en-US" sz="2175" b="1">
                <a:solidFill>
                  <a:srgbClr val="202124"/>
                </a:solidFill>
                <a:latin typeface="Roboto"/>
                <a:ea typeface="Roboto"/>
                <a:cs typeface="Roboto"/>
              </a:defRPr>
            </a:lvl1pPr>
            <a:lvl2pPr algn="ctr">
              <a:defRPr lang="en-US" sz="2175" b="1">
                <a:solidFill>
                  <a:srgbClr val="202124"/>
                </a:solidFill>
                <a:latin typeface="Roboto"/>
                <a:ea typeface="Roboto"/>
                <a:cs typeface="Roboto"/>
              </a:defRPr>
            </a:lvl2pPr>
            <a:lvl3pPr algn="ctr">
              <a:defRPr lang="en-US" sz="2175" b="1">
                <a:solidFill>
                  <a:srgbClr val="202124"/>
                </a:solidFill>
                <a:latin typeface="Roboto"/>
                <a:ea typeface="Roboto"/>
                <a:cs typeface="Roboto"/>
              </a:defRPr>
            </a:lvl3pPr>
            <a:lvl4pPr algn="ctr">
              <a:defRPr lang="en-US" sz="2175" b="1">
                <a:solidFill>
                  <a:srgbClr val="202124"/>
                </a:solidFill>
                <a:latin typeface="Roboto"/>
                <a:ea typeface="Roboto"/>
                <a:cs typeface="Roboto"/>
              </a:defRPr>
            </a:lvl4pPr>
            <a:lvl5pPr algn="ctr">
              <a:defRPr lang="en-US" sz="2175" b="1">
                <a:solidFill>
                  <a:srgbClr val="202124"/>
                </a:solidFill>
                <a:latin typeface="Roboto"/>
                <a:ea typeface="Roboto"/>
                <a:cs typeface="Roboto"/>
              </a:defRPr>
            </a:lvl5pPr>
            <a:lvl6pPr algn="ctr">
              <a:defRPr lang="en-US" sz="2175" b="1">
                <a:solidFill>
                  <a:srgbClr val="202124"/>
                </a:solidFill>
                <a:latin typeface="Roboto"/>
                <a:ea typeface="Roboto"/>
                <a:cs typeface="Roboto"/>
              </a:defRPr>
            </a:lvl6pPr>
            <a:lvl7pPr algn="ctr">
              <a:defRPr lang="en-US" sz="2175" b="1">
                <a:solidFill>
                  <a:srgbClr val="202124"/>
                </a:solidFill>
                <a:latin typeface="Roboto"/>
                <a:ea typeface="Roboto"/>
                <a:cs typeface="Roboto"/>
              </a:defRPr>
            </a:lvl7pPr>
            <a:lvl8pPr algn="ctr">
              <a:defRPr lang="en-US" sz="2175" b="1">
                <a:solidFill>
                  <a:srgbClr val="202124"/>
                </a:solidFill>
                <a:latin typeface="Roboto"/>
                <a:ea typeface="Roboto"/>
                <a:cs typeface="Roboto"/>
              </a:defRPr>
            </a:lvl8pPr>
            <a:lvl9pPr algn="ctr">
              <a:defRPr lang="en-US" sz="2175" b="1">
                <a:solidFill>
                  <a:srgbClr val="202124"/>
                </a:solidFill>
                <a:latin typeface="Roboto"/>
                <a:ea typeface="Roboto"/>
                <a:cs typeface="Roboto"/>
              </a:defRPr>
            </a:lvl9pPr>
          </a:lstStyle>
          <a:p>
            <a:pPr algn="ctr">
              <a:defRPr lang="en-US" sz="2175" b="1">
                <a:solidFill>
                  <a:srgbClr val="202124"/>
                </a:solidFill>
                <a:latin typeface="Roboto"/>
                <a:ea typeface="Roboto"/>
                <a:cs typeface="Roboto"/>
              </a:defRPr>
            </a:pPr>
            <a:r>
              <a:rPr lang="en-US" sz="2175" b="1">
                <a:solidFill>
                  <a:srgbClr val="202124"/>
                </a:solidFill>
                <a:latin typeface="Roboto"/>
                <a:ea typeface="Roboto"/>
                <a:cs typeface="Roboto"/>
              </a:rPr>
              <a:t>Synthetic data</a:t>
            </a:r>
          </a:p>
        </p:txBody>
      </p:sp>
      <p:sp>
        <p:nvSpPr>
          <p:cNvPr id="13" name="database-number">
            <a:extLst>
              <a:ext uri="{FF2B5EF4-FFF2-40B4-BE49-F238E27FC236}">
                <a16:creationId xmlns:a16="http://schemas.microsoft.com/office/drawing/2014/main" id="{D8804DEE-70AF-4080-80F0-A411B76BF57A}"/>
              </a:ext>
            </a:extLst>
          </p:cNvPr>
          <p:cNvSpPr>
            <a:spLocks noGrp="1"/>
          </p:cNvSpPr>
          <p:nvPr/>
        </p:nvSpPr>
        <p:spPr>
          <a:xfrm>
            <a:off x="4514850" y="3905250"/>
            <a:ext cx="3152775" cy="904875"/>
          </a:xfrm>
          <a:prstGeom prst="rect">
            <a:avLst/>
          </a:prstGeom>
          <a:noFill/>
          <a:ln w="0">
            <a:noFill/>
          </a:ln>
        </p:spPr>
        <p:txBody>
          <a:bodyPr wrap="square" lIns="0" tIns="0" rIns="0" bIns="0" anchor="t">
            <a:noAutofit/>
          </a:bodyPr>
          <a:lstStyle>
            <a:defPPr algn="ctr">
              <a:defRPr lang="en-US" sz="4575" b="1">
                <a:solidFill>
                  <a:srgbClr val="822433"/>
                </a:solidFill>
                <a:latin typeface="Roboto"/>
                <a:ea typeface="Roboto"/>
                <a:cs typeface="Roboto"/>
              </a:defRPr>
            </a:defPPr>
            <a:lvl1pPr algn="ctr">
              <a:defRPr lang="en-US" sz="4575" b="1">
                <a:solidFill>
                  <a:srgbClr val="822433"/>
                </a:solidFill>
                <a:latin typeface="Roboto"/>
                <a:ea typeface="Roboto"/>
                <a:cs typeface="Roboto"/>
              </a:defRPr>
            </a:lvl1pPr>
            <a:lvl2pPr algn="ctr">
              <a:defRPr lang="en-US" sz="4575" b="1">
                <a:solidFill>
                  <a:srgbClr val="822433"/>
                </a:solidFill>
                <a:latin typeface="Roboto"/>
                <a:ea typeface="Roboto"/>
                <a:cs typeface="Roboto"/>
              </a:defRPr>
            </a:lvl2pPr>
            <a:lvl3pPr algn="ctr">
              <a:defRPr lang="en-US" sz="4575" b="1">
                <a:solidFill>
                  <a:srgbClr val="822433"/>
                </a:solidFill>
                <a:latin typeface="Roboto"/>
                <a:ea typeface="Roboto"/>
                <a:cs typeface="Roboto"/>
              </a:defRPr>
            </a:lvl3pPr>
            <a:lvl4pPr algn="ctr">
              <a:defRPr lang="en-US" sz="4575" b="1">
                <a:solidFill>
                  <a:srgbClr val="822433"/>
                </a:solidFill>
                <a:latin typeface="Roboto"/>
                <a:ea typeface="Roboto"/>
                <a:cs typeface="Roboto"/>
              </a:defRPr>
            </a:lvl4pPr>
            <a:lvl5pPr algn="ctr">
              <a:defRPr lang="en-US" sz="4575" b="1">
                <a:solidFill>
                  <a:srgbClr val="822433"/>
                </a:solidFill>
                <a:latin typeface="Roboto"/>
                <a:ea typeface="Roboto"/>
                <a:cs typeface="Roboto"/>
              </a:defRPr>
            </a:lvl5pPr>
            <a:lvl6pPr algn="ctr">
              <a:defRPr lang="en-US" sz="4575" b="1">
                <a:solidFill>
                  <a:srgbClr val="822433"/>
                </a:solidFill>
                <a:latin typeface="Roboto"/>
                <a:ea typeface="Roboto"/>
                <a:cs typeface="Roboto"/>
              </a:defRPr>
            </a:lvl6pPr>
            <a:lvl7pPr algn="ctr">
              <a:defRPr lang="en-US" sz="4575" b="1">
                <a:solidFill>
                  <a:srgbClr val="822433"/>
                </a:solidFill>
                <a:latin typeface="Roboto"/>
                <a:ea typeface="Roboto"/>
                <a:cs typeface="Roboto"/>
              </a:defRPr>
            </a:lvl7pPr>
            <a:lvl8pPr algn="ctr">
              <a:defRPr lang="en-US" sz="4575" b="1">
                <a:solidFill>
                  <a:srgbClr val="822433"/>
                </a:solidFill>
                <a:latin typeface="Roboto"/>
                <a:ea typeface="Roboto"/>
                <a:cs typeface="Roboto"/>
              </a:defRPr>
            </a:lvl8pPr>
            <a:lvl9pPr algn="ctr">
              <a:defRPr lang="en-US" sz="4575" b="1">
                <a:solidFill>
                  <a:srgbClr val="822433"/>
                </a:solidFill>
                <a:latin typeface="Roboto"/>
                <a:ea typeface="Roboto"/>
                <a:cs typeface="Roboto"/>
              </a:defRPr>
            </a:lvl9pPr>
          </a:lstStyle>
          <a:p>
            <a:pPr algn="ctr">
              <a:defRPr lang="en-US" sz="4575" b="1">
                <a:solidFill>
                  <a:srgbClr val="822433"/>
                </a:solidFill>
                <a:latin typeface="Roboto"/>
                <a:ea typeface="Roboto"/>
                <a:cs typeface="Roboto"/>
              </a:defRPr>
            </a:pPr>
            <a:r>
              <a:rPr lang="en-US" sz="4575" b="1">
                <a:solidFill>
                  <a:srgbClr val="822433"/>
                </a:solidFill>
                <a:latin typeface="Roboto"/>
                <a:ea typeface="Roboto"/>
                <a:cs typeface="Roboto"/>
              </a:rPr>
              <a:t>10,000</a:t>
            </a:r>
          </a:p>
        </p:txBody>
      </p:sp>
      <p:sp>
        <p:nvSpPr>
          <p:cNvPr id="14" name="database-detail">
            <a:extLst>
              <a:ext uri="{FF2B5EF4-FFF2-40B4-BE49-F238E27FC236}">
                <a16:creationId xmlns:a16="http://schemas.microsoft.com/office/drawing/2014/main" id="{C21FC201-AB2C-4892-A806-43FE05155E92}"/>
              </a:ext>
            </a:extLst>
          </p:cNvPr>
          <p:cNvSpPr>
            <a:spLocks noGrp="1"/>
          </p:cNvSpPr>
          <p:nvPr/>
        </p:nvSpPr>
        <p:spPr>
          <a:xfrm>
            <a:off x="4476750" y="4933950"/>
            <a:ext cx="3228975" cy="704850"/>
          </a:xfrm>
          <a:prstGeom prst="rect">
            <a:avLst/>
          </a:prstGeom>
          <a:noFill/>
          <a:ln w="0">
            <a:noFill/>
          </a:ln>
        </p:spPr>
        <p:txBody>
          <a:bodyPr wrap="square" lIns="0" tIns="0" rIns="0" bIns="0" anchor="t">
            <a:noAutofit/>
          </a:bodyPr>
          <a:lstStyle>
            <a:defPPr algn="ctr">
              <a:defRPr lang="en-US" sz="1800" b="0">
                <a:solidFill>
                  <a:srgbClr val="656B73"/>
                </a:solidFill>
                <a:latin typeface="Roboto"/>
                <a:ea typeface="Roboto"/>
                <a:cs typeface="Roboto"/>
              </a:defRPr>
            </a:defPPr>
            <a:lvl1pPr algn="ctr">
              <a:defRPr lang="en-US" sz="1800" b="0">
                <a:solidFill>
                  <a:srgbClr val="656B73"/>
                </a:solidFill>
                <a:latin typeface="Roboto"/>
                <a:ea typeface="Roboto"/>
                <a:cs typeface="Roboto"/>
              </a:defRPr>
            </a:lvl1pPr>
            <a:lvl2pPr algn="ctr">
              <a:defRPr lang="en-US" sz="1800" b="0">
                <a:solidFill>
                  <a:srgbClr val="656B73"/>
                </a:solidFill>
                <a:latin typeface="Roboto"/>
                <a:ea typeface="Roboto"/>
                <a:cs typeface="Roboto"/>
              </a:defRPr>
            </a:lvl2pPr>
            <a:lvl3pPr algn="ctr">
              <a:defRPr lang="en-US" sz="1800" b="0">
                <a:solidFill>
                  <a:srgbClr val="656B73"/>
                </a:solidFill>
                <a:latin typeface="Roboto"/>
                <a:ea typeface="Roboto"/>
                <a:cs typeface="Roboto"/>
              </a:defRPr>
            </a:lvl3pPr>
            <a:lvl4pPr algn="ctr">
              <a:defRPr lang="en-US" sz="1800" b="0">
                <a:solidFill>
                  <a:srgbClr val="656B73"/>
                </a:solidFill>
                <a:latin typeface="Roboto"/>
                <a:ea typeface="Roboto"/>
                <a:cs typeface="Roboto"/>
              </a:defRPr>
            </a:lvl4pPr>
            <a:lvl5pPr algn="ctr">
              <a:defRPr lang="en-US" sz="1800" b="0">
                <a:solidFill>
                  <a:srgbClr val="656B73"/>
                </a:solidFill>
                <a:latin typeface="Roboto"/>
                <a:ea typeface="Roboto"/>
                <a:cs typeface="Roboto"/>
              </a:defRPr>
            </a:lvl5pPr>
            <a:lvl6pPr algn="ctr">
              <a:defRPr lang="en-US" sz="1800" b="0">
                <a:solidFill>
                  <a:srgbClr val="656B73"/>
                </a:solidFill>
                <a:latin typeface="Roboto"/>
                <a:ea typeface="Roboto"/>
                <a:cs typeface="Roboto"/>
              </a:defRPr>
            </a:lvl6pPr>
            <a:lvl7pPr algn="ctr">
              <a:defRPr lang="en-US" sz="1800" b="0">
                <a:solidFill>
                  <a:srgbClr val="656B73"/>
                </a:solidFill>
                <a:latin typeface="Roboto"/>
                <a:ea typeface="Roboto"/>
                <a:cs typeface="Roboto"/>
              </a:defRPr>
            </a:lvl7pPr>
            <a:lvl8pPr algn="ctr">
              <a:defRPr lang="en-US" sz="1800" b="0">
                <a:solidFill>
                  <a:srgbClr val="656B73"/>
                </a:solidFill>
                <a:latin typeface="Roboto"/>
                <a:ea typeface="Roboto"/>
                <a:cs typeface="Roboto"/>
              </a:defRPr>
            </a:lvl8pPr>
            <a:lvl9pPr algn="ctr">
              <a:defRPr lang="en-US" sz="1800" b="0">
                <a:solidFill>
                  <a:srgbClr val="656B73"/>
                </a:solidFill>
                <a:latin typeface="Roboto"/>
                <a:ea typeface="Roboto"/>
                <a:cs typeface="Roboto"/>
              </a:defRPr>
            </a:lvl9pPr>
          </a:lstStyle>
          <a:p>
            <a:pPr algn="ctr">
              <a:defRPr lang="en-US" sz="1800" b="0">
                <a:solidFill>
                  <a:srgbClr val="656B73"/>
                </a:solidFill>
                <a:latin typeface="Roboto"/>
                <a:ea typeface="Roboto"/>
                <a:cs typeface="Roboto"/>
              </a:defRPr>
            </a:pPr>
            <a:r>
              <a:rPr lang="en-US" sz="1800" b="0">
                <a:solidFill>
                  <a:srgbClr val="656B73"/>
                </a:solidFill>
                <a:latin typeface="Roboto"/>
                <a:ea typeface="Roboto"/>
                <a:cs typeface="Roboto"/>
              </a:rPr>
              <a:t>annotated wheel images</a:t>
            </a:r>
          </a:p>
        </p:txBody>
      </p:sp>
      <p:pic>
        <p:nvPicPr>
          <p:cNvPr id="15" name="Immagine 14">
            <a:extLst>
              <a:ext uri="{FF2B5EF4-FFF2-40B4-BE49-F238E27FC236}">
                <a16:creationId xmlns:a16="http://schemas.microsoft.com/office/drawing/2014/main" id="{017E9D8E-6AF4-44A2-964D-D82AC690D810}"/>
              </a:ext>
            </a:extLst>
          </p:cNvPr>
          <p:cNvPicPr>
            <a:picLocks noChangeAspect="1"/>
          </p:cNvPicPr>
          <p:nvPr/>
        </p:nvPicPr>
        <p:blipFill>
          <a:blip r:embed="rId6"/>
          <a:stretch/>
        </p:blipFill>
        <p:spPr>
          <a:xfrm>
            <a:off x="9248775" y="1638300"/>
            <a:ext cx="838200" cy="838200"/>
          </a:xfrm>
          <a:prstGeom prst="rect">
            <a:avLst/>
          </a:prstGeom>
        </p:spPr>
      </p:pic>
      <p:sp>
        <p:nvSpPr>
          <p:cNvPr id="16" name="inspection-contribution">
            <a:extLst>
              <a:ext uri="{FF2B5EF4-FFF2-40B4-BE49-F238E27FC236}">
                <a16:creationId xmlns:a16="http://schemas.microsoft.com/office/drawing/2014/main" id="{C9F5C116-9F0B-4D22-AF26-7C666CCAEC20}"/>
              </a:ext>
            </a:extLst>
          </p:cNvPr>
          <p:cNvSpPr>
            <a:spLocks noGrp="1"/>
          </p:cNvSpPr>
          <p:nvPr/>
        </p:nvSpPr>
        <p:spPr>
          <a:xfrm>
            <a:off x="8229600" y="2914650"/>
            <a:ext cx="3095625" cy="590550"/>
          </a:xfrm>
          <a:prstGeom prst="rect">
            <a:avLst/>
          </a:prstGeom>
          <a:noFill/>
          <a:ln w="0">
            <a:noFill/>
          </a:ln>
        </p:spPr>
        <p:txBody>
          <a:bodyPr wrap="square" lIns="0" tIns="0" rIns="0" bIns="0" anchor="t">
            <a:noAutofit/>
          </a:bodyPr>
          <a:lstStyle>
            <a:defPPr algn="ctr">
              <a:defRPr lang="en-US" sz="2175" b="1">
                <a:solidFill>
                  <a:srgbClr val="202124"/>
                </a:solidFill>
                <a:latin typeface="Roboto"/>
                <a:ea typeface="Roboto"/>
                <a:cs typeface="Roboto"/>
              </a:defRPr>
            </a:defPPr>
            <a:lvl1pPr algn="ctr">
              <a:defRPr lang="en-US" sz="2175" b="1">
                <a:solidFill>
                  <a:srgbClr val="202124"/>
                </a:solidFill>
                <a:latin typeface="Roboto"/>
                <a:ea typeface="Roboto"/>
                <a:cs typeface="Roboto"/>
              </a:defRPr>
            </a:lvl1pPr>
            <a:lvl2pPr algn="ctr">
              <a:defRPr lang="en-US" sz="2175" b="1">
                <a:solidFill>
                  <a:srgbClr val="202124"/>
                </a:solidFill>
                <a:latin typeface="Roboto"/>
                <a:ea typeface="Roboto"/>
                <a:cs typeface="Roboto"/>
              </a:defRPr>
            </a:lvl2pPr>
            <a:lvl3pPr algn="ctr">
              <a:defRPr lang="en-US" sz="2175" b="1">
                <a:solidFill>
                  <a:srgbClr val="202124"/>
                </a:solidFill>
                <a:latin typeface="Roboto"/>
                <a:ea typeface="Roboto"/>
                <a:cs typeface="Roboto"/>
              </a:defRPr>
            </a:lvl3pPr>
            <a:lvl4pPr algn="ctr">
              <a:defRPr lang="en-US" sz="2175" b="1">
                <a:solidFill>
                  <a:srgbClr val="202124"/>
                </a:solidFill>
                <a:latin typeface="Roboto"/>
                <a:ea typeface="Roboto"/>
                <a:cs typeface="Roboto"/>
              </a:defRPr>
            </a:lvl4pPr>
            <a:lvl5pPr algn="ctr">
              <a:defRPr lang="en-US" sz="2175" b="1">
                <a:solidFill>
                  <a:srgbClr val="202124"/>
                </a:solidFill>
                <a:latin typeface="Roboto"/>
                <a:ea typeface="Roboto"/>
                <a:cs typeface="Roboto"/>
              </a:defRPr>
            </a:lvl5pPr>
            <a:lvl6pPr algn="ctr">
              <a:defRPr lang="en-US" sz="2175" b="1">
                <a:solidFill>
                  <a:srgbClr val="202124"/>
                </a:solidFill>
                <a:latin typeface="Roboto"/>
                <a:ea typeface="Roboto"/>
                <a:cs typeface="Roboto"/>
              </a:defRPr>
            </a:lvl6pPr>
            <a:lvl7pPr algn="ctr">
              <a:defRPr lang="en-US" sz="2175" b="1">
                <a:solidFill>
                  <a:srgbClr val="202124"/>
                </a:solidFill>
                <a:latin typeface="Roboto"/>
                <a:ea typeface="Roboto"/>
                <a:cs typeface="Roboto"/>
              </a:defRPr>
            </a:lvl7pPr>
            <a:lvl8pPr algn="ctr">
              <a:defRPr lang="en-US" sz="2175" b="1">
                <a:solidFill>
                  <a:srgbClr val="202124"/>
                </a:solidFill>
                <a:latin typeface="Roboto"/>
                <a:ea typeface="Roboto"/>
                <a:cs typeface="Roboto"/>
              </a:defRPr>
            </a:lvl8pPr>
            <a:lvl9pPr algn="ctr">
              <a:defRPr lang="en-US" sz="2175" b="1">
                <a:solidFill>
                  <a:srgbClr val="202124"/>
                </a:solidFill>
                <a:latin typeface="Roboto"/>
                <a:ea typeface="Roboto"/>
                <a:cs typeface="Roboto"/>
              </a:defRPr>
            </a:lvl9pPr>
          </a:lstStyle>
          <a:p>
            <a:pPr algn="ctr">
              <a:defRPr lang="en-US" sz="2175" b="1">
                <a:solidFill>
                  <a:srgbClr val="202124"/>
                </a:solidFill>
                <a:latin typeface="Roboto"/>
                <a:ea typeface="Roboto"/>
                <a:cs typeface="Roboto"/>
              </a:defRPr>
            </a:pPr>
            <a:r>
              <a:rPr lang="en-US" sz="2175" b="1">
                <a:solidFill>
                  <a:srgbClr val="202124"/>
                </a:solidFill>
                <a:latin typeface="Roboto"/>
                <a:ea typeface="Roboto"/>
                <a:cs typeface="Roboto"/>
              </a:rPr>
              <a:t>Wheel inspection</a:t>
            </a:r>
          </a:p>
        </p:txBody>
      </p:sp>
      <p:sp>
        <p:nvSpPr>
          <p:cNvPr id="17" name="inspection-number">
            <a:extLst>
              <a:ext uri="{FF2B5EF4-FFF2-40B4-BE49-F238E27FC236}">
                <a16:creationId xmlns:a16="http://schemas.microsoft.com/office/drawing/2014/main" id="{92717EEB-7C88-44F6-B18B-42B5917ABCC9}"/>
              </a:ext>
            </a:extLst>
          </p:cNvPr>
          <p:cNvSpPr>
            <a:spLocks noGrp="1"/>
          </p:cNvSpPr>
          <p:nvPr/>
        </p:nvSpPr>
        <p:spPr>
          <a:xfrm>
            <a:off x="8201025" y="3905250"/>
            <a:ext cx="3152775" cy="904875"/>
          </a:xfrm>
          <a:prstGeom prst="rect">
            <a:avLst/>
          </a:prstGeom>
          <a:noFill/>
          <a:ln w="0">
            <a:noFill/>
          </a:ln>
        </p:spPr>
        <p:txBody>
          <a:bodyPr wrap="square" lIns="0" tIns="0" rIns="0" bIns="0" anchor="t">
            <a:noAutofit/>
          </a:bodyPr>
          <a:lstStyle>
            <a:defPPr algn="ctr">
              <a:defRPr lang="en-US" sz="4575" b="1">
                <a:solidFill>
                  <a:srgbClr val="822433"/>
                </a:solidFill>
                <a:latin typeface="Roboto"/>
                <a:ea typeface="Roboto"/>
                <a:cs typeface="Roboto"/>
              </a:defRPr>
            </a:defPPr>
            <a:lvl1pPr algn="ctr">
              <a:defRPr lang="en-US" sz="4575" b="1">
                <a:solidFill>
                  <a:srgbClr val="822433"/>
                </a:solidFill>
                <a:latin typeface="Roboto"/>
                <a:ea typeface="Roboto"/>
                <a:cs typeface="Roboto"/>
              </a:defRPr>
            </a:lvl1pPr>
            <a:lvl2pPr algn="ctr">
              <a:defRPr lang="en-US" sz="4575" b="1">
                <a:solidFill>
                  <a:srgbClr val="822433"/>
                </a:solidFill>
                <a:latin typeface="Roboto"/>
                <a:ea typeface="Roboto"/>
                <a:cs typeface="Roboto"/>
              </a:defRPr>
            </a:lvl2pPr>
            <a:lvl3pPr algn="ctr">
              <a:defRPr lang="en-US" sz="4575" b="1">
                <a:solidFill>
                  <a:srgbClr val="822433"/>
                </a:solidFill>
                <a:latin typeface="Roboto"/>
                <a:ea typeface="Roboto"/>
                <a:cs typeface="Roboto"/>
              </a:defRPr>
            </a:lvl3pPr>
            <a:lvl4pPr algn="ctr">
              <a:defRPr lang="en-US" sz="4575" b="1">
                <a:solidFill>
                  <a:srgbClr val="822433"/>
                </a:solidFill>
                <a:latin typeface="Roboto"/>
                <a:ea typeface="Roboto"/>
                <a:cs typeface="Roboto"/>
              </a:defRPr>
            </a:lvl4pPr>
            <a:lvl5pPr algn="ctr">
              <a:defRPr lang="en-US" sz="4575" b="1">
                <a:solidFill>
                  <a:srgbClr val="822433"/>
                </a:solidFill>
                <a:latin typeface="Roboto"/>
                <a:ea typeface="Roboto"/>
                <a:cs typeface="Roboto"/>
              </a:defRPr>
            </a:lvl5pPr>
            <a:lvl6pPr algn="ctr">
              <a:defRPr lang="en-US" sz="4575" b="1">
                <a:solidFill>
                  <a:srgbClr val="822433"/>
                </a:solidFill>
                <a:latin typeface="Roboto"/>
                <a:ea typeface="Roboto"/>
                <a:cs typeface="Roboto"/>
              </a:defRPr>
            </a:lvl6pPr>
            <a:lvl7pPr algn="ctr">
              <a:defRPr lang="en-US" sz="4575" b="1">
                <a:solidFill>
                  <a:srgbClr val="822433"/>
                </a:solidFill>
                <a:latin typeface="Roboto"/>
                <a:ea typeface="Roboto"/>
                <a:cs typeface="Roboto"/>
              </a:defRPr>
            </a:lvl7pPr>
            <a:lvl8pPr algn="ctr">
              <a:defRPr lang="en-US" sz="4575" b="1">
                <a:solidFill>
                  <a:srgbClr val="822433"/>
                </a:solidFill>
                <a:latin typeface="Roboto"/>
                <a:ea typeface="Roboto"/>
                <a:cs typeface="Roboto"/>
              </a:defRPr>
            </a:lvl8pPr>
            <a:lvl9pPr algn="ctr">
              <a:defRPr lang="en-US" sz="4575" b="1">
                <a:solidFill>
                  <a:srgbClr val="822433"/>
                </a:solidFill>
                <a:latin typeface="Roboto"/>
                <a:ea typeface="Roboto"/>
                <a:cs typeface="Roboto"/>
              </a:defRPr>
            </a:lvl9pPr>
          </a:lstStyle>
          <a:p>
            <a:pPr algn="ctr">
              <a:defRPr lang="en-US" sz="4575" b="1">
                <a:solidFill>
                  <a:srgbClr val="822433"/>
                </a:solidFill>
                <a:latin typeface="Roboto"/>
                <a:ea typeface="Roboto"/>
                <a:cs typeface="Roboto"/>
              </a:defRPr>
            </a:pPr>
            <a:r>
              <a:rPr lang="en-US" sz="4575" b="1">
                <a:solidFill>
                  <a:srgbClr val="822433"/>
                </a:solidFill>
                <a:latin typeface="Roboto"/>
                <a:ea typeface="Roboto"/>
                <a:cs typeface="Roboto"/>
              </a:rPr>
              <a:t>86.43%</a:t>
            </a:r>
          </a:p>
        </p:txBody>
      </p:sp>
      <p:sp>
        <p:nvSpPr>
          <p:cNvPr id="18" name="inspection-detail">
            <a:extLst>
              <a:ext uri="{FF2B5EF4-FFF2-40B4-BE49-F238E27FC236}">
                <a16:creationId xmlns:a16="http://schemas.microsoft.com/office/drawing/2014/main" id="{407857C8-938F-4B2A-9DDE-B409FA71CC97}"/>
              </a:ext>
            </a:extLst>
          </p:cNvPr>
          <p:cNvSpPr>
            <a:spLocks noGrp="1"/>
          </p:cNvSpPr>
          <p:nvPr/>
        </p:nvSpPr>
        <p:spPr>
          <a:xfrm>
            <a:off x="8162925" y="4933950"/>
            <a:ext cx="3228975" cy="704850"/>
          </a:xfrm>
          <a:prstGeom prst="rect">
            <a:avLst/>
          </a:prstGeom>
          <a:noFill/>
          <a:ln w="0">
            <a:noFill/>
          </a:ln>
        </p:spPr>
        <p:txBody>
          <a:bodyPr wrap="square" lIns="0" tIns="0" rIns="0" bIns="0" anchor="t">
            <a:noAutofit/>
          </a:bodyPr>
          <a:lstStyle>
            <a:defPPr algn="ctr">
              <a:defRPr lang="en-US" sz="1800" b="0">
                <a:solidFill>
                  <a:srgbClr val="656B73"/>
                </a:solidFill>
                <a:latin typeface="Roboto"/>
                <a:ea typeface="Roboto"/>
                <a:cs typeface="Roboto"/>
              </a:defRPr>
            </a:defPPr>
            <a:lvl1pPr algn="ctr">
              <a:defRPr lang="en-US" sz="1800" b="0">
                <a:solidFill>
                  <a:srgbClr val="656B73"/>
                </a:solidFill>
                <a:latin typeface="Roboto"/>
                <a:ea typeface="Roboto"/>
                <a:cs typeface="Roboto"/>
              </a:defRPr>
            </a:lvl1pPr>
            <a:lvl2pPr algn="ctr">
              <a:defRPr lang="en-US" sz="1800" b="0">
                <a:solidFill>
                  <a:srgbClr val="656B73"/>
                </a:solidFill>
                <a:latin typeface="Roboto"/>
                <a:ea typeface="Roboto"/>
                <a:cs typeface="Roboto"/>
              </a:defRPr>
            </a:lvl2pPr>
            <a:lvl3pPr algn="ctr">
              <a:defRPr lang="en-US" sz="1800" b="0">
                <a:solidFill>
                  <a:srgbClr val="656B73"/>
                </a:solidFill>
                <a:latin typeface="Roboto"/>
                <a:ea typeface="Roboto"/>
                <a:cs typeface="Roboto"/>
              </a:defRPr>
            </a:lvl3pPr>
            <a:lvl4pPr algn="ctr">
              <a:defRPr lang="en-US" sz="1800" b="0">
                <a:solidFill>
                  <a:srgbClr val="656B73"/>
                </a:solidFill>
                <a:latin typeface="Roboto"/>
                <a:ea typeface="Roboto"/>
                <a:cs typeface="Roboto"/>
              </a:defRPr>
            </a:lvl4pPr>
            <a:lvl5pPr algn="ctr">
              <a:defRPr lang="en-US" sz="1800" b="0">
                <a:solidFill>
                  <a:srgbClr val="656B73"/>
                </a:solidFill>
                <a:latin typeface="Roboto"/>
                <a:ea typeface="Roboto"/>
                <a:cs typeface="Roboto"/>
              </a:defRPr>
            </a:lvl5pPr>
            <a:lvl6pPr algn="ctr">
              <a:defRPr lang="en-US" sz="1800" b="0">
                <a:solidFill>
                  <a:srgbClr val="656B73"/>
                </a:solidFill>
                <a:latin typeface="Roboto"/>
                <a:ea typeface="Roboto"/>
                <a:cs typeface="Roboto"/>
              </a:defRPr>
            </a:lvl6pPr>
            <a:lvl7pPr algn="ctr">
              <a:defRPr lang="en-US" sz="1800" b="0">
                <a:solidFill>
                  <a:srgbClr val="656B73"/>
                </a:solidFill>
                <a:latin typeface="Roboto"/>
                <a:ea typeface="Roboto"/>
                <a:cs typeface="Roboto"/>
              </a:defRPr>
            </a:lvl7pPr>
            <a:lvl8pPr algn="ctr">
              <a:defRPr lang="en-US" sz="1800" b="0">
                <a:solidFill>
                  <a:srgbClr val="656B73"/>
                </a:solidFill>
                <a:latin typeface="Roboto"/>
                <a:ea typeface="Roboto"/>
                <a:cs typeface="Roboto"/>
              </a:defRPr>
            </a:lvl8pPr>
            <a:lvl9pPr algn="ctr">
              <a:defRPr lang="en-US" sz="1800" b="0">
                <a:solidFill>
                  <a:srgbClr val="656B73"/>
                </a:solidFill>
                <a:latin typeface="Roboto"/>
                <a:ea typeface="Roboto"/>
                <a:cs typeface="Roboto"/>
              </a:defRPr>
            </a:lvl9pPr>
          </a:lstStyle>
          <a:p>
            <a:pPr algn="ctr">
              <a:defRPr lang="en-US" sz="1800" b="0">
                <a:solidFill>
                  <a:srgbClr val="656B73"/>
                </a:solidFill>
                <a:latin typeface="Roboto"/>
                <a:ea typeface="Roboto"/>
                <a:cs typeface="Roboto"/>
              </a:defRPr>
            </a:pPr>
            <a:r>
              <a:rPr lang="en-US" sz="1800" b="0">
                <a:solidFill>
                  <a:srgbClr val="656B73"/>
                </a:solidFill>
                <a:latin typeface="Roboto"/>
                <a:ea typeface="Roboto"/>
                <a:cs typeface="Roboto"/>
              </a:rPr>
              <a:t>Image AUROC</a:t>
            </a:r>
          </a:p>
          <a:p>
            <a:pPr algn="ctr">
              <a:defRPr lang="en-US" sz="1800" b="0">
                <a:solidFill>
                  <a:srgbClr val="656B73"/>
                </a:solidFill>
                <a:latin typeface="Roboto"/>
                <a:ea typeface="Roboto"/>
                <a:cs typeface="Roboto"/>
              </a:defRPr>
            </a:pPr>
            <a:r>
              <a:rPr lang="en-US" sz="1800" b="0">
                <a:solidFill>
                  <a:srgbClr val="656B73"/>
                </a:solidFill>
                <a:latin typeface="Roboto"/>
                <a:ea typeface="Roboto"/>
                <a:cs typeface="Roboto"/>
              </a:rPr>
              <a:t>Synthetic pose A</a:t>
            </a:r>
          </a:p>
        </p:txBody>
      </p:sp>
    </p:spTree>
    <p:extLst>
      <p:ext uri="{BB962C8B-B14F-4D97-AF65-F5344CB8AC3E}">
        <p14:creationId xmlns:p14="http://schemas.microsoft.com/office/powerpoint/2010/main" val="222343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6" name="slide-title">
            <a:extLst>
              <a:ext uri="{FF2B5EF4-FFF2-40B4-BE49-F238E27FC236}">
                <a16:creationId xmlns:a16="http://schemas.microsoft.com/office/drawing/2014/main" id="{FE9F44D9-050F-46AC-9610-002C04458444}"/>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References 1 / 4</a:t>
            </a:r>
          </a:p>
        </p:txBody>
      </p:sp>
      <p:pic>
        <p:nvPicPr>
          <p:cNvPr id="2" name="Immagine 1">
            <a:extLst>
              <a:ext uri="{FF2B5EF4-FFF2-40B4-BE49-F238E27FC236}">
                <a16:creationId xmlns:a16="http://schemas.microsoft.com/office/drawing/2014/main" id="{34EB6265-6765-4437-90AD-2B37E89D7B6C}"/>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204F23CC-FAC3-4A27-845A-3066BB0E4665}"/>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1C5D5274-DD89-4DDC-AA43-971E160176B8}"/>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D9627EB1-9D6B-460D-8823-48989DD99D97}"/>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26 / 33</a:t>
            </a:r>
          </a:p>
        </p:txBody>
      </p:sp>
      <p:sp>
        <p:nvSpPr>
          <p:cNvPr id="6" name="ref-number-1">
            <a:extLst>
              <a:ext uri="{FF2B5EF4-FFF2-40B4-BE49-F238E27FC236}">
                <a16:creationId xmlns:a16="http://schemas.microsoft.com/office/drawing/2014/main" id="{6515AF54-FA5D-450F-8644-1BA88032A7B2}"/>
              </a:ext>
            </a:extLst>
          </p:cNvPr>
          <p:cNvSpPr>
            <a:spLocks noGrp="1"/>
          </p:cNvSpPr>
          <p:nvPr/>
        </p:nvSpPr>
        <p:spPr>
          <a:xfrm>
            <a:off x="762000" y="14001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a:t>
            </a:r>
          </a:p>
        </p:txBody>
      </p:sp>
      <p:sp>
        <p:nvSpPr>
          <p:cNvPr id="7" name="ref-title-1">
            <a:extLst>
              <a:ext uri="{FF2B5EF4-FFF2-40B4-BE49-F238E27FC236}">
                <a16:creationId xmlns:a16="http://schemas.microsoft.com/office/drawing/2014/main" id="{6E34C5E5-AC2E-4A5A-BFAC-93950261B2F3}"/>
              </a:ext>
            </a:extLst>
          </p:cNvPr>
          <p:cNvSpPr>
            <a:spLocks noGrp="1"/>
          </p:cNvSpPr>
          <p:nvPr/>
        </p:nvSpPr>
        <p:spPr>
          <a:xfrm>
            <a:off x="1409700" y="14001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NASA Jet Propulsion Laboratory. How to Drive a Mars Rover.</a:t>
            </a:r>
          </a:p>
        </p:txBody>
      </p:sp>
      <p:sp>
        <p:nvSpPr>
          <p:cNvPr id="8" name="ref-venue-1">
            <a:extLst>
              <a:ext uri="{FF2B5EF4-FFF2-40B4-BE49-F238E27FC236}">
                <a16:creationId xmlns:a16="http://schemas.microsoft.com/office/drawing/2014/main" id="{CC043E8B-AD5E-48C1-8DD8-79B91D7B56C5}"/>
              </a:ext>
            </a:extLst>
          </p:cNvPr>
          <p:cNvSpPr>
            <a:spLocks noGrp="1"/>
          </p:cNvSpPr>
          <p:nvPr/>
        </p:nvSpPr>
        <p:spPr>
          <a:xfrm>
            <a:off x="1409700" y="19050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On a Mission, Season 4, Episode 8, 25 August 2022.</a:t>
            </a:r>
          </a:p>
        </p:txBody>
      </p:sp>
      <p:sp>
        <p:nvSpPr>
          <p:cNvPr id="9" name="ref-link-1">
            <a:extLst>
              <a:ext uri="{FF2B5EF4-FFF2-40B4-BE49-F238E27FC236}">
                <a16:creationId xmlns:a16="http://schemas.microsoft.com/office/drawing/2014/main" id="{DBA88E06-4A82-482F-808D-0F006547F038}"/>
              </a:ext>
            </a:extLst>
          </p:cNvPr>
          <p:cNvSpPr>
            <a:spLocks noGrp="1"/>
          </p:cNvSpPr>
          <p:nvPr/>
        </p:nvSpPr>
        <p:spPr>
          <a:xfrm>
            <a:off x="1409700" y="21240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4"/>
              </a:rPr>
              <a:t>jpl.nasa.gov, On a Mission, S4 E8</a:t>
            </a:r>
          </a:p>
        </p:txBody>
      </p:sp>
      <p:sp>
        <p:nvSpPr>
          <p:cNvPr id="10" name="ref-number-2">
            <a:extLst>
              <a:ext uri="{FF2B5EF4-FFF2-40B4-BE49-F238E27FC236}">
                <a16:creationId xmlns:a16="http://schemas.microsoft.com/office/drawing/2014/main" id="{7AE40D0D-FE0E-4992-B3AA-C1ACD1972A19}"/>
              </a:ext>
            </a:extLst>
          </p:cNvPr>
          <p:cNvSpPr>
            <a:spLocks noGrp="1"/>
          </p:cNvSpPr>
          <p:nvPr/>
        </p:nvSpPr>
        <p:spPr>
          <a:xfrm>
            <a:off x="762000" y="23717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[2]</a:t>
            </a:r>
          </a:p>
        </p:txBody>
      </p:sp>
      <p:sp>
        <p:nvSpPr>
          <p:cNvPr id="11" name="ref-title-2">
            <a:extLst>
              <a:ext uri="{FF2B5EF4-FFF2-40B4-BE49-F238E27FC236}">
                <a16:creationId xmlns:a16="http://schemas.microsoft.com/office/drawing/2014/main" id="{E81E84D1-80F8-49EE-8CB6-DC2E0326EA2C}"/>
              </a:ext>
            </a:extLst>
          </p:cNvPr>
          <p:cNvSpPr>
            <a:spLocks noGrp="1"/>
          </p:cNvSpPr>
          <p:nvPr/>
        </p:nvSpPr>
        <p:spPr>
          <a:xfrm>
            <a:off x="1409700" y="23717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A. Rankin et al. Assessing Mars Curiosity Rover Wheel Damage.</a:t>
            </a:r>
          </a:p>
        </p:txBody>
      </p:sp>
      <p:sp>
        <p:nvSpPr>
          <p:cNvPr id="12" name="ref-venue-2">
            <a:extLst>
              <a:ext uri="{FF2B5EF4-FFF2-40B4-BE49-F238E27FC236}">
                <a16:creationId xmlns:a16="http://schemas.microsoft.com/office/drawing/2014/main" id="{686D38A4-BE7B-4A17-A88B-7275146871D2}"/>
              </a:ext>
            </a:extLst>
          </p:cNvPr>
          <p:cNvSpPr>
            <a:spLocks noGrp="1"/>
          </p:cNvSpPr>
          <p:nvPr/>
        </p:nvSpPr>
        <p:spPr>
          <a:xfrm>
            <a:off x="1409700" y="287655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IEEE Aerospace Conference, 2022, pp. 1–19.</a:t>
            </a:r>
          </a:p>
        </p:txBody>
      </p:sp>
      <p:sp>
        <p:nvSpPr>
          <p:cNvPr id="13" name="ref-link-2">
            <a:extLst>
              <a:ext uri="{FF2B5EF4-FFF2-40B4-BE49-F238E27FC236}">
                <a16:creationId xmlns:a16="http://schemas.microsoft.com/office/drawing/2014/main" id="{282A4439-06B9-40A8-968A-F8900ED333AB}"/>
              </a:ext>
            </a:extLst>
          </p:cNvPr>
          <p:cNvSpPr>
            <a:spLocks noGrp="1"/>
          </p:cNvSpPr>
          <p:nvPr/>
        </p:nvSpPr>
        <p:spPr>
          <a:xfrm>
            <a:off x="1409700" y="309562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5"/>
              </a:rPr>
              <a:t>robotics.jpl.nasa.gov, fmwi-rankin-2022-0225-final.pdf</a:t>
            </a:r>
          </a:p>
        </p:txBody>
      </p:sp>
      <p:sp>
        <p:nvSpPr>
          <p:cNvPr id="14" name="ref-number-3">
            <a:extLst>
              <a:ext uri="{FF2B5EF4-FFF2-40B4-BE49-F238E27FC236}">
                <a16:creationId xmlns:a16="http://schemas.microsoft.com/office/drawing/2014/main" id="{A5634518-74AB-49FF-9936-187C644C52A3}"/>
              </a:ext>
            </a:extLst>
          </p:cNvPr>
          <p:cNvSpPr>
            <a:spLocks noGrp="1"/>
          </p:cNvSpPr>
          <p:nvPr/>
        </p:nvSpPr>
        <p:spPr>
          <a:xfrm>
            <a:off x="762000" y="33432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[3]</a:t>
            </a:r>
          </a:p>
        </p:txBody>
      </p:sp>
      <p:sp>
        <p:nvSpPr>
          <p:cNvPr id="15" name="ref-title-3">
            <a:extLst>
              <a:ext uri="{FF2B5EF4-FFF2-40B4-BE49-F238E27FC236}">
                <a16:creationId xmlns:a16="http://schemas.microsoft.com/office/drawing/2014/main" id="{4E208C6C-AE42-4309-9CD9-5CED77726241}"/>
              </a:ext>
            </a:extLst>
          </p:cNvPr>
          <p:cNvSpPr>
            <a:spLocks noGrp="1"/>
          </p:cNvSpPr>
          <p:nvPr/>
        </p:nvSpPr>
        <p:spPr>
          <a:xfrm>
            <a:off x="1409700" y="33432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NASA. Routine Inspection of Rover Wheel Wear and Tear.</a:t>
            </a:r>
          </a:p>
        </p:txBody>
      </p:sp>
      <p:sp>
        <p:nvSpPr>
          <p:cNvPr id="16" name="ref-venue-3">
            <a:extLst>
              <a:ext uri="{FF2B5EF4-FFF2-40B4-BE49-F238E27FC236}">
                <a16:creationId xmlns:a16="http://schemas.microsoft.com/office/drawing/2014/main" id="{99D95DB6-126C-4178-A678-48835E247A51}"/>
              </a:ext>
            </a:extLst>
          </p:cNvPr>
          <p:cNvSpPr>
            <a:spLocks noGrp="1"/>
          </p:cNvSpPr>
          <p:nvPr/>
        </p:nvSpPr>
        <p:spPr>
          <a:xfrm>
            <a:off x="1409700" y="38481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NASA Science, 27 April 2016. Image PIA20334.</a:t>
            </a:r>
          </a:p>
        </p:txBody>
      </p:sp>
      <p:sp>
        <p:nvSpPr>
          <p:cNvPr id="17" name="ref-link-3">
            <a:extLst>
              <a:ext uri="{FF2B5EF4-FFF2-40B4-BE49-F238E27FC236}">
                <a16:creationId xmlns:a16="http://schemas.microsoft.com/office/drawing/2014/main" id="{834454C8-9BDD-4A65-8442-2713179F0C5B}"/>
              </a:ext>
            </a:extLst>
          </p:cNvPr>
          <p:cNvSpPr>
            <a:spLocks noGrp="1"/>
          </p:cNvSpPr>
          <p:nvPr/>
        </p:nvSpPr>
        <p:spPr>
          <a:xfrm>
            <a:off x="1409700" y="40671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6"/>
              </a:rPr>
              <a:t>science.nasa.gov/resource/routine-inspection-of-rover-wheel-wear-and-tear/</a:t>
            </a:r>
          </a:p>
        </p:txBody>
      </p:sp>
      <p:sp>
        <p:nvSpPr>
          <p:cNvPr id="18" name="ref-number-4">
            <a:extLst>
              <a:ext uri="{FF2B5EF4-FFF2-40B4-BE49-F238E27FC236}">
                <a16:creationId xmlns:a16="http://schemas.microsoft.com/office/drawing/2014/main" id="{DA850A2A-FEF1-47A2-8531-5834BB2AD43C}"/>
              </a:ext>
            </a:extLst>
          </p:cNvPr>
          <p:cNvSpPr>
            <a:spLocks noGrp="1"/>
          </p:cNvSpPr>
          <p:nvPr/>
        </p:nvSpPr>
        <p:spPr>
          <a:xfrm>
            <a:off x="762000" y="43148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[4]</a:t>
            </a:r>
          </a:p>
        </p:txBody>
      </p:sp>
      <p:sp>
        <p:nvSpPr>
          <p:cNvPr id="19" name="ref-title-4">
            <a:extLst>
              <a:ext uri="{FF2B5EF4-FFF2-40B4-BE49-F238E27FC236}">
                <a16:creationId xmlns:a16="http://schemas.microsoft.com/office/drawing/2014/main" id="{415436C0-7185-471F-9D4D-51BC17729805}"/>
              </a:ext>
            </a:extLst>
          </p:cNvPr>
          <p:cNvSpPr>
            <a:spLocks noGrp="1"/>
          </p:cNvSpPr>
          <p:nvPr/>
        </p:nvSpPr>
        <p:spPr>
          <a:xfrm>
            <a:off x="1409700" y="43148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J. Zhang et al. S⁵Mars: Semi-Supervised Learning for Mars Semantic Segmentation.</a:t>
            </a:r>
          </a:p>
        </p:txBody>
      </p:sp>
      <p:sp>
        <p:nvSpPr>
          <p:cNvPr id="20" name="ref-venue-4">
            <a:extLst>
              <a:ext uri="{FF2B5EF4-FFF2-40B4-BE49-F238E27FC236}">
                <a16:creationId xmlns:a16="http://schemas.microsoft.com/office/drawing/2014/main" id="{D09B64F6-A6E8-4736-A26D-D0A19A6DDBA4}"/>
              </a:ext>
            </a:extLst>
          </p:cNvPr>
          <p:cNvSpPr>
            <a:spLocks noGrp="1"/>
          </p:cNvSpPr>
          <p:nvPr/>
        </p:nvSpPr>
        <p:spPr>
          <a:xfrm>
            <a:off x="1409700" y="481965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IEEE Transactions on Geoscience and Remote Sensing, vol. 62, 2024.</a:t>
            </a:r>
          </a:p>
        </p:txBody>
      </p:sp>
      <p:sp>
        <p:nvSpPr>
          <p:cNvPr id="21" name="ref-link-4">
            <a:extLst>
              <a:ext uri="{FF2B5EF4-FFF2-40B4-BE49-F238E27FC236}">
                <a16:creationId xmlns:a16="http://schemas.microsoft.com/office/drawing/2014/main" id="{3579F614-D2C4-47E1-B158-FE21C14CBCFB}"/>
              </a:ext>
            </a:extLst>
          </p:cNvPr>
          <p:cNvSpPr>
            <a:spLocks noGrp="1"/>
          </p:cNvSpPr>
          <p:nvPr/>
        </p:nvSpPr>
        <p:spPr>
          <a:xfrm>
            <a:off x="1409700" y="503872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7"/>
              </a:rPr>
              <a:t>doi: 10.1109/TGRS.2024.3386756</a:t>
            </a:r>
          </a:p>
        </p:txBody>
      </p:sp>
      <p:sp>
        <p:nvSpPr>
          <p:cNvPr id="22" name="ref-number-5">
            <a:extLst>
              <a:ext uri="{FF2B5EF4-FFF2-40B4-BE49-F238E27FC236}">
                <a16:creationId xmlns:a16="http://schemas.microsoft.com/office/drawing/2014/main" id="{60A2E0A6-A74E-4B77-8282-C7357FFE31F2}"/>
              </a:ext>
            </a:extLst>
          </p:cNvPr>
          <p:cNvSpPr>
            <a:spLocks noGrp="1"/>
          </p:cNvSpPr>
          <p:nvPr/>
        </p:nvSpPr>
        <p:spPr>
          <a:xfrm>
            <a:off x="762000" y="52863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[5]</a:t>
            </a:r>
          </a:p>
        </p:txBody>
      </p:sp>
      <p:sp>
        <p:nvSpPr>
          <p:cNvPr id="23" name="ref-title-5">
            <a:extLst>
              <a:ext uri="{FF2B5EF4-FFF2-40B4-BE49-F238E27FC236}">
                <a16:creationId xmlns:a16="http://schemas.microsoft.com/office/drawing/2014/main" id="{0E513D37-E6F9-4113-A370-76D30F0F1F99}"/>
              </a:ext>
            </a:extLst>
          </p:cNvPr>
          <p:cNvSpPr>
            <a:spLocks noGrp="1"/>
          </p:cNvSpPr>
          <p:nvPr/>
        </p:nvSpPr>
        <p:spPr>
          <a:xfrm>
            <a:off x="1409700" y="52863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M. Purohit et al. Mars-Bench: A Benchmark for Evaluating Foundation Models for Mars Science Tasks.</a:t>
            </a:r>
          </a:p>
        </p:txBody>
      </p:sp>
      <p:sp>
        <p:nvSpPr>
          <p:cNvPr id="24" name="ref-venue-5">
            <a:extLst>
              <a:ext uri="{FF2B5EF4-FFF2-40B4-BE49-F238E27FC236}">
                <a16:creationId xmlns:a16="http://schemas.microsoft.com/office/drawing/2014/main" id="{59E0F988-1348-4E86-B77F-8EBB0346593C}"/>
              </a:ext>
            </a:extLst>
          </p:cNvPr>
          <p:cNvSpPr>
            <a:spLocks noGrp="1"/>
          </p:cNvSpPr>
          <p:nvPr/>
        </p:nvSpPr>
        <p:spPr>
          <a:xfrm>
            <a:off x="1409700" y="57912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NeurIPS, Datasets and Benchmarks Track, 2025.</a:t>
            </a:r>
          </a:p>
        </p:txBody>
      </p:sp>
      <p:sp>
        <p:nvSpPr>
          <p:cNvPr id="25" name="ref-link-5">
            <a:extLst>
              <a:ext uri="{FF2B5EF4-FFF2-40B4-BE49-F238E27FC236}">
                <a16:creationId xmlns:a16="http://schemas.microsoft.com/office/drawing/2014/main" id="{F7E8D906-8AA7-4BF5-AD63-CB12700A0FA5}"/>
              </a:ext>
            </a:extLst>
          </p:cNvPr>
          <p:cNvSpPr>
            <a:spLocks noGrp="1"/>
          </p:cNvSpPr>
          <p:nvPr/>
        </p:nvSpPr>
        <p:spPr>
          <a:xfrm>
            <a:off x="1409700" y="60102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8"/>
              </a:rPr>
              <a:t>doi: 10.52202/085713-4098</a:t>
            </a:r>
          </a:p>
        </p:txBody>
      </p:sp>
    </p:spTree>
    <p:extLst>
      <p:ext uri="{BB962C8B-B14F-4D97-AF65-F5344CB8AC3E}">
        <p14:creationId xmlns:p14="http://schemas.microsoft.com/office/powerpoint/2010/main" val="222343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6" name="slide-title">
            <a:extLst>
              <a:ext uri="{FF2B5EF4-FFF2-40B4-BE49-F238E27FC236}">
                <a16:creationId xmlns:a16="http://schemas.microsoft.com/office/drawing/2014/main" id="{623F404C-552E-4F08-B5A2-E4D539A7884F}"/>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References 2 / 4</a:t>
            </a:r>
          </a:p>
        </p:txBody>
      </p:sp>
      <p:pic>
        <p:nvPicPr>
          <p:cNvPr id="2" name="Immagine 1">
            <a:extLst>
              <a:ext uri="{FF2B5EF4-FFF2-40B4-BE49-F238E27FC236}">
                <a16:creationId xmlns:a16="http://schemas.microsoft.com/office/drawing/2014/main" id="{0A0E8163-D43F-45A8-BE3C-441C0BB9044D}"/>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91A484D9-D0BC-4E77-A288-79FE7BD85E0E}"/>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D448B161-8450-416D-BAA3-74E2E24E22D4}"/>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CF10B24B-8E9C-4C36-83A0-59B05143C96A}"/>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 33</a:t>
            </a:r>
          </a:p>
        </p:txBody>
      </p:sp>
      <p:sp>
        <p:nvSpPr>
          <p:cNvPr id="6" name="ref-number-6">
            <a:extLst>
              <a:ext uri="{FF2B5EF4-FFF2-40B4-BE49-F238E27FC236}">
                <a16:creationId xmlns:a16="http://schemas.microsoft.com/office/drawing/2014/main" id="{9862A4BC-CCA4-438E-B65D-3D7569341BC3}"/>
              </a:ext>
            </a:extLst>
          </p:cNvPr>
          <p:cNvSpPr>
            <a:spLocks noGrp="1"/>
          </p:cNvSpPr>
          <p:nvPr/>
        </p:nvSpPr>
        <p:spPr>
          <a:xfrm>
            <a:off x="762000" y="14001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[6]</a:t>
            </a:r>
          </a:p>
        </p:txBody>
      </p:sp>
      <p:sp>
        <p:nvSpPr>
          <p:cNvPr id="7" name="ref-title-6">
            <a:extLst>
              <a:ext uri="{FF2B5EF4-FFF2-40B4-BE49-F238E27FC236}">
                <a16:creationId xmlns:a16="http://schemas.microsoft.com/office/drawing/2014/main" id="{4AE7188B-B241-476C-B3C4-1753B4F6651F}"/>
              </a:ext>
            </a:extLst>
          </p:cNvPr>
          <p:cNvSpPr>
            <a:spLocks noGrp="1"/>
          </p:cNvSpPr>
          <p:nvPr/>
        </p:nvSpPr>
        <p:spPr>
          <a:xfrm>
            <a:off x="1409700" y="14001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O. Ronneberger, P. Fischer and T. Brox. U-Net: Convolutional Networks for Biomedical Image Segmentation.</a:t>
            </a:r>
          </a:p>
        </p:txBody>
      </p:sp>
      <p:sp>
        <p:nvSpPr>
          <p:cNvPr id="8" name="ref-venue-6">
            <a:extLst>
              <a:ext uri="{FF2B5EF4-FFF2-40B4-BE49-F238E27FC236}">
                <a16:creationId xmlns:a16="http://schemas.microsoft.com/office/drawing/2014/main" id="{40FF6ECD-ECC8-44CD-B393-F129FE42F196}"/>
              </a:ext>
            </a:extLst>
          </p:cNvPr>
          <p:cNvSpPr>
            <a:spLocks noGrp="1"/>
          </p:cNvSpPr>
          <p:nvPr/>
        </p:nvSpPr>
        <p:spPr>
          <a:xfrm>
            <a:off x="1409700" y="19050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MICCAI, 2015, pp. 234–241.</a:t>
            </a:r>
          </a:p>
        </p:txBody>
      </p:sp>
      <p:sp>
        <p:nvSpPr>
          <p:cNvPr id="9" name="ref-link-6">
            <a:extLst>
              <a:ext uri="{FF2B5EF4-FFF2-40B4-BE49-F238E27FC236}">
                <a16:creationId xmlns:a16="http://schemas.microsoft.com/office/drawing/2014/main" id="{32969616-160F-45F1-98F9-9A77F17E859A}"/>
              </a:ext>
            </a:extLst>
          </p:cNvPr>
          <p:cNvSpPr>
            <a:spLocks noGrp="1"/>
          </p:cNvSpPr>
          <p:nvPr/>
        </p:nvSpPr>
        <p:spPr>
          <a:xfrm>
            <a:off x="1409700" y="21240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4"/>
              </a:rPr>
              <a:t>doi: 10.1007/978-3-319-24574-4_28</a:t>
            </a:r>
          </a:p>
        </p:txBody>
      </p:sp>
      <p:sp>
        <p:nvSpPr>
          <p:cNvPr id="10" name="ref-number-7">
            <a:extLst>
              <a:ext uri="{FF2B5EF4-FFF2-40B4-BE49-F238E27FC236}">
                <a16:creationId xmlns:a16="http://schemas.microsoft.com/office/drawing/2014/main" id="{AEFFE872-AA7D-47F1-BDFC-7067D8BB844C}"/>
              </a:ext>
            </a:extLst>
          </p:cNvPr>
          <p:cNvSpPr>
            <a:spLocks noGrp="1"/>
          </p:cNvSpPr>
          <p:nvPr/>
        </p:nvSpPr>
        <p:spPr>
          <a:xfrm>
            <a:off x="762000" y="23717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[7]</a:t>
            </a:r>
          </a:p>
        </p:txBody>
      </p:sp>
      <p:sp>
        <p:nvSpPr>
          <p:cNvPr id="11" name="ref-title-7">
            <a:extLst>
              <a:ext uri="{FF2B5EF4-FFF2-40B4-BE49-F238E27FC236}">
                <a16:creationId xmlns:a16="http://schemas.microsoft.com/office/drawing/2014/main" id="{8D79A3C9-E0BA-4A59-8A13-6819375C935A}"/>
              </a:ext>
            </a:extLst>
          </p:cNvPr>
          <p:cNvSpPr>
            <a:spLocks noGrp="1"/>
          </p:cNvSpPr>
          <p:nvPr/>
        </p:nvSpPr>
        <p:spPr>
          <a:xfrm>
            <a:off x="1409700" y="23717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L.-C. Chen et al. Rethinking Atrous Convolution for Semantic Image Segmentation.</a:t>
            </a:r>
          </a:p>
        </p:txBody>
      </p:sp>
      <p:sp>
        <p:nvSpPr>
          <p:cNvPr id="12" name="ref-venue-7">
            <a:extLst>
              <a:ext uri="{FF2B5EF4-FFF2-40B4-BE49-F238E27FC236}">
                <a16:creationId xmlns:a16="http://schemas.microsoft.com/office/drawing/2014/main" id="{17E525EC-A586-447D-B8D5-BBCC37B94E27}"/>
              </a:ext>
            </a:extLst>
          </p:cNvPr>
          <p:cNvSpPr>
            <a:spLocks noGrp="1"/>
          </p:cNvSpPr>
          <p:nvPr/>
        </p:nvSpPr>
        <p:spPr>
          <a:xfrm>
            <a:off x="1409700" y="287655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arXiv:1706.05587, 2017.</a:t>
            </a:r>
          </a:p>
        </p:txBody>
      </p:sp>
      <p:sp>
        <p:nvSpPr>
          <p:cNvPr id="13" name="ref-link-7">
            <a:extLst>
              <a:ext uri="{FF2B5EF4-FFF2-40B4-BE49-F238E27FC236}">
                <a16:creationId xmlns:a16="http://schemas.microsoft.com/office/drawing/2014/main" id="{E321D85B-62C3-4AC8-B23E-1E8D4119D949}"/>
              </a:ext>
            </a:extLst>
          </p:cNvPr>
          <p:cNvSpPr>
            <a:spLocks noGrp="1"/>
          </p:cNvSpPr>
          <p:nvPr/>
        </p:nvSpPr>
        <p:spPr>
          <a:xfrm>
            <a:off x="1409700" y="309562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5"/>
              </a:rPr>
              <a:t>arxiv.org/abs/1706.05587</a:t>
            </a:r>
          </a:p>
        </p:txBody>
      </p:sp>
      <p:sp>
        <p:nvSpPr>
          <p:cNvPr id="14" name="ref-number-8">
            <a:extLst>
              <a:ext uri="{FF2B5EF4-FFF2-40B4-BE49-F238E27FC236}">
                <a16:creationId xmlns:a16="http://schemas.microsoft.com/office/drawing/2014/main" id="{48AD0C46-79FF-466D-BC75-F025F6AC74F2}"/>
              </a:ext>
            </a:extLst>
          </p:cNvPr>
          <p:cNvSpPr>
            <a:spLocks noGrp="1"/>
          </p:cNvSpPr>
          <p:nvPr/>
        </p:nvSpPr>
        <p:spPr>
          <a:xfrm>
            <a:off x="762000" y="33432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[8]</a:t>
            </a:r>
          </a:p>
        </p:txBody>
      </p:sp>
      <p:sp>
        <p:nvSpPr>
          <p:cNvPr id="15" name="ref-title-8">
            <a:extLst>
              <a:ext uri="{FF2B5EF4-FFF2-40B4-BE49-F238E27FC236}">
                <a16:creationId xmlns:a16="http://schemas.microsoft.com/office/drawing/2014/main" id="{BA68EBC5-42AA-4A7D-B3B9-64830782D144}"/>
              </a:ext>
            </a:extLst>
          </p:cNvPr>
          <p:cNvSpPr>
            <a:spLocks noGrp="1"/>
          </p:cNvSpPr>
          <p:nvPr/>
        </p:nvSpPr>
        <p:spPr>
          <a:xfrm>
            <a:off x="1409700" y="33432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L.-C. Chen et al. Encoder-Decoder with Atrous Separable Convolution for Semantic Image Segmentation.</a:t>
            </a:r>
          </a:p>
        </p:txBody>
      </p:sp>
      <p:sp>
        <p:nvSpPr>
          <p:cNvPr id="16" name="ref-venue-8">
            <a:extLst>
              <a:ext uri="{FF2B5EF4-FFF2-40B4-BE49-F238E27FC236}">
                <a16:creationId xmlns:a16="http://schemas.microsoft.com/office/drawing/2014/main" id="{934FE5EB-377E-4B97-8D1A-3D5716AC7C3D}"/>
              </a:ext>
            </a:extLst>
          </p:cNvPr>
          <p:cNvSpPr>
            <a:spLocks noGrp="1"/>
          </p:cNvSpPr>
          <p:nvPr/>
        </p:nvSpPr>
        <p:spPr>
          <a:xfrm>
            <a:off x="1409700" y="38481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ECCV, 2018, pp. 833–851.</a:t>
            </a:r>
          </a:p>
        </p:txBody>
      </p:sp>
      <p:sp>
        <p:nvSpPr>
          <p:cNvPr id="17" name="ref-link-8">
            <a:extLst>
              <a:ext uri="{FF2B5EF4-FFF2-40B4-BE49-F238E27FC236}">
                <a16:creationId xmlns:a16="http://schemas.microsoft.com/office/drawing/2014/main" id="{A4CFE52F-1E3C-4ECF-9BAE-9F42C41B82C8}"/>
              </a:ext>
            </a:extLst>
          </p:cNvPr>
          <p:cNvSpPr>
            <a:spLocks noGrp="1"/>
          </p:cNvSpPr>
          <p:nvPr/>
        </p:nvSpPr>
        <p:spPr>
          <a:xfrm>
            <a:off x="1409700" y="40671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6"/>
              </a:rPr>
              <a:t>doi: 10.1007/978-3-030-01234-2_49</a:t>
            </a:r>
          </a:p>
        </p:txBody>
      </p:sp>
      <p:sp>
        <p:nvSpPr>
          <p:cNvPr id="18" name="ref-number-9">
            <a:extLst>
              <a:ext uri="{FF2B5EF4-FFF2-40B4-BE49-F238E27FC236}">
                <a16:creationId xmlns:a16="http://schemas.microsoft.com/office/drawing/2014/main" id="{C73234C6-6904-4026-B39D-CAB9E0CD2265}"/>
              </a:ext>
            </a:extLst>
          </p:cNvPr>
          <p:cNvSpPr>
            <a:spLocks noGrp="1"/>
          </p:cNvSpPr>
          <p:nvPr/>
        </p:nvSpPr>
        <p:spPr>
          <a:xfrm>
            <a:off x="762000" y="43148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[9]</a:t>
            </a:r>
          </a:p>
        </p:txBody>
      </p:sp>
      <p:sp>
        <p:nvSpPr>
          <p:cNvPr id="19" name="ref-title-9">
            <a:extLst>
              <a:ext uri="{FF2B5EF4-FFF2-40B4-BE49-F238E27FC236}">
                <a16:creationId xmlns:a16="http://schemas.microsoft.com/office/drawing/2014/main" id="{336A790E-3AED-4E0C-B3C3-F78A028B2935}"/>
              </a:ext>
            </a:extLst>
          </p:cNvPr>
          <p:cNvSpPr>
            <a:spLocks noGrp="1"/>
          </p:cNvSpPr>
          <p:nvPr/>
        </p:nvSpPr>
        <p:spPr>
          <a:xfrm>
            <a:off x="1409700" y="43148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E. Xie et al. SegFormer: Simple and Efficient Design for Semantic Segmentation with Transformers.</a:t>
            </a:r>
          </a:p>
        </p:txBody>
      </p:sp>
      <p:sp>
        <p:nvSpPr>
          <p:cNvPr id="20" name="ref-venue-9">
            <a:extLst>
              <a:ext uri="{FF2B5EF4-FFF2-40B4-BE49-F238E27FC236}">
                <a16:creationId xmlns:a16="http://schemas.microsoft.com/office/drawing/2014/main" id="{2C6BDDCA-AAC4-4D9F-9314-496FC30A9BCE}"/>
              </a:ext>
            </a:extLst>
          </p:cNvPr>
          <p:cNvSpPr>
            <a:spLocks noGrp="1"/>
          </p:cNvSpPr>
          <p:nvPr/>
        </p:nvSpPr>
        <p:spPr>
          <a:xfrm>
            <a:off x="1409700" y="481965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NeurIPS, vol. 34, 2021, pp. 12077–12090.</a:t>
            </a:r>
          </a:p>
        </p:txBody>
      </p:sp>
      <p:sp>
        <p:nvSpPr>
          <p:cNvPr id="21" name="ref-link-9">
            <a:extLst>
              <a:ext uri="{FF2B5EF4-FFF2-40B4-BE49-F238E27FC236}">
                <a16:creationId xmlns:a16="http://schemas.microsoft.com/office/drawing/2014/main" id="{183625F0-D476-478D-BA30-2A05D3527359}"/>
              </a:ext>
            </a:extLst>
          </p:cNvPr>
          <p:cNvSpPr>
            <a:spLocks noGrp="1"/>
          </p:cNvSpPr>
          <p:nvPr/>
        </p:nvSpPr>
        <p:spPr>
          <a:xfrm>
            <a:off x="1409700" y="503872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7"/>
              </a:rPr>
              <a:t>arxiv.org/abs/2105.15203</a:t>
            </a:r>
          </a:p>
        </p:txBody>
      </p:sp>
      <p:sp>
        <p:nvSpPr>
          <p:cNvPr id="22" name="ref-number-10">
            <a:extLst>
              <a:ext uri="{FF2B5EF4-FFF2-40B4-BE49-F238E27FC236}">
                <a16:creationId xmlns:a16="http://schemas.microsoft.com/office/drawing/2014/main" id="{62682436-4A8D-4E67-A406-B8A85C7CE160}"/>
              </a:ext>
            </a:extLst>
          </p:cNvPr>
          <p:cNvSpPr>
            <a:spLocks noGrp="1"/>
          </p:cNvSpPr>
          <p:nvPr/>
        </p:nvSpPr>
        <p:spPr>
          <a:xfrm>
            <a:off x="762000" y="52863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[10]</a:t>
            </a:r>
          </a:p>
        </p:txBody>
      </p:sp>
      <p:sp>
        <p:nvSpPr>
          <p:cNvPr id="23" name="ref-title-10">
            <a:extLst>
              <a:ext uri="{FF2B5EF4-FFF2-40B4-BE49-F238E27FC236}">
                <a16:creationId xmlns:a16="http://schemas.microsoft.com/office/drawing/2014/main" id="{8179D07F-DB81-4871-AEC2-053BD3F5C19B}"/>
              </a:ext>
            </a:extLst>
          </p:cNvPr>
          <p:cNvSpPr>
            <a:spLocks noGrp="1"/>
          </p:cNvSpPr>
          <p:nvPr/>
        </p:nvSpPr>
        <p:spPr>
          <a:xfrm>
            <a:off x="1409700" y="52863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M. Shi et al. Lightweight Context-Aware Network Using Partial-Channel Transformation for Real-Time Semantic Segmentation.</a:t>
            </a:r>
          </a:p>
        </p:txBody>
      </p:sp>
      <p:sp>
        <p:nvSpPr>
          <p:cNvPr id="24" name="ref-venue-10">
            <a:extLst>
              <a:ext uri="{FF2B5EF4-FFF2-40B4-BE49-F238E27FC236}">
                <a16:creationId xmlns:a16="http://schemas.microsoft.com/office/drawing/2014/main" id="{FC3CB804-1328-458C-84CE-F0A3A2369B38}"/>
              </a:ext>
            </a:extLst>
          </p:cNvPr>
          <p:cNvSpPr>
            <a:spLocks noGrp="1"/>
          </p:cNvSpPr>
          <p:nvPr/>
        </p:nvSpPr>
        <p:spPr>
          <a:xfrm>
            <a:off x="1409700" y="57912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IEEE Transactions on Intelligent Transportation Systems, 25(7), 2024.</a:t>
            </a:r>
          </a:p>
        </p:txBody>
      </p:sp>
      <p:sp>
        <p:nvSpPr>
          <p:cNvPr id="25" name="ref-link-10">
            <a:extLst>
              <a:ext uri="{FF2B5EF4-FFF2-40B4-BE49-F238E27FC236}">
                <a16:creationId xmlns:a16="http://schemas.microsoft.com/office/drawing/2014/main" id="{59839CF2-BCA4-4BAA-B7E0-21C03DEB8547}"/>
              </a:ext>
            </a:extLst>
          </p:cNvPr>
          <p:cNvSpPr>
            <a:spLocks noGrp="1"/>
          </p:cNvSpPr>
          <p:nvPr/>
        </p:nvSpPr>
        <p:spPr>
          <a:xfrm>
            <a:off x="1409700" y="60102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8"/>
              </a:rPr>
              <a:t>doi: 10.1109/TITS.2023.3348631</a:t>
            </a:r>
          </a:p>
        </p:txBody>
      </p:sp>
    </p:spTree>
    <p:extLst>
      <p:ext uri="{BB962C8B-B14F-4D97-AF65-F5344CB8AC3E}">
        <p14:creationId xmlns:p14="http://schemas.microsoft.com/office/powerpoint/2010/main" val="222343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6" name="slide-title">
            <a:extLst>
              <a:ext uri="{FF2B5EF4-FFF2-40B4-BE49-F238E27FC236}">
                <a16:creationId xmlns:a16="http://schemas.microsoft.com/office/drawing/2014/main" id="{0110AFF8-63C2-47EB-B8FA-FB1391979333}"/>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References 3 / 4</a:t>
            </a:r>
          </a:p>
        </p:txBody>
      </p:sp>
      <p:pic>
        <p:nvPicPr>
          <p:cNvPr id="2" name="Immagine 1">
            <a:extLst>
              <a:ext uri="{FF2B5EF4-FFF2-40B4-BE49-F238E27FC236}">
                <a16:creationId xmlns:a16="http://schemas.microsoft.com/office/drawing/2014/main" id="{A681F344-93CC-4491-97D1-A396DA417034}"/>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38A49F7D-9217-49DF-889A-C9D55541A62E}"/>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0126836E-3FB8-42BE-BC9B-9BEE85FB2181}"/>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80CF6C7B-BFC0-4080-9042-075745037108}"/>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28 / 33</a:t>
            </a:r>
          </a:p>
        </p:txBody>
      </p:sp>
      <p:sp>
        <p:nvSpPr>
          <p:cNvPr id="6" name="ref-number-11">
            <a:extLst>
              <a:ext uri="{FF2B5EF4-FFF2-40B4-BE49-F238E27FC236}">
                <a16:creationId xmlns:a16="http://schemas.microsoft.com/office/drawing/2014/main" id="{964855E2-2537-43DC-A259-92EB17D6016B}"/>
              </a:ext>
            </a:extLst>
          </p:cNvPr>
          <p:cNvSpPr>
            <a:spLocks noGrp="1"/>
          </p:cNvSpPr>
          <p:nvPr/>
        </p:nvSpPr>
        <p:spPr>
          <a:xfrm>
            <a:off x="762000" y="14001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[11]</a:t>
            </a:r>
          </a:p>
        </p:txBody>
      </p:sp>
      <p:sp>
        <p:nvSpPr>
          <p:cNvPr id="7" name="ref-title-11">
            <a:extLst>
              <a:ext uri="{FF2B5EF4-FFF2-40B4-BE49-F238E27FC236}">
                <a16:creationId xmlns:a16="http://schemas.microsoft.com/office/drawing/2014/main" id="{D150E50C-19CB-4240-8180-7E4B09DF602F}"/>
              </a:ext>
            </a:extLst>
          </p:cNvPr>
          <p:cNvSpPr>
            <a:spLocks noGrp="1"/>
          </p:cNvSpPr>
          <p:nvPr/>
        </p:nvSpPr>
        <p:spPr>
          <a:xfrm>
            <a:off x="1409700" y="14001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B. Jacob et al. Quantization and Training of Neural Networks for Efficient Integer-Arithmetic-Only Inference.</a:t>
            </a:r>
          </a:p>
        </p:txBody>
      </p:sp>
      <p:sp>
        <p:nvSpPr>
          <p:cNvPr id="8" name="ref-venue-11">
            <a:extLst>
              <a:ext uri="{FF2B5EF4-FFF2-40B4-BE49-F238E27FC236}">
                <a16:creationId xmlns:a16="http://schemas.microsoft.com/office/drawing/2014/main" id="{B9E18792-FF70-4E50-B6A7-07C035DFAF42}"/>
              </a:ext>
            </a:extLst>
          </p:cNvPr>
          <p:cNvSpPr>
            <a:spLocks noGrp="1"/>
          </p:cNvSpPr>
          <p:nvPr/>
        </p:nvSpPr>
        <p:spPr>
          <a:xfrm>
            <a:off x="1409700" y="19050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CVPR, 2018, pp. 2704–2713.</a:t>
            </a:r>
          </a:p>
        </p:txBody>
      </p:sp>
      <p:sp>
        <p:nvSpPr>
          <p:cNvPr id="9" name="ref-link-11">
            <a:extLst>
              <a:ext uri="{FF2B5EF4-FFF2-40B4-BE49-F238E27FC236}">
                <a16:creationId xmlns:a16="http://schemas.microsoft.com/office/drawing/2014/main" id="{3703AAD5-AD96-4543-93A1-9172B5AC765B}"/>
              </a:ext>
            </a:extLst>
          </p:cNvPr>
          <p:cNvSpPr>
            <a:spLocks noGrp="1"/>
          </p:cNvSpPr>
          <p:nvPr/>
        </p:nvSpPr>
        <p:spPr>
          <a:xfrm>
            <a:off x="1409700" y="21240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4"/>
              </a:rPr>
              <a:t>arxiv.org/abs/1712.05877</a:t>
            </a:r>
          </a:p>
        </p:txBody>
      </p:sp>
      <p:sp>
        <p:nvSpPr>
          <p:cNvPr id="10" name="ref-number-12">
            <a:extLst>
              <a:ext uri="{FF2B5EF4-FFF2-40B4-BE49-F238E27FC236}">
                <a16:creationId xmlns:a16="http://schemas.microsoft.com/office/drawing/2014/main" id="{960F6BB3-0F52-4E9A-83C6-0DD3B8BB9918}"/>
              </a:ext>
            </a:extLst>
          </p:cNvPr>
          <p:cNvSpPr>
            <a:spLocks noGrp="1"/>
          </p:cNvSpPr>
          <p:nvPr/>
        </p:nvSpPr>
        <p:spPr>
          <a:xfrm>
            <a:off x="762000" y="23717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[12]</a:t>
            </a:r>
          </a:p>
        </p:txBody>
      </p:sp>
      <p:sp>
        <p:nvSpPr>
          <p:cNvPr id="11" name="ref-title-12">
            <a:extLst>
              <a:ext uri="{FF2B5EF4-FFF2-40B4-BE49-F238E27FC236}">
                <a16:creationId xmlns:a16="http://schemas.microsoft.com/office/drawing/2014/main" id="{BEEE1B32-1F3E-47D4-B84B-79EDB2B65764}"/>
              </a:ext>
            </a:extLst>
          </p:cNvPr>
          <p:cNvSpPr>
            <a:spLocks noGrp="1"/>
          </p:cNvSpPr>
          <p:nvPr/>
        </p:nvSpPr>
        <p:spPr>
          <a:xfrm>
            <a:off x="1409700" y="23717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NASA Visualization Technology Applications and Development. Curiosity 3D Model.</a:t>
            </a:r>
          </a:p>
        </p:txBody>
      </p:sp>
      <p:sp>
        <p:nvSpPr>
          <p:cNvPr id="12" name="ref-venue-12">
            <a:extLst>
              <a:ext uri="{FF2B5EF4-FFF2-40B4-BE49-F238E27FC236}">
                <a16:creationId xmlns:a16="http://schemas.microsoft.com/office/drawing/2014/main" id="{1996D00A-99C4-4443-95E8-89BA8BBA13CC}"/>
              </a:ext>
            </a:extLst>
          </p:cNvPr>
          <p:cNvSpPr>
            <a:spLocks noGrp="1"/>
          </p:cNvSpPr>
          <p:nvPr/>
        </p:nvSpPr>
        <p:spPr>
          <a:xfrm>
            <a:off x="1409700" y="287655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NASA Science, 22 April 2019.</a:t>
            </a:r>
          </a:p>
        </p:txBody>
      </p:sp>
      <p:sp>
        <p:nvSpPr>
          <p:cNvPr id="13" name="ref-link-12">
            <a:extLst>
              <a:ext uri="{FF2B5EF4-FFF2-40B4-BE49-F238E27FC236}">
                <a16:creationId xmlns:a16="http://schemas.microsoft.com/office/drawing/2014/main" id="{B78903F7-EB25-42CA-8842-86CB674BD024}"/>
              </a:ext>
            </a:extLst>
          </p:cNvPr>
          <p:cNvSpPr>
            <a:spLocks noGrp="1"/>
          </p:cNvSpPr>
          <p:nvPr/>
        </p:nvSpPr>
        <p:spPr>
          <a:xfrm>
            <a:off x="1409700" y="309562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5"/>
              </a:rPr>
              <a:t>science.nasa.gov/resource/curiosity-3d-model/</a:t>
            </a:r>
          </a:p>
        </p:txBody>
      </p:sp>
      <p:sp>
        <p:nvSpPr>
          <p:cNvPr id="14" name="ref-number-13">
            <a:extLst>
              <a:ext uri="{FF2B5EF4-FFF2-40B4-BE49-F238E27FC236}">
                <a16:creationId xmlns:a16="http://schemas.microsoft.com/office/drawing/2014/main" id="{0FFB8FDF-6D19-4021-9271-86E8005131EF}"/>
              </a:ext>
            </a:extLst>
          </p:cNvPr>
          <p:cNvSpPr>
            <a:spLocks noGrp="1"/>
          </p:cNvSpPr>
          <p:nvPr/>
        </p:nvSpPr>
        <p:spPr>
          <a:xfrm>
            <a:off x="762000" y="33432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[13]</a:t>
            </a:r>
          </a:p>
        </p:txBody>
      </p:sp>
      <p:sp>
        <p:nvSpPr>
          <p:cNvPr id="15" name="ref-title-13">
            <a:extLst>
              <a:ext uri="{FF2B5EF4-FFF2-40B4-BE49-F238E27FC236}">
                <a16:creationId xmlns:a16="http://schemas.microsoft.com/office/drawing/2014/main" id="{D0517746-696E-445D-B490-1A562DB7125E}"/>
              </a:ext>
            </a:extLst>
          </p:cNvPr>
          <p:cNvSpPr>
            <a:spLocks noGrp="1"/>
          </p:cNvSpPr>
          <p:nvPr/>
        </p:nvSpPr>
        <p:spPr>
          <a:xfrm>
            <a:off x="1409700" y="33432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HiRISE. Possible MSL Landing Site in Gale Crater.</a:t>
            </a:r>
          </a:p>
        </p:txBody>
      </p:sp>
      <p:sp>
        <p:nvSpPr>
          <p:cNvPr id="16" name="ref-venue-13">
            <a:extLst>
              <a:ext uri="{FF2B5EF4-FFF2-40B4-BE49-F238E27FC236}">
                <a16:creationId xmlns:a16="http://schemas.microsoft.com/office/drawing/2014/main" id="{5BD34063-9286-4DAD-807B-9455AF7EC4B2}"/>
              </a:ext>
            </a:extLst>
          </p:cNvPr>
          <p:cNvSpPr>
            <a:spLocks noGrp="1"/>
          </p:cNvSpPr>
          <p:nvPr/>
        </p:nvSpPr>
        <p:spPr>
          <a:xfrm>
            <a:off x="1409700" y="38481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DTM and orthoimage, PSP_010573_1755 and PSP_010639_1755.</a:t>
            </a:r>
          </a:p>
        </p:txBody>
      </p:sp>
      <p:sp>
        <p:nvSpPr>
          <p:cNvPr id="17" name="ref-link-13">
            <a:extLst>
              <a:ext uri="{FF2B5EF4-FFF2-40B4-BE49-F238E27FC236}">
                <a16:creationId xmlns:a16="http://schemas.microsoft.com/office/drawing/2014/main" id="{83364735-FB69-4BDF-B965-7E0416B35D0F}"/>
              </a:ext>
            </a:extLst>
          </p:cNvPr>
          <p:cNvSpPr>
            <a:spLocks noGrp="1"/>
          </p:cNvSpPr>
          <p:nvPr/>
        </p:nvSpPr>
        <p:spPr>
          <a:xfrm>
            <a:off x="1409700" y="40671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6"/>
              </a:rPr>
              <a:t>hirise.lpl.arizona.edu/dtm/dtm.php?ID=PSP_010573_1755</a:t>
            </a:r>
          </a:p>
        </p:txBody>
      </p:sp>
      <p:sp>
        <p:nvSpPr>
          <p:cNvPr id="18" name="ref-number-14">
            <a:extLst>
              <a:ext uri="{FF2B5EF4-FFF2-40B4-BE49-F238E27FC236}">
                <a16:creationId xmlns:a16="http://schemas.microsoft.com/office/drawing/2014/main" id="{1960C05A-D866-4986-9F67-55CBB898CADB}"/>
              </a:ext>
            </a:extLst>
          </p:cNvPr>
          <p:cNvSpPr>
            <a:spLocks noGrp="1"/>
          </p:cNvSpPr>
          <p:nvPr/>
        </p:nvSpPr>
        <p:spPr>
          <a:xfrm>
            <a:off x="762000" y="43148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[14]</a:t>
            </a:r>
          </a:p>
        </p:txBody>
      </p:sp>
      <p:sp>
        <p:nvSpPr>
          <p:cNvPr id="19" name="ref-title-14">
            <a:extLst>
              <a:ext uri="{FF2B5EF4-FFF2-40B4-BE49-F238E27FC236}">
                <a16:creationId xmlns:a16="http://schemas.microsoft.com/office/drawing/2014/main" id="{3AE70BB5-8F60-4A19-827F-7E297D44C3EC}"/>
              </a:ext>
            </a:extLst>
          </p:cNvPr>
          <p:cNvSpPr>
            <a:spLocks noGrp="1"/>
          </p:cNvSpPr>
          <p:nvPr/>
        </p:nvSpPr>
        <p:spPr>
          <a:xfrm>
            <a:off x="1409700" y="43148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J. Tobin et al. Domain Randomization for Transferring Deep Neural Networks from Simulation to the Real World.</a:t>
            </a:r>
          </a:p>
        </p:txBody>
      </p:sp>
      <p:sp>
        <p:nvSpPr>
          <p:cNvPr id="20" name="ref-venue-14">
            <a:extLst>
              <a:ext uri="{FF2B5EF4-FFF2-40B4-BE49-F238E27FC236}">
                <a16:creationId xmlns:a16="http://schemas.microsoft.com/office/drawing/2014/main" id="{23851F12-517F-4A33-8C89-2EAA8599542D}"/>
              </a:ext>
            </a:extLst>
          </p:cNvPr>
          <p:cNvSpPr>
            <a:spLocks noGrp="1"/>
          </p:cNvSpPr>
          <p:nvPr/>
        </p:nvSpPr>
        <p:spPr>
          <a:xfrm>
            <a:off x="1409700" y="481965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IEEE/RSJ IROS, 2017, pp. 23–30.</a:t>
            </a:r>
          </a:p>
        </p:txBody>
      </p:sp>
      <p:sp>
        <p:nvSpPr>
          <p:cNvPr id="21" name="ref-link-14">
            <a:extLst>
              <a:ext uri="{FF2B5EF4-FFF2-40B4-BE49-F238E27FC236}">
                <a16:creationId xmlns:a16="http://schemas.microsoft.com/office/drawing/2014/main" id="{45BA70FD-D1B7-4F48-8F81-DF5EF71EC8BB}"/>
              </a:ext>
            </a:extLst>
          </p:cNvPr>
          <p:cNvSpPr>
            <a:spLocks noGrp="1"/>
          </p:cNvSpPr>
          <p:nvPr/>
        </p:nvSpPr>
        <p:spPr>
          <a:xfrm>
            <a:off x="1409700" y="503872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7"/>
              </a:rPr>
              <a:t>doi: 10.1109/IROS.2017.8202133</a:t>
            </a:r>
          </a:p>
        </p:txBody>
      </p:sp>
      <p:sp>
        <p:nvSpPr>
          <p:cNvPr id="22" name="ref-number-15">
            <a:extLst>
              <a:ext uri="{FF2B5EF4-FFF2-40B4-BE49-F238E27FC236}">
                <a16:creationId xmlns:a16="http://schemas.microsoft.com/office/drawing/2014/main" id="{CE15498C-EEFA-45BD-81DF-EB03E5FEBD74}"/>
              </a:ext>
            </a:extLst>
          </p:cNvPr>
          <p:cNvSpPr>
            <a:spLocks noGrp="1"/>
          </p:cNvSpPr>
          <p:nvPr/>
        </p:nvSpPr>
        <p:spPr>
          <a:xfrm>
            <a:off x="762000" y="52863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[15]</a:t>
            </a:r>
          </a:p>
        </p:txBody>
      </p:sp>
      <p:sp>
        <p:nvSpPr>
          <p:cNvPr id="23" name="ref-title-15">
            <a:extLst>
              <a:ext uri="{FF2B5EF4-FFF2-40B4-BE49-F238E27FC236}">
                <a16:creationId xmlns:a16="http://schemas.microsoft.com/office/drawing/2014/main" id="{51C966C8-8075-43DA-9E1C-5BCDCE20054A}"/>
              </a:ext>
            </a:extLst>
          </p:cNvPr>
          <p:cNvSpPr>
            <a:spLocks noGrp="1"/>
          </p:cNvSpPr>
          <p:nvPr/>
        </p:nvSpPr>
        <p:spPr>
          <a:xfrm>
            <a:off x="1409700" y="52863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P. Bergmann et al. MVTec AD: A Comprehensive Real-World Dataset for Unsupervised Anomaly Detection.</a:t>
            </a:r>
          </a:p>
        </p:txBody>
      </p:sp>
      <p:sp>
        <p:nvSpPr>
          <p:cNvPr id="24" name="ref-venue-15">
            <a:extLst>
              <a:ext uri="{FF2B5EF4-FFF2-40B4-BE49-F238E27FC236}">
                <a16:creationId xmlns:a16="http://schemas.microsoft.com/office/drawing/2014/main" id="{C53133E3-6A2B-400F-869A-1E1CFD52D774}"/>
              </a:ext>
            </a:extLst>
          </p:cNvPr>
          <p:cNvSpPr>
            <a:spLocks noGrp="1"/>
          </p:cNvSpPr>
          <p:nvPr/>
        </p:nvSpPr>
        <p:spPr>
          <a:xfrm>
            <a:off x="1409700" y="57912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CVPR, 2019, pp. 9584–9592.</a:t>
            </a:r>
          </a:p>
        </p:txBody>
      </p:sp>
      <p:sp>
        <p:nvSpPr>
          <p:cNvPr id="25" name="ref-link-15">
            <a:extLst>
              <a:ext uri="{FF2B5EF4-FFF2-40B4-BE49-F238E27FC236}">
                <a16:creationId xmlns:a16="http://schemas.microsoft.com/office/drawing/2014/main" id="{DD340CD8-2AEC-4C5E-AE3E-5D13213CD4D0}"/>
              </a:ext>
            </a:extLst>
          </p:cNvPr>
          <p:cNvSpPr>
            <a:spLocks noGrp="1"/>
          </p:cNvSpPr>
          <p:nvPr/>
        </p:nvSpPr>
        <p:spPr>
          <a:xfrm>
            <a:off x="1409700" y="60102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8"/>
              </a:rPr>
              <a:t>doi: 10.1109/CVPR.2019.00982</a:t>
            </a:r>
          </a:p>
        </p:txBody>
      </p:sp>
    </p:spTree>
    <p:extLst>
      <p:ext uri="{BB962C8B-B14F-4D97-AF65-F5344CB8AC3E}">
        <p14:creationId xmlns:p14="http://schemas.microsoft.com/office/powerpoint/2010/main" val="222343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6" name="slide-title">
            <a:extLst>
              <a:ext uri="{FF2B5EF4-FFF2-40B4-BE49-F238E27FC236}">
                <a16:creationId xmlns:a16="http://schemas.microsoft.com/office/drawing/2014/main" id="{313E32F0-6634-40C1-857D-8E6C1E10EA61}"/>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References 4 / 4</a:t>
            </a:r>
          </a:p>
        </p:txBody>
      </p:sp>
      <p:pic>
        <p:nvPicPr>
          <p:cNvPr id="2" name="Immagine 1">
            <a:extLst>
              <a:ext uri="{FF2B5EF4-FFF2-40B4-BE49-F238E27FC236}">
                <a16:creationId xmlns:a16="http://schemas.microsoft.com/office/drawing/2014/main" id="{F20D6E41-7D23-4EF8-BF47-E2A9CE09BE07}"/>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BE5E7D99-F80F-452D-8A48-5832F3FB3F5D}"/>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1FD822E3-0323-4DDD-AF62-80AF4E4C5D30}"/>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CD0FBCC6-E7FF-43D3-ADEA-3ED1677F300E}"/>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29 / 33</a:t>
            </a:r>
          </a:p>
        </p:txBody>
      </p:sp>
      <p:sp>
        <p:nvSpPr>
          <p:cNvPr id="6" name="ref-number-16">
            <a:extLst>
              <a:ext uri="{FF2B5EF4-FFF2-40B4-BE49-F238E27FC236}">
                <a16:creationId xmlns:a16="http://schemas.microsoft.com/office/drawing/2014/main" id="{B8741ED9-357C-4EA7-9598-7F9B6C384D65}"/>
              </a:ext>
            </a:extLst>
          </p:cNvPr>
          <p:cNvSpPr>
            <a:spLocks noGrp="1"/>
          </p:cNvSpPr>
          <p:nvPr/>
        </p:nvSpPr>
        <p:spPr>
          <a:xfrm>
            <a:off x="762000" y="14001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[16]</a:t>
            </a:r>
          </a:p>
        </p:txBody>
      </p:sp>
      <p:sp>
        <p:nvSpPr>
          <p:cNvPr id="7" name="ref-title-16">
            <a:extLst>
              <a:ext uri="{FF2B5EF4-FFF2-40B4-BE49-F238E27FC236}">
                <a16:creationId xmlns:a16="http://schemas.microsoft.com/office/drawing/2014/main" id="{C5E15B4E-0AF4-4010-8C14-3AC26C9196D0}"/>
              </a:ext>
            </a:extLst>
          </p:cNvPr>
          <p:cNvSpPr>
            <a:spLocks noGrp="1"/>
          </p:cNvSpPr>
          <p:nvPr/>
        </p:nvSpPr>
        <p:spPr>
          <a:xfrm>
            <a:off x="1409700" y="14001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K. Roth et al. Towards Total Recall in Industrial Anomaly Detection.</a:t>
            </a:r>
          </a:p>
        </p:txBody>
      </p:sp>
      <p:sp>
        <p:nvSpPr>
          <p:cNvPr id="8" name="ref-venue-16">
            <a:extLst>
              <a:ext uri="{FF2B5EF4-FFF2-40B4-BE49-F238E27FC236}">
                <a16:creationId xmlns:a16="http://schemas.microsoft.com/office/drawing/2014/main" id="{20FCE06C-335C-4119-A47C-E13ADF88ECB8}"/>
              </a:ext>
            </a:extLst>
          </p:cNvPr>
          <p:cNvSpPr>
            <a:spLocks noGrp="1"/>
          </p:cNvSpPr>
          <p:nvPr/>
        </p:nvSpPr>
        <p:spPr>
          <a:xfrm>
            <a:off x="1409700" y="19050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CVPR, 2022, pp. 14318–14328.</a:t>
            </a:r>
          </a:p>
        </p:txBody>
      </p:sp>
      <p:sp>
        <p:nvSpPr>
          <p:cNvPr id="9" name="ref-link-16">
            <a:extLst>
              <a:ext uri="{FF2B5EF4-FFF2-40B4-BE49-F238E27FC236}">
                <a16:creationId xmlns:a16="http://schemas.microsoft.com/office/drawing/2014/main" id="{19B80973-02A9-4079-AD71-AB7AF92B71E1}"/>
              </a:ext>
            </a:extLst>
          </p:cNvPr>
          <p:cNvSpPr>
            <a:spLocks noGrp="1"/>
          </p:cNvSpPr>
          <p:nvPr/>
        </p:nvSpPr>
        <p:spPr>
          <a:xfrm>
            <a:off x="1409700" y="21240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4"/>
              </a:rPr>
              <a:t>arxiv.org/abs/2106.08265</a:t>
            </a:r>
          </a:p>
        </p:txBody>
      </p:sp>
      <p:sp>
        <p:nvSpPr>
          <p:cNvPr id="10" name="ref-number-17">
            <a:extLst>
              <a:ext uri="{FF2B5EF4-FFF2-40B4-BE49-F238E27FC236}">
                <a16:creationId xmlns:a16="http://schemas.microsoft.com/office/drawing/2014/main" id="{5BB58C6B-488C-4C66-A2EC-9375D2731263}"/>
              </a:ext>
            </a:extLst>
          </p:cNvPr>
          <p:cNvSpPr>
            <a:spLocks noGrp="1"/>
          </p:cNvSpPr>
          <p:nvPr/>
        </p:nvSpPr>
        <p:spPr>
          <a:xfrm>
            <a:off x="762000" y="23717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[17]</a:t>
            </a:r>
          </a:p>
        </p:txBody>
      </p:sp>
      <p:sp>
        <p:nvSpPr>
          <p:cNvPr id="11" name="ref-title-17">
            <a:extLst>
              <a:ext uri="{FF2B5EF4-FFF2-40B4-BE49-F238E27FC236}">
                <a16:creationId xmlns:a16="http://schemas.microsoft.com/office/drawing/2014/main" id="{868D8969-E316-4AD1-81B5-721777641DAF}"/>
              </a:ext>
            </a:extLst>
          </p:cNvPr>
          <p:cNvSpPr>
            <a:spLocks noGrp="1"/>
          </p:cNvSpPr>
          <p:nvPr/>
        </p:nvSpPr>
        <p:spPr>
          <a:xfrm>
            <a:off x="1409700" y="23717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K. Batzner, L. Heckler and R. König. EfficientAD: Accurate Visual Anomaly Detection at Millisecond-Level Latencies.</a:t>
            </a:r>
          </a:p>
        </p:txBody>
      </p:sp>
      <p:sp>
        <p:nvSpPr>
          <p:cNvPr id="12" name="ref-venue-17">
            <a:extLst>
              <a:ext uri="{FF2B5EF4-FFF2-40B4-BE49-F238E27FC236}">
                <a16:creationId xmlns:a16="http://schemas.microsoft.com/office/drawing/2014/main" id="{EE80B5EA-2B5D-4EBA-AD70-A3C893340B5F}"/>
              </a:ext>
            </a:extLst>
          </p:cNvPr>
          <p:cNvSpPr>
            <a:spLocks noGrp="1"/>
          </p:cNvSpPr>
          <p:nvPr/>
        </p:nvSpPr>
        <p:spPr>
          <a:xfrm>
            <a:off x="1409700" y="287655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WACV, 2024, pp. 128–138.</a:t>
            </a:r>
          </a:p>
        </p:txBody>
      </p:sp>
      <p:sp>
        <p:nvSpPr>
          <p:cNvPr id="13" name="ref-link-17">
            <a:extLst>
              <a:ext uri="{FF2B5EF4-FFF2-40B4-BE49-F238E27FC236}">
                <a16:creationId xmlns:a16="http://schemas.microsoft.com/office/drawing/2014/main" id="{3BF70CFC-3FA8-49E1-BD1A-236CC3C8F14A}"/>
              </a:ext>
            </a:extLst>
          </p:cNvPr>
          <p:cNvSpPr>
            <a:spLocks noGrp="1"/>
          </p:cNvSpPr>
          <p:nvPr/>
        </p:nvSpPr>
        <p:spPr>
          <a:xfrm>
            <a:off x="1409700" y="309562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5"/>
              </a:rPr>
              <a:t>arxiv.org/abs/2303.14535</a:t>
            </a:r>
          </a:p>
        </p:txBody>
      </p:sp>
      <p:sp>
        <p:nvSpPr>
          <p:cNvPr id="14" name="ref-number-18">
            <a:extLst>
              <a:ext uri="{FF2B5EF4-FFF2-40B4-BE49-F238E27FC236}">
                <a16:creationId xmlns:a16="http://schemas.microsoft.com/office/drawing/2014/main" id="{5B767DCC-9DF0-451C-AB89-DC08015114CA}"/>
              </a:ext>
            </a:extLst>
          </p:cNvPr>
          <p:cNvSpPr>
            <a:spLocks noGrp="1"/>
          </p:cNvSpPr>
          <p:nvPr/>
        </p:nvSpPr>
        <p:spPr>
          <a:xfrm>
            <a:off x="762000" y="33432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[18]</a:t>
            </a:r>
          </a:p>
        </p:txBody>
      </p:sp>
      <p:sp>
        <p:nvSpPr>
          <p:cNvPr id="15" name="ref-title-18">
            <a:extLst>
              <a:ext uri="{FF2B5EF4-FFF2-40B4-BE49-F238E27FC236}">
                <a16:creationId xmlns:a16="http://schemas.microsoft.com/office/drawing/2014/main" id="{EE7E5B6C-85AB-4D2B-9B8B-4E8C6C2650DD}"/>
              </a:ext>
            </a:extLst>
          </p:cNvPr>
          <p:cNvSpPr>
            <a:spLocks noGrp="1"/>
          </p:cNvSpPr>
          <p:nvPr/>
        </p:nvSpPr>
        <p:spPr>
          <a:xfrm>
            <a:off x="1409700" y="33432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B. Rolih, M. Fučka and D. Skočaj. SuperSimpleNet: Unifying Unsupervised and Supervised Learning for Fast and Reliable Surface Defect Detection.</a:t>
            </a:r>
          </a:p>
        </p:txBody>
      </p:sp>
      <p:sp>
        <p:nvSpPr>
          <p:cNvPr id="16" name="ref-venue-18">
            <a:extLst>
              <a:ext uri="{FF2B5EF4-FFF2-40B4-BE49-F238E27FC236}">
                <a16:creationId xmlns:a16="http://schemas.microsoft.com/office/drawing/2014/main" id="{C562048E-18FA-40DB-B233-D0E69B7E1D83}"/>
              </a:ext>
            </a:extLst>
          </p:cNvPr>
          <p:cNvSpPr>
            <a:spLocks noGrp="1"/>
          </p:cNvSpPr>
          <p:nvPr/>
        </p:nvSpPr>
        <p:spPr>
          <a:xfrm>
            <a:off x="1409700" y="38481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ICPR 2024, LNCS 15310, Springer, 2025, pp. 47–65.</a:t>
            </a:r>
          </a:p>
        </p:txBody>
      </p:sp>
      <p:sp>
        <p:nvSpPr>
          <p:cNvPr id="17" name="ref-link-18">
            <a:extLst>
              <a:ext uri="{FF2B5EF4-FFF2-40B4-BE49-F238E27FC236}">
                <a16:creationId xmlns:a16="http://schemas.microsoft.com/office/drawing/2014/main" id="{048DD963-0894-4414-BDAE-B67A52103D7B}"/>
              </a:ext>
            </a:extLst>
          </p:cNvPr>
          <p:cNvSpPr>
            <a:spLocks noGrp="1"/>
          </p:cNvSpPr>
          <p:nvPr/>
        </p:nvSpPr>
        <p:spPr>
          <a:xfrm>
            <a:off x="1409700" y="40671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6"/>
              </a:rPr>
              <a:t>doi: 10.1007/978-3-031-78192-6_4</a:t>
            </a:r>
          </a:p>
        </p:txBody>
      </p:sp>
      <p:sp>
        <p:nvSpPr>
          <p:cNvPr id="18" name="ref-number-19">
            <a:extLst>
              <a:ext uri="{FF2B5EF4-FFF2-40B4-BE49-F238E27FC236}">
                <a16:creationId xmlns:a16="http://schemas.microsoft.com/office/drawing/2014/main" id="{FF62A30A-0B34-4803-A625-E8DC7632A527}"/>
              </a:ext>
            </a:extLst>
          </p:cNvPr>
          <p:cNvSpPr>
            <a:spLocks noGrp="1"/>
          </p:cNvSpPr>
          <p:nvPr/>
        </p:nvSpPr>
        <p:spPr>
          <a:xfrm>
            <a:off x="762000" y="43148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[19]</a:t>
            </a:r>
          </a:p>
        </p:txBody>
      </p:sp>
      <p:sp>
        <p:nvSpPr>
          <p:cNvPr id="19" name="ref-title-19">
            <a:extLst>
              <a:ext uri="{FF2B5EF4-FFF2-40B4-BE49-F238E27FC236}">
                <a16:creationId xmlns:a16="http://schemas.microsoft.com/office/drawing/2014/main" id="{2BA907F4-5353-4315-8A75-159AC7D09005}"/>
              </a:ext>
            </a:extLst>
          </p:cNvPr>
          <p:cNvSpPr>
            <a:spLocks noGrp="1"/>
          </p:cNvSpPr>
          <p:nvPr/>
        </p:nvSpPr>
        <p:spPr>
          <a:xfrm>
            <a:off x="1409700" y="43148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B. Rolih, M. Fučka and D. Skočaj. No Label Left Behind: A Unified Surface Defect Detection Model for All Supervision Regimes.</a:t>
            </a:r>
          </a:p>
        </p:txBody>
      </p:sp>
      <p:sp>
        <p:nvSpPr>
          <p:cNvPr id="20" name="ref-venue-19">
            <a:extLst>
              <a:ext uri="{FF2B5EF4-FFF2-40B4-BE49-F238E27FC236}">
                <a16:creationId xmlns:a16="http://schemas.microsoft.com/office/drawing/2014/main" id="{6C233AE4-6833-4F6D-AEFB-49DFF94D1C77}"/>
              </a:ext>
            </a:extLst>
          </p:cNvPr>
          <p:cNvSpPr>
            <a:spLocks noGrp="1"/>
          </p:cNvSpPr>
          <p:nvPr/>
        </p:nvSpPr>
        <p:spPr>
          <a:xfrm>
            <a:off x="1409700" y="481965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Journal of Intelligent Manufacturing, vol. 37, 2026, pp. 3189–3209.</a:t>
            </a:r>
          </a:p>
        </p:txBody>
      </p:sp>
      <p:sp>
        <p:nvSpPr>
          <p:cNvPr id="21" name="ref-link-19">
            <a:extLst>
              <a:ext uri="{FF2B5EF4-FFF2-40B4-BE49-F238E27FC236}">
                <a16:creationId xmlns:a16="http://schemas.microsoft.com/office/drawing/2014/main" id="{95C7D528-75B6-4C07-A8EC-1BCB9ABC1BDE}"/>
              </a:ext>
            </a:extLst>
          </p:cNvPr>
          <p:cNvSpPr>
            <a:spLocks noGrp="1"/>
          </p:cNvSpPr>
          <p:nvPr/>
        </p:nvSpPr>
        <p:spPr>
          <a:xfrm>
            <a:off x="1409700" y="503872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7"/>
              </a:rPr>
              <a:t>doi: 10.1007/s10845-025-02680-8</a:t>
            </a:r>
          </a:p>
        </p:txBody>
      </p:sp>
      <p:sp>
        <p:nvSpPr>
          <p:cNvPr id="22" name="ref-number-20">
            <a:extLst>
              <a:ext uri="{FF2B5EF4-FFF2-40B4-BE49-F238E27FC236}">
                <a16:creationId xmlns:a16="http://schemas.microsoft.com/office/drawing/2014/main" id="{3E380F87-2D90-4574-AF64-314F8419B447}"/>
              </a:ext>
            </a:extLst>
          </p:cNvPr>
          <p:cNvSpPr>
            <a:spLocks noGrp="1"/>
          </p:cNvSpPr>
          <p:nvPr/>
        </p:nvSpPr>
        <p:spPr>
          <a:xfrm>
            <a:off x="762000" y="52863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[20]</a:t>
            </a:r>
          </a:p>
        </p:txBody>
      </p:sp>
      <p:sp>
        <p:nvSpPr>
          <p:cNvPr id="23" name="ref-title-20">
            <a:extLst>
              <a:ext uri="{FF2B5EF4-FFF2-40B4-BE49-F238E27FC236}">
                <a16:creationId xmlns:a16="http://schemas.microsoft.com/office/drawing/2014/main" id="{A2323AB3-3A2A-482C-A247-FF023B3BDE2F}"/>
              </a:ext>
            </a:extLst>
          </p:cNvPr>
          <p:cNvSpPr>
            <a:spLocks noGrp="1"/>
          </p:cNvSpPr>
          <p:nvPr/>
        </p:nvSpPr>
        <p:spPr>
          <a:xfrm>
            <a:off x="1409700" y="52863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P. Bonazzi et al. TinyGLASS: Real-Time Self-Supervised In-Sensor Anomaly Detection.</a:t>
            </a:r>
          </a:p>
        </p:txBody>
      </p:sp>
      <p:sp>
        <p:nvSpPr>
          <p:cNvPr id="24" name="ref-venue-20">
            <a:extLst>
              <a:ext uri="{FF2B5EF4-FFF2-40B4-BE49-F238E27FC236}">
                <a16:creationId xmlns:a16="http://schemas.microsoft.com/office/drawing/2014/main" id="{8F4B70E2-4C23-4596-B573-324DA41950C9}"/>
              </a:ext>
            </a:extLst>
          </p:cNvPr>
          <p:cNvSpPr>
            <a:spLocks noGrp="1"/>
          </p:cNvSpPr>
          <p:nvPr/>
        </p:nvSpPr>
        <p:spPr>
          <a:xfrm>
            <a:off x="1409700" y="57912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arXiv:2603.16451v3, 2026. Accepted at AICAS 2026.</a:t>
            </a:r>
          </a:p>
        </p:txBody>
      </p:sp>
      <p:sp>
        <p:nvSpPr>
          <p:cNvPr id="25" name="ref-link-20">
            <a:extLst>
              <a:ext uri="{FF2B5EF4-FFF2-40B4-BE49-F238E27FC236}">
                <a16:creationId xmlns:a16="http://schemas.microsoft.com/office/drawing/2014/main" id="{7E756E36-DF4F-49D1-890B-8A6FFFA8FBC3}"/>
              </a:ext>
            </a:extLst>
          </p:cNvPr>
          <p:cNvSpPr>
            <a:spLocks noGrp="1"/>
          </p:cNvSpPr>
          <p:nvPr/>
        </p:nvSpPr>
        <p:spPr>
          <a:xfrm>
            <a:off x="1409700" y="60102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8"/>
              </a:rPr>
              <a:t>arxiv.org/abs/2603.16451v3</a:t>
            </a:r>
          </a:p>
        </p:txBody>
      </p:sp>
    </p:spTree>
    <p:extLst>
      <p:ext uri="{BB962C8B-B14F-4D97-AF65-F5344CB8AC3E}">
        <p14:creationId xmlns:p14="http://schemas.microsoft.com/office/powerpoint/2010/main" val="222343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B8595CEF-ABBF-4095-8EFC-C1D4B8996B25}"/>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Visual credits</a:t>
            </a:r>
          </a:p>
        </p:txBody>
      </p:sp>
      <p:pic>
        <p:nvPicPr>
          <p:cNvPr id="2" name="Immagine 1">
            <a:extLst>
              <a:ext uri="{FF2B5EF4-FFF2-40B4-BE49-F238E27FC236}">
                <a16:creationId xmlns:a16="http://schemas.microsoft.com/office/drawing/2014/main" id="{75972E36-4B2F-451D-8F63-1D3DCA648E2E}"/>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7ACEB7B8-72A5-449E-866E-82FA7AE55738}"/>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8DCA224D-8309-476E-8378-E3AD5EB7C814}"/>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C3E7618F-DB74-49D3-8F91-B6793A9C1929}"/>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30 / 33</a:t>
            </a:r>
          </a:p>
        </p:txBody>
      </p:sp>
      <p:pic>
        <p:nvPicPr>
          <p:cNvPr id="6" name="Immagine 5">
            <a:extLst>
              <a:ext uri="{FF2B5EF4-FFF2-40B4-BE49-F238E27FC236}">
                <a16:creationId xmlns:a16="http://schemas.microsoft.com/office/drawing/2014/main" id="{BE5B649E-D1FB-4C64-965F-6E96D0642BE4}"/>
              </a:ext>
            </a:extLst>
          </p:cNvPr>
          <p:cNvPicPr>
            <a:picLocks noChangeAspect="1"/>
          </p:cNvPicPr>
          <p:nvPr/>
        </p:nvPicPr>
        <p:blipFill>
          <a:blip r:embed="rId4"/>
          <a:stretch/>
        </p:blipFill>
        <p:spPr>
          <a:xfrm>
            <a:off x="1190625" y="1733550"/>
            <a:ext cx="857250" cy="857250"/>
          </a:xfrm>
          <a:prstGeom prst="rect">
            <a:avLst/>
          </a:prstGeom>
        </p:spPr>
      </p:pic>
      <p:pic>
        <p:nvPicPr>
          <p:cNvPr id="7" name="Immagine 6">
            <a:extLst>
              <a:ext uri="{FF2B5EF4-FFF2-40B4-BE49-F238E27FC236}">
                <a16:creationId xmlns:a16="http://schemas.microsoft.com/office/drawing/2014/main" id="{0783B09A-BE88-4937-9277-A42A075AE6D9}"/>
              </a:ext>
            </a:extLst>
          </p:cNvPr>
          <p:cNvPicPr>
            <a:picLocks noChangeAspect="1"/>
          </p:cNvPicPr>
          <p:nvPr/>
        </p:nvPicPr>
        <p:blipFill>
          <a:blip r:embed="rId5"/>
          <a:stretch/>
        </p:blipFill>
        <p:spPr>
          <a:xfrm>
            <a:off x="3343275" y="1733550"/>
            <a:ext cx="857250" cy="857250"/>
          </a:xfrm>
          <a:prstGeom prst="rect">
            <a:avLst/>
          </a:prstGeom>
        </p:spPr>
      </p:pic>
      <p:pic>
        <p:nvPicPr>
          <p:cNvPr id="8" name="Immagine 7">
            <a:extLst>
              <a:ext uri="{FF2B5EF4-FFF2-40B4-BE49-F238E27FC236}">
                <a16:creationId xmlns:a16="http://schemas.microsoft.com/office/drawing/2014/main" id="{040E16BA-E71A-445F-B725-F78D009F61E6}"/>
              </a:ext>
            </a:extLst>
          </p:cNvPr>
          <p:cNvPicPr>
            <a:picLocks noChangeAspect="1"/>
          </p:cNvPicPr>
          <p:nvPr/>
        </p:nvPicPr>
        <p:blipFill>
          <a:blip r:embed="rId6"/>
          <a:stretch/>
        </p:blipFill>
        <p:spPr>
          <a:xfrm>
            <a:off x="5495925" y="1733550"/>
            <a:ext cx="857250" cy="857250"/>
          </a:xfrm>
          <a:prstGeom prst="rect">
            <a:avLst/>
          </a:prstGeom>
        </p:spPr>
      </p:pic>
      <p:pic>
        <p:nvPicPr>
          <p:cNvPr id="9" name="Immagine 8">
            <a:extLst>
              <a:ext uri="{FF2B5EF4-FFF2-40B4-BE49-F238E27FC236}">
                <a16:creationId xmlns:a16="http://schemas.microsoft.com/office/drawing/2014/main" id="{52488C5F-8324-458A-9B14-4C34D576B896}"/>
              </a:ext>
            </a:extLst>
          </p:cNvPr>
          <p:cNvPicPr>
            <a:picLocks noChangeAspect="1"/>
          </p:cNvPicPr>
          <p:nvPr/>
        </p:nvPicPr>
        <p:blipFill>
          <a:blip r:embed="rId7"/>
          <a:stretch/>
        </p:blipFill>
        <p:spPr>
          <a:xfrm>
            <a:off x="7648575" y="1733550"/>
            <a:ext cx="857250" cy="857250"/>
          </a:xfrm>
          <a:prstGeom prst="rect">
            <a:avLst/>
          </a:prstGeom>
        </p:spPr>
      </p:pic>
      <p:pic>
        <p:nvPicPr>
          <p:cNvPr id="10" name="Immagine 9">
            <a:extLst>
              <a:ext uri="{FF2B5EF4-FFF2-40B4-BE49-F238E27FC236}">
                <a16:creationId xmlns:a16="http://schemas.microsoft.com/office/drawing/2014/main" id="{266D864B-A530-4B85-A7BB-57DD685FC671}"/>
              </a:ext>
            </a:extLst>
          </p:cNvPr>
          <p:cNvPicPr>
            <a:picLocks noChangeAspect="1"/>
          </p:cNvPicPr>
          <p:nvPr/>
        </p:nvPicPr>
        <p:blipFill>
          <a:blip r:embed="rId8"/>
          <a:stretch/>
        </p:blipFill>
        <p:spPr>
          <a:xfrm>
            <a:off x="9801225" y="1733550"/>
            <a:ext cx="857250" cy="857250"/>
          </a:xfrm>
          <a:prstGeom prst="rect">
            <a:avLst/>
          </a:prstGeom>
        </p:spPr>
      </p:pic>
      <p:sp>
        <p:nvSpPr>
          <p:cNvPr id="11" name="icons8-credit">
            <a:extLst>
              <a:ext uri="{FF2B5EF4-FFF2-40B4-BE49-F238E27FC236}">
                <a16:creationId xmlns:a16="http://schemas.microsoft.com/office/drawing/2014/main" id="{10C2097D-B91E-4F89-B965-88DA94012D79}"/>
              </a:ext>
            </a:extLst>
          </p:cNvPr>
          <p:cNvSpPr>
            <a:spLocks noGrp="1"/>
          </p:cNvSpPr>
          <p:nvPr/>
        </p:nvSpPr>
        <p:spPr>
          <a:xfrm>
            <a:off x="952500" y="3257550"/>
            <a:ext cx="10191750" cy="647700"/>
          </a:xfrm>
          <a:prstGeom prst="rect">
            <a:avLst/>
          </a:prstGeom>
          <a:noFill/>
          <a:ln w="0">
            <a:noFill/>
          </a:ln>
        </p:spPr>
        <p:txBody>
          <a:bodyPr wrap="square" lIns="0" tIns="0" rIns="0" bIns="0" anchor="t">
            <a:noAutofit/>
          </a:bodyPr>
          <a:lstStyle>
            <a:defPPr algn="ctr">
              <a:defRPr lang="en-US" sz="3375" b="1">
                <a:solidFill>
                  <a:srgbClr val="822433"/>
                </a:solidFill>
                <a:latin typeface="Roboto"/>
                <a:ea typeface="Roboto"/>
                <a:cs typeface="Roboto"/>
              </a:defRPr>
            </a:defPPr>
            <a:lvl1pPr algn="ctr">
              <a:defRPr lang="en-US" sz="3375" b="1">
                <a:solidFill>
                  <a:srgbClr val="822433"/>
                </a:solidFill>
                <a:latin typeface="Roboto"/>
                <a:ea typeface="Roboto"/>
                <a:cs typeface="Roboto"/>
              </a:defRPr>
            </a:lvl1pPr>
            <a:lvl2pPr algn="ctr">
              <a:defRPr lang="en-US" sz="3375" b="1">
                <a:solidFill>
                  <a:srgbClr val="822433"/>
                </a:solidFill>
                <a:latin typeface="Roboto"/>
                <a:ea typeface="Roboto"/>
                <a:cs typeface="Roboto"/>
              </a:defRPr>
            </a:lvl2pPr>
            <a:lvl3pPr algn="ctr">
              <a:defRPr lang="en-US" sz="3375" b="1">
                <a:solidFill>
                  <a:srgbClr val="822433"/>
                </a:solidFill>
                <a:latin typeface="Roboto"/>
                <a:ea typeface="Roboto"/>
                <a:cs typeface="Roboto"/>
              </a:defRPr>
            </a:lvl3pPr>
            <a:lvl4pPr algn="ctr">
              <a:defRPr lang="en-US" sz="3375" b="1">
                <a:solidFill>
                  <a:srgbClr val="822433"/>
                </a:solidFill>
                <a:latin typeface="Roboto"/>
                <a:ea typeface="Roboto"/>
                <a:cs typeface="Roboto"/>
              </a:defRPr>
            </a:lvl4pPr>
            <a:lvl5pPr algn="ctr">
              <a:defRPr lang="en-US" sz="3375" b="1">
                <a:solidFill>
                  <a:srgbClr val="822433"/>
                </a:solidFill>
                <a:latin typeface="Roboto"/>
                <a:ea typeface="Roboto"/>
                <a:cs typeface="Roboto"/>
              </a:defRPr>
            </a:lvl5pPr>
            <a:lvl6pPr algn="ctr">
              <a:defRPr lang="en-US" sz="3375" b="1">
                <a:solidFill>
                  <a:srgbClr val="822433"/>
                </a:solidFill>
                <a:latin typeface="Roboto"/>
                <a:ea typeface="Roboto"/>
                <a:cs typeface="Roboto"/>
              </a:defRPr>
            </a:lvl6pPr>
            <a:lvl7pPr algn="ctr">
              <a:defRPr lang="en-US" sz="3375" b="1">
                <a:solidFill>
                  <a:srgbClr val="822433"/>
                </a:solidFill>
                <a:latin typeface="Roboto"/>
                <a:ea typeface="Roboto"/>
                <a:cs typeface="Roboto"/>
              </a:defRPr>
            </a:lvl7pPr>
            <a:lvl8pPr algn="ctr">
              <a:defRPr lang="en-US" sz="3375" b="1">
                <a:solidFill>
                  <a:srgbClr val="822433"/>
                </a:solidFill>
                <a:latin typeface="Roboto"/>
                <a:ea typeface="Roboto"/>
                <a:cs typeface="Roboto"/>
              </a:defRPr>
            </a:lvl8pPr>
            <a:lvl9pPr algn="ctr">
              <a:defRPr lang="en-US" sz="3375" b="1">
                <a:solidFill>
                  <a:srgbClr val="822433"/>
                </a:solidFill>
                <a:latin typeface="Roboto"/>
                <a:ea typeface="Roboto"/>
                <a:cs typeface="Roboto"/>
              </a:defRPr>
            </a:lvl9pPr>
          </a:lstStyle>
          <a:p>
            <a:pPr algn="ctr">
              <a:defRPr lang="en-US" sz="3375" b="1">
                <a:solidFill>
                  <a:srgbClr val="822433"/>
                </a:solidFill>
                <a:latin typeface="Roboto"/>
                <a:ea typeface="Roboto"/>
                <a:cs typeface="Roboto"/>
              </a:defRPr>
            </a:pPr>
            <a:r>
              <a:rPr lang="en-US" sz="3375" b="1">
                <a:solidFill>
                  <a:srgbClr val="822433"/>
                </a:solidFill>
                <a:latin typeface="Roboto"/>
                <a:ea typeface="Roboto"/>
                <a:cs typeface="Roboto"/>
              </a:rPr>
              <a:t>Icons by Icons8</a:t>
            </a:r>
          </a:p>
        </p:txBody>
      </p:sp>
      <p:sp>
        <p:nvSpPr>
          <p:cNvPr id="12" name="icons8-link">
            <a:extLst>
              <a:ext uri="{FF2B5EF4-FFF2-40B4-BE49-F238E27FC236}">
                <a16:creationId xmlns:a16="http://schemas.microsoft.com/office/drawing/2014/main" id="{25D240EB-41AE-454E-BA43-2A16D56A3041}"/>
              </a:ext>
            </a:extLst>
          </p:cNvPr>
          <p:cNvSpPr>
            <a:spLocks noGrp="1"/>
          </p:cNvSpPr>
          <p:nvPr/>
        </p:nvSpPr>
        <p:spPr>
          <a:xfrm>
            <a:off x="952500" y="4095750"/>
            <a:ext cx="10191750" cy="485775"/>
          </a:xfrm>
          <a:prstGeom prst="rect">
            <a:avLst/>
          </a:prstGeom>
          <a:noFill/>
          <a:ln w="0">
            <a:noFill/>
          </a:ln>
        </p:spPr>
        <p:txBody>
          <a:bodyPr wrap="square" lIns="0" tIns="0" rIns="0" bIns="0" anchor="t">
            <a:noAutofit/>
          </a:bodyPr>
          <a:lstStyle>
            <a:defPPr algn="ctr">
              <a:defRPr lang="en-US" sz="2550" b="0">
                <a:solidFill>
                  <a:srgbClr val="822433"/>
                </a:solidFill>
                <a:latin typeface="Roboto"/>
                <a:ea typeface="Roboto"/>
                <a:cs typeface="Roboto"/>
              </a:defRPr>
            </a:defPPr>
            <a:lvl1pPr algn="ctr">
              <a:defRPr lang="en-US" sz="2550" b="0">
                <a:solidFill>
                  <a:srgbClr val="822433"/>
                </a:solidFill>
                <a:latin typeface="Roboto"/>
                <a:ea typeface="Roboto"/>
                <a:cs typeface="Roboto"/>
              </a:defRPr>
            </a:lvl1pPr>
            <a:lvl2pPr algn="ctr">
              <a:defRPr lang="en-US" sz="2550" b="0">
                <a:solidFill>
                  <a:srgbClr val="822433"/>
                </a:solidFill>
                <a:latin typeface="Roboto"/>
                <a:ea typeface="Roboto"/>
                <a:cs typeface="Roboto"/>
              </a:defRPr>
            </a:lvl2pPr>
            <a:lvl3pPr algn="ctr">
              <a:defRPr lang="en-US" sz="2550" b="0">
                <a:solidFill>
                  <a:srgbClr val="822433"/>
                </a:solidFill>
                <a:latin typeface="Roboto"/>
                <a:ea typeface="Roboto"/>
                <a:cs typeface="Roboto"/>
              </a:defRPr>
            </a:lvl3pPr>
            <a:lvl4pPr algn="ctr">
              <a:defRPr lang="en-US" sz="2550" b="0">
                <a:solidFill>
                  <a:srgbClr val="822433"/>
                </a:solidFill>
                <a:latin typeface="Roboto"/>
                <a:ea typeface="Roboto"/>
                <a:cs typeface="Roboto"/>
              </a:defRPr>
            </a:lvl4pPr>
            <a:lvl5pPr algn="ctr">
              <a:defRPr lang="en-US" sz="2550" b="0">
                <a:solidFill>
                  <a:srgbClr val="822433"/>
                </a:solidFill>
                <a:latin typeface="Roboto"/>
                <a:ea typeface="Roboto"/>
                <a:cs typeface="Roboto"/>
              </a:defRPr>
            </a:lvl5pPr>
            <a:lvl6pPr algn="ctr">
              <a:defRPr lang="en-US" sz="2550" b="0">
                <a:solidFill>
                  <a:srgbClr val="822433"/>
                </a:solidFill>
                <a:latin typeface="Roboto"/>
                <a:ea typeface="Roboto"/>
                <a:cs typeface="Roboto"/>
              </a:defRPr>
            </a:lvl6pPr>
            <a:lvl7pPr algn="ctr">
              <a:defRPr lang="en-US" sz="2550" b="0">
                <a:solidFill>
                  <a:srgbClr val="822433"/>
                </a:solidFill>
                <a:latin typeface="Roboto"/>
                <a:ea typeface="Roboto"/>
                <a:cs typeface="Roboto"/>
              </a:defRPr>
            </a:lvl7pPr>
            <a:lvl8pPr algn="ctr">
              <a:defRPr lang="en-US" sz="2550" b="0">
                <a:solidFill>
                  <a:srgbClr val="822433"/>
                </a:solidFill>
                <a:latin typeface="Roboto"/>
                <a:ea typeface="Roboto"/>
                <a:cs typeface="Roboto"/>
              </a:defRPr>
            </a:lvl8pPr>
            <a:lvl9pPr algn="ctr">
              <a:defRPr lang="en-US" sz="2550" b="0">
                <a:solidFill>
                  <a:srgbClr val="822433"/>
                </a:solidFill>
                <a:latin typeface="Roboto"/>
                <a:ea typeface="Roboto"/>
                <a:cs typeface="Roboto"/>
              </a:defRPr>
            </a:lvl9pPr>
          </a:lstStyle>
          <a:p>
            <a:pPr algn="ctr">
              <a:defRPr lang="en-US" sz="2550" b="0">
                <a:solidFill>
                  <a:srgbClr val="822433"/>
                </a:solidFill>
                <a:latin typeface="Roboto"/>
                <a:ea typeface="Roboto"/>
                <a:cs typeface="Roboto"/>
              </a:defRPr>
            </a:pPr>
            <a:r>
              <a:rPr lang="en-US" sz="2550" b="0">
                <a:solidFill>
                  <a:srgbClr val="822433"/>
                </a:solidFill>
                <a:latin typeface="Roboto"/>
                <a:ea typeface="Roboto"/>
                <a:cs typeface="Roboto"/>
                <a:hlinkClick r:id="rId9"/>
              </a:rPr>
              <a:t>icons8.com</a:t>
            </a:r>
          </a:p>
        </p:txBody>
      </p:sp>
      <p:sp>
        <p:nvSpPr>
          <p:cNvPr id="13" name="icons8-terms">
            <a:extLst>
              <a:ext uri="{FF2B5EF4-FFF2-40B4-BE49-F238E27FC236}">
                <a16:creationId xmlns:a16="http://schemas.microsoft.com/office/drawing/2014/main" id="{EF2D6BCF-E530-4EFD-B976-24B9EBD6778F}"/>
              </a:ext>
            </a:extLst>
          </p:cNvPr>
          <p:cNvSpPr>
            <a:spLocks noGrp="1"/>
          </p:cNvSpPr>
          <p:nvPr/>
        </p:nvSpPr>
        <p:spPr>
          <a:xfrm>
            <a:off x="952500" y="4933950"/>
            <a:ext cx="10191750" cy="428625"/>
          </a:xfrm>
          <a:prstGeom prst="rect">
            <a:avLst/>
          </a:prstGeom>
          <a:noFill/>
          <a:ln w="0">
            <a:noFill/>
          </a:ln>
        </p:spPr>
        <p:txBody>
          <a:bodyPr wrap="square" lIns="0" tIns="0" rIns="0" bIns="0" anchor="t">
            <a:noAutofit/>
          </a:bodyPr>
          <a:lstStyle>
            <a:defPPr algn="ctr">
              <a:defRPr lang="en-US" sz="2025" b="0">
                <a:solidFill>
                  <a:srgbClr val="202124"/>
                </a:solidFill>
                <a:latin typeface="Roboto"/>
                <a:ea typeface="Roboto"/>
                <a:cs typeface="Roboto"/>
              </a:defRPr>
            </a:defPPr>
            <a:lvl1pPr algn="ctr">
              <a:defRPr lang="en-US" sz="2025" b="0">
                <a:solidFill>
                  <a:srgbClr val="202124"/>
                </a:solidFill>
                <a:latin typeface="Roboto"/>
                <a:ea typeface="Roboto"/>
                <a:cs typeface="Roboto"/>
              </a:defRPr>
            </a:lvl1pPr>
            <a:lvl2pPr algn="ctr">
              <a:defRPr lang="en-US" sz="2025" b="0">
                <a:solidFill>
                  <a:srgbClr val="202124"/>
                </a:solidFill>
                <a:latin typeface="Roboto"/>
                <a:ea typeface="Roboto"/>
                <a:cs typeface="Roboto"/>
              </a:defRPr>
            </a:lvl2pPr>
            <a:lvl3pPr algn="ctr">
              <a:defRPr lang="en-US" sz="2025" b="0">
                <a:solidFill>
                  <a:srgbClr val="202124"/>
                </a:solidFill>
                <a:latin typeface="Roboto"/>
                <a:ea typeface="Roboto"/>
                <a:cs typeface="Roboto"/>
              </a:defRPr>
            </a:lvl3pPr>
            <a:lvl4pPr algn="ctr">
              <a:defRPr lang="en-US" sz="2025" b="0">
                <a:solidFill>
                  <a:srgbClr val="202124"/>
                </a:solidFill>
                <a:latin typeface="Roboto"/>
                <a:ea typeface="Roboto"/>
                <a:cs typeface="Roboto"/>
              </a:defRPr>
            </a:lvl4pPr>
            <a:lvl5pPr algn="ctr">
              <a:defRPr lang="en-US" sz="2025" b="0">
                <a:solidFill>
                  <a:srgbClr val="202124"/>
                </a:solidFill>
                <a:latin typeface="Roboto"/>
                <a:ea typeface="Roboto"/>
                <a:cs typeface="Roboto"/>
              </a:defRPr>
            </a:lvl5pPr>
            <a:lvl6pPr algn="ctr">
              <a:defRPr lang="en-US" sz="2025" b="0">
                <a:solidFill>
                  <a:srgbClr val="202124"/>
                </a:solidFill>
                <a:latin typeface="Roboto"/>
                <a:ea typeface="Roboto"/>
                <a:cs typeface="Roboto"/>
              </a:defRPr>
            </a:lvl6pPr>
            <a:lvl7pPr algn="ctr">
              <a:defRPr lang="en-US" sz="2025" b="0">
                <a:solidFill>
                  <a:srgbClr val="202124"/>
                </a:solidFill>
                <a:latin typeface="Roboto"/>
                <a:ea typeface="Roboto"/>
                <a:cs typeface="Roboto"/>
              </a:defRPr>
            </a:lvl7pPr>
            <a:lvl8pPr algn="ctr">
              <a:defRPr lang="en-US" sz="2025" b="0">
                <a:solidFill>
                  <a:srgbClr val="202124"/>
                </a:solidFill>
                <a:latin typeface="Roboto"/>
                <a:ea typeface="Roboto"/>
                <a:cs typeface="Roboto"/>
              </a:defRPr>
            </a:lvl8pPr>
            <a:lvl9pPr algn="ctr">
              <a:defRPr lang="en-US" sz="2025" b="0">
                <a:solidFill>
                  <a:srgbClr val="202124"/>
                </a:solidFill>
                <a:latin typeface="Roboto"/>
                <a:ea typeface="Roboto"/>
                <a:cs typeface="Roboto"/>
              </a:defRPr>
            </a:lvl9pPr>
          </a:lstStyle>
          <a:p>
            <a:pPr algn="ctr">
              <a:defRPr lang="en-US" sz="2025" b="0">
                <a:solidFill>
                  <a:srgbClr val="202124"/>
                </a:solidFill>
                <a:latin typeface="Roboto"/>
                <a:ea typeface="Roboto"/>
                <a:cs typeface="Roboto"/>
              </a:defRPr>
            </a:pPr>
            <a:r>
              <a:rPr lang="en-US" sz="2025" b="0">
                <a:solidFill>
                  <a:srgbClr val="202124"/>
                </a:solidFill>
                <a:latin typeface="Roboto"/>
                <a:ea typeface="Roboto"/>
                <a:cs typeface="Roboto"/>
              </a:rPr>
              <a:t>Color-style PNG icons, used with attribution</a:t>
            </a:r>
          </a:p>
        </p:txBody>
      </p:sp>
      <p:sp>
        <p:nvSpPr>
          <p:cNvPr id="14" name="icons8-license-link">
            <a:extLst>
              <a:ext uri="{FF2B5EF4-FFF2-40B4-BE49-F238E27FC236}">
                <a16:creationId xmlns:a16="http://schemas.microsoft.com/office/drawing/2014/main" id="{557BF4A3-1C48-499E-838A-C59D6C764972}"/>
              </a:ext>
            </a:extLst>
          </p:cNvPr>
          <p:cNvSpPr>
            <a:spLocks noGrp="1"/>
          </p:cNvSpPr>
          <p:nvPr/>
        </p:nvSpPr>
        <p:spPr>
          <a:xfrm>
            <a:off x="952500" y="5476875"/>
            <a:ext cx="10191750" cy="333375"/>
          </a:xfrm>
          <a:prstGeom prst="rect">
            <a:avLst/>
          </a:prstGeom>
          <a:noFill/>
          <a:ln w="0">
            <a:noFill/>
          </a:ln>
        </p:spPr>
        <p:txBody>
          <a:bodyPr wrap="square" lIns="0" tIns="0" rIns="0" bIns="0" anchor="t">
            <a:noAutofit/>
          </a:bodyPr>
          <a:lstStyle>
            <a:defPPr algn="ctr">
              <a:defRPr lang="en-US" sz="1725" b="0">
                <a:solidFill>
                  <a:srgbClr val="656B73"/>
                </a:solidFill>
                <a:latin typeface="Roboto"/>
                <a:ea typeface="Roboto"/>
                <a:cs typeface="Roboto"/>
              </a:defRPr>
            </a:defPPr>
            <a:lvl1pPr algn="ctr">
              <a:defRPr lang="en-US" sz="1725" b="0">
                <a:solidFill>
                  <a:srgbClr val="656B73"/>
                </a:solidFill>
                <a:latin typeface="Roboto"/>
                <a:ea typeface="Roboto"/>
                <a:cs typeface="Roboto"/>
              </a:defRPr>
            </a:lvl1pPr>
            <a:lvl2pPr algn="ctr">
              <a:defRPr lang="en-US" sz="1725" b="0">
                <a:solidFill>
                  <a:srgbClr val="656B73"/>
                </a:solidFill>
                <a:latin typeface="Roboto"/>
                <a:ea typeface="Roboto"/>
                <a:cs typeface="Roboto"/>
              </a:defRPr>
            </a:lvl2pPr>
            <a:lvl3pPr algn="ctr">
              <a:defRPr lang="en-US" sz="1725" b="0">
                <a:solidFill>
                  <a:srgbClr val="656B73"/>
                </a:solidFill>
                <a:latin typeface="Roboto"/>
                <a:ea typeface="Roboto"/>
                <a:cs typeface="Roboto"/>
              </a:defRPr>
            </a:lvl3pPr>
            <a:lvl4pPr algn="ctr">
              <a:defRPr lang="en-US" sz="1725" b="0">
                <a:solidFill>
                  <a:srgbClr val="656B73"/>
                </a:solidFill>
                <a:latin typeface="Roboto"/>
                <a:ea typeface="Roboto"/>
                <a:cs typeface="Roboto"/>
              </a:defRPr>
            </a:lvl4pPr>
            <a:lvl5pPr algn="ctr">
              <a:defRPr lang="en-US" sz="1725" b="0">
                <a:solidFill>
                  <a:srgbClr val="656B73"/>
                </a:solidFill>
                <a:latin typeface="Roboto"/>
                <a:ea typeface="Roboto"/>
                <a:cs typeface="Roboto"/>
              </a:defRPr>
            </a:lvl5pPr>
            <a:lvl6pPr algn="ctr">
              <a:defRPr lang="en-US" sz="1725" b="0">
                <a:solidFill>
                  <a:srgbClr val="656B73"/>
                </a:solidFill>
                <a:latin typeface="Roboto"/>
                <a:ea typeface="Roboto"/>
                <a:cs typeface="Roboto"/>
              </a:defRPr>
            </a:lvl6pPr>
            <a:lvl7pPr algn="ctr">
              <a:defRPr lang="en-US" sz="1725" b="0">
                <a:solidFill>
                  <a:srgbClr val="656B73"/>
                </a:solidFill>
                <a:latin typeface="Roboto"/>
                <a:ea typeface="Roboto"/>
                <a:cs typeface="Roboto"/>
              </a:defRPr>
            </a:lvl7pPr>
            <a:lvl8pPr algn="ctr">
              <a:defRPr lang="en-US" sz="1725" b="0">
                <a:solidFill>
                  <a:srgbClr val="656B73"/>
                </a:solidFill>
                <a:latin typeface="Roboto"/>
                <a:ea typeface="Roboto"/>
                <a:cs typeface="Roboto"/>
              </a:defRPr>
            </a:lvl8pPr>
            <a:lvl9pPr algn="ctr">
              <a:defRPr lang="en-US" sz="1725" b="0">
                <a:solidFill>
                  <a:srgbClr val="656B73"/>
                </a:solidFill>
                <a:latin typeface="Roboto"/>
                <a:ea typeface="Roboto"/>
                <a:cs typeface="Roboto"/>
              </a:defRPr>
            </a:lvl9pPr>
          </a:lstStyle>
          <a:p>
            <a:pPr algn="ctr">
              <a:defRPr lang="en-US" sz="1725" b="0">
                <a:solidFill>
                  <a:srgbClr val="656B73"/>
                </a:solidFill>
                <a:latin typeface="Roboto"/>
                <a:ea typeface="Roboto"/>
                <a:cs typeface="Roboto"/>
              </a:defRPr>
            </a:pPr>
            <a:r>
              <a:rPr lang="en-US" sz="1725" b="0">
                <a:solidFill>
                  <a:srgbClr val="656B73"/>
                </a:solidFill>
                <a:latin typeface="Roboto"/>
                <a:ea typeface="Roboto"/>
                <a:cs typeface="Roboto"/>
                <a:hlinkClick r:id="rId10"/>
              </a:rPr>
              <a:t>icons8.com/license</a:t>
            </a:r>
          </a:p>
        </p:txBody>
      </p:sp>
    </p:spTree>
    <p:extLst>
      <p:ext uri="{BB962C8B-B14F-4D97-AF65-F5344CB8AC3E}">
        <p14:creationId xmlns:p14="http://schemas.microsoft.com/office/powerpoint/2010/main" val="2223438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9901F2C-0A79-49BA-B0AC-419C9622751C}"/>
              </a:ext>
            </a:extLst>
          </p:cNvPr>
          <p:cNvPicPr>
            <a:picLocks noChangeAspect="1"/>
          </p:cNvPicPr>
          <p:nvPr/>
        </p:nvPicPr>
        <p:blipFill>
          <a:blip r:embed="rId3"/>
          <a:stretch/>
        </p:blipFill>
        <p:spPr>
          <a:xfrm>
            <a:off x="11049000" y="238125"/>
            <a:ext cx="838200" cy="838200"/>
          </a:xfrm>
          <a:prstGeom prst="rect">
            <a:avLst/>
          </a:prstGeom>
        </p:spPr>
      </p:pic>
      <p:sp>
        <p:nvSpPr>
          <p:cNvPr id="3" name="extra-title">
            <a:extLst>
              <a:ext uri="{FF2B5EF4-FFF2-40B4-BE49-F238E27FC236}">
                <a16:creationId xmlns:a16="http://schemas.microsoft.com/office/drawing/2014/main" id="{BFB34D7F-D2EF-4DD9-A1E7-BE9FC8A23011}"/>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sz="3200" b="0">
                <a:solidFill>
                  <a:srgbClr val="202124"/>
                </a:solidFill>
                <a:latin typeface="Roboto"/>
                <a:ea typeface="Roboto"/>
                <a:cs typeface="Roboto"/>
              </a:defRPr>
            </a:defPPr>
            <a:lvl1pPr algn="l">
              <a:defRPr sz="3200" b="0">
                <a:solidFill>
                  <a:srgbClr val="202124"/>
                </a:solidFill>
                <a:latin typeface="Roboto"/>
                <a:ea typeface="Roboto"/>
                <a:cs typeface="Roboto"/>
              </a:defRPr>
            </a:lvl1pPr>
            <a:lvl2pPr algn="l">
              <a:defRPr sz="3200" b="0">
                <a:solidFill>
                  <a:srgbClr val="202124"/>
                </a:solidFill>
                <a:latin typeface="Roboto"/>
                <a:ea typeface="Roboto"/>
                <a:cs typeface="Roboto"/>
              </a:defRPr>
            </a:lvl2pPr>
            <a:lvl3pPr algn="l">
              <a:defRPr sz="3200" b="0">
                <a:solidFill>
                  <a:srgbClr val="202124"/>
                </a:solidFill>
                <a:latin typeface="Roboto"/>
                <a:ea typeface="Roboto"/>
                <a:cs typeface="Roboto"/>
              </a:defRPr>
            </a:lvl3pPr>
            <a:lvl4pPr algn="l">
              <a:defRPr sz="3200" b="0">
                <a:solidFill>
                  <a:srgbClr val="202124"/>
                </a:solidFill>
                <a:latin typeface="Roboto"/>
                <a:ea typeface="Roboto"/>
                <a:cs typeface="Roboto"/>
              </a:defRPr>
            </a:lvl4pPr>
            <a:lvl5pPr algn="l">
              <a:defRPr sz="3200" b="0">
                <a:solidFill>
                  <a:srgbClr val="202124"/>
                </a:solidFill>
                <a:latin typeface="Roboto"/>
                <a:ea typeface="Roboto"/>
                <a:cs typeface="Roboto"/>
              </a:defRPr>
            </a:lvl5pPr>
            <a:lvl6pPr algn="l">
              <a:defRPr sz="3200" b="0">
                <a:solidFill>
                  <a:srgbClr val="202124"/>
                </a:solidFill>
                <a:latin typeface="Roboto"/>
                <a:ea typeface="Roboto"/>
                <a:cs typeface="Roboto"/>
              </a:defRPr>
            </a:lvl6pPr>
            <a:lvl7pPr algn="l">
              <a:defRPr sz="3200" b="0">
                <a:solidFill>
                  <a:srgbClr val="202124"/>
                </a:solidFill>
                <a:latin typeface="Roboto"/>
                <a:ea typeface="Roboto"/>
                <a:cs typeface="Roboto"/>
              </a:defRPr>
            </a:lvl7pPr>
            <a:lvl8pPr algn="l">
              <a:defRPr sz="3200" b="0">
                <a:solidFill>
                  <a:srgbClr val="202124"/>
                </a:solidFill>
                <a:latin typeface="Roboto"/>
                <a:ea typeface="Roboto"/>
                <a:cs typeface="Roboto"/>
              </a:defRPr>
            </a:lvl8pPr>
            <a:lvl9pPr algn="l">
              <a:defRPr sz="3200" b="0">
                <a:solidFill>
                  <a:srgbClr val="202124"/>
                </a:solidFill>
                <a:latin typeface="Roboto"/>
                <a:ea typeface="Roboto"/>
                <a:cs typeface="Roboto"/>
              </a:defRPr>
            </a:lvl9pPr>
          </a:lstStyle>
          <a:p>
            <a:pPr algn="l">
              <a:defRPr sz="3200" b="0">
                <a:solidFill>
                  <a:srgbClr val="202124"/>
                </a:solidFill>
                <a:latin typeface="Roboto"/>
                <a:ea typeface="Roboto"/>
                <a:cs typeface="Roboto"/>
              </a:defRPr>
            </a:pPr>
            <a:r>
              <a:rPr sz="3200" b="0">
                <a:solidFill>
                  <a:srgbClr val="202124"/>
                </a:solidFill>
                <a:latin typeface="Roboto"/>
                <a:ea typeface="Roboto"/>
                <a:cs typeface="Roboto"/>
              </a:rPr>
              <a:t>Extra: Variations and hole sizes</a:t>
            </a:r>
          </a:p>
        </p:txBody>
      </p:sp>
      <p:sp>
        <p:nvSpPr>
          <p:cNvPr id="4" name="extra-footer-author">
            <a:extLst>
              <a:ext uri="{FF2B5EF4-FFF2-40B4-BE49-F238E27FC236}">
                <a16:creationId xmlns:a16="http://schemas.microsoft.com/office/drawing/2014/main" id="{A4F1C7C4-19B6-42AC-9654-14D5FEF79472}"/>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sz="1000" b="0">
                <a:solidFill>
                  <a:srgbClr val="656B73"/>
                </a:solidFill>
                <a:latin typeface="Roboto"/>
                <a:ea typeface="Roboto"/>
                <a:cs typeface="Roboto"/>
              </a:defRPr>
            </a:defPPr>
            <a:lvl1pPr algn="l">
              <a:defRPr sz="1000" b="0">
                <a:solidFill>
                  <a:srgbClr val="656B73"/>
                </a:solidFill>
                <a:latin typeface="Roboto"/>
                <a:ea typeface="Roboto"/>
                <a:cs typeface="Roboto"/>
              </a:defRPr>
            </a:lvl1pPr>
            <a:lvl2pPr algn="l">
              <a:defRPr sz="1000" b="0">
                <a:solidFill>
                  <a:srgbClr val="656B73"/>
                </a:solidFill>
                <a:latin typeface="Roboto"/>
                <a:ea typeface="Roboto"/>
                <a:cs typeface="Roboto"/>
              </a:defRPr>
            </a:lvl2pPr>
            <a:lvl3pPr algn="l">
              <a:defRPr sz="1000" b="0">
                <a:solidFill>
                  <a:srgbClr val="656B73"/>
                </a:solidFill>
                <a:latin typeface="Roboto"/>
                <a:ea typeface="Roboto"/>
                <a:cs typeface="Roboto"/>
              </a:defRPr>
            </a:lvl3pPr>
            <a:lvl4pPr algn="l">
              <a:defRPr sz="1000" b="0">
                <a:solidFill>
                  <a:srgbClr val="656B73"/>
                </a:solidFill>
                <a:latin typeface="Roboto"/>
                <a:ea typeface="Roboto"/>
                <a:cs typeface="Roboto"/>
              </a:defRPr>
            </a:lvl4pPr>
            <a:lvl5pPr algn="l">
              <a:defRPr sz="1000" b="0">
                <a:solidFill>
                  <a:srgbClr val="656B73"/>
                </a:solidFill>
                <a:latin typeface="Roboto"/>
                <a:ea typeface="Roboto"/>
                <a:cs typeface="Roboto"/>
              </a:defRPr>
            </a:lvl5pPr>
            <a:lvl6pPr algn="l">
              <a:defRPr sz="1000" b="0">
                <a:solidFill>
                  <a:srgbClr val="656B73"/>
                </a:solidFill>
                <a:latin typeface="Roboto"/>
                <a:ea typeface="Roboto"/>
                <a:cs typeface="Roboto"/>
              </a:defRPr>
            </a:lvl6pPr>
            <a:lvl7pPr algn="l">
              <a:defRPr sz="1000" b="0">
                <a:solidFill>
                  <a:srgbClr val="656B73"/>
                </a:solidFill>
                <a:latin typeface="Roboto"/>
                <a:ea typeface="Roboto"/>
                <a:cs typeface="Roboto"/>
              </a:defRPr>
            </a:lvl7pPr>
            <a:lvl8pPr algn="l">
              <a:defRPr sz="1000" b="0">
                <a:solidFill>
                  <a:srgbClr val="656B73"/>
                </a:solidFill>
                <a:latin typeface="Roboto"/>
                <a:ea typeface="Roboto"/>
                <a:cs typeface="Roboto"/>
              </a:defRPr>
            </a:lvl8pPr>
            <a:lvl9pPr algn="l">
              <a:defRPr sz="1000" b="0">
                <a:solidFill>
                  <a:srgbClr val="656B73"/>
                </a:solidFill>
                <a:latin typeface="Roboto"/>
                <a:ea typeface="Roboto"/>
                <a:cs typeface="Roboto"/>
              </a:defRPr>
            </a:lvl9pPr>
          </a:lstStyle>
          <a:p>
            <a:pPr algn="l">
              <a:defRPr sz="1000" b="0">
                <a:solidFill>
                  <a:srgbClr val="656B73"/>
                </a:solidFill>
                <a:latin typeface="Roboto"/>
                <a:ea typeface="Roboto"/>
                <a:cs typeface="Roboto"/>
              </a:defRPr>
            </a:pPr>
            <a:r>
              <a:rPr sz="1000" b="0">
                <a:solidFill>
                  <a:srgbClr val="656B73"/>
                </a:solidFill>
                <a:latin typeface="Roboto"/>
                <a:ea typeface="Roboto"/>
                <a:cs typeface="Roboto"/>
              </a:rPr>
              <a:t>Daniele Venturini</a:t>
            </a:r>
          </a:p>
        </p:txBody>
      </p:sp>
      <p:sp>
        <p:nvSpPr>
          <p:cNvPr id="5" name="extra-footer-date">
            <a:extLst>
              <a:ext uri="{FF2B5EF4-FFF2-40B4-BE49-F238E27FC236}">
                <a16:creationId xmlns:a16="http://schemas.microsoft.com/office/drawing/2014/main" id="{A42C8DC5-184A-4AF0-83D5-E471D76702E3}"/>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sz="1000" b="0">
                <a:solidFill>
                  <a:srgbClr val="656B73"/>
                </a:solidFill>
                <a:latin typeface="Roboto"/>
                <a:ea typeface="Roboto"/>
                <a:cs typeface="Roboto"/>
              </a:defRPr>
            </a:defPPr>
            <a:lvl1pPr algn="r">
              <a:defRPr sz="1000" b="0">
                <a:solidFill>
                  <a:srgbClr val="656B73"/>
                </a:solidFill>
                <a:latin typeface="Roboto"/>
                <a:ea typeface="Roboto"/>
                <a:cs typeface="Roboto"/>
              </a:defRPr>
            </a:lvl1pPr>
            <a:lvl2pPr algn="r">
              <a:defRPr sz="1000" b="0">
                <a:solidFill>
                  <a:srgbClr val="656B73"/>
                </a:solidFill>
                <a:latin typeface="Roboto"/>
                <a:ea typeface="Roboto"/>
                <a:cs typeface="Roboto"/>
              </a:defRPr>
            </a:lvl2pPr>
            <a:lvl3pPr algn="r">
              <a:defRPr sz="1000" b="0">
                <a:solidFill>
                  <a:srgbClr val="656B73"/>
                </a:solidFill>
                <a:latin typeface="Roboto"/>
                <a:ea typeface="Roboto"/>
                <a:cs typeface="Roboto"/>
              </a:defRPr>
            </a:lvl3pPr>
            <a:lvl4pPr algn="r">
              <a:defRPr sz="1000" b="0">
                <a:solidFill>
                  <a:srgbClr val="656B73"/>
                </a:solidFill>
                <a:latin typeface="Roboto"/>
                <a:ea typeface="Roboto"/>
                <a:cs typeface="Roboto"/>
              </a:defRPr>
            </a:lvl4pPr>
            <a:lvl5pPr algn="r">
              <a:defRPr sz="1000" b="0">
                <a:solidFill>
                  <a:srgbClr val="656B73"/>
                </a:solidFill>
                <a:latin typeface="Roboto"/>
                <a:ea typeface="Roboto"/>
                <a:cs typeface="Roboto"/>
              </a:defRPr>
            </a:lvl5pPr>
            <a:lvl6pPr algn="r">
              <a:defRPr sz="1000" b="0">
                <a:solidFill>
                  <a:srgbClr val="656B73"/>
                </a:solidFill>
                <a:latin typeface="Roboto"/>
                <a:ea typeface="Roboto"/>
                <a:cs typeface="Roboto"/>
              </a:defRPr>
            </a:lvl6pPr>
            <a:lvl7pPr algn="r">
              <a:defRPr sz="1000" b="0">
                <a:solidFill>
                  <a:srgbClr val="656B73"/>
                </a:solidFill>
                <a:latin typeface="Roboto"/>
                <a:ea typeface="Roboto"/>
                <a:cs typeface="Roboto"/>
              </a:defRPr>
            </a:lvl7pPr>
            <a:lvl8pPr algn="r">
              <a:defRPr sz="1000" b="0">
                <a:solidFill>
                  <a:srgbClr val="656B73"/>
                </a:solidFill>
                <a:latin typeface="Roboto"/>
                <a:ea typeface="Roboto"/>
                <a:cs typeface="Roboto"/>
              </a:defRPr>
            </a:lvl8pPr>
            <a:lvl9pPr algn="r">
              <a:defRPr sz="1000" b="0">
                <a:solidFill>
                  <a:srgbClr val="656B73"/>
                </a:solidFill>
                <a:latin typeface="Roboto"/>
                <a:ea typeface="Roboto"/>
                <a:cs typeface="Roboto"/>
              </a:defRPr>
            </a:lvl9pPr>
          </a:lstStyle>
          <a:p>
            <a:pPr algn="r">
              <a:defRPr sz="1000" b="0">
                <a:solidFill>
                  <a:srgbClr val="656B73"/>
                </a:solidFill>
                <a:latin typeface="Roboto"/>
                <a:ea typeface="Roboto"/>
                <a:cs typeface="Roboto"/>
              </a:defRPr>
            </a:pPr>
            <a:r>
              <a:rPr sz="1000" b="0">
                <a:solidFill>
                  <a:srgbClr val="656B73"/>
                </a:solidFill>
                <a:latin typeface="Roboto"/>
                <a:ea typeface="Roboto"/>
                <a:cs typeface="Roboto"/>
              </a:rPr>
              <a:t>27 October 2026</a:t>
            </a:r>
          </a:p>
        </p:txBody>
      </p:sp>
      <p:sp>
        <p:nvSpPr>
          <p:cNvPr id="6" name="extra-footer-page">
            <a:extLst>
              <a:ext uri="{FF2B5EF4-FFF2-40B4-BE49-F238E27FC236}">
                <a16:creationId xmlns:a16="http://schemas.microsoft.com/office/drawing/2014/main" id="{726035F4-7FD9-4D1E-BE68-525BDBFE973B}"/>
              </a:ext>
            </a:extLst>
          </p:cNvPr>
          <p:cNvSpPr>
            <a:spLocks noGrp="1"/>
          </p:cNvSpPr>
          <p:nvPr/>
        </p:nvSpPr>
        <p:spPr>
          <a:xfrm>
            <a:off x="10953750" y="6581775"/>
            <a:ext cx="857250" cy="180975"/>
          </a:xfrm>
          <a:prstGeom prst="rect">
            <a:avLst/>
          </a:prstGeom>
          <a:noFill/>
          <a:ln w="0">
            <a:noFill/>
          </a:ln>
        </p:spPr>
        <p:txBody>
          <a:bodyPr wrap="square" lIns="0" tIns="0" rIns="0" bIns="0" anchor="t">
            <a:noAutofit/>
          </a:bodyPr>
          <a:lstStyle>
            <a:defPPr algn="r">
              <a:defRPr sz="1000" b="0">
                <a:solidFill>
                  <a:srgbClr val="656B73"/>
                </a:solidFill>
                <a:latin typeface="Roboto"/>
                <a:ea typeface="Roboto"/>
                <a:cs typeface="Roboto"/>
              </a:defRPr>
            </a:defPPr>
            <a:lvl1pPr algn="r">
              <a:defRPr sz="1000" b="0">
                <a:solidFill>
                  <a:srgbClr val="656B73"/>
                </a:solidFill>
                <a:latin typeface="Roboto"/>
                <a:ea typeface="Roboto"/>
                <a:cs typeface="Roboto"/>
              </a:defRPr>
            </a:lvl1pPr>
            <a:lvl2pPr algn="r">
              <a:defRPr sz="1000" b="0">
                <a:solidFill>
                  <a:srgbClr val="656B73"/>
                </a:solidFill>
                <a:latin typeface="Roboto"/>
                <a:ea typeface="Roboto"/>
                <a:cs typeface="Roboto"/>
              </a:defRPr>
            </a:lvl2pPr>
            <a:lvl3pPr algn="r">
              <a:defRPr sz="1000" b="0">
                <a:solidFill>
                  <a:srgbClr val="656B73"/>
                </a:solidFill>
                <a:latin typeface="Roboto"/>
                <a:ea typeface="Roboto"/>
                <a:cs typeface="Roboto"/>
              </a:defRPr>
            </a:lvl3pPr>
            <a:lvl4pPr algn="r">
              <a:defRPr sz="1000" b="0">
                <a:solidFill>
                  <a:srgbClr val="656B73"/>
                </a:solidFill>
                <a:latin typeface="Roboto"/>
                <a:ea typeface="Roboto"/>
                <a:cs typeface="Roboto"/>
              </a:defRPr>
            </a:lvl4pPr>
            <a:lvl5pPr algn="r">
              <a:defRPr sz="1000" b="0">
                <a:solidFill>
                  <a:srgbClr val="656B73"/>
                </a:solidFill>
                <a:latin typeface="Roboto"/>
                <a:ea typeface="Roboto"/>
                <a:cs typeface="Roboto"/>
              </a:defRPr>
            </a:lvl5pPr>
            <a:lvl6pPr algn="r">
              <a:defRPr sz="1000" b="0">
                <a:solidFill>
                  <a:srgbClr val="656B73"/>
                </a:solidFill>
                <a:latin typeface="Roboto"/>
                <a:ea typeface="Roboto"/>
                <a:cs typeface="Roboto"/>
              </a:defRPr>
            </a:lvl6pPr>
            <a:lvl7pPr algn="r">
              <a:defRPr sz="1000" b="0">
                <a:solidFill>
                  <a:srgbClr val="656B73"/>
                </a:solidFill>
                <a:latin typeface="Roboto"/>
                <a:ea typeface="Roboto"/>
                <a:cs typeface="Roboto"/>
              </a:defRPr>
            </a:lvl7pPr>
            <a:lvl8pPr algn="r">
              <a:defRPr sz="1000" b="0">
                <a:solidFill>
                  <a:srgbClr val="656B73"/>
                </a:solidFill>
                <a:latin typeface="Roboto"/>
                <a:ea typeface="Roboto"/>
                <a:cs typeface="Roboto"/>
              </a:defRPr>
            </a:lvl8pPr>
            <a:lvl9pPr algn="r">
              <a:defRPr sz="1000" b="0">
                <a:solidFill>
                  <a:srgbClr val="656B73"/>
                </a:solidFill>
                <a:latin typeface="Roboto"/>
                <a:ea typeface="Roboto"/>
                <a:cs typeface="Roboto"/>
              </a:defRPr>
            </a:lvl9pPr>
          </a:lstStyle>
          <a:p>
            <a:pPr algn="r">
              <a:defRPr sz="1000" b="0">
                <a:solidFill>
                  <a:srgbClr val="656B73"/>
                </a:solidFill>
                <a:latin typeface="Roboto"/>
                <a:ea typeface="Roboto"/>
                <a:cs typeface="Roboto"/>
              </a:defRPr>
            </a:pPr>
            <a:r>
              <a:rPr sz="1000" b="0">
                <a:solidFill>
                  <a:srgbClr val="656B73"/>
                </a:solidFill>
                <a:latin typeface="Roboto"/>
                <a:ea typeface="Roboto"/>
                <a:cs typeface="Roboto"/>
              </a:rPr>
              <a:t>Extra</a:t>
            </a:r>
          </a:p>
        </p:txBody>
      </p:sp>
      <p:pic>
        <p:nvPicPr>
          <p:cNvPr id="7" name="Immagine 6">
            <a:extLst>
              <a:ext uri="{FF2B5EF4-FFF2-40B4-BE49-F238E27FC236}">
                <a16:creationId xmlns:a16="http://schemas.microsoft.com/office/drawing/2014/main" id="{B8473695-2AB3-4A52-AA87-F1C7AC527ED2}"/>
              </a:ext>
            </a:extLst>
          </p:cNvPr>
          <p:cNvPicPr>
            <a:picLocks noChangeAspect="1"/>
          </p:cNvPicPr>
          <p:nvPr/>
        </p:nvPicPr>
        <p:blipFill>
          <a:blip r:embed="rId4"/>
          <a:stretch/>
        </p:blipFill>
        <p:spPr>
          <a:xfrm>
            <a:off x="1190625" y="1438275"/>
            <a:ext cx="1524000" cy="1143000"/>
          </a:xfrm>
          <a:prstGeom prst="rect">
            <a:avLst/>
          </a:prstGeom>
        </p:spPr>
      </p:pic>
      <p:sp>
        <p:nvSpPr>
          <p:cNvPr id="8" name="extra-caption-1">
            <a:extLst>
              <a:ext uri="{FF2B5EF4-FFF2-40B4-BE49-F238E27FC236}">
                <a16:creationId xmlns:a16="http://schemas.microsoft.com/office/drawing/2014/main" id="{9F9E8749-9653-407A-9394-E0D2A1E1C7E3}"/>
              </a:ext>
            </a:extLst>
          </p:cNvPr>
          <p:cNvSpPr>
            <a:spLocks noGrp="1"/>
          </p:cNvSpPr>
          <p:nvPr/>
        </p:nvSpPr>
        <p:spPr>
          <a:xfrm>
            <a:off x="695325" y="261937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Lighting: Dusty (75%)</a:t>
            </a:r>
          </a:p>
        </p:txBody>
      </p:sp>
      <p:pic>
        <p:nvPicPr>
          <p:cNvPr id="9" name="Immagine 8">
            <a:extLst>
              <a:ext uri="{FF2B5EF4-FFF2-40B4-BE49-F238E27FC236}">
                <a16:creationId xmlns:a16="http://schemas.microsoft.com/office/drawing/2014/main" id="{D68BA994-1347-4FF4-8E50-4425E821224B}"/>
              </a:ext>
            </a:extLst>
          </p:cNvPr>
          <p:cNvPicPr>
            <a:picLocks noChangeAspect="1"/>
          </p:cNvPicPr>
          <p:nvPr/>
        </p:nvPicPr>
        <p:blipFill>
          <a:blip r:embed="rId5"/>
          <a:stretch/>
        </p:blipFill>
        <p:spPr>
          <a:xfrm>
            <a:off x="3924300" y="1438275"/>
            <a:ext cx="1524000" cy="1143000"/>
          </a:xfrm>
          <a:prstGeom prst="rect">
            <a:avLst/>
          </a:prstGeom>
        </p:spPr>
      </p:pic>
      <p:sp>
        <p:nvSpPr>
          <p:cNvPr id="10" name="extra-caption-2">
            <a:extLst>
              <a:ext uri="{FF2B5EF4-FFF2-40B4-BE49-F238E27FC236}">
                <a16:creationId xmlns:a16="http://schemas.microsoft.com/office/drawing/2014/main" id="{8A18B0E3-9E91-4220-8D32-9DC7E4BEC7BA}"/>
              </a:ext>
            </a:extLst>
          </p:cNvPr>
          <p:cNvSpPr>
            <a:spLocks noGrp="1"/>
          </p:cNvSpPr>
          <p:nvPr/>
        </p:nvSpPr>
        <p:spPr>
          <a:xfrm>
            <a:off x="3429000" y="261937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Lighting: Clear (25%)</a:t>
            </a:r>
          </a:p>
        </p:txBody>
      </p:sp>
      <p:pic>
        <p:nvPicPr>
          <p:cNvPr id="11" name="Immagine 10">
            <a:extLst>
              <a:ext uri="{FF2B5EF4-FFF2-40B4-BE49-F238E27FC236}">
                <a16:creationId xmlns:a16="http://schemas.microsoft.com/office/drawing/2014/main" id="{44DD023E-905A-401F-BFFC-B296F799FD34}"/>
              </a:ext>
            </a:extLst>
          </p:cNvPr>
          <p:cNvPicPr>
            <a:picLocks noChangeAspect="1"/>
          </p:cNvPicPr>
          <p:nvPr/>
        </p:nvPicPr>
        <p:blipFill>
          <a:blip r:embed="rId4"/>
          <a:stretch/>
        </p:blipFill>
        <p:spPr>
          <a:xfrm>
            <a:off x="6657975" y="1438275"/>
            <a:ext cx="1524000" cy="1143000"/>
          </a:xfrm>
          <a:prstGeom prst="rect">
            <a:avLst/>
          </a:prstGeom>
        </p:spPr>
      </p:pic>
      <p:sp>
        <p:nvSpPr>
          <p:cNvPr id="12" name="extra-caption-3">
            <a:extLst>
              <a:ext uri="{FF2B5EF4-FFF2-40B4-BE49-F238E27FC236}">
                <a16:creationId xmlns:a16="http://schemas.microsoft.com/office/drawing/2014/main" id="{8C2D80FC-2107-4B0B-BCAA-BB60EB466AB2}"/>
              </a:ext>
            </a:extLst>
          </p:cNvPr>
          <p:cNvSpPr>
            <a:spLocks noGrp="1"/>
          </p:cNvSpPr>
          <p:nvPr/>
        </p:nvSpPr>
        <p:spPr>
          <a:xfrm>
            <a:off x="6162675" y="261937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Wear: None added (20%)</a:t>
            </a:r>
          </a:p>
        </p:txBody>
      </p:sp>
      <p:pic>
        <p:nvPicPr>
          <p:cNvPr id="13" name="Immagine 12">
            <a:extLst>
              <a:ext uri="{FF2B5EF4-FFF2-40B4-BE49-F238E27FC236}">
                <a16:creationId xmlns:a16="http://schemas.microsoft.com/office/drawing/2014/main" id="{580A8651-D654-4A96-B3EB-1C41192959F7}"/>
              </a:ext>
            </a:extLst>
          </p:cNvPr>
          <p:cNvPicPr>
            <a:picLocks noChangeAspect="1"/>
          </p:cNvPicPr>
          <p:nvPr/>
        </p:nvPicPr>
        <p:blipFill>
          <a:blip r:embed="rId6"/>
          <a:stretch/>
        </p:blipFill>
        <p:spPr>
          <a:xfrm>
            <a:off x="9391650" y="1438275"/>
            <a:ext cx="1524000" cy="1143000"/>
          </a:xfrm>
          <a:prstGeom prst="rect">
            <a:avLst/>
          </a:prstGeom>
        </p:spPr>
      </p:pic>
      <p:sp>
        <p:nvSpPr>
          <p:cNvPr id="14" name="extra-caption-4">
            <a:extLst>
              <a:ext uri="{FF2B5EF4-FFF2-40B4-BE49-F238E27FC236}">
                <a16:creationId xmlns:a16="http://schemas.microsoft.com/office/drawing/2014/main" id="{440FB8C5-4713-4D16-AD1E-7F18C7283B02}"/>
              </a:ext>
            </a:extLst>
          </p:cNvPr>
          <p:cNvSpPr>
            <a:spLocks noGrp="1"/>
          </p:cNvSpPr>
          <p:nvPr/>
        </p:nvSpPr>
        <p:spPr>
          <a:xfrm>
            <a:off x="8896350" y="261937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Wear: Light (45%)</a:t>
            </a:r>
          </a:p>
        </p:txBody>
      </p:sp>
      <p:pic>
        <p:nvPicPr>
          <p:cNvPr id="15" name="Immagine 14">
            <a:extLst>
              <a:ext uri="{FF2B5EF4-FFF2-40B4-BE49-F238E27FC236}">
                <a16:creationId xmlns:a16="http://schemas.microsoft.com/office/drawing/2014/main" id="{AEBE939E-CAC4-419F-898F-34E9A456EFF0}"/>
              </a:ext>
            </a:extLst>
          </p:cNvPr>
          <p:cNvPicPr>
            <a:picLocks noChangeAspect="1"/>
          </p:cNvPicPr>
          <p:nvPr/>
        </p:nvPicPr>
        <p:blipFill>
          <a:blip r:embed="rId7"/>
          <a:stretch/>
        </p:blipFill>
        <p:spPr>
          <a:xfrm>
            <a:off x="1190625" y="2981325"/>
            <a:ext cx="1524000" cy="1143000"/>
          </a:xfrm>
          <a:prstGeom prst="rect">
            <a:avLst/>
          </a:prstGeom>
        </p:spPr>
      </p:pic>
      <p:sp>
        <p:nvSpPr>
          <p:cNvPr id="16" name="extra-caption-5">
            <a:extLst>
              <a:ext uri="{FF2B5EF4-FFF2-40B4-BE49-F238E27FC236}">
                <a16:creationId xmlns:a16="http://schemas.microsoft.com/office/drawing/2014/main" id="{E88B4186-2E31-40F4-B5FB-B0356FDA7823}"/>
              </a:ext>
            </a:extLst>
          </p:cNvPr>
          <p:cNvSpPr>
            <a:spLocks noGrp="1"/>
          </p:cNvSpPr>
          <p:nvPr/>
        </p:nvSpPr>
        <p:spPr>
          <a:xfrm>
            <a:off x="695325" y="416242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Wear: Evident (35%)</a:t>
            </a:r>
          </a:p>
        </p:txBody>
      </p:sp>
      <p:pic>
        <p:nvPicPr>
          <p:cNvPr id="17" name="Immagine 16">
            <a:extLst>
              <a:ext uri="{FF2B5EF4-FFF2-40B4-BE49-F238E27FC236}">
                <a16:creationId xmlns:a16="http://schemas.microsoft.com/office/drawing/2014/main" id="{0B8F510D-8825-404D-A073-3163E13BC1EC}"/>
              </a:ext>
            </a:extLst>
          </p:cNvPr>
          <p:cNvPicPr>
            <a:picLocks noChangeAspect="1"/>
          </p:cNvPicPr>
          <p:nvPr/>
        </p:nvPicPr>
        <p:blipFill>
          <a:blip r:embed="rId4"/>
          <a:stretch/>
        </p:blipFill>
        <p:spPr>
          <a:xfrm>
            <a:off x="3924300" y="2981325"/>
            <a:ext cx="1524000" cy="1143000"/>
          </a:xfrm>
          <a:prstGeom prst="rect">
            <a:avLst/>
          </a:prstGeom>
        </p:spPr>
      </p:pic>
      <p:sp>
        <p:nvSpPr>
          <p:cNvPr id="18" name="extra-caption-6">
            <a:extLst>
              <a:ext uri="{FF2B5EF4-FFF2-40B4-BE49-F238E27FC236}">
                <a16:creationId xmlns:a16="http://schemas.microsoft.com/office/drawing/2014/main" id="{1CDE3699-A880-453A-BB8B-51C327B129B2}"/>
              </a:ext>
            </a:extLst>
          </p:cNvPr>
          <p:cNvSpPr>
            <a:spLocks noGrp="1"/>
          </p:cNvSpPr>
          <p:nvPr/>
        </p:nvSpPr>
        <p:spPr>
          <a:xfrm>
            <a:off x="3429000" y="416242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View A: Overhead (40%)</a:t>
            </a:r>
          </a:p>
        </p:txBody>
      </p:sp>
      <p:pic>
        <p:nvPicPr>
          <p:cNvPr id="19" name="Immagine 18">
            <a:extLst>
              <a:ext uri="{FF2B5EF4-FFF2-40B4-BE49-F238E27FC236}">
                <a16:creationId xmlns:a16="http://schemas.microsoft.com/office/drawing/2014/main" id="{712A67E7-BC8D-487E-AE46-72F17C351925}"/>
              </a:ext>
            </a:extLst>
          </p:cNvPr>
          <p:cNvPicPr>
            <a:picLocks noChangeAspect="1"/>
          </p:cNvPicPr>
          <p:nvPr/>
        </p:nvPicPr>
        <p:blipFill>
          <a:blip r:embed="rId8"/>
          <a:stretch/>
        </p:blipFill>
        <p:spPr>
          <a:xfrm>
            <a:off x="6657975" y="2981325"/>
            <a:ext cx="1524000" cy="1143000"/>
          </a:xfrm>
          <a:prstGeom prst="rect">
            <a:avLst/>
          </a:prstGeom>
        </p:spPr>
      </p:pic>
      <p:sp>
        <p:nvSpPr>
          <p:cNvPr id="20" name="extra-caption-7">
            <a:extLst>
              <a:ext uri="{FF2B5EF4-FFF2-40B4-BE49-F238E27FC236}">
                <a16:creationId xmlns:a16="http://schemas.microsoft.com/office/drawing/2014/main" id="{A060869B-1C00-4CEF-A580-4D47B892FC32}"/>
              </a:ext>
            </a:extLst>
          </p:cNvPr>
          <p:cNvSpPr>
            <a:spLocks noGrp="1"/>
          </p:cNvSpPr>
          <p:nvPr/>
        </p:nvSpPr>
        <p:spPr>
          <a:xfrm>
            <a:off x="6162675" y="416242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View C1: Leading (27.5%)</a:t>
            </a:r>
          </a:p>
        </p:txBody>
      </p:sp>
      <p:pic>
        <p:nvPicPr>
          <p:cNvPr id="21" name="Immagine 20">
            <a:extLst>
              <a:ext uri="{FF2B5EF4-FFF2-40B4-BE49-F238E27FC236}">
                <a16:creationId xmlns:a16="http://schemas.microsoft.com/office/drawing/2014/main" id="{CA06450C-92F0-4764-8E58-AFFFE62F430E}"/>
              </a:ext>
            </a:extLst>
          </p:cNvPr>
          <p:cNvPicPr>
            <a:picLocks noChangeAspect="1"/>
          </p:cNvPicPr>
          <p:nvPr/>
        </p:nvPicPr>
        <p:blipFill>
          <a:blip r:embed="rId9"/>
          <a:stretch/>
        </p:blipFill>
        <p:spPr>
          <a:xfrm>
            <a:off x="9391650" y="2981325"/>
            <a:ext cx="1524000" cy="1143000"/>
          </a:xfrm>
          <a:prstGeom prst="rect">
            <a:avLst/>
          </a:prstGeom>
        </p:spPr>
      </p:pic>
      <p:sp>
        <p:nvSpPr>
          <p:cNvPr id="22" name="extra-caption-8">
            <a:extLst>
              <a:ext uri="{FF2B5EF4-FFF2-40B4-BE49-F238E27FC236}">
                <a16:creationId xmlns:a16="http://schemas.microsoft.com/office/drawing/2014/main" id="{AE91A8EF-EDDE-4D71-8BAE-73BB423C2710}"/>
              </a:ext>
            </a:extLst>
          </p:cNvPr>
          <p:cNvSpPr>
            <a:spLocks noGrp="1"/>
          </p:cNvSpPr>
          <p:nvPr/>
        </p:nvSpPr>
        <p:spPr>
          <a:xfrm>
            <a:off x="8896350" y="416242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View C2: Trailing (27.5%)</a:t>
            </a:r>
          </a:p>
        </p:txBody>
      </p:sp>
      <p:pic>
        <p:nvPicPr>
          <p:cNvPr id="23" name="Immagine 22">
            <a:extLst>
              <a:ext uri="{FF2B5EF4-FFF2-40B4-BE49-F238E27FC236}">
                <a16:creationId xmlns:a16="http://schemas.microsoft.com/office/drawing/2014/main" id="{897DDBEA-0E34-4BBB-9440-6F2D518CB2B6}"/>
              </a:ext>
            </a:extLst>
          </p:cNvPr>
          <p:cNvPicPr>
            <a:picLocks noChangeAspect="1"/>
          </p:cNvPicPr>
          <p:nvPr/>
        </p:nvPicPr>
        <p:blipFill>
          <a:blip r:embed="rId10"/>
          <a:stretch/>
        </p:blipFill>
        <p:spPr>
          <a:xfrm>
            <a:off x="1190625" y="4524375"/>
            <a:ext cx="1524000" cy="1143000"/>
          </a:xfrm>
          <a:prstGeom prst="rect">
            <a:avLst/>
          </a:prstGeom>
        </p:spPr>
      </p:pic>
      <p:sp>
        <p:nvSpPr>
          <p:cNvPr id="24" name="extra-caption-9">
            <a:extLst>
              <a:ext uri="{FF2B5EF4-FFF2-40B4-BE49-F238E27FC236}">
                <a16:creationId xmlns:a16="http://schemas.microsoft.com/office/drawing/2014/main" id="{8DCC0E22-759C-43EA-A62D-0398EB8FA62E}"/>
              </a:ext>
            </a:extLst>
          </p:cNvPr>
          <p:cNvSpPr>
            <a:spLocks noGrp="1"/>
          </p:cNvSpPr>
          <p:nvPr/>
        </p:nvSpPr>
        <p:spPr>
          <a:xfrm>
            <a:off x="695325" y="570547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View D: Upper detail (5%)</a:t>
            </a:r>
          </a:p>
        </p:txBody>
      </p:sp>
      <p:pic>
        <p:nvPicPr>
          <p:cNvPr id="25" name="Immagine 24">
            <a:extLst>
              <a:ext uri="{FF2B5EF4-FFF2-40B4-BE49-F238E27FC236}">
                <a16:creationId xmlns:a16="http://schemas.microsoft.com/office/drawing/2014/main" id="{B3BD7733-9535-4744-90A0-F08DEEB320C0}"/>
              </a:ext>
            </a:extLst>
          </p:cNvPr>
          <p:cNvPicPr>
            <a:picLocks noChangeAspect="1"/>
          </p:cNvPicPr>
          <p:nvPr/>
        </p:nvPicPr>
        <p:blipFill>
          <a:blip r:embed="rId11"/>
          <a:stretch/>
        </p:blipFill>
        <p:spPr>
          <a:xfrm>
            <a:off x="3924300" y="4524375"/>
            <a:ext cx="1524000" cy="1143000"/>
          </a:xfrm>
          <a:prstGeom prst="rect">
            <a:avLst/>
          </a:prstGeom>
        </p:spPr>
      </p:pic>
      <p:sp>
        <p:nvSpPr>
          <p:cNvPr id="26" name="extra-caption-10">
            <a:extLst>
              <a:ext uri="{FF2B5EF4-FFF2-40B4-BE49-F238E27FC236}">
                <a16:creationId xmlns:a16="http://schemas.microsoft.com/office/drawing/2014/main" id="{04572E9B-B989-479A-AED4-DD9ED2A0AEA0}"/>
              </a:ext>
            </a:extLst>
          </p:cNvPr>
          <p:cNvSpPr>
            <a:spLocks noGrp="1"/>
          </p:cNvSpPr>
          <p:nvPr/>
        </p:nvSpPr>
        <p:spPr>
          <a:xfrm>
            <a:off x="3429000" y="570547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Small hole: 50%*</a:t>
            </a:r>
          </a:p>
          <a:p>
            <a:pPr algn="ctr">
              <a:defRPr sz="1538" b="0">
                <a:solidFill>
                  <a:srgbClr val="202124"/>
                </a:solidFill>
                <a:latin typeface="Roboto"/>
                <a:ea typeface="Roboto"/>
                <a:cs typeface="Roboto"/>
              </a:defRPr>
            </a:pPr>
            <a:r>
              <a:rPr sz="1538" b="0">
                <a:solidFill>
                  <a:srgbClr val="202124"/>
                </a:solidFill>
                <a:latin typeface="Roboto"/>
                <a:ea typeface="Roboto"/>
                <a:cs typeface="Roboto"/>
              </a:rPr>
              <a:t>2.7–4.1 cm</a:t>
            </a:r>
          </a:p>
        </p:txBody>
      </p:sp>
      <p:pic>
        <p:nvPicPr>
          <p:cNvPr id="27" name="Immagine 26">
            <a:extLst>
              <a:ext uri="{FF2B5EF4-FFF2-40B4-BE49-F238E27FC236}">
                <a16:creationId xmlns:a16="http://schemas.microsoft.com/office/drawing/2014/main" id="{1963AC3C-A465-47B8-973D-AB6A77E752D9}"/>
              </a:ext>
            </a:extLst>
          </p:cNvPr>
          <p:cNvPicPr>
            <a:picLocks noChangeAspect="1"/>
          </p:cNvPicPr>
          <p:nvPr/>
        </p:nvPicPr>
        <p:blipFill>
          <a:blip r:embed="rId12"/>
          <a:stretch/>
        </p:blipFill>
        <p:spPr>
          <a:xfrm>
            <a:off x="6657975" y="4524375"/>
            <a:ext cx="1524000" cy="1143000"/>
          </a:xfrm>
          <a:prstGeom prst="rect">
            <a:avLst/>
          </a:prstGeom>
        </p:spPr>
      </p:pic>
      <p:sp>
        <p:nvSpPr>
          <p:cNvPr id="28" name="extra-caption-11">
            <a:extLst>
              <a:ext uri="{FF2B5EF4-FFF2-40B4-BE49-F238E27FC236}">
                <a16:creationId xmlns:a16="http://schemas.microsoft.com/office/drawing/2014/main" id="{3E6D122E-ECA4-4E2A-969C-75A38DCBCED4}"/>
              </a:ext>
            </a:extLst>
          </p:cNvPr>
          <p:cNvSpPr>
            <a:spLocks noGrp="1"/>
          </p:cNvSpPr>
          <p:nvPr/>
        </p:nvSpPr>
        <p:spPr>
          <a:xfrm>
            <a:off x="6162675" y="570547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Medium hole: 40%*</a:t>
            </a:r>
          </a:p>
          <a:p>
            <a:pPr algn="ctr">
              <a:defRPr sz="1538" b="0">
                <a:solidFill>
                  <a:srgbClr val="202124"/>
                </a:solidFill>
                <a:latin typeface="Roboto"/>
                <a:ea typeface="Roboto"/>
                <a:cs typeface="Roboto"/>
              </a:defRPr>
            </a:pPr>
            <a:r>
              <a:rPr sz="1538" b="0">
                <a:solidFill>
                  <a:srgbClr val="202124"/>
                </a:solidFill>
                <a:latin typeface="Roboto"/>
                <a:ea typeface="Roboto"/>
                <a:cs typeface="Roboto"/>
              </a:rPr>
              <a:t>4.4–6.8 cm</a:t>
            </a:r>
          </a:p>
        </p:txBody>
      </p:sp>
      <p:pic>
        <p:nvPicPr>
          <p:cNvPr id="29" name="Immagine 28">
            <a:extLst>
              <a:ext uri="{FF2B5EF4-FFF2-40B4-BE49-F238E27FC236}">
                <a16:creationId xmlns:a16="http://schemas.microsoft.com/office/drawing/2014/main" id="{E837F763-73A5-4475-8BF5-A702538B4491}"/>
              </a:ext>
            </a:extLst>
          </p:cNvPr>
          <p:cNvPicPr>
            <a:picLocks noChangeAspect="1"/>
          </p:cNvPicPr>
          <p:nvPr/>
        </p:nvPicPr>
        <p:blipFill>
          <a:blip r:embed="rId13"/>
          <a:stretch/>
        </p:blipFill>
        <p:spPr>
          <a:xfrm>
            <a:off x="9391650" y="4524375"/>
            <a:ext cx="1524000" cy="1143000"/>
          </a:xfrm>
          <a:prstGeom prst="rect">
            <a:avLst/>
          </a:prstGeom>
        </p:spPr>
      </p:pic>
      <p:sp>
        <p:nvSpPr>
          <p:cNvPr id="30" name="extra-caption-12">
            <a:extLst>
              <a:ext uri="{FF2B5EF4-FFF2-40B4-BE49-F238E27FC236}">
                <a16:creationId xmlns:a16="http://schemas.microsoft.com/office/drawing/2014/main" id="{98950F5A-E692-43F0-9E8B-C2C62C1E1DEE}"/>
              </a:ext>
            </a:extLst>
          </p:cNvPr>
          <p:cNvSpPr>
            <a:spLocks noGrp="1"/>
          </p:cNvSpPr>
          <p:nvPr/>
        </p:nvSpPr>
        <p:spPr>
          <a:xfrm>
            <a:off x="8896350" y="570547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538" b="0">
                <a:solidFill>
                  <a:srgbClr val="202124"/>
                </a:solidFill>
                <a:latin typeface="Roboto"/>
                <a:ea typeface="Roboto"/>
                <a:cs typeface="Roboto"/>
              </a:rPr>
              <a:t>Large hole: 10%*</a:t>
            </a:r>
          </a:p>
          <a:p>
            <a:pPr algn="ctr">
              <a:defRPr sz="1538" b="0">
                <a:solidFill>
                  <a:srgbClr val="202124"/>
                </a:solidFill>
                <a:latin typeface="Roboto"/>
                <a:ea typeface="Roboto"/>
                <a:cs typeface="Roboto"/>
              </a:defRPr>
            </a:pPr>
            <a:r>
              <a:rPr sz="1538" b="0">
                <a:solidFill>
                  <a:srgbClr val="202124"/>
                </a:solidFill>
                <a:latin typeface="Roboto"/>
                <a:ea typeface="Roboto"/>
                <a:cs typeface="Roboto"/>
              </a:rPr>
              <a:t>7.3–11.6 cm</a:t>
            </a:r>
          </a:p>
        </p:txBody>
      </p:sp>
      <p:sp>
        <p:nvSpPr>
          <p:cNvPr id="31" name="extra-share-note">
            <a:extLst>
              <a:ext uri="{FF2B5EF4-FFF2-40B4-BE49-F238E27FC236}">
                <a16:creationId xmlns:a16="http://schemas.microsoft.com/office/drawing/2014/main" id="{459DE7E6-62E9-4141-835A-FC137C73F262}"/>
              </a:ext>
            </a:extLst>
          </p:cNvPr>
          <p:cNvSpPr>
            <a:spLocks noGrp="1"/>
          </p:cNvSpPr>
          <p:nvPr/>
        </p:nvSpPr>
        <p:spPr>
          <a:xfrm>
            <a:off x="762000" y="6219825"/>
            <a:ext cx="10668000" cy="247650"/>
          </a:xfrm>
          <a:prstGeom prst="rect">
            <a:avLst/>
          </a:prstGeom>
          <a:noFill/>
          <a:ln w="0">
            <a:noFill/>
          </a:ln>
        </p:spPr>
        <p:txBody>
          <a:bodyPr wrap="square" lIns="0" tIns="0" rIns="0" bIns="0" anchor="t">
            <a:noAutofit/>
          </a:bodyPr>
          <a:lstStyle>
            <a:defPPr algn="l">
              <a:defRPr sz="1313" b="0">
                <a:solidFill>
                  <a:srgbClr val="656B73"/>
                </a:solidFill>
                <a:latin typeface="Roboto"/>
                <a:ea typeface="Roboto"/>
                <a:cs typeface="Roboto"/>
              </a:defRPr>
            </a:defPPr>
            <a:lvl1pPr algn="l">
              <a:defRPr sz="1313" b="0">
                <a:solidFill>
                  <a:srgbClr val="656B73"/>
                </a:solidFill>
                <a:latin typeface="Roboto"/>
                <a:ea typeface="Roboto"/>
                <a:cs typeface="Roboto"/>
              </a:defRPr>
            </a:lvl1pPr>
            <a:lvl2pPr algn="l">
              <a:defRPr sz="1313" b="0">
                <a:solidFill>
                  <a:srgbClr val="656B73"/>
                </a:solidFill>
                <a:latin typeface="Roboto"/>
                <a:ea typeface="Roboto"/>
                <a:cs typeface="Roboto"/>
              </a:defRPr>
            </a:lvl2pPr>
            <a:lvl3pPr algn="l">
              <a:defRPr sz="1313" b="0">
                <a:solidFill>
                  <a:srgbClr val="656B73"/>
                </a:solidFill>
                <a:latin typeface="Roboto"/>
                <a:ea typeface="Roboto"/>
                <a:cs typeface="Roboto"/>
              </a:defRPr>
            </a:lvl3pPr>
            <a:lvl4pPr algn="l">
              <a:defRPr sz="1313" b="0">
                <a:solidFill>
                  <a:srgbClr val="656B73"/>
                </a:solidFill>
                <a:latin typeface="Roboto"/>
                <a:ea typeface="Roboto"/>
                <a:cs typeface="Roboto"/>
              </a:defRPr>
            </a:lvl4pPr>
            <a:lvl5pPr algn="l">
              <a:defRPr sz="1313" b="0">
                <a:solidFill>
                  <a:srgbClr val="656B73"/>
                </a:solidFill>
                <a:latin typeface="Roboto"/>
                <a:ea typeface="Roboto"/>
                <a:cs typeface="Roboto"/>
              </a:defRPr>
            </a:lvl5pPr>
            <a:lvl6pPr algn="l">
              <a:defRPr sz="1313" b="0">
                <a:solidFill>
                  <a:srgbClr val="656B73"/>
                </a:solidFill>
                <a:latin typeface="Roboto"/>
                <a:ea typeface="Roboto"/>
                <a:cs typeface="Roboto"/>
              </a:defRPr>
            </a:lvl6pPr>
            <a:lvl7pPr algn="l">
              <a:defRPr sz="1313" b="0">
                <a:solidFill>
                  <a:srgbClr val="656B73"/>
                </a:solidFill>
                <a:latin typeface="Roboto"/>
                <a:ea typeface="Roboto"/>
                <a:cs typeface="Roboto"/>
              </a:defRPr>
            </a:lvl7pPr>
            <a:lvl8pPr algn="l">
              <a:defRPr sz="1313" b="0">
                <a:solidFill>
                  <a:srgbClr val="656B73"/>
                </a:solidFill>
                <a:latin typeface="Roboto"/>
                <a:ea typeface="Roboto"/>
                <a:cs typeface="Roboto"/>
              </a:defRPr>
            </a:lvl8pPr>
            <a:lvl9pPr algn="l">
              <a:defRPr sz="1313" b="0">
                <a:solidFill>
                  <a:srgbClr val="656B73"/>
                </a:solidFill>
                <a:latin typeface="Roboto"/>
                <a:ea typeface="Roboto"/>
                <a:cs typeface="Roboto"/>
              </a:defRPr>
            </a:lvl9pPr>
          </a:lstStyle>
          <a:p>
            <a:pPr algn="l">
              <a:defRPr sz="1313" b="0">
                <a:solidFill>
                  <a:srgbClr val="656B73"/>
                </a:solidFill>
                <a:latin typeface="Roboto"/>
                <a:ea typeface="Roboto"/>
                <a:cs typeface="Roboto"/>
              </a:defRPr>
            </a:pPr>
            <a:r>
              <a:rPr sz="1313" b="0">
                <a:solidFill>
                  <a:srgbClr val="656B73"/>
                </a:solidFill>
                <a:latin typeface="Roboto"/>
                <a:ea typeface="Roboto"/>
                <a:cs typeface="Roboto"/>
              </a:rPr>
              <a:t>Lighting, wear and views: all 10,000 images. *Hole sizes: 1,250 anomalous images only.</a:t>
            </a:r>
          </a:p>
        </p:txBody>
      </p:sp>
    </p:spTree>
    <p:extLst>
      <p:ext uri="{BB962C8B-B14F-4D97-AF65-F5344CB8AC3E}">
        <p14:creationId xmlns:p14="http://schemas.microsoft.com/office/powerpoint/2010/main" val="2188226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14EEA8F3-81CB-4824-9BA5-C20AD5E75F53}"/>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Extra: Loss-function comparison</a:t>
            </a:r>
          </a:p>
        </p:txBody>
      </p:sp>
      <p:pic>
        <p:nvPicPr>
          <p:cNvPr id="2" name="Immagine 1">
            <a:extLst>
              <a:ext uri="{FF2B5EF4-FFF2-40B4-BE49-F238E27FC236}">
                <a16:creationId xmlns:a16="http://schemas.microsoft.com/office/drawing/2014/main" id="{AF9501FB-3E69-4DFA-884D-5CF22242940D}"/>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208C1F05-E489-42F0-95AE-8CED071E08DA}"/>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D8B7A721-B965-4AED-B314-908BBC82E79D}"/>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A83F19E6-823A-4BDA-91E1-64AF12935306}"/>
              </a:ext>
            </a:extLst>
          </p:cNvPr>
          <p:cNvSpPr>
            <a:spLocks noGrp="1"/>
          </p:cNvSpPr>
          <p:nvPr/>
        </p:nvSpPr>
        <p:spPr>
          <a:xfrm>
            <a:off x="10572750" y="6581775"/>
            <a:ext cx="1238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Extra 2 / 3</a:t>
            </a:r>
          </a:p>
        </p:txBody>
      </p:sp>
      <p:sp>
        <p:nvSpPr>
          <p:cNvPr id="6" name="source-citations">
            <a:extLst>
              <a:ext uri="{FF2B5EF4-FFF2-40B4-BE49-F238E27FC236}">
                <a16:creationId xmlns:a16="http://schemas.microsoft.com/office/drawing/2014/main" id="{D8AA84B4-0A65-4112-9D92-4F9008E0E929}"/>
              </a:ext>
            </a:extLst>
          </p:cNvPr>
          <p:cNvSpPr>
            <a:spLocks noGrp="1"/>
          </p:cNvSpPr>
          <p:nvPr/>
        </p:nvSpPr>
        <p:spPr>
          <a:xfrm>
            <a:off x="762000" y="6200775"/>
            <a:ext cx="10477500" cy="238125"/>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Section 5.4.1. Exploratory test mIoU (%), approximate values.</a:t>
            </a:r>
          </a:p>
        </p:txBody>
      </p:sp>
      <p:graphicFrame>
        <p:nvGraphicFramePr>
          <p:cNvPr id="7" name="Chart">
            <a:extLst>
              <a:ext uri="{FF2B5EF4-FFF2-40B4-BE49-F238E27FC236}">
                <a16:creationId xmlns:a16="http://schemas.microsoft.com/office/drawing/2014/main" id="{9A03FCEF-4550-4B53-B751-6FCD7D66EDEC}"/>
              </a:ext>
            </a:extLst>
          </p:cNvPr>
          <p:cNvGraphicFramePr/>
          <p:nvPr/>
        </p:nvGraphicFramePr>
        <p:xfrm>
          <a:off x="762000" y="1619250"/>
          <a:ext cx="7429500" cy="2905125"/>
        </p:xfrm>
        <a:graphic>
          <a:graphicData uri="http://schemas.openxmlformats.org/drawingml/2006/chart">
            <c:chart xmlns:c="http://schemas.openxmlformats.org/drawingml/2006/chart" xmlns:r="http://schemas.openxmlformats.org/officeDocument/2006/relationships" r:id="rId4"/>
          </a:graphicData>
        </a:graphic>
      </p:graphicFrame>
      <p:pic>
        <p:nvPicPr>
          <p:cNvPr id="8" name="Immagine 7">
            <a:extLst>
              <a:ext uri="{FF2B5EF4-FFF2-40B4-BE49-F238E27FC236}">
                <a16:creationId xmlns:a16="http://schemas.microsoft.com/office/drawing/2014/main" id="{1CD20A99-EFA9-44C3-A64D-B7981FB1728D}"/>
              </a:ext>
            </a:extLst>
          </p:cNvPr>
          <p:cNvPicPr>
            <a:picLocks noChangeAspect="1"/>
          </p:cNvPicPr>
          <p:nvPr/>
        </p:nvPicPr>
        <p:blipFill>
          <a:blip r:embed="rId5"/>
          <a:stretch/>
        </p:blipFill>
        <p:spPr>
          <a:xfrm>
            <a:off x="9601200" y="1600200"/>
            <a:ext cx="714375" cy="714375"/>
          </a:xfrm>
          <a:prstGeom prst="rect">
            <a:avLst/>
          </a:prstGeom>
        </p:spPr>
      </p:pic>
      <p:sp>
        <p:nvSpPr>
          <p:cNvPr id="9" name="loss-formula">
            <a:extLst>
              <a:ext uri="{FF2B5EF4-FFF2-40B4-BE49-F238E27FC236}">
                <a16:creationId xmlns:a16="http://schemas.microsoft.com/office/drawing/2014/main" id="{94BD5265-E9BF-47A9-9CDF-423711265657}"/>
              </a:ext>
            </a:extLst>
          </p:cNvPr>
          <p:cNvSpPr>
            <a:spLocks noGrp="1"/>
          </p:cNvSpPr>
          <p:nvPr/>
        </p:nvSpPr>
        <p:spPr>
          <a:xfrm>
            <a:off x="8572500" y="2647950"/>
            <a:ext cx="2857500" cy="1171575"/>
          </a:xfrm>
          <a:prstGeom prst="rect">
            <a:avLst/>
          </a:prstGeom>
          <a:noFill/>
          <a:ln w="0">
            <a:noFill/>
          </a:ln>
        </p:spPr>
        <p:txBody>
          <a:bodyPr wrap="square" lIns="0" tIns="0" rIns="0" bIns="0" anchor="t">
            <a:noAutofit/>
          </a:bodyPr>
          <a:lstStyle>
            <a:defPPr algn="ctr">
              <a:defRPr lang="en-US" sz="2925" b="1">
                <a:solidFill>
                  <a:srgbClr val="822433"/>
                </a:solidFill>
                <a:latin typeface="Roboto"/>
                <a:ea typeface="Roboto"/>
                <a:cs typeface="Roboto"/>
              </a:defRPr>
            </a:defPPr>
            <a:lvl1pPr algn="ctr">
              <a:defRPr lang="en-US" sz="2925" b="1">
                <a:solidFill>
                  <a:srgbClr val="822433"/>
                </a:solidFill>
                <a:latin typeface="Roboto"/>
                <a:ea typeface="Roboto"/>
                <a:cs typeface="Roboto"/>
              </a:defRPr>
            </a:lvl1pPr>
            <a:lvl2pPr algn="ctr">
              <a:defRPr lang="en-US" sz="2925" b="1">
                <a:solidFill>
                  <a:srgbClr val="822433"/>
                </a:solidFill>
                <a:latin typeface="Roboto"/>
                <a:ea typeface="Roboto"/>
                <a:cs typeface="Roboto"/>
              </a:defRPr>
            </a:lvl2pPr>
            <a:lvl3pPr algn="ctr">
              <a:defRPr lang="en-US" sz="2925" b="1">
                <a:solidFill>
                  <a:srgbClr val="822433"/>
                </a:solidFill>
                <a:latin typeface="Roboto"/>
                <a:ea typeface="Roboto"/>
                <a:cs typeface="Roboto"/>
              </a:defRPr>
            </a:lvl3pPr>
            <a:lvl4pPr algn="ctr">
              <a:defRPr lang="en-US" sz="2925" b="1">
                <a:solidFill>
                  <a:srgbClr val="822433"/>
                </a:solidFill>
                <a:latin typeface="Roboto"/>
                <a:ea typeface="Roboto"/>
                <a:cs typeface="Roboto"/>
              </a:defRPr>
            </a:lvl4pPr>
            <a:lvl5pPr algn="ctr">
              <a:defRPr lang="en-US" sz="2925" b="1">
                <a:solidFill>
                  <a:srgbClr val="822433"/>
                </a:solidFill>
                <a:latin typeface="Roboto"/>
                <a:ea typeface="Roboto"/>
                <a:cs typeface="Roboto"/>
              </a:defRPr>
            </a:lvl5pPr>
            <a:lvl6pPr algn="ctr">
              <a:defRPr lang="en-US" sz="2925" b="1">
                <a:solidFill>
                  <a:srgbClr val="822433"/>
                </a:solidFill>
                <a:latin typeface="Roboto"/>
                <a:ea typeface="Roboto"/>
                <a:cs typeface="Roboto"/>
              </a:defRPr>
            </a:lvl6pPr>
            <a:lvl7pPr algn="ctr">
              <a:defRPr lang="en-US" sz="2925" b="1">
                <a:solidFill>
                  <a:srgbClr val="822433"/>
                </a:solidFill>
                <a:latin typeface="Roboto"/>
                <a:ea typeface="Roboto"/>
                <a:cs typeface="Roboto"/>
              </a:defRPr>
            </a:lvl7pPr>
            <a:lvl8pPr algn="ctr">
              <a:defRPr lang="en-US" sz="2925" b="1">
                <a:solidFill>
                  <a:srgbClr val="822433"/>
                </a:solidFill>
                <a:latin typeface="Roboto"/>
                <a:ea typeface="Roboto"/>
                <a:cs typeface="Roboto"/>
              </a:defRPr>
            </a:lvl8pPr>
            <a:lvl9pPr algn="ctr">
              <a:defRPr lang="en-US" sz="2925" b="1">
                <a:solidFill>
                  <a:srgbClr val="822433"/>
                </a:solidFill>
                <a:latin typeface="Roboto"/>
                <a:ea typeface="Roboto"/>
                <a:cs typeface="Roboto"/>
              </a:defRPr>
            </a:lvl9pPr>
          </a:lstStyle>
          <a:p>
            <a:pPr algn="ctr">
              <a:defRPr lang="en-US" sz="2925" b="1">
                <a:solidFill>
                  <a:srgbClr val="822433"/>
                </a:solidFill>
                <a:latin typeface="Roboto"/>
                <a:ea typeface="Roboto"/>
                <a:cs typeface="Roboto"/>
              </a:defRPr>
            </a:pPr>
            <a:r>
              <a:rPr lang="en-US" sz="2925" b="1">
                <a:solidFill>
                  <a:srgbClr val="822433"/>
                </a:solidFill>
                <a:latin typeface="Roboto"/>
                <a:ea typeface="Roboto"/>
                <a:cs typeface="Roboto"/>
              </a:rPr>
              <a:t>0.5 CE</a:t>
            </a:r>
          </a:p>
          <a:p>
            <a:pPr algn="ctr">
              <a:defRPr lang="en-US" sz="2925" b="1">
                <a:solidFill>
                  <a:srgbClr val="822433"/>
                </a:solidFill>
                <a:latin typeface="Roboto"/>
                <a:ea typeface="Roboto"/>
                <a:cs typeface="Roboto"/>
              </a:defRPr>
            </a:pPr>
            <a:r>
              <a:rPr lang="en-US" sz="2925" b="1">
                <a:solidFill>
                  <a:srgbClr val="822433"/>
                </a:solidFill>
                <a:latin typeface="Roboto"/>
                <a:ea typeface="Roboto"/>
                <a:cs typeface="Roboto"/>
              </a:rPr>
              <a:t>+ 0.5 GDL</a:t>
            </a:r>
          </a:p>
        </p:txBody>
      </p:sp>
      <p:sp>
        <p:nvSpPr>
          <p:cNvPr id="10" name="loss-gains">
            <a:extLst>
              <a:ext uri="{FF2B5EF4-FFF2-40B4-BE49-F238E27FC236}">
                <a16:creationId xmlns:a16="http://schemas.microsoft.com/office/drawing/2014/main" id="{E87874F5-93B2-4CD9-8F49-5C1A4F4D4F5E}"/>
              </a:ext>
            </a:extLst>
          </p:cNvPr>
          <p:cNvSpPr>
            <a:spLocks noGrp="1"/>
          </p:cNvSpPr>
          <p:nvPr/>
        </p:nvSpPr>
        <p:spPr>
          <a:xfrm>
            <a:off x="8305800" y="4010025"/>
            <a:ext cx="3333750" cy="809625"/>
          </a:xfrm>
          <a:prstGeom prst="rect">
            <a:avLst/>
          </a:prstGeom>
          <a:noFill/>
          <a:ln w="0">
            <a:noFill/>
          </a:ln>
        </p:spPr>
        <p:txBody>
          <a:bodyPr wrap="square" lIns="0" tIns="0" rIns="0" bIns="0" anchor="t">
            <a:noAutofit/>
          </a:bodyPr>
          <a:lstStyle>
            <a:defPPr algn="ctr">
              <a:defRPr lang="en-US" sz="1875" b="0">
                <a:solidFill>
                  <a:srgbClr val="202124"/>
                </a:solidFill>
                <a:latin typeface="Roboto"/>
                <a:ea typeface="Roboto"/>
                <a:cs typeface="Roboto"/>
              </a:defRPr>
            </a:defPPr>
            <a:lvl1pPr algn="ctr">
              <a:defRPr lang="en-US" sz="1875" b="0">
                <a:solidFill>
                  <a:srgbClr val="202124"/>
                </a:solidFill>
                <a:latin typeface="Roboto"/>
                <a:ea typeface="Roboto"/>
                <a:cs typeface="Roboto"/>
              </a:defRPr>
            </a:lvl1pPr>
            <a:lvl2pPr algn="ctr">
              <a:defRPr lang="en-US" sz="1875" b="0">
                <a:solidFill>
                  <a:srgbClr val="202124"/>
                </a:solidFill>
                <a:latin typeface="Roboto"/>
                <a:ea typeface="Roboto"/>
                <a:cs typeface="Roboto"/>
              </a:defRPr>
            </a:lvl2pPr>
            <a:lvl3pPr algn="ctr">
              <a:defRPr lang="en-US" sz="1875" b="0">
                <a:solidFill>
                  <a:srgbClr val="202124"/>
                </a:solidFill>
                <a:latin typeface="Roboto"/>
                <a:ea typeface="Roboto"/>
                <a:cs typeface="Roboto"/>
              </a:defRPr>
            </a:lvl3pPr>
            <a:lvl4pPr algn="ctr">
              <a:defRPr lang="en-US" sz="1875" b="0">
                <a:solidFill>
                  <a:srgbClr val="202124"/>
                </a:solidFill>
                <a:latin typeface="Roboto"/>
                <a:ea typeface="Roboto"/>
                <a:cs typeface="Roboto"/>
              </a:defRPr>
            </a:lvl4pPr>
            <a:lvl5pPr algn="ctr">
              <a:defRPr lang="en-US" sz="1875" b="0">
                <a:solidFill>
                  <a:srgbClr val="202124"/>
                </a:solidFill>
                <a:latin typeface="Roboto"/>
                <a:ea typeface="Roboto"/>
                <a:cs typeface="Roboto"/>
              </a:defRPr>
            </a:lvl5pPr>
            <a:lvl6pPr algn="ctr">
              <a:defRPr lang="en-US" sz="1875" b="0">
                <a:solidFill>
                  <a:srgbClr val="202124"/>
                </a:solidFill>
                <a:latin typeface="Roboto"/>
                <a:ea typeface="Roboto"/>
                <a:cs typeface="Roboto"/>
              </a:defRPr>
            </a:lvl6pPr>
            <a:lvl7pPr algn="ctr">
              <a:defRPr lang="en-US" sz="1875" b="0">
                <a:solidFill>
                  <a:srgbClr val="202124"/>
                </a:solidFill>
                <a:latin typeface="Roboto"/>
                <a:ea typeface="Roboto"/>
                <a:cs typeface="Roboto"/>
              </a:defRPr>
            </a:lvl7pPr>
            <a:lvl8pPr algn="ctr">
              <a:defRPr lang="en-US" sz="1875" b="0">
                <a:solidFill>
                  <a:srgbClr val="202124"/>
                </a:solidFill>
                <a:latin typeface="Roboto"/>
                <a:ea typeface="Roboto"/>
                <a:cs typeface="Roboto"/>
              </a:defRPr>
            </a:lvl8pPr>
            <a:lvl9pPr algn="ctr">
              <a:defRPr lang="en-US" sz="1875" b="0">
                <a:solidFill>
                  <a:srgbClr val="202124"/>
                </a:solidFill>
                <a:latin typeface="Roboto"/>
                <a:ea typeface="Roboto"/>
                <a:cs typeface="Roboto"/>
              </a:defRPr>
            </a:lvl9pPr>
          </a:lstStyle>
          <a:p>
            <a:pPr algn="ctr">
              <a:defRPr lang="en-US" sz="1875" b="0">
                <a:solidFill>
                  <a:srgbClr val="202124"/>
                </a:solidFill>
                <a:latin typeface="Roboto"/>
                <a:ea typeface="Roboto"/>
                <a:cs typeface="Roboto"/>
              </a:defRPr>
            </a:pPr>
            <a:r>
              <a:rPr lang="en-US" sz="1875" b="0">
                <a:solidFill>
                  <a:srgbClr val="202124"/>
                </a:solidFill>
                <a:latin typeface="Roboto"/>
                <a:ea typeface="Roboto"/>
                <a:cs typeface="Roboto"/>
              </a:rPr>
              <a:t>SegFormer: +6.3 pp</a:t>
            </a:r>
          </a:p>
          <a:p>
            <a:pPr algn="ctr">
              <a:defRPr lang="en-US" sz="1875" b="0">
                <a:solidFill>
                  <a:srgbClr val="202124"/>
                </a:solidFill>
                <a:latin typeface="Roboto"/>
                <a:ea typeface="Roboto"/>
                <a:cs typeface="Roboto"/>
              </a:defRPr>
            </a:pPr>
            <a:r>
              <a:rPr lang="en-US" sz="1875" b="0">
                <a:solidFill>
                  <a:srgbClr val="202124"/>
                </a:solidFill>
                <a:latin typeface="Roboto"/>
                <a:ea typeface="Roboto"/>
                <a:cs typeface="Roboto"/>
              </a:rPr>
              <a:t>U-Net R34: +5.0 pp</a:t>
            </a:r>
          </a:p>
        </p:txBody>
      </p:sp>
      <p:sp>
        <p:nvSpPr>
          <p:cNvPr id="11" name="weighting-title">
            <a:extLst>
              <a:ext uri="{FF2B5EF4-FFF2-40B4-BE49-F238E27FC236}">
                <a16:creationId xmlns:a16="http://schemas.microsoft.com/office/drawing/2014/main" id="{B27754AE-5F8B-4FE2-AEFB-41D2CB86E746}"/>
              </a:ext>
            </a:extLst>
          </p:cNvPr>
          <p:cNvSpPr>
            <a:spLocks noGrp="1"/>
          </p:cNvSpPr>
          <p:nvPr/>
        </p:nvSpPr>
        <p:spPr>
          <a:xfrm>
            <a:off x="762000" y="4829175"/>
            <a:ext cx="10572750" cy="409575"/>
          </a:xfrm>
          <a:prstGeom prst="rect">
            <a:avLst/>
          </a:prstGeom>
          <a:noFill/>
          <a:ln w="0">
            <a:noFill/>
          </a:ln>
        </p:spPr>
        <p:txBody>
          <a:bodyPr wrap="square" lIns="0" tIns="0" rIns="0" bIns="0" anchor="t">
            <a:noAutofit/>
          </a:bodyPr>
          <a:lstStyle>
            <a:defPPr algn="l">
              <a:defRPr lang="en-US" sz="2100" b="0">
                <a:solidFill>
                  <a:srgbClr val="202124"/>
                </a:solidFill>
                <a:latin typeface="Roboto"/>
                <a:ea typeface="Roboto"/>
                <a:cs typeface="Roboto"/>
              </a:defRPr>
            </a:defPPr>
            <a:lvl1pPr algn="l">
              <a:defRPr lang="en-US" sz="2100" b="0">
                <a:solidFill>
                  <a:srgbClr val="202124"/>
                </a:solidFill>
                <a:latin typeface="Roboto"/>
                <a:ea typeface="Roboto"/>
                <a:cs typeface="Roboto"/>
              </a:defRPr>
            </a:lvl1pPr>
            <a:lvl2pPr algn="l">
              <a:defRPr lang="en-US" sz="2100" b="0">
                <a:solidFill>
                  <a:srgbClr val="202124"/>
                </a:solidFill>
                <a:latin typeface="Roboto"/>
                <a:ea typeface="Roboto"/>
                <a:cs typeface="Roboto"/>
              </a:defRPr>
            </a:lvl2pPr>
            <a:lvl3pPr algn="l">
              <a:defRPr lang="en-US" sz="2100" b="0">
                <a:solidFill>
                  <a:srgbClr val="202124"/>
                </a:solidFill>
                <a:latin typeface="Roboto"/>
                <a:ea typeface="Roboto"/>
                <a:cs typeface="Roboto"/>
              </a:defRPr>
            </a:lvl3pPr>
            <a:lvl4pPr algn="l">
              <a:defRPr lang="en-US" sz="2100" b="0">
                <a:solidFill>
                  <a:srgbClr val="202124"/>
                </a:solidFill>
                <a:latin typeface="Roboto"/>
                <a:ea typeface="Roboto"/>
                <a:cs typeface="Roboto"/>
              </a:defRPr>
            </a:lvl4pPr>
            <a:lvl5pPr algn="l">
              <a:defRPr lang="en-US" sz="2100" b="0">
                <a:solidFill>
                  <a:srgbClr val="202124"/>
                </a:solidFill>
                <a:latin typeface="Roboto"/>
                <a:ea typeface="Roboto"/>
                <a:cs typeface="Roboto"/>
              </a:defRPr>
            </a:lvl5pPr>
            <a:lvl6pPr algn="l">
              <a:defRPr lang="en-US" sz="2100" b="0">
                <a:solidFill>
                  <a:srgbClr val="202124"/>
                </a:solidFill>
                <a:latin typeface="Roboto"/>
                <a:ea typeface="Roboto"/>
                <a:cs typeface="Roboto"/>
              </a:defRPr>
            </a:lvl6pPr>
            <a:lvl7pPr algn="l">
              <a:defRPr lang="en-US" sz="2100" b="0">
                <a:solidFill>
                  <a:srgbClr val="202124"/>
                </a:solidFill>
                <a:latin typeface="Roboto"/>
                <a:ea typeface="Roboto"/>
                <a:cs typeface="Roboto"/>
              </a:defRPr>
            </a:lvl7pPr>
            <a:lvl8pPr algn="l">
              <a:defRPr lang="en-US" sz="2100" b="0">
                <a:solidFill>
                  <a:srgbClr val="202124"/>
                </a:solidFill>
                <a:latin typeface="Roboto"/>
                <a:ea typeface="Roboto"/>
                <a:cs typeface="Roboto"/>
              </a:defRPr>
            </a:lvl8pPr>
            <a:lvl9pPr algn="l">
              <a:defRPr lang="en-US" sz="2100" b="0">
                <a:solidFill>
                  <a:srgbClr val="202124"/>
                </a:solidFill>
                <a:latin typeface="Roboto"/>
                <a:ea typeface="Roboto"/>
                <a:cs typeface="Roboto"/>
              </a:defRPr>
            </a:lvl9pPr>
          </a:lstStyle>
          <a:p>
            <a:pPr algn="l">
              <a:defRPr lang="en-US" sz="2100" b="0">
                <a:solidFill>
                  <a:srgbClr val="202124"/>
                </a:solidFill>
                <a:latin typeface="Roboto"/>
                <a:ea typeface="Roboto"/>
                <a:cs typeface="Roboto"/>
              </a:defRPr>
            </a:pPr>
            <a:r>
              <a:rPr lang="en-US" sz="2100" b="0">
                <a:solidFill>
                  <a:srgbClr val="202124"/>
                </a:solidFill>
                <a:latin typeface="Roboto"/>
                <a:ea typeface="Roboto"/>
                <a:cs typeface="Roboto"/>
              </a:rPr>
              <a:t>U-Net R34: Dice weighting within CE + GDL</a:t>
            </a:r>
          </a:p>
        </p:txBody>
      </p:sp>
      <p:graphicFrame>
        <p:nvGraphicFramePr>
          <p:cNvPr id="12" name="Tabella 11">
            <a:extLst>
              <a:ext uri="{FF2B5EF4-FFF2-40B4-BE49-F238E27FC236}">
                <a16:creationId xmlns:a16="http://schemas.microsoft.com/office/drawing/2014/main" id="{77D07F01-7D0D-44DD-A036-6C758CDF8D97}"/>
              </a:ext>
            </a:extLst>
          </p:cNvPr>
          <p:cNvGraphicFramePr/>
          <p:nvPr/>
        </p:nvGraphicFramePr>
        <p:xfrm>
          <a:off x="904875" y="5286375"/>
          <a:ext cx="10382250" cy="781050"/>
        </p:xfrm>
        <a:graphic>
          <a:graphicData uri="http://schemas.openxmlformats.org/drawingml/2006/table">
            <a:tbl>
              <a:tblPr/>
              <a:tblGrid>
                <a:gridCol w="3457575">
                  <a:extLst>
                    <a:ext uri="{9D8B030D-6E8A-4147-A177-3AD203B41FA5}">
                      <a16:colId xmlns:a16="http://schemas.microsoft.com/office/drawing/2014/main" val="20000"/>
                    </a:ext>
                  </a:extLst>
                </a:gridCol>
                <a:gridCol w="3467100">
                  <a:extLst>
                    <a:ext uri="{9D8B030D-6E8A-4147-A177-3AD203B41FA5}">
                      <a16:colId xmlns:a16="http://schemas.microsoft.com/office/drawing/2014/main" val="20001"/>
                    </a:ext>
                  </a:extLst>
                </a:gridCol>
                <a:gridCol w="3457575">
                  <a:extLst>
                    <a:ext uri="{9D8B030D-6E8A-4147-A177-3AD203B41FA5}">
                      <a16:colId xmlns:a16="http://schemas.microsoft.com/office/drawing/2014/main" val="20002"/>
                    </a:ext>
                  </a:extLst>
                </a:gridCol>
              </a:tblGrid>
              <a:tr h="390525">
                <a:tc>
                  <a:txBody>
                    <a:bodyPr/>
                    <a:lstStyle/>
                    <a:p>
                      <a:pPr algn="ctr"/>
                      <a:r>
                        <a:rPr lang="en-US" sz="1875">
                          <a:solidFill>
                            <a:srgbClr val="202124"/>
                          </a:solidFill>
                          <a:latin typeface="Roboto"/>
                          <a:ea typeface="Roboto"/>
                          <a:cs typeface="Roboto"/>
                        </a:rPr>
                        <a:t>Inverse square</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1875">
                          <a:solidFill>
                            <a:srgbClr val="202124"/>
                          </a:solidFill>
                          <a:latin typeface="Roboto"/>
                          <a:ea typeface="Roboto"/>
                          <a:cs typeface="Roboto"/>
                        </a:rPr>
                        <a:t>Inverse volume</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1875">
                          <a:solidFill>
                            <a:srgbClr val="202124"/>
                          </a:solidFill>
                          <a:latin typeface="Roboto"/>
                          <a:ea typeface="Roboto"/>
                          <a:cs typeface="Roboto"/>
                        </a:rPr>
                        <a:t>Uniform</a:t>
                      </a: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0"/>
                  </a:ext>
                </a:extLst>
              </a:tr>
              <a:tr h="390525">
                <a:tc>
                  <a:txBody>
                    <a:bodyPr/>
                    <a:lstStyle/>
                    <a:p>
                      <a:pPr algn="ctr"/>
                      <a:r>
                        <a:rPr lang="en-US" sz="2550" b="1">
                          <a:solidFill>
                            <a:srgbClr val="822433"/>
                          </a:solidFill>
                          <a:latin typeface="Roboto"/>
                          <a:ea typeface="Roboto"/>
                          <a:cs typeface="Roboto"/>
                        </a:rPr>
                        <a:t>64.5</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550">
                          <a:solidFill>
                            <a:srgbClr val="202124"/>
                          </a:solidFill>
                          <a:latin typeface="Roboto"/>
                          <a:ea typeface="Roboto"/>
                          <a:cs typeface="Roboto"/>
                        </a:rPr>
                        <a:t>57.2</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550">
                          <a:solidFill>
                            <a:srgbClr val="202124"/>
                          </a:solidFill>
                          <a:latin typeface="Roboto"/>
                          <a:ea typeface="Roboto"/>
                          <a:cs typeface="Roboto"/>
                        </a:rPr>
                        <a:t>62.2</a:t>
                      </a: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223438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F5AF4097-3F7A-46CA-9F7F-D0707EF148C9}"/>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a:solidFill>
                  <a:srgbClr val="202124"/>
                </a:solidFill>
                <a:latin typeface="Roboto"/>
                <a:ea typeface="Roboto"/>
                <a:cs typeface="Roboto"/>
              </a:rPr>
              <a:t>Extra: Augmentation and oversampling</a:t>
            </a:r>
          </a:p>
        </p:txBody>
      </p:sp>
      <p:pic>
        <p:nvPicPr>
          <p:cNvPr id="2" name="Immagine 1">
            <a:extLst>
              <a:ext uri="{FF2B5EF4-FFF2-40B4-BE49-F238E27FC236}">
                <a16:creationId xmlns:a16="http://schemas.microsoft.com/office/drawing/2014/main" id="{8F0CF5F3-861B-469B-AE24-8CB5D21A8597}"/>
              </a:ext>
            </a:extLst>
          </p:cNvPr>
          <p:cNvPicPr>
            <a:picLocks noChangeAspect="1"/>
          </p:cNvPicPr>
          <p:nvPr/>
        </p:nvPicPr>
        <p:blipFill>
          <a:blip r:embed="rId3"/>
          <a:stretch/>
        </p:blipFill>
        <p:spPr>
          <a:xfrm>
            <a:off x="11049000" y="238125"/>
            <a:ext cx="838200" cy="838200"/>
          </a:xfrm>
          <a:prstGeom prst="rect">
            <a:avLst/>
          </a:prstGeom>
        </p:spPr>
      </p:pic>
      <p:sp>
        <p:nvSpPr>
          <p:cNvPr id="3" name="footer-author">
            <a:extLst>
              <a:ext uri="{FF2B5EF4-FFF2-40B4-BE49-F238E27FC236}">
                <a16:creationId xmlns:a16="http://schemas.microsoft.com/office/drawing/2014/main" id="{383F9886-B489-4D99-B2F7-576B1A84BC0D}"/>
              </a:ext>
            </a:extLst>
          </p:cNvPr>
          <p:cNvSpPr>
            <a:spLocks noGrp="1"/>
          </p:cNvSpPr>
          <p:nvPr/>
        </p:nvSpPr>
        <p:spPr>
          <a:xfrm>
            <a:off x="762000" y="6581775"/>
            <a:ext cx="3333750" cy="180975"/>
          </a:xfrm>
          <a:prstGeom prst="rect">
            <a:avLst/>
          </a:prstGeom>
          <a:noFill/>
          <a:ln w="0">
            <a:noFill/>
          </a:ln>
        </p:spPr>
        <p:txBody>
          <a:bodyPr wrap="square" lIns="0" tIns="0" rIns="0" bIns="0" anchor="t">
            <a:noAutofit/>
          </a:bodyPr>
          <a:lstStyle>
            <a:defPPr algn="l">
              <a:defRPr lang="en-US" sz="1000" b="0">
                <a:solidFill>
                  <a:srgbClr val="656B73"/>
                </a:solidFill>
                <a:latin typeface="Roboto"/>
                <a:ea typeface="Roboto"/>
                <a:cs typeface="Roboto"/>
              </a:defRPr>
            </a:defPPr>
            <a:lvl1pPr algn="l">
              <a:defRPr lang="en-US" sz="1000" b="0">
                <a:solidFill>
                  <a:srgbClr val="656B73"/>
                </a:solidFill>
                <a:latin typeface="Roboto"/>
                <a:ea typeface="Roboto"/>
                <a:cs typeface="Roboto"/>
              </a:defRPr>
            </a:lvl1pPr>
            <a:lvl2pPr algn="l">
              <a:defRPr lang="en-US" sz="1000" b="0">
                <a:solidFill>
                  <a:srgbClr val="656B73"/>
                </a:solidFill>
                <a:latin typeface="Roboto"/>
                <a:ea typeface="Roboto"/>
                <a:cs typeface="Roboto"/>
              </a:defRPr>
            </a:lvl2pPr>
            <a:lvl3pPr algn="l">
              <a:defRPr lang="en-US" sz="1000" b="0">
                <a:solidFill>
                  <a:srgbClr val="656B73"/>
                </a:solidFill>
                <a:latin typeface="Roboto"/>
                <a:ea typeface="Roboto"/>
                <a:cs typeface="Roboto"/>
              </a:defRPr>
            </a:lvl3pPr>
            <a:lvl4pPr algn="l">
              <a:defRPr lang="en-US" sz="1000" b="0">
                <a:solidFill>
                  <a:srgbClr val="656B73"/>
                </a:solidFill>
                <a:latin typeface="Roboto"/>
                <a:ea typeface="Roboto"/>
                <a:cs typeface="Roboto"/>
              </a:defRPr>
            </a:lvl4pPr>
            <a:lvl5pPr algn="l">
              <a:defRPr lang="en-US" sz="1000" b="0">
                <a:solidFill>
                  <a:srgbClr val="656B73"/>
                </a:solidFill>
                <a:latin typeface="Roboto"/>
                <a:ea typeface="Roboto"/>
                <a:cs typeface="Roboto"/>
              </a:defRPr>
            </a:lvl5pPr>
            <a:lvl6pPr algn="l">
              <a:defRPr lang="en-US" sz="1000" b="0">
                <a:solidFill>
                  <a:srgbClr val="656B73"/>
                </a:solidFill>
                <a:latin typeface="Roboto"/>
                <a:ea typeface="Roboto"/>
                <a:cs typeface="Roboto"/>
              </a:defRPr>
            </a:lvl6pPr>
            <a:lvl7pPr algn="l">
              <a:defRPr lang="en-US" sz="1000" b="0">
                <a:solidFill>
                  <a:srgbClr val="656B73"/>
                </a:solidFill>
                <a:latin typeface="Roboto"/>
                <a:ea typeface="Roboto"/>
                <a:cs typeface="Roboto"/>
              </a:defRPr>
            </a:lvl7pPr>
            <a:lvl8pPr algn="l">
              <a:defRPr lang="en-US" sz="1000" b="0">
                <a:solidFill>
                  <a:srgbClr val="656B73"/>
                </a:solidFill>
                <a:latin typeface="Roboto"/>
                <a:ea typeface="Roboto"/>
                <a:cs typeface="Roboto"/>
              </a:defRPr>
            </a:lvl8pPr>
            <a:lvl9pPr algn="l">
              <a:defRPr lang="en-US" sz="1000" b="0">
                <a:solidFill>
                  <a:srgbClr val="656B73"/>
                </a:solidFill>
                <a:latin typeface="Roboto"/>
                <a:ea typeface="Roboto"/>
                <a:cs typeface="Roboto"/>
              </a:defRPr>
            </a:lvl9pPr>
          </a:lstStyle>
          <a:p>
            <a:pPr algn="l">
              <a:defRPr lang="en-US" sz="1000" b="0">
                <a:solidFill>
                  <a:srgbClr val="656B73"/>
                </a:solidFill>
                <a:latin typeface="Roboto"/>
                <a:ea typeface="Roboto"/>
                <a:cs typeface="Roboto"/>
              </a:defRPr>
            </a:pPr>
            <a:r>
              <a:rPr lang="en-US" sz="1000" b="0">
                <a:solidFill>
                  <a:srgbClr val="656B73"/>
                </a:solidFill>
                <a:latin typeface="Roboto"/>
                <a:ea typeface="Roboto"/>
                <a:cs typeface="Roboto"/>
              </a:rPr>
              <a:t>Daniele Venturini</a:t>
            </a:r>
          </a:p>
        </p:txBody>
      </p:sp>
      <p:sp>
        <p:nvSpPr>
          <p:cNvPr id="4" name="footer-date">
            <a:extLst>
              <a:ext uri="{FF2B5EF4-FFF2-40B4-BE49-F238E27FC236}">
                <a16:creationId xmlns:a16="http://schemas.microsoft.com/office/drawing/2014/main" id="{E16D2121-D50F-49BD-9CCE-90E6A2FE841C}"/>
              </a:ext>
            </a:extLst>
          </p:cNvPr>
          <p:cNvSpPr>
            <a:spLocks noGrp="1"/>
          </p:cNvSpPr>
          <p:nvPr/>
        </p:nvSpPr>
        <p:spPr>
          <a:xfrm>
            <a:off x="8096250" y="6581775"/>
            <a:ext cx="190500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27 October 2026</a:t>
            </a:r>
          </a:p>
        </p:txBody>
      </p:sp>
      <p:sp>
        <p:nvSpPr>
          <p:cNvPr id="5" name="footer-page">
            <a:extLst>
              <a:ext uri="{FF2B5EF4-FFF2-40B4-BE49-F238E27FC236}">
                <a16:creationId xmlns:a16="http://schemas.microsoft.com/office/drawing/2014/main" id="{2ADC73AF-D5AB-45DF-B9C7-9B19076F3EF4}"/>
              </a:ext>
            </a:extLst>
          </p:cNvPr>
          <p:cNvSpPr>
            <a:spLocks noGrp="1"/>
          </p:cNvSpPr>
          <p:nvPr/>
        </p:nvSpPr>
        <p:spPr>
          <a:xfrm>
            <a:off x="10572750" y="6581775"/>
            <a:ext cx="1238250" cy="180975"/>
          </a:xfrm>
          <a:prstGeom prst="rect">
            <a:avLst/>
          </a:prstGeom>
          <a:noFill/>
          <a:ln w="0">
            <a:noFill/>
          </a:ln>
        </p:spPr>
        <p:txBody>
          <a:bodyPr wrap="square" lIns="0" tIns="0" rIns="0" bIns="0" anchor="t">
            <a:noAutofit/>
          </a:bodyPr>
          <a:lstStyle>
            <a:defPPr algn="r">
              <a:defRPr lang="en-US" sz="1000" b="0">
                <a:solidFill>
                  <a:srgbClr val="656B73"/>
                </a:solidFill>
                <a:latin typeface="Roboto"/>
                <a:ea typeface="Roboto"/>
                <a:cs typeface="Roboto"/>
              </a:defRPr>
            </a:defPPr>
            <a:lvl1pPr algn="r">
              <a:defRPr lang="en-US" sz="1000" b="0">
                <a:solidFill>
                  <a:srgbClr val="656B73"/>
                </a:solidFill>
                <a:latin typeface="Roboto"/>
                <a:ea typeface="Roboto"/>
                <a:cs typeface="Roboto"/>
              </a:defRPr>
            </a:lvl1pPr>
            <a:lvl2pPr algn="r">
              <a:defRPr lang="en-US" sz="1000" b="0">
                <a:solidFill>
                  <a:srgbClr val="656B73"/>
                </a:solidFill>
                <a:latin typeface="Roboto"/>
                <a:ea typeface="Roboto"/>
                <a:cs typeface="Roboto"/>
              </a:defRPr>
            </a:lvl2pPr>
            <a:lvl3pPr algn="r">
              <a:defRPr lang="en-US" sz="1000" b="0">
                <a:solidFill>
                  <a:srgbClr val="656B73"/>
                </a:solidFill>
                <a:latin typeface="Roboto"/>
                <a:ea typeface="Roboto"/>
                <a:cs typeface="Roboto"/>
              </a:defRPr>
            </a:lvl3pPr>
            <a:lvl4pPr algn="r">
              <a:defRPr lang="en-US" sz="1000" b="0">
                <a:solidFill>
                  <a:srgbClr val="656B73"/>
                </a:solidFill>
                <a:latin typeface="Roboto"/>
                <a:ea typeface="Roboto"/>
                <a:cs typeface="Roboto"/>
              </a:defRPr>
            </a:lvl4pPr>
            <a:lvl5pPr algn="r">
              <a:defRPr lang="en-US" sz="1000" b="0">
                <a:solidFill>
                  <a:srgbClr val="656B73"/>
                </a:solidFill>
                <a:latin typeface="Roboto"/>
                <a:ea typeface="Roboto"/>
                <a:cs typeface="Roboto"/>
              </a:defRPr>
            </a:lvl5pPr>
            <a:lvl6pPr algn="r">
              <a:defRPr lang="en-US" sz="1000" b="0">
                <a:solidFill>
                  <a:srgbClr val="656B73"/>
                </a:solidFill>
                <a:latin typeface="Roboto"/>
                <a:ea typeface="Roboto"/>
                <a:cs typeface="Roboto"/>
              </a:defRPr>
            </a:lvl6pPr>
            <a:lvl7pPr algn="r">
              <a:defRPr lang="en-US" sz="1000" b="0">
                <a:solidFill>
                  <a:srgbClr val="656B73"/>
                </a:solidFill>
                <a:latin typeface="Roboto"/>
                <a:ea typeface="Roboto"/>
                <a:cs typeface="Roboto"/>
              </a:defRPr>
            </a:lvl7pPr>
            <a:lvl8pPr algn="r">
              <a:defRPr lang="en-US" sz="1000" b="0">
                <a:solidFill>
                  <a:srgbClr val="656B73"/>
                </a:solidFill>
                <a:latin typeface="Roboto"/>
                <a:ea typeface="Roboto"/>
                <a:cs typeface="Roboto"/>
              </a:defRPr>
            </a:lvl8pPr>
            <a:lvl9pPr algn="r">
              <a:defRPr lang="en-US" sz="1000" b="0">
                <a:solidFill>
                  <a:srgbClr val="656B73"/>
                </a:solidFill>
                <a:latin typeface="Roboto"/>
                <a:ea typeface="Roboto"/>
                <a:cs typeface="Roboto"/>
              </a:defRPr>
            </a:lvl9pPr>
          </a:lstStyle>
          <a:p>
            <a:pPr algn="r">
              <a:defRPr lang="en-US" sz="1000" b="0">
                <a:solidFill>
                  <a:srgbClr val="656B73"/>
                </a:solidFill>
                <a:latin typeface="Roboto"/>
                <a:ea typeface="Roboto"/>
                <a:cs typeface="Roboto"/>
              </a:defRPr>
            </a:pPr>
            <a:r>
              <a:rPr lang="en-US" sz="1000" b="0">
                <a:solidFill>
                  <a:srgbClr val="656B73"/>
                </a:solidFill>
                <a:latin typeface="Roboto"/>
                <a:ea typeface="Roboto"/>
                <a:cs typeface="Roboto"/>
              </a:rPr>
              <a:t>Extra 3 / 3</a:t>
            </a:r>
          </a:p>
        </p:txBody>
      </p:sp>
      <p:sp>
        <p:nvSpPr>
          <p:cNvPr id="6" name="source-citations">
            <a:extLst>
              <a:ext uri="{FF2B5EF4-FFF2-40B4-BE49-F238E27FC236}">
                <a16:creationId xmlns:a16="http://schemas.microsoft.com/office/drawing/2014/main" id="{3CAA5AE5-759A-4763-97DD-3A819C258F01}"/>
              </a:ext>
            </a:extLst>
          </p:cNvPr>
          <p:cNvSpPr>
            <a:spLocks noGrp="1"/>
          </p:cNvSpPr>
          <p:nvPr/>
        </p:nvSpPr>
        <p:spPr>
          <a:xfrm>
            <a:off x="762000" y="6200775"/>
            <a:ext cx="10477500" cy="238125"/>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a:solidFill>
                  <a:srgbClr val="656B73"/>
                </a:solidFill>
                <a:latin typeface="Roboto"/>
                <a:ea typeface="Roboto"/>
                <a:cs typeface="Roboto"/>
              </a:rPr>
              <a:t>Thesis, Section 5.4.3.</a:t>
            </a:r>
          </a:p>
        </p:txBody>
      </p:sp>
      <p:graphicFrame>
        <p:nvGraphicFramePr>
          <p:cNvPr id="7" name="Chart">
            <a:extLst>
              <a:ext uri="{FF2B5EF4-FFF2-40B4-BE49-F238E27FC236}">
                <a16:creationId xmlns:a16="http://schemas.microsoft.com/office/drawing/2014/main" id="{D3161F07-0697-4CE8-ABEE-14DA2A2C6468}"/>
              </a:ext>
            </a:extLst>
          </p:cNvPr>
          <p:cNvGraphicFramePr/>
          <p:nvPr/>
        </p:nvGraphicFramePr>
        <p:xfrm>
          <a:off x="762000" y="1657350"/>
          <a:ext cx="8048625" cy="3781425"/>
        </p:xfrm>
        <a:graphic>
          <a:graphicData uri="http://schemas.openxmlformats.org/drawingml/2006/chart">
            <c:chart xmlns:c="http://schemas.openxmlformats.org/drawingml/2006/chart" xmlns:r="http://schemas.openxmlformats.org/officeDocument/2006/relationships" r:id="rId4"/>
          </a:graphicData>
        </a:graphic>
      </p:graphicFrame>
      <p:pic>
        <p:nvPicPr>
          <p:cNvPr id="8" name="Immagine 7">
            <a:extLst>
              <a:ext uri="{FF2B5EF4-FFF2-40B4-BE49-F238E27FC236}">
                <a16:creationId xmlns:a16="http://schemas.microsoft.com/office/drawing/2014/main" id="{484993C4-73E3-4B1F-AC8A-D79CF8B9F471}"/>
              </a:ext>
            </a:extLst>
          </p:cNvPr>
          <p:cNvPicPr>
            <a:picLocks noChangeAspect="1"/>
          </p:cNvPicPr>
          <p:nvPr/>
        </p:nvPicPr>
        <p:blipFill>
          <a:blip r:embed="rId5"/>
          <a:stretch/>
        </p:blipFill>
        <p:spPr>
          <a:xfrm>
            <a:off x="9744075" y="1685925"/>
            <a:ext cx="762000" cy="762000"/>
          </a:xfrm>
          <a:prstGeom prst="rect">
            <a:avLst/>
          </a:prstGeom>
        </p:spPr>
      </p:pic>
      <p:sp>
        <p:nvSpPr>
          <p:cNvPr id="9" name="ablation-best">
            <a:extLst>
              <a:ext uri="{FF2B5EF4-FFF2-40B4-BE49-F238E27FC236}">
                <a16:creationId xmlns:a16="http://schemas.microsoft.com/office/drawing/2014/main" id="{8B420219-BACA-4778-9FB2-A6B629BEAF15}"/>
              </a:ext>
            </a:extLst>
          </p:cNvPr>
          <p:cNvSpPr>
            <a:spLocks noGrp="1"/>
          </p:cNvSpPr>
          <p:nvPr/>
        </p:nvSpPr>
        <p:spPr>
          <a:xfrm>
            <a:off x="8839200" y="3019425"/>
            <a:ext cx="2857500" cy="838200"/>
          </a:xfrm>
          <a:prstGeom prst="rect">
            <a:avLst/>
          </a:prstGeom>
          <a:noFill/>
          <a:ln w="0">
            <a:noFill/>
          </a:ln>
        </p:spPr>
        <p:txBody>
          <a:bodyPr wrap="square" lIns="0" tIns="0" rIns="0" bIns="0" anchor="t">
            <a:noAutofit/>
          </a:bodyPr>
          <a:lstStyle>
            <a:defPPr algn="ctr">
              <a:defRPr lang="en-US" sz="4350" b="1">
                <a:solidFill>
                  <a:srgbClr val="822433"/>
                </a:solidFill>
                <a:latin typeface="Roboto"/>
                <a:ea typeface="Roboto"/>
                <a:cs typeface="Roboto"/>
              </a:defRPr>
            </a:defPPr>
            <a:lvl1pPr algn="ctr">
              <a:defRPr lang="en-US" sz="4350" b="1">
                <a:solidFill>
                  <a:srgbClr val="822433"/>
                </a:solidFill>
                <a:latin typeface="Roboto"/>
                <a:ea typeface="Roboto"/>
                <a:cs typeface="Roboto"/>
              </a:defRPr>
            </a:lvl1pPr>
            <a:lvl2pPr algn="ctr">
              <a:defRPr lang="en-US" sz="4350" b="1">
                <a:solidFill>
                  <a:srgbClr val="822433"/>
                </a:solidFill>
                <a:latin typeface="Roboto"/>
                <a:ea typeface="Roboto"/>
                <a:cs typeface="Roboto"/>
              </a:defRPr>
            </a:lvl2pPr>
            <a:lvl3pPr algn="ctr">
              <a:defRPr lang="en-US" sz="4350" b="1">
                <a:solidFill>
                  <a:srgbClr val="822433"/>
                </a:solidFill>
                <a:latin typeface="Roboto"/>
                <a:ea typeface="Roboto"/>
                <a:cs typeface="Roboto"/>
              </a:defRPr>
            </a:lvl3pPr>
            <a:lvl4pPr algn="ctr">
              <a:defRPr lang="en-US" sz="4350" b="1">
                <a:solidFill>
                  <a:srgbClr val="822433"/>
                </a:solidFill>
                <a:latin typeface="Roboto"/>
                <a:ea typeface="Roboto"/>
                <a:cs typeface="Roboto"/>
              </a:defRPr>
            </a:lvl4pPr>
            <a:lvl5pPr algn="ctr">
              <a:defRPr lang="en-US" sz="4350" b="1">
                <a:solidFill>
                  <a:srgbClr val="822433"/>
                </a:solidFill>
                <a:latin typeface="Roboto"/>
                <a:ea typeface="Roboto"/>
                <a:cs typeface="Roboto"/>
              </a:defRPr>
            </a:lvl5pPr>
            <a:lvl6pPr algn="ctr">
              <a:defRPr lang="en-US" sz="4350" b="1">
                <a:solidFill>
                  <a:srgbClr val="822433"/>
                </a:solidFill>
                <a:latin typeface="Roboto"/>
                <a:ea typeface="Roboto"/>
                <a:cs typeface="Roboto"/>
              </a:defRPr>
            </a:lvl6pPr>
            <a:lvl7pPr algn="ctr">
              <a:defRPr lang="en-US" sz="4350" b="1">
                <a:solidFill>
                  <a:srgbClr val="822433"/>
                </a:solidFill>
                <a:latin typeface="Roboto"/>
                <a:ea typeface="Roboto"/>
                <a:cs typeface="Roboto"/>
              </a:defRPr>
            </a:lvl7pPr>
            <a:lvl8pPr algn="ctr">
              <a:defRPr lang="en-US" sz="4350" b="1">
                <a:solidFill>
                  <a:srgbClr val="822433"/>
                </a:solidFill>
                <a:latin typeface="Roboto"/>
                <a:ea typeface="Roboto"/>
                <a:cs typeface="Roboto"/>
              </a:defRPr>
            </a:lvl8pPr>
            <a:lvl9pPr algn="ctr">
              <a:defRPr lang="en-US" sz="4350" b="1">
                <a:solidFill>
                  <a:srgbClr val="822433"/>
                </a:solidFill>
                <a:latin typeface="Roboto"/>
                <a:ea typeface="Roboto"/>
                <a:cs typeface="Roboto"/>
              </a:defRPr>
            </a:lvl9pPr>
          </a:lstStyle>
          <a:p>
            <a:pPr algn="ctr">
              <a:defRPr lang="en-US" sz="4350" b="1">
                <a:solidFill>
                  <a:srgbClr val="822433"/>
                </a:solidFill>
                <a:latin typeface="Roboto"/>
                <a:ea typeface="Roboto"/>
                <a:cs typeface="Roboto"/>
              </a:defRPr>
            </a:pPr>
            <a:r>
              <a:rPr lang="en-US" sz="4350" b="1">
                <a:solidFill>
                  <a:srgbClr val="822433"/>
                </a:solidFill>
                <a:latin typeface="Roboto"/>
                <a:ea typeface="Roboto"/>
                <a:cs typeface="Roboto"/>
              </a:rPr>
              <a:t>75.55%</a:t>
            </a:r>
          </a:p>
        </p:txBody>
      </p:sp>
      <p:sp>
        <p:nvSpPr>
          <p:cNvPr id="10" name="ablation-best-label">
            <a:extLst>
              <a:ext uri="{FF2B5EF4-FFF2-40B4-BE49-F238E27FC236}">
                <a16:creationId xmlns:a16="http://schemas.microsoft.com/office/drawing/2014/main" id="{352D2621-9535-431B-B168-7305B8BB28A8}"/>
              </a:ext>
            </a:extLst>
          </p:cNvPr>
          <p:cNvSpPr>
            <a:spLocks noGrp="1"/>
          </p:cNvSpPr>
          <p:nvPr/>
        </p:nvSpPr>
        <p:spPr>
          <a:xfrm>
            <a:off x="8839200" y="3971925"/>
            <a:ext cx="2857500" cy="447675"/>
          </a:xfrm>
          <a:prstGeom prst="rect">
            <a:avLst/>
          </a:prstGeom>
          <a:noFill/>
          <a:ln w="0">
            <a:noFill/>
          </a:ln>
        </p:spPr>
        <p:txBody>
          <a:bodyPr wrap="square" lIns="0" tIns="0" rIns="0" bIns="0" anchor="t">
            <a:noAutofit/>
          </a:bodyPr>
          <a:lstStyle>
            <a:defPPr algn="ctr">
              <a:defRPr lang="en-US" sz="1950" b="0">
                <a:solidFill>
                  <a:srgbClr val="202124"/>
                </a:solidFill>
                <a:latin typeface="Roboto"/>
                <a:ea typeface="Roboto"/>
                <a:cs typeface="Roboto"/>
              </a:defRPr>
            </a:defPPr>
            <a:lvl1pPr algn="ctr">
              <a:defRPr lang="en-US" sz="1950" b="0">
                <a:solidFill>
                  <a:srgbClr val="202124"/>
                </a:solidFill>
                <a:latin typeface="Roboto"/>
                <a:ea typeface="Roboto"/>
                <a:cs typeface="Roboto"/>
              </a:defRPr>
            </a:lvl1pPr>
            <a:lvl2pPr algn="ctr">
              <a:defRPr lang="en-US" sz="1950" b="0">
                <a:solidFill>
                  <a:srgbClr val="202124"/>
                </a:solidFill>
                <a:latin typeface="Roboto"/>
                <a:ea typeface="Roboto"/>
                <a:cs typeface="Roboto"/>
              </a:defRPr>
            </a:lvl2pPr>
            <a:lvl3pPr algn="ctr">
              <a:defRPr lang="en-US" sz="1950" b="0">
                <a:solidFill>
                  <a:srgbClr val="202124"/>
                </a:solidFill>
                <a:latin typeface="Roboto"/>
                <a:ea typeface="Roboto"/>
                <a:cs typeface="Roboto"/>
              </a:defRPr>
            </a:lvl3pPr>
            <a:lvl4pPr algn="ctr">
              <a:defRPr lang="en-US" sz="1950" b="0">
                <a:solidFill>
                  <a:srgbClr val="202124"/>
                </a:solidFill>
                <a:latin typeface="Roboto"/>
                <a:ea typeface="Roboto"/>
                <a:cs typeface="Roboto"/>
              </a:defRPr>
            </a:lvl4pPr>
            <a:lvl5pPr algn="ctr">
              <a:defRPr lang="en-US" sz="1950" b="0">
                <a:solidFill>
                  <a:srgbClr val="202124"/>
                </a:solidFill>
                <a:latin typeface="Roboto"/>
                <a:ea typeface="Roboto"/>
                <a:cs typeface="Roboto"/>
              </a:defRPr>
            </a:lvl5pPr>
            <a:lvl6pPr algn="ctr">
              <a:defRPr lang="en-US" sz="1950" b="0">
                <a:solidFill>
                  <a:srgbClr val="202124"/>
                </a:solidFill>
                <a:latin typeface="Roboto"/>
                <a:ea typeface="Roboto"/>
                <a:cs typeface="Roboto"/>
              </a:defRPr>
            </a:lvl6pPr>
            <a:lvl7pPr algn="ctr">
              <a:defRPr lang="en-US" sz="1950" b="0">
                <a:solidFill>
                  <a:srgbClr val="202124"/>
                </a:solidFill>
                <a:latin typeface="Roboto"/>
                <a:ea typeface="Roboto"/>
                <a:cs typeface="Roboto"/>
              </a:defRPr>
            </a:lvl7pPr>
            <a:lvl8pPr algn="ctr">
              <a:defRPr lang="en-US" sz="1950" b="0">
                <a:solidFill>
                  <a:srgbClr val="202124"/>
                </a:solidFill>
                <a:latin typeface="Roboto"/>
                <a:ea typeface="Roboto"/>
                <a:cs typeface="Roboto"/>
              </a:defRPr>
            </a:lvl8pPr>
            <a:lvl9pPr algn="ctr">
              <a:defRPr lang="en-US" sz="1950" b="0">
                <a:solidFill>
                  <a:srgbClr val="202124"/>
                </a:solidFill>
                <a:latin typeface="Roboto"/>
                <a:ea typeface="Roboto"/>
                <a:cs typeface="Roboto"/>
              </a:defRPr>
            </a:lvl9pPr>
          </a:lstStyle>
          <a:p>
            <a:pPr algn="ctr">
              <a:defRPr lang="en-US" sz="1950" b="0">
                <a:solidFill>
                  <a:srgbClr val="202124"/>
                </a:solidFill>
                <a:latin typeface="Roboto"/>
                <a:ea typeface="Roboto"/>
                <a:cs typeface="Roboto"/>
              </a:defRPr>
            </a:pPr>
            <a:r>
              <a:rPr lang="en-US" sz="1950" b="0">
                <a:solidFill>
                  <a:srgbClr val="202124"/>
                </a:solidFill>
                <a:latin typeface="Roboto"/>
                <a:ea typeface="Roboto"/>
                <a:cs typeface="Roboto"/>
              </a:rPr>
              <a:t>Default test mIoU</a:t>
            </a:r>
          </a:p>
        </p:txBody>
      </p:sp>
      <p:sp>
        <p:nvSpPr>
          <p:cNvPr id="11" name="ablation-model">
            <a:extLst>
              <a:ext uri="{FF2B5EF4-FFF2-40B4-BE49-F238E27FC236}">
                <a16:creationId xmlns:a16="http://schemas.microsoft.com/office/drawing/2014/main" id="{516A5543-4D47-49FF-95E8-331564A6A494}"/>
              </a:ext>
            </a:extLst>
          </p:cNvPr>
          <p:cNvSpPr>
            <a:spLocks noGrp="1"/>
          </p:cNvSpPr>
          <p:nvPr/>
        </p:nvSpPr>
        <p:spPr>
          <a:xfrm>
            <a:off x="8839200" y="4676775"/>
            <a:ext cx="2857500" cy="809625"/>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1875" b="0">
                <a:solidFill>
                  <a:srgbClr val="656B73"/>
                </a:solidFill>
                <a:latin typeface="Roboto"/>
                <a:ea typeface="Roboto"/>
                <a:cs typeface="Roboto"/>
              </a:rPr>
              <a:t>SegFormer-B0</a:t>
            </a:r>
          </a:p>
          <a:p>
            <a:pPr algn="ctr">
              <a:defRPr lang="en-US" sz="1875" b="0">
                <a:solidFill>
                  <a:srgbClr val="656B73"/>
                </a:solidFill>
                <a:latin typeface="Roboto"/>
                <a:ea typeface="Roboto"/>
                <a:cs typeface="Roboto"/>
              </a:defRPr>
            </a:pPr>
            <a:r>
              <a:rPr lang="en-US" sz="1875" b="0">
                <a:solidFill>
                  <a:srgbClr val="656B73"/>
                </a:solidFill>
                <a:latin typeface="Roboto"/>
                <a:ea typeface="Roboto"/>
                <a:cs typeface="Roboto"/>
              </a:rPr>
              <a:t>CE + GDL</a:t>
            </a:r>
          </a:p>
        </p:txBody>
      </p:sp>
      <p:sp>
        <p:nvSpPr>
          <p:cNvPr id="12" name="ablation-policy">
            <a:extLst>
              <a:ext uri="{FF2B5EF4-FFF2-40B4-BE49-F238E27FC236}">
                <a16:creationId xmlns:a16="http://schemas.microsoft.com/office/drawing/2014/main" id="{AF03A21A-47A1-42AE-8D22-3DD053D1AA52}"/>
              </a:ext>
            </a:extLst>
          </p:cNvPr>
          <p:cNvSpPr>
            <a:spLocks noGrp="1"/>
          </p:cNvSpPr>
          <p:nvPr/>
        </p:nvSpPr>
        <p:spPr>
          <a:xfrm>
            <a:off x="762000" y="5781675"/>
            <a:ext cx="10858500" cy="361950"/>
          </a:xfrm>
          <a:prstGeom prst="rect">
            <a:avLst/>
          </a:prstGeom>
          <a:noFill/>
          <a:ln w="0">
            <a:noFill/>
          </a:ln>
        </p:spPr>
        <p:txBody>
          <a:bodyPr wrap="square" lIns="0" tIns="0" rIns="0" bIns="0" anchor="t">
            <a:noAutofit/>
          </a:bodyPr>
          <a:lstStyle>
            <a:defPPr algn="l">
              <a:defRPr lang="en-US" sz="1725" b="0">
                <a:solidFill>
                  <a:srgbClr val="656B73"/>
                </a:solidFill>
                <a:latin typeface="Roboto"/>
                <a:ea typeface="Roboto"/>
                <a:cs typeface="Roboto"/>
              </a:defRPr>
            </a:defPPr>
            <a:lvl1pPr algn="l">
              <a:defRPr lang="en-US" sz="1725" b="0">
                <a:solidFill>
                  <a:srgbClr val="656B73"/>
                </a:solidFill>
                <a:latin typeface="Roboto"/>
                <a:ea typeface="Roboto"/>
                <a:cs typeface="Roboto"/>
              </a:defRPr>
            </a:lvl1pPr>
            <a:lvl2pPr algn="l">
              <a:defRPr lang="en-US" sz="1725" b="0">
                <a:solidFill>
                  <a:srgbClr val="656B73"/>
                </a:solidFill>
                <a:latin typeface="Roboto"/>
                <a:ea typeface="Roboto"/>
                <a:cs typeface="Roboto"/>
              </a:defRPr>
            </a:lvl2pPr>
            <a:lvl3pPr algn="l">
              <a:defRPr lang="en-US" sz="1725" b="0">
                <a:solidFill>
                  <a:srgbClr val="656B73"/>
                </a:solidFill>
                <a:latin typeface="Roboto"/>
                <a:ea typeface="Roboto"/>
                <a:cs typeface="Roboto"/>
              </a:defRPr>
            </a:lvl3pPr>
            <a:lvl4pPr algn="l">
              <a:defRPr lang="en-US" sz="1725" b="0">
                <a:solidFill>
                  <a:srgbClr val="656B73"/>
                </a:solidFill>
                <a:latin typeface="Roboto"/>
                <a:ea typeface="Roboto"/>
                <a:cs typeface="Roboto"/>
              </a:defRPr>
            </a:lvl4pPr>
            <a:lvl5pPr algn="l">
              <a:defRPr lang="en-US" sz="1725" b="0">
                <a:solidFill>
                  <a:srgbClr val="656B73"/>
                </a:solidFill>
                <a:latin typeface="Roboto"/>
                <a:ea typeface="Roboto"/>
                <a:cs typeface="Roboto"/>
              </a:defRPr>
            </a:lvl5pPr>
            <a:lvl6pPr algn="l">
              <a:defRPr lang="en-US" sz="1725" b="0">
                <a:solidFill>
                  <a:srgbClr val="656B73"/>
                </a:solidFill>
                <a:latin typeface="Roboto"/>
                <a:ea typeface="Roboto"/>
                <a:cs typeface="Roboto"/>
              </a:defRPr>
            </a:lvl6pPr>
            <a:lvl7pPr algn="l">
              <a:defRPr lang="en-US" sz="1725" b="0">
                <a:solidFill>
                  <a:srgbClr val="656B73"/>
                </a:solidFill>
                <a:latin typeface="Roboto"/>
                <a:ea typeface="Roboto"/>
                <a:cs typeface="Roboto"/>
              </a:defRPr>
            </a:lvl7pPr>
            <a:lvl8pPr algn="l">
              <a:defRPr lang="en-US" sz="1725" b="0">
                <a:solidFill>
                  <a:srgbClr val="656B73"/>
                </a:solidFill>
                <a:latin typeface="Roboto"/>
                <a:ea typeface="Roboto"/>
                <a:cs typeface="Roboto"/>
              </a:defRPr>
            </a:lvl8pPr>
            <a:lvl9pPr algn="l">
              <a:defRPr lang="en-US" sz="1725" b="0">
                <a:solidFill>
                  <a:srgbClr val="656B73"/>
                </a:solidFill>
                <a:latin typeface="Roboto"/>
                <a:ea typeface="Roboto"/>
                <a:cs typeface="Roboto"/>
              </a:defRPr>
            </a:lvl9pPr>
          </a:lstStyle>
          <a:p>
            <a:pPr algn="l">
              <a:defRPr lang="en-US" sz="1725" b="0">
                <a:solidFill>
                  <a:srgbClr val="656B73"/>
                </a:solidFill>
                <a:latin typeface="Roboto"/>
                <a:ea typeface="Roboto"/>
                <a:cs typeface="Roboto"/>
              </a:defRPr>
            </a:pPr>
            <a:r>
              <a:rPr lang="en-US" sz="1725" b="0">
                <a:solidFill>
                  <a:srgbClr val="656B73"/>
                </a:solidFill>
                <a:latin typeface="Roboto"/>
                <a:ea typeface="Roboto"/>
                <a:cs typeface="Roboto"/>
              </a:rPr>
              <a:t>Flips and 90° rotations, training only. Validation/test images unchanged.</a:t>
            </a:r>
          </a:p>
        </p:txBody>
      </p:sp>
    </p:spTree>
    <p:extLst>
      <p:ext uri="{BB962C8B-B14F-4D97-AF65-F5344CB8AC3E}">
        <p14:creationId xmlns:p14="http://schemas.microsoft.com/office/powerpoint/2010/main" val="22234381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346</TotalTime>
  <Words>8643</Words>
  <Application>Microsoft Office PowerPoint</Application>
  <DocSecurity>0</DocSecurity>
  <PresentationFormat>Widescreen</PresentationFormat>
  <Paragraphs>851</Paragraphs>
  <Slides>33</Slides>
  <Notes>33</Notes>
  <HiddenSlides>1</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33</vt:i4>
      </vt:variant>
    </vt:vector>
  </HeadingPairs>
  <TitlesOfParts>
    <vt:vector size="37" baseType="lpstr">
      <vt:lpstr>Arial</vt:lpstr>
      <vt:lpstr>Calibri</vt:lpstr>
      <vt:lpstr>Roboto</vt:lpstr>
      <vt:lpstr>Tema di Office</vt:lpstr>
      <vt:lpstr>Lightweight Scene Understanding and Synthetic Data-Driven Damage Inspection for Martian Rovers</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Daniele Venturini</cp:lastModifiedBy>
  <cp:revision>3</cp:revision>
  <dcterms:created xsi:type="dcterms:W3CDTF">2026-10-17T12:19:02Z</dcterms:created>
  <dcterms:modified xsi:type="dcterms:W3CDTF">2026-10-18T19:27:25Z</dcterms:modified>
</cp:coreProperties>
</file>