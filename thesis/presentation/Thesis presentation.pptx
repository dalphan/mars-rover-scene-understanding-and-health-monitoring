
<file path=[Content_Types].xml><?xml version="1.0" encoding="utf-8"?>
<Types xmlns="http://schemas.openxmlformats.org/package/2006/content-types">
  <Default Extension="jpeg" ContentType="image/jpeg"/>
  <Default Extension="png" ContentType="image/png"/>
  <Default Extension="png&amp;f=1&amp;nofb=1&amp;ipt=1d8b35d30c3c4514a8382011224255d3e91fd46be4d31d385c751fa891630fa4&amp;ipo=images" ContentType="image/png"/>
  <Default Extension="png&amp;f=1&amp;nofb=1&amp;ipt=30001d8961b3b03add39ad967c319e0f168863eedd2c6ba8d6018adb4711fb1d&amp;ipo=images" ContentType="image/png"/>
  <Default Extension="png&amp;f=1&amp;nofb=1&amp;ipt=d99a559a2fe29f1924e30a5219f177b5e9da9d4501e897b9834310b79af4a48b&amp;ipo=images" ContentType="image/png"/>
  <Default Extension="rels" ContentType="application/vnd.openxmlformats-package.relationships+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1.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rts/chart2.xml" ContentType="application/vnd.openxmlformats-officedocument.drawingml.chart+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charts/chart3.xml" ContentType="application/vnd.openxmlformats-officedocument.drawingml.chart+xml"/>
  <Override PartName="/ppt/notesSlides/notesSlide40.xml" ContentType="application/vnd.openxmlformats-officedocument.presentationml.notesSlide+xml"/>
  <Override PartName="/ppt/charts/chart4.xml" ContentType="application/vnd.openxmlformats-officedocument.drawingml.chart+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6"/>
  </p:notesMasterIdLst>
  <p:sldIdLst>
    <p:sldId id="256" r:id="rId2"/>
    <p:sldId id="259" r:id="rId3"/>
    <p:sldId id="257" r:id="rId4"/>
    <p:sldId id="261" r:id="rId5"/>
    <p:sldId id="258" r:id="rId6"/>
    <p:sldId id="262" r:id="rId7"/>
    <p:sldId id="263" r:id="rId8"/>
    <p:sldId id="282" r:id="rId9"/>
    <p:sldId id="283" r:id="rId10"/>
    <p:sldId id="284" r:id="rId11"/>
    <p:sldId id="293" r:id="rId12"/>
    <p:sldId id="285" r:id="rId13"/>
    <p:sldId id="286" r:id="rId14"/>
    <p:sldId id="287" r:id="rId15"/>
    <p:sldId id="288" r:id="rId16"/>
    <p:sldId id="289" r:id="rId17"/>
    <p:sldId id="294" r:id="rId18"/>
    <p:sldId id="291" r:id="rId19"/>
    <p:sldId id="303" r:id="rId20"/>
    <p:sldId id="304" r:id="rId21"/>
    <p:sldId id="292" r:id="rId22"/>
    <p:sldId id="300" r:id="rId23"/>
    <p:sldId id="309" r:id="rId24"/>
    <p:sldId id="310" r:id="rId25"/>
    <p:sldId id="307" r:id="rId26"/>
    <p:sldId id="312" r:id="rId27"/>
    <p:sldId id="317" r:id="rId28"/>
    <p:sldId id="311" r:id="rId29"/>
    <p:sldId id="302" r:id="rId30"/>
    <p:sldId id="343" r:id="rId31"/>
    <p:sldId id="308" r:id="rId32"/>
    <p:sldId id="260" r:id="rId33"/>
    <p:sldId id="281" r:id="rId34"/>
    <p:sldId id="298" r:id="rId35"/>
    <p:sldId id="299" r:id="rId36"/>
    <p:sldId id="306" r:id="rId37"/>
    <p:sldId id="295" r:id="rId38"/>
    <p:sldId id="290" r:id="rId39"/>
    <p:sldId id="315" r:id="rId40"/>
    <p:sldId id="316" r:id="rId41"/>
    <p:sldId id="342" r:id="rId42"/>
    <p:sldId id="341" r:id="rId43"/>
    <p:sldId id="319" r:id="rId44"/>
    <p:sldId id="329" r:id="rId45"/>
    <p:sldId id="330" r:id="rId46"/>
    <p:sldId id="331" r:id="rId47"/>
    <p:sldId id="332" r:id="rId48"/>
    <p:sldId id="335" r:id="rId49"/>
    <p:sldId id="333" r:id="rId50"/>
    <p:sldId id="334" r:id="rId51"/>
    <p:sldId id="336" r:id="rId52"/>
    <p:sldId id="337" r:id="rId53"/>
    <p:sldId id="338" r:id="rId54"/>
    <p:sldId id="339" r:id="rId55"/>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224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022" autoAdjust="0"/>
    <p:restoredTop sz="86847" autoAdjust="0"/>
  </p:normalViewPr>
  <p:slideViewPr>
    <p:cSldViewPr snapToGrid="0">
      <p:cViewPr varScale="1">
        <p:scale>
          <a:sx n="138" d="100"/>
          <a:sy n="138" d="100"/>
        </p:scale>
        <p:origin x="876" y="1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v>Test mIoU (%)</c:v>
          </c:tx>
          <c:spPr>
            <a:solidFill>
              <a:srgbClr val="D7DDE2"/>
            </a:solidFill>
          </c:spPr>
          <c:invertIfNegative val="0"/>
          <c:dPt>
            <c:idx val="5"/>
            <c:invertIfNegative val="0"/>
            <c:bubble3D val="0"/>
            <c:spPr>
              <a:solidFill>
                <a:srgbClr val="2C8390"/>
              </a:solidFill>
            </c:spPr>
            <c:extLst>
              <c:ext xmlns:c16="http://schemas.microsoft.com/office/drawing/2014/chart" uri="{C3380CC4-5D6E-409C-BE32-E72D297353CC}">
                <c16:uniqueId val="{00000001-9BA7-495B-BC66-190F257B0CA5}"/>
              </c:ext>
            </c:extLst>
          </c:dPt>
          <c:dPt>
            <c:idx val="6"/>
            <c:invertIfNegative val="0"/>
            <c:bubble3D val="0"/>
            <c:spPr>
              <a:solidFill>
                <a:srgbClr val="822433"/>
              </a:solidFill>
            </c:spPr>
            <c:extLst>
              <c:ext xmlns:c16="http://schemas.microsoft.com/office/drawing/2014/chart" uri="{C3380CC4-5D6E-409C-BE32-E72D297353CC}">
                <c16:uniqueId val="{00000003-9BA7-495B-BC66-190F257B0CA5}"/>
              </c:ext>
            </c:extLst>
          </c:dPt>
          <c:dLbls>
            <c:dLbl>
              <c:idx val="0"/>
              <c:tx>
                <c:rich>
                  <a:bodyPr/>
                  <a:lstStyle/>
                  <a:p>
                    <a:r>
                      <a:rPr lang="en-US" sz="1650" dirty="0">
                        <a:solidFill>
                          <a:srgbClr val="202124"/>
                        </a:solidFill>
                        <a:latin typeface="Roboto"/>
                        <a:ea typeface="Roboto"/>
                        <a:cs typeface="Roboto"/>
                      </a:rPr>
                      <a:t>57.89%</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4-9BA7-495B-BC66-190F257B0CA5}"/>
                </c:ext>
              </c:extLst>
            </c:dLbl>
            <c:dLbl>
              <c:idx val="1"/>
              <c:tx>
                <c:rich>
                  <a:bodyPr/>
                  <a:lstStyle/>
                  <a:p>
                    <a:r>
                      <a:rPr lang="en-US" sz="1650" dirty="0">
                        <a:solidFill>
                          <a:srgbClr val="202124"/>
                        </a:solidFill>
                        <a:latin typeface="Roboto"/>
                        <a:ea typeface="Roboto"/>
                        <a:cs typeface="Roboto"/>
                      </a:rPr>
                      <a:t>59.11%</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5-9BA7-495B-BC66-190F257B0CA5}"/>
                </c:ext>
              </c:extLst>
            </c:dLbl>
            <c:dLbl>
              <c:idx val="2"/>
              <c:tx>
                <c:rich>
                  <a:bodyPr/>
                  <a:lstStyle/>
                  <a:p>
                    <a:r>
                      <a:rPr lang="en-US" sz="1650" dirty="0">
                        <a:solidFill>
                          <a:srgbClr val="202124"/>
                        </a:solidFill>
                        <a:latin typeface="Roboto"/>
                        <a:ea typeface="Roboto"/>
                        <a:cs typeface="Roboto"/>
                      </a:rPr>
                      <a:t>64.07%</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6-9BA7-495B-BC66-190F257B0CA5}"/>
                </c:ext>
              </c:extLst>
            </c:dLbl>
            <c:dLbl>
              <c:idx val="3"/>
              <c:tx>
                <c:rich>
                  <a:bodyPr/>
                  <a:lstStyle/>
                  <a:p>
                    <a:r>
                      <a:rPr lang="en-US" sz="1650" dirty="0">
                        <a:solidFill>
                          <a:srgbClr val="202124"/>
                        </a:solidFill>
                        <a:latin typeface="Roboto"/>
                        <a:ea typeface="Roboto"/>
                        <a:cs typeface="Roboto"/>
                      </a:rPr>
                      <a:t>64.55%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7-9BA7-495B-BC66-190F257B0CA5}"/>
                </c:ext>
              </c:extLst>
            </c:dLbl>
            <c:dLbl>
              <c:idx val="4"/>
              <c:tx>
                <c:rich>
                  <a:bodyPr/>
                  <a:lstStyle/>
                  <a:p>
                    <a:r>
                      <a:rPr lang="en-US" sz="1650" dirty="0">
                        <a:solidFill>
                          <a:srgbClr val="202124"/>
                        </a:solidFill>
                        <a:latin typeface="Roboto"/>
                        <a:ea typeface="Roboto"/>
                        <a:cs typeface="Roboto"/>
                      </a:rPr>
                      <a:t>64.57%</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8-9BA7-495B-BC66-190F257B0CA5}"/>
                </c:ext>
              </c:extLst>
            </c:dLbl>
            <c:dLbl>
              <c:idx val="5"/>
              <c:tx>
                <c:rich>
                  <a:bodyPr/>
                  <a:lstStyle/>
                  <a:p>
                    <a:r>
                      <a:rPr lang="en-US" sz="1650" dirty="0">
                        <a:solidFill>
                          <a:srgbClr val="202124"/>
                        </a:solidFill>
                        <a:latin typeface="Roboto"/>
                        <a:ea typeface="Roboto"/>
                        <a:cs typeface="Roboto"/>
                      </a:rPr>
                      <a:t>73.79%</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1-9BA7-495B-BC66-190F257B0CA5}"/>
                </c:ext>
              </c:extLst>
            </c:dLbl>
            <c:dLbl>
              <c:idx val="6"/>
              <c:tx>
                <c:rich>
                  <a:bodyPr/>
                  <a:lstStyle/>
                  <a:p>
                    <a:r>
                      <a:rPr lang="en-US" sz="1650" dirty="0">
                        <a:solidFill>
                          <a:srgbClr val="202124"/>
                        </a:solidFill>
                        <a:latin typeface="Roboto"/>
                        <a:ea typeface="Roboto"/>
                        <a:cs typeface="Roboto"/>
                      </a:rPr>
                      <a:t>75.55%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3-9BA7-495B-BC66-190F257B0CA5}"/>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Data'!$A$2:$A$8</c:f>
              <c:strCache>
                <c:ptCount val="7"/>
                <c:pt idx="0">
                  <c:v>LCNet 3,7</c:v>
                </c:pt>
                <c:pt idx="1">
                  <c:v>LCNet 3,11</c:v>
                </c:pt>
                <c:pt idx="2">
                  <c:v>DeepLabV3+ MV2</c:v>
                </c:pt>
                <c:pt idx="3">
                  <c:v>U-Net R34</c:v>
                </c:pt>
                <c:pt idx="4">
                  <c:v>U-Net MV2</c:v>
                </c:pt>
                <c:pt idx="5">
                  <c:v>DeepLabV3 R34</c:v>
                </c:pt>
                <c:pt idx="6">
                  <c:v>SegFormer-B0</c:v>
                </c:pt>
              </c:strCache>
            </c:strRef>
          </c:cat>
          <c:val>
            <c:numRef>
              <c:f>'Chart Data'!$B$2:$B$8</c:f>
              <c:numCache>
                <c:formatCode>General</c:formatCode>
                <c:ptCount val="7"/>
                <c:pt idx="0">
                  <c:v>57.89</c:v>
                </c:pt>
                <c:pt idx="1">
                  <c:v>59.11</c:v>
                </c:pt>
                <c:pt idx="2">
                  <c:v>64.069999999999993</c:v>
                </c:pt>
                <c:pt idx="3">
                  <c:v>64.55</c:v>
                </c:pt>
                <c:pt idx="4">
                  <c:v>64.569999999999993</c:v>
                </c:pt>
                <c:pt idx="5">
                  <c:v>73.790000000000006</c:v>
                </c:pt>
                <c:pt idx="6">
                  <c:v>75.55</c:v>
                </c:pt>
              </c:numCache>
            </c:numRef>
          </c:val>
          <c:extLst>
            <c:ext xmlns:c16="http://schemas.microsoft.com/office/drawing/2014/chart" uri="{C3380CC4-5D6E-409C-BE32-E72D297353CC}">
              <c16:uniqueId val="{00000009-9BA7-495B-BC66-190F257B0CA5}"/>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l"/>
        <c:numFmt formatCode="General" sourceLinked="1"/>
        <c:majorTickMark val="none"/>
        <c:minorTickMark val="none"/>
        <c:tickLblPos val="nextTo"/>
        <c:spPr>
          <a:ln w="6668">
            <a:solidFill>
              <a:srgbClr val="C7CDD2"/>
            </a:solidFill>
          </a:ln>
        </c:spPr>
        <c:txPr>
          <a:bodyPr anchorCtr="1"/>
          <a:lstStyle/>
          <a:p>
            <a:pPr>
              <a:defRPr sz="1600">
                <a:solidFill>
                  <a:srgbClr val="656B73"/>
                </a:solidFill>
                <a:latin typeface="Roboto"/>
                <a:ea typeface="Roboto"/>
                <a:cs typeface="Roboto"/>
              </a:defRPr>
            </a:pPr>
            <a:endParaRPr lang="en-US"/>
          </a:p>
        </c:txPr>
        <c:crossAx val="48672768"/>
        <c:crosses val="autoZero"/>
        <c:auto val="1"/>
        <c:lblAlgn val="ctr"/>
        <c:lblOffset val="100"/>
        <c:tickLblSkip val="1"/>
        <c:tickMarkSkip val="1"/>
        <c:noMultiLvlLbl val="1"/>
      </c:catAx>
      <c:valAx>
        <c:axId val="48672768"/>
        <c:scaling>
          <c:orientation val="minMax"/>
          <c:max val="100"/>
          <c:min val="0"/>
        </c:scaling>
        <c:delete val="0"/>
        <c:axPos val="b"/>
        <c:numFmt formatCode="General" sourceLinked="1"/>
        <c:majorTickMark val="none"/>
        <c:minorTickMark val="none"/>
        <c:tickLblPos val="nextTo"/>
        <c:spPr>
          <a:ln w="0">
            <a:noFill/>
          </a:ln>
        </c:spPr>
        <c:txPr>
          <a:bodyPr anchorCtr="1"/>
          <a:lstStyle/>
          <a:p>
            <a:pPr>
              <a:defRPr sz="1725">
                <a:solidFill>
                  <a:srgbClr val="656B73"/>
                </a:solidFill>
                <a:latin typeface="Roboto"/>
                <a:ea typeface="Roboto"/>
                <a:cs typeface="Roboto"/>
              </a:defRPr>
            </a:pPr>
            <a:endParaRPr lang="en-US"/>
          </a:p>
        </c:txPr>
        <c:crossAx val="48650112"/>
        <c:crosses val="autoZero"/>
        <c:crossBetween val="between"/>
        <c:majorUnit val="20"/>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v>Image AUROC (%)</c:v>
          </c:tx>
          <c:spPr>
            <a:solidFill>
              <a:srgbClr val="D7DDE2"/>
            </a:solidFill>
          </c:spPr>
          <c:invertIfNegative val="0"/>
          <c:dPt>
            <c:idx val="4"/>
            <c:invertIfNegative val="0"/>
            <c:bubble3D val="0"/>
            <c:spPr>
              <a:solidFill>
                <a:srgbClr val="2C8390"/>
              </a:solidFill>
            </c:spPr>
            <c:extLst>
              <c:ext xmlns:c16="http://schemas.microsoft.com/office/drawing/2014/chart" uri="{C3380CC4-5D6E-409C-BE32-E72D297353CC}">
                <c16:uniqueId val="{00000001-0F1E-4BEB-BA5C-43D58947F805}"/>
              </c:ext>
            </c:extLst>
          </c:dPt>
          <c:dPt>
            <c:idx val="5"/>
            <c:invertIfNegative val="0"/>
            <c:bubble3D val="0"/>
            <c:spPr>
              <a:solidFill>
                <a:srgbClr val="822433"/>
              </a:solidFill>
            </c:spPr>
            <c:extLst>
              <c:ext xmlns:c16="http://schemas.microsoft.com/office/drawing/2014/chart" uri="{C3380CC4-5D6E-409C-BE32-E72D297353CC}">
                <c16:uniqueId val="{00000003-0F1E-4BEB-BA5C-43D58947F805}"/>
              </c:ext>
            </c:extLst>
          </c:dPt>
          <c:dLbls>
            <c:dLbl>
              <c:idx val="0"/>
              <c:tx>
                <c:rich>
                  <a:bodyPr/>
                  <a:lstStyle/>
                  <a:p>
                    <a:r>
                      <a:rPr lang="en-US" sz="1650" dirty="0">
                        <a:solidFill>
                          <a:srgbClr val="202124"/>
                        </a:solidFill>
                        <a:latin typeface="Roboto"/>
                        <a:ea typeface="Roboto"/>
                        <a:cs typeface="Roboto"/>
                      </a:rPr>
                      <a:t>66.50%</a:t>
                    </a:r>
                  </a:p>
                </c:rich>
              </c:tx>
              <c:spPr/>
              <c:dLblPos val="outEnd"/>
              <c:showLegendKey val="1"/>
              <c:showVal val="0"/>
              <c:showCatName val="1"/>
              <c:showSerName val="1"/>
              <c:showPercent val="1"/>
              <c:showBubbleSize val="1"/>
              <c:extLst>
                <c:ext xmlns:c15="http://schemas.microsoft.com/office/drawing/2012/chart" uri="{CE6537A1-D6FC-4f65-9D91-7224C49458BB}">
                  <c15:layout>
                    <c:manualLayout>
                      <c:w val="0.11122757826003456"/>
                      <c:h val="6.9900503816333295E-2"/>
                    </c:manualLayout>
                  </c15:layout>
                  <c15:showDataLabelsRange val="0"/>
                </c:ext>
                <c:ext xmlns:c16="http://schemas.microsoft.com/office/drawing/2014/chart" uri="{C3380CC4-5D6E-409C-BE32-E72D297353CC}">
                  <c16:uniqueId val="{00000004-0F1E-4BEB-BA5C-43D58947F805}"/>
                </c:ext>
              </c:extLst>
            </c:dLbl>
            <c:dLbl>
              <c:idx val="1"/>
              <c:tx>
                <c:rich>
                  <a:bodyPr/>
                  <a:lstStyle/>
                  <a:p>
                    <a:r>
                      <a:rPr lang="en-US" sz="1650" dirty="0">
                        <a:solidFill>
                          <a:srgbClr val="202124"/>
                        </a:solidFill>
                        <a:latin typeface="Roboto"/>
                        <a:ea typeface="Roboto"/>
                        <a:cs typeface="Roboto"/>
                      </a:rPr>
                      <a:t>77.33%</a:t>
                    </a:r>
                  </a:p>
                </c:rich>
              </c:tx>
              <c:spPr/>
              <c:dLblPos val="outEnd"/>
              <c:showLegendKey val="1"/>
              <c:showVal val="0"/>
              <c:showCatName val="1"/>
              <c:showSerName val="1"/>
              <c:showPercent val="1"/>
              <c:showBubbleSize val="1"/>
              <c:extLst>
                <c:ext xmlns:c15="http://schemas.microsoft.com/office/drawing/2012/chart" uri="{CE6537A1-D6FC-4f65-9D91-7224C49458BB}">
                  <c15:layout>
                    <c:manualLayout>
                      <c:w val="0.10147148069905894"/>
                      <c:h val="6.9900503816333295E-2"/>
                    </c:manualLayout>
                  </c15:layout>
                  <c15:showDataLabelsRange val="0"/>
                </c:ext>
                <c:ext xmlns:c16="http://schemas.microsoft.com/office/drawing/2014/chart" uri="{C3380CC4-5D6E-409C-BE32-E72D297353CC}">
                  <c16:uniqueId val="{00000005-0F1E-4BEB-BA5C-43D58947F805}"/>
                </c:ext>
              </c:extLst>
            </c:dLbl>
            <c:dLbl>
              <c:idx val="2"/>
              <c:tx>
                <c:rich>
                  <a:bodyPr/>
                  <a:lstStyle/>
                  <a:p>
                    <a:r>
                      <a:rPr lang="en-US" sz="1650" dirty="0">
                        <a:solidFill>
                          <a:srgbClr val="202124"/>
                        </a:solidFill>
                        <a:latin typeface="Roboto"/>
                        <a:ea typeface="Roboto"/>
                        <a:cs typeface="Roboto"/>
                      </a:rPr>
                      <a:t>77.52%</a:t>
                    </a:r>
                  </a:p>
                </c:rich>
              </c:tx>
              <c:spPr/>
              <c:dLblPos val="outEnd"/>
              <c:showLegendKey val="1"/>
              <c:showVal val="0"/>
              <c:showCatName val="1"/>
              <c:showSerName val="1"/>
              <c:showPercent val="1"/>
              <c:showBubbleSize val="1"/>
              <c:extLst>
                <c:ext xmlns:c15="http://schemas.microsoft.com/office/drawing/2012/chart" uri="{CE6537A1-D6FC-4f65-9D91-7224C49458BB}">
                  <c15:layout>
                    <c:manualLayout>
                      <c:w val="0.11122757826003456"/>
                      <c:h val="6.9900503816333295E-2"/>
                    </c:manualLayout>
                  </c15:layout>
                  <c15:showDataLabelsRange val="0"/>
                </c:ext>
                <c:ext xmlns:c16="http://schemas.microsoft.com/office/drawing/2014/chart" uri="{C3380CC4-5D6E-409C-BE32-E72D297353CC}">
                  <c16:uniqueId val="{00000006-0F1E-4BEB-BA5C-43D58947F805}"/>
                </c:ext>
              </c:extLst>
            </c:dLbl>
            <c:dLbl>
              <c:idx val="3"/>
              <c:tx>
                <c:rich>
                  <a:bodyPr/>
                  <a:lstStyle/>
                  <a:p>
                    <a:r>
                      <a:rPr lang="en-US" sz="1650" dirty="0">
                        <a:solidFill>
                          <a:srgbClr val="202124"/>
                        </a:solidFill>
                        <a:latin typeface="Roboto"/>
                        <a:ea typeface="Roboto"/>
                        <a:cs typeface="Roboto"/>
                      </a:rPr>
                      <a:t>79.28%</a:t>
                    </a:r>
                  </a:p>
                </c:rich>
              </c:tx>
              <c:spPr/>
              <c:dLblPos val="outEnd"/>
              <c:showLegendKey val="1"/>
              <c:showVal val="0"/>
              <c:showCatName val="1"/>
              <c:showSerName val="1"/>
              <c:showPercent val="1"/>
              <c:showBubbleSize val="1"/>
              <c:extLst>
                <c:ext xmlns:c15="http://schemas.microsoft.com/office/drawing/2012/chart" uri="{CE6537A1-D6FC-4f65-9D91-7224C49458BB}">
                  <c15:layout>
                    <c:manualLayout>
                      <c:w val="0.11447961078035976"/>
                      <c:h val="6.9900503816333295E-2"/>
                    </c:manualLayout>
                  </c15:layout>
                  <c15:showDataLabelsRange val="0"/>
                </c:ext>
                <c:ext xmlns:c16="http://schemas.microsoft.com/office/drawing/2014/chart" uri="{C3380CC4-5D6E-409C-BE32-E72D297353CC}">
                  <c16:uniqueId val="{00000007-0F1E-4BEB-BA5C-43D58947F805}"/>
                </c:ext>
              </c:extLst>
            </c:dLbl>
            <c:dLbl>
              <c:idx val="4"/>
              <c:tx>
                <c:rich>
                  <a:bodyPr/>
                  <a:lstStyle/>
                  <a:p>
                    <a:r>
                      <a:rPr lang="en-US" sz="1650" dirty="0">
                        <a:solidFill>
                          <a:srgbClr val="202124"/>
                        </a:solidFill>
                        <a:latin typeface="Roboto"/>
                        <a:ea typeface="Roboto"/>
                        <a:cs typeface="Roboto"/>
                      </a:rPr>
                      <a:t>82.72%</a:t>
                    </a:r>
                  </a:p>
                </c:rich>
              </c:tx>
              <c:spPr/>
              <c:dLblPos val="outEnd"/>
              <c:showLegendKey val="1"/>
              <c:showVal val="0"/>
              <c:showCatName val="1"/>
              <c:showSerName val="1"/>
              <c:showPercent val="1"/>
              <c:showBubbleSize val="1"/>
              <c:extLst>
                <c:ext xmlns:c15="http://schemas.microsoft.com/office/drawing/2012/chart" uri="{CE6537A1-D6FC-4f65-9D91-7224C49458BB}">
                  <c15:layout>
                    <c:manualLayout>
                      <c:w val="9.8219448178733737E-2"/>
                      <c:h val="6.9900503816333295E-2"/>
                    </c:manualLayout>
                  </c15:layout>
                  <c15:showDataLabelsRange val="0"/>
                </c:ext>
                <c:ext xmlns:c16="http://schemas.microsoft.com/office/drawing/2014/chart" uri="{C3380CC4-5D6E-409C-BE32-E72D297353CC}">
                  <c16:uniqueId val="{00000001-0F1E-4BEB-BA5C-43D58947F805}"/>
                </c:ext>
              </c:extLst>
            </c:dLbl>
            <c:dLbl>
              <c:idx val="5"/>
              <c:tx>
                <c:rich>
                  <a:bodyPr/>
                  <a:lstStyle/>
                  <a:p>
                    <a:r>
                      <a:rPr lang="en-US" sz="1650" dirty="0">
                        <a:solidFill>
                          <a:srgbClr val="202124"/>
                        </a:solidFill>
                        <a:latin typeface="Roboto"/>
                        <a:ea typeface="Roboto"/>
                        <a:cs typeface="Roboto"/>
                      </a:rPr>
                      <a:t>86.43%</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3-0F1E-4BEB-BA5C-43D58947F805}"/>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Data'!$A$2:$A$7</c:f>
              <c:strCache>
                <c:ptCount val="6"/>
                <c:pt idx="0">
                  <c:v>EfficientAD-S</c:v>
                </c:pt>
                <c:pt idx="1">
                  <c:v>TinyGLASS-512</c:v>
                </c:pt>
                <c:pt idx="2">
                  <c:v>TinyGLASS-384</c:v>
                </c:pt>
                <c:pt idx="3">
                  <c:v>PatchCore-S</c:v>
                </c:pt>
                <c:pt idx="4">
                  <c:v>SuperSimpleNet</c:v>
                </c:pt>
                <c:pt idx="5">
                  <c:v>PatchCore-L</c:v>
                </c:pt>
              </c:strCache>
            </c:strRef>
          </c:cat>
          <c:val>
            <c:numRef>
              <c:f>'Chart Data'!$B$2:$B$7</c:f>
              <c:numCache>
                <c:formatCode>General</c:formatCode>
                <c:ptCount val="6"/>
                <c:pt idx="0">
                  <c:v>66.5</c:v>
                </c:pt>
                <c:pt idx="1">
                  <c:v>77.33</c:v>
                </c:pt>
                <c:pt idx="2">
                  <c:v>77.52</c:v>
                </c:pt>
                <c:pt idx="3">
                  <c:v>79.28</c:v>
                </c:pt>
                <c:pt idx="4">
                  <c:v>82.72</c:v>
                </c:pt>
                <c:pt idx="5">
                  <c:v>86.43</c:v>
                </c:pt>
              </c:numCache>
            </c:numRef>
          </c:val>
          <c:extLst>
            <c:ext xmlns:c16="http://schemas.microsoft.com/office/drawing/2014/chart" uri="{C3380CC4-5D6E-409C-BE32-E72D297353CC}">
              <c16:uniqueId val="{00000008-0F1E-4BEB-BA5C-43D58947F805}"/>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l"/>
        <c:numFmt formatCode="General" sourceLinked="1"/>
        <c:majorTickMark val="none"/>
        <c:minorTickMark val="none"/>
        <c:tickLblPos val="nextTo"/>
        <c:spPr>
          <a:ln w="6668">
            <a:solidFill>
              <a:srgbClr val="C7CDD2"/>
            </a:solidFill>
          </a:ln>
        </c:spPr>
        <c:txPr>
          <a:bodyPr anchorCtr="1"/>
          <a:lstStyle/>
          <a:p>
            <a:pPr>
              <a:defRPr sz="1600">
                <a:solidFill>
                  <a:srgbClr val="656B73"/>
                </a:solidFill>
                <a:latin typeface="Roboto"/>
                <a:ea typeface="Roboto"/>
                <a:cs typeface="Roboto"/>
              </a:defRPr>
            </a:pPr>
            <a:endParaRPr lang="en-US"/>
          </a:p>
        </c:txPr>
        <c:crossAx val="48672768"/>
        <c:crosses val="autoZero"/>
        <c:auto val="1"/>
        <c:lblAlgn val="ctr"/>
        <c:lblOffset val="100"/>
        <c:tickLblSkip val="1"/>
        <c:tickMarkSkip val="1"/>
        <c:noMultiLvlLbl val="1"/>
      </c:catAx>
      <c:valAx>
        <c:axId val="48672768"/>
        <c:scaling>
          <c:orientation val="minMax"/>
          <c:max val="100"/>
          <c:min val="0"/>
        </c:scaling>
        <c:delete val="0"/>
        <c:axPos val="b"/>
        <c:numFmt formatCode="General" sourceLinked="1"/>
        <c:majorTickMark val="none"/>
        <c:minorTickMark val="none"/>
        <c:tickLblPos val="nextTo"/>
        <c:spPr>
          <a:ln w="0">
            <a:noFill/>
          </a:ln>
        </c:spPr>
        <c:txPr>
          <a:bodyPr anchorCtr="1"/>
          <a:lstStyle/>
          <a:p>
            <a:pPr>
              <a:defRPr sz="1725">
                <a:solidFill>
                  <a:srgbClr val="656B73"/>
                </a:solidFill>
                <a:latin typeface="Roboto"/>
                <a:ea typeface="Roboto"/>
                <a:cs typeface="Roboto"/>
              </a:defRPr>
            </a:pPr>
            <a:endParaRPr lang="en-US"/>
          </a:p>
        </c:txPr>
        <c:crossAx val="48650112"/>
        <c:crosses val="autoZero"/>
        <c:crossBetween val="between"/>
        <c:majorUnit val="20"/>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v>CE</c:v>
          </c:tx>
          <c:spPr>
            <a:solidFill>
              <a:srgbClr val="D7DDE2"/>
            </a:solidFill>
          </c:spPr>
          <c:invertIfNegative val="0"/>
          <c:dLbls>
            <c:dLbl>
              <c:idx val="0"/>
              <c:tx>
                <c:rich>
                  <a:bodyPr/>
                  <a:lstStyle/>
                  <a:p>
                    <a:r>
                      <a:rPr lang="en-US" sz="1650">
                        <a:solidFill>
                          <a:srgbClr val="202124"/>
                        </a:solidFill>
                        <a:latin typeface="Roboto"/>
                        <a:ea typeface="Roboto"/>
                        <a:cs typeface="Roboto"/>
                      </a:rPr>
                      <a:t>59.5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0-C187-41D8-85DC-321ADDCFCAC4}"/>
                </c:ext>
              </c:extLst>
            </c:dLbl>
            <c:dLbl>
              <c:idx val="1"/>
              <c:tx>
                <c:rich>
                  <a:bodyPr/>
                  <a:lstStyle/>
                  <a:p>
                    <a:r>
                      <a:rPr lang="en-US" sz="1650">
                        <a:solidFill>
                          <a:srgbClr val="202124"/>
                        </a:solidFill>
                        <a:latin typeface="Roboto"/>
                        <a:ea typeface="Roboto"/>
                        <a:cs typeface="Roboto"/>
                      </a:rPr>
                      <a:t>69.2</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1-C187-41D8-85DC-321ADDCFCAC4}"/>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Data'!$A$2:$A$3</c:f>
              <c:strCache>
                <c:ptCount val="2"/>
                <c:pt idx="0">
                  <c:v>U-Net R34</c:v>
                </c:pt>
                <c:pt idx="1">
                  <c:v>SegFormer-B0</c:v>
                </c:pt>
              </c:strCache>
            </c:strRef>
          </c:cat>
          <c:val>
            <c:numRef>
              <c:f>'Chart Data'!$B$2:$B$3</c:f>
              <c:numCache>
                <c:formatCode>General</c:formatCode>
                <c:ptCount val="2"/>
                <c:pt idx="0">
                  <c:v>59.5</c:v>
                </c:pt>
                <c:pt idx="1">
                  <c:v>69.2</c:v>
                </c:pt>
              </c:numCache>
            </c:numRef>
          </c:val>
          <c:extLst>
            <c:ext xmlns:c16="http://schemas.microsoft.com/office/drawing/2014/chart" uri="{C3380CC4-5D6E-409C-BE32-E72D297353CC}">
              <c16:uniqueId val="{00000002-C187-41D8-85DC-321ADDCFCAC4}"/>
            </c:ext>
          </c:extLst>
        </c:ser>
        <c:ser>
          <c:idx val="1"/>
          <c:order val="1"/>
          <c:tx>
            <c:v>CE + GDL</c:v>
          </c:tx>
          <c:spPr>
            <a:solidFill>
              <a:srgbClr val="822433"/>
            </a:solidFill>
          </c:spPr>
          <c:invertIfNegative val="0"/>
          <c:dLbls>
            <c:dLbl>
              <c:idx val="0"/>
              <c:tx>
                <c:rich>
                  <a:bodyPr/>
                  <a:lstStyle/>
                  <a:p>
                    <a:r>
                      <a:rPr lang="en-US" sz="1650">
                        <a:solidFill>
                          <a:srgbClr val="202124"/>
                        </a:solidFill>
                        <a:latin typeface="Roboto"/>
                        <a:ea typeface="Roboto"/>
                        <a:cs typeface="Roboto"/>
                      </a:rPr>
                      <a:t>64.5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3-C187-41D8-85DC-321ADDCFCAC4}"/>
                </c:ext>
              </c:extLst>
            </c:dLbl>
            <c:dLbl>
              <c:idx val="1"/>
              <c:tx>
                <c:rich>
                  <a:bodyPr/>
                  <a:lstStyle/>
                  <a:p>
                    <a:r>
                      <a:rPr lang="en-US" sz="1650">
                        <a:solidFill>
                          <a:srgbClr val="202124"/>
                        </a:solidFill>
                        <a:latin typeface="Roboto"/>
                        <a:ea typeface="Roboto"/>
                        <a:cs typeface="Roboto"/>
                      </a:rPr>
                      <a:t>75.5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4-C187-41D8-85DC-321ADDCFCAC4}"/>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Data'!$C$2:$C$3</c:f>
              <c:strCache>
                <c:ptCount val="2"/>
                <c:pt idx="0">
                  <c:v>U-Net R34</c:v>
                </c:pt>
                <c:pt idx="1">
                  <c:v>SegFormer-B0</c:v>
                </c:pt>
              </c:strCache>
            </c:strRef>
          </c:cat>
          <c:val>
            <c:numRef>
              <c:f>'Chart Data'!$D$2:$D$3</c:f>
              <c:numCache>
                <c:formatCode>General</c:formatCode>
                <c:ptCount val="2"/>
                <c:pt idx="0">
                  <c:v>64.5</c:v>
                </c:pt>
                <c:pt idx="1">
                  <c:v>75.5</c:v>
                </c:pt>
              </c:numCache>
            </c:numRef>
          </c:val>
          <c:extLst>
            <c:ext xmlns:c16="http://schemas.microsoft.com/office/drawing/2014/chart" uri="{C3380CC4-5D6E-409C-BE32-E72D297353CC}">
              <c16:uniqueId val="{00000005-C187-41D8-85DC-321ADDCFCAC4}"/>
            </c:ext>
          </c:extLst>
        </c:ser>
        <c:dLbls>
          <c:dLblPos val="outEnd"/>
          <c:showLegendKey val="0"/>
          <c:showVal val="1"/>
          <c:showCatName val="0"/>
          <c:showSerName val="0"/>
          <c:showPercent val="0"/>
          <c:showBubbleSize val="0"/>
        </c:dLbls>
        <c:gapWidth val="80"/>
        <c:axId val="48650112"/>
        <c:axId val="48672768"/>
      </c:barChart>
      <c:catAx>
        <c:axId val="48650112"/>
        <c:scaling>
          <c:orientation val="minMax"/>
        </c:scaling>
        <c:delete val="0"/>
        <c:axPos val="l"/>
        <c:numFmt formatCode="General" sourceLinked="1"/>
        <c:majorTickMark val="none"/>
        <c:minorTickMark val="none"/>
        <c:tickLblPos val="nextTo"/>
        <c:spPr>
          <a:ln w="6668">
            <a:solidFill>
              <a:srgbClr val="C7CDD2"/>
            </a:solidFill>
          </a:ln>
        </c:spPr>
        <c:txPr>
          <a:bodyPr anchorCtr="1"/>
          <a:lstStyle/>
          <a:p>
            <a:pPr>
              <a:defRPr sz="1600">
                <a:solidFill>
                  <a:srgbClr val="656B73"/>
                </a:solidFill>
                <a:latin typeface="Roboto"/>
                <a:ea typeface="Roboto"/>
                <a:cs typeface="Roboto"/>
              </a:defRPr>
            </a:pPr>
            <a:endParaRPr lang="en-US"/>
          </a:p>
        </c:txPr>
        <c:crossAx val="48672768"/>
        <c:crosses val="autoZero"/>
        <c:auto val="1"/>
        <c:lblAlgn val="ctr"/>
        <c:lblOffset val="100"/>
        <c:tickLblSkip val="1"/>
        <c:tickMarkSkip val="1"/>
        <c:noMultiLvlLbl val="1"/>
      </c:catAx>
      <c:valAx>
        <c:axId val="48672768"/>
        <c:scaling>
          <c:orientation val="minMax"/>
          <c:max val="100"/>
          <c:min val="0"/>
        </c:scaling>
        <c:delete val="0"/>
        <c:axPos val="b"/>
        <c:numFmt formatCode="General" sourceLinked="1"/>
        <c:majorTickMark val="none"/>
        <c:minorTickMark val="none"/>
        <c:tickLblPos val="nextTo"/>
        <c:spPr>
          <a:ln w="0">
            <a:noFill/>
          </a:ln>
        </c:spPr>
        <c:txPr>
          <a:bodyPr anchorCtr="1"/>
          <a:lstStyle/>
          <a:p>
            <a:pPr>
              <a:defRPr sz="1650">
                <a:solidFill>
                  <a:srgbClr val="656B73"/>
                </a:solidFill>
                <a:latin typeface="Roboto"/>
                <a:ea typeface="Roboto"/>
                <a:cs typeface="Roboto"/>
              </a:defRPr>
            </a:pPr>
            <a:endParaRPr lang="en-US"/>
          </a:p>
        </c:txPr>
        <c:crossAx val="48650112"/>
        <c:crosses val="autoZero"/>
        <c:crossBetween val="between"/>
        <c:majorUnit val="20"/>
      </c:valAx>
      <c:spPr>
        <a:solidFill>
          <a:srgbClr val="FFFFFF"/>
        </a:solidFill>
        <a:ln w="0">
          <a:noFill/>
        </a:ln>
      </c:spPr>
    </c:plotArea>
    <c:legend>
      <c:legendPos val="b"/>
      <c:overlay val="0"/>
      <c:txPr>
        <a:bodyPr anchorCtr="1"/>
        <a:lstStyle/>
        <a:p>
          <a:pPr>
            <a:defRPr sz="1650">
              <a:solidFill>
                <a:srgbClr val="656B73"/>
              </a:solidFill>
              <a:latin typeface="Roboto"/>
              <a:ea typeface="Roboto"/>
              <a:cs typeface="Roboto"/>
            </a:defRPr>
          </a:pPr>
          <a:endParaRPr lang="en-US"/>
        </a:p>
      </c:txPr>
    </c:legend>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v>Validation</c:v>
          </c:tx>
          <c:spPr>
            <a:solidFill>
              <a:srgbClr val="D7DDE2"/>
            </a:solidFill>
          </c:spPr>
          <c:invertIfNegative val="0"/>
          <c:dLbls>
            <c:dLbl>
              <c:idx val="0"/>
              <c:tx>
                <c:rich>
                  <a:bodyPr/>
                  <a:lstStyle/>
                  <a:p>
                    <a:r>
                      <a:rPr lang="en-US" sz="1650">
                        <a:solidFill>
                          <a:srgbClr val="202124"/>
                        </a:solidFill>
                        <a:latin typeface="Roboto"/>
                        <a:ea typeface="Roboto"/>
                        <a:cs typeface="Roboto"/>
                      </a:rPr>
                      <a:t>79.28</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0-CFBC-419C-B6FD-F97CF0A7E360}"/>
                </c:ext>
              </c:extLst>
            </c:dLbl>
            <c:dLbl>
              <c:idx val="1"/>
              <c:tx>
                <c:rich>
                  <a:bodyPr/>
                  <a:lstStyle/>
                  <a:p>
                    <a:r>
                      <a:rPr lang="en-US" sz="1650">
                        <a:solidFill>
                          <a:srgbClr val="202124"/>
                        </a:solidFill>
                        <a:latin typeface="Roboto"/>
                        <a:ea typeface="Roboto"/>
                        <a:cs typeface="Roboto"/>
                      </a:rPr>
                      <a:t>70.64</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1-CFBC-419C-B6FD-F97CF0A7E360}"/>
                </c:ext>
              </c:extLst>
            </c:dLbl>
            <c:dLbl>
              <c:idx val="2"/>
              <c:tx>
                <c:rich>
                  <a:bodyPr/>
                  <a:lstStyle/>
                  <a:p>
                    <a:r>
                      <a:rPr lang="en-US" sz="1650">
                        <a:solidFill>
                          <a:srgbClr val="202124"/>
                        </a:solidFill>
                        <a:latin typeface="Roboto"/>
                        <a:ea typeface="Roboto"/>
                        <a:cs typeface="Roboto"/>
                      </a:rPr>
                      <a:t>73.99</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2-CFBC-419C-B6FD-F97CF0A7E360}"/>
                </c:ext>
              </c:extLst>
            </c:dLbl>
            <c:dLbl>
              <c:idx val="3"/>
              <c:tx>
                <c:rich>
                  <a:bodyPr/>
                  <a:lstStyle/>
                  <a:p>
                    <a:r>
                      <a:rPr lang="en-US" sz="1650">
                        <a:solidFill>
                          <a:srgbClr val="202124"/>
                        </a:solidFill>
                        <a:latin typeface="Roboto"/>
                        <a:ea typeface="Roboto"/>
                        <a:cs typeface="Roboto"/>
                      </a:rPr>
                      <a:t>80.28</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3-CFBC-419C-B6FD-F97CF0A7E360}"/>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Data'!$A$2:$A$5</c:f>
              <c:strCache>
                <c:ptCount val="4"/>
                <c:pt idx="0">
                  <c:v>Oversampling, uniform</c:v>
                </c:pt>
                <c:pt idx="1">
                  <c:v>Oversampling, square</c:v>
                </c:pt>
                <c:pt idx="2">
                  <c:v>Geometric augmentation</c:v>
                </c:pt>
                <c:pt idx="3">
                  <c:v>Default</c:v>
                </c:pt>
              </c:strCache>
            </c:strRef>
          </c:cat>
          <c:val>
            <c:numRef>
              <c:f>'Chart Data'!$B$2:$B$5</c:f>
              <c:numCache>
                <c:formatCode>General</c:formatCode>
                <c:ptCount val="4"/>
                <c:pt idx="0">
                  <c:v>79.28</c:v>
                </c:pt>
                <c:pt idx="1">
                  <c:v>70.64</c:v>
                </c:pt>
                <c:pt idx="2">
                  <c:v>73.989999999999995</c:v>
                </c:pt>
                <c:pt idx="3">
                  <c:v>80.28</c:v>
                </c:pt>
              </c:numCache>
            </c:numRef>
          </c:val>
          <c:extLst>
            <c:ext xmlns:c16="http://schemas.microsoft.com/office/drawing/2014/chart" uri="{C3380CC4-5D6E-409C-BE32-E72D297353CC}">
              <c16:uniqueId val="{00000004-CFBC-419C-B6FD-F97CF0A7E360}"/>
            </c:ext>
          </c:extLst>
        </c:ser>
        <c:ser>
          <c:idx val="1"/>
          <c:order val="1"/>
          <c:tx>
            <c:v>Test</c:v>
          </c:tx>
          <c:spPr>
            <a:solidFill>
              <a:srgbClr val="822433"/>
            </a:solidFill>
          </c:spPr>
          <c:invertIfNegative val="0"/>
          <c:dLbls>
            <c:dLbl>
              <c:idx val="0"/>
              <c:tx>
                <c:rich>
                  <a:bodyPr/>
                  <a:lstStyle/>
                  <a:p>
                    <a:r>
                      <a:rPr lang="en-US" sz="1650">
                        <a:solidFill>
                          <a:srgbClr val="202124"/>
                        </a:solidFill>
                        <a:latin typeface="Roboto"/>
                        <a:ea typeface="Roboto"/>
                        <a:cs typeface="Roboto"/>
                      </a:rPr>
                      <a:t>72.90</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5-CFBC-419C-B6FD-F97CF0A7E360}"/>
                </c:ext>
              </c:extLst>
            </c:dLbl>
            <c:dLbl>
              <c:idx val="1"/>
              <c:tx>
                <c:rich>
                  <a:bodyPr/>
                  <a:lstStyle/>
                  <a:p>
                    <a:r>
                      <a:rPr lang="en-US" sz="1650">
                        <a:solidFill>
                          <a:srgbClr val="202124"/>
                        </a:solidFill>
                        <a:latin typeface="Roboto"/>
                        <a:ea typeface="Roboto"/>
                        <a:cs typeface="Roboto"/>
                      </a:rPr>
                      <a:t>71.02</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6-CFBC-419C-B6FD-F97CF0A7E360}"/>
                </c:ext>
              </c:extLst>
            </c:dLbl>
            <c:dLbl>
              <c:idx val="2"/>
              <c:tx>
                <c:rich>
                  <a:bodyPr/>
                  <a:lstStyle/>
                  <a:p>
                    <a:r>
                      <a:rPr lang="en-US" sz="1650">
                        <a:solidFill>
                          <a:srgbClr val="202124"/>
                        </a:solidFill>
                        <a:latin typeface="Roboto"/>
                        <a:ea typeface="Roboto"/>
                        <a:cs typeface="Roboto"/>
                      </a:rPr>
                      <a:t>66.86</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7-CFBC-419C-B6FD-F97CF0A7E360}"/>
                </c:ext>
              </c:extLst>
            </c:dLbl>
            <c:dLbl>
              <c:idx val="3"/>
              <c:tx>
                <c:rich>
                  <a:bodyPr/>
                  <a:lstStyle/>
                  <a:p>
                    <a:r>
                      <a:rPr lang="en-US" sz="1650">
                        <a:solidFill>
                          <a:srgbClr val="202124"/>
                        </a:solidFill>
                        <a:latin typeface="Roboto"/>
                        <a:ea typeface="Roboto"/>
                        <a:cs typeface="Roboto"/>
                      </a:rPr>
                      <a:t>75.55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8-CFBC-419C-B6FD-F97CF0A7E360}"/>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Data'!$C$2:$C$5</c:f>
              <c:strCache>
                <c:ptCount val="4"/>
                <c:pt idx="0">
                  <c:v>Oversampling, uniform</c:v>
                </c:pt>
                <c:pt idx="1">
                  <c:v>Oversampling, square</c:v>
                </c:pt>
                <c:pt idx="2">
                  <c:v>Geometric augmentation</c:v>
                </c:pt>
                <c:pt idx="3">
                  <c:v>Default</c:v>
                </c:pt>
              </c:strCache>
            </c:strRef>
          </c:cat>
          <c:val>
            <c:numRef>
              <c:f>'Chart Data'!$D$2:$D$5</c:f>
              <c:numCache>
                <c:formatCode>General</c:formatCode>
                <c:ptCount val="4"/>
                <c:pt idx="0">
                  <c:v>72.900000000000006</c:v>
                </c:pt>
                <c:pt idx="1">
                  <c:v>71.02</c:v>
                </c:pt>
                <c:pt idx="2">
                  <c:v>66.86</c:v>
                </c:pt>
                <c:pt idx="3">
                  <c:v>75.55</c:v>
                </c:pt>
              </c:numCache>
            </c:numRef>
          </c:val>
          <c:extLst>
            <c:ext xmlns:c16="http://schemas.microsoft.com/office/drawing/2014/chart" uri="{C3380CC4-5D6E-409C-BE32-E72D297353CC}">
              <c16:uniqueId val="{00000009-CFBC-419C-B6FD-F97CF0A7E360}"/>
            </c:ext>
          </c:extLst>
        </c:ser>
        <c:dLbls>
          <c:dLblPos val="outEnd"/>
          <c:showLegendKey val="0"/>
          <c:showVal val="1"/>
          <c:showCatName val="0"/>
          <c:showSerName val="0"/>
          <c:showPercent val="0"/>
          <c:showBubbleSize val="0"/>
        </c:dLbls>
        <c:gapWidth val="80"/>
        <c:axId val="48650112"/>
        <c:axId val="48672768"/>
      </c:barChart>
      <c:catAx>
        <c:axId val="48650112"/>
        <c:scaling>
          <c:orientation val="minMax"/>
        </c:scaling>
        <c:delete val="0"/>
        <c:axPos val="l"/>
        <c:numFmt formatCode="General" sourceLinked="1"/>
        <c:majorTickMark val="none"/>
        <c:minorTickMark val="none"/>
        <c:tickLblPos val="nextTo"/>
        <c:spPr>
          <a:ln w="6668">
            <a:solidFill>
              <a:srgbClr val="C7CDD2"/>
            </a:solidFill>
          </a:ln>
        </c:spPr>
        <c:txPr>
          <a:bodyPr anchorCtr="1"/>
          <a:lstStyle/>
          <a:p>
            <a:pPr>
              <a:defRPr sz="1600">
                <a:solidFill>
                  <a:srgbClr val="656B73"/>
                </a:solidFill>
                <a:latin typeface="Roboto"/>
                <a:ea typeface="Roboto"/>
                <a:cs typeface="Roboto"/>
              </a:defRPr>
            </a:pPr>
            <a:endParaRPr lang="en-US"/>
          </a:p>
        </c:txPr>
        <c:crossAx val="48672768"/>
        <c:crosses val="autoZero"/>
        <c:auto val="1"/>
        <c:lblAlgn val="ctr"/>
        <c:lblOffset val="100"/>
        <c:tickLblSkip val="1"/>
        <c:tickMarkSkip val="1"/>
        <c:noMultiLvlLbl val="1"/>
      </c:catAx>
      <c:valAx>
        <c:axId val="48672768"/>
        <c:scaling>
          <c:orientation val="minMax"/>
          <c:max val="100"/>
          <c:min val="0"/>
        </c:scaling>
        <c:delete val="0"/>
        <c:axPos val="b"/>
        <c:numFmt formatCode="General" sourceLinked="1"/>
        <c:majorTickMark val="none"/>
        <c:minorTickMark val="none"/>
        <c:tickLblPos val="nextTo"/>
        <c:spPr>
          <a:ln w="0">
            <a:noFill/>
          </a:ln>
        </c:spPr>
        <c:txPr>
          <a:bodyPr anchorCtr="1"/>
          <a:lstStyle/>
          <a:p>
            <a:pPr>
              <a:defRPr sz="1650">
                <a:solidFill>
                  <a:srgbClr val="656B73"/>
                </a:solidFill>
                <a:latin typeface="Roboto"/>
                <a:ea typeface="Roboto"/>
                <a:cs typeface="Roboto"/>
              </a:defRPr>
            </a:pPr>
            <a:endParaRPr lang="en-US"/>
          </a:p>
        </c:txPr>
        <c:crossAx val="48650112"/>
        <c:crosses val="autoZero"/>
        <c:crossBetween val="between"/>
        <c:majorUnit val="20"/>
      </c:valAx>
      <c:spPr>
        <a:solidFill>
          <a:srgbClr val="FFFFFF"/>
        </a:solidFill>
        <a:ln w="0">
          <a:noFill/>
        </a:ln>
      </c:spPr>
    </c:plotArea>
    <c:legend>
      <c:legendPos val="b"/>
      <c:overlay val="0"/>
      <c:txPr>
        <a:bodyPr anchorCtr="1"/>
        <a:lstStyle/>
        <a:p>
          <a:pPr>
            <a:defRPr sz="1650">
              <a:solidFill>
                <a:srgbClr val="656B73"/>
              </a:solidFill>
              <a:latin typeface="Roboto"/>
              <a:ea typeface="Roboto"/>
              <a:cs typeface="Roboto"/>
            </a:defRPr>
          </a:pPr>
          <a:endParaRPr lang="en-US"/>
        </a:p>
      </c:txPr>
    </c:legend>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0C1239-0725-46DB-A966-8FDB2DE1064C}" type="datetimeFigureOut">
              <a:rPr lang="it-IT" smtClean="0"/>
              <a:t>23/10/2026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8FF6D0F-8D8B-42DD-BAAB-92498700177C}" type="slidenum">
              <a:rPr lang="it-IT" smtClean="0"/>
              <a:t>‹N›</a:t>
            </a:fld>
            <a:endParaRPr lang="it-IT"/>
          </a:p>
        </p:txBody>
      </p:sp>
    </p:spTree>
    <p:extLst>
      <p:ext uri="{BB962C8B-B14F-4D97-AF65-F5344CB8AC3E}">
        <p14:creationId xmlns:p14="http://schemas.microsoft.com/office/powerpoint/2010/main" val="29934772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[Parte principale. Tempo indicativo: 15–25 secondi.]</a:t>
            </a:r>
          </a:p>
          <a:p>
            <a:endParaRPr lang="it-IT"/>
          </a:p>
          <a:p>
            <a:r>
              <a:rPr lang="it-IT"/>
              <a:t>Buongiorno, sono Daniele Venturini. La mia tesi riguarda due aspetti della percezione visiva per i rover marziani: comprendere il terreno circostante e individuare possibili danni alle ruote, tenendo conto dei limiti delle risorse di calcolo.</a:t>
            </a:r>
          </a:p>
          <a:p>
            <a:endParaRPr lang="it-IT"/>
          </a:p>
          <a:p>
            <a:r>
              <a:rPr lang="it-IT"/>
              <a:t>[Fonti di supporto, non da leggere: Tesi, titolo e introduzione.]</a:t>
            </a:r>
          </a:p>
        </p:txBody>
      </p:sp>
      <p:sp>
        <p:nvSpPr>
          <p:cNvPr id="4" name="Segnaposto numero diapositiva 3"/>
          <p:cNvSpPr>
            <a:spLocks noGrp="1"/>
          </p:cNvSpPr>
          <p:nvPr>
            <p:ph type="sldNum" sz="quarter" idx="5"/>
          </p:nvPr>
        </p:nvSpPr>
        <p:spPr/>
        <p:txBody>
          <a:bodyPr/>
          <a:lstStyle/>
          <a:p>
            <a:fld id="{98FF6D0F-8D8B-42DD-BAAB-92498700177C}" type="slidenum">
              <a:rPr lang="it-IT" smtClean="0"/>
              <a:t>1</a:t>
            </a:fld>
            <a:endParaRPr lang="it-IT"/>
          </a:p>
        </p:txBody>
      </p:sp>
    </p:spTree>
    <p:extLst>
      <p:ext uri="{BB962C8B-B14F-4D97-AF65-F5344CB8AC3E}">
        <p14:creationId xmlns:p14="http://schemas.microsoft.com/office/powerpoint/2010/main" val="41150128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[Parte principale. Tempo indicativo: 10–20 secondi.]</a:t>
            </a:r>
          </a:p>
          <a:p>
            <a:endParaRPr lang="it-IT"/>
          </a:p>
          <a:p>
            <a:r>
              <a:rPr lang="it-IT"/>
              <a:t>Partirò dal problema e dagli obiettivi. Presenterò poi la segmentazione, la generazione del dataset sintetico e l’ispezione delle ruote, per arrivare ai risultati e alle conclusioni.</a:t>
            </a:r>
          </a:p>
          <a:p>
            <a:endParaRPr lang="it-IT"/>
          </a:p>
          <a:p>
            <a:r>
              <a:rPr lang="it-IT"/>
              <a:t>[Fonti di supporto, non da leggere: Struttura della presentazione.]</a:t>
            </a:r>
          </a:p>
        </p:txBody>
      </p:sp>
      <p:sp>
        <p:nvSpPr>
          <p:cNvPr id="4" name="Segnaposto numero diapositiva 3"/>
          <p:cNvSpPr>
            <a:spLocks noGrp="1"/>
          </p:cNvSpPr>
          <p:nvPr>
            <p:ph type="sldNum" sz="quarter" idx="5"/>
          </p:nvPr>
        </p:nvSpPr>
        <p:spPr/>
        <p:txBody>
          <a:bodyPr/>
          <a:lstStyle/>
          <a:p>
            <a:fld id="{98FF6D0F-8D8B-42DD-BAAB-92498700177C}" type="slidenum">
              <a:rPr lang="it-IT" smtClean="0"/>
              <a:t>2</a:t>
            </a:fld>
            <a:endParaRPr lang="it-IT"/>
          </a:p>
        </p:txBody>
      </p:sp>
    </p:spTree>
    <p:extLst>
      <p:ext uri="{BB962C8B-B14F-4D97-AF65-F5344CB8AC3E}">
        <p14:creationId xmlns:p14="http://schemas.microsoft.com/office/powerpoint/2010/main" val="15938530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[Parte principale. Tempo indicativo: 25–35 secondi.]</a:t>
            </a:r>
          </a:p>
          <a:p>
            <a:endParaRPr lang="it-IT"/>
          </a:p>
          <a:p>
            <a:r>
              <a:rPr lang="it-IT"/>
              <a:t>Molte operazioni dei rover vengono pianificate e supervisionate da Terra. Il segnale impiega indicativamente da quattro a ventidue minuti per raggiungere Marte, quindi non è possibile intervenire in tempo reale. Il rover esegue il piano e comunica l’esito oppure richiede assistenza. Aumentare la capacità di interpretare le immagini localmente può ridurre questa dipendenza e supportare decisioni più autonome.</a:t>
            </a:r>
          </a:p>
          <a:p>
            <a:endParaRPr lang="it-IT"/>
          </a:p>
          <a:p>
            <a:r>
              <a:rPr lang="it-IT"/>
              <a:t>[Fonti di supporto, non da leggere: Tesi, cap. 1; riferimento [1].]</a:t>
            </a:r>
          </a:p>
        </p:txBody>
      </p:sp>
      <p:sp>
        <p:nvSpPr>
          <p:cNvPr id="4" name="Segnaposto numero diapositiva 3"/>
          <p:cNvSpPr>
            <a:spLocks noGrp="1"/>
          </p:cNvSpPr>
          <p:nvPr>
            <p:ph type="sldNum" sz="quarter" idx="5"/>
          </p:nvPr>
        </p:nvSpPr>
        <p:spPr/>
        <p:txBody>
          <a:bodyPr/>
          <a:lstStyle/>
          <a:p>
            <a:fld id="{98FF6D0F-8D8B-42DD-BAAB-92498700177C}" type="slidenum">
              <a:rPr lang="it-IT" smtClean="0"/>
              <a:t>3</a:t>
            </a:fld>
            <a:endParaRPr lang="it-IT"/>
          </a:p>
        </p:txBody>
      </p:sp>
    </p:spTree>
    <p:extLst>
      <p:ext uri="{BB962C8B-B14F-4D97-AF65-F5344CB8AC3E}">
        <p14:creationId xmlns:p14="http://schemas.microsoft.com/office/powerpoint/2010/main" val="38148956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[Parte principale. Tempo indicativo: 20–30 secondi.]</a:t>
            </a:r>
          </a:p>
          <a:p>
            <a:endParaRPr lang="it-IT"/>
          </a:p>
          <a:p>
            <a:r>
              <a:rPr lang="it-IT"/>
              <a:t>La mobilità dipende anche dalle condizioni del rover. Nell’immagine vediamo un esempio reale di perforazioni sulla ruota di Curiosity. Oggi queste condizioni vengono monitorate attraverso ispezioni periodiche delle immagini. Un sistema automatico potrebbe segnalare osservazioni sospette e indicare le zone da esaminare, aiutando a seguire l’evoluzione del danno e a pianificare ispezioni mirate.</a:t>
            </a:r>
          </a:p>
          <a:p>
            <a:endParaRPr lang="it-IT"/>
          </a:p>
          <a:p>
            <a:r>
              <a:rPr lang="it-IT"/>
              <a:t>[Fonti di supporto, non da leggere: Tesi, cap. 1; riferimenti [2] e [3].]</a:t>
            </a:r>
          </a:p>
        </p:txBody>
      </p:sp>
      <p:sp>
        <p:nvSpPr>
          <p:cNvPr id="4" name="Segnaposto numero diapositiva 3"/>
          <p:cNvSpPr>
            <a:spLocks noGrp="1"/>
          </p:cNvSpPr>
          <p:nvPr>
            <p:ph type="sldNum" sz="quarter" idx="5"/>
          </p:nvPr>
        </p:nvSpPr>
        <p:spPr/>
        <p:txBody>
          <a:bodyPr/>
          <a:lstStyle/>
          <a:p>
            <a:fld id="{98FF6D0F-8D8B-42DD-BAAB-92498700177C}" type="slidenum">
              <a:rPr lang="it-IT" smtClean="0"/>
              <a:t>4</a:t>
            </a:fld>
            <a:endParaRPr lang="it-IT"/>
          </a:p>
        </p:txBody>
      </p:sp>
    </p:spTree>
    <p:extLst>
      <p:ext uri="{BB962C8B-B14F-4D97-AF65-F5344CB8AC3E}">
        <p14:creationId xmlns:p14="http://schemas.microsoft.com/office/powerpoint/2010/main" val="3789452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[Parte principale. Tempo indicativo: 25–35 secondi.]</a:t>
            </a:r>
          </a:p>
          <a:p>
            <a:endParaRPr lang="it-IT"/>
          </a:p>
          <a:p>
            <a:r>
              <a:rPr lang="it-IT"/>
              <a:t>L’obiettivo è studiare strumenti visivi a supporto dell’autonomia, valutando insieme qualità ed efficienza. Ho quindi sviluppato due rami: la segmentazione semantica di immagini reali di Marte, per descrivere la scena, e l’anomaly detection sulle ruote, per cui ho costruito un dataset sintetico. I due rami sono stati valutati separatamente; la loro integrazione è una prospettiva futura.</a:t>
            </a:r>
          </a:p>
          <a:p>
            <a:endParaRPr lang="it-IT"/>
          </a:p>
          <a:p>
            <a:r>
              <a:rPr lang="it-IT"/>
              <a:t>[Fonti di supporto, non da leggere: Tesi, cap. 1 e 8.]</a:t>
            </a:r>
          </a:p>
        </p:txBody>
      </p:sp>
      <p:sp>
        <p:nvSpPr>
          <p:cNvPr id="4" name="Segnaposto numero diapositiva 3"/>
          <p:cNvSpPr>
            <a:spLocks noGrp="1"/>
          </p:cNvSpPr>
          <p:nvPr>
            <p:ph type="sldNum" sz="quarter" idx="5"/>
          </p:nvPr>
        </p:nvSpPr>
        <p:spPr/>
        <p:txBody>
          <a:bodyPr/>
          <a:lstStyle/>
          <a:p>
            <a:fld id="{98FF6D0F-8D8B-42DD-BAAB-92498700177C}" type="slidenum">
              <a:rPr lang="it-IT" smtClean="0"/>
              <a:t>5</a:t>
            </a:fld>
            <a:endParaRPr lang="it-IT"/>
          </a:p>
        </p:txBody>
      </p:sp>
    </p:spTree>
    <p:extLst>
      <p:ext uri="{BB962C8B-B14F-4D97-AF65-F5344CB8AC3E}">
        <p14:creationId xmlns:p14="http://schemas.microsoft.com/office/powerpoint/2010/main" val="27559248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[Parte principale. Tempo indicativo: 5–15 secondi.]</a:t>
            </a:r>
          </a:p>
          <a:p>
            <a:endParaRPr lang="it-IT"/>
          </a:p>
          <a:p>
            <a:r>
              <a:rPr lang="it-IT"/>
              <a:t>Comincio dal primo ramo: la comprensione della scena attraverso modelli di segmentazione leggeri.</a:t>
            </a:r>
          </a:p>
          <a:p>
            <a:endParaRPr lang="it-IT"/>
          </a:p>
          <a:p>
            <a:r>
              <a:rPr lang="it-IT"/>
              <a:t>[Fonti di supporto, non da leggere: Slide di passaggio.]</a:t>
            </a:r>
          </a:p>
        </p:txBody>
      </p:sp>
      <p:sp>
        <p:nvSpPr>
          <p:cNvPr id="4" name="Segnaposto numero diapositiva 3"/>
          <p:cNvSpPr>
            <a:spLocks noGrp="1"/>
          </p:cNvSpPr>
          <p:nvPr>
            <p:ph type="sldNum" sz="quarter" idx="5"/>
          </p:nvPr>
        </p:nvSpPr>
        <p:spPr/>
        <p:txBody>
          <a:bodyPr/>
          <a:lstStyle/>
          <a:p>
            <a:fld id="{98FF6D0F-8D8B-42DD-BAAB-92498700177C}" type="slidenum">
              <a:rPr lang="it-IT" smtClean="0"/>
              <a:t>6</a:t>
            </a:fld>
            <a:endParaRPr lang="it-IT"/>
          </a:p>
        </p:txBody>
      </p:sp>
    </p:spTree>
    <p:extLst>
      <p:ext uri="{BB962C8B-B14F-4D97-AF65-F5344CB8AC3E}">
        <p14:creationId xmlns:p14="http://schemas.microsoft.com/office/powerpoint/2010/main" val="22059536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r>
              <a:rPr lang="it-IT"/>
              <a:t>[Parte principale. Tempo indicativo: 25–35 secondi.]</a:t>
            </a:r>
          </a:p>
          <a:p>
            <a:endParaRPr lang="it-IT"/>
          </a:p>
          <a:p>
            <a:r>
              <a:rPr lang="it-IT"/>
              <a:t>La segmentazione assegna una classe semantica a ogni pixel. Partendo dall’immagine RGB, vogliamo distinguere regioni come rocce, sabbia e substrato roccioso. La maschera di riferimento ci permette di valutare la predizione. La metrica principale è la mean Intersection over Union, o mIoU, che misura la sovrapposizione media tra regioni predette e annotate, considerando le diverse classi.</a:t>
            </a:r>
          </a:p>
          <a:p>
            <a:endParaRPr lang="it-IT"/>
          </a:p>
          <a:p>
            <a:r>
              <a:rPr lang="it-IT"/>
              <a:t>[Fonti di supporto, non da leggere: Tesi, cap. 2, definizione del task.]</a:t>
            </a:r>
            <a:endParaRPr lang="it-IT" dirty="0"/>
          </a:p>
        </p:txBody>
      </p:sp>
      <p:sp>
        <p:nvSpPr>
          <p:cNvPr id="4" name="Segnaposto numero diapositiva 3"/>
          <p:cNvSpPr>
            <a:spLocks noGrp="1"/>
          </p:cNvSpPr>
          <p:nvPr>
            <p:ph type="sldNum" sz="quarter" idx="5"/>
          </p:nvPr>
        </p:nvSpPr>
        <p:spPr/>
        <p:txBody>
          <a:bodyPr/>
          <a:lstStyle/>
          <a:p>
            <a:fld id="{98FF6D0F-8D8B-42DD-BAAB-92498700177C}" type="slidenum">
              <a:rPr lang="it-IT" smtClean="0"/>
              <a:t>7</a:t>
            </a:fld>
            <a:endParaRPr lang="it-IT"/>
          </a:p>
        </p:txBody>
      </p:sp>
    </p:spTree>
    <p:extLst>
      <p:ext uri="{BB962C8B-B14F-4D97-AF65-F5344CB8AC3E}">
        <p14:creationId xmlns:p14="http://schemas.microsoft.com/office/powerpoint/2010/main" val="4897072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[Parte principale. Tempo indicativo: 25–35 secondi.]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Il dataset principale è la versione di S5Mars fornita da Mars-Bench: immagini reali di Curiosity con nove classi, inclusa la classe Rover. Ho mantenuto le partizioni di training, validation e test riportate qui. Per studiare la generalizzazione ho usato anche MarsSeg, con sette classi e due domini: MSL, cioè Curiosity, e MER, cioè Spirit e Opportunity. Qui interessa capire cosa succede quando cambia la missione.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2, dataset; riferimenti [4] e [5].]</a:t>
            </a:r>
            <a:endParaRPr lang="it-IT" dirty="0"/>
          </a:p>
        </p:txBody>
      </p:sp>
      <p:sp>
        <p:nvSpPr>
          <p:cNvPr id="4" name="Segnaposto numero diapositiva 3"/>
          <p:cNvSpPr>
            <a:spLocks noGrp="1"/>
          </p:cNvSpPr>
          <p:nvPr>
            <p:ph type="sldNum" sz="quarter" idx="5"/>
          </p:nvPr>
        </p:nvSpPr>
        <p:spPr/>
        <p:txBody>
          <a:bodyPr/>
          <a:lstStyle/>
          <a:p>
            <a:fld id="{98FF6D0F-8D8B-42DD-BAAB-92498700177C}" type="slidenum">
              <a:rPr lang="it-IT" smtClean="0"/>
              <a:t>8</a:t>
            </a:fld>
            <a:endParaRPr lang="it-IT"/>
          </a:p>
        </p:txBody>
      </p:sp>
    </p:spTree>
    <p:extLst>
      <p:ext uri="{BB962C8B-B14F-4D97-AF65-F5344CB8AC3E}">
        <p14:creationId xmlns:p14="http://schemas.microsoft.com/office/powerpoint/2010/main" val="26265033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A177D-E449-8957-F5EF-D1DFE5F6490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6246E1C-C04E-3900-A01C-0B44C3A109D2}"/>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1607AB5-E319-4593-B1AF-164B854892F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[Parte principale. Tempo indicativo: 25–35 secondi.]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Ho confrontato sette configurazioni, dalle CNN U-Net e DeepLab alle varianti leggere LCNet e al transformer SegFormer-B0. Cambiando encoder possiamo valutare il rapporto tra capacità del modello e numero di parametri. SegFormer ha circa 3,7 milioni di parametri, mentre LCNet scende sotto il milione. Le inizializzazioni differiscono: LCNet parte da zero, gli altri modelli usano pesi preaddestrati.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2, architetture; riferimenti [6]–[10].]</a:t>
            </a:r>
            <a:endParaRPr lang="it-IT" dirty="0"/>
          </a:p>
        </p:txBody>
      </p:sp>
      <p:sp>
        <p:nvSpPr>
          <p:cNvPr id="4" name="Segnaposto numero diapositiva 3">
            <a:extLst>
              <a:ext uri="{FF2B5EF4-FFF2-40B4-BE49-F238E27FC236}">
                <a16:creationId xmlns:a16="http://schemas.microsoft.com/office/drawing/2014/main" id="{0E8B3DB5-B3A0-8676-EAC6-941E982A3A0E}"/>
              </a:ext>
            </a:extLst>
          </p:cNvPr>
          <p:cNvSpPr>
            <a:spLocks noGrp="1"/>
          </p:cNvSpPr>
          <p:nvPr>
            <p:ph type="sldNum" sz="quarter" idx="5"/>
          </p:nvPr>
        </p:nvSpPr>
        <p:spPr/>
        <p:txBody>
          <a:bodyPr/>
          <a:lstStyle/>
          <a:p>
            <a:fld id="{98FF6D0F-8D8B-42DD-BAAB-92498700177C}" type="slidenum">
              <a:rPr lang="it-IT" smtClean="0"/>
              <a:t>9</a:t>
            </a:fld>
            <a:endParaRPr lang="it-IT"/>
          </a:p>
        </p:txBody>
      </p:sp>
    </p:spTree>
    <p:extLst>
      <p:ext uri="{BB962C8B-B14F-4D97-AF65-F5344CB8AC3E}">
        <p14:creationId xmlns:p14="http://schemas.microsoft.com/office/powerpoint/2010/main" val="2481160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4CDD4-00F9-26CF-C7F0-93CC3C28FC80}"/>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085384C7-A7BF-AD93-2819-4C57BB1B8409}"/>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1720E47D-6297-B0AB-7E79-542D06F18B1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[Parte principale. Tempo indicativo: 30–40 secondi.]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Il training usa immagini a 512 per 512 pixel, batch da 32 e trenta epoche, estese a sessanta per LCNet. La loss combina cross-entropy e Generalized Dice con uguale peso, affiancando classificazione dei pixel e sovrapposizione delle regioni. Uso AdamW con warm-up e decadimento del learning rate. Dopo il training confronto FP32, FP16, quantizzazione post-training e quantization-aware training, che adatta il modello agli effetti della precisione ridotta.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2, training e quantizzazione; riferimento [11].]</a:t>
            </a:r>
            <a:endParaRPr lang="it-IT" dirty="0"/>
          </a:p>
        </p:txBody>
      </p:sp>
      <p:sp>
        <p:nvSpPr>
          <p:cNvPr id="4" name="Segnaposto numero diapositiva 3">
            <a:extLst>
              <a:ext uri="{FF2B5EF4-FFF2-40B4-BE49-F238E27FC236}">
                <a16:creationId xmlns:a16="http://schemas.microsoft.com/office/drawing/2014/main" id="{72D62289-B215-823E-FEA8-14EAE30D2157}"/>
              </a:ext>
            </a:extLst>
          </p:cNvPr>
          <p:cNvSpPr>
            <a:spLocks noGrp="1"/>
          </p:cNvSpPr>
          <p:nvPr>
            <p:ph type="sldNum" sz="quarter" idx="5"/>
          </p:nvPr>
        </p:nvSpPr>
        <p:spPr/>
        <p:txBody>
          <a:bodyPr/>
          <a:lstStyle/>
          <a:p>
            <a:fld id="{98FF6D0F-8D8B-42DD-BAAB-92498700177C}" type="slidenum">
              <a:rPr lang="it-IT" smtClean="0"/>
              <a:t>10</a:t>
            </a:fld>
            <a:endParaRPr lang="it-IT"/>
          </a:p>
        </p:txBody>
      </p:sp>
    </p:spTree>
    <p:extLst>
      <p:ext uri="{BB962C8B-B14F-4D97-AF65-F5344CB8AC3E}">
        <p14:creationId xmlns:p14="http://schemas.microsoft.com/office/powerpoint/2010/main" val="41081118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[Parte principale. Tempo indicativo: 5–15 secondi.]</a:t>
            </a:r>
          </a:p>
          <a:p>
            <a:endParaRPr lang="it-IT"/>
          </a:p>
          <a:p>
            <a:r>
              <a:rPr lang="it-IT"/>
              <a:t>Passo ora al dataset sintetico, che rende possibile studiare il secondo ramo.</a:t>
            </a:r>
          </a:p>
          <a:p>
            <a:endParaRPr lang="it-IT"/>
          </a:p>
          <a:p>
            <a:r>
              <a:rPr lang="it-IT"/>
              <a:t>[Fonti di supporto, non da leggere: Slide di passaggio.]</a:t>
            </a:r>
          </a:p>
        </p:txBody>
      </p:sp>
      <p:sp>
        <p:nvSpPr>
          <p:cNvPr id="4" name="Segnaposto numero diapositiva 3"/>
          <p:cNvSpPr>
            <a:spLocks noGrp="1"/>
          </p:cNvSpPr>
          <p:nvPr>
            <p:ph type="sldNum" sz="quarter" idx="5"/>
          </p:nvPr>
        </p:nvSpPr>
        <p:spPr/>
        <p:txBody>
          <a:bodyPr/>
          <a:lstStyle/>
          <a:p>
            <a:fld id="{98FF6D0F-8D8B-42DD-BAAB-92498700177C}" type="slidenum">
              <a:rPr lang="it-IT" smtClean="0"/>
              <a:t>11</a:t>
            </a:fld>
            <a:endParaRPr lang="it-IT"/>
          </a:p>
        </p:txBody>
      </p:sp>
    </p:spTree>
    <p:extLst>
      <p:ext uri="{BB962C8B-B14F-4D97-AF65-F5344CB8AC3E}">
        <p14:creationId xmlns:p14="http://schemas.microsoft.com/office/powerpoint/2010/main" val="32307008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7BE01-9E3F-8CD5-321D-7EEF6F13DBEC}"/>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1CAD429A-573A-2D25-D24F-5A0ECA533564}"/>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FDD6CFBD-F38A-E0A7-2FE5-337CB99ACB9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[Parte principale. Tempo indicativo: 25–35 secondi.]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Per l’ispezione servivano dati con annotazioni specifiche delle perforazioni, che non ho trovato in un benchmark pronto all’uso tra le risorse esaminate. Ho quindi costruito uno studio pilota su Curiosity, limitato a questa classe di danno. Il training contiene soltanto ruote senza perforazioni. Polvere e normale usura superficiale restano invece parte dell’aspetto normale che il modello deve imparare.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1 e cap. 3, requisiti.]</a:t>
            </a:r>
            <a:endParaRPr lang="it-IT" dirty="0"/>
          </a:p>
        </p:txBody>
      </p:sp>
      <p:sp>
        <p:nvSpPr>
          <p:cNvPr id="4" name="Segnaposto numero diapositiva 3">
            <a:extLst>
              <a:ext uri="{FF2B5EF4-FFF2-40B4-BE49-F238E27FC236}">
                <a16:creationId xmlns:a16="http://schemas.microsoft.com/office/drawing/2014/main" id="{0CAE6047-DDE8-73BD-A22F-1B745CE4CC28}"/>
              </a:ext>
            </a:extLst>
          </p:cNvPr>
          <p:cNvSpPr>
            <a:spLocks noGrp="1"/>
          </p:cNvSpPr>
          <p:nvPr>
            <p:ph type="sldNum" sz="quarter" idx="5"/>
          </p:nvPr>
        </p:nvSpPr>
        <p:spPr/>
        <p:txBody>
          <a:bodyPr/>
          <a:lstStyle/>
          <a:p>
            <a:fld id="{98FF6D0F-8D8B-42DD-BAAB-92498700177C}" type="slidenum">
              <a:rPr lang="it-IT" smtClean="0"/>
              <a:t>12</a:t>
            </a:fld>
            <a:endParaRPr lang="it-IT"/>
          </a:p>
        </p:txBody>
      </p:sp>
    </p:spTree>
    <p:extLst>
      <p:ext uri="{BB962C8B-B14F-4D97-AF65-F5344CB8AC3E}">
        <p14:creationId xmlns:p14="http://schemas.microsoft.com/office/powerpoint/2010/main" val="13476147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F9091-C758-1612-5521-FCB9CDA00920}"/>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3D2B614-0D8C-D648-955B-D8240BD26C3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BF6F856-FD58-4E79-F5B3-0A32C39A4A5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[Parte principale. Tempo indicativo: 25–35 secondi.]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La scena è stata costruita in Blender a partire dal modello NASA di Curiosity, separando le sei ruote per poterle controllare individualmente. Il terreno deriva da dati HiRISE del cratere Gale. Per le viste ravvicinate ho aggiunto dettagli procedurali, come piccoli rilievi e rocce. Mantenere il resto del rover permette inoltre di conservare ombre e occlusioni coerenti con la scena.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3, preparazione della scena; riferimenti [12] e [13].]</a:t>
            </a:r>
            <a:endParaRPr lang="it-IT" dirty="0"/>
          </a:p>
        </p:txBody>
      </p:sp>
      <p:sp>
        <p:nvSpPr>
          <p:cNvPr id="4" name="Segnaposto numero diapositiva 3">
            <a:extLst>
              <a:ext uri="{FF2B5EF4-FFF2-40B4-BE49-F238E27FC236}">
                <a16:creationId xmlns:a16="http://schemas.microsoft.com/office/drawing/2014/main" id="{3449AC4E-DA16-2053-181B-C50E7A03DD78}"/>
              </a:ext>
            </a:extLst>
          </p:cNvPr>
          <p:cNvSpPr>
            <a:spLocks noGrp="1"/>
          </p:cNvSpPr>
          <p:nvPr>
            <p:ph type="sldNum" sz="quarter" idx="5"/>
          </p:nvPr>
        </p:nvSpPr>
        <p:spPr/>
        <p:txBody>
          <a:bodyPr/>
          <a:lstStyle/>
          <a:p>
            <a:fld id="{98FF6D0F-8D8B-42DD-BAAB-92498700177C}" type="slidenum">
              <a:rPr lang="it-IT" smtClean="0"/>
              <a:t>13</a:t>
            </a:fld>
            <a:endParaRPr lang="it-IT"/>
          </a:p>
        </p:txBody>
      </p:sp>
    </p:spTree>
    <p:extLst>
      <p:ext uri="{BB962C8B-B14F-4D97-AF65-F5344CB8AC3E}">
        <p14:creationId xmlns:p14="http://schemas.microsoft.com/office/powerpoint/2010/main" val="31305384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4DA3ED-C9AA-E3C1-E69A-67C700C9D5FB}"/>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4F110E46-A6F5-3E70-CD80-4912D1E9F4A1}"/>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709A8E31-2922-E596-1B27-52C5C68F098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[Parte principale. Tempo indicativo: 25–35 secondi.]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Per ogni osservazione danneggiata genero una controparte normale con gli stessi parametri di camera, illuminazione e superficie: la differenza voluta è il foro. La maschera del danno viene prodotta automaticamente. I fori appartengono a tre intervalli dimensionali, piccolo, medio e grande. Le due immagini della coppia rimangono sempre nella stessa partizione, evitando che scene quasi identiche finiscano tra training e test.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3, danno sintetico e split.]</a:t>
            </a:r>
            <a:endParaRPr lang="it-IT" dirty="0"/>
          </a:p>
        </p:txBody>
      </p:sp>
      <p:sp>
        <p:nvSpPr>
          <p:cNvPr id="4" name="Segnaposto numero diapositiva 3">
            <a:extLst>
              <a:ext uri="{FF2B5EF4-FFF2-40B4-BE49-F238E27FC236}">
                <a16:creationId xmlns:a16="http://schemas.microsoft.com/office/drawing/2014/main" id="{23ECD19A-F3F3-D498-35E9-9E0FD758089A}"/>
              </a:ext>
            </a:extLst>
          </p:cNvPr>
          <p:cNvSpPr>
            <a:spLocks noGrp="1"/>
          </p:cNvSpPr>
          <p:nvPr>
            <p:ph type="sldNum" sz="quarter" idx="5"/>
          </p:nvPr>
        </p:nvSpPr>
        <p:spPr/>
        <p:txBody>
          <a:bodyPr/>
          <a:lstStyle/>
          <a:p>
            <a:fld id="{98FF6D0F-8D8B-42DD-BAAB-92498700177C}" type="slidenum">
              <a:rPr lang="it-IT" smtClean="0"/>
              <a:t>14</a:t>
            </a:fld>
            <a:endParaRPr lang="it-IT"/>
          </a:p>
        </p:txBody>
      </p:sp>
    </p:spTree>
    <p:extLst>
      <p:ext uri="{BB962C8B-B14F-4D97-AF65-F5344CB8AC3E}">
        <p14:creationId xmlns:p14="http://schemas.microsoft.com/office/powerpoint/2010/main" val="510722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18EE8-8C26-AD1A-11F7-44CBDC26C49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F3A629C1-A28D-9DE1-6123-23272702DAC1}"/>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0C0A0750-00D9-C5BD-BEDF-80BF2B0D4C2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[Parte principale. Tempo indicativo: 25–35 secondi.]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Per diversificare l’aspetto delle osservazioni vario illuminazione, polvere, usura e punto di vista. Le percentuali descrivono la composizione scelta per il dataset: prevalgono le condizioni polverose e sono presenti quattro viste della ruota. La variazione dell’usura è particolarmente importante perché il detector deve distinguere una perforazione da un semplice cambiamento superficiale. Questa diversificazione, da sola, non dimostra però il trasferimento alle immagini reali.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3, domain randomization; riferimento [14].]</a:t>
            </a:r>
            <a:endParaRPr lang="it-IT" dirty="0"/>
          </a:p>
        </p:txBody>
      </p:sp>
      <p:sp>
        <p:nvSpPr>
          <p:cNvPr id="4" name="Segnaposto numero diapositiva 3">
            <a:extLst>
              <a:ext uri="{FF2B5EF4-FFF2-40B4-BE49-F238E27FC236}">
                <a16:creationId xmlns:a16="http://schemas.microsoft.com/office/drawing/2014/main" id="{F748388F-D16A-B13D-0968-6E460E05D5FC}"/>
              </a:ext>
            </a:extLst>
          </p:cNvPr>
          <p:cNvSpPr>
            <a:spLocks noGrp="1"/>
          </p:cNvSpPr>
          <p:nvPr>
            <p:ph type="sldNum" sz="quarter" idx="5"/>
          </p:nvPr>
        </p:nvSpPr>
        <p:spPr/>
        <p:txBody>
          <a:bodyPr/>
          <a:lstStyle/>
          <a:p>
            <a:fld id="{98FF6D0F-8D8B-42DD-BAAB-92498700177C}" type="slidenum">
              <a:rPr lang="it-IT" smtClean="0"/>
              <a:t>15</a:t>
            </a:fld>
            <a:endParaRPr lang="it-IT"/>
          </a:p>
        </p:txBody>
      </p:sp>
    </p:spTree>
    <p:extLst>
      <p:ext uri="{BB962C8B-B14F-4D97-AF65-F5344CB8AC3E}">
        <p14:creationId xmlns:p14="http://schemas.microsoft.com/office/powerpoint/2010/main" val="38020666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09CEA-4B8A-2ED9-DFF4-BE2AA8FBA068}"/>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3BC62F6C-7740-727E-20E4-5593348E01B7}"/>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655DDF8-6B4E-BCB5-0F37-D223306CCDD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[Parte principale. Tempo indicativo: 20–30 secondi.]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Il risultato è un dataset di diecimila immagini, a 1200 per 900 pixel, che copre tutte e sei le ruote. Settemila immagini normali sono riservate al training. La validation contiene mille immagini, di cui 250 danneggiate; il test ne contiene duemila, bilanciate tra normali e danneggiate. Il dataset è disponibile anche su Kaggle.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3, composizione finale.]</a:t>
            </a:r>
            <a:endParaRPr lang="it-IT" dirty="0"/>
          </a:p>
        </p:txBody>
      </p:sp>
      <p:sp>
        <p:nvSpPr>
          <p:cNvPr id="4" name="Segnaposto numero diapositiva 3">
            <a:extLst>
              <a:ext uri="{FF2B5EF4-FFF2-40B4-BE49-F238E27FC236}">
                <a16:creationId xmlns:a16="http://schemas.microsoft.com/office/drawing/2014/main" id="{01AE88DD-982D-E08B-03EC-2A050D660996}"/>
              </a:ext>
            </a:extLst>
          </p:cNvPr>
          <p:cNvSpPr>
            <a:spLocks noGrp="1"/>
          </p:cNvSpPr>
          <p:nvPr>
            <p:ph type="sldNum" sz="quarter" idx="5"/>
          </p:nvPr>
        </p:nvSpPr>
        <p:spPr/>
        <p:txBody>
          <a:bodyPr/>
          <a:lstStyle/>
          <a:p>
            <a:fld id="{98FF6D0F-8D8B-42DD-BAAB-92498700177C}" type="slidenum">
              <a:rPr lang="it-IT" smtClean="0"/>
              <a:t>16</a:t>
            </a:fld>
            <a:endParaRPr lang="it-IT"/>
          </a:p>
        </p:txBody>
      </p:sp>
    </p:spTree>
    <p:extLst>
      <p:ext uri="{BB962C8B-B14F-4D97-AF65-F5344CB8AC3E}">
        <p14:creationId xmlns:p14="http://schemas.microsoft.com/office/powerpoint/2010/main" val="38553659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[Parte principale. Tempo indicativo: 5–15 secondi.]</a:t>
            </a:r>
          </a:p>
          <a:p>
            <a:endParaRPr lang="it-IT"/>
          </a:p>
          <a:p>
            <a:r>
              <a:rPr lang="it-IT"/>
              <a:t>Vediamo adesso come ho utilizzato questi dati per l’ispezione automatica delle ruote.</a:t>
            </a:r>
          </a:p>
          <a:p>
            <a:endParaRPr lang="it-IT"/>
          </a:p>
          <a:p>
            <a:r>
              <a:rPr lang="it-IT"/>
              <a:t>[Fonti di supporto, non da leggere: Slide di passaggio.]</a:t>
            </a:r>
          </a:p>
        </p:txBody>
      </p:sp>
      <p:sp>
        <p:nvSpPr>
          <p:cNvPr id="4" name="Segnaposto numero diapositiva 3"/>
          <p:cNvSpPr>
            <a:spLocks noGrp="1"/>
          </p:cNvSpPr>
          <p:nvPr>
            <p:ph type="sldNum" sz="quarter" idx="5"/>
          </p:nvPr>
        </p:nvSpPr>
        <p:spPr/>
        <p:txBody>
          <a:bodyPr/>
          <a:lstStyle/>
          <a:p>
            <a:fld id="{98FF6D0F-8D8B-42DD-BAAB-92498700177C}" type="slidenum">
              <a:rPr lang="it-IT" smtClean="0"/>
              <a:t>17</a:t>
            </a:fld>
            <a:endParaRPr lang="it-IT"/>
          </a:p>
        </p:txBody>
      </p:sp>
    </p:spTree>
    <p:extLst>
      <p:ext uri="{BB962C8B-B14F-4D97-AF65-F5344CB8AC3E}">
        <p14:creationId xmlns:p14="http://schemas.microsoft.com/office/powerpoint/2010/main" val="4672264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92DEA-DEFC-DACF-EC21-F5ED0AFAA9A9}"/>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612349B-F96A-4375-6DF8-B50177510174}"/>
              </a:ext>
            </a:extLst>
          </p:cNvPr>
          <p:cNvSpPr>
            <a:spLocks noGrp="1" noRot="1" noChangeAspect="1"/>
          </p:cNvSpPr>
          <p:nvPr>
            <p:ph type="sldImg"/>
          </p:nvPr>
        </p:nvSpPr>
        <p:spPr/>
        <p:txBody>
          <a:bodyPr/>
          <a:lstStyle/>
          <a:p>
            <a:endParaRPr lang="it-IT" dirty="0"/>
          </a:p>
        </p:txBody>
      </p:sp>
      <p:sp>
        <p:nvSpPr>
          <p:cNvPr id="3" name="Segnaposto note 2">
            <a:extLst>
              <a:ext uri="{FF2B5EF4-FFF2-40B4-BE49-F238E27FC236}">
                <a16:creationId xmlns:a16="http://schemas.microsoft.com/office/drawing/2014/main" id="{85D995D5-9994-260F-5B3C-CC1A5ABF48B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[Parte principale. Tempo indicativo: 20–30 secondi.]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L’anomaly detection parte dall’apprendimento dell’aspetto normale della ruota, usando soltanto immagini senza perforazioni nel training. In inferenza produce due risultati: un punteggio per l’intera immagine, che segnala quanto sia sospetta, e una mappa spaziale, che indica dove cercare il possibile danno. Detection e localizzazione rispondono quindi a due domande diverse e devono essere valutate separatamente.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4, task e metriche; riferimento [15].]</a:t>
            </a:r>
            <a:endParaRPr lang="it-IT" dirty="0"/>
          </a:p>
        </p:txBody>
      </p:sp>
      <p:sp>
        <p:nvSpPr>
          <p:cNvPr id="4" name="Segnaposto numero diapositiva 3">
            <a:extLst>
              <a:ext uri="{FF2B5EF4-FFF2-40B4-BE49-F238E27FC236}">
                <a16:creationId xmlns:a16="http://schemas.microsoft.com/office/drawing/2014/main" id="{F6DA54FC-F320-211B-ED68-5A2027B9AFE0}"/>
              </a:ext>
            </a:extLst>
          </p:cNvPr>
          <p:cNvSpPr>
            <a:spLocks noGrp="1"/>
          </p:cNvSpPr>
          <p:nvPr>
            <p:ph type="sldNum" sz="quarter" idx="5"/>
          </p:nvPr>
        </p:nvSpPr>
        <p:spPr/>
        <p:txBody>
          <a:bodyPr/>
          <a:lstStyle/>
          <a:p>
            <a:fld id="{98FF6D0F-8D8B-42DD-BAAB-92498700177C}" type="slidenum">
              <a:rPr lang="it-IT" smtClean="0"/>
              <a:t>18</a:t>
            </a:fld>
            <a:endParaRPr lang="it-IT" dirty="0"/>
          </a:p>
        </p:txBody>
      </p:sp>
    </p:spTree>
    <p:extLst>
      <p:ext uri="{BB962C8B-B14F-4D97-AF65-F5344CB8AC3E}">
        <p14:creationId xmlns:p14="http://schemas.microsoft.com/office/powerpoint/2010/main" val="38895058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6EA165-DEFD-9ECA-8F53-3CBC777A649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2C68403F-B0CE-9564-50F7-86A39EE3C8CB}"/>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F62B687-DF61-100D-FDA8-19F91898E40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[Parte principale. Tempo indicativo: 25–35 secondi.]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PatchCore memorizza descrittori locali delle immagini normali e misura quanto quelli di una nuova immagine siano lontani dai riferimenti. Ho considerato una versione Small con ResNet18 e una Large con WideResNet50. EfficientAD-S usa invece una rete student che impara a riprodurre le caratteristiche di un teacher fisso: il disaccordo segnala anomalie locali, mentre un ramo autoencoder aggiunge informazioni globali. Il confronto include qualità e costo computazionale.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4, PatchCore ed EfficientAD; riferimenti [16] e [17].]</a:t>
            </a:r>
            <a:endParaRPr lang="it-IT" dirty="0"/>
          </a:p>
        </p:txBody>
      </p:sp>
      <p:sp>
        <p:nvSpPr>
          <p:cNvPr id="4" name="Segnaposto numero diapositiva 3">
            <a:extLst>
              <a:ext uri="{FF2B5EF4-FFF2-40B4-BE49-F238E27FC236}">
                <a16:creationId xmlns:a16="http://schemas.microsoft.com/office/drawing/2014/main" id="{F42F8E76-1DBA-5B55-11B2-523AC1E7FE13}"/>
              </a:ext>
            </a:extLst>
          </p:cNvPr>
          <p:cNvSpPr>
            <a:spLocks noGrp="1"/>
          </p:cNvSpPr>
          <p:nvPr>
            <p:ph type="sldNum" sz="quarter" idx="5"/>
          </p:nvPr>
        </p:nvSpPr>
        <p:spPr/>
        <p:txBody>
          <a:bodyPr/>
          <a:lstStyle/>
          <a:p>
            <a:fld id="{98FF6D0F-8D8B-42DD-BAAB-92498700177C}" type="slidenum">
              <a:rPr lang="it-IT" smtClean="0"/>
              <a:t>19</a:t>
            </a:fld>
            <a:endParaRPr lang="it-IT"/>
          </a:p>
        </p:txBody>
      </p:sp>
    </p:spTree>
    <p:extLst>
      <p:ext uri="{BB962C8B-B14F-4D97-AF65-F5344CB8AC3E}">
        <p14:creationId xmlns:p14="http://schemas.microsoft.com/office/powerpoint/2010/main" val="16337537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C1CCE-A2E6-4E08-40B2-AD08E19BD8A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8E167D3-2C15-B8A5-6661-AE1EB7B9C5A6}"/>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177634C2-501B-190E-3CF3-5FE2B5DE8FA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[Parte principale. Tempo indicativo: 25–35 secondi.]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SuperSimpleNet crea perturbazioni localizzate nelle feature normali e impara a distinguerle, con uscite per detection e localizzazione. TinyGLASS usa un backbone compatto e combina alterazioni delle immagini con perturbazioni delle feature. Nel nostro adattamento alcune alterazioni imitano l’aspetto dei fori. Sono esempi artificiali costruiti durante il training a partire da immagini normali: le immagini danneggiate renderizzate in Blender restano riservate alla valutazione.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4, SSN e TinyGLASS; riferimenti [18]–[20].]</a:t>
            </a:r>
            <a:endParaRPr lang="it-IT" dirty="0"/>
          </a:p>
        </p:txBody>
      </p:sp>
      <p:sp>
        <p:nvSpPr>
          <p:cNvPr id="4" name="Segnaposto numero diapositiva 3">
            <a:extLst>
              <a:ext uri="{FF2B5EF4-FFF2-40B4-BE49-F238E27FC236}">
                <a16:creationId xmlns:a16="http://schemas.microsoft.com/office/drawing/2014/main" id="{D3AB0937-1082-6B13-447F-20F4C59E48F2}"/>
              </a:ext>
            </a:extLst>
          </p:cNvPr>
          <p:cNvSpPr>
            <a:spLocks noGrp="1"/>
          </p:cNvSpPr>
          <p:nvPr>
            <p:ph type="sldNum" sz="quarter" idx="5"/>
          </p:nvPr>
        </p:nvSpPr>
        <p:spPr/>
        <p:txBody>
          <a:bodyPr/>
          <a:lstStyle/>
          <a:p>
            <a:fld id="{98FF6D0F-8D8B-42DD-BAAB-92498700177C}" type="slidenum">
              <a:rPr lang="it-IT" smtClean="0"/>
              <a:t>20</a:t>
            </a:fld>
            <a:endParaRPr lang="it-IT"/>
          </a:p>
        </p:txBody>
      </p:sp>
    </p:spTree>
    <p:extLst>
      <p:ext uri="{BB962C8B-B14F-4D97-AF65-F5344CB8AC3E}">
        <p14:creationId xmlns:p14="http://schemas.microsoft.com/office/powerpoint/2010/main" val="27449006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2E98F-23C0-2A57-6E4E-F86B7BBF55AB}"/>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D08CBC26-F9F5-F491-0ADB-92FAE30EC7AF}"/>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D82F584-9BC8-4ADA-5315-FD8F7DD17FA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[Parte principale. Tempo indicativo: 25–35 secondi.]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Le prove preliminari hanno portato a concentrare il confronto principale sulla posa A e su un ritaglio fisso di 720 per 720 pixel. Così riduciamo lo sfondo e conserviamo più dettaglio della ruota prima del ridimensionamento richiesto da ciascun modello. Il ritaglio non usa la maschera del danno. Manteniamo variazioni di illuminazione, usura e ruota, ma controlliamo il punto di vista.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4, preprocessing; cap. 6, setup sperimentale.]</a:t>
            </a:r>
            <a:endParaRPr lang="it-IT" dirty="0"/>
          </a:p>
        </p:txBody>
      </p:sp>
      <p:sp>
        <p:nvSpPr>
          <p:cNvPr id="4" name="Segnaposto numero diapositiva 3">
            <a:extLst>
              <a:ext uri="{FF2B5EF4-FFF2-40B4-BE49-F238E27FC236}">
                <a16:creationId xmlns:a16="http://schemas.microsoft.com/office/drawing/2014/main" id="{C4A56992-C101-C68D-5576-1664B875FB32}"/>
              </a:ext>
            </a:extLst>
          </p:cNvPr>
          <p:cNvSpPr>
            <a:spLocks noGrp="1"/>
          </p:cNvSpPr>
          <p:nvPr>
            <p:ph type="sldNum" sz="quarter" idx="5"/>
          </p:nvPr>
        </p:nvSpPr>
        <p:spPr/>
        <p:txBody>
          <a:bodyPr/>
          <a:lstStyle/>
          <a:p>
            <a:fld id="{98FF6D0F-8D8B-42DD-BAAB-92498700177C}" type="slidenum">
              <a:rPr lang="it-IT" smtClean="0"/>
              <a:t>21</a:t>
            </a:fld>
            <a:endParaRPr lang="it-IT"/>
          </a:p>
        </p:txBody>
      </p:sp>
    </p:spTree>
    <p:extLst>
      <p:ext uri="{BB962C8B-B14F-4D97-AF65-F5344CB8AC3E}">
        <p14:creationId xmlns:p14="http://schemas.microsoft.com/office/powerpoint/2010/main" val="342116110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[Parte principale. Tempo indicativo: 5–15 secondi.]</a:t>
            </a:r>
          </a:p>
          <a:p>
            <a:endParaRPr lang="it-IT"/>
          </a:p>
          <a:p>
            <a:r>
              <a:rPr lang="it-IT"/>
              <a:t>Passo ai risultati, confrontando prima la segmentazione e poi l’ispezione delle ruote.</a:t>
            </a:r>
          </a:p>
          <a:p>
            <a:endParaRPr lang="it-IT"/>
          </a:p>
          <a:p>
            <a:r>
              <a:rPr lang="it-IT"/>
              <a:t>[Fonti di supporto, non da leggere: Slide di passaggio.]</a:t>
            </a:r>
          </a:p>
        </p:txBody>
      </p:sp>
      <p:sp>
        <p:nvSpPr>
          <p:cNvPr id="4" name="Segnaposto numero diapositiva 3"/>
          <p:cNvSpPr>
            <a:spLocks noGrp="1"/>
          </p:cNvSpPr>
          <p:nvPr>
            <p:ph type="sldNum" sz="quarter" idx="5"/>
          </p:nvPr>
        </p:nvSpPr>
        <p:spPr/>
        <p:txBody>
          <a:bodyPr/>
          <a:lstStyle/>
          <a:p>
            <a:fld id="{98FF6D0F-8D8B-42DD-BAAB-92498700177C}" type="slidenum">
              <a:rPr lang="it-IT" smtClean="0"/>
              <a:t>22</a:t>
            </a:fld>
            <a:endParaRPr lang="it-IT"/>
          </a:p>
        </p:txBody>
      </p:sp>
    </p:spTree>
    <p:extLst>
      <p:ext uri="{BB962C8B-B14F-4D97-AF65-F5344CB8AC3E}">
        <p14:creationId xmlns:p14="http://schemas.microsoft.com/office/powerpoint/2010/main" val="14212430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E55FCB-D526-92D1-0C3A-3FBD2B0C9FCD}"/>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03AA0D97-01FB-63D3-7393-4C944F73D6C4}"/>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C1DF883-31DA-5050-AA98-C52747DE863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[Parte principale. Tempo indicativo: 25–35 secondi.]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In FP32, SegFormer-B0 ottiene la migliore mIoU sul test S5Mars, pari al 75,55 per cento, con circa 3,72 milioni di parametri. Supera quindi anche DeepLabV3 con ResNet34, che ha molti più parametri. LCNet è più compatto, ma perde qualità. Il numero di parametri è però solo una parte dell’efficienza: occorre misurare anche il costo effettivo dell’inferenza.</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5, accuratezza della segmentazione.]</a:t>
            </a:r>
            <a:endParaRPr lang="it-IT" dirty="0"/>
          </a:p>
        </p:txBody>
      </p:sp>
      <p:sp>
        <p:nvSpPr>
          <p:cNvPr id="4" name="Segnaposto numero diapositiva 3">
            <a:extLst>
              <a:ext uri="{FF2B5EF4-FFF2-40B4-BE49-F238E27FC236}">
                <a16:creationId xmlns:a16="http://schemas.microsoft.com/office/drawing/2014/main" id="{4C6D28DB-15B8-A06A-1680-B1844F1D21B2}"/>
              </a:ext>
            </a:extLst>
          </p:cNvPr>
          <p:cNvSpPr>
            <a:spLocks noGrp="1"/>
          </p:cNvSpPr>
          <p:nvPr>
            <p:ph type="sldNum" sz="quarter" idx="5"/>
          </p:nvPr>
        </p:nvSpPr>
        <p:spPr/>
        <p:txBody>
          <a:bodyPr/>
          <a:lstStyle/>
          <a:p>
            <a:fld id="{98FF6D0F-8D8B-42DD-BAAB-92498700177C}" type="slidenum">
              <a:rPr lang="it-IT" smtClean="0"/>
              <a:t>23</a:t>
            </a:fld>
            <a:endParaRPr lang="it-IT"/>
          </a:p>
        </p:txBody>
      </p:sp>
    </p:spTree>
    <p:extLst>
      <p:ext uri="{BB962C8B-B14F-4D97-AF65-F5344CB8AC3E}">
        <p14:creationId xmlns:p14="http://schemas.microsoft.com/office/powerpoint/2010/main" val="161060087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DA3F6-A6FF-9A8E-49B1-CCF4B2519B3F}"/>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F7F6DE8D-897F-1585-CD83-DC6920930F4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C4B49934-BD49-5BBA-8DEB-36146F94518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[Parte principale. Tempo indicativo: 25–35 secondi.]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Qui considero addestramenti separati su MarsSeg, senza fine-tuning sul dominio di destinazione. SegFormer mantiene circa il 52 per cento di mIoU passando da MSL a MER e il 48 per cento nella direzione opposta, mentre le CNN considerate peggiorano maggiormente. Anche SegFormer resta sotto i riferimenti addestrati sul dominio di test: trasferire il modello tra missioni rimane quindi un problema aperto.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5, cross-mission generalization su MarsSeg.]</a:t>
            </a:r>
            <a:endParaRPr lang="it-IT" dirty="0"/>
          </a:p>
        </p:txBody>
      </p:sp>
      <p:sp>
        <p:nvSpPr>
          <p:cNvPr id="4" name="Segnaposto numero diapositiva 3">
            <a:extLst>
              <a:ext uri="{FF2B5EF4-FFF2-40B4-BE49-F238E27FC236}">
                <a16:creationId xmlns:a16="http://schemas.microsoft.com/office/drawing/2014/main" id="{6AFDD141-59E8-41CE-642B-090CB46FC1CF}"/>
              </a:ext>
            </a:extLst>
          </p:cNvPr>
          <p:cNvSpPr>
            <a:spLocks noGrp="1"/>
          </p:cNvSpPr>
          <p:nvPr>
            <p:ph type="sldNum" sz="quarter" idx="5"/>
          </p:nvPr>
        </p:nvSpPr>
        <p:spPr/>
        <p:txBody>
          <a:bodyPr/>
          <a:lstStyle/>
          <a:p>
            <a:fld id="{98FF6D0F-8D8B-42DD-BAAB-92498700177C}" type="slidenum">
              <a:rPr lang="it-IT" smtClean="0"/>
              <a:t>24</a:t>
            </a:fld>
            <a:endParaRPr lang="it-IT"/>
          </a:p>
        </p:txBody>
      </p:sp>
    </p:spTree>
    <p:extLst>
      <p:ext uri="{BB962C8B-B14F-4D97-AF65-F5344CB8AC3E}">
        <p14:creationId xmlns:p14="http://schemas.microsoft.com/office/powerpoint/2010/main" val="18861072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40418-822D-56A7-CF06-8142F31A6B69}"/>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018E62E-0105-BEF7-01C1-7F23B9F098E4}"/>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B922D827-6CBD-9441-8112-34502DCC07B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[Parte principale. Tempo indicativo: 30–40 secondi.]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La quantizzazione evidenzia due compromessi. SegFormer con QAT raggiunge il 76,93 per cento di mIoU e porta la latenza da 11,88 a 5,66 millisecondi. DeepLabV3+ con MobileNetV2 e QAT privilegia invece il costo: circa tre millisecondi e 115 millijoule per immagine, con qualità inferiore. La PTQ non conserva sempre l’accuratezza. INT8 indica qui una precisione mista selettiva. Queste misure riguardano l’inferenza su T4 ed escludono il preprocessing: non rappresentano ancora un sistema completo a bordo.</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5, risultati di quantizzazione.]</a:t>
            </a:r>
            <a:endParaRPr lang="it-IT" dirty="0"/>
          </a:p>
        </p:txBody>
      </p:sp>
      <p:sp>
        <p:nvSpPr>
          <p:cNvPr id="4" name="Segnaposto numero diapositiva 3">
            <a:extLst>
              <a:ext uri="{FF2B5EF4-FFF2-40B4-BE49-F238E27FC236}">
                <a16:creationId xmlns:a16="http://schemas.microsoft.com/office/drawing/2014/main" id="{68FD75B6-2DE2-E8B8-A886-B09506C73BC2}"/>
              </a:ext>
            </a:extLst>
          </p:cNvPr>
          <p:cNvSpPr>
            <a:spLocks noGrp="1"/>
          </p:cNvSpPr>
          <p:nvPr>
            <p:ph type="sldNum" sz="quarter" idx="5"/>
          </p:nvPr>
        </p:nvSpPr>
        <p:spPr/>
        <p:txBody>
          <a:bodyPr/>
          <a:lstStyle/>
          <a:p>
            <a:fld id="{98FF6D0F-8D8B-42DD-BAAB-92498700177C}" type="slidenum">
              <a:rPr lang="it-IT" smtClean="0"/>
              <a:t>25</a:t>
            </a:fld>
            <a:endParaRPr lang="it-IT"/>
          </a:p>
        </p:txBody>
      </p:sp>
    </p:spTree>
    <p:extLst>
      <p:ext uri="{BB962C8B-B14F-4D97-AF65-F5344CB8AC3E}">
        <p14:creationId xmlns:p14="http://schemas.microsoft.com/office/powerpoint/2010/main" val="23663904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555EE6-6425-4F9C-8BD6-89DC240D0787}"/>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08066BAF-5FE8-901B-EDC1-65FD0E7E173A}"/>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658CBD19-F153-5BC6-0165-0539E2BE5E4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[Parte principale. Tempo indicativo: 25–35 secondi.]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Per la detection, PatchCore-L ottiene il risultato migliore, con Image AUROC dell’86,43 per cento, seguito da SuperSimpleNet. AUROC misura quanto bene il punteggio separa immagini normali e danneggiate al variare della soglia: non significa aver classificato correttamente quella percentuale di immagini. Il risultato riguarda il test sintetico in posa A e deve essere letto insieme ai costi e alla qualità della localizzazione.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6, detection su pose A.]</a:t>
            </a:r>
            <a:endParaRPr lang="it-IT" dirty="0"/>
          </a:p>
        </p:txBody>
      </p:sp>
      <p:sp>
        <p:nvSpPr>
          <p:cNvPr id="4" name="Segnaposto numero diapositiva 3">
            <a:extLst>
              <a:ext uri="{FF2B5EF4-FFF2-40B4-BE49-F238E27FC236}">
                <a16:creationId xmlns:a16="http://schemas.microsoft.com/office/drawing/2014/main" id="{E3D277CA-0620-7070-C9E4-A70B9B0C507A}"/>
              </a:ext>
            </a:extLst>
          </p:cNvPr>
          <p:cNvSpPr>
            <a:spLocks noGrp="1"/>
          </p:cNvSpPr>
          <p:nvPr>
            <p:ph type="sldNum" sz="quarter" idx="5"/>
          </p:nvPr>
        </p:nvSpPr>
        <p:spPr/>
        <p:txBody>
          <a:bodyPr/>
          <a:lstStyle/>
          <a:p>
            <a:fld id="{98FF6D0F-8D8B-42DD-BAAB-92498700177C}" type="slidenum">
              <a:rPr lang="it-IT" smtClean="0"/>
              <a:t>26</a:t>
            </a:fld>
            <a:endParaRPr lang="it-IT"/>
          </a:p>
        </p:txBody>
      </p:sp>
    </p:spTree>
    <p:extLst>
      <p:ext uri="{BB962C8B-B14F-4D97-AF65-F5344CB8AC3E}">
        <p14:creationId xmlns:p14="http://schemas.microsoft.com/office/powerpoint/2010/main" val="41918611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6F6C9-29A3-B5EA-27DE-786D4F920C7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7D20DD32-7C33-14FA-C124-A713C6A9AD4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567E87F-7839-9400-93CE-EB438377D52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[Parte principale. Tempo indicativo: 25–35 secondi.]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Sul costo di inferenza il vantaggio passa a TinyGLASS-384: 5,13 millisecondi e 0,239 joule per immagine. PatchCore-L richiede invece circa 63 millisecondi e 4,12 joule, pur offrendo una detection migliore. Non emerge quindi un vincitore su tutti gli obiettivi. Anche qui misuriamo la sola inferenza su T4, con input già sulla GPU; risoluzione e configurazione fanno parte del compromesso valutato.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6, efficienza dei detector.]</a:t>
            </a:r>
            <a:endParaRPr lang="it-IT" dirty="0"/>
          </a:p>
        </p:txBody>
      </p:sp>
      <p:sp>
        <p:nvSpPr>
          <p:cNvPr id="4" name="Segnaposto numero diapositiva 3">
            <a:extLst>
              <a:ext uri="{FF2B5EF4-FFF2-40B4-BE49-F238E27FC236}">
                <a16:creationId xmlns:a16="http://schemas.microsoft.com/office/drawing/2014/main" id="{B94AA8AB-CFDD-D9F7-4BEA-7D72BD5C24BC}"/>
              </a:ext>
            </a:extLst>
          </p:cNvPr>
          <p:cNvSpPr>
            <a:spLocks noGrp="1"/>
          </p:cNvSpPr>
          <p:nvPr>
            <p:ph type="sldNum" sz="quarter" idx="5"/>
          </p:nvPr>
        </p:nvSpPr>
        <p:spPr/>
        <p:txBody>
          <a:bodyPr/>
          <a:lstStyle/>
          <a:p>
            <a:fld id="{98FF6D0F-8D8B-42DD-BAAB-92498700177C}" type="slidenum">
              <a:rPr lang="it-IT" smtClean="0"/>
              <a:t>27</a:t>
            </a:fld>
            <a:endParaRPr lang="it-IT"/>
          </a:p>
        </p:txBody>
      </p:sp>
    </p:spTree>
    <p:extLst>
      <p:ext uri="{BB962C8B-B14F-4D97-AF65-F5344CB8AC3E}">
        <p14:creationId xmlns:p14="http://schemas.microsoft.com/office/powerpoint/2010/main" val="135417471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95282-0D08-3029-FAA2-79B3252A3070}"/>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359451BB-5D03-E65E-9FFB-6971E89C6033}"/>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53085B16-1906-00C7-F8D0-BDEA9BCEBAD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[Parte principale. Tempo indicativo: 30–40 secondi.]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La localizzazione mostra perché il punteggio dell’immagine non basta. In questo esempio SuperSimpleNet risponde in modo più diffuso, mentre TinyGLASS-512 concentra maggiormente la risposta vicino al foro. I valori di Pixel AP riportati sotto, 19,10 e 27,59 per cento, sono misure sull’intero test, non sulla sola immagine mostrata. Un modello migliore nella detection può quindi essere meno preciso nel localizzare il danno, soprattutto quando il difetto occupa pochi pixel.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6, localizzazione ed esempio qualitativo.]</a:t>
            </a:r>
            <a:endParaRPr lang="it-IT" dirty="0"/>
          </a:p>
        </p:txBody>
      </p:sp>
      <p:sp>
        <p:nvSpPr>
          <p:cNvPr id="4" name="Segnaposto numero diapositiva 3">
            <a:extLst>
              <a:ext uri="{FF2B5EF4-FFF2-40B4-BE49-F238E27FC236}">
                <a16:creationId xmlns:a16="http://schemas.microsoft.com/office/drawing/2014/main" id="{9C6E0B49-DCD5-33C7-2A4D-547013D15F5C}"/>
              </a:ext>
            </a:extLst>
          </p:cNvPr>
          <p:cNvSpPr>
            <a:spLocks noGrp="1"/>
          </p:cNvSpPr>
          <p:nvPr>
            <p:ph type="sldNum" sz="quarter" idx="5"/>
          </p:nvPr>
        </p:nvSpPr>
        <p:spPr/>
        <p:txBody>
          <a:bodyPr/>
          <a:lstStyle/>
          <a:p>
            <a:fld id="{98FF6D0F-8D8B-42DD-BAAB-92498700177C}" type="slidenum">
              <a:rPr lang="it-IT" smtClean="0"/>
              <a:t>28</a:t>
            </a:fld>
            <a:endParaRPr lang="it-IT"/>
          </a:p>
        </p:txBody>
      </p:sp>
    </p:spTree>
    <p:extLst>
      <p:ext uri="{BB962C8B-B14F-4D97-AF65-F5344CB8AC3E}">
        <p14:creationId xmlns:p14="http://schemas.microsoft.com/office/powerpoint/2010/main" val="79469116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[Parte principale. Tempo indicativo: 5–10 secondi.]</a:t>
            </a:r>
          </a:p>
          <a:p>
            <a:endParaRPr lang="it-IT"/>
          </a:p>
          <a:p>
            <a:r>
              <a:rPr lang="it-IT"/>
              <a:t>Concludo riassumendo i contributi e le principali direzioni ancora da esplorare.</a:t>
            </a:r>
          </a:p>
          <a:p>
            <a:endParaRPr lang="it-IT"/>
          </a:p>
          <a:p>
            <a:r>
              <a:rPr lang="it-IT"/>
              <a:t>[Fonti di supporto, non da leggere: Slide di passaggio.]</a:t>
            </a:r>
          </a:p>
        </p:txBody>
      </p:sp>
      <p:sp>
        <p:nvSpPr>
          <p:cNvPr id="4" name="Segnaposto numero diapositiva 3"/>
          <p:cNvSpPr>
            <a:spLocks noGrp="1"/>
          </p:cNvSpPr>
          <p:nvPr>
            <p:ph type="sldNum" sz="quarter" idx="5"/>
          </p:nvPr>
        </p:nvSpPr>
        <p:spPr/>
        <p:txBody>
          <a:bodyPr/>
          <a:lstStyle/>
          <a:p>
            <a:fld id="{98FF6D0F-8D8B-42DD-BAAB-92498700177C}" type="slidenum">
              <a:rPr lang="it-IT" smtClean="0"/>
              <a:t>29</a:t>
            </a:fld>
            <a:endParaRPr lang="it-IT"/>
          </a:p>
        </p:txBody>
      </p:sp>
    </p:spTree>
    <p:extLst>
      <p:ext uri="{BB962C8B-B14F-4D97-AF65-F5344CB8AC3E}">
        <p14:creationId xmlns:p14="http://schemas.microsoft.com/office/powerpoint/2010/main" val="376416121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ts val="0"/>
              </a:spcBef>
              <a:spcAft>
                <a:spcPts val="0"/>
              </a:spcAft>
              <a:buClrTx/>
              <a:buSzTx/>
              <a:buFontTx/>
              <a:buNone/>
            </a:pPr>
            <a:r>
              <a:t>Discorso indicativo: circa 40–45 secondi.</a:t>
            </a:r>
          </a:p>
          <a:p>
            <a:pPr marL="0" marR="0" lvl="0" indent="0" algn="l" defTabSz="914400">
              <a:lnSpc>
                <a:spcPct val="100000"/>
              </a:lnSpc>
              <a:spcBef>
                <a:spcPts val="0"/>
              </a:spcBef>
              <a:spcAft>
                <a:spcPts val="0"/>
              </a:spcAft>
              <a:buClrTx/>
              <a:buSzTx/>
              <a:buFontTx/>
              <a:buNone/>
            </a:pPr>
            <a:endParaRPr/>
          </a:p>
          <a:p>
            <a:pPr marL="0" marR="0" lvl="0" indent="0" algn="l" defTabSz="914400">
              <a:lnSpc>
                <a:spcPct val="100000"/>
              </a:lnSpc>
              <a:spcBef>
                <a:spcPts val="0"/>
              </a:spcBef>
              <a:spcAft>
                <a:spcPts val="0"/>
              </a:spcAft>
              <a:buClrTx/>
              <a:buSzTx/>
              <a:buFontTx/>
              <a:buNone/>
            </a:pPr>
            <a:r>
              <a:t>Per concludere, il lavoro ha portato a tre contributi principali. Il primo riguarda la segmentazione: i modelli leggeri hanno ottenuto risultati promettenti e, nelle configurazioni selezionate, la quantizzazione ha ridotto i costi di inferenza mantenendo l'accuratezza.</a:t>
            </a:r>
          </a:p>
          <a:p>
            <a:pPr marL="0" marR="0" lvl="0" indent="0" algn="l" defTabSz="914400">
              <a:lnSpc>
                <a:spcPct val="100000"/>
              </a:lnSpc>
              <a:spcBef>
                <a:spcPts val="0"/>
              </a:spcBef>
              <a:spcAft>
                <a:spcPts val="0"/>
              </a:spcAft>
              <a:buClrTx/>
              <a:buSzTx/>
              <a:buFontTx/>
              <a:buNone/>
            </a:pPr>
            <a:endParaRPr/>
          </a:p>
          <a:p>
            <a:pPr marL="0" marR="0" lvl="0" indent="0" algn="l" defTabSz="914400">
              <a:lnSpc>
                <a:spcPct val="100000"/>
              </a:lnSpc>
              <a:spcBef>
                <a:spcPts val="0"/>
              </a:spcBef>
              <a:spcAft>
                <a:spcPts val="0"/>
              </a:spcAft>
              <a:buClrTx/>
              <a:buSzTx/>
              <a:buFontTx/>
              <a:buNone/>
            </a:pPr>
            <a:r>
              <a:t>Il secondo contributo è un dataset sintetico di diecimila immagini annotate per l'ispezione delle ruote. È uno studio pilota: la generazione automatica permette di controllare i danni, mentre il realismo visivo può essere ulteriormente migliorato.</a:t>
            </a:r>
          </a:p>
          <a:p>
            <a:pPr marL="0" marR="0" lvl="0" indent="0" algn="l" defTabSz="914400">
              <a:lnSpc>
                <a:spcPct val="100000"/>
              </a:lnSpc>
              <a:spcBef>
                <a:spcPts val="0"/>
              </a:spcBef>
              <a:spcAft>
                <a:spcPts val="0"/>
              </a:spcAft>
              <a:buClrTx/>
              <a:buSzTx/>
              <a:buFontTx/>
              <a:buNone/>
            </a:pPr>
            <a:endParaRPr/>
          </a:p>
          <a:p>
            <a:pPr marL="0" marR="0" lvl="0" indent="0" algn="l" defTabSz="914400">
              <a:lnSpc>
                <a:spcPct val="100000"/>
              </a:lnSpc>
              <a:spcBef>
                <a:spcPts val="0"/>
              </a:spcBef>
              <a:spcAft>
                <a:spcPts val="0"/>
              </a:spcAft>
              <a:buClrTx/>
              <a:buSzTx/>
              <a:buFontTx/>
              <a:buNone/>
            </a:pPr>
            <a:r>
              <a:t>Infine, abbiamo confrontato quattro famiglie di modelli per anomaly detection e localization, adattandone le configurazioni al problema dell'ispezione delle ruote. Questo confronto fornisce una base per sviluppi successivi.</a:t>
            </a:r>
          </a:p>
          <a:p>
            <a:pPr marL="0" marR="0" lvl="0" indent="0" algn="l" defTabSz="914400">
              <a:lnSpc>
                <a:spcPct val="100000"/>
              </a:lnSpc>
              <a:spcBef>
                <a:spcPts val="0"/>
              </a:spcBef>
              <a:spcAft>
                <a:spcPts val="0"/>
              </a:spcAft>
              <a:buClrTx/>
              <a:buSzTx/>
              <a:buFontTx/>
              <a:buNone/>
            </a:pPr>
            <a:endParaRPr/>
          </a:p>
          <a:p>
            <a:pPr marL="0" marR="0" lvl="0" indent="0" algn="l" defTabSz="914400">
              <a:lnSpc>
                <a:spcPct val="100000"/>
              </a:lnSpc>
              <a:spcBef>
                <a:spcPts val="0"/>
              </a:spcBef>
              <a:spcAft>
                <a:spcPts val="0"/>
              </a:spcAft>
              <a:buClrTx/>
              <a:buSzTx/>
              <a:buFontTx/>
              <a:buNone/>
            </a:pPr>
            <a:r>
              <a:t>Ambito dei risultati: gli effetti della quantizzazione dipendono dal modello e dal metodo. INT8 indica esecuzione selettiva a precisione mista. Le misure dei costi riguardano l'inferenza su T4, senza preprocessing, operazioni CPU o trasferimenti. Il confronto di anomaly detection riguarda il sottoinsieme sintetico pose A di un singolo asset Curiosity. Il trasferimento a immagini reali resta da validare.</a:t>
            </a:r>
          </a:p>
          <a:p>
            <a:pPr marL="0" marR="0" lvl="0" indent="0" algn="l" defTabSz="914400">
              <a:lnSpc>
                <a:spcPct val="100000"/>
              </a:lnSpc>
              <a:spcBef>
                <a:spcPts val="0"/>
              </a:spcBef>
              <a:spcAft>
                <a:spcPts val="0"/>
              </a:spcAft>
              <a:buClrTx/>
              <a:buSzTx/>
              <a:buFontTx/>
              <a:buNone/>
            </a:pPr>
            <a:endParaRPr/>
          </a:p>
          <a:p>
            <a:pPr marL="0" marR="0" lvl="0" indent="0" algn="l" defTabSz="914400">
              <a:lnSpc>
                <a:spcPct val="100000"/>
              </a:lnSpc>
              <a:spcBef>
                <a:spcPts val="0"/>
              </a:spcBef>
              <a:spcAft>
                <a:spcPts val="0"/>
              </a:spcAft>
              <a:buClrTx/>
              <a:buSzTx/>
              <a:buFontTx/>
              <a:buNone/>
            </a:pPr>
            <a:r>
              <a:t>Fonte del contenuto: Daniele Venturini, Lightweight Scene Understanding and Synthetic Data-Driven Damage Inspection for Martian Rovers, tesi, capitolo 8 Conclusions and Future Work, thesis/latex/Chapters/8 Conclusions and Future Work.tex. I risultati sono quelli degli esperimenti della tesi. Template e marchio VisionLab dalla presentazione fornita dall'utente.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805B2-D6FA-8208-0C25-0D39CBBB40E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18F12E4A-0F02-1AED-9B52-8A94F93A1EBB}"/>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3D54D219-E8B6-A156-CF36-2C246FA559C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[Parte principale. Tempo indicativo: 25–35 secondi.]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Un possibile sviluppo è collegare i due rami: la regione Rover potrebbe guidare un localizzatore delle ruote, seguito dall’ispezione del danno. La maschera semantica, da sola, non identifica le singole ruote. Vorrei inoltre esplorare modelli più leggeri e augmentation adatte alle immagini marziane. Per l’ispezione servono validazione su immagini reali, più variabilità sintetica e ulteriori tipi di danno, così da valutare quanto questi risultati possano generalizzare.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8, sviluppi futuri.]</a:t>
            </a:r>
            <a:endParaRPr lang="it-IT" dirty="0"/>
          </a:p>
        </p:txBody>
      </p:sp>
      <p:sp>
        <p:nvSpPr>
          <p:cNvPr id="4" name="Segnaposto numero diapositiva 3">
            <a:extLst>
              <a:ext uri="{FF2B5EF4-FFF2-40B4-BE49-F238E27FC236}">
                <a16:creationId xmlns:a16="http://schemas.microsoft.com/office/drawing/2014/main" id="{D930044B-4124-FB63-32E2-22BCF67B5507}"/>
              </a:ext>
            </a:extLst>
          </p:cNvPr>
          <p:cNvSpPr>
            <a:spLocks noGrp="1"/>
          </p:cNvSpPr>
          <p:nvPr>
            <p:ph type="sldNum" sz="quarter" idx="5"/>
          </p:nvPr>
        </p:nvSpPr>
        <p:spPr/>
        <p:txBody>
          <a:bodyPr/>
          <a:lstStyle/>
          <a:p>
            <a:fld id="{98FF6D0F-8D8B-42DD-BAAB-92498700177C}" type="slidenum">
              <a:rPr lang="it-IT" smtClean="0"/>
              <a:t>31</a:t>
            </a:fld>
            <a:endParaRPr lang="it-IT"/>
          </a:p>
        </p:txBody>
      </p:sp>
    </p:spTree>
    <p:extLst>
      <p:ext uri="{BB962C8B-B14F-4D97-AF65-F5344CB8AC3E}">
        <p14:creationId xmlns:p14="http://schemas.microsoft.com/office/powerpoint/2010/main" val="94803751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[Parte principale. Tempo indicativo: 5–10 secondi.]</a:t>
            </a:r>
          </a:p>
          <a:p>
            <a:endParaRPr lang="it-IT"/>
          </a:p>
          <a:p>
            <a:r>
              <a:rPr lang="it-IT"/>
              <a:t>Vi ringrazio per l’attenzione. Sono a disposizione per le domande.</a:t>
            </a:r>
          </a:p>
          <a:p>
            <a:endParaRPr lang="it-IT"/>
          </a:p>
          <a:p>
            <a:r>
              <a:rPr lang="it-IT"/>
              <a:t>[Fonti di supporto, non da leggere: Slide finale della parte principale.]</a:t>
            </a:r>
          </a:p>
        </p:txBody>
      </p:sp>
      <p:sp>
        <p:nvSpPr>
          <p:cNvPr id="4" name="Segnaposto numero diapositiva 3"/>
          <p:cNvSpPr>
            <a:spLocks noGrp="1"/>
          </p:cNvSpPr>
          <p:nvPr>
            <p:ph type="sldNum" sz="quarter" idx="5"/>
          </p:nvPr>
        </p:nvSpPr>
        <p:spPr/>
        <p:txBody>
          <a:bodyPr/>
          <a:lstStyle/>
          <a:p>
            <a:fld id="{98FF6D0F-8D8B-42DD-BAAB-92498700177C}" type="slidenum">
              <a:rPr lang="it-IT" smtClean="0"/>
              <a:t>32</a:t>
            </a:fld>
            <a:endParaRPr lang="it-IT"/>
          </a:p>
        </p:txBody>
      </p:sp>
    </p:spTree>
    <p:extLst>
      <p:ext uri="{BB962C8B-B14F-4D97-AF65-F5344CB8AC3E}">
        <p14:creationId xmlns:p14="http://schemas.microsoft.com/office/powerpoint/2010/main" val="390615310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[Bibliografia. Non richiede un intervento nella presentazione principale. Se necessario:]</a:t>
            </a:r>
          </a:p>
          <a:p>
            <a:endParaRPr lang="it-IT"/>
          </a:p>
          <a:p>
            <a:r>
              <a:rPr lang="it-IT"/>
              <a:t>Qui sono raccolte le fonti sul contesto operativo dei rover, sulle ispezioni delle ruote di Curiosity e sui dataset reali di segmentazione utilizzati come riferimento per il lavoro.</a:t>
            </a:r>
          </a:p>
          <a:p>
            <a:endParaRPr lang="it-IT"/>
          </a:p>
          <a:p>
            <a:r>
              <a:rPr lang="it-IT"/>
              <a:t>[Fonti di supporto, non da leggere: Bibliografia della presentazione, riferimenti [1]–[5].]</a:t>
            </a:r>
          </a:p>
        </p:txBody>
      </p:sp>
      <p:sp>
        <p:nvSpPr>
          <p:cNvPr id="4" name="Segnaposto numero diapositiva 3"/>
          <p:cNvSpPr>
            <a:spLocks noGrp="1"/>
          </p:cNvSpPr>
          <p:nvPr>
            <p:ph type="sldNum" sz="quarter" idx="5"/>
          </p:nvPr>
        </p:nvSpPr>
        <p:spPr/>
        <p:txBody>
          <a:bodyPr/>
          <a:lstStyle/>
          <a:p>
            <a:fld id="{98FF6D0F-8D8B-42DD-BAAB-92498700177C}" type="slidenum">
              <a:rPr lang="it-IT" smtClean="0"/>
              <a:t>33</a:t>
            </a:fld>
            <a:endParaRPr lang="it-IT"/>
          </a:p>
        </p:txBody>
      </p:sp>
    </p:spTree>
    <p:extLst>
      <p:ext uri="{BB962C8B-B14F-4D97-AF65-F5344CB8AC3E}">
        <p14:creationId xmlns:p14="http://schemas.microsoft.com/office/powerpoint/2010/main" val="12057995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[Bibliografia. Non richiede un intervento nella presentazione principale. Se necessario:]</a:t>
            </a:r>
          </a:p>
          <a:p>
            <a:endParaRPr lang="it-IT"/>
          </a:p>
          <a:p>
            <a:r>
              <a:rPr lang="it-IT"/>
              <a:t>Questa pagina riporta i lavori originali delle famiglie di segmentazione confrontate: U-Net, DeepLabV3, DeepLabV3+, SegFormer e LCNet. Le varianti di encoder impiegate negli esperimenti sono indicate nella slide dedicata ai modelli.</a:t>
            </a:r>
          </a:p>
          <a:p>
            <a:endParaRPr lang="it-IT"/>
          </a:p>
          <a:p>
            <a:r>
              <a:rPr lang="it-IT"/>
              <a:t>[Fonti di supporto, non da leggere: Bibliografia della presentazione, riferimenti [6]–[10].]</a:t>
            </a:r>
          </a:p>
        </p:txBody>
      </p:sp>
      <p:sp>
        <p:nvSpPr>
          <p:cNvPr id="4" name="Segnaposto numero diapositiva 3"/>
          <p:cNvSpPr>
            <a:spLocks noGrp="1"/>
          </p:cNvSpPr>
          <p:nvPr>
            <p:ph type="sldNum" sz="quarter" idx="5"/>
          </p:nvPr>
        </p:nvSpPr>
        <p:spPr/>
        <p:txBody>
          <a:bodyPr/>
          <a:lstStyle/>
          <a:p>
            <a:fld id="{98FF6D0F-8D8B-42DD-BAAB-92498700177C}" type="slidenum">
              <a:rPr lang="it-IT" smtClean="0"/>
              <a:t>34</a:t>
            </a:fld>
            <a:endParaRPr lang="it-IT"/>
          </a:p>
        </p:txBody>
      </p:sp>
    </p:spTree>
    <p:extLst>
      <p:ext uri="{BB962C8B-B14F-4D97-AF65-F5344CB8AC3E}">
        <p14:creationId xmlns:p14="http://schemas.microsoft.com/office/powerpoint/2010/main" val="257572711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[Bibliografia. Non richiede un intervento nella presentazione principale. Se necessario:]</a:t>
            </a:r>
          </a:p>
          <a:p>
            <a:endParaRPr lang="it-IT"/>
          </a:p>
          <a:p>
            <a:r>
              <a:rPr lang="it-IT"/>
              <a:t>Questi riferimenti riguardano la quantizzazione, il modello tridimensionale NASA e i dati HiRISE usati per costruire la scena, la domain randomization e il protocollo normal-only dell’anomaly detection.</a:t>
            </a:r>
          </a:p>
          <a:p>
            <a:endParaRPr lang="it-IT"/>
          </a:p>
          <a:p>
            <a:r>
              <a:rPr lang="it-IT"/>
              <a:t>[Fonti di supporto, non da leggere: Bibliografia della presentazione, riferimenti [11]–[15].]</a:t>
            </a:r>
          </a:p>
        </p:txBody>
      </p:sp>
      <p:sp>
        <p:nvSpPr>
          <p:cNvPr id="4" name="Segnaposto numero diapositiva 3"/>
          <p:cNvSpPr>
            <a:spLocks noGrp="1"/>
          </p:cNvSpPr>
          <p:nvPr>
            <p:ph type="sldNum" sz="quarter" idx="5"/>
          </p:nvPr>
        </p:nvSpPr>
        <p:spPr/>
        <p:txBody>
          <a:bodyPr/>
          <a:lstStyle/>
          <a:p>
            <a:fld id="{98FF6D0F-8D8B-42DD-BAAB-92498700177C}" type="slidenum">
              <a:rPr lang="it-IT" smtClean="0"/>
              <a:t>35</a:t>
            </a:fld>
            <a:endParaRPr lang="it-IT"/>
          </a:p>
        </p:txBody>
      </p:sp>
    </p:spTree>
    <p:extLst>
      <p:ext uri="{BB962C8B-B14F-4D97-AF65-F5344CB8AC3E}">
        <p14:creationId xmlns:p14="http://schemas.microsoft.com/office/powerpoint/2010/main" val="34116176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it-IT"/>
              <a:t>[Bibliografia. Non richiede un intervento nella presentazione principale. Se necessario:]</a:t>
            </a:r>
          </a:p>
          <a:p>
            <a:endParaRPr lang="it-IT"/>
          </a:p>
          <a:p>
            <a:r>
              <a:rPr lang="it-IT"/>
              <a:t>Qui sono riportati i lavori di riferimento per PatchCore, EfficientAD, SuperSimpleNet e TinyGLASS. Per SuperSimpleNet sono presenti sia il lavoro iniziale sia la formulazione estesa, da cui proviene anche lo schema architetturale nelle slide aggiuntive.</a:t>
            </a:r>
          </a:p>
          <a:p>
            <a:endParaRPr lang="it-IT"/>
          </a:p>
          <a:p>
            <a:r>
              <a:rPr lang="it-IT"/>
              <a:t>[Fonti di supporto, non da leggere: Bibliografia della presentazione, riferimenti [16]–[20].]</a:t>
            </a:r>
          </a:p>
        </p:txBody>
      </p:sp>
      <p:sp>
        <p:nvSpPr>
          <p:cNvPr id="4" name="Segnaposto numero diapositiva 3"/>
          <p:cNvSpPr>
            <a:spLocks noGrp="1"/>
          </p:cNvSpPr>
          <p:nvPr>
            <p:ph type="sldNum" sz="quarter" idx="5"/>
          </p:nvPr>
        </p:nvSpPr>
        <p:spPr/>
        <p:txBody>
          <a:bodyPr/>
          <a:lstStyle/>
          <a:p>
            <a:fld id="{98FF6D0F-8D8B-42DD-BAAB-92498700177C}" type="slidenum">
              <a:rPr lang="it-IT" smtClean="0"/>
              <a:t>36</a:t>
            </a:fld>
            <a:endParaRPr lang="it-IT"/>
          </a:p>
        </p:txBody>
      </p:sp>
    </p:spTree>
    <p:extLst>
      <p:ext uri="{BB962C8B-B14F-4D97-AF65-F5344CB8AC3E}">
        <p14:creationId xmlns:p14="http://schemas.microsoft.com/office/powerpoint/2010/main" val="339801631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6119-74F7-323F-A112-07E17F0A7E21}"/>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1EEE92F-AE7A-EADD-5AEB-7F62FBCD38E7}"/>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F9B7FB79-EB9D-70CE-0B66-799CD1C910C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[Slide extra. Discorso facoltativo da usare durante le domande, fuori dai 15 minuti.]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Questi esempi mostrano le variazioni considerate normali. Il 75 per cento del dataset usa il preset polveroso e il 25 per cento quello limpido. Per l’usura, il 20 per cento mantiene la superficie senza usura aggiunta, il 45 per cento introduce usura leggera e il 35 per cento usura evidente. Un’immagine può quindi essere normale anche se la ruota appare sporca o graffiata: l’anomalia modellata è la perforazione.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3, domain randomization.]</a:t>
            </a:r>
            <a:endParaRPr lang="it-IT" dirty="0"/>
          </a:p>
        </p:txBody>
      </p:sp>
      <p:sp>
        <p:nvSpPr>
          <p:cNvPr id="4" name="Segnaposto numero diapositiva 3">
            <a:extLst>
              <a:ext uri="{FF2B5EF4-FFF2-40B4-BE49-F238E27FC236}">
                <a16:creationId xmlns:a16="http://schemas.microsoft.com/office/drawing/2014/main" id="{28E65330-8BBE-C00D-394A-E0F3FDA9A774}"/>
              </a:ext>
            </a:extLst>
          </p:cNvPr>
          <p:cNvSpPr>
            <a:spLocks noGrp="1"/>
          </p:cNvSpPr>
          <p:nvPr>
            <p:ph type="sldNum" sz="quarter" idx="5"/>
          </p:nvPr>
        </p:nvSpPr>
        <p:spPr/>
        <p:txBody>
          <a:bodyPr/>
          <a:lstStyle/>
          <a:p>
            <a:fld id="{98FF6D0F-8D8B-42DD-BAAB-92498700177C}" type="slidenum">
              <a:rPr lang="it-IT" smtClean="0"/>
              <a:t>37</a:t>
            </a:fld>
            <a:endParaRPr lang="it-IT"/>
          </a:p>
        </p:txBody>
      </p:sp>
    </p:spTree>
    <p:extLst>
      <p:ext uri="{BB962C8B-B14F-4D97-AF65-F5344CB8AC3E}">
        <p14:creationId xmlns:p14="http://schemas.microsoft.com/office/powerpoint/2010/main" val="52430287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C9785-F828-6665-00FB-6A21C8811F4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803BCFA-A9BC-E0F2-8ACC-883608ABAD8C}"/>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614706D-FAE3-24EB-3A5C-B88D4E49839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[Slide extra. Discorso facoltativo da usare durante le domande, fuori dai 15 minuti.]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Le quattro viste hanno frequenze diverse: posa A al 40 per cento, le due viste oblique al 27,5 per cento ciascuna e il dettaglio superiore al 5 per cento. Tra le sole immagini anomale, i fori piccoli rappresentano il 50 per cento, i medi il 40 e i grandi il 10. Gli intervalli in centimetri descrivono la geometria generata, non una classificazione del rischio meccanico. Queste percentuali riguardano il dataset, non le perturbazioni artificiali usate per addestrare TinyGLASS.</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3, viste e dimensioni geometriche dei fori.]</a:t>
            </a:r>
            <a:endParaRPr lang="it-IT" dirty="0"/>
          </a:p>
        </p:txBody>
      </p:sp>
      <p:sp>
        <p:nvSpPr>
          <p:cNvPr id="4" name="Segnaposto numero diapositiva 3">
            <a:extLst>
              <a:ext uri="{FF2B5EF4-FFF2-40B4-BE49-F238E27FC236}">
                <a16:creationId xmlns:a16="http://schemas.microsoft.com/office/drawing/2014/main" id="{15F89852-7142-6364-CF58-337D42A36682}"/>
              </a:ext>
            </a:extLst>
          </p:cNvPr>
          <p:cNvSpPr>
            <a:spLocks noGrp="1"/>
          </p:cNvSpPr>
          <p:nvPr>
            <p:ph type="sldNum" sz="quarter" idx="5"/>
          </p:nvPr>
        </p:nvSpPr>
        <p:spPr/>
        <p:txBody>
          <a:bodyPr/>
          <a:lstStyle/>
          <a:p>
            <a:fld id="{98FF6D0F-8D8B-42DD-BAAB-92498700177C}" type="slidenum">
              <a:rPr lang="it-IT" smtClean="0"/>
              <a:t>38</a:t>
            </a:fld>
            <a:endParaRPr lang="it-IT"/>
          </a:p>
        </p:txBody>
      </p:sp>
    </p:spTree>
    <p:extLst>
      <p:ext uri="{BB962C8B-B14F-4D97-AF65-F5344CB8AC3E}">
        <p14:creationId xmlns:p14="http://schemas.microsoft.com/office/powerpoint/2010/main" val="99615640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72CFA-204B-EADB-D7F8-185F7FAEB8BB}"/>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DAEE8CCE-FF44-A42D-B25D-72C6D89F62A5}"/>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C76ADEFB-F3F0-0680-6C17-E6BAC88ED01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[Slide extra. Discorso facoltativo da usare durante le domande, fuori dai 15 minuti.]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Queste prove esplorative hanno motivato la loss combinata. Passando dalla sola cross-entropy a cross-entropy più Generalized Dice, U-Net ResNet34 sale da circa 59,5 a 64,5 per cento di mIoU e SegFormer da 69,2 a 75,5. Per U-Net, la pesatura Dice inversa al quadrato del volume di classe funziona meglio delle alternative mostrate. I pesi dipendono dai pixel delle classi presenti nel batch e favoriscono il contributo delle regioni meno rappresentate. Non sono risultati da estendere automaticamente a ogni architettura.</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5, ablation della loss e dei pesi Dice.]</a:t>
            </a:r>
            <a:endParaRPr lang="it-IT" dirty="0"/>
          </a:p>
        </p:txBody>
      </p:sp>
      <p:sp>
        <p:nvSpPr>
          <p:cNvPr id="4" name="Segnaposto numero diapositiva 3">
            <a:extLst>
              <a:ext uri="{FF2B5EF4-FFF2-40B4-BE49-F238E27FC236}">
                <a16:creationId xmlns:a16="http://schemas.microsoft.com/office/drawing/2014/main" id="{22BBFC16-6E93-E335-DC27-53A6610ACF9E}"/>
              </a:ext>
            </a:extLst>
          </p:cNvPr>
          <p:cNvSpPr>
            <a:spLocks noGrp="1"/>
          </p:cNvSpPr>
          <p:nvPr>
            <p:ph type="sldNum" sz="quarter" idx="5"/>
          </p:nvPr>
        </p:nvSpPr>
        <p:spPr/>
        <p:txBody>
          <a:bodyPr/>
          <a:lstStyle/>
          <a:p>
            <a:fld id="{98FF6D0F-8D8B-42DD-BAAB-92498700177C}" type="slidenum">
              <a:rPr lang="it-IT" smtClean="0"/>
              <a:t>39</a:t>
            </a:fld>
            <a:endParaRPr lang="it-IT"/>
          </a:p>
        </p:txBody>
      </p:sp>
    </p:spTree>
    <p:extLst>
      <p:ext uri="{BB962C8B-B14F-4D97-AF65-F5344CB8AC3E}">
        <p14:creationId xmlns:p14="http://schemas.microsoft.com/office/powerpoint/2010/main" val="54303046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657D2F-65D2-BD4F-4A7D-5537091E5F66}"/>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B3A4950-A67B-D5B1-FC12-3198EEFE7A32}"/>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DFA96DD3-8859-3168-7427-0E0C01C0010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[Slide extra. Discorso facoltativo da usare durante le domande, fuori dai 15 minuti.]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Per SegFormer, le trasformazioni geometriche provate, cioè flip e rotazioni di novanta gradi, riducono la mIoU di test da 75,55 a 66,86 per cento. Anche l’oversampling resta sotto il riferimento: arriva a 71,02 con pesi Dice inversi al quadrato e a 72,90 con pesi uniformi. Uniform e square indicano qui i pesi della loss Dice, non le probabilità di campionamento. Queste prove giustificano la configurazione di base adottata, ma non dimostrano che ogni forma di augmentation sia dannosa.</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5, augmentation e oversampling; cap. 2, definizione del campionamento.]</a:t>
            </a:r>
            <a:endParaRPr lang="it-IT" dirty="0"/>
          </a:p>
        </p:txBody>
      </p:sp>
      <p:sp>
        <p:nvSpPr>
          <p:cNvPr id="4" name="Segnaposto numero diapositiva 3">
            <a:extLst>
              <a:ext uri="{FF2B5EF4-FFF2-40B4-BE49-F238E27FC236}">
                <a16:creationId xmlns:a16="http://schemas.microsoft.com/office/drawing/2014/main" id="{0FCAC24B-268F-2F77-865C-A35E418EED19}"/>
              </a:ext>
            </a:extLst>
          </p:cNvPr>
          <p:cNvSpPr>
            <a:spLocks noGrp="1"/>
          </p:cNvSpPr>
          <p:nvPr>
            <p:ph type="sldNum" sz="quarter" idx="5"/>
          </p:nvPr>
        </p:nvSpPr>
        <p:spPr/>
        <p:txBody>
          <a:bodyPr/>
          <a:lstStyle/>
          <a:p>
            <a:fld id="{98FF6D0F-8D8B-42DD-BAAB-92498700177C}" type="slidenum">
              <a:rPr lang="it-IT" smtClean="0"/>
              <a:t>40</a:t>
            </a:fld>
            <a:endParaRPr lang="it-IT"/>
          </a:p>
        </p:txBody>
      </p:sp>
    </p:spTree>
    <p:extLst>
      <p:ext uri="{BB962C8B-B14F-4D97-AF65-F5344CB8AC3E}">
        <p14:creationId xmlns:p14="http://schemas.microsoft.com/office/powerpoint/2010/main" val="218143173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ts val="0"/>
              </a:spcBef>
              <a:spcAft>
                <a:spcPts val="0"/>
              </a:spcAft>
              <a:buClrTx/>
              <a:buSzTx/>
              <a:buFontTx/>
              <a:buNone/>
            </a:pPr>
            <a:r>
              <a:t>[Slide extra. Spiegazione facoltativa, circa 40 secondi, fuori dai 15 minuti.]</a:t>
            </a:r>
          </a:p>
          <a:p>
            <a:pPr marL="0" marR="0" lvl="0" indent="0" algn="l" defTabSz="914400">
              <a:lnSpc>
                <a:spcPct val="100000"/>
              </a:lnSpc>
              <a:spcBef>
                <a:spcPts val="0"/>
              </a:spcBef>
              <a:spcAft>
                <a:spcPts val="0"/>
              </a:spcAft>
              <a:buClrTx/>
              <a:buSzTx/>
              <a:buFontTx/>
              <a:buNone/>
            </a:pPr>
            <a:endParaRPr/>
          </a:p>
          <a:p>
            <a:pPr marL="0" marR="0" lvl="0" indent="0" algn="l" defTabSz="914400">
              <a:lnSpc>
                <a:spcPct val="100000"/>
              </a:lnSpc>
              <a:spcBef>
                <a:spcPts val="0"/>
              </a:spcBef>
              <a:spcAft>
                <a:spcPts val="0"/>
              </a:spcAft>
              <a:buClrTx/>
              <a:buSzTx/>
              <a:buFontTx/>
              <a:buNone/>
            </a:pPr>
            <a:r>
              <a:t>Questa tabella approfondisce i risultati della segmentazione della scena. Il passaggio da FP32 a FP16 lascia praticamente invariata la qualità. Anche la PTQ mantiene risultati molto vicini alla baseline. Con QAT, invece, tutte le classi migliorano: i guadagni maggiori sono su Rock, circa 4,38 punti, e Hole, circa 1,81. La mIoU complessiva passa dal 75,55 al 76,93 per cento. Rock rimane comunque la classe più difficile. Il miglioramento comprende fine-tuning e distillazione, quindi non va attribuito alla sola riduzione della precisione.</a:t>
            </a:r>
          </a:p>
          <a:p>
            <a:pPr marL="0" marR="0" lvl="0" indent="0" algn="l" defTabSz="914400">
              <a:lnSpc>
                <a:spcPct val="100000"/>
              </a:lnSpc>
              <a:spcBef>
                <a:spcPts val="0"/>
              </a:spcBef>
              <a:spcAft>
                <a:spcPts val="0"/>
              </a:spcAft>
              <a:buClrTx/>
              <a:buSzTx/>
              <a:buFontTx/>
              <a:buNone/>
            </a:pPr>
            <a:endParaRPr/>
          </a:p>
          <a:p>
            <a:pPr marL="0" marR="0" lvl="0" indent="0" algn="l" defTabSz="914400">
              <a:lnSpc>
                <a:spcPct val="100000"/>
              </a:lnSpc>
              <a:spcBef>
                <a:spcPts val="0"/>
              </a:spcBef>
              <a:spcAft>
                <a:spcPts val="0"/>
              </a:spcAft>
              <a:buClrTx/>
              <a:buSzTx/>
              <a:buFontTx/>
              <a:buNone/>
            </a:pPr>
            <a:r>
              <a:t>[Dettagli e fonti, non da leggere.]</a:t>
            </a:r>
          </a:p>
          <a:p>
            <a:pPr marL="0" marR="0" lvl="0" indent="0" algn="l" defTabSz="914400">
              <a:lnSpc>
                <a:spcPct val="100000"/>
              </a:lnSpc>
              <a:spcBef>
                <a:spcPts val="0"/>
              </a:spcBef>
              <a:spcAft>
                <a:spcPts val="0"/>
              </a:spcAft>
              <a:buClrTx/>
              <a:buSzTx/>
              <a:buFontTx/>
              <a:buNone/>
            </a:pPr>
            <a:r>
              <a:t>Tutte le configurazioni sono valutate sulle stesse 800 immagini test S5Mars, con input 512 x 512. Le otto righe indicano IoU per classe; mIoU è la media sulle otto categorie annotate. Background non è incluso nella media. Non sono risultati di validation. INT8 è selettivo Conv-only: le convoluzioni sono quantizzate mentre altre operazioni restano floating point. Il QAT riportato è l'engine TensorRT finale, non la simulazione fake-quant in PyTorch.</a:t>
            </a:r>
          </a:p>
          <a:p>
            <a:pPr marL="0" marR="0" lvl="0" indent="0" algn="l" defTabSz="914400">
              <a:lnSpc>
                <a:spcPct val="100000"/>
              </a:lnSpc>
              <a:spcBef>
                <a:spcPts val="0"/>
              </a:spcBef>
              <a:spcAft>
                <a:spcPts val="0"/>
              </a:spcAft>
              <a:buClrTx/>
              <a:buSzTx/>
              <a:buFontTx/>
              <a:buNone/>
            </a:pPr>
            <a:endParaRPr/>
          </a:p>
          <a:p>
            <a:pPr marL="0" marR="0" lvl="0" indent="0" algn="l" defTabSz="914400">
              <a:lnSpc>
                <a:spcPct val="100000"/>
              </a:lnSpc>
              <a:spcBef>
                <a:spcPts val="0"/>
              </a:spcBef>
              <a:spcAft>
                <a:spcPts val="0"/>
              </a:spcAft>
              <a:buClrTx/>
              <a:buSzTx/>
              <a:buFontTx/>
              <a:buNone/>
            </a:pPr>
            <a:r>
              <a:t>FP32, FP16 e PTQ: git object 10f4b53:semantic_segmentation/docs/quantization/onnx_ptq_results.md, subsection 'SegFormer Conv-only sul test set'. Tabella con risultati finali sulle 800 immagini, configurazioni scelte su validation. Valori mIoU originali: FP32 0.755519684, FP16 0.755540537, PTQ 0.756030374.</a:t>
            </a:r>
          </a:p>
          <a:p>
            <a:pPr marL="0" marR="0" lvl="0" indent="0" algn="l" defTabSz="914400">
              <a:lnSpc>
                <a:spcPct val="100000"/>
              </a:lnSpc>
              <a:spcBef>
                <a:spcPts val="0"/>
              </a:spcBef>
              <a:spcAft>
                <a:spcPts val="0"/>
              </a:spcAft>
              <a:buClrTx/>
              <a:buSzTx/>
              <a:buFontTx/>
              <a:buNone/>
            </a:pPr>
            <a:endParaRPr/>
          </a:p>
          <a:p>
            <a:pPr marL="0" marR="0" lvl="0" indent="0" algn="l" defTabSz="914400">
              <a:lnSpc>
                <a:spcPct val="100000"/>
              </a:lnSpc>
              <a:spcBef>
                <a:spcPts val="0"/>
              </a:spcBef>
              <a:spcAft>
                <a:spcPts val="0"/>
              </a:spcAft>
              <a:buClrTx/>
              <a:buSzTx/>
              <a:buFontTx/>
              <a:buNone/>
            </a:pPr>
            <a:r>
              <a:t>QAT: outputs/drive_audit_20261010/report_summaries.json, entry 1Kq-yIOds3hbGkVQPjJ8wi-uDNuhLpPyE, s5mars_qat_modelopt_segformer_b0_int8_conv_only_qdq/results.json, test_metrics.onnx_modelopt_qat_int8_tensorrt. Original mIoU 0.7692888447846535; split test, samples 800. File Drive originale: https://drive.google.com/file/d/1Kq-yIOds3hbGkVQPjJ8wi-uDNuhLpPyE/view . La copia locale è stata usata perché il connettore non rende attualmente disponibile quel file.</a:t>
            </a:r>
          </a:p>
          <a:p>
            <a:pPr marL="0" marR="0" lvl="0" indent="0" algn="l" defTabSz="914400">
              <a:lnSpc>
                <a:spcPct val="100000"/>
              </a:lnSpc>
              <a:spcBef>
                <a:spcPts val="0"/>
              </a:spcBef>
              <a:spcAft>
                <a:spcPts val="0"/>
              </a:spcAft>
              <a:buClrTx/>
              <a:buSzTx/>
              <a:buFontTx/>
              <a:buNone/>
            </a:pPr>
            <a:endParaRPr/>
          </a:p>
          <a:p>
            <a:pPr marL="0" marR="0" lvl="0" indent="0" algn="l" defTabSz="914400">
              <a:lnSpc>
                <a:spcPct val="100000"/>
              </a:lnSpc>
              <a:spcBef>
                <a:spcPts val="0"/>
              </a:spcBef>
              <a:spcAft>
                <a:spcPts val="0"/>
              </a:spcAft>
              <a:buClrTx/>
              <a:buSzTx/>
              <a:buFontTx/>
              <a:buNone/>
            </a:pPr>
            <a:r>
              <a:t>Tutti i valori della tabella sono percentuali con due decimali. I guadagni sono espressi in punti percentuali e calcolati dai valori sorgente prima dell'arrotondamento di visualizzazione. Gli esperimenti includono differenze di training e backend, quindi non isolano il solo effetto della bit width.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ts val="0"/>
              </a:spcBef>
              <a:spcAft>
                <a:spcPts val="0"/>
              </a:spcAft>
              <a:buClrTx/>
              <a:buSzTx/>
              <a:buFontTx/>
              <a:buNone/>
            </a:pPr>
            <a:r>
              <a:t>[Slide extra, fuori dai 15 minuti. Discorso facoltativo, circa 45–55 secondi.]</a:t>
            </a:r>
          </a:p>
          <a:p>
            <a:pPr marL="0" marR="0" lvl="0" indent="0" algn="l" defTabSz="914400">
              <a:lnSpc>
                <a:spcPct val="100000"/>
              </a:lnSpc>
              <a:spcBef>
                <a:spcPts val="0"/>
              </a:spcBef>
              <a:spcAft>
                <a:spcPts val="0"/>
              </a:spcAft>
              <a:buClrTx/>
              <a:buSzTx/>
              <a:buFontTx/>
              <a:buNone/>
            </a:pPr>
            <a:endParaRPr/>
          </a:p>
          <a:p>
            <a:pPr marL="0" marR="0" lvl="0" indent="0" algn="l" defTabSz="914400">
              <a:lnSpc>
                <a:spcPct val="100000"/>
              </a:lnSpc>
              <a:spcBef>
                <a:spcPts val="0"/>
              </a:spcBef>
              <a:spcAft>
                <a:spcPts val="0"/>
              </a:spcAft>
              <a:buClrTx/>
              <a:buSzTx/>
              <a:buFontTx/>
              <a:buNone/>
            </a:pPr>
            <a:r>
              <a:t>Questa tabella colloca i due compromessi selezionati della tesi accanto ai baseline pubblici di Mars-Bench. SegFormer-B0 con QAT privilegia la qualità, mentre DeepLabV3+ MobileNetV2 con QAT privilegia il costo. Entrambi hanno meno di cinque milioni di parametri. I conteggi di Mars-Bench sono stime totali, quindi includono anche gli encoder congelati. I punteggi provengono dal leaderboard degli autori, ma il CSV non documenta il protocollo corrispondente: non possiamo attribuire la differenza di mIoU alla sola architettura né leggerla come una classifica controllata.</a:t>
            </a:r>
          </a:p>
          <a:p>
            <a:pPr marL="0" marR="0" lvl="0" indent="0" algn="l" defTabSz="914400">
              <a:lnSpc>
                <a:spcPct val="100000"/>
              </a:lnSpc>
              <a:spcBef>
                <a:spcPts val="0"/>
              </a:spcBef>
              <a:spcAft>
                <a:spcPts val="0"/>
              </a:spcAft>
              <a:buClrTx/>
              <a:buSzTx/>
              <a:buFontTx/>
              <a:buNone/>
            </a:pPr>
            <a:endParaRPr/>
          </a:p>
          <a:p>
            <a:pPr marL="0" marR="0" lvl="0" indent="0" algn="l" defTabSz="914400">
              <a:lnSpc>
                <a:spcPct val="100000"/>
              </a:lnSpc>
              <a:spcBef>
                <a:spcPts val="0"/>
              </a:spcBef>
              <a:spcAft>
                <a:spcPts val="0"/>
              </a:spcAft>
              <a:buClrTx/>
              <a:buSzTx/>
              <a:buFontTx/>
              <a:buNone/>
            </a:pPr>
            <a:r>
              <a:t>[Fonti e metodo, non da leggere]</a:t>
            </a:r>
          </a:p>
          <a:p>
            <a:pPr marL="0" marR="0" lvl="0" indent="0" algn="l" defTabSz="914400">
              <a:lnSpc>
                <a:spcPct val="100000"/>
              </a:lnSpc>
              <a:spcBef>
                <a:spcPts val="0"/>
              </a:spcBef>
              <a:spcAft>
                <a:spcPts val="0"/>
              </a:spcAft>
              <a:buClrTx/>
              <a:buSzTx/>
              <a:buFontTx/>
              <a:buNone/>
            </a:pPr>
            <a:endParaRPr/>
          </a:p>
          <a:p>
            <a:pPr marL="0" marR="0" lvl="0" indent="0" algn="l" defTabSz="914400">
              <a:lnSpc>
                <a:spcPct val="100000"/>
              </a:lnSpc>
              <a:spcBef>
                <a:spcPts val="0"/>
              </a:spcBef>
              <a:spcAft>
                <a:spcPts val="0"/>
              </a:spcAft>
              <a:buClrTx/>
              <a:buSzTx/>
              <a:buFontTx/>
              <a:buNone/>
            </a:pPr>
            <a:r>
              <a:t>Tesi, cap. 2 e 5: SegFormer-B0 QAT mIoU 76.93%, 3.72M parametri; DeepLabV3+ MobileNetV2 QAT mIoU 65.63%, 4.38M parametri. La quantizzazione cambia la precisione dei pesi, non il conteggio architetturale di riferimento.</a:t>
            </a:r>
          </a:p>
          <a:p>
            <a:pPr marL="0" marR="0" lvl="0" indent="0" algn="l" defTabSz="914400">
              <a:lnSpc>
                <a:spcPct val="100000"/>
              </a:lnSpc>
              <a:spcBef>
                <a:spcPts val="0"/>
              </a:spcBef>
              <a:spcAft>
                <a:spcPts val="0"/>
              </a:spcAft>
              <a:buClrTx/>
              <a:buSzTx/>
              <a:buFontTx/>
              <a:buNone/>
            </a:pPr>
            <a:endParaRPr/>
          </a:p>
          <a:p>
            <a:pPr marL="0" marR="0" lvl="0" indent="0" algn="l" defTabSz="914400">
              <a:lnSpc>
                <a:spcPct val="100000"/>
              </a:lnSpc>
              <a:spcBef>
                <a:spcPts val="0"/>
              </a:spcBef>
              <a:spcAft>
                <a:spcPts val="0"/>
              </a:spcAft>
              <a:buClrTx/>
              <a:buSzTx/>
              <a:buFontTx/>
              <a:buNone/>
            </a:pPr>
            <a:r>
              <a:t>[5] M. Purohit et al., Mars-Bench: A Benchmark for Evaluating Foundation Models for Mars Science Tasks, NeurIPS Datasets and Benchmarks, 2025. https://arxiv.org/abs/2510.24010 . I valori numerici qui riportati provengono dal CSV pubblico del leaderboard, non da una lettura a occhio dei violin plot: https://huggingface.co/spaces/Mirali33/Mars-Bench/blob/main/data/segmentation.csv . S5Mars IoU: U-Net 0.1777; DeepLabV3+ 0.1674; SegFormer 0.1606; DPT 0.1806. Il CSV non indica regime di training, selezione dei checkpoint o aggregazione dei seed. Il codice pubblico calcola una media delle IoU per classe; prima di un confronto controllato occorre riallineare training, preprocessing, codifica delle classi e gestione dei pixel non annotati.</a:t>
            </a:r>
          </a:p>
          <a:p>
            <a:pPr marL="0" marR="0" lvl="0" indent="0" algn="l" defTabSz="914400">
              <a:lnSpc>
                <a:spcPct val="100000"/>
              </a:lnSpc>
              <a:spcBef>
                <a:spcPts val="0"/>
              </a:spcBef>
              <a:spcAft>
                <a:spcPts val="0"/>
              </a:spcAft>
              <a:buClrTx/>
              <a:buSzTx/>
              <a:buFontTx/>
              <a:buNone/>
            </a:pPr>
            <a:endParaRPr/>
          </a:p>
          <a:p>
            <a:pPr marL="0" marR="0" lvl="0" indent="0" algn="l" defTabSz="914400">
              <a:lnSpc>
                <a:spcPct val="100000"/>
              </a:lnSpc>
              <a:spcBef>
                <a:spcPts val="0"/>
              </a:spcBef>
              <a:spcAft>
                <a:spcPts val="0"/>
              </a:spcAft>
              <a:buClrTx/>
              <a:buSzTx/>
              <a:buFontTx/>
              <a:buNone/>
            </a:pPr>
            <a:r>
              <a:t>Stime dei parametri: configurazioni pubbliche a commit 8df5c160528d64778a53afaf07a63fba305f65b9, https://github.com/kerner-lab/Mars-Bench/tree/8df5c160528d64778a53afaf07a63fba305f65b9/marsbench/configs/model/segmentation ; implementazioni https://github.com/kerner-lab/Mars-Bench/tree/8df5c160528d64778a53afaf07a63fba305f65b9/marsbench/models/segmentation . U-Net, DeepLabV3+ e SegFormer usano ResNet34 nei file rilasciati; non assumere che il SegFormer di quel codice sia MiT-B0. DPT usa tu-vit_base_patch16_224.augreg_in21k.</a:t>
            </a:r>
          </a:p>
          <a:p>
            <a:pPr marL="0" marR="0" lvl="0" indent="0" algn="l" defTabSz="914400">
              <a:lnSpc>
                <a:spcPct val="100000"/>
              </a:lnSpc>
              <a:spcBef>
                <a:spcPts val="0"/>
              </a:spcBef>
              <a:spcAft>
                <a:spcPts val="0"/>
              </a:spcAft>
              <a:buClrTx/>
              <a:buSzTx/>
              <a:buFontTx/>
              <a:buNone/>
            </a:pPr>
            <a:endParaRPr/>
          </a:p>
          <a:p>
            <a:pPr marL="0" marR="0" lvl="0" indent="0" algn="l" defTabSz="914400">
              <a:lnSpc>
                <a:spcPct val="100000"/>
              </a:lnSpc>
              <a:spcBef>
                <a:spcPts val="0"/>
              </a:spcBef>
              <a:spcAft>
                <a:spcPts val="0"/>
              </a:spcAft>
              <a:buClrTx/>
              <a:buSzTx/>
              <a:buFontTx/>
              <a:buNone/>
            </a:pPr>
            <a:r>
              <a:t>Calcolo architetturale con default SMP v0.5.0 e 9 canali di uscita: https://smp.readthedocs.io/en/v0.5.0/models.html . U-Net circa 24.438M; DeepLabV3+ circa 22.440M; SegFormer circa 21.879M; DPT circa 137.808M. Sono stime basate sulle configurazioni, non conteggi effettuati sui checkpoint delle repliche. Includono pesi congelati e parametri affine delle normalizzazioni, escludono i buffer.</a:t>
            </a:r>
          </a:p>
          <a:p>
            <a:pPr marL="0" marR="0" lvl="0" indent="0" algn="l" defTabSz="914400">
              <a:lnSpc>
                <a:spcPct val="100000"/>
              </a:lnSpc>
              <a:spcBef>
                <a:spcPts val="0"/>
              </a:spcBef>
              <a:spcAft>
                <a:spcPts val="0"/>
              </a:spcAft>
              <a:buClrTx/>
              <a:buSzTx/>
              <a:buFontTx/>
              <a:buNone/>
            </a:pPr>
            <a:endParaRPr/>
          </a:p>
          <a:p>
            <a:pPr marL="0" marR="0" lvl="0" indent="0" algn="l" defTabSz="914400">
              <a:lnSpc>
                <a:spcPct val="100000"/>
              </a:lnSpc>
              <a:spcBef>
                <a:spcPts val="0"/>
              </a:spcBef>
              <a:spcAft>
                <a:spcPts val="0"/>
              </a:spcAft>
              <a:buClrTx/>
              <a:buSzTx/>
              <a:buFontTx/>
              <a:buNone/>
            </a:pPr>
            <a:r>
              <a:t>Precisazione DPT: TimmViTEncoder di SMP v0.5.0 conserva la testa classificatrice ImageNet-21k registrata dal ViT. Il timm config conferma 21,843 classi: https://huggingface.co/timm/vit_base_patch16_224.augreg_in21k/blob/main/config.json . Questa testa non è usata dal percorso di segmentazione, ma è inclusa nel totale registrato. Rimuovendola, il conteggio scenderebbe a circa 121.0M. La stima visualizzata resta circa 137.8M per il modello così costruito.</a:t>
            </a:r>
          </a:p>
          <a:p>
            <a:pPr marL="0" marR="0" lvl="0" indent="0" algn="l" defTabSz="914400">
              <a:lnSpc>
                <a:spcPct val="100000"/>
              </a:lnSpc>
              <a:spcBef>
                <a:spcPts val="0"/>
              </a:spcBef>
              <a:spcAft>
                <a:spcPts val="0"/>
              </a:spcAft>
              <a:buClrTx/>
              <a:buSzTx/>
              <a:buFontTx/>
              <a:buNone/>
            </a:pPr>
            <a:endParaRPr/>
          </a:p>
          <a:p>
            <a:pPr marL="0" marR="0" lvl="0" indent="0" algn="l" defTabSz="914400">
              <a:lnSpc>
                <a:spcPct val="100000"/>
              </a:lnSpc>
              <a:spcBef>
                <a:spcPts val="0"/>
              </a:spcBef>
              <a:spcAft>
                <a:spcPts val="0"/>
              </a:spcAft>
              <a:buClrTx/>
              <a:buSzTx/>
              <a:buFontTx/>
              <a:buNone/>
            </a:pPr>
            <a:r>
              <a:t>Fonti consultate il 20 ottobre 2026.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239490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40418-822D-56A7-CF06-8142F31A6B69}"/>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018E62E-0105-BEF7-01C1-7F23B9F098E4}"/>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B922D827-6CBD-9441-8112-34502DCC07BB}"/>
              </a:ext>
            </a:extLst>
          </p:cNvPr>
          <p:cNvSpPr>
            <a:spLocks noGrp="1"/>
          </p:cNvSpPr>
          <p:nvPr>
            <p:ph type="body" idx="1"/>
          </p:nvPr>
        </p:nvSpPr>
        <p:spPr/>
        <p:txBody>
          <a:bodyPr/>
          <a:lstStyle/>
          <a:p>
            <a:r>
              <a:rPr lang="it-IT"/>
              <a:t>[Slide extra. Discorso facoltativo da usare durante le domande, fuori dai 15 minuti.]</a:t>
            </a:r>
          </a:p>
          <a:p>
            <a:endParaRPr lang="it-IT"/>
          </a:p>
          <a:p>
            <a:r>
              <a:rPr lang="it-IT"/>
              <a:t>La tabella completa mostra che il vantaggio della precisione ridotta dipende dalla configurazione. QAT SegFormer raggiunge la migliore mIoU, mentre QAT DeepLabV3+ MobileNetV2 ha l’energia più bassa. Ci sono però eccezioni a una preferenza generale per QAT: DeepLabV3 ResNet34 con PTQ ha latenza ed energia inferiori alla sua versione QAT. Inoltre cambiano anche i backend di esecuzione, quindi confrontiamo configurazioni di deployment complete. INT8 è selettivo, in SegFormer limitato alle convoluzioni; l’energia riguarda la GPU durante l’inferenza ed è espressa qui in millijoule per immagine.</a:t>
            </a:r>
          </a:p>
          <a:p>
            <a:endParaRPr lang="it-IT"/>
          </a:p>
          <a:p>
            <a:r>
              <a:rPr lang="it-IT"/>
              <a:t>[Fonti di supporto, non da leggere: Tesi, cap. 5, tabella completa della quantizzazione; cap. 2, configurazioni di deployment.]</a:t>
            </a:r>
            <a:endParaRPr/>
          </a:p>
        </p:txBody>
      </p:sp>
      <p:sp>
        <p:nvSpPr>
          <p:cNvPr id="4" name="Segnaposto numero diapositiva 3">
            <a:extLst>
              <a:ext uri="{FF2B5EF4-FFF2-40B4-BE49-F238E27FC236}">
                <a16:creationId xmlns:a16="http://schemas.microsoft.com/office/drawing/2014/main" id="{68FD75B6-2DE2-E8B8-A886-B09506C73BC2}"/>
              </a:ext>
            </a:extLst>
          </p:cNvPr>
          <p:cNvSpPr>
            <a:spLocks noGrp="1"/>
          </p:cNvSpPr>
          <p:nvPr>
            <p:ph type="sldNum" sz="quarter" idx="5"/>
          </p:nvPr>
        </p:nvSpPr>
        <p:spPr/>
        <p:txBody>
          <a:bodyPr/>
          <a:lstStyle/>
          <a:p>
            <a:fld id="{98FF6D0F-8D8B-42DD-BAAB-92498700177C}" type="slidenum">
              <a:rPr lang="it-IT" smtClean="0"/>
              <a:t>43</a:t>
            </a:fld>
            <a:endParaRPr lang="it-IT"/>
          </a:p>
        </p:txBody>
      </p:sp>
    </p:spTree>
    <p:extLst>
      <p:ext uri="{BB962C8B-B14F-4D97-AF65-F5344CB8AC3E}">
        <p14:creationId xmlns:p14="http://schemas.microsoft.com/office/powerpoint/2010/main" val="236639041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79817-3CA5-FAB7-0378-F8000A35F02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A71184B6-8B89-B591-6CF3-E6163F5C56E1}"/>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5EA137F3-05DF-FCB9-8D17-4BE9B32E931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[Slide extra. Discorso facoltativo da usare durante le domande, fuori dai 15 minuti.]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Questa è la valutazione completa a livello di immagine sulle 808 osservazioni del test in posa A, cioè 404 coppie normale-danneggiata. PatchCore-L è primo sia per AUROC, 86,43 per cento, sia per Average Precision, 88,63. SuperSimpleNet è secondo, mentre le due varianti TinyGLASS sono molto vicine per AUROC. Queste metriche descrivono l’ordinamento dei punteggi al variare della soglia; per un utilizzo operativo andrebbero scelte soglie su validation e misurati falsi allarmi e danni mancati su test indipendente.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6, tabella completa dei risultati di detection.]</a:t>
            </a:r>
            <a:endParaRPr lang="it-IT" dirty="0"/>
          </a:p>
        </p:txBody>
      </p:sp>
      <p:sp>
        <p:nvSpPr>
          <p:cNvPr id="4" name="Segnaposto numero diapositiva 3">
            <a:extLst>
              <a:ext uri="{FF2B5EF4-FFF2-40B4-BE49-F238E27FC236}">
                <a16:creationId xmlns:a16="http://schemas.microsoft.com/office/drawing/2014/main" id="{6A0BDDAF-C2F7-D60F-21A2-FEBF55243E72}"/>
              </a:ext>
            </a:extLst>
          </p:cNvPr>
          <p:cNvSpPr>
            <a:spLocks noGrp="1"/>
          </p:cNvSpPr>
          <p:nvPr>
            <p:ph type="sldNum" sz="quarter" idx="5"/>
          </p:nvPr>
        </p:nvSpPr>
        <p:spPr/>
        <p:txBody>
          <a:bodyPr/>
          <a:lstStyle/>
          <a:p>
            <a:fld id="{98FF6D0F-8D8B-42DD-BAAB-92498700177C}" type="slidenum">
              <a:rPr lang="it-IT" smtClean="0"/>
              <a:t>44</a:t>
            </a:fld>
            <a:endParaRPr lang="it-IT"/>
          </a:p>
        </p:txBody>
      </p:sp>
    </p:spTree>
    <p:extLst>
      <p:ext uri="{BB962C8B-B14F-4D97-AF65-F5344CB8AC3E}">
        <p14:creationId xmlns:p14="http://schemas.microsoft.com/office/powerpoint/2010/main" val="146152905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D2B15-8604-6B70-FBF1-A4B82C29563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273EAE82-6ACC-99E4-A972-75EC79F538EB}"/>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2CB144E0-84D1-9B00-7968-E9F70B57176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[Slide extra. Discorso facoltativo da usare durante le domande, fuori dai 15 minuti.]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Le metriche spaziali evidenziano differenze rispetto alla sola detection. PatchCore-L ottiene la Pixel AP più alta, 42,89 per cento, mentre PatchCore-S prevale nella Pixel AUROC e nell’AUPRO. Quest’ultima misura la copertura delle regioni anomale al variare del tasso di falsi positivi ed è normalizzata fino al limite indicato in ciascuna colonna. Con difetti piccoli, un basso tasso di falsi positivi può comunque corrispondere a molti pixel erroneamente segnalati. Per questo una Pixel AUROC molto alta può coesistere con una precisione limitata: conviene leggere insieme AP, AUPRO e mappe qualitative.</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4, metriche; cap. 6, tabella completa della localizzazione.]</a:t>
            </a:r>
            <a:endParaRPr lang="it-IT" dirty="0"/>
          </a:p>
        </p:txBody>
      </p:sp>
      <p:sp>
        <p:nvSpPr>
          <p:cNvPr id="4" name="Segnaposto numero diapositiva 3">
            <a:extLst>
              <a:ext uri="{FF2B5EF4-FFF2-40B4-BE49-F238E27FC236}">
                <a16:creationId xmlns:a16="http://schemas.microsoft.com/office/drawing/2014/main" id="{EFA79960-8929-661B-DDE2-2947423ED95E}"/>
              </a:ext>
            </a:extLst>
          </p:cNvPr>
          <p:cNvSpPr>
            <a:spLocks noGrp="1"/>
          </p:cNvSpPr>
          <p:nvPr>
            <p:ph type="sldNum" sz="quarter" idx="5"/>
          </p:nvPr>
        </p:nvSpPr>
        <p:spPr/>
        <p:txBody>
          <a:bodyPr/>
          <a:lstStyle/>
          <a:p>
            <a:fld id="{98FF6D0F-8D8B-42DD-BAAB-92498700177C}" type="slidenum">
              <a:rPr lang="it-IT" smtClean="0"/>
              <a:t>45</a:t>
            </a:fld>
            <a:endParaRPr lang="it-IT"/>
          </a:p>
        </p:txBody>
      </p:sp>
    </p:spTree>
    <p:extLst>
      <p:ext uri="{BB962C8B-B14F-4D97-AF65-F5344CB8AC3E}">
        <p14:creationId xmlns:p14="http://schemas.microsoft.com/office/powerpoint/2010/main" val="345039278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4CB2D9-9399-6B82-B61E-4031BFD809F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96D65609-112B-8850-8F8C-A389C393420A}"/>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A3FD0546-55AE-450B-B508-658C32C7584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[Slide extra. Discorso facoltativo da usare durante le domande, fuori dai 15 minuti.]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U-Net combina un percorso di compressione, che estrae informazioni semantiche, con un decoder che recupera la risoluzione spaziale. Le connessioni tra livelli corrispondenti aiutano a conservare dettagli utili ai bordi delle classi. Questa è la figura originale della famiglia: negli esperimenti della tesi il percorso di codifica è sostituito con ResNet34 oppure MobileNetV2. Il confronto serve quindi anche a valutare quanto si possa alleggerire l’encoder mantenendo la qualità.</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2, U-Net; figura originale del riferimento [6].]</a:t>
            </a:r>
            <a:endParaRPr lang="it-IT" dirty="0"/>
          </a:p>
        </p:txBody>
      </p:sp>
      <p:sp>
        <p:nvSpPr>
          <p:cNvPr id="4" name="Segnaposto numero diapositiva 3">
            <a:extLst>
              <a:ext uri="{FF2B5EF4-FFF2-40B4-BE49-F238E27FC236}">
                <a16:creationId xmlns:a16="http://schemas.microsoft.com/office/drawing/2014/main" id="{9D36198E-03B6-028F-4CBB-7615ACB5D21F}"/>
              </a:ext>
            </a:extLst>
          </p:cNvPr>
          <p:cNvSpPr>
            <a:spLocks noGrp="1"/>
          </p:cNvSpPr>
          <p:nvPr>
            <p:ph type="sldNum" sz="quarter" idx="5"/>
          </p:nvPr>
        </p:nvSpPr>
        <p:spPr/>
        <p:txBody>
          <a:bodyPr/>
          <a:lstStyle/>
          <a:p>
            <a:fld id="{98FF6D0F-8D8B-42DD-BAAB-92498700177C}" type="slidenum">
              <a:rPr lang="it-IT" smtClean="0"/>
              <a:t>46</a:t>
            </a:fld>
            <a:endParaRPr lang="it-IT"/>
          </a:p>
        </p:txBody>
      </p:sp>
    </p:spTree>
    <p:extLst>
      <p:ext uri="{BB962C8B-B14F-4D97-AF65-F5344CB8AC3E}">
        <p14:creationId xmlns:p14="http://schemas.microsoft.com/office/powerpoint/2010/main" val="333839921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6D36A7-32F8-2BDA-D72C-743E0298D8E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ABD8AB8C-0AB9-C858-38F4-6DA2DA39FCD0}"/>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F25224F5-6BE0-857C-7BFD-F744EDD6553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[Slide extra. Discorso facoltativo da usare durante le domande, fuori dai 15 minuti.]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DeepLabV3 usa convoluzioni dilatate per aumentare il campo ricettivo senza ridurre ulteriormente la risoluzione delle feature. Il modulo ASPP combina rami con diversi tassi di dilatazione e un contributo di contesto globale. Questo aiuta a descrivere oggetti e regioni di scala diversa. Nella tesi ho valutato la configurazione con ResNet34: il buon risultato di segmentazione va confrontato con il suo maggiore costo di inferenza.</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2, DeepLabV3; figura originale del riferimento [7].]</a:t>
            </a:r>
            <a:endParaRPr lang="it-IT" dirty="0"/>
          </a:p>
        </p:txBody>
      </p:sp>
      <p:sp>
        <p:nvSpPr>
          <p:cNvPr id="4" name="Segnaposto numero diapositiva 3">
            <a:extLst>
              <a:ext uri="{FF2B5EF4-FFF2-40B4-BE49-F238E27FC236}">
                <a16:creationId xmlns:a16="http://schemas.microsoft.com/office/drawing/2014/main" id="{F4C356D1-910D-165B-1017-5F2C0C37A1C3}"/>
              </a:ext>
            </a:extLst>
          </p:cNvPr>
          <p:cNvSpPr>
            <a:spLocks noGrp="1"/>
          </p:cNvSpPr>
          <p:nvPr>
            <p:ph type="sldNum" sz="quarter" idx="5"/>
          </p:nvPr>
        </p:nvSpPr>
        <p:spPr/>
        <p:txBody>
          <a:bodyPr/>
          <a:lstStyle/>
          <a:p>
            <a:fld id="{98FF6D0F-8D8B-42DD-BAAB-92498700177C}" type="slidenum">
              <a:rPr lang="it-IT" smtClean="0"/>
              <a:t>47</a:t>
            </a:fld>
            <a:endParaRPr lang="it-IT"/>
          </a:p>
        </p:txBody>
      </p:sp>
    </p:spTree>
    <p:extLst>
      <p:ext uri="{BB962C8B-B14F-4D97-AF65-F5344CB8AC3E}">
        <p14:creationId xmlns:p14="http://schemas.microsoft.com/office/powerpoint/2010/main" val="237230029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5F938-C1B6-C7F1-901A-1FC381B5F60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0EB30F4-35C0-7405-BFE7-6563EF9E961F}"/>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AC439B20-C7F4-3EEF-3BDF-018648537EF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[Slide extra. Discorso facoltativo da usare durante le domande, fuori dai 15 minuti.]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DeepLabV3+ mantiene l’estrazione multiscala di DeepLab e aggiunge un decoder che combina il contesto semantico con feature a risoluzione più alta. Le convoluzioni separabili aiutano a contenere il costo. La figura descrive l’architettura generale; negli esperimenti uso MobileNetV2 come backbone. Questa configurazione è interessante soprattutto per l’efficienza: con QAT è quella con la minore energia GPU per immagine tra i modelli di segmentazione riportati.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2, DeepLabV3+; figura originale del riferimento [8].]</a:t>
            </a:r>
            <a:endParaRPr lang="it-IT" dirty="0"/>
          </a:p>
        </p:txBody>
      </p:sp>
      <p:sp>
        <p:nvSpPr>
          <p:cNvPr id="4" name="Segnaposto numero diapositiva 3">
            <a:extLst>
              <a:ext uri="{FF2B5EF4-FFF2-40B4-BE49-F238E27FC236}">
                <a16:creationId xmlns:a16="http://schemas.microsoft.com/office/drawing/2014/main" id="{290257FE-1F61-F506-9E0C-7A8AAEDEFABF}"/>
              </a:ext>
            </a:extLst>
          </p:cNvPr>
          <p:cNvSpPr>
            <a:spLocks noGrp="1"/>
          </p:cNvSpPr>
          <p:nvPr>
            <p:ph type="sldNum" sz="quarter" idx="5"/>
          </p:nvPr>
        </p:nvSpPr>
        <p:spPr/>
        <p:txBody>
          <a:bodyPr/>
          <a:lstStyle/>
          <a:p>
            <a:fld id="{98FF6D0F-8D8B-42DD-BAAB-92498700177C}" type="slidenum">
              <a:rPr lang="it-IT" smtClean="0"/>
              <a:t>48</a:t>
            </a:fld>
            <a:endParaRPr lang="it-IT"/>
          </a:p>
        </p:txBody>
      </p:sp>
    </p:spTree>
    <p:extLst>
      <p:ext uri="{BB962C8B-B14F-4D97-AF65-F5344CB8AC3E}">
        <p14:creationId xmlns:p14="http://schemas.microsoft.com/office/powerpoint/2010/main" val="84235949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3CB4F1-FF5E-2D6F-510D-0FD008FB845F}"/>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93CCB99E-753F-3E16-CDA9-E40B2C566CBC}"/>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4D1C46F-D949-0C8C-026A-6CD814E4C8E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[Slide extra. Discorso facoltativo da usare durante le domande, fuori dai 15 minuti.]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SegFormer usa un encoder transformer gerarchico, che produce feature a più risoluzioni, e un decoder MLP relativamente semplice per combinarle. La variante B0 mantiene il modello compatto, con circa 3,7 milioni di parametri. Nel nostro confronto offre la migliore mIoU di test e una migliore generalizzazione tra i due domini MarsSeg rispetto alle CNN considerate. La quantizzazione sperimentata resta però selettiva: attenzione, proiezioni lineari e alcune altre operazioni non diventano tutte INT8.</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2, SegFormer; figura originale del riferimento [9].]</a:t>
            </a:r>
            <a:endParaRPr lang="it-IT" dirty="0"/>
          </a:p>
        </p:txBody>
      </p:sp>
      <p:sp>
        <p:nvSpPr>
          <p:cNvPr id="4" name="Segnaposto numero diapositiva 3">
            <a:extLst>
              <a:ext uri="{FF2B5EF4-FFF2-40B4-BE49-F238E27FC236}">
                <a16:creationId xmlns:a16="http://schemas.microsoft.com/office/drawing/2014/main" id="{BC6905F3-DDDC-AE8A-0013-B25212C67F59}"/>
              </a:ext>
            </a:extLst>
          </p:cNvPr>
          <p:cNvSpPr>
            <a:spLocks noGrp="1"/>
          </p:cNvSpPr>
          <p:nvPr>
            <p:ph type="sldNum" sz="quarter" idx="5"/>
          </p:nvPr>
        </p:nvSpPr>
        <p:spPr/>
        <p:txBody>
          <a:bodyPr/>
          <a:lstStyle/>
          <a:p>
            <a:fld id="{98FF6D0F-8D8B-42DD-BAAB-92498700177C}" type="slidenum">
              <a:rPr lang="it-IT" smtClean="0"/>
              <a:t>49</a:t>
            </a:fld>
            <a:endParaRPr lang="it-IT"/>
          </a:p>
        </p:txBody>
      </p:sp>
    </p:spTree>
    <p:extLst>
      <p:ext uri="{BB962C8B-B14F-4D97-AF65-F5344CB8AC3E}">
        <p14:creationId xmlns:p14="http://schemas.microsoft.com/office/powerpoint/2010/main" val="153540719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A4B0B-1BDB-05EA-E7E8-AEB829F1F0CD}"/>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75FC4910-8404-9EAC-B63E-810F8AF0B939}"/>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9E79C577-4AAF-AEE7-4117-7B4415FAE59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[Slide extra. Discorso facoltativo da usare durante le domande, fuori dai 15 minuti.]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LCNet è progettato per la segmentazione leggera e limita parte delle trasformazioni ai canali selezionati, cercando di mantenere informazioni di contesto con un numero ridotto di parametri. Ho provato le configurazioni 3,7 e 3,11, rispettivamente intorno a 0,51 e 0,73 milioni di parametri. Sono addestrate da zero e per più epoche rispetto agli altri modelli. I risultati mostrano che questa forte compattezza comporta, nelle configurazioni provate, una mIoU inferiore.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2, LCNet; figura originale del riferimento [10].]</a:t>
            </a:r>
            <a:endParaRPr lang="it-IT" dirty="0"/>
          </a:p>
        </p:txBody>
      </p:sp>
      <p:sp>
        <p:nvSpPr>
          <p:cNvPr id="4" name="Segnaposto numero diapositiva 3">
            <a:extLst>
              <a:ext uri="{FF2B5EF4-FFF2-40B4-BE49-F238E27FC236}">
                <a16:creationId xmlns:a16="http://schemas.microsoft.com/office/drawing/2014/main" id="{45A0D0ED-F71B-4905-5E9D-2DFEF45988F5}"/>
              </a:ext>
            </a:extLst>
          </p:cNvPr>
          <p:cNvSpPr>
            <a:spLocks noGrp="1"/>
          </p:cNvSpPr>
          <p:nvPr>
            <p:ph type="sldNum" sz="quarter" idx="5"/>
          </p:nvPr>
        </p:nvSpPr>
        <p:spPr/>
        <p:txBody>
          <a:bodyPr/>
          <a:lstStyle/>
          <a:p>
            <a:fld id="{98FF6D0F-8D8B-42DD-BAAB-92498700177C}" type="slidenum">
              <a:rPr lang="it-IT" smtClean="0"/>
              <a:t>50</a:t>
            </a:fld>
            <a:endParaRPr lang="it-IT"/>
          </a:p>
        </p:txBody>
      </p:sp>
    </p:spTree>
    <p:extLst>
      <p:ext uri="{BB962C8B-B14F-4D97-AF65-F5344CB8AC3E}">
        <p14:creationId xmlns:p14="http://schemas.microsoft.com/office/powerpoint/2010/main" val="398774161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10AAE-E522-D608-A08A-404B8E2E760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7DF988BD-A3FB-36EC-F84C-198F7DA9CEC7}"/>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2FA2037-C44E-CF0A-8CBA-25FE625FFE3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[Slide extra. Discorso facoltativo da usare durante le domande, fuori dai 15 minuti.]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In PatchCore, un estrattore preaddestrato e fisso produce descrittori delle patch normali. Un sottoinsieme rappresentativo forma la memory bank. Durante l’inferenza, la distanza dai descrittori più vicini genera i punteggi locali e il punteggio dell’immagine. Nella tesi la banca contiene cinquantamila descrittori per entrambe le versioni. Il costo dipende anche dal numero di patch da confrontare: la configurazione Small usa una griglia più densa e, pur avendo un backbone più piccolo, risulta più lenta della Large.</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4 e 6, PatchCore; figura originale del riferimento [16].]</a:t>
            </a:r>
            <a:endParaRPr lang="it-IT" dirty="0"/>
          </a:p>
        </p:txBody>
      </p:sp>
      <p:sp>
        <p:nvSpPr>
          <p:cNvPr id="4" name="Segnaposto numero diapositiva 3">
            <a:extLst>
              <a:ext uri="{FF2B5EF4-FFF2-40B4-BE49-F238E27FC236}">
                <a16:creationId xmlns:a16="http://schemas.microsoft.com/office/drawing/2014/main" id="{FBCABB7E-DCC0-E3EA-E16A-CDC46A446EDC}"/>
              </a:ext>
            </a:extLst>
          </p:cNvPr>
          <p:cNvSpPr>
            <a:spLocks noGrp="1"/>
          </p:cNvSpPr>
          <p:nvPr>
            <p:ph type="sldNum" sz="quarter" idx="5"/>
          </p:nvPr>
        </p:nvSpPr>
        <p:spPr/>
        <p:txBody>
          <a:bodyPr/>
          <a:lstStyle/>
          <a:p>
            <a:fld id="{98FF6D0F-8D8B-42DD-BAAB-92498700177C}" type="slidenum">
              <a:rPr lang="it-IT" smtClean="0"/>
              <a:t>51</a:t>
            </a:fld>
            <a:endParaRPr lang="it-IT"/>
          </a:p>
        </p:txBody>
      </p:sp>
    </p:spTree>
    <p:extLst>
      <p:ext uri="{BB962C8B-B14F-4D97-AF65-F5344CB8AC3E}">
        <p14:creationId xmlns:p14="http://schemas.microsoft.com/office/powerpoint/2010/main" val="278885485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C3A216-8690-F4CE-4AEF-DE7ED001C457}"/>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41B5BD75-2A03-EB81-5F62-907F3D6BD09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EC4A8DE8-BB2E-B406-6669-67705248D4F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[Slide extra. Discorso facoltativo da usare durante le domande, fuori dai 15 minuti.]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EfficientAD combina un teacher fisso con uno student addestrato sulle immagini normali. Se lo student non riproduce bene le feature del teacher in una regione, quella differenza contribuisce alla mappa di anomalia. Un autoencoder aggiunge un controllo del contesto globale e i contributi vengono calibrati sui dati normali di validation. La figura illustra il metodo generale, comprese anomalie strutturali e logiche; la nostra applicazione riguarda invece le perforazioni e non riproduce tutti gli scenari del lavoro originale.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4, EfficientAD-S; figura originale del riferimento [17].]</a:t>
            </a:r>
            <a:endParaRPr lang="it-IT" dirty="0"/>
          </a:p>
        </p:txBody>
      </p:sp>
      <p:sp>
        <p:nvSpPr>
          <p:cNvPr id="4" name="Segnaposto numero diapositiva 3">
            <a:extLst>
              <a:ext uri="{FF2B5EF4-FFF2-40B4-BE49-F238E27FC236}">
                <a16:creationId xmlns:a16="http://schemas.microsoft.com/office/drawing/2014/main" id="{65B6D6D2-A756-6E0B-A781-73D54E6CED06}"/>
              </a:ext>
            </a:extLst>
          </p:cNvPr>
          <p:cNvSpPr>
            <a:spLocks noGrp="1"/>
          </p:cNvSpPr>
          <p:nvPr>
            <p:ph type="sldNum" sz="quarter" idx="5"/>
          </p:nvPr>
        </p:nvSpPr>
        <p:spPr/>
        <p:txBody>
          <a:bodyPr/>
          <a:lstStyle/>
          <a:p>
            <a:fld id="{98FF6D0F-8D8B-42DD-BAAB-92498700177C}" type="slidenum">
              <a:rPr lang="it-IT" smtClean="0"/>
              <a:t>52</a:t>
            </a:fld>
            <a:endParaRPr lang="it-IT"/>
          </a:p>
        </p:txBody>
      </p:sp>
    </p:spTree>
    <p:extLst>
      <p:ext uri="{BB962C8B-B14F-4D97-AF65-F5344CB8AC3E}">
        <p14:creationId xmlns:p14="http://schemas.microsoft.com/office/powerpoint/2010/main" val="43415232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152DC-140A-6CF8-F70F-6577D63EB36A}"/>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BB2EF72C-F8EB-421D-8A7E-B37BF03B81B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712F8DB-07A9-1DF5-0AC1-1F429E6970A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[Slide extra. Discorso facoltativo da usare durante le domande, fuori dai 15 minuti.]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Lo schema mostra l’estrazione delle feature e la creazione di anomalie artificiali durante il training. Il modello impara congiuntamente a produrre una mappa e un punteggio per l’immagine. La formulazione generale ammette più regimi di supervisione, ma nella tesi uso soltanto dati normali e perturbazioni sintetiche delle feature. Il backbone WideResNet50 è fisso. Per il risultato principale, il punteggio dell’immagine deriva dalla media dell’uno per cento dei valori più alti della mappa grezza, non dalla sola uscita della testa di classificazione.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4, SuperSimpleNet; figura della formulazione estesa, riferimento [19].]</a:t>
            </a:r>
            <a:endParaRPr lang="it-IT" dirty="0"/>
          </a:p>
        </p:txBody>
      </p:sp>
      <p:sp>
        <p:nvSpPr>
          <p:cNvPr id="4" name="Segnaposto numero diapositiva 3">
            <a:extLst>
              <a:ext uri="{FF2B5EF4-FFF2-40B4-BE49-F238E27FC236}">
                <a16:creationId xmlns:a16="http://schemas.microsoft.com/office/drawing/2014/main" id="{82315368-2230-6083-DD82-23ED0DAEB30F}"/>
              </a:ext>
            </a:extLst>
          </p:cNvPr>
          <p:cNvSpPr>
            <a:spLocks noGrp="1"/>
          </p:cNvSpPr>
          <p:nvPr>
            <p:ph type="sldNum" sz="quarter" idx="5"/>
          </p:nvPr>
        </p:nvSpPr>
        <p:spPr/>
        <p:txBody>
          <a:bodyPr/>
          <a:lstStyle/>
          <a:p>
            <a:fld id="{98FF6D0F-8D8B-42DD-BAAB-92498700177C}" type="slidenum">
              <a:rPr lang="it-IT" smtClean="0"/>
              <a:t>53</a:t>
            </a:fld>
            <a:endParaRPr lang="it-IT"/>
          </a:p>
        </p:txBody>
      </p:sp>
    </p:spTree>
    <p:extLst>
      <p:ext uri="{BB962C8B-B14F-4D97-AF65-F5344CB8AC3E}">
        <p14:creationId xmlns:p14="http://schemas.microsoft.com/office/powerpoint/2010/main" val="63298845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F753AB-0C4C-4158-90DE-A2670C3BDEB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5AA9D39-1D13-339D-1A82-631ED0CC336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0CB0C66-FB26-43BE-9711-2FB4F118029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a:t>[Slide extra. Discorso facoltativo da usare durante le domande, fuori dai 15 minuti.]</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TinyGLASS combina anomalie locali sintetizzate nello spazio dell’immagine e perturbazioni guidate nello spazio delle feature. Questi meccanismi servono al training; in inferenza rimane un percorso diretto di predizione. La figura è quella originale: nella nostra implementazione il backbone ResNet18 è fisso e uso pooling delle feature senza l’adapter addestrabile separato mostrato nello schema. Le varianti a 384 e 512 pixel differiscono anche per griglia di feature e smoothing. Perciò il loro confronto riguarda configurazioni complete, non il solo effetto della risoluzione.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it-IT"/>
          </a:p>
          <a:p>
            <a:pPr marL="0" marR="0" lvl="0" indent="0" algn="l" defTabSz="914400" rtl="0" eaLnBrk="1" fontAlgn="auto" latinLnBrk="0" hangingPunct="1">
              <a:lnSpc>
                <a:spcPct val="100000"/>
              </a:lnSpc>
              <a:spcBef>
                <a:spcPts val="0"/>
              </a:spcBef>
              <a:spcAft>
                <a:spcPts val="0"/>
              </a:spcAft>
              <a:buClrTx/>
              <a:buSzTx/>
              <a:buFontTx/>
              <a:buNone/>
              <a:tabLst/>
              <a:defRPr/>
            </a:pPr>
            <a:r>
              <a:rPr lang="it-IT"/>
              <a:t>[Fonti di supporto, non da leggere: Tesi, cap. 4 e 6, TinyGLASS; figura originale del riferimento [20], CC BY 4.0.]</a:t>
            </a:r>
            <a:endParaRPr lang="it-IT" dirty="0"/>
          </a:p>
        </p:txBody>
      </p:sp>
      <p:sp>
        <p:nvSpPr>
          <p:cNvPr id="4" name="Segnaposto numero diapositiva 3">
            <a:extLst>
              <a:ext uri="{FF2B5EF4-FFF2-40B4-BE49-F238E27FC236}">
                <a16:creationId xmlns:a16="http://schemas.microsoft.com/office/drawing/2014/main" id="{1C0096FB-8A97-C1AF-6F9E-003C48F97828}"/>
              </a:ext>
            </a:extLst>
          </p:cNvPr>
          <p:cNvSpPr>
            <a:spLocks noGrp="1"/>
          </p:cNvSpPr>
          <p:nvPr>
            <p:ph type="sldNum" sz="quarter" idx="5"/>
          </p:nvPr>
        </p:nvSpPr>
        <p:spPr/>
        <p:txBody>
          <a:bodyPr/>
          <a:lstStyle/>
          <a:p>
            <a:fld id="{98FF6D0F-8D8B-42DD-BAAB-92498700177C}" type="slidenum">
              <a:rPr lang="it-IT" smtClean="0"/>
              <a:t>54</a:t>
            </a:fld>
            <a:endParaRPr lang="it-IT"/>
          </a:p>
        </p:txBody>
      </p:sp>
    </p:spTree>
    <p:extLst>
      <p:ext uri="{BB962C8B-B14F-4D97-AF65-F5344CB8AC3E}">
        <p14:creationId xmlns:p14="http://schemas.microsoft.com/office/powerpoint/2010/main" val="144595940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F803789-FAE9-AE5F-D149-3256DF9141E0}"/>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BC36B48D-A499-6D9B-42D3-F50BA2FF77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A6F88E66-1BB0-C228-8C64-9FEA351E50C1}"/>
              </a:ext>
            </a:extLst>
          </p:cNvPr>
          <p:cNvSpPr>
            <a:spLocks noGrp="1"/>
          </p:cNvSpPr>
          <p:nvPr>
            <p:ph type="dt" sz="half" idx="10"/>
          </p:nvPr>
        </p:nvSpPr>
        <p:spPr/>
        <p:txBody>
          <a:bodyPr/>
          <a:lstStyle/>
          <a:p>
            <a:fld id="{79A8DD84-C996-4DFC-A6C4-7C5817C05F19}" type="datetimeFigureOut">
              <a:rPr lang="it-IT" smtClean="0"/>
              <a:t>23/10/2026</a:t>
            </a:fld>
            <a:endParaRPr lang="it-IT"/>
          </a:p>
        </p:txBody>
      </p:sp>
      <p:sp>
        <p:nvSpPr>
          <p:cNvPr id="5" name="Segnaposto piè di pagina 4">
            <a:extLst>
              <a:ext uri="{FF2B5EF4-FFF2-40B4-BE49-F238E27FC236}">
                <a16:creationId xmlns:a16="http://schemas.microsoft.com/office/drawing/2014/main" id="{2486D332-8FF2-D84A-E2CB-2C81A93D1447}"/>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154B3687-79F3-A13F-A26B-1C87C3B8AFAA}"/>
              </a:ext>
            </a:extLst>
          </p:cNvPr>
          <p:cNvSpPr>
            <a:spLocks noGrp="1"/>
          </p:cNvSpPr>
          <p:nvPr>
            <p:ph type="sldNum" sz="quarter" idx="12"/>
          </p:nvPr>
        </p:nvSpPr>
        <p:spPr/>
        <p:txBody>
          <a:bodyPr/>
          <a:lstStyle/>
          <a:p>
            <a:fld id="{F6BC9DE0-E148-4F27-888A-35D29D0A8254}" type="slidenum">
              <a:rPr lang="it-IT" smtClean="0"/>
              <a:t>‹N›</a:t>
            </a:fld>
            <a:endParaRPr lang="it-IT"/>
          </a:p>
        </p:txBody>
      </p:sp>
      <p:sp>
        <p:nvSpPr>
          <p:cNvPr id="9" name="Rettangolo 8">
            <a:extLst>
              <a:ext uri="{FF2B5EF4-FFF2-40B4-BE49-F238E27FC236}">
                <a16:creationId xmlns:a16="http://schemas.microsoft.com/office/drawing/2014/main" id="{E4DE5787-B0C3-9C56-C213-8B1D226F51A3}"/>
              </a:ext>
            </a:extLst>
          </p:cNvPr>
          <p:cNvSpPr/>
          <p:nvPr userDrawn="1"/>
        </p:nvSpPr>
        <p:spPr>
          <a:xfrm>
            <a:off x="10938617" y="68366"/>
            <a:ext cx="1153682" cy="1145137"/>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it-IT"/>
          </a:p>
        </p:txBody>
      </p:sp>
      <p:pic>
        <p:nvPicPr>
          <p:cNvPr id="7" name="Immagine 6">
            <a:extLst>
              <a:ext uri="{FF2B5EF4-FFF2-40B4-BE49-F238E27FC236}">
                <a16:creationId xmlns:a16="http://schemas.microsoft.com/office/drawing/2014/main" id="{6CEC2B1D-479D-0F04-3FAF-302109770D2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611118" y="5322193"/>
            <a:ext cx="969764" cy="969764"/>
          </a:xfrm>
          <a:prstGeom prst="rect">
            <a:avLst/>
          </a:prstGeom>
        </p:spPr>
      </p:pic>
    </p:spTree>
    <p:extLst>
      <p:ext uri="{BB962C8B-B14F-4D97-AF65-F5344CB8AC3E}">
        <p14:creationId xmlns:p14="http://schemas.microsoft.com/office/powerpoint/2010/main" val="2019983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816B67F-545E-F2F3-1CFA-1F8C9A68EC59}"/>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D6620FFD-C026-E867-AD63-592D79EC4840}"/>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3E1B5E04-C24B-D5D6-3D0A-F62E12A77008}"/>
              </a:ext>
            </a:extLst>
          </p:cNvPr>
          <p:cNvSpPr>
            <a:spLocks noGrp="1"/>
          </p:cNvSpPr>
          <p:nvPr>
            <p:ph type="dt" sz="half" idx="10"/>
          </p:nvPr>
        </p:nvSpPr>
        <p:spPr/>
        <p:txBody>
          <a:bodyPr/>
          <a:lstStyle/>
          <a:p>
            <a:fld id="{79A8DD84-C996-4DFC-A6C4-7C5817C05F19}" type="datetimeFigureOut">
              <a:rPr lang="it-IT" smtClean="0"/>
              <a:t>23/10/2026</a:t>
            </a:fld>
            <a:endParaRPr lang="it-IT"/>
          </a:p>
        </p:txBody>
      </p:sp>
      <p:sp>
        <p:nvSpPr>
          <p:cNvPr id="5" name="Segnaposto piè di pagina 4">
            <a:extLst>
              <a:ext uri="{FF2B5EF4-FFF2-40B4-BE49-F238E27FC236}">
                <a16:creationId xmlns:a16="http://schemas.microsoft.com/office/drawing/2014/main" id="{D7FE94B9-F6E8-7619-0111-44A9CEE12AE7}"/>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F5710BEB-E9FE-213D-7360-C53330E52266}"/>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10295118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B1D697E-21B5-1000-78EF-4B3ACD5CD864}"/>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3812CEF4-17FB-B235-08C1-23524B552A7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CC4A0313-0298-1377-47B1-B5F20B24602F}"/>
              </a:ext>
            </a:extLst>
          </p:cNvPr>
          <p:cNvSpPr>
            <a:spLocks noGrp="1"/>
          </p:cNvSpPr>
          <p:nvPr>
            <p:ph type="dt" sz="half" idx="10"/>
          </p:nvPr>
        </p:nvSpPr>
        <p:spPr/>
        <p:txBody>
          <a:bodyPr/>
          <a:lstStyle/>
          <a:p>
            <a:fld id="{79A8DD84-C996-4DFC-A6C4-7C5817C05F19}" type="datetimeFigureOut">
              <a:rPr lang="it-IT" smtClean="0"/>
              <a:t>23/10/2026</a:t>
            </a:fld>
            <a:endParaRPr lang="it-IT"/>
          </a:p>
        </p:txBody>
      </p:sp>
      <p:sp>
        <p:nvSpPr>
          <p:cNvPr id="5" name="Segnaposto piè di pagina 4">
            <a:extLst>
              <a:ext uri="{FF2B5EF4-FFF2-40B4-BE49-F238E27FC236}">
                <a16:creationId xmlns:a16="http://schemas.microsoft.com/office/drawing/2014/main" id="{4A9ABFBA-FFEB-FB63-FB52-7A183CD3312B}"/>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1E7B181C-3C54-EFD2-F1F5-95C0D20EEB2F}"/>
              </a:ext>
            </a:extLst>
          </p:cNvPr>
          <p:cNvSpPr>
            <a:spLocks noGrp="1"/>
          </p:cNvSpPr>
          <p:nvPr>
            <p:ph type="sldNum" sz="quarter" idx="12"/>
          </p:nvPr>
        </p:nvSpPr>
        <p:spPr/>
        <p:txBody>
          <a:bodyPr/>
          <a:lstStyle/>
          <a:p>
            <a:fld id="{F6BC9DE0-E148-4F27-888A-35D29D0A8254}" type="slidenum">
              <a:rPr lang="it-IT" smtClean="0"/>
              <a:t>‹N›</a:t>
            </a:fld>
            <a:endParaRPr lang="it-IT"/>
          </a:p>
        </p:txBody>
      </p:sp>
      <p:sp>
        <p:nvSpPr>
          <p:cNvPr id="7" name="Rettangolo 6">
            <a:extLst>
              <a:ext uri="{FF2B5EF4-FFF2-40B4-BE49-F238E27FC236}">
                <a16:creationId xmlns:a16="http://schemas.microsoft.com/office/drawing/2014/main" id="{95B49CF1-81D8-D18F-93BB-B1AB52586C7C}"/>
              </a:ext>
            </a:extLst>
          </p:cNvPr>
          <p:cNvSpPr/>
          <p:nvPr userDrawn="1"/>
        </p:nvSpPr>
        <p:spPr>
          <a:xfrm>
            <a:off x="10938617" y="68366"/>
            <a:ext cx="1153682" cy="1145137"/>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it-IT"/>
          </a:p>
        </p:txBody>
      </p:sp>
      <p:pic>
        <p:nvPicPr>
          <p:cNvPr id="10" name="Immagine 9">
            <a:extLst>
              <a:ext uri="{FF2B5EF4-FFF2-40B4-BE49-F238E27FC236}">
                <a16:creationId xmlns:a16="http://schemas.microsoft.com/office/drawing/2014/main" id="{7740D457-6C56-B3BB-5833-F6AD883A0B5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611118" y="156052"/>
            <a:ext cx="969764" cy="969764"/>
          </a:xfrm>
          <a:prstGeom prst="rect">
            <a:avLst/>
          </a:prstGeom>
        </p:spPr>
      </p:pic>
    </p:spTree>
    <p:extLst>
      <p:ext uri="{BB962C8B-B14F-4D97-AF65-F5344CB8AC3E}">
        <p14:creationId xmlns:p14="http://schemas.microsoft.com/office/powerpoint/2010/main" val="21578973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3A99D72-CA11-3389-C4A3-05808F01F9FC}"/>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FD8BE8CD-CFBF-788D-048C-6E627945DA03}"/>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8ECF094A-0AD8-118A-5A5F-2BBBA770C48D}"/>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9096324B-A6ED-6C5C-45F5-F6534A8EDBEA}"/>
              </a:ext>
            </a:extLst>
          </p:cNvPr>
          <p:cNvSpPr>
            <a:spLocks noGrp="1"/>
          </p:cNvSpPr>
          <p:nvPr>
            <p:ph type="dt" sz="half" idx="10"/>
          </p:nvPr>
        </p:nvSpPr>
        <p:spPr/>
        <p:txBody>
          <a:bodyPr/>
          <a:lstStyle/>
          <a:p>
            <a:fld id="{79A8DD84-C996-4DFC-A6C4-7C5817C05F19}" type="datetimeFigureOut">
              <a:rPr lang="it-IT" smtClean="0"/>
              <a:t>23/10/2026</a:t>
            </a:fld>
            <a:endParaRPr lang="it-IT"/>
          </a:p>
        </p:txBody>
      </p:sp>
      <p:sp>
        <p:nvSpPr>
          <p:cNvPr id="6" name="Segnaposto piè di pagina 5">
            <a:extLst>
              <a:ext uri="{FF2B5EF4-FFF2-40B4-BE49-F238E27FC236}">
                <a16:creationId xmlns:a16="http://schemas.microsoft.com/office/drawing/2014/main" id="{EF3AAECC-D6F8-D811-47C2-817A1745C4BF}"/>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BDD2689F-0EF0-256D-67D0-F67F8B2DB49D}"/>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243886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0BF4958-39EE-101C-CCB9-38505F5D46CB}"/>
              </a:ext>
            </a:extLst>
          </p:cNvPr>
          <p:cNvSpPr>
            <a:spLocks noGrp="1"/>
          </p:cNvSpPr>
          <p:nvPr>
            <p:ph type="title"/>
          </p:nvPr>
        </p:nvSpPr>
        <p:spPr>
          <a:xfrm>
            <a:off x="839788" y="365125"/>
            <a:ext cx="8478383"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FF6A501A-F474-9F9A-AD00-6351FF50FB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4DF36407-53B3-8A58-720F-D63BD3F3805E}"/>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50CE85B8-DB21-8BE8-3B07-85429916EEA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FDACF0FB-80C3-8913-D169-E7E322010910}"/>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90D540B9-2A9E-CB1D-AB07-1CD8B277A533}"/>
              </a:ext>
            </a:extLst>
          </p:cNvPr>
          <p:cNvSpPr>
            <a:spLocks noGrp="1"/>
          </p:cNvSpPr>
          <p:nvPr>
            <p:ph type="dt" sz="half" idx="10"/>
          </p:nvPr>
        </p:nvSpPr>
        <p:spPr/>
        <p:txBody>
          <a:bodyPr/>
          <a:lstStyle/>
          <a:p>
            <a:fld id="{79A8DD84-C996-4DFC-A6C4-7C5817C05F19}" type="datetimeFigureOut">
              <a:rPr lang="it-IT" smtClean="0"/>
              <a:t>23/10/2026</a:t>
            </a:fld>
            <a:endParaRPr lang="it-IT"/>
          </a:p>
        </p:txBody>
      </p:sp>
      <p:sp>
        <p:nvSpPr>
          <p:cNvPr id="8" name="Segnaposto piè di pagina 7">
            <a:extLst>
              <a:ext uri="{FF2B5EF4-FFF2-40B4-BE49-F238E27FC236}">
                <a16:creationId xmlns:a16="http://schemas.microsoft.com/office/drawing/2014/main" id="{5EB473A4-1A5D-100C-EA7B-D0F10495EC5C}"/>
              </a:ext>
            </a:extLst>
          </p:cNvPr>
          <p:cNvSpPr>
            <a:spLocks noGrp="1"/>
          </p:cNvSpPr>
          <p:nvPr>
            <p:ph type="ftr" sz="quarter" idx="11"/>
          </p:nvPr>
        </p:nvSpPr>
        <p:spPr/>
        <p:txBody>
          <a:bodyPr/>
          <a:lstStyle/>
          <a:p>
            <a:endParaRPr lang="it-IT"/>
          </a:p>
        </p:txBody>
      </p:sp>
      <p:sp>
        <p:nvSpPr>
          <p:cNvPr id="9" name="Segnaposto numero diapositiva 8">
            <a:extLst>
              <a:ext uri="{FF2B5EF4-FFF2-40B4-BE49-F238E27FC236}">
                <a16:creationId xmlns:a16="http://schemas.microsoft.com/office/drawing/2014/main" id="{4CF45C13-8344-AF21-0AB7-1E553E903179}"/>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27927027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8BC0E6F-1AB5-2269-4DB4-F107B259AA89}"/>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EDA4CCE2-C60D-5859-1B94-A3690983CF98}"/>
              </a:ext>
            </a:extLst>
          </p:cNvPr>
          <p:cNvSpPr>
            <a:spLocks noGrp="1"/>
          </p:cNvSpPr>
          <p:nvPr>
            <p:ph type="dt" sz="half" idx="10"/>
          </p:nvPr>
        </p:nvSpPr>
        <p:spPr/>
        <p:txBody>
          <a:bodyPr/>
          <a:lstStyle/>
          <a:p>
            <a:fld id="{79A8DD84-C996-4DFC-A6C4-7C5817C05F19}" type="datetimeFigureOut">
              <a:rPr lang="it-IT" smtClean="0"/>
              <a:t>23/10/2026</a:t>
            </a:fld>
            <a:endParaRPr lang="it-IT"/>
          </a:p>
        </p:txBody>
      </p:sp>
      <p:sp>
        <p:nvSpPr>
          <p:cNvPr id="4" name="Segnaposto piè di pagina 3">
            <a:extLst>
              <a:ext uri="{FF2B5EF4-FFF2-40B4-BE49-F238E27FC236}">
                <a16:creationId xmlns:a16="http://schemas.microsoft.com/office/drawing/2014/main" id="{7770B1B2-CD1D-2504-DF02-2F5F8557C374}"/>
              </a:ext>
            </a:extLst>
          </p:cNvPr>
          <p:cNvSpPr>
            <a:spLocks noGrp="1"/>
          </p:cNvSpPr>
          <p:nvPr>
            <p:ph type="ftr" sz="quarter" idx="11"/>
          </p:nvPr>
        </p:nvSpPr>
        <p:spPr/>
        <p:txBody>
          <a:bodyPr/>
          <a:lstStyle/>
          <a:p>
            <a:endParaRPr lang="it-IT"/>
          </a:p>
        </p:txBody>
      </p:sp>
      <p:sp>
        <p:nvSpPr>
          <p:cNvPr id="5" name="Segnaposto numero diapositiva 4">
            <a:extLst>
              <a:ext uri="{FF2B5EF4-FFF2-40B4-BE49-F238E27FC236}">
                <a16:creationId xmlns:a16="http://schemas.microsoft.com/office/drawing/2014/main" id="{B7879D81-A00C-5E90-ADAE-AF1FD0C13F6A}"/>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24009379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9DF40DD6-905A-20F5-B57A-190C04CED086}"/>
              </a:ext>
            </a:extLst>
          </p:cNvPr>
          <p:cNvSpPr>
            <a:spLocks noGrp="1"/>
          </p:cNvSpPr>
          <p:nvPr>
            <p:ph type="dt" sz="half" idx="10"/>
          </p:nvPr>
        </p:nvSpPr>
        <p:spPr/>
        <p:txBody>
          <a:bodyPr/>
          <a:lstStyle/>
          <a:p>
            <a:fld id="{79A8DD84-C996-4DFC-A6C4-7C5817C05F19}" type="datetimeFigureOut">
              <a:rPr lang="it-IT" smtClean="0"/>
              <a:t>23/10/2026</a:t>
            </a:fld>
            <a:endParaRPr lang="it-IT"/>
          </a:p>
        </p:txBody>
      </p:sp>
      <p:sp>
        <p:nvSpPr>
          <p:cNvPr id="3" name="Segnaposto piè di pagina 2">
            <a:extLst>
              <a:ext uri="{FF2B5EF4-FFF2-40B4-BE49-F238E27FC236}">
                <a16:creationId xmlns:a16="http://schemas.microsoft.com/office/drawing/2014/main" id="{35E58C8C-4759-000A-C7C3-3B7E8F622502}"/>
              </a:ext>
            </a:extLst>
          </p:cNvPr>
          <p:cNvSpPr>
            <a:spLocks noGrp="1"/>
          </p:cNvSpPr>
          <p:nvPr>
            <p:ph type="ftr" sz="quarter" idx="11"/>
          </p:nvPr>
        </p:nvSpPr>
        <p:spPr/>
        <p:txBody>
          <a:bodyPr/>
          <a:lstStyle/>
          <a:p>
            <a:endParaRPr lang="it-IT"/>
          </a:p>
        </p:txBody>
      </p:sp>
      <p:sp>
        <p:nvSpPr>
          <p:cNvPr id="4" name="Segnaposto numero diapositiva 3">
            <a:extLst>
              <a:ext uri="{FF2B5EF4-FFF2-40B4-BE49-F238E27FC236}">
                <a16:creationId xmlns:a16="http://schemas.microsoft.com/office/drawing/2014/main" id="{B43FC90F-6229-5816-E211-B7EF3D86A197}"/>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532709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64C02A9-1669-E800-77AA-97376C1DDB3F}"/>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918BEF98-B068-A61E-D5B8-4557933C10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0242C958-5A6C-F3A1-B573-9356F4F01A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1551D153-C103-17AA-3434-4DACDDB383B3}"/>
              </a:ext>
            </a:extLst>
          </p:cNvPr>
          <p:cNvSpPr>
            <a:spLocks noGrp="1"/>
          </p:cNvSpPr>
          <p:nvPr>
            <p:ph type="dt" sz="half" idx="10"/>
          </p:nvPr>
        </p:nvSpPr>
        <p:spPr/>
        <p:txBody>
          <a:bodyPr/>
          <a:lstStyle/>
          <a:p>
            <a:fld id="{79A8DD84-C996-4DFC-A6C4-7C5817C05F19}" type="datetimeFigureOut">
              <a:rPr lang="it-IT" smtClean="0"/>
              <a:t>23/10/2026</a:t>
            </a:fld>
            <a:endParaRPr lang="it-IT"/>
          </a:p>
        </p:txBody>
      </p:sp>
      <p:sp>
        <p:nvSpPr>
          <p:cNvPr id="6" name="Segnaposto piè di pagina 5">
            <a:extLst>
              <a:ext uri="{FF2B5EF4-FFF2-40B4-BE49-F238E27FC236}">
                <a16:creationId xmlns:a16="http://schemas.microsoft.com/office/drawing/2014/main" id="{E48790FD-852A-D077-B247-87F825C8C068}"/>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9BE65289-4B7C-6539-7CFF-5E0ED20D11B4}"/>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4134077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4DF4F45-9948-E60D-7EB6-990A66FCEA6C}"/>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FFC80E67-55C5-5534-23CC-172522A3E79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a:extLst>
              <a:ext uri="{FF2B5EF4-FFF2-40B4-BE49-F238E27FC236}">
                <a16:creationId xmlns:a16="http://schemas.microsoft.com/office/drawing/2014/main" id="{7C131917-E449-3A79-2FA7-6F05DBABBAE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262198FA-7549-8435-0AE1-1D52FC5848D1}"/>
              </a:ext>
            </a:extLst>
          </p:cNvPr>
          <p:cNvSpPr>
            <a:spLocks noGrp="1"/>
          </p:cNvSpPr>
          <p:nvPr>
            <p:ph type="dt" sz="half" idx="10"/>
          </p:nvPr>
        </p:nvSpPr>
        <p:spPr/>
        <p:txBody>
          <a:bodyPr/>
          <a:lstStyle/>
          <a:p>
            <a:fld id="{79A8DD84-C996-4DFC-A6C4-7C5817C05F19}" type="datetimeFigureOut">
              <a:rPr lang="it-IT" smtClean="0"/>
              <a:t>23/10/2026</a:t>
            </a:fld>
            <a:endParaRPr lang="it-IT"/>
          </a:p>
        </p:txBody>
      </p:sp>
      <p:sp>
        <p:nvSpPr>
          <p:cNvPr id="6" name="Segnaposto piè di pagina 5">
            <a:extLst>
              <a:ext uri="{FF2B5EF4-FFF2-40B4-BE49-F238E27FC236}">
                <a16:creationId xmlns:a16="http://schemas.microsoft.com/office/drawing/2014/main" id="{17C7C673-A166-AA42-CDE7-D1159F5081BF}"/>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DA54695C-3ADA-F079-EAAE-295E7403DD1F}"/>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33602723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3D9E4F-171B-27B6-8C6E-A7901D437023}"/>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A935340E-B08B-AB7E-A2B9-50E7CC3497E1}"/>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34E9258E-C845-3A11-BA80-25E3AFF231F8}"/>
              </a:ext>
            </a:extLst>
          </p:cNvPr>
          <p:cNvSpPr>
            <a:spLocks noGrp="1"/>
          </p:cNvSpPr>
          <p:nvPr>
            <p:ph type="dt" sz="half" idx="10"/>
          </p:nvPr>
        </p:nvSpPr>
        <p:spPr/>
        <p:txBody>
          <a:bodyPr/>
          <a:lstStyle/>
          <a:p>
            <a:fld id="{79A8DD84-C996-4DFC-A6C4-7C5817C05F19}" type="datetimeFigureOut">
              <a:rPr lang="it-IT" smtClean="0"/>
              <a:t>23/10/2026</a:t>
            </a:fld>
            <a:endParaRPr lang="it-IT"/>
          </a:p>
        </p:txBody>
      </p:sp>
      <p:sp>
        <p:nvSpPr>
          <p:cNvPr id="5" name="Segnaposto piè di pagina 4">
            <a:extLst>
              <a:ext uri="{FF2B5EF4-FFF2-40B4-BE49-F238E27FC236}">
                <a16:creationId xmlns:a16="http://schemas.microsoft.com/office/drawing/2014/main" id="{E2B94E76-43A8-D6DF-7418-DBD244FC8703}"/>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1DF37EAE-02D5-2031-35AB-D79C34BDBF45}"/>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11954006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DB20921E-52EE-B765-0819-45540691F6A9}"/>
              </a:ext>
            </a:extLst>
          </p:cNvPr>
          <p:cNvSpPr>
            <a:spLocks noGrp="1"/>
          </p:cNvSpPr>
          <p:nvPr>
            <p:ph type="title" orient="vert"/>
          </p:nvPr>
        </p:nvSpPr>
        <p:spPr>
          <a:xfrm>
            <a:off x="8724900" y="1053737"/>
            <a:ext cx="2628900" cy="5123226"/>
          </a:xfrm>
        </p:spPr>
        <p:txBody>
          <a:bodyPr vert="eaVert"/>
          <a:lstStyle/>
          <a:p>
            <a:r>
              <a:rPr lang="it-IT" dirty="0"/>
              <a:t>Fare clic per modificare lo stile del titolo dello schema</a:t>
            </a:r>
          </a:p>
        </p:txBody>
      </p:sp>
      <p:sp>
        <p:nvSpPr>
          <p:cNvPr id="3" name="Segnaposto testo verticale 2">
            <a:extLst>
              <a:ext uri="{FF2B5EF4-FFF2-40B4-BE49-F238E27FC236}">
                <a16:creationId xmlns:a16="http://schemas.microsoft.com/office/drawing/2014/main" id="{F41F3A47-FCF9-78D6-41FE-4E9712B013B9}"/>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EA47E077-5D91-6763-FB8F-67027502A154}"/>
              </a:ext>
            </a:extLst>
          </p:cNvPr>
          <p:cNvSpPr>
            <a:spLocks noGrp="1"/>
          </p:cNvSpPr>
          <p:nvPr>
            <p:ph type="dt" sz="half" idx="10"/>
          </p:nvPr>
        </p:nvSpPr>
        <p:spPr/>
        <p:txBody>
          <a:bodyPr/>
          <a:lstStyle/>
          <a:p>
            <a:fld id="{79A8DD84-C996-4DFC-A6C4-7C5817C05F19}" type="datetimeFigureOut">
              <a:rPr lang="it-IT" smtClean="0"/>
              <a:t>23/10/2026</a:t>
            </a:fld>
            <a:endParaRPr lang="it-IT"/>
          </a:p>
        </p:txBody>
      </p:sp>
      <p:sp>
        <p:nvSpPr>
          <p:cNvPr id="5" name="Segnaposto piè di pagina 4">
            <a:extLst>
              <a:ext uri="{FF2B5EF4-FFF2-40B4-BE49-F238E27FC236}">
                <a16:creationId xmlns:a16="http://schemas.microsoft.com/office/drawing/2014/main" id="{03F9C29B-1A24-82CD-09FB-A9CDF8EC80A7}"/>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6C09C3D8-828F-5F53-C9A0-6361273FDDDD}"/>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14843031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28F9C211-565C-7446-42B4-063F1DDD44B1}"/>
              </a:ext>
            </a:extLst>
          </p:cNvPr>
          <p:cNvSpPr>
            <a:spLocks noGrp="1"/>
          </p:cNvSpPr>
          <p:nvPr>
            <p:ph type="title"/>
          </p:nvPr>
        </p:nvSpPr>
        <p:spPr>
          <a:xfrm>
            <a:off x="838200" y="365125"/>
            <a:ext cx="8384177" cy="1325563"/>
          </a:xfrm>
          <a:prstGeom prst="rect">
            <a:avLst/>
          </a:prstGeom>
        </p:spPr>
        <p:txBody>
          <a:bodyPr vert="horz" lIns="91440" tIns="45720" rIns="91440" bIns="45720" rtlCol="0" anchor="ctr">
            <a:normAutofit/>
          </a:body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E0FBABD3-A8AF-4F53-2D97-2679239C52E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data 3">
            <a:extLst>
              <a:ext uri="{FF2B5EF4-FFF2-40B4-BE49-F238E27FC236}">
                <a16:creationId xmlns:a16="http://schemas.microsoft.com/office/drawing/2014/main" id="{61D962FE-354C-2325-C79F-CC79DE0593E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9A8DD84-C996-4DFC-A6C4-7C5817C05F19}" type="datetimeFigureOut">
              <a:rPr lang="it-IT" smtClean="0"/>
              <a:t>23/10/2026</a:t>
            </a:fld>
            <a:endParaRPr lang="it-IT" dirty="0"/>
          </a:p>
        </p:txBody>
      </p:sp>
      <p:sp>
        <p:nvSpPr>
          <p:cNvPr id="5" name="Segnaposto piè di pagina 4">
            <a:extLst>
              <a:ext uri="{FF2B5EF4-FFF2-40B4-BE49-F238E27FC236}">
                <a16:creationId xmlns:a16="http://schemas.microsoft.com/office/drawing/2014/main" id="{706614F3-3B6C-86DA-A785-ECCA30B6D40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it-IT" dirty="0" err="1"/>
              <a:t>Visionlab</a:t>
            </a:r>
            <a:r>
              <a:rPr lang="it-IT" dirty="0"/>
              <a:t> – Computer Vision </a:t>
            </a:r>
            <a:r>
              <a:rPr lang="it-IT" dirty="0" err="1"/>
              <a:t>Laboratory</a:t>
            </a:r>
            <a:r>
              <a:rPr lang="it-IT" dirty="0"/>
              <a:t> – Sapienza</a:t>
            </a:r>
          </a:p>
          <a:p>
            <a:r>
              <a:rPr lang="it-IT" dirty="0"/>
              <a:t>Via Salaria 113, 00198, Rome – Third </a:t>
            </a:r>
            <a:r>
              <a:rPr lang="it-IT" dirty="0" err="1"/>
              <a:t>Floor</a:t>
            </a:r>
            <a:r>
              <a:rPr lang="it-IT" dirty="0"/>
              <a:t>, Room 309</a:t>
            </a:r>
          </a:p>
        </p:txBody>
      </p:sp>
      <p:sp>
        <p:nvSpPr>
          <p:cNvPr id="6" name="Segnaposto numero diapositiva 5">
            <a:extLst>
              <a:ext uri="{FF2B5EF4-FFF2-40B4-BE49-F238E27FC236}">
                <a16:creationId xmlns:a16="http://schemas.microsoft.com/office/drawing/2014/main" id="{DFAD2367-DA27-BF1C-D722-5F0C6250B79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6BC9DE0-E148-4F27-888A-35D29D0A8254}" type="slidenum">
              <a:rPr lang="it-IT" smtClean="0"/>
              <a:t>‹N›</a:t>
            </a:fld>
            <a:endParaRPr lang="it-IT"/>
          </a:p>
        </p:txBody>
      </p:sp>
      <p:pic>
        <p:nvPicPr>
          <p:cNvPr id="10" name="Immagine 9">
            <a:extLst>
              <a:ext uri="{FF2B5EF4-FFF2-40B4-BE49-F238E27FC236}">
                <a16:creationId xmlns:a16="http://schemas.microsoft.com/office/drawing/2014/main" id="{60374C98-E13C-8AA6-64A0-C1F1BC6DF9B7}"/>
              </a:ext>
            </a:extLst>
          </p:cNvPr>
          <p:cNvPicPr>
            <a:picLocks noChangeAspect="1"/>
          </p:cNvPicPr>
          <p:nvPr userDrawn="1"/>
        </p:nvPicPr>
        <p:blipFill>
          <a:blip r:embed="rId13">
            <a:alphaModFix amt="10000"/>
            <a:extLst>
              <a:ext uri="{28A0092B-C50C-407E-A947-70E740481C1C}">
                <a14:useLocalDpi xmlns:a14="http://schemas.microsoft.com/office/drawing/2010/main" val="0"/>
              </a:ext>
            </a:extLst>
          </a:blip>
          <a:stretch>
            <a:fillRect/>
          </a:stretch>
        </p:blipFill>
        <p:spPr>
          <a:xfrm flipH="1">
            <a:off x="9091749" y="1233082"/>
            <a:ext cx="3100251" cy="4769711"/>
          </a:xfrm>
          <a:prstGeom prst="rect">
            <a:avLst/>
          </a:prstGeom>
        </p:spPr>
      </p:pic>
      <p:sp>
        <p:nvSpPr>
          <p:cNvPr id="12" name="Striscia diagonale 11">
            <a:extLst>
              <a:ext uri="{FF2B5EF4-FFF2-40B4-BE49-F238E27FC236}">
                <a16:creationId xmlns:a16="http://schemas.microsoft.com/office/drawing/2014/main" id="{36E41B77-6243-9A06-B22D-1DDE56864FB1}"/>
              </a:ext>
            </a:extLst>
          </p:cNvPr>
          <p:cNvSpPr/>
          <p:nvPr userDrawn="1"/>
        </p:nvSpPr>
        <p:spPr>
          <a:xfrm>
            <a:off x="0" y="0"/>
            <a:ext cx="360000" cy="360000"/>
          </a:xfrm>
          <a:prstGeom prst="diagStripe">
            <a:avLst>
              <a:gd name="adj" fmla="val 75796"/>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
        <p:nvSpPr>
          <p:cNvPr id="13" name="Striscia diagonale 12">
            <a:extLst>
              <a:ext uri="{FF2B5EF4-FFF2-40B4-BE49-F238E27FC236}">
                <a16:creationId xmlns:a16="http://schemas.microsoft.com/office/drawing/2014/main" id="{3906131B-CD34-FC06-2AE0-D5BFFB41216D}"/>
              </a:ext>
            </a:extLst>
          </p:cNvPr>
          <p:cNvSpPr/>
          <p:nvPr userDrawn="1"/>
        </p:nvSpPr>
        <p:spPr>
          <a:xfrm>
            <a:off x="0" y="0"/>
            <a:ext cx="540000" cy="540000"/>
          </a:xfrm>
          <a:prstGeom prst="diagStripe">
            <a:avLst>
              <a:gd name="adj" fmla="val 83292"/>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
        <p:nvSpPr>
          <p:cNvPr id="14" name="Rettangolo 13">
            <a:extLst>
              <a:ext uri="{FF2B5EF4-FFF2-40B4-BE49-F238E27FC236}">
                <a16:creationId xmlns:a16="http://schemas.microsoft.com/office/drawing/2014/main" id="{05CFF721-6631-1D68-8373-4422D99FEEB4}"/>
              </a:ext>
            </a:extLst>
          </p:cNvPr>
          <p:cNvSpPr/>
          <p:nvPr userDrawn="1"/>
        </p:nvSpPr>
        <p:spPr>
          <a:xfrm>
            <a:off x="401888" y="1943100"/>
            <a:ext cx="79200" cy="4914900"/>
          </a:xfrm>
          <a:prstGeom prst="rect">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15" name="Rettangolo 14">
            <a:extLst>
              <a:ext uri="{FF2B5EF4-FFF2-40B4-BE49-F238E27FC236}">
                <a16:creationId xmlns:a16="http://schemas.microsoft.com/office/drawing/2014/main" id="{9947DF62-9937-FE90-1BB1-1C9C31A8ACCD}"/>
              </a:ext>
            </a:extLst>
          </p:cNvPr>
          <p:cNvSpPr/>
          <p:nvPr userDrawn="1"/>
        </p:nvSpPr>
        <p:spPr>
          <a:xfrm>
            <a:off x="241253" y="1441450"/>
            <a:ext cx="79200" cy="5416550"/>
          </a:xfrm>
          <a:prstGeom prst="rect">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16" name="Arco a tutto sesto 15">
            <a:extLst>
              <a:ext uri="{FF2B5EF4-FFF2-40B4-BE49-F238E27FC236}">
                <a16:creationId xmlns:a16="http://schemas.microsoft.com/office/drawing/2014/main" id="{4684E799-00FD-E481-86E2-1EE57BBF0997}"/>
              </a:ext>
            </a:extLst>
          </p:cNvPr>
          <p:cNvSpPr/>
          <p:nvPr userDrawn="1"/>
        </p:nvSpPr>
        <p:spPr>
          <a:xfrm>
            <a:off x="11922000" y="6590359"/>
            <a:ext cx="540000" cy="540000"/>
          </a:xfrm>
          <a:prstGeom prst="blockArc">
            <a:avLst>
              <a:gd name="adj1" fmla="val 10825804"/>
              <a:gd name="adj2" fmla="val 16232134"/>
              <a:gd name="adj3" fmla="val 13566"/>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
        <p:nvSpPr>
          <p:cNvPr id="17" name="Arco a tutto sesto 16">
            <a:extLst>
              <a:ext uri="{FF2B5EF4-FFF2-40B4-BE49-F238E27FC236}">
                <a16:creationId xmlns:a16="http://schemas.microsoft.com/office/drawing/2014/main" id="{C7F59C59-6D08-CAE9-1107-3C400A7AEBBD}"/>
              </a:ext>
            </a:extLst>
          </p:cNvPr>
          <p:cNvSpPr/>
          <p:nvPr userDrawn="1"/>
        </p:nvSpPr>
        <p:spPr>
          <a:xfrm>
            <a:off x="11742000" y="6408000"/>
            <a:ext cx="900000" cy="900000"/>
          </a:xfrm>
          <a:prstGeom prst="blockArc">
            <a:avLst>
              <a:gd name="adj1" fmla="val 10778727"/>
              <a:gd name="adj2" fmla="val 16191509"/>
              <a:gd name="adj3" fmla="val 9334"/>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pic>
        <p:nvPicPr>
          <p:cNvPr id="8" name="Immagine 7">
            <a:extLst>
              <a:ext uri="{FF2B5EF4-FFF2-40B4-BE49-F238E27FC236}">
                <a16:creationId xmlns:a16="http://schemas.microsoft.com/office/drawing/2014/main" id="{C6CFC2AB-66E6-4288-9ECC-C88FAA0EDFD3}"/>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1054714" y="136525"/>
            <a:ext cx="969764" cy="969764"/>
          </a:xfrm>
          <a:prstGeom prst="rect">
            <a:avLst/>
          </a:prstGeom>
        </p:spPr>
      </p:pic>
    </p:spTree>
    <p:extLst>
      <p:ext uri="{BB962C8B-B14F-4D97-AF65-F5344CB8AC3E}">
        <p14:creationId xmlns:p14="http://schemas.microsoft.com/office/powerpoint/2010/main" val="4941491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100000"/>
        </a:lnSpc>
        <a:spcBef>
          <a:spcPct val="0"/>
        </a:spcBef>
        <a:buNone/>
        <a:defRPr sz="4400" kern="1200">
          <a:solidFill>
            <a:schemeClr val="tx1"/>
          </a:solidFill>
          <a:latin typeface="Roboto" panose="02000000000000000000" pitchFamily="2" charset="0"/>
          <a:ea typeface="Roboto" panose="02000000000000000000" pitchFamily="2" charset="0"/>
          <a:cs typeface="Roboto" panose="02000000000000000000" pitchFamily="2"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Roboto" panose="02000000000000000000" pitchFamily="2"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Roboto" panose="02000000000000000000" pitchFamily="2"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Roboto" panose="02000000000000000000" pitchFamily="2"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amp;f=1&amp;nofb=1&amp;ipt=30001d8961b3b03add39ad967c319e0f168863eedd2c6ba8d6018adb4711fb1d&amp;ipo=images"/><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8.png&amp;f=1&amp;nofb=1&amp;ipt=1d8b35d30c3c4514a8382011224255d3e91fd46be4d31d385c751fa891630fa4&amp;ipo=images"/><Relationship Id="rId4" Type="http://schemas.openxmlformats.org/officeDocument/2006/relationships/image" Target="../media/image17.png&amp;f=1&amp;nofb=1&amp;ipt=d99a559a2fe29f1924e30a5219f177b5e9da9d4501e897b9834310b79af4a48b&amp;ipo=images"/></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hyperlink" Target="https://www.kaggle.com/datasets/dalphan01/curiosity-wheel-anomaly-detection/settings"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3" Type="http://schemas.openxmlformats.org/officeDocument/2006/relationships/hyperlink" Target="https://www.jpl.nasa.gov/podcasts/on-a-mission-season-1/season-4-mars-rovers/episode-8-how-to-drive-a-mars-rover/" TargetMode="External"/><Relationship Id="rId7" Type="http://schemas.openxmlformats.org/officeDocument/2006/relationships/hyperlink" Target="https://doi.org/10.52202/085713-4098"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hyperlink" Target="https://doi.org/10.1109/TGRS.2024.3386756" TargetMode="External"/><Relationship Id="rId5" Type="http://schemas.openxmlformats.org/officeDocument/2006/relationships/hyperlink" Target="https://science.nasa.gov/resource/routine-inspection-of-rover-wheel-wear-and-tear/" TargetMode="External"/><Relationship Id="rId4" Type="http://schemas.openxmlformats.org/officeDocument/2006/relationships/hyperlink" Target="https://robotics.jpl.nasa.gov/media/documents/fmwi-rankin-2022-0225-final.pdf"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doi.org/10.1007/978-3-319-24574-4_28" TargetMode="External"/><Relationship Id="rId7" Type="http://schemas.openxmlformats.org/officeDocument/2006/relationships/hyperlink" Target="https://doi.org/10.1109/TITS.2023.3348631"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hyperlink" Target="https://arxiv.org/abs/2105.15203" TargetMode="External"/><Relationship Id="rId5" Type="http://schemas.openxmlformats.org/officeDocument/2006/relationships/hyperlink" Target="https://doi.org/10.1007/978-3-030-01234-2_49" TargetMode="External"/><Relationship Id="rId4" Type="http://schemas.openxmlformats.org/officeDocument/2006/relationships/hyperlink" Target="https://arxiv.org/abs/1706.05587"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arxiv.org/abs/1712.05877" TargetMode="External"/><Relationship Id="rId7" Type="http://schemas.openxmlformats.org/officeDocument/2006/relationships/hyperlink" Target="https://doi.org/10.1109/CVPR.2019.00982"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hyperlink" Target="https://doi.org/10.1109/IROS.2017.8202133" TargetMode="External"/><Relationship Id="rId5" Type="http://schemas.openxmlformats.org/officeDocument/2006/relationships/hyperlink" Target="https://hirise.lpl.arizona.edu/dtm/dtm.php?ID=PSP_010573_1755" TargetMode="External"/><Relationship Id="rId4" Type="http://schemas.openxmlformats.org/officeDocument/2006/relationships/hyperlink" Target="https://science.nasa.gov/resource/curiosity-3d-model/"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arxiv.org/abs/2106.08265" TargetMode="External"/><Relationship Id="rId7" Type="http://schemas.openxmlformats.org/officeDocument/2006/relationships/hyperlink" Target="https://arxiv.org/abs/2603.16451v3"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hyperlink" Target="https://doi.org/10.1007/s10845-025-02680-8" TargetMode="External"/><Relationship Id="rId5" Type="http://schemas.openxmlformats.org/officeDocument/2006/relationships/hyperlink" Target="https://doi.org/10.1007/978-3-031-78192-6_4" TargetMode="External"/><Relationship Id="rId4" Type="http://schemas.openxmlformats.org/officeDocument/2006/relationships/hyperlink" Target="https://arxiv.org/abs/2303.14535" TargetMode="External"/></Relationships>
</file>

<file path=ppt/slides/_rels/slide3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34.png"/><Relationship Id="rId4" Type="http://schemas.openxmlformats.org/officeDocument/2006/relationships/image" Target="../media/image23.png"/></Relationships>
</file>

<file path=ppt/slides/_rels/slide38.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26.png"/><Relationship Id="rId7" Type="http://schemas.openxmlformats.org/officeDocument/2006/relationships/image" Target="../media/image37.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36.png"/><Relationship Id="rId4" Type="http://schemas.openxmlformats.org/officeDocument/2006/relationships/image" Target="../media/image35.png"/><Relationship Id="rId9" Type="http://schemas.openxmlformats.org/officeDocument/2006/relationships/image" Target="../media/image39.png"/></Relationships>
</file>

<file path=ppt/slides/_rels/slide3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353CAEA-7F71-2F30-10DD-58B9AE8117FA}"/>
              </a:ext>
            </a:extLst>
          </p:cNvPr>
          <p:cNvSpPr>
            <a:spLocks noGrp="1"/>
          </p:cNvSpPr>
          <p:nvPr>
            <p:ph type="ctrTitle"/>
          </p:nvPr>
        </p:nvSpPr>
        <p:spPr>
          <a:xfrm>
            <a:off x="1524000" y="1122363"/>
            <a:ext cx="9144000" cy="1602549"/>
          </a:xfrm>
        </p:spPr>
        <p:txBody>
          <a:bodyPr>
            <a:normAutofit/>
          </a:bodyPr>
          <a:lstStyle/>
          <a:p>
            <a:r>
              <a:rPr lang="en-US" sz="3000" b="1" dirty="0">
                <a:solidFill>
                  <a:srgbClr val="822433"/>
                </a:solidFill>
              </a:rPr>
              <a:t>Lightweight Scene Understanding and Synthetic Data-Driven Damage Inspection for Martian Rovers</a:t>
            </a:r>
            <a:endParaRPr lang="it-IT" sz="3000" b="1" dirty="0">
              <a:solidFill>
                <a:srgbClr val="822433"/>
              </a:solidFill>
            </a:endParaRPr>
          </a:p>
        </p:txBody>
      </p:sp>
      <p:sp>
        <p:nvSpPr>
          <p:cNvPr id="3" name="Sottotitolo 2">
            <a:extLst>
              <a:ext uri="{FF2B5EF4-FFF2-40B4-BE49-F238E27FC236}">
                <a16:creationId xmlns:a16="http://schemas.microsoft.com/office/drawing/2014/main" id="{28D78800-4D63-418C-4E5E-F22E3136D82A}"/>
              </a:ext>
            </a:extLst>
          </p:cNvPr>
          <p:cNvSpPr>
            <a:spLocks noGrp="1"/>
          </p:cNvSpPr>
          <p:nvPr>
            <p:ph type="subTitle" idx="1"/>
          </p:nvPr>
        </p:nvSpPr>
        <p:spPr>
          <a:xfrm>
            <a:off x="2731008" y="2883408"/>
            <a:ext cx="6729984" cy="2374392"/>
          </a:xfrm>
        </p:spPr>
        <p:txBody>
          <a:bodyPr>
            <a:normAutofit/>
          </a:bodyPr>
          <a:lstStyle/>
          <a:p>
            <a:r>
              <a:rPr lang="en-US" sz="1600" dirty="0">
                <a:solidFill>
                  <a:srgbClr val="822433"/>
                </a:solidFill>
              </a:rPr>
              <a:t>Faculty of Information Engineering, Informatics, and Statistics</a:t>
            </a:r>
            <a:br>
              <a:rPr lang="en-US" sz="1600" dirty="0">
                <a:solidFill>
                  <a:srgbClr val="822433"/>
                </a:solidFill>
              </a:rPr>
            </a:br>
            <a:r>
              <a:rPr lang="en-US" sz="1600" dirty="0">
                <a:solidFill>
                  <a:srgbClr val="822433"/>
                </a:solidFill>
              </a:rPr>
              <a:t>Master’s Degree in Computer Science</a:t>
            </a:r>
          </a:p>
          <a:p>
            <a:endParaRPr lang="en-US" sz="1600" dirty="0">
              <a:solidFill>
                <a:srgbClr val="822433"/>
              </a:solidFill>
            </a:endParaRPr>
          </a:p>
          <a:p>
            <a:pPr algn="l"/>
            <a:r>
              <a:rPr lang="en-US" sz="1600" b="1" dirty="0"/>
              <a:t>Venturini Daniele </a:t>
            </a:r>
            <a:r>
              <a:rPr lang="en-US" sz="1600" dirty="0"/>
              <a:t>1991255</a:t>
            </a:r>
          </a:p>
          <a:p>
            <a:pPr algn="l"/>
            <a:endParaRPr lang="en-US" sz="1600" dirty="0"/>
          </a:p>
          <a:p>
            <a:r>
              <a:rPr lang="en-US" sz="1200" dirty="0"/>
              <a:t>Academic Year 2025/2026</a:t>
            </a:r>
          </a:p>
        </p:txBody>
      </p:sp>
      <p:sp>
        <p:nvSpPr>
          <p:cNvPr id="5" name="CasellaDiTesto 4">
            <a:extLst>
              <a:ext uri="{FF2B5EF4-FFF2-40B4-BE49-F238E27FC236}">
                <a16:creationId xmlns:a16="http://schemas.microsoft.com/office/drawing/2014/main" id="{D37F6418-D425-2C7C-A304-D79E057EED07}"/>
              </a:ext>
            </a:extLst>
          </p:cNvPr>
          <p:cNvSpPr txBox="1"/>
          <p:nvPr/>
        </p:nvSpPr>
        <p:spPr>
          <a:xfrm>
            <a:off x="5279136" y="3626453"/>
            <a:ext cx="4181856" cy="584775"/>
          </a:xfrm>
          <a:prstGeom prst="rect">
            <a:avLst/>
          </a:prstGeom>
          <a:noFill/>
        </p:spPr>
        <p:txBody>
          <a:bodyPr wrap="square" rtlCol="0">
            <a:spAutoFit/>
          </a:bodyPr>
          <a:lstStyle/>
          <a:p>
            <a:pPr algn="r"/>
            <a:r>
              <a:rPr lang="it-IT" sz="1600" b="1" dirty="0">
                <a:latin typeface="Roboto" panose="02000000000000000000" pitchFamily="2" charset="0"/>
                <a:ea typeface="Roboto" panose="02000000000000000000" pitchFamily="2" charset="0"/>
              </a:rPr>
              <a:t>Advisor</a:t>
            </a:r>
          </a:p>
          <a:p>
            <a:pPr algn="r"/>
            <a:r>
              <a:rPr lang="it-IT" sz="1600" dirty="0">
                <a:latin typeface="Roboto" panose="02000000000000000000" pitchFamily="2" charset="0"/>
                <a:ea typeface="Roboto" panose="02000000000000000000" pitchFamily="2" charset="0"/>
              </a:rPr>
              <a:t>Prof. Marco Raoul Marini</a:t>
            </a:r>
          </a:p>
        </p:txBody>
      </p:sp>
    </p:spTree>
    <p:extLst>
      <p:ext uri="{BB962C8B-B14F-4D97-AF65-F5344CB8AC3E}">
        <p14:creationId xmlns:p14="http://schemas.microsoft.com/office/powerpoint/2010/main" val="33250999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Curiosity's First “Selfie” of 2015 – Lights in the Dark">
            <a:extLst>
              <a:ext uri="{FF2B5EF4-FFF2-40B4-BE49-F238E27FC236}">
                <a16:creationId xmlns:a16="http://schemas.microsoft.com/office/drawing/2014/main" id="{9571C0A8-F617-6C03-2A9D-9AD4347A50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201485">
            <a:off x="5621967" y="1860801"/>
            <a:ext cx="6196100" cy="3983799"/>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
        <p:nvSpPr>
          <p:cNvPr id="2" name="Titolo 1">
            <a:extLst>
              <a:ext uri="{FF2B5EF4-FFF2-40B4-BE49-F238E27FC236}">
                <a16:creationId xmlns:a16="http://schemas.microsoft.com/office/drawing/2014/main" id="{9B52D358-3BB3-2296-825B-8BBD69653EEF}"/>
              </a:ext>
            </a:extLst>
          </p:cNvPr>
          <p:cNvSpPr>
            <a:spLocks noGrp="1"/>
          </p:cNvSpPr>
          <p:nvPr>
            <p:ph type="title"/>
          </p:nvPr>
        </p:nvSpPr>
        <p:spPr/>
        <p:txBody>
          <a:bodyPr/>
          <a:lstStyle/>
          <a:p>
            <a:r>
              <a:rPr lang="en-US" noProof="0" dirty="0">
                <a:solidFill>
                  <a:srgbClr val="822433"/>
                </a:solidFill>
              </a:rPr>
              <a:t>Introduction</a:t>
            </a:r>
          </a:p>
        </p:txBody>
      </p:sp>
      <p:sp>
        <p:nvSpPr>
          <p:cNvPr id="3" name="Segnaposto testo 2">
            <a:extLst>
              <a:ext uri="{FF2B5EF4-FFF2-40B4-BE49-F238E27FC236}">
                <a16:creationId xmlns:a16="http://schemas.microsoft.com/office/drawing/2014/main" id="{226DA549-BCE0-5CE0-D8D7-C1E9922EA508}"/>
              </a:ext>
            </a:extLst>
          </p:cNvPr>
          <p:cNvSpPr>
            <a:spLocks noGrp="1"/>
          </p:cNvSpPr>
          <p:nvPr>
            <p:ph type="body" idx="1"/>
          </p:nvPr>
        </p:nvSpPr>
        <p:spPr>
          <a:xfrm>
            <a:off x="831850" y="4589463"/>
            <a:ext cx="10515600" cy="1872097"/>
          </a:xfrm>
        </p:spPr>
        <p:txBody>
          <a:bodyPr>
            <a:normAutofit lnSpcReduction="10000"/>
          </a:bodyPr>
          <a:lstStyle/>
          <a:p>
            <a:r>
              <a:rPr lang="en-US" noProof="0" dirty="0"/>
              <a:t>Lightweight Scene Understanding</a:t>
            </a:r>
            <a:br>
              <a:rPr lang="en-US" noProof="0" dirty="0"/>
            </a:br>
            <a:r>
              <a:rPr lang="en-US" noProof="0" dirty="0"/>
              <a:t>Synthetic Dataset Generation</a:t>
            </a:r>
            <a:br>
              <a:rPr lang="en-US" noProof="0" dirty="0"/>
            </a:br>
            <a:r>
              <a:rPr lang="en-US" noProof="0" dirty="0"/>
              <a:t>Synthetic Damage Inspection</a:t>
            </a:r>
            <a:br>
              <a:rPr lang="en-US" noProof="0" dirty="0"/>
            </a:br>
            <a:r>
              <a:rPr lang="en-US" noProof="0" dirty="0"/>
              <a:t>Results</a:t>
            </a:r>
            <a:br>
              <a:rPr lang="en-US" noProof="0" dirty="0"/>
            </a:br>
            <a:r>
              <a:rPr lang="en-US" noProof="0" dirty="0"/>
              <a:t>Conclusions</a:t>
            </a:r>
          </a:p>
        </p:txBody>
      </p:sp>
      <p:sp>
        <p:nvSpPr>
          <p:cNvPr id="4" name="Google Shape;102;p14">
            <a:extLst>
              <a:ext uri="{FF2B5EF4-FFF2-40B4-BE49-F238E27FC236}">
                <a16:creationId xmlns:a16="http://schemas.microsoft.com/office/drawing/2014/main" id="{A5EC5082-5C7A-8132-61EE-2CA078BECC9F}"/>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18D7A1F3-9163-9483-BD49-DAC8669715F2}"/>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Tree>
    <p:extLst>
      <p:ext uri="{BB962C8B-B14F-4D97-AF65-F5344CB8AC3E}">
        <p14:creationId xmlns:p14="http://schemas.microsoft.com/office/powerpoint/2010/main" val="17648023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0" name="Immagine 49">
            <a:extLst>
              <a:ext uri="{FF2B5EF4-FFF2-40B4-BE49-F238E27FC236}">
                <a16:creationId xmlns:a16="http://schemas.microsoft.com/office/drawing/2014/main" id="{2AD18066-4A8C-0450-E897-874B8C247E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94297" y="2239335"/>
            <a:ext cx="2545194" cy="740947"/>
          </a:xfrm>
          <a:prstGeom prst="rect">
            <a:avLst/>
          </a:prstGeom>
        </p:spPr>
      </p:pic>
      <p:sp>
        <p:nvSpPr>
          <p:cNvPr id="2" name="Titolo 1">
            <a:extLst>
              <a:ext uri="{FF2B5EF4-FFF2-40B4-BE49-F238E27FC236}">
                <a16:creationId xmlns:a16="http://schemas.microsoft.com/office/drawing/2014/main" id="{A6740B86-965C-3E84-7583-A05B80D19DBC}"/>
              </a:ext>
            </a:extLst>
          </p:cNvPr>
          <p:cNvSpPr>
            <a:spLocks noGrp="1"/>
          </p:cNvSpPr>
          <p:nvPr>
            <p:ph type="title"/>
          </p:nvPr>
        </p:nvSpPr>
        <p:spPr>
          <a:xfrm>
            <a:off x="838200" y="365125"/>
            <a:ext cx="8384177" cy="835787"/>
          </a:xfrm>
        </p:spPr>
        <p:txBody>
          <a:bodyPr/>
          <a:lstStyle/>
          <a:p>
            <a:r>
              <a:rPr lang="en-US" noProof="0" dirty="0">
                <a:solidFill>
                  <a:srgbClr val="822433"/>
                </a:solidFill>
              </a:rPr>
              <a:t>The challenge</a:t>
            </a:r>
          </a:p>
        </p:txBody>
      </p:sp>
      <p:sp>
        <p:nvSpPr>
          <p:cNvPr id="4" name="Google Shape;102;p14">
            <a:extLst>
              <a:ext uri="{FF2B5EF4-FFF2-40B4-BE49-F238E27FC236}">
                <a16:creationId xmlns:a16="http://schemas.microsoft.com/office/drawing/2014/main" id="{1A639B77-9BDA-EAD0-49CB-91203DA67ED3}"/>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3</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998F8B1C-CA64-FD18-C859-3CA0976F6CDF}"/>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18" name="Segnaposto contenuto 17">
            <a:extLst>
              <a:ext uri="{FF2B5EF4-FFF2-40B4-BE49-F238E27FC236}">
                <a16:creationId xmlns:a16="http://schemas.microsoft.com/office/drawing/2014/main" id="{B72055A5-B844-AB30-1C2C-C55422CCE58C}"/>
              </a:ext>
            </a:extLst>
          </p:cNvPr>
          <p:cNvSpPr>
            <a:spLocks noGrp="1"/>
          </p:cNvSpPr>
          <p:nvPr>
            <p:ph idx="1"/>
          </p:nvPr>
        </p:nvSpPr>
        <p:spPr>
          <a:xfrm>
            <a:off x="795643" y="2668467"/>
            <a:ext cx="4088180" cy="2538853"/>
          </a:xfrm>
        </p:spPr>
        <p:txBody>
          <a:bodyPr/>
          <a:lstStyle/>
          <a:p>
            <a:r>
              <a:rPr lang="en-US" noProof="0" dirty="0"/>
              <a:t>Mars rover operations require </a:t>
            </a:r>
            <a:r>
              <a:rPr lang="en-US" b="1" noProof="0" dirty="0">
                <a:solidFill>
                  <a:srgbClr val="822433"/>
                </a:solidFill>
              </a:rPr>
              <a:t>constant</a:t>
            </a:r>
            <a:r>
              <a:rPr lang="en-US" noProof="0" dirty="0"/>
              <a:t> supervision from Earth</a:t>
            </a:r>
          </a:p>
          <a:p>
            <a:endParaRPr lang="en-US" noProof="0" dirty="0"/>
          </a:p>
        </p:txBody>
      </p:sp>
      <p:pic>
        <p:nvPicPr>
          <p:cNvPr id="20" name="Immagine 19">
            <a:extLst>
              <a:ext uri="{FF2B5EF4-FFF2-40B4-BE49-F238E27FC236}">
                <a16:creationId xmlns:a16="http://schemas.microsoft.com/office/drawing/2014/main" id="{61DFB798-FB46-D3F8-1B0C-9A2600A420BC}"/>
              </a:ext>
            </a:extLst>
          </p:cNvPr>
          <p:cNvPicPr>
            <a:picLocks noChangeAspect="1"/>
          </p:cNvPicPr>
          <p:nvPr/>
        </p:nvPicPr>
        <p:blipFill>
          <a:blip r:embed="rId4"/>
          <a:stretch>
            <a:fillRect/>
          </a:stretch>
        </p:blipFill>
        <p:spPr>
          <a:xfrm>
            <a:off x="10659120" y="4905358"/>
            <a:ext cx="793048" cy="793048"/>
          </a:xfrm>
          <a:prstGeom prst="rect">
            <a:avLst/>
          </a:prstGeom>
          <a:effectLst>
            <a:outerShdw blurRad="50800" dist="38100" dir="2700000" algn="tl" rotWithShape="0">
              <a:prstClr val="black">
                <a:alpha val="40000"/>
              </a:prstClr>
            </a:outerShdw>
          </a:effectLst>
        </p:spPr>
      </p:pic>
      <p:pic>
        <p:nvPicPr>
          <p:cNvPr id="8" name="Immagine 7">
            <a:extLst>
              <a:ext uri="{FF2B5EF4-FFF2-40B4-BE49-F238E27FC236}">
                <a16:creationId xmlns:a16="http://schemas.microsoft.com/office/drawing/2014/main" id="{AE9BEB5E-267F-2203-D48A-25DE09E522C8}"/>
              </a:ext>
            </a:extLst>
          </p:cNvPr>
          <p:cNvPicPr>
            <a:picLocks noChangeAspect="1"/>
          </p:cNvPicPr>
          <p:nvPr/>
        </p:nvPicPr>
        <p:blipFill>
          <a:blip r:embed="rId5"/>
          <a:stretch>
            <a:fillRect/>
          </a:stretch>
        </p:blipFill>
        <p:spPr>
          <a:xfrm>
            <a:off x="10872467" y="4599963"/>
            <a:ext cx="354163" cy="354163"/>
          </a:xfrm>
          <a:prstGeom prst="rect">
            <a:avLst/>
          </a:prstGeom>
        </p:spPr>
      </p:pic>
      <p:cxnSp>
        <p:nvCxnSpPr>
          <p:cNvPr id="22" name="Connettore 2 21">
            <a:extLst>
              <a:ext uri="{FF2B5EF4-FFF2-40B4-BE49-F238E27FC236}">
                <a16:creationId xmlns:a16="http://schemas.microsoft.com/office/drawing/2014/main" id="{9251BC44-4C1D-5D71-C0EE-CA9A3724D910}"/>
              </a:ext>
            </a:extLst>
          </p:cNvPr>
          <p:cNvCxnSpPr/>
          <p:nvPr/>
        </p:nvCxnSpPr>
        <p:spPr>
          <a:xfrm>
            <a:off x="6136829" y="5332578"/>
            <a:ext cx="4315968" cy="0"/>
          </a:xfrm>
          <a:prstGeom prst="straightConnector1">
            <a:avLst/>
          </a:prstGeom>
          <a:ln w="28575" cap="flat" cmpd="sng" algn="ctr">
            <a:solidFill>
              <a:schemeClr val="dk1"/>
            </a:solidFill>
            <a:prstDash val="solid"/>
            <a:round/>
            <a:headEnd type="arrow" w="med" len="med"/>
            <a:tailEnd type="arrow" w="med" len="med"/>
          </a:ln>
          <a:effectLst>
            <a:outerShdw blurRad="50800" dist="38100" dir="2700000" algn="tl" rotWithShape="0">
              <a:prstClr val="black">
                <a:alpha val="40000"/>
              </a:prstClr>
            </a:outerShdw>
          </a:effectLst>
        </p:spPr>
        <p:style>
          <a:lnRef idx="0">
            <a:scrgbClr r="0" g="0" b="0"/>
          </a:lnRef>
          <a:fillRef idx="0">
            <a:scrgbClr r="0" g="0" b="0"/>
          </a:fillRef>
          <a:effectRef idx="0">
            <a:scrgbClr r="0" g="0" b="0"/>
          </a:effectRef>
          <a:fontRef idx="minor">
            <a:schemeClr val="tx1"/>
          </a:fontRef>
        </p:style>
      </p:cxnSp>
      <p:sp>
        <p:nvSpPr>
          <p:cNvPr id="23" name="CasellaDiTesto 22">
            <a:extLst>
              <a:ext uri="{FF2B5EF4-FFF2-40B4-BE49-F238E27FC236}">
                <a16:creationId xmlns:a16="http://schemas.microsoft.com/office/drawing/2014/main" id="{2AFD2FFA-39F9-497B-FE58-1811A084F844}"/>
              </a:ext>
            </a:extLst>
          </p:cNvPr>
          <p:cNvSpPr txBox="1"/>
          <p:nvPr/>
        </p:nvSpPr>
        <p:spPr>
          <a:xfrm>
            <a:off x="7295126" y="5024701"/>
            <a:ext cx="2143536" cy="307777"/>
          </a:xfrm>
          <a:prstGeom prst="rect">
            <a:avLst/>
          </a:prstGeom>
          <a:noFill/>
        </p:spPr>
        <p:txBody>
          <a:bodyPr wrap="none" rtlCol="0">
            <a:spAutoFit/>
          </a:bodyPr>
          <a:lstStyle/>
          <a:p>
            <a:r>
              <a:rPr lang="en-US" sz="1400" noProof="0" dirty="0">
                <a:latin typeface="Roboto" panose="02000000000000000000" pitchFamily="2" charset="0"/>
                <a:ea typeface="Roboto" panose="02000000000000000000" pitchFamily="2" charset="0"/>
              </a:rPr>
              <a:t>~4 - 22 minutes one way</a:t>
            </a:r>
          </a:p>
        </p:txBody>
      </p:sp>
      <p:pic>
        <p:nvPicPr>
          <p:cNvPr id="25" name="Immagine 24">
            <a:extLst>
              <a:ext uri="{FF2B5EF4-FFF2-40B4-BE49-F238E27FC236}">
                <a16:creationId xmlns:a16="http://schemas.microsoft.com/office/drawing/2014/main" id="{44760693-E853-A8A7-7EE4-8FA6B2F806CD}"/>
              </a:ext>
            </a:extLst>
          </p:cNvPr>
          <p:cNvPicPr>
            <a:picLocks noChangeAspect="1"/>
          </p:cNvPicPr>
          <p:nvPr/>
        </p:nvPicPr>
        <p:blipFill>
          <a:blip r:embed="rId6"/>
          <a:stretch>
            <a:fillRect/>
          </a:stretch>
        </p:blipFill>
        <p:spPr>
          <a:xfrm>
            <a:off x="4864478" y="4768868"/>
            <a:ext cx="1066028" cy="1066028"/>
          </a:xfrm>
          <a:prstGeom prst="rect">
            <a:avLst/>
          </a:prstGeom>
        </p:spPr>
      </p:pic>
      <p:sp>
        <p:nvSpPr>
          <p:cNvPr id="30" name="Rettangolo con angoli arrotondati 29">
            <a:extLst>
              <a:ext uri="{FF2B5EF4-FFF2-40B4-BE49-F238E27FC236}">
                <a16:creationId xmlns:a16="http://schemas.microsoft.com/office/drawing/2014/main" id="{428ED2EA-849C-787B-E74B-418ECD6A93DF}"/>
              </a:ext>
            </a:extLst>
          </p:cNvPr>
          <p:cNvSpPr/>
          <p:nvPr/>
        </p:nvSpPr>
        <p:spPr>
          <a:xfrm>
            <a:off x="4788588" y="1929378"/>
            <a:ext cx="1283770" cy="369331"/>
          </a:xfrm>
          <a:prstGeom prst="roundRect">
            <a:avLst/>
          </a:prstGeom>
          <a:effectLst>
            <a:outerShdw blurRad="50800" dist="38100" dir="2700000" algn="tl"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en-US" b="1" noProof="0" dirty="0">
                <a:effectLst>
                  <a:outerShdw blurRad="38100" dist="38100" dir="2700000" algn="tl">
                    <a:srgbClr val="000000">
                      <a:alpha val="43137"/>
                    </a:srgbClr>
                  </a:outerShdw>
                </a:effectLst>
                <a:latin typeface="Roboto" panose="02000000000000000000" pitchFamily="2" charset="0"/>
                <a:ea typeface="Roboto" panose="02000000000000000000" pitchFamily="2" charset="0"/>
              </a:rPr>
              <a:t>Planning</a:t>
            </a:r>
          </a:p>
        </p:txBody>
      </p:sp>
      <p:pic>
        <p:nvPicPr>
          <p:cNvPr id="34" name="Immagine 33">
            <a:extLst>
              <a:ext uri="{FF2B5EF4-FFF2-40B4-BE49-F238E27FC236}">
                <a16:creationId xmlns:a16="http://schemas.microsoft.com/office/drawing/2014/main" id="{BA6BB3D8-8A43-E7B1-E9B9-0F2223B8077C}"/>
              </a:ext>
            </a:extLst>
          </p:cNvPr>
          <p:cNvPicPr>
            <a:picLocks noChangeAspect="1"/>
          </p:cNvPicPr>
          <p:nvPr/>
        </p:nvPicPr>
        <p:blipFill>
          <a:blip r:embed="rId7"/>
          <a:stretch>
            <a:fillRect/>
          </a:stretch>
        </p:blipFill>
        <p:spPr>
          <a:xfrm>
            <a:off x="4614614" y="1887234"/>
            <a:ext cx="453618" cy="453618"/>
          </a:xfrm>
          <a:prstGeom prst="rect">
            <a:avLst/>
          </a:prstGeom>
          <a:effectLst>
            <a:outerShdw blurRad="50800" dist="38100" dir="2700000" algn="tl" rotWithShape="0">
              <a:prstClr val="black">
                <a:alpha val="40000"/>
              </a:prstClr>
            </a:outerShdw>
          </a:effectLst>
        </p:spPr>
      </p:pic>
      <p:pic>
        <p:nvPicPr>
          <p:cNvPr id="38" name="Immagine 37">
            <a:extLst>
              <a:ext uri="{FF2B5EF4-FFF2-40B4-BE49-F238E27FC236}">
                <a16:creationId xmlns:a16="http://schemas.microsoft.com/office/drawing/2014/main" id="{0F62A17F-73DF-7D02-241C-633094ECEF6D}"/>
              </a:ext>
            </a:extLst>
          </p:cNvPr>
          <p:cNvPicPr>
            <a:picLocks noChangeAspect="1"/>
          </p:cNvPicPr>
          <p:nvPr/>
        </p:nvPicPr>
        <p:blipFill>
          <a:blip r:embed="rId8"/>
          <a:stretch>
            <a:fillRect/>
          </a:stretch>
        </p:blipFill>
        <p:spPr>
          <a:xfrm>
            <a:off x="6761528" y="2215962"/>
            <a:ext cx="764320" cy="764320"/>
          </a:xfrm>
          <a:prstGeom prst="rect">
            <a:avLst/>
          </a:prstGeom>
          <a:effectLst>
            <a:outerShdw blurRad="50800" dist="38100" dir="2700000" algn="tl" rotWithShape="0">
              <a:prstClr val="black">
                <a:alpha val="40000"/>
              </a:prstClr>
            </a:outerShdw>
          </a:effectLst>
        </p:spPr>
      </p:pic>
      <p:sp>
        <p:nvSpPr>
          <p:cNvPr id="40" name="Rettangolo con angoli arrotondati 39">
            <a:extLst>
              <a:ext uri="{FF2B5EF4-FFF2-40B4-BE49-F238E27FC236}">
                <a16:creationId xmlns:a16="http://schemas.microsoft.com/office/drawing/2014/main" id="{21ED2DED-3422-378F-5E90-2EC5D1887E79}"/>
              </a:ext>
            </a:extLst>
          </p:cNvPr>
          <p:cNvSpPr/>
          <p:nvPr/>
        </p:nvSpPr>
        <p:spPr>
          <a:xfrm>
            <a:off x="9744430" y="3193656"/>
            <a:ext cx="2359203" cy="36933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r"/>
            <a:r>
              <a:rPr lang="en-US" b="1" dirty="0">
                <a:effectLst>
                  <a:outerShdw blurRad="38100" dist="38100" dir="2700000" algn="tl">
                    <a:srgbClr val="000000">
                      <a:alpha val="43137"/>
                    </a:srgbClr>
                  </a:outerShdw>
                </a:effectLst>
                <a:latin typeface="Roboto" panose="02000000000000000000" pitchFamily="2" charset="0"/>
                <a:ea typeface="Roboto" panose="02000000000000000000" pitchFamily="2" charset="0"/>
              </a:rPr>
              <a:t>On-board execution</a:t>
            </a:r>
            <a:endParaRPr lang="en-US" b="1" noProof="0" dirty="0">
              <a:effectLst>
                <a:outerShdw blurRad="38100" dist="38100" dir="2700000" algn="tl">
                  <a:srgbClr val="000000">
                    <a:alpha val="43137"/>
                  </a:srgbClr>
                </a:outerShdw>
              </a:effectLst>
              <a:latin typeface="Roboto" panose="02000000000000000000" pitchFamily="2" charset="0"/>
              <a:ea typeface="Roboto" panose="02000000000000000000" pitchFamily="2" charset="0"/>
            </a:endParaRPr>
          </a:p>
        </p:txBody>
      </p:sp>
      <p:pic>
        <p:nvPicPr>
          <p:cNvPr id="42" name="Immagine 41">
            <a:extLst>
              <a:ext uri="{FF2B5EF4-FFF2-40B4-BE49-F238E27FC236}">
                <a16:creationId xmlns:a16="http://schemas.microsoft.com/office/drawing/2014/main" id="{A617BEE9-1F4A-4964-2D49-565BC00D5CE7}"/>
              </a:ext>
            </a:extLst>
          </p:cNvPr>
          <p:cNvPicPr>
            <a:picLocks noChangeAspect="1"/>
          </p:cNvPicPr>
          <p:nvPr/>
        </p:nvPicPr>
        <p:blipFill>
          <a:blip r:embed="rId9"/>
          <a:stretch>
            <a:fillRect/>
          </a:stretch>
        </p:blipFill>
        <p:spPr>
          <a:xfrm>
            <a:off x="9502035" y="3048874"/>
            <a:ext cx="637954" cy="637954"/>
          </a:xfrm>
          <a:prstGeom prst="rect">
            <a:avLst/>
          </a:prstGeom>
        </p:spPr>
      </p:pic>
      <p:sp>
        <p:nvSpPr>
          <p:cNvPr id="46" name="Rettangolo con angoli arrotondati 45">
            <a:extLst>
              <a:ext uri="{FF2B5EF4-FFF2-40B4-BE49-F238E27FC236}">
                <a16:creationId xmlns:a16="http://schemas.microsoft.com/office/drawing/2014/main" id="{7C7B2047-877F-A90F-36BA-FA0F72DDAF8F}"/>
              </a:ext>
            </a:extLst>
          </p:cNvPr>
          <p:cNvSpPr/>
          <p:nvPr/>
        </p:nvSpPr>
        <p:spPr>
          <a:xfrm>
            <a:off x="6912248" y="4145904"/>
            <a:ext cx="2756892" cy="659025"/>
          </a:xfrm>
          <a:prstGeom prst="roundRect">
            <a:avLst/>
          </a:prstGeom>
          <a:effectLst>
            <a:outerShdw blurRad="50800" dist="38100" dir="2700000" algn="tl" rotWithShape="0">
              <a:prstClr val="black">
                <a:alpha val="40000"/>
              </a:prstClr>
            </a:outerShdw>
          </a:effectLst>
        </p:spPr>
        <p:style>
          <a:lnRef idx="2">
            <a:schemeClr val="accent3">
              <a:shade val="15000"/>
            </a:schemeClr>
          </a:lnRef>
          <a:fillRef idx="1">
            <a:schemeClr val="accent3"/>
          </a:fillRef>
          <a:effectRef idx="0">
            <a:schemeClr val="accent3"/>
          </a:effectRef>
          <a:fontRef idx="minor">
            <a:schemeClr val="lt1"/>
          </a:fontRef>
        </p:style>
        <p:txBody>
          <a:bodyPr lIns="396000" rtlCol="0" anchor="ctr"/>
          <a:lstStyle/>
          <a:p>
            <a:r>
              <a:rPr lang="en-US" b="1" dirty="0">
                <a:effectLst>
                  <a:outerShdw blurRad="50800" dist="38100" dir="2700000" algn="tl" rotWithShape="0">
                    <a:prstClr val="black">
                      <a:alpha val="40000"/>
                    </a:prstClr>
                  </a:outerShdw>
                </a:effectLst>
                <a:latin typeface="Roboto" panose="02000000000000000000" pitchFamily="2" charset="0"/>
                <a:ea typeface="Roboto" panose="02000000000000000000" pitchFamily="2" charset="0"/>
              </a:rPr>
              <a:t>a Report completion</a:t>
            </a:r>
          </a:p>
          <a:p>
            <a:r>
              <a:rPr lang="en-US" b="1" dirty="0">
                <a:effectLst>
                  <a:outerShdw blurRad="50800" dist="38100" dir="2700000" algn="tl" rotWithShape="0">
                    <a:prstClr val="black">
                      <a:alpha val="40000"/>
                    </a:prstClr>
                  </a:outerShdw>
                </a:effectLst>
                <a:latin typeface="Roboto" panose="02000000000000000000" pitchFamily="2" charset="0"/>
                <a:ea typeface="Roboto" panose="02000000000000000000" pitchFamily="2" charset="0"/>
              </a:rPr>
              <a:t>b Request assistance</a:t>
            </a:r>
          </a:p>
        </p:txBody>
      </p:sp>
      <p:pic>
        <p:nvPicPr>
          <p:cNvPr id="44" name="Immagine 43">
            <a:extLst>
              <a:ext uri="{FF2B5EF4-FFF2-40B4-BE49-F238E27FC236}">
                <a16:creationId xmlns:a16="http://schemas.microsoft.com/office/drawing/2014/main" id="{C8B78D56-50E7-38AE-1DBC-B42E01F686DD}"/>
              </a:ext>
            </a:extLst>
          </p:cNvPr>
          <p:cNvPicPr>
            <a:picLocks noChangeAspect="1"/>
          </p:cNvPicPr>
          <p:nvPr/>
        </p:nvPicPr>
        <p:blipFill>
          <a:blip r:embed="rId10"/>
          <a:stretch>
            <a:fillRect/>
          </a:stretch>
        </p:blipFill>
        <p:spPr>
          <a:xfrm>
            <a:off x="6328622" y="3903139"/>
            <a:ext cx="1167251" cy="1167251"/>
          </a:xfrm>
          <a:prstGeom prst="rect">
            <a:avLst/>
          </a:prstGeom>
        </p:spPr>
      </p:pic>
      <p:sp>
        <p:nvSpPr>
          <p:cNvPr id="54" name="source-citations">
            <a:extLst>
              <a:ext uri="{FF2B5EF4-FFF2-40B4-BE49-F238E27FC236}">
                <a16:creationId xmlns:a16="http://schemas.microsoft.com/office/drawing/2014/main" id="{9951E79D-3029-563E-2F5F-6E43657F1F0F}"/>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a:t>
            </a:r>
            <a:r>
              <a:rPr lang="en-US" dirty="0"/>
              <a:t>1</a:t>
            </a:r>
            <a:r>
              <a:rPr lang="en-US" sz="1125" b="0" dirty="0">
                <a:solidFill>
                  <a:srgbClr val="656B73"/>
                </a:solidFill>
                <a:latin typeface="Roboto"/>
                <a:ea typeface="Roboto"/>
                <a:cs typeface="Roboto"/>
              </a:rPr>
              <a:t>]</a:t>
            </a:r>
          </a:p>
        </p:txBody>
      </p:sp>
    </p:spTree>
    <p:extLst>
      <p:ext uri="{BB962C8B-B14F-4D97-AF65-F5344CB8AC3E}">
        <p14:creationId xmlns:p14="http://schemas.microsoft.com/office/powerpoint/2010/main" val="29506252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2F3DB-B36D-71F2-642D-6A23F399E1A4}"/>
            </a:ext>
          </a:extLst>
        </p:cNvPr>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AB640CF2-E36A-F5AD-8E25-93D0FA59F2C2}"/>
              </a:ext>
            </a:extLst>
          </p:cNvPr>
          <p:cNvSpPr>
            <a:spLocks noGrp="1"/>
          </p:cNvSpPr>
          <p:nvPr>
            <p:ph idx="1"/>
          </p:nvPr>
        </p:nvSpPr>
        <p:spPr>
          <a:xfrm>
            <a:off x="914400" y="2153285"/>
            <a:ext cx="4602480" cy="3912235"/>
          </a:xfrm>
        </p:spPr>
        <p:txBody>
          <a:bodyPr>
            <a:normAutofit/>
          </a:bodyPr>
          <a:lstStyle/>
          <a:p>
            <a:r>
              <a:rPr lang="en-US" sz="2400" noProof="0" dirty="0"/>
              <a:t>Its </a:t>
            </a:r>
            <a:r>
              <a:rPr lang="en-US" sz="2400" b="1" noProof="0" dirty="0">
                <a:solidFill>
                  <a:srgbClr val="822433"/>
                </a:solidFill>
              </a:rPr>
              <a:t>mobility</a:t>
            </a:r>
            <a:r>
              <a:rPr lang="en-US" sz="2400" noProof="0" dirty="0"/>
              <a:t> depends also on its </a:t>
            </a:r>
            <a:r>
              <a:rPr lang="en-US" sz="2400" b="1" noProof="0" dirty="0">
                <a:solidFill>
                  <a:srgbClr val="822433"/>
                </a:solidFill>
              </a:rPr>
              <a:t>conditions</a:t>
            </a:r>
          </a:p>
          <a:p>
            <a:endParaRPr lang="en-US" sz="2400" noProof="0" dirty="0"/>
          </a:p>
          <a:p>
            <a:r>
              <a:rPr lang="en-US" sz="2400" noProof="0" dirty="0"/>
              <a:t>Periodic </a:t>
            </a:r>
            <a:r>
              <a:rPr lang="en-US" sz="2400" b="1" noProof="0" dirty="0">
                <a:solidFill>
                  <a:srgbClr val="822433"/>
                </a:solidFill>
              </a:rPr>
              <a:t>manual</a:t>
            </a:r>
            <a:r>
              <a:rPr lang="en-US" sz="2400" noProof="0" dirty="0"/>
              <a:t> inspection are performed, with large </a:t>
            </a:r>
            <a:r>
              <a:rPr lang="en-US" sz="2400" b="1" noProof="0" dirty="0">
                <a:solidFill>
                  <a:srgbClr val="822433"/>
                </a:solidFill>
              </a:rPr>
              <a:t>perforations</a:t>
            </a:r>
            <a:r>
              <a:rPr lang="en-US" sz="2400" noProof="0" dirty="0"/>
              <a:t> already detected</a:t>
            </a:r>
          </a:p>
        </p:txBody>
      </p:sp>
      <p:sp>
        <p:nvSpPr>
          <p:cNvPr id="4" name="Google Shape;102;p14">
            <a:extLst>
              <a:ext uri="{FF2B5EF4-FFF2-40B4-BE49-F238E27FC236}">
                <a16:creationId xmlns:a16="http://schemas.microsoft.com/office/drawing/2014/main" id="{E2BE8079-4E8F-9609-C6F4-0B05A66D0984}"/>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DB01F4C4-041D-4899-9D83-3B148618486D}"/>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6" name="Titolo 1">
            <a:extLst>
              <a:ext uri="{FF2B5EF4-FFF2-40B4-BE49-F238E27FC236}">
                <a16:creationId xmlns:a16="http://schemas.microsoft.com/office/drawing/2014/main" id="{EDDF8B73-D22E-B220-A76C-AE9C753B54BA}"/>
              </a:ext>
            </a:extLst>
          </p:cNvPr>
          <p:cNvSpPr>
            <a:spLocks noGrp="1"/>
          </p:cNvSpPr>
          <p:nvPr>
            <p:ph type="title"/>
          </p:nvPr>
        </p:nvSpPr>
        <p:spPr>
          <a:xfrm>
            <a:off x="838200" y="365125"/>
            <a:ext cx="8384177" cy="835787"/>
          </a:xfrm>
        </p:spPr>
        <p:txBody>
          <a:bodyPr/>
          <a:lstStyle/>
          <a:p>
            <a:r>
              <a:rPr lang="en-US" noProof="0" dirty="0">
                <a:solidFill>
                  <a:srgbClr val="822433"/>
                </a:solidFill>
              </a:rPr>
              <a:t>The challenge</a:t>
            </a:r>
          </a:p>
        </p:txBody>
      </p:sp>
      <p:pic>
        <p:nvPicPr>
          <p:cNvPr id="8" name="Immagine 7">
            <a:extLst>
              <a:ext uri="{FF2B5EF4-FFF2-40B4-BE49-F238E27FC236}">
                <a16:creationId xmlns:a16="http://schemas.microsoft.com/office/drawing/2014/main" id="{3C460DA3-1734-BF4B-7776-5558C594A522}"/>
              </a:ext>
            </a:extLst>
          </p:cNvPr>
          <p:cNvPicPr>
            <a:picLocks noChangeAspect="1"/>
          </p:cNvPicPr>
          <p:nvPr/>
        </p:nvPicPr>
        <p:blipFill>
          <a:blip r:embed="rId3"/>
          <a:stretch/>
        </p:blipFill>
        <p:spPr>
          <a:xfrm>
            <a:off x="5629521" y="1522095"/>
            <a:ext cx="6129798" cy="4286250"/>
          </a:xfrm>
          <a:prstGeom prst="rect">
            <a:avLst/>
          </a:prstGeom>
        </p:spPr>
      </p:pic>
      <p:sp>
        <p:nvSpPr>
          <p:cNvPr id="10" name="image-credit">
            <a:extLst>
              <a:ext uri="{FF2B5EF4-FFF2-40B4-BE49-F238E27FC236}">
                <a16:creationId xmlns:a16="http://schemas.microsoft.com/office/drawing/2014/main" id="{81AA6C63-374D-166A-5A5F-0C3346B8CA40}"/>
              </a:ext>
            </a:extLst>
          </p:cNvPr>
          <p:cNvSpPr>
            <a:spLocks noGrp="1"/>
          </p:cNvSpPr>
          <p:nvPr/>
        </p:nvSpPr>
        <p:spPr>
          <a:xfrm>
            <a:off x="6055995" y="5817870"/>
            <a:ext cx="5476875" cy="247650"/>
          </a:xfrm>
          <a:prstGeom prst="rect">
            <a:avLst/>
          </a:prstGeom>
          <a:noFill/>
          <a:ln w="0">
            <a:noFill/>
          </a:ln>
        </p:spPr>
        <p:txBody>
          <a:bodyPr wrap="square" lIns="0" tIns="0" rIns="0" bIns="0" anchor="t">
            <a:noAutofit/>
          </a:bodyPr>
          <a:lstStyle>
            <a:defPPr algn="ctr">
              <a:defRPr sz="1275" b="0">
                <a:solidFill>
                  <a:srgbClr val="62666B"/>
                </a:solidFill>
                <a:latin typeface="Roboto"/>
                <a:ea typeface="Roboto"/>
                <a:cs typeface="Roboto"/>
              </a:defRPr>
            </a:defPPr>
            <a:lvl1pPr algn="ctr">
              <a:defRPr sz="1275" b="0">
                <a:solidFill>
                  <a:srgbClr val="62666B"/>
                </a:solidFill>
                <a:latin typeface="Roboto"/>
                <a:ea typeface="Roboto"/>
                <a:cs typeface="Roboto"/>
              </a:defRPr>
            </a:lvl1pPr>
            <a:lvl2pPr algn="ctr">
              <a:defRPr sz="1275" b="0">
                <a:solidFill>
                  <a:srgbClr val="62666B"/>
                </a:solidFill>
                <a:latin typeface="Roboto"/>
                <a:ea typeface="Roboto"/>
                <a:cs typeface="Roboto"/>
              </a:defRPr>
            </a:lvl2pPr>
            <a:lvl3pPr algn="ctr">
              <a:defRPr sz="1275" b="0">
                <a:solidFill>
                  <a:srgbClr val="62666B"/>
                </a:solidFill>
                <a:latin typeface="Roboto"/>
                <a:ea typeface="Roboto"/>
                <a:cs typeface="Roboto"/>
              </a:defRPr>
            </a:lvl3pPr>
            <a:lvl4pPr algn="ctr">
              <a:defRPr sz="1275" b="0">
                <a:solidFill>
                  <a:srgbClr val="62666B"/>
                </a:solidFill>
                <a:latin typeface="Roboto"/>
                <a:ea typeface="Roboto"/>
                <a:cs typeface="Roboto"/>
              </a:defRPr>
            </a:lvl4pPr>
            <a:lvl5pPr algn="ctr">
              <a:defRPr sz="1275" b="0">
                <a:solidFill>
                  <a:srgbClr val="62666B"/>
                </a:solidFill>
                <a:latin typeface="Roboto"/>
                <a:ea typeface="Roboto"/>
                <a:cs typeface="Roboto"/>
              </a:defRPr>
            </a:lvl5pPr>
            <a:lvl6pPr algn="ctr">
              <a:defRPr sz="1275" b="0">
                <a:solidFill>
                  <a:srgbClr val="62666B"/>
                </a:solidFill>
                <a:latin typeface="Roboto"/>
                <a:ea typeface="Roboto"/>
                <a:cs typeface="Roboto"/>
              </a:defRPr>
            </a:lvl6pPr>
            <a:lvl7pPr algn="ctr">
              <a:defRPr sz="1275" b="0">
                <a:solidFill>
                  <a:srgbClr val="62666B"/>
                </a:solidFill>
                <a:latin typeface="Roboto"/>
                <a:ea typeface="Roboto"/>
                <a:cs typeface="Roboto"/>
              </a:defRPr>
            </a:lvl7pPr>
            <a:lvl8pPr algn="ctr">
              <a:defRPr sz="1275" b="0">
                <a:solidFill>
                  <a:srgbClr val="62666B"/>
                </a:solidFill>
                <a:latin typeface="Roboto"/>
                <a:ea typeface="Roboto"/>
                <a:cs typeface="Roboto"/>
              </a:defRPr>
            </a:lvl8pPr>
            <a:lvl9pPr algn="ctr">
              <a:defRPr sz="1275" b="0">
                <a:solidFill>
                  <a:srgbClr val="62666B"/>
                </a:solidFill>
                <a:latin typeface="Roboto"/>
                <a:ea typeface="Roboto"/>
                <a:cs typeface="Roboto"/>
              </a:defRPr>
            </a:lvl9pPr>
          </a:lstStyle>
          <a:p>
            <a:pPr algn="ctr">
              <a:defRPr sz="1275" b="0">
                <a:solidFill>
                  <a:srgbClr val="62666B"/>
                </a:solidFill>
                <a:latin typeface="Roboto"/>
                <a:ea typeface="Roboto"/>
                <a:cs typeface="Roboto"/>
              </a:defRPr>
            </a:pPr>
            <a:r>
              <a:rPr sz="1275" b="0" dirty="0">
                <a:solidFill>
                  <a:srgbClr val="62666B"/>
                </a:solidFill>
                <a:latin typeface="Roboto"/>
                <a:ea typeface="Roboto"/>
                <a:cs typeface="Roboto"/>
              </a:rPr>
              <a:t>NASA/JPL-Caltech/MSSS, sol 1315</a:t>
            </a:r>
          </a:p>
        </p:txBody>
      </p:sp>
      <p:sp>
        <p:nvSpPr>
          <p:cNvPr id="7" name="source-citations">
            <a:extLst>
              <a:ext uri="{FF2B5EF4-FFF2-40B4-BE49-F238E27FC236}">
                <a16:creationId xmlns:a16="http://schemas.microsoft.com/office/drawing/2014/main" id="{F403CAFB-45FE-3346-D51B-044908DE6ACA}"/>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[2] [3]</a:t>
            </a:r>
          </a:p>
        </p:txBody>
      </p:sp>
    </p:spTree>
    <p:extLst>
      <p:ext uri="{BB962C8B-B14F-4D97-AF65-F5344CB8AC3E}">
        <p14:creationId xmlns:p14="http://schemas.microsoft.com/office/powerpoint/2010/main" val="2221271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634BA60C-D53C-33C1-F026-069C0579B451}"/>
              </a:ext>
            </a:extLst>
          </p:cNvPr>
          <p:cNvSpPr>
            <a:spLocks noGrp="1"/>
          </p:cNvSpPr>
          <p:nvPr>
            <p:ph idx="1"/>
          </p:nvPr>
        </p:nvSpPr>
        <p:spPr>
          <a:xfrm>
            <a:off x="1611938" y="3059768"/>
            <a:ext cx="4008121" cy="3058995"/>
          </a:xfrm>
        </p:spPr>
        <p:txBody>
          <a:bodyPr/>
          <a:lstStyle/>
          <a:p>
            <a:pPr marL="0" indent="0">
              <a:buNone/>
            </a:pPr>
            <a:r>
              <a:rPr lang="en-US" b="1" u="sng" noProof="0" dirty="0">
                <a:solidFill>
                  <a:srgbClr val="822433"/>
                </a:solidFill>
              </a:rPr>
              <a:t>1 Sce</a:t>
            </a:r>
            <a:r>
              <a:rPr lang="en-US" b="1" u="sng" dirty="0">
                <a:solidFill>
                  <a:srgbClr val="822433"/>
                </a:solidFill>
              </a:rPr>
              <a:t>ne Understanding</a:t>
            </a:r>
          </a:p>
          <a:p>
            <a:pPr marL="0" indent="0">
              <a:buNone/>
            </a:pPr>
            <a:endParaRPr lang="en-US" noProof="0" dirty="0"/>
          </a:p>
          <a:p>
            <a:pPr marL="0" indent="0">
              <a:buNone/>
            </a:pPr>
            <a:r>
              <a:rPr lang="en-US" sz="2200" dirty="0"/>
              <a:t>Semantic segmentation of real Mars rover images</a:t>
            </a:r>
          </a:p>
          <a:p>
            <a:pPr marL="0" indent="0">
              <a:buNone/>
            </a:pPr>
            <a:r>
              <a:rPr lang="en-US" sz="2200" noProof="0" dirty="0"/>
              <a:t>To support navigation</a:t>
            </a:r>
          </a:p>
        </p:txBody>
      </p:sp>
      <p:sp>
        <p:nvSpPr>
          <p:cNvPr id="4" name="Google Shape;102;p14">
            <a:extLst>
              <a:ext uri="{FF2B5EF4-FFF2-40B4-BE49-F238E27FC236}">
                <a16:creationId xmlns:a16="http://schemas.microsoft.com/office/drawing/2014/main" id="{289212E4-ADA7-A6A4-054D-7A25F5585AC7}"/>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5</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6751F937-567F-6642-FDCE-3DFED7334C68}"/>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6" name="Titolo 1">
            <a:extLst>
              <a:ext uri="{FF2B5EF4-FFF2-40B4-BE49-F238E27FC236}">
                <a16:creationId xmlns:a16="http://schemas.microsoft.com/office/drawing/2014/main" id="{0E23B25A-177E-3C6C-A6B9-E17838168E67}"/>
              </a:ext>
            </a:extLst>
          </p:cNvPr>
          <p:cNvSpPr>
            <a:spLocks noGrp="1"/>
          </p:cNvSpPr>
          <p:nvPr>
            <p:ph type="title"/>
          </p:nvPr>
        </p:nvSpPr>
        <p:spPr>
          <a:xfrm>
            <a:off x="838200" y="365125"/>
            <a:ext cx="8384177" cy="835787"/>
          </a:xfrm>
        </p:spPr>
        <p:txBody>
          <a:bodyPr/>
          <a:lstStyle/>
          <a:p>
            <a:r>
              <a:rPr lang="en-US" dirty="0">
                <a:solidFill>
                  <a:srgbClr val="822433"/>
                </a:solidFill>
              </a:rPr>
              <a:t>Research objective</a:t>
            </a:r>
            <a:endParaRPr lang="en-US" noProof="0" dirty="0">
              <a:solidFill>
                <a:srgbClr val="822433"/>
              </a:solidFill>
            </a:endParaRPr>
          </a:p>
        </p:txBody>
      </p:sp>
      <p:sp>
        <p:nvSpPr>
          <p:cNvPr id="11" name="Segnaposto contenuto 2">
            <a:extLst>
              <a:ext uri="{FF2B5EF4-FFF2-40B4-BE49-F238E27FC236}">
                <a16:creationId xmlns:a16="http://schemas.microsoft.com/office/drawing/2014/main" id="{97E7D6F9-E995-40A1-F543-8EC613B4C195}"/>
              </a:ext>
            </a:extLst>
          </p:cNvPr>
          <p:cNvSpPr txBox="1">
            <a:spLocks/>
          </p:cNvSpPr>
          <p:nvPr/>
        </p:nvSpPr>
        <p:spPr>
          <a:xfrm>
            <a:off x="6675119" y="3070122"/>
            <a:ext cx="4248913" cy="3189047"/>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Roboto" panose="02000000000000000000" pitchFamily="2"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Roboto" panose="02000000000000000000" pitchFamily="2"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Roboto" panose="02000000000000000000" pitchFamily="2"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u="sng" dirty="0">
                <a:solidFill>
                  <a:srgbClr val="822433"/>
                </a:solidFill>
              </a:rPr>
              <a:t>2 Wheel Inspection</a:t>
            </a:r>
          </a:p>
          <a:p>
            <a:pPr marL="0" indent="0">
              <a:buNone/>
            </a:pPr>
            <a:endParaRPr lang="en-US" sz="2200" b="1" u="sng" dirty="0">
              <a:solidFill>
                <a:srgbClr val="822433"/>
              </a:solidFill>
            </a:endParaRPr>
          </a:p>
          <a:p>
            <a:pPr marL="0" indent="0">
              <a:buNone/>
            </a:pPr>
            <a:r>
              <a:rPr lang="en-US" sz="2200" dirty="0"/>
              <a:t>Anomaly Detection using a synthetically generated dataset</a:t>
            </a:r>
          </a:p>
          <a:p>
            <a:pPr marL="0" indent="0">
              <a:buNone/>
            </a:pPr>
            <a:r>
              <a:rPr lang="en-US" sz="2200" noProof="0" dirty="0"/>
              <a:t>To prevent further damage</a:t>
            </a:r>
          </a:p>
        </p:txBody>
      </p:sp>
      <p:grpSp>
        <p:nvGrpSpPr>
          <p:cNvPr id="16" name="Gruppo 15">
            <a:extLst>
              <a:ext uri="{FF2B5EF4-FFF2-40B4-BE49-F238E27FC236}">
                <a16:creationId xmlns:a16="http://schemas.microsoft.com/office/drawing/2014/main" id="{9DC70907-1725-B8AC-9511-304555C4CF88}"/>
              </a:ext>
            </a:extLst>
          </p:cNvPr>
          <p:cNvGrpSpPr/>
          <p:nvPr/>
        </p:nvGrpSpPr>
        <p:grpSpPr>
          <a:xfrm>
            <a:off x="1051560" y="1592054"/>
            <a:ext cx="9356815" cy="829997"/>
            <a:chOff x="1051560" y="1592054"/>
            <a:chExt cx="9356815" cy="829997"/>
          </a:xfrm>
        </p:grpSpPr>
        <p:sp>
          <p:nvSpPr>
            <p:cNvPr id="12" name="Segnaposto contenuto 2">
              <a:extLst>
                <a:ext uri="{FF2B5EF4-FFF2-40B4-BE49-F238E27FC236}">
                  <a16:creationId xmlns:a16="http://schemas.microsoft.com/office/drawing/2014/main" id="{BE704A8C-B264-41F2-916E-C29042E0E019}"/>
                </a:ext>
              </a:extLst>
            </p:cNvPr>
            <p:cNvSpPr txBox="1">
              <a:spLocks/>
            </p:cNvSpPr>
            <p:nvPr/>
          </p:nvSpPr>
          <p:spPr>
            <a:xfrm>
              <a:off x="3307623" y="1592054"/>
              <a:ext cx="7100752" cy="829997"/>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Roboto" panose="02000000000000000000" pitchFamily="2"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Roboto" panose="02000000000000000000" pitchFamily="2"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Roboto" panose="02000000000000000000" pitchFamily="2"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noProof="0" dirty="0"/>
                <a:t>Support autonomous operations</a:t>
              </a:r>
              <a:r>
                <a:rPr lang="en-US" sz="2400" dirty="0"/>
                <a:t> while </a:t>
              </a:r>
              <a:r>
                <a:rPr lang="en-US" sz="2400" noProof="0" dirty="0"/>
                <a:t>evaluating the trade-off between accuracy and efficiency</a:t>
              </a:r>
            </a:p>
          </p:txBody>
        </p:sp>
        <p:sp>
          <p:nvSpPr>
            <p:cNvPr id="13" name="Rettangolo con angoli arrotondati 12">
              <a:extLst>
                <a:ext uri="{FF2B5EF4-FFF2-40B4-BE49-F238E27FC236}">
                  <a16:creationId xmlns:a16="http://schemas.microsoft.com/office/drawing/2014/main" id="{71EDF741-FD85-D6EE-C4DB-AF84B65AD4BD}"/>
                </a:ext>
              </a:extLst>
            </p:cNvPr>
            <p:cNvSpPr/>
            <p:nvPr/>
          </p:nvSpPr>
          <p:spPr>
            <a:xfrm>
              <a:off x="1051560" y="1798869"/>
              <a:ext cx="2545080" cy="426720"/>
            </a:xfrm>
            <a:prstGeom prst="roundRect">
              <a:avLst/>
            </a:prstGeom>
            <a:noFill/>
            <a:ln>
              <a:noFill/>
            </a:ln>
          </p:spPr>
          <p:style>
            <a:lnRef idx="0">
              <a:scrgbClr r="0" g="0" b="0"/>
            </a:lnRef>
            <a:fillRef idx="0">
              <a:scrgbClr r="0" g="0" b="0"/>
            </a:fillRef>
            <a:effectRef idx="0">
              <a:scrgbClr r="0" g="0" b="0"/>
            </a:effectRef>
            <a:fontRef idx="minor">
              <a:schemeClr val="accent1"/>
            </a:fontRef>
          </p:style>
          <p:txBody>
            <a:bodyPr rtlCol="0" anchor="ctr"/>
            <a:lstStyle/>
            <a:p>
              <a:pPr algn="ctr"/>
              <a:r>
                <a:rPr lang="en-US" sz="2400" b="1" u="sng" noProof="0" dirty="0">
                  <a:solidFill>
                    <a:srgbClr val="822433"/>
                  </a:solidFill>
                  <a:latin typeface="Roboto" panose="02000000000000000000" pitchFamily="2" charset="0"/>
                  <a:ea typeface="Roboto" panose="02000000000000000000" pitchFamily="2" charset="0"/>
                </a:rPr>
                <a:t>Main Objective:</a:t>
              </a:r>
            </a:p>
          </p:txBody>
        </p:sp>
      </p:grpSp>
      <p:cxnSp>
        <p:nvCxnSpPr>
          <p:cNvPr id="15" name="Connettore diritto 14">
            <a:extLst>
              <a:ext uri="{FF2B5EF4-FFF2-40B4-BE49-F238E27FC236}">
                <a16:creationId xmlns:a16="http://schemas.microsoft.com/office/drawing/2014/main" id="{77D9676C-38F9-2A8D-7609-719A38AE19C4}"/>
              </a:ext>
            </a:extLst>
          </p:cNvPr>
          <p:cNvCxnSpPr>
            <a:cxnSpLocks/>
          </p:cNvCxnSpPr>
          <p:nvPr/>
        </p:nvCxnSpPr>
        <p:spPr>
          <a:xfrm>
            <a:off x="952500" y="2746086"/>
            <a:ext cx="10287000" cy="0"/>
          </a:xfrm>
          <a:prstGeom prst="line">
            <a:avLst/>
          </a:prstGeom>
          <a:ln w="28575">
            <a:solidFill>
              <a:srgbClr val="822433"/>
            </a:solidFill>
          </a:ln>
        </p:spPr>
        <p:style>
          <a:lnRef idx="1">
            <a:schemeClr val="accent1"/>
          </a:lnRef>
          <a:fillRef idx="0">
            <a:schemeClr val="accent1"/>
          </a:fillRef>
          <a:effectRef idx="0">
            <a:schemeClr val="accent1"/>
          </a:effectRef>
          <a:fontRef idx="minor">
            <a:schemeClr val="tx1"/>
          </a:fontRef>
        </p:style>
      </p:cxnSp>
      <p:cxnSp>
        <p:nvCxnSpPr>
          <p:cNvPr id="2" name="Connettore diritto 14">
            <a:extLst>
              <a:ext uri="{FF2B5EF4-FFF2-40B4-BE49-F238E27FC236}">
                <a16:creationId xmlns:a16="http://schemas.microsoft.com/office/drawing/2014/main" id="{FD9376E7-C567-B4D5-DC36-24C9BF0A5E63}"/>
              </a:ext>
            </a:extLst>
          </p:cNvPr>
          <p:cNvCxnSpPr>
            <a:cxnSpLocks/>
          </p:cNvCxnSpPr>
          <p:nvPr/>
        </p:nvCxnSpPr>
        <p:spPr>
          <a:xfrm>
            <a:off x="6096000" y="2952750"/>
            <a:ext cx="0" cy="2714625"/>
          </a:xfrm>
          <a:prstGeom prst="line">
            <a:avLst/>
          </a:prstGeom>
          <a:ln w="28575">
            <a:solidFill>
              <a:srgbClr val="82243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23438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D9DC1-FC24-E459-7A5E-590238C9909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3398E57-68D8-3449-9EA5-E189F2610AA4}"/>
              </a:ext>
            </a:extLst>
          </p:cNvPr>
          <p:cNvSpPr>
            <a:spLocks noGrp="1"/>
          </p:cNvSpPr>
          <p:nvPr>
            <p:ph type="title"/>
          </p:nvPr>
        </p:nvSpPr>
        <p:spPr/>
        <p:txBody>
          <a:bodyPr>
            <a:normAutofit/>
          </a:bodyPr>
          <a:lstStyle/>
          <a:p>
            <a:r>
              <a:rPr lang="it-IT" sz="5400" dirty="0" err="1">
                <a:solidFill>
                  <a:srgbClr val="822433"/>
                </a:solidFill>
              </a:rPr>
              <a:t>Lightweight</a:t>
            </a:r>
            <a:r>
              <a:rPr lang="it-IT" sz="5400" dirty="0">
                <a:solidFill>
                  <a:srgbClr val="822433"/>
                </a:solidFill>
              </a:rPr>
              <a:t> Scene </a:t>
            </a:r>
            <a:r>
              <a:rPr lang="it-IT" sz="5400" dirty="0" err="1">
                <a:solidFill>
                  <a:srgbClr val="822433"/>
                </a:solidFill>
              </a:rPr>
              <a:t>Understanding</a:t>
            </a:r>
            <a:endParaRPr lang="it-IT" sz="5400" dirty="0">
              <a:solidFill>
                <a:srgbClr val="822433"/>
              </a:solidFill>
            </a:endParaRPr>
          </a:p>
        </p:txBody>
      </p:sp>
      <p:sp>
        <p:nvSpPr>
          <p:cNvPr id="3" name="Segnaposto testo 2">
            <a:extLst>
              <a:ext uri="{FF2B5EF4-FFF2-40B4-BE49-F238E27FC236}">
                <a16:creationId xmlns:a16="http://schemas.microsoft.com/office/drawing/2014/main" id="{9FF8C077-08F7-ABFC-1C23-781287469965}"/>
              </a:ext>
            </a:extLst>
          </p:cNvPr>
          <p:cNvSpPr>
            <a:spLocks noGrp="1"/>
          </p:cNvSpPr>
          <p:nvPr>
            <p:ph type="body" idx="1"/>
          </p:nvPr>
        </p:nvSpPr>
        <p:spPr>
          <a:xfrm>
            <a:off x="844550" y="3322320"/>
            <a:ext cx="10515600" cy="466090"/>
          </a:xfrm>
        </p:spPr>
        <p:txBody>
          <a:bodyPr/>
          <a:lstStyle/>
          <a:p>
            <a:r>
              <a:rPr lang="it-IT" dirty="0" err="1"/>
              <a:t>Introduction</a:t>
            </a:r>
            <a:endParaRPr lang="it-IT" dirty="0"/>
          </a:p>
        </p:txBody>
      </p:sp>
      <p:sp>
        <p:nvSpPr>
          <p:cNvPr id="4" name="Google Shape;102;p14">
            <a:extLst>
              <a:ext uri="{FF2B5EF4-FFF2-40B4-BE49-F238E27FC236}">
                <a16:creationId xmlns:a16="http://schemas.microsoft.com/office/drawing/2014/main" id="{0DA9B12F-F05D-2B3C-CF9A-C423929A0C99}"/>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6</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B652D18F-50DB-3CB9-74C4-FB954482CB28}"/>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8" name="Segnaposto testo 2">
            <a:extLst>
              <a:ext uri="{FF2B5EF4-FFF2-40B4-BE49-F238E27FC236}">
                <a16:creationId xmlns:a16="http://schemas.microsoft.com/office/drawing/2014/main" id="{1643E970-55F9-1B32-2F4A-03CB791398BC}"/>
              </a:ext>
            </a:extLst>
          </p:cNvPr>
          <p:cNvSpPr txBox="1">
            <a:spLocks/>
          </p:cNvSpPr>
          <p:nvPr/>
        </p:nvSpPr>
        <p:spPr>
          <a:xfrm>
            <a:off x="844550" y="4562475"/>
            <a:ext cx="10515600" cy="1544003"/>
          </a:xfrm>
          <a:prstGeom prst="rect">
            <a:avLst/>
          </a:prstGeom>
        </p:spPr>
        <p:txBody>
          <a:bodyPr vert="horz" lIns="91440" tIns="45720" rIns="91440" bIns="45720" rtlCol="0">
            <a:normAutofit lnSpcReduction="10000"/>
          </a:bodyPr>
          <a:lstStyle>
            <a:lvl1pPr marL="0" indent="0" algn="l" defTabSz="914400" rtl="0" eaLnBrk="1" latinLnBrk="0" hangingPunct="1">
              <a:lnSpc>
                <a:spcPct val="100000"/>
              </a:lnSpc>
              <a:spcBef>
                <a:spcPts val="1000"/>
              </a:spcBef>
              <a:buFont typeface="Arial" panose="020B0604020202020204" pitchFamily="34" charset="0"/>
              <a:buNone/>
              <a:defRPr sz="24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1pPr>
            <a:lvl2pPr marL="457200" indent="0" algn="l" defTabSz="914400" rtl="0" eaLnBrk="1" latinLnBrk="0" hangingPunct="1">
              <a:lnSpc>
                <a:spcPct val="100000"/>
              </a:lnSpc>
              <a:spcBef>
                <a:spcPts val="500"/>
              </a:spcBef>
              <a:buFont typeface="Arial" panose="020B0604020202020204" pitchFamily="34" charset="0"/>
              <a:buNone/>
              <a:defRPr sz="20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2pPr>
            <a:lvl3pPr marL="914400" indent="0" algn="l" defTabSz="914400" rtl="0" eaLnBrk="1" latinLnBrk="0" hangingPunct="1">
              <a:lnSpc>
                <a:spcPct val="100000"/>
              </a:lnSpc>
              <a:spcBef>
                <a:spcPts val="500"/>
              </a:spcBef>
              <a:buFont typeface="Arial" panose="020B0604020202020204" pitchFamily="34" charset="0"/>
              <a:buNone/>
              <a:defRPr sz="18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3pPr>
            <a:lvl4pPr marL="13716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4pPr>
            <a:lvl5pPr marL="18288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US" dirty="0"/>
              <a:t>Synthetic Dataset Generation</a:t>
            </a:r>
            <a:br>
              <a:rPr lang="en-US" dirty="0"/>
            </a:br>
            <a:r>
              <a:rPr lang="en-US" dirty="0"/>
              <a:t>Synthetic Damage Inspection</a:t>
            </a:r>
            <a:br>
              <a:rPr lang="en-US" dirty="0"/>
            </a:br>
            <a:r>
              <a:rPr lang="en-US" dirty="0"/>
              <a:t>Results</a:t>
            </a:r>
            <a:br>
              <a:rPr lang="en-US" dirty="0"/>
            </a:br>
            <a:r>
              <a:rPr lang="en-US" dirty="0"/>
              <a:t>Conclusions</a:t>
            </a:r>
            <a:endParaRPr lang="it-IT" dirty="0"/>
          </a:p>
        </p:txBody>
      </p:sp>
    </p:spTree>
    <p:extLst>
      <p:ext uri="{BB962C8B-B14F-4D97-AF65-F5344CB8AC3E}">
        <p14:creationId xmlns:p14="http://schemas.microsoft.com/office/powerpoint/2010/main" val="7288278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BDE15-2EC3-5B81-9131-12F4F356265E}"/>
            </a:ext>
          </a:extLst>
        </p:cNvPr>
        <p:cNvGrpSpPr/>
        <p:nvPr/>
      </p:nvGrpSpPr>
      <p:grpSpPr>
        <a:xfrm>
          <a:off x="0" y="0"/>
          <a:ext cx="0" cy="0"/>
          <a:chOff x="0" y="0"/>
          <a:chExt cx="0" cy="0"/>
        </a:xfrm>
      </p:grpSpPr>
      <p:sp>
        <p:nvSpPr>
          <p:cNvPr id="4" name="Google Shape;102;p14">
            <a:extLst>
              <a:ext uri="{FF2B5EF4-FFF2-40B4-BE49-F238E27FC236}">
                <a16:creationId xmlns:a16="http://schemas.microsoft.com/office/drawing/2014/main" id="{9A02A468-36B8-2AD1-4F16-532FACD2F539}"/>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7</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838F9F36-E922-47DD-82F5-1C0DEF15327F}"/>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6" name="Titolo 1">
            <a:extLst>
              <a:ext uri="{FF2B5EF4-FFF2-40B4-BE49-F238E27FC236}">
                <a16:creationId xmlns:a16="http://schemas.microsoft.com/office/drawing/2014/main" id="{508A5B33-C04C-C1B1-345F-4459DA70F9D7}"/>
              </a:ext>
            </a:extLst>
          </p:cNvPr>
          <p:cNvSpPr>
            <a:spLocks noGrp="1"/>
          </p:cNvSpPr>
          <p:nvPr>
            <p:ph type="title"/>
          </p:nvPr>
        </p:nvSpPr>
        <p:spPr>
          <a:xfrm>
            <a:off x="838200" y="365125"/>
            <a:ext cx="8384177" cy="835787"/>
          </a:xfrm>
        </p:spPr>
        <p:txBody>
          <a:bodyPr/>
          <a:lstStyle/>
          <a:p>
            <a:r>
              <a:rPr lang="en-US" dirty="0">
                <a:solidFill>
                  <a:srgbClr val="822433"/>
                </a:solidFill>
              </a:rPr>
              <a:t>Semantic Segmentation</a:t>
            </a:r>
            <a:endParaRPr lang="en-US" noProof="0" dirty="0">
              <a:solidFill>
                <a:srgbClr val="822433"/>
              </a:solidFill>
            </a:endParaRPr>
          </a:p>
        </p:txBody>
      </p:sp>
      <p:sp>
        <p:nvSpPr>
          <p:cNvPr id="9" name="label-s5mars-rgb.png">
            <a:extLst>
              <a:ext uri="{FF2B5EF4-FFF2-40B4-BE49-F238E27FC236}">
                <a16:creationId xmlns:a16="http://schemas.microsoft.com/office/drawing/2014/main" id="{12BAE005-0076-88ED-9DF3-B48160278A3B}"/>
              </a:ext>
            </a:extLst>
          </p:cNvPr>
          <p:cNvSpPr>
            <a:spLocks noGrp="1"/>
          </p:cNvSpPr>
          <p:nvPr/>
        </p:nvSpPr>
        <p:spPr>
          <a:xfrm>
            <a:off x="1410272" y="1624293"/>
            <a:ext cx="3095625" cy="381000"/>
          </a:xfrm>
          <a:prstGeom prst="rect">
            <a:avLst/>
          </a:prstGeom>
          <a:noFill/>
          <a:ln w="0">
            <a:noFill/>
          </a:ln>
        </p:spPr>
        <p:txBody>
          <a:bodyPr wrap="square" lIns="0" tIns="0" rIns="0" bIns="0" anchor="t">
            <a:noAutofit/>
          </a:bodyPr>
          <a:lstStyle>
            <a:defPPr algn="ctr">
              <a:defRPr lang="en-US" sz="2100" b="1">
                <a:solidFill>
                  <a:srgbClr val="202124"/>
                </a:solidFill>
                <a:latin typeface="Roboto"/>
                <a:ea typeface="Roboto"/>
                <a:cs typeface="Roboto"/>
              </a:defRPr>
            </a:defPPr>
            <a:lvl1pPr algn="ctr">
              <a:defRPr lang="en-US" sz="2100" b="1">
                <a:solidFill>
                  <a:srgbClr val="202124"/>
                </a:solidFill>
                <a:latin typeface="Roboto"/>
                <a:ea typeface="Roboto"/>
                <a:cs typeface="Roboto"/>
              </a:defRPr>
            </a:lvl1pPr>
            <a:lvl2pPr algn="ctr">
              <a:defRPr lang="en-US" sz="2100" b="1">
                <a:solidFill>
                  <a:srgbClr val="202124"/>
                </a:solidFill>
                <a:latin typeface="Roboto"/>
                <a:ea typeface="Roboto"/>
                <a:cs typeface="Roboto"/>
              </a:defRPr>
            </a:lvl2pPr>
            <a:lvl3pPr algn="ctr">
              <a:defRPr lang="en-US" sz="2100" b="1">
                <a:solidFill>
                  <a:srgbClr val="202124"/>
                </a:solidFill>
                <a:latin typeface="Roboto"/>
                <a:ea typeface="Roboto"/>
                <a:cs typeface="Roboto"/>
              </a:defRPr>
            </a:lvl3pPr>
            <a:lvl4pPr algn="ctr">
              <a:defRPr lang="en-US" sz="2100" b="1">
                <a:solidFill>
                  <a:srgbClr val="202124"/>
                </a:solidFill>
                <a:latin typeface="Roboto"/>
                <a:ea typeface="Roboto"/>
                <a:cs typeface="Roboto"/>
              </a:defRPr>
            </a:lvl4pPr>
            <a:lvl5pPr algn="ctr">
              <a:defRPr lang="en-US" sz="2100" b="1">
                <a:solidFill>
                  <a:srgbClr val="202124"/>
                </a:solidFill>
                <a:latin typeface="Roboto"/>
                <a:ea typeface="Roboto"/>
                <a:cs typeface="Roboto"/>
              </a:defRPr>
            </a:lvl5pPr>
            <a:lvl6pPr algn="ctr">
              <a:defRPr lang="en-US" sz="2100" b="1">
                <a:solidFill>
                  <a:srgbClr val="202124"/>
                </a:solidFill>
                <a:latin typeface="Roboto"/>
                <a:ea typeface="Roboto"/>
                <a:cs typeface="Roboto"/>
              </a:defRPr>
            </a:lvl6pPr>
            <a:lvl7pPr algn="ctr">
              <a:defRPr lang="en-US" sz="2100" b="1">
                <a:solidFill>
                  <a:srgbClr val="202124"/>
                </a:solidFill>
                <a:latin typeface="Roboto"/>
                <a:ea typeface="Roboto"/>
                <a:cs typeface="Roboto"/>
              </a:defRPr>
            </a:lvl7pPr>
            <a:lvl8pPr algn="ctr">
              <a:defRPr lang="en-US" sz="2100" b="1">
                <a:solidFill>
                  <a:srgbClr val="202124"/>
                </a:solidFill>
                <a:latin typeface="Roboto"/>
                <a:ea typeface="Roboto"/>
                <a:cs typeface="Roboto"/>
              </a:defRPr>
            </a:lvl8pPr>
            <a:lvl9pPr algn="ctr">
              <a:defRPr lang="en-US" sz="2100" b="1">
                <a:solidFill>
                  <a:srgbClr val="202124"/>
                </a:solidFill>
                <a:latin typeface="Roboto"/>
                <a:ea typeface="Roboto"/>
                <a:cs typeface="Roboto"/>
              </a:defRPr>
            </a:lvl9pPr>
          </a:lstStyle>
          <a:p>
            <a:pPr algn="ctr">
              <a:defRPr lang="en-US" sz="2100" b="1">
                <a:solidFill>
                  <a:srgbClr val="202124"/>
                </a:solidFill>
                <a:latin typeface="Roboto"/>
                <a:ea typeface="Roboto"/>
                <a:cs typeface="Roboto"/>
              </a:defRPr>
            </a:pPr>
            <a:r>
              <a:rPr lang="en-US" sz="2100" b="1">
                <a:solidFill>
                  <a:srgbClr val="202124"/>
                </a:solidFill>
                <a:latin typeface="Roboto"/>
                <a:ea typeface="Roboto"/>
                <a:cs typeface="Roboto"/>
              </a:rPr>
              <a:t>RGB observation</a:t>
            </a:r>
          </a:p>
        </p:txBody>
      </p:sp>
      <p:pic>
        <p:nvPicPr>
          <p:cNvPr id="14" name="Immagine 13">
            <a:extLst>
              <a:ext uri="{FF2B5EF4-FFF2-40B4-BE49-F238E27FC236}">
                <a16:creationId xmlns:a16="http://schemas.microsoft.com/office/drawing/2014/main" id="{51C1090F-2023-3CE3-3D08-16BC58660DDA}"/>
              </a:ext>
            </a:extLst>
          </p:cNvPr>
          <p:cNvPicPr>
            <a:picLocks noChangeAspect="1"/>
          </p:cNvPicPr>
          <p:nvPr/>
        </p:nvPicPr>
        <p:blipFill>
          <a:blip r:embed="rId3"/>
          <a:stretch/>
        </p:blipFill>
        <p:spPr>
          <a:xfrm>
            <a:off x="1410272" y="2195793"/>
            <a:ext cx="3095625" cy="3095625"/>
          </a:xfrm>
          <a:prstGeom prst="rect">
            <a:avLst/>
          </a:prstGeom>
          <a:effectLst>
            <a:outerShdw blurRad="50800" dist="38100" dir="2700000" algn="tl" rotWithShape="0">
              <a:prstClr val="black">
                <a:alpha val="40000"/>
              </a:prstClr>
            </a:outerShdw>
          </a:effectLst>
        </p:spPr>
      </p:pic>
      <p:sp>
        <p:nvSpPr>
          <p:cNvPr id="18" name="label-s5mars-ground-truth.png">
            <a:extLst>
              <a:ext uri="{FF2B5EF4-FFF2-40B4-BE49-F238E27FC236}">
                <a16:creationId xmlns:a16="http://schemas.microsoft.com/office/drawing/2014/main" id="{D046D544-3F35-663A-DCC2-31BC5E9B921D}"/>
              </a:ext>
            </a:extLst>
          </p:cNvPr>
          <p:cNvSpPr>
            <a:spLocks noGrp="1"/>
          </p:cNvSpPr>
          <p:nvPr/>
        </p:nvSpPr>
        <p:spPr>
          <a:xfrm>
            <a:off x="6513195" y="1624293"/>
            <a:ext cx="3095625" cy="381000"/>
          </a:xfrm>
          <a:prstGeom prst="rect">
            <a:avLst/>
          </a:prstGeom>
          <a:noFill/>
          <a:ln w="0">
            <a:noFill/>
          </a:ln>
        </p:spPr>
        <p:txBody>
          <a:bodyPr wrap="square" lIns="0" tIns="0" rIns="0" bIns="0" anchor="t">
            <a:noAutofit/>
          </a:bodyPr>
          <a:lstStyle>
            <a:defPPr algn="ctr">
              <a:defRPr lang="en-US" sz="2100" b="1">
                <a:solidFill>
                  <a:srgbClr val="202124"/>
                </a:solidFill>
                <a:latin typeface="Roboto"/>
                <a:ea typeface="Roboto"/>
                <a:cs typeface="Roboto"/>
              </a:defRPr>
            </a:defPPr>
            <a:lvl1pPr algn="ctr">
              <a:defRPr lang="en-US" sz="2100" b="1">
                <a:solidFill>
                  <a:srgbClr val="202124"/>
                </a:solidFill>
                <a:latin typeface="Roboto"/>
                <a:ea typeface="Roboto"/>
                <a:cs typeface="Roboto"/>
              </a:defRPr>
            </a:lvl1pPr>
            <a:lvl2pPr algn="ctr">
              <a:defRPr lang="en-US" sz="2100" b="1">
                <a:solidFill>
                  <a:srgbClr val="202124"/>
                </a:solidFill>
                <a:latin typeface="Roboto"/>
                <a:ea typeface="Roboto"/>
                <a:cs typeface="Roboto"/>
              </a:defRPr>
            </a:lvl2pPr>
            <a:lvl3pPr algn="ctr">
              <a:defRPr lang="en-US" sz="2100" b="1">
                <a:solidFill>
                  <a:srgbClr val="202124"/>
                </a:solidFill>
                <a:latin typeface="Roboto"/>
                <a:ea typeface="Roboto"/>
                <a:cs typeface="Roboto"/>
              </a:defRPr>
            </a:lvl3pPr>
            <a:lvl4pPr algn="ctr">
              <a:defRPr lang="en-US" sz="2100" b="1">
                <a:solidFill>
                  <a:srgbClr val="202124"/>
                </a:solidFill>
                <a:latin typeface="Roboto"/>
                <a:ea typeface="Roboto"/>
                <a:cs typeface="Roboto"/>
              </a:defRPr>
            </a:lvl4pPr>
            <a:lvl5pPr algn="ctr">
              <a:defRPr lang="en-US" sz="2100" b="1">
                <a:solidFill>
                  <a:srgbClr val="202124"/>
                </a:solidFill>
                <a:latin typeface="Roboto"/>
                <a:ea typeface="Roboto"/>
                <a:cs typeface="Roboto"/>
              </a:defRPr>
            </a:lvl5pPr>
            <a:lvl6pPr algn="ctr">
              <a:defRPr lang="en-US" sz="2100" b="1">
                <a:solidFill>
                  <a:srgbClr val="202124"/>
                </a:solidFill>
                <a:latin typeface="Roboto"/>
                <a:ea typeface="Roboto"/>
                <a:cs typeface="Roboto"/>
              </a:defRPr>
            </a:lvl6pPr>
            <a:lvl7pPr algn="ctr">
              <a:defRPr lang="en-US" sz="2100" b="1">
                <a:solidFill>
                  <a:srgbClr val="202124"/>
                </a:solidFill>
                <a:latin typeface="Roboto"/>
                <a:ea typeface="Roboto"/>
                <a:cs typeface="Roboto"/>
              </a:defRPr>
            </a:lvl7pPr>
            <a:lvl8pPr algn="ctr">
              <a:defRPr lang="en-US" sz="2100" b="1">
                <a:solidFill>
                  <a:srgbClr val="202124"/>
                </a:solidFill>
                <a:latin typeface="Roboto"/>
                <a:ea typeface="Roboto"/>
                <a:cs typeface="Roboto"/>
              </a:defRPr>
            </a:lvl8pPr>
            <a:lvl9pPr algn="ctr">
              <a:defRPr lang="en-US" sz="2100" b="1">
                <a:solidFill>
                  <a:srgbClr val="202124"/>
                </a:solidFill>
                <a:latin typeface="Roboto"/>
                <a:ea typeface="Roboto"/>
                <a:cs typeface="Roboto"/>
              </a:defRPr>
            </a:lvl9pPr>
          </a:lstStyle>
          <a:p>
            <a:pPr algn="ctr">
              <a:defRPr lang="en-US" sz="2100" b="1">
                <a:solidFill>
                  <a:srgbClr val="202124"/>
                </a:solidFill>
                <a:latin typeface="Roboto"/>
                <a:ea typeface="Roboto"/>
                <a:cs typeface="Roboto"/>
              </a:defRPr>
            </a:pPr>
            <a:r>
              <a:rPr lang="en-US" sz="2100" b="1" dirty="0">
                <a:solidFill>
                  <a:srgbClr val="202124"/>
                </a:solidFill>
                <a:latin typeface="Roboto"/>
                <a:ea typeface="Roboto"/>
                <a:cs typeface="Roboto"/>
              </a:rPr>
              <a:t>Ground truth</a:t>
            </a:r>
          </a:p>
        </p:txBody>
      </p:sp>
      <p:pic>
        <p:nvPicPr>
          <p:cNvPr id="20" name="Immagine 19">
            <a:extLst>
              <a:ext uri="{FF2B5EF4-FFF2-40B4-BE49-F238E27FC236}">
                <a16:creationId xmlns:a16="http://schemas.microsoft.com/office/drawing/2014/main" id="{FB42439D-B7EC-B646-B7CA-66FE67A787FB}"/>
              </a:ext>
            </a:extLst>
          </p:cNvPr>
          <p:cNvPicPr>
            <a:picLocks noChangeAspect="1"/>
          </p:cNvPicPr>
          <p:nvPr/>
        </p:nvPicPr>
        <p:blipFill>
          <a:blip r:embed="rId4"/>
          <a:stretch/>
        </p:blipFill>
        <p:spPr>
          <a:xfrm>
            <a:off x="6513195" y="2195793"/>
            <a:ext cx="3095625" cy="3095625"/>
          </a:xfrm>
          <a:prstGeom prst="rect">
            <a:avLst/>
          </a:prstGeom>
          <a:effectLst>
            <a:outerShdw blurRad="50800" dist="38100" dir="2700000" algn="tl" rotWithShape="0">
              <a:prstClr val="black">
                <a:alpha val="40000"/>
              </a:prstClr>
            </a:outerShdw>
          </a:effectLst>
        </p:spPr>
      </p:pic>
      <p:sp>
        <p:nvSpPr>
          <p:cNvPr id="22" name="bedrock-label">
            <a:extLst>
              <a:ext uri="{FF2B5EF4-FFF2-40B4-BE49-F238E27FC236}">
                <a16:creationId xmlns:a16="http://schemas.microsoft.com/office/drawing/2014/main" id="{060BA734-702C-9AB5-4E6D-626385854CDB}"/>
              </a:ext>
            </a:extLst>
          </p:cNvPr>
          <p:cNvSpPr>
            <a:spLocks noGrp="1"/>
          </p:cNvSpPr>
          <p:nvPr/>
        </p:nvSpPr>
        <p:spPr>
          <a:xfrm>
            <a:off x="9982200" y="3270214"/>
            <a:ext cx="1905000" cy="333375"/>
          </a:xfrm>
          <a:prstGeom prst="rect">
            <a:avLst/>
          </a:prstGeom>
          <a:noFill/>
          <a:ln w="0">
            <a:noFill/>
          </a:ln>
        </p:spPr>
        <p:txBody>
          <a:bodyPr wrap="square" lIns="0" tIns="0" rIns="0" bIns="0" anchor="t">
            <a:noAutofit/>
          </a:bodyPr>
          <a:lstStyle>
            <a:defPPr algn="ctr">
              <a:defRPr lang="en-US" sz="1875" b="1">
                <a:solidFill>
                  <a:srgbClr val="A67A1B"/>
                </a:solidFill>
                <a:latin typeface="Roboto"/>
                <a:ea typeface="Roboto"/>
                <a:cs typeface="Roboto"/>
              </a:defRPr>
            </a:defPPr>
            <a:lvl1pPr algn="ctr">
              <a:defRPr lang="en-US" sz="1875" b="1">
                <a:solidFill>
                  <a:srgbClr val="A67A1B"/>
                </a:solidFill>
                <a:latin typeface="Roboto"/>
                <a:ea typeface="Roboto"/>
                <a:cs typeface="Roboto"/>
              </a:defRPr>
            </a:lvl1pPr>
            <a:lvl2pPr algn="ctr">
              <a:defRPr lang="en-US" sz="1875" b="1">
                <a:solidFill>
                  <a:srgbClr val="A67A1B"/>
                </a:solidFill>
                <a:latin typeface="Roboto"/>
                <a:ea typeface="Roboto"/>
                <a:cs typeface="Roboto"/>
              </a:defRPr>
            </a:lvl2pPr>
            <a:lvl3pPr algn="ctr">
              <a:defRPr lang="en-US" sz="1875" b="1">
                <a:solidFill>
                  <a:srgbClr val="A67A1B"/>
                </a:solidFill>
                <a:latin typeface="Roboto"/>
                <a:ea typeface="Roboto"/>
                <a:cs typeface="Roboto"/>
              </a:defRPr>
            </a:lvl3pPr>
            <a:lvl4pPr algn="ctr">
              <a:defRPr lang="en-US" sz="1875" b="1">
                <a:solidFill>
                  <a:srgbClr val="A67A1B"/>
                </a:solidFill>
                <a:latin typeface="Roboto"/>
                <a:ea typeface="Roboto"/>
                <a:cs typeface="Roboto"/>
              </a:defRPr>
            </a:lvl4pPr>
            <a:lvl5pPr algn="ctr">
              <a:defRPr lang="en-US" sz="1875" b="1">
                <a:solidFill>
                  <a:srgbClr val="A67A1B"/>
                </a:solidFill>
                <a:latin typeface="Roboto"/>
                <a:ea typeface="Roboto"/>
                <a:cs typeface="Roboto"/>
              </a:defRPr>
            </a:lvl5pPr>
            <a:lvl6pPr algn="ctr">
              <a:defRPr lang="en-US" sz="1875" b="1">
                <a:solidFill>
                  <a:srgbClr val="A67A1B"/>
                </a:solidFill>
                <a:latin typeface="Roboto"/>
                <a:ea typeface="Roboto"/>
                <a:cs typeface="Roboto"/>
              </a:defRPr>
            </a:lvl6pPr>
            <a:lvl7pPr algn="ctr">
              <a:defRPr lang="en-US" sz="1875" b="1">
                <a:solidFill>
                  <a:srgbClr val="A67A1B"/>
                </a:solidFill>
                <a:latin typeface="Roboto"/>
                <a:ea typeface="Roboto"/>
                <a:cs typeface="Roboto"/>
              </a:defRPr>
            </a:lvl7pPr>
            <a:lvl8pPr algn="ctr">
              <a:defRPr lang="en-US" sz="1875" b="1">
                <a:solidFill>
                  <a:srgbClr val="A67A1B"/>
                </a:solidFill>
                <a:latin typeface="Roboto"/>
                <a:ea typeface="Roboto"/>
                <a:cs typeface="Roboto"/>
              </a:defRPr>
            </a:lvl8pPr>
            <a:lvl9pPr algn="ctr">
              <a:defRPr lang="en-US" sz="1875" b="1">
                <a:solidFill>
                  <a:srgbClr val="A67A1B"/>
                </a:solidFill>
                <a:latin typeface="Roboto"/>
                <a:ea typeface="Roboto"/>
                <a:cs typeface="Roboto"/>
              </a:defRPr>
            </a:lvl9pPr>
          </a:lstStyle>
          <a:p>
            <a:pPr algn="l">
              <a:defRPr lang="en-US" sz="1875" b="1">
                <a:solidFill>
                  <a:srgbClr val="A67A1B"/>
                </a:solidFill>
                <a:latin typeface="Roboto"/>
                <a:ea typeface="Roboto"/>
                <a:cs typeface="Roboto"/>
              </a:defRPr>
            </a:pPr>
            <a:r>
              <a:rPr lang="en-US" sz="1875" b="1" dirty="0">
                <a:solidFill>
                  <a:srgbClr val="A67A1B"/>
                </a:solidFill>
                <a:latin typeface="Roboto"/>
                <a:ea typeface="Roboto"/>
                <a:cs typeface="Roboto"/>
              </a:rPr>
              <a:t>Bedrock</a:t>
            </a:r>
          </a:p>
        </p:txBody>
      </p:sp>
      <p:sp>
        <p:nvSpPr>
          <p:cNvPr id="24" name="sand-label">
            <a:extLst>
              <a:ext uri="{FF2B5EF4-FFF2-40B4-BE49-F238E27FC236}">
                <a16:creationId xmlns:a16="http://schemas.microsoft.com/office/drawing/2014/main" id="{9070F048-44B2-EAFA-32AE-2015D750BBC4}"/>
              </a:ext>
            </a:extLst>
          </p:cNvPr>
          <p:cNvSpPr>
            <a:spLocks noGrp="1"/>
          </p:cNvSpPr>
          <p:nvPr/>
        </p:nvSpPr>
        <p:spPr>
          <a:xfrm>
            <a:off x="9982200" y="3603689"/>
            <a:ext cx="1905000" cy="333375"/>
          </a:xfrm>
          <a:prstGeom prst="rect">
            <a:avLst/>
          </a:prstGeom>
          <a:noFill/>
          <a:ln w="0">
            <a:noFill/>
          </a:ln>
        </p:spPr>
        <p:txBody>
          <a:bodyPr wrap="square" lIns="0" tIns="0" rIns="0" bIns="0" anchor="t">
            <a:noAutofit/>
          </a:bodyPr>
          <a:lstStyle>
            <a:defPPr algn="ctr">
              <a:defRPr lang="en-US" sz="1875" b="1">
                <a:solidFill>
                  <a:srgbClr val="279D96"/>
                </a:solidFill>
                <a:latin typeface="Roboto"/>
                <a:ea typeface="Roboto"/>
                <a:cs typeface="Roboto"/>
              </a:defRPr>
            </a:defPPr>
            <a:lvl1pPr algn="ctr">
              <a:defRPr lang="en-US" sz="1875" b="1">
                <a:solidFill>
                  <a:srgbClr val="279D96"/>
                </a:solidFill>
                <a:latin typeface="Roboto"/>
                <a:ea typeface="Roboto"/>
                <a:cs typeface="Roboto"/>
              </a:defRPr>
            </a:lvl1pPr>
            <a:lvl2pPr algn="ctr">
              <a:defRPr lang="en-US" sz="1875" b="1">
                <a:solidFill>
                  <a:srgbClr val="279D96"/>
                </a:solidFill>
                <a:latin typeface="Roboto"/>
                <a:ea typeface="Roboto"/>
                <a:cs typeface="Roboto"/>
              </a:defRPr>
            </a:lvl2pPr>
            <a:lvl3pPr algn="ctr">
              <a:defRPr lang="en-US" sz="1875" b="1">
                <a:solidFill>
                  <a:srgbClr val="279D96"/>
                </a:solidFill>
                <a:latin typeface="Roboto"/>
                <a:ea typeface="Roboto"/>
                <a:cs typeface="Roboto"/>
              </a:defRPr>
            </a:lvl3pPr>
            <a:lvl4pPr algn="ctr">
              <a:defRPr lang="en-US" sz="1875" b="1">
                <a:solidFill>
                  <a:srgbClr val="279D96"/>
                </a:solidFill>
                <a:latin typeface="Roboto"/>
                <a:ea typeface="Roboto"/>
                <a:cs typeface="Roboto"/>
              </a:defRPr>
            </a:lvl4pPr>
            <a:lvl5pPr algn="ctr">
              <a:defRPr lang="en-US" sz="1875" b="1">
                <a:solidFill>
                  <a:srgbClr val="279D96"/>
                </a:solidFill>
                <a:latin typeface="Roboto"/>
                <a:ea typeface="Roboto"/>
                <a:cs typeface="Roboto"/>
              </a:defRPr>
            </a:lvl5pPr>
            <a:lvl6pPr algn="ctr">
              <a:defRPr lang="en-US" sz="1875" b="1">
                <a:solidFill>
                  <a:srgbClr val="279D96"/>
                </a:solidFill>
                <a:latin typeface="Roboto"/>
                <a:ea typeface="Roboto"/>
                <a:cs typeface="Roboto"/>
              </a:defRPr>
            </a:lvl6pPr>
            <a:lvl7pPr algn="ctr">
              <a:defRPr lang="en-US" sz="1875" b="1">
                <a:solidFill>
                  <a:srgbClr val="279D96"/>
                </a:solidFill>
                <a:latin typeface="Roboto"/>
                <a:ea typeface="Roboto"/>
                <a:cs typeface="Roboto"/>
              </a:defRPr>
            </a:lvl7pPr>
            <a:lvl8pPr algn="ctr">
              <a:defRPr lang="en-US" sz="1875" b="1">
                <a:solidFill>
                  <a:srgbClr val="279D96"/>
                </a:solidFill>
                <a:latin typeface="Roboto"/>
                <a:ea typeface="Roboto"/>
                <a:cs typeface="Roboto"/>
              </a:defRPr>
            </a:lvl8pPr>
            <a:lvl9pPr algn="ctr">
              <a:defRPr lang="en-US" sz="1875" b="1">
                <a:solidFill>
                  <a:srgbClr val="279D96"/>
                </a:solidFill>
                <a:latin typeface="Roboto"/>
                <a:ea typeface="Roboto"/>
                <a:cs typeface="Roboto"/>
              </a:defRPr>
            </a:lvl9pPr>
          </a:lstStyle>
          <a:p>
            <a:pPr algn="l">
              <a:defRPr lang="en-US" sz="1875" b="1">
                <a:solidFill>
                  <a:srgbClr val="279D96"/>
                </a:solidFill>
                <a:latin typeface="Roboto"/>
                <a:ea typeface="Roboto"/>
                <a:cs typeface="Roboto"/>
              </a:defRPr>
            </a:pPr>
            <a:r>
              <a:rPr lang="en-US" sz="1875" b="1" dirty="0">
                <a:solidFill>
                  <a:srgbClr val="279D96"/>
                </a:solidFill>
                <a:latin typeface="Roboto"/>
                <a:ea typeface="Roboto"/>
                <a:cs typeface="Roboto"/>
              </a:rPr>
              <a:t>Sand / Soil</a:t>
            </a:r>
          </a:p>
        </p:txBody>
      </p:sp>
      <p:sp>
        <p:nvSpPr>
          <p:cNvPr id="26" name="rock-label">
            <a:extLst>
              <a:ext uri="{FF2B5EF4-FFF2-40B4-BE49-F238E27FC236}">
                <a16:creationId xmlns:a16="http://schemas.microsoft.com/office/drawing/2014/main" id="{364FCDEC-42F1-DC3B-41A2-EC3294B6F42B}"/>
              </a:ext>
            </a:extLst>
          </p:cNvPr>
          <p:cNvSpPr>
            <a:spLocks noGrp="1"/>
          </p:cNvSpPr>
          <p:nvPr/>
        </p:nvSpPr>
        <p:spPr>
          <a:xfrm>
            <a:off x="9982200" y="3937064"/>
            <a:ext cx="1905000" cy="333375"/>
          </a:xfrm>
          <a:prstGeom prst="rect">
            <a:avLst/>
          </a:prstGeom>
          <a:noFill/>
          <a:ln w="0">
            <a:noFill/>
          </a:ln>
        </p:spPr>
        <p:txBody>
          <a:bodyPr wrap="square" lIns="0" tIns="0" rIns="0" bIns="0" anchor="t">
            <a:noAutofit/>
          </a:bodyPr>
          <a:lstStyle>
            <a:defPPr algn="ctr">
              <a:defRPr lang="en-US" sz="1875" b="1">
                <a:solidFill>
                  <a:srgbClr val="E8324A"/>
                </a:solidFill>
                <a:latin typeface="Roboto"/>
                <a:ea typeface="Roboto"/>
                <a:cs typeface="Roboto"/>
              </a:defRPr>
            </a:defPPr>
            <a:lvl1pPr algn="ctr">
              <a:defRPr lang="en-US" sz="1875" b="1">
                <a:solidFill>
                  <a:srgbClr val="E8324A"/>
                </a:solidFill>
                <a:latin typeface="Roboto"/>
                <a:ea typeface="Roboto"/>
                <a:cs typeface="Roboto"/>
              </a:defRPr>
            </a:lvl1pPr>
            <a:lvl2pPr algn="ctr">
              <a:defRPr lang="en-US" sz="1875" b="1">
                <a:solidFill>
                  <a:srgbClr val="E8324A"/>
                </a:solidFill>
                <a:latin typeface="Roboto"/>
                <a:ea typeface="Roboto"/>
                <a:cs typeface="Roboto"/>
              </a:defRPr>
            </a:lvl2pPr>
            <a:lvl3pPr algn="ctr">
              <a:defRPr lang="en-US" sz="1875" b="1">
                <a:solidFill>
                  <a:srgbClr val="E8324A"/>
                </a:solidFill>
                <a:latin typeface="Roboto"/>
                <a:ea typeface="Roboto"/>
                <a:cs typeface="Roboto"/>
              </a:defRPr>
            </a:lvl3pPr>
            <a:lvl4pPr algn="ctr">
              <a:defRPr lang="en-US" sz="1875" b="1">
                <a:solidFill>
                  <a:srgbClr val="E8324A"/>
                </a:solidFill>
                <a:latin typeface="Roboto"/>
                <a:ea typeface="Roboto"/>
                <a:cs typeface="Roboto"/>
              </a:defRPr>
            </a:lvl4pPr>
            <a:lvl5pPr algn="ctr">
              <a:defRPr lang="en-US" sz="1875" b="1">
                <a:solidFill>
                  <a:srgbClr val="E8324A"/>
                </a:solidFill>
                <a:latin typeface="Roboto"/>
                <a:ea typeface="Roboto"/>
                <a:cs typeface="Roboto"/>
              </a:defRPr>
            </a:lvl5pPr>
            <a:lvl6pPr algn="ctr">
              <a:defRPr lang="en-US" sz="1875" b="1">
                <a:solidFill>
                  <a:srgbClr val="E8324A"/>
                </a:solidFill>
                <a:latin typeface="Roboto"/>
                <a:ea typeface="Roboto"/>
                <a:cs typeface="Roboto"/>
              </a:defRPr>
            </a:lvl6pPr>
            <a:lvl7pPr algn="ctr">
              <a:defRPr lang="en-US" sz="1875" b="1">
                <a:solidFill>
                  <a:srgbClr val="E8324A"/>
                </a:solidFill>
                <a:latin typeface="Roboto"/>
                <a:ea typeface="Roboto"/>
                <a:cs typeface="Roboto"/>
              </a:defRPr>
            </a:lvl7pPr>
            <a:lvl8pPr algn="ctr">
              <a:defRPr lang="en-US" sz="1875" b="1">
                <a:solidFill>
                  <a:srgbClr val="E8324A"/>
                </a:solidFill>
                <a:latin typeface="Roboto"/>
                <a:ea typeface="Roboto"/>
                <a:cs typeface="Roboto"/>
              </a:defRPr>
            </a:lvl8pPr>
            <a:lvl9pPr algn="ctr">
              <a:defRPr lang="en-US" sz="1875" b="1">
                <a:solidFill>
                  <a:srgbClr val="E8324A"/>
                </a:solidFill>
                <a:latin typeface="Roboto"/>
                <a:ea typeface="Roboto"/>
                <a:cs typeface="Roboto"/>
              </a:defRPr>
            </a:lvl9pPr>
          </a:lstStyle>
          <a:p>
            <a:pPr algn="l">
              <a:defRPr lang="en-US" sz="1875" b="1">
                <a:solidFill>
                  <a:srgbClr val="E8324A"/>
                </a:solidFill>
                <a:latin typeface="Roboto"/>
                <a:ea typeface="Roboto"/>
                <a:cs typeface="Roboto"/>
              </a:defRPr>
            </a:pPr>
            <a:r>
              <a:rPr lang="en-US" sz="1875" b="1" dirty="0">
                <a:solidFill>
                  <a:srgbClr val="E8324A"/>
                </a:solidFill>
                <a:latin typeface="Roboto"/>
                <a:ea typeface="Roboto"/>
                <a:cs typeface="Roboto"/>
              </a:rPr>
              <a:t>Rock</a:t>
            </a:r>
          </a:p>
        </p:txBody>
      </p:sp>
      <p:sp>
        <p:nvSpPr>
          <p:cNvPr id="27" name="Freccia destra con strisce 26">
            <a:extLst>
              <a:ext uri="{FF2B5EF4-FFF2-40B4-BE49-F238E27FC236}">
                <a16:creationId xmlns:a16="http://schemas.microsoft.com/office/drawing/2014/main" id="{4BCDD231-02F5-4425-1986-20535CFEC86F}"/>
              </a:ext>
            </a:extLst>
          </p:cNvPr>
          <p:cNvSpPr/>
          <p:nvPr/>
        </p:nvSpPr>
        <p:spPr>
          <a:xfrm>
            <a:off x="4816412" y="3529198"/>
            <a:ext cx="1417320" cy="271844"/>
          </a:xfrm>
          <a:prstGeom prst="stripedRightArrow">
            <a:avLst/>
          </a:prstGeom>
          <a:solidFill>
            <a:srgbClr val="C00000"/>
          </a:solidFill>
          <a:ln>
            <a:solidFill>
              <a:srgbClr val="8224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28887530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871A55-B809-6799-6B7A-E3681589530F}"/>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E20D46E8-CA0E-BC18-AD04-A67A4767D6E7}"/>
              </a:ext>
            </a:extLst>
          </p:cNvPr>
          <p:cNvSpPr/>
          <p:nvPr/>
        </p:nvSpPr>
        <p:spPr>
          <a:xfrm>
            <a:off x="7639050" y="2838450"/>
            <a:ext cx="3648075" cy="2895600"/>
          </a:xfrm>
          <a:prstGeom prst="rect">
            <a:avLst/>
          </a:prstGeom>
          <a:solidFill>
            <a:schemeClr val="bg1"/>
          </a:solidFill>
          <a:ln>
            <a:solidFill>
              <a:srgbClr val="822433"/>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Segnaposto contenuto 5">
            <a:extLst>
              <a:ext uri="{FF2B5EF4-FFF2-40B4-BE49-F238E27FC236}">
                <a16:creationId xmlns:a16="http://schemas.microsoft.com/office/drawing/2014/main" id="{31DDED31-4FA3-6092-E392-CFCF1D6BCB85}"/>
              </a:ext>
            </a:extLst>
          </p:cNvPr>
          <p:cNvSpPr>
            <a:spLocks noGrp="1"/>
          </p:cNvSpPr>
          <p:nvPr>
            <p:ph idx="1"/>
          </p:nvPr>
        </p:nvSpPr>
        <p:spPr/>
        <p:txBody>
          <a:bodyPr>
            <a:normAutofit/>
          </a:bodyPr>
          <a:lstStyle/>
          <a:p>
            <a:r>
              <a:rPr lang="en-US" b="1" noProof="0" dirty="0">
                <a:solidFill>
                  <a:srgbClr val="822433"/>
                </a:solidFill>
              </a:rPr>
              <a:t>Mars-Bench</a:t>
            </a:r>
            <a:r>
              <a:rPr lang="en-US" noProof="0" dirty="0"/>
              <a:t> is the </a:t>
            </a:r>
            <a:r>
              <a:rPr lang="en-US" noProof="0" dirty="0">
                <a:solidFill>
                  <a:srgbClr val="822433"/>
                </a:solidFill>
              </a:rPr>
              <a:t>first</a:t>
            </a:r>
            <a:r>
              <a:rPr lang="en-US" noProof="0" dirty="0"/>
              <a:t> benchmark for Mars-related tasks.</a:t>
            </a:r>
            <a:br>
              <a:rPr lang="en-US" noProof="0" dirty="0"/>
            </a:br>
            <a:endParaRPr lang="en-US" noProof="0" dirty="0"/>
          </a:p>
          <a:p>
            <a:r>
              <a:rPr lang="en-US" b="1" u="sng" noProof="0" dirty="0">
                <a:solidFill>
                  <a:srgbClr val="822433"/>
                </a:solidFill>
              </a:rPr>
              <a:t>S</a:t>
            </a:r>
            <a:r>
              <a:rPr lang="en-US" b="1" u="sng" baseline="30000" noProof="0" dirty="0">
                <a:solidFill>
                  <a:srgbClr val="822433"/>
                </a:solidFill>
              </a:rPr>
              <a:t>5</a:t>
            </a:r>
            <a:r>
              <a:rPr lang="en-US" b="1" u="sng" noProof="0" dirty="0">
                <a:solidFill>
                  <a:srgbClr val="822433"/>
                </a:solidFill>
              </a:rPr>
              <a:t>Mars</a:t>
            </a:r>
            <a:br>
              <a:rPr lang="en-US" noProof="0" dirty="0"/>
            </a:br>
            <a:r>
              <a:rPr lang="en-US" sz="2000" noProof="0" dirty="0"/>
              <a:t>- Training dataset of Curiosity </a:t>
            </a:r>
            <a:r>
              <a:rPr lang="en-US" sz="2000" noProof="0" dirty="0" err="1"/>
              <a:t>Mastcam</a:t>
            </a:r>
            <a:r>
              <a:rPr lang="en-US" sz="2000" noProof="0" dirty="0"/>
              <a:t> images</a:t>
            </a:r>
            <a:br>
              <a:rPr lang="en-US" sz="2000" noProof="0" dirty="0"/>
            </a:br>
            <a:r>
              <a:rPr lang="en-US" sz="2000" noProof="0" dirty="0"/>
              <a:t>- 9 classes including </a:t>
            </a:r>
            <a:r>
              <a:rPr lang="en-US" sz="2000" b="1" noProof="0" dirty="0">
                <a:solidFill>
                  <a:srgbClr val="822433"/>
                </a:solidFill>
              </a:rPr>
              <a:t>Rover</a:t>
            </a:r>
            <a:endParaRPr lang="en-US" noProof="0" dirty="0"/>
          </a:p>
          <a:p>
            <a:endParaRPr lang="en-US" noProof="0" dirty="0"/>
          </a:p>
          <a:p>
            <a:r>
              <a:rPr lang="en-US" b="1" u="sng" noProof="0" dirty="0">
                <a:solidFill>
                  <a:srgbClr val="822433"/>
                </a:solidFill>
              </a:rPr>
              <a:t>MarsSeg MER</a:t>
            </a:r>
          </a:p>
          <a:p>
            <a:r>
              <a:rPr lang="en-US" b="1" u="sng" noProof="0" dirty="0">
                <a:solidFill>
                  <a:srgbClr val="822433"/>
                </a:solidFill>
              </a:rPr>
              <a:t>MarsSeg MSL</a:t>
            </a:r>
            <a:br>
              <a:rPr lang="en-US" noProof="0" dirty="0"/>
            </a:br>
            <a:r>
              <a:rPr lang="en-US" noProof="0" dirty="0"/>
              <a:t>- </a:t>
            </a:r>
            <a:r>
              <a:rPr lang="en-US" sz="2000" noProof="0" dirty="0"/>
              <a:t>Both with 7 classes, </a:t>
            </a:r>
            <a:r>
              <a:rPr lang="en-US" sz="2000" b="1" noProof="0" dirty="0">
                <a:solidFill>
                  <a:srgbClr val="822433"/>
                </a:solidFill>
              </a:rPr>
              <a:t>cross-generalization</a:t>
            </a:r>
            <a:r>
              <a:rPr lang="en-US" sz="2000" noProof="0" dirty="0"/>
              <a:t> experiment</a:t>
            </a:r>
            <a:r>
              <a:rPr lang="en-US" noProof="0" dirty="0"/>
              <a:t> </a:t>
            </a:r>
          </a:p>
        </p:txBody>
      </p:sp>
      <p:sp>
        <p:nvSpPr>
          <p:cNvPr id="7" name="CasellaDiTesto 6">
            <a:extLst>
              <a:ext uri="{FF2B5EF4-FFF2-40B4-BE49-F238E27FC236}">
                <a16:creationId xmlns:a16="http://schemas.microsoft.com/office/drawing/2014/main" id="{87333228-7387-BF0A-CFA6-C5FD97E64CF8}"/>
              </a:ext>
            </a:extLst>
          </p:cNvPr>
          <p:cNvSpPr txBox="1"/>
          <p:nvPr/>
        </p:nvSpPr>
        <p:spPr>
          <a:xfrm>
            <a:off x="7830513" y="3456709"/>
            <a:ext cx="3350105" cy="338554"/>
          </a:xfrm>
          <a:prstGeom prst="rect">
            <a:avLst/>
          </a:prstGeom>
          <a:noFill/>
        </p:spPr>
        <p:txBody>
          <a:bodyPr wrap="square" rtlCol="0">
            <a:spAutoFit/>
          </a:bodyPr>
          <a:lstStyle/>
          <a:p>
            <a:r>
              <a:rPr lang="it-IT" sz="1600" dirty="0">
                <a:latin typeface="Roboto" panose="02000000000000000000" pitchFamily="2" charset="0"/>
                <a:ea typeface="Roboto" panose="02000000000000000000" pitchFamily="2" charset="0"/>
              </a:rPr>
              <a:t>   4997                 200                800</a:t>
            </a:r>
          </a:p>
        </p:txBody>
      </p:sp>
      <p:sp>
        <p:nvSpPr>
          <p:cNvPr id="2" name="Titolo 1">
            <a:extLst>
              <a:ext uri="{FF2B5EF4-FFF2-40B4-BE49-F238E27FC236}">
                <a16:creationId xmlns:a16="http://schemas.microsoft.com/office/drawing/2014/main" id="{1139C048-34BF-7B5A-6163-91841FF0DC88}"/>
              </a:ext>
            </a:extLst>
          </p:cNvPr>
          <p:cNvSpPr>
            <a:spLocks noGrp="1"/>
          </p:cNvSpPr>
          <p:nvPr>
            <p:ph type="title"/>
          </p:nvPr>
        </p:nvSpPr>
        <p:spPr>
          <a:xfrm>
            <a:off x="838200" y="365125"/>
            <a:ext cx="8384177" cy="835787"/>
          </a:xfrm>
        </p:spPr>
        <p:txBody>
          <a:bodyPr/>
          <a:lstStyle/>
          <a:p>
            <a:r>
              <a:rPr lang="en-US" noProof="0" dirty="0">
                <a:solidFill>
                  <a:srgbClr val="822433"/>
                </a:solidFill>
              </a:rPr>
              <a:t>Datasets</a:t>
            </a:r>
          </a:p>
        </p:txBody>
      </p:sp>
      <p:sp>
        <p:nvSpPr>
          <p:cNvPr id="4" name="Google Shape;102;p14">
            <a:extLst>
              <a:ext uri="{FF2B5EF4-FFF2-40B4-BE49-F238E27FC236}">
                <a16:creationId xmlns:a16="http://schemas.microsoft.com/office/drawing/2014/main" id="{D152C583-A5BE-E053-2769-61991AF40864}"/>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8</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A7866418-312D-42E0-1E6B-9EDDEA88963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74D087B9-A578-27C1-1F1E-846EE9572A21}"/>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[4] [5]</a:t>
            </a:r>
          </a:p>
        </p:txBody>
      </p:sp>
      <p:sp>
        <p:nvSpPr>
          <p:cNvPr id="3" name="CasellaDiTesto 2">
            <a:extLst>
              <a:ext uri="{FF2B5EF4-FFF2-40B4-BE49-F238E27FC236}">
                <a16:creationId xmlns:a16="http://schemas.microsoft.com/office/drawing/2014/main" id="{6E6FC97A-2407-8340-EDB3-B280D9678CC9}"/>
              </a:ext>
            </a:extLst>
          </p:cNvPr>
          <p:cNvSpPr txBox="1"/>
          <p:nvPr/>
        </p:nvSpPr>
        <p:spPr>
          <a:xfrm>
            <a:off x="7825051" y="2975522"/>
            <a:ext cx="3355567" cy="338554"/>
          </a:xfrm>
          <a:prstGeom prst="rect">
            <a:avLst/>
          </a:prstGeom>
          <a:noFill/>
        </p:spPr>
        <p:txBody>
          <a:bodyPr wrap="square" rtlCol="0">
            <a:spAutoFit/>
          </a:bodyPr>
          <a:lstStyle/>
          <a:p>
            <a:r>
              <a:rPr lang="it-IT" sz="1600" b="1" dirty="0">
                <a:solidFill>
                  <a:srgbClr val="822433"/>
                </a:solidFill>
                <a:latin typeface="Roboto" panose="02000000000000000000" pitchFamily="2" charset="0"/>
                <a:ea typeface="Roboto" panose="02000000000000000000" pitchFamily="2" charset="0"/>
              </a:rPr>
              <a:t>Training          </a:t>
            </a:r>
            <a:r>
              <a:rPr lang="it-IT" sz="1600" b="1" dirty="0" err="1">
                <a:solidFill>
                  <a:srgbClr val="822433"/>
                </a:solidFill>
                <a:latin typeface="Roboto" panose="02000000000000000000" pitchFamily="2" charset="0"/>
                <a:ea typeface="Roboto" panose="02000000000000000000" pitchFamily="2" charset="0"/>
              </a:rPr>
              <a:t>Validation</a:t>
            </a:r>
            <a:r>
              <a:rPr lang="it-IT" sz="1600" b="1" dirty="0">
                <a:solidFill>
                  <a:srgbClr val="822433"/>
                </a:solidFill>
                <a:latin typeface="Roboto" panose="02000000000000000000" pitchFamily="2" charset="0"/>
                <a:ea typeface="Roboto" panose="02000000000000000000" pitchFamily="2" charset="0"/>
              </a:rPr>
              <a:t>          Test</a:t>
            </a:r>
          </a:p>
        </p:txBody>
      </p:sp>
      <p:cxnSp>
        <p:nvCxnSpPr>
          <p:cNvPr id="11" name="Connettore diritto 10">
            <a:extLst>
              <a:ext uri="{FF2B5EF4-FFF2-40B4-BE49-F238E27FC236}">
                <a16:creationId xmlns:a16="http://schemas.microsoft.com/office/drawing/2014/main" id="{D9695DA4-0562-3376-F63C-FC82EADAA115}"/>
              </a:ext>
            </a:extLst>
          </p:cNvPr>
          <p:cNvCxnSpPr>
            <a:cxnSpLocks/>
          </p:cNvCxnSpPr>
          <p:nvPr/>
        </p:nvCxnSpPr>
        <p:spPr>
          <a:xfrm>
            <a:off x="7835539" y="3323843"/>
            <a:ext cx="3189312" cy="0"/>
          </a:xfrm>
          <a:prstGeom prst="line">
            <a:avLst/>
          </a:prstGeom>
          <a:ln w="19050">
            <a:solidFill>
              <a:srgbClr val="822433"/>
            </a:solidFill>
          </a:ln>
        </p:spPr>
        <p:style>
          <a:lnRef idx="1">
            <a:schemeClr val="accent1"/>
          </a:lnRef>
          <a:fillRef idx="0">
            <a:schemeClr val="accent1"/>
          </a:fillRef>
          <a:effectRef idx="0">
            <a:schemeClr val="accent1"/>
          </a:effectRef>
          <a:fontRef idx="minor">
            <a:schemeClr val="tx1"/>
          </a:fontRef>
        </p:style>
      </p:cxnSp>
      <p:cxnSp>
        <p:nvCxnSpPr>
          <p:cNvPr id="14" name="Connettore diritto 13">
            <a:extLst>
              <a:ext uri="{FF2B5EF4-FFF2-40B4-BE49-F238E27FC236}">
                <a16:creationId xmlns:a16="http://schemas.microsoft.com/office/drawing/2014/main" id="{F9E4BD6A-8DFD-A972-A649-3499796056F6}"/>
              </a:ext>
            </a:extLst>
          </p:cNvPr>
          <p:cNvCxnSpPr>
            <a:cxnSpLocks/>
          </p:cNvCxnSpPr>
          <p:nvPr/>
        </p:nvCxnSpPr>
        <p:spPr>
          <a:xfrm>
            <a:off x="8864141" y="3054927"/>
            <a:ext cx="0" cy="2563091"/>
          </a:xfrm>
          <a:prstGeom prst="line">
            <a:avLst/>
          </a:prstGeom>
          <a:ln w="12700">
            <a:solidFill>
              <a:srgbClr val="822433"/>
            </a:solidFill>
            <a:prstDash val="dash"/>
          </a:ln>
        </p:spPr>
        <p:style>
          <a:lnRef idx="1">
            <a:schemeClr val="accent1"/>
          </a:lnRef>
          <a:fillRef idx="0">
            <a:schemeClr val="accent1"/>
          </a:fillRef>
          <a:effectRef idx="0">
            <a:schemeClr val="accent1"/>
          </a:effectRef>
          <a:fontRef idx="minor">
            <a:schemeClr val="tx1"/>
          </a:fontRef>
        </p:style>
      </p:cxnSp>
      <p:cxnSp>
        <p:nvCxnSpPr>
          <p:cNvPr id="15" name="Connettore diritto 14">
            <a:extLst>
              <a:ext uri="{FF2B5EF4-FFF2-40B4-BE49-F238E27FC236}">
                <a16:creationId xmlns:a16="http://schemas.microsoft.com/office/drawing/2014/main" id="{5711A75B-243D-E778-8526-BDBFCCEA875C}"/>
              </a:ext>
            </a:extLst>
          </p:cNvPr>
          <p:cNvCxnSpPr>
            <a:cxnSpLocks/>
          </p:cNvCxnSpPr>
          <p:nvPr/>
        </p:nvCxnSpPr>
        <p:spPr>
          <a:xfrm>
            <a:off x="10291161" y="3054927"/>
            <a:ext cx="0" cy="2563091"/>
          </a:xfrm>
          <a:prstGeom prst="line">
            <a:avLst/>
          </a:prstGeom>
          <a:ln w="12700">
            <a:solidFill>
              <a:srgbClr val="822433"/>
            </a:solidFill>
            <a:prstDash val="dash"/>
          </a:ln>
        </p:spPr>
        <p:style>
          <a:lnRef idx="1">
            <a:schemeClr val="accent1"/>
          </a:lnRef>
          <a:fillRef idx="0">
            <a:schemeClr val="accent1"/>
          </a:fillRef>
          <a:effectRef idx="0">
            <a:schemeClr val="accent1"/>
          </a:effectRef>
          <a:fontRef idx="minor">
            <a:schemeClr val="tx1"/>
          </a:fontRef>
        </p:style>
      </p:cxnSp>
      <p:sp>
        <p:nvSpPr>
          <p:cNvPr id="17" name="CasellaDiTesto 16">
            <a:extLst>
              <a:ext uri="{FF2B5EF4-FFF2-40B4-BE49-F238E27FC236}">
                <a16:creationId xmlns:a16="http://schemas.microsoft.com/office/drawing/2014/main" id="{2992E7CC-B973-F4ED-5918-F91752D1F8D1}"/>
              </a:ext>
            </a:extLst>
          </p:cNvPr>
          <p:cNvSpPr txBox="1"/>
          <p:nvPr/>
        </p:nvSpPr>
        <p:spPr>
          <a:xfrm>
            <a:off x="7825051" y="4661413"/>
            <a:ext cx="3350105" cy="338554"/>
          </a:xfrm>
          <a:prstGeom prst="rect">
            <a:avLst/>
          </a:prstGeom>
          <a:noFill/>
        </p:spPr>
        <p:txBody>
          <a:bodyPr wrap="square" rtlCol="0">
            <a:spAutoFit/>
          </a:bodyPr>
          <a:lstStyle/>
          <a:p>
            <a:r>
              <a:rPr lang="it-IT" sz="1600" dirty="0">
                <a:latin typeface="Roboto" panose="02000000000000000000" pitchFamily="2" charset="0"/>
                <a:ea typeface="Roboto" panose="02000000000000000000" pitchFamily="2" charset="0"/>
              </a:rPr>
              <a:t>   2893                 413                828</a:t>
            </a:r>
          </a:p>
        </p:txBody>
      </p:sp>
      <p:sp>
        <p:nvSpPr>
          <p:cNvPr id="19" name="CasellaDiTesto 18">
            <a:extLst>
              <a:ext uri="{FF2B5EF4-FFF2-40B4-BE49-F238E27FC236}">
                <a16:creationId xmlns:a16="http://schemas.microsoft.com/office/drawing/2014/main" id="{72FE375A-5AC9-55AE-7C27-62283D6EAC44}"/>
              </a:ext>
            </a:extLst>
          </p:cNvPr>
          <p:cNvSpPr txBox="1"/>
          <p:nvPr/>
        </p:nvSpPr>
        <p:spPr>
          <a:xfrm>
            <a:off x="7835539" y="5002348"/>
            <a:ext cx="3350105" cy="338554"/>
          </a:xfrm>
          <a:prstGeom prst="rect">
            <a:avLst/>
          </a:prstGeom>
          <a:noFill/>
        </p:spPr>
        <p:txBody>
          <a:bodyPr wrap="square" rtlCol="0">
            <a:spAutoFit/>
          </a:bodyPr>
          <a:lstStyle/>
          <a:p>
            <a:r>
              <a:rPr lang="it-IT" sz="1600" dirty="0">
                <a:latin typeface="Roboto" panose="02000000000000000000" pitchFamily="2" charset="0"/>
                <a:ea typeface="Roboto" panose="02000000000000000000" pitchFamily="2" charset="0"/>
              </a:rPr>
              <a:t>    744                  106                214</a:t>
            </a:r>
          </a:p>
        </p:txBody>
      </p:sp>
    </p:spTree>
    <p:extLst>
      <p:ext uri="{BB962C8B-B14F-4D97-AF65-F5344CB8AC3E}">
        <p14:creationId xmlns:p14="http://schemas.microsoft.com/office/powerpoint/2010/main" val="34208636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1DD1F-8768-17B2-FB9B-19CCF028059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97CDCEC-E3E4-4F48-5467-BB58096DABE4}"/>
              </a:ext>
            </a:extLst>
          </p:cNvPr>
          <p:cNvSpPr>
            <a:spLocks noGrp="1"/>
          </p:cNvSpPr>
          <p:nvPr>
            <p:ph type="title"/>
          </p:nvPr>
        </p:nvSpPr>
        <p:spPr>
          <a:xfrm>
            <a:off x="838200" y="365125"/>
            <a:ext cx="8384177" cy="835787"/>
          </a:xfrm>
        </p:spPr>
        <p:txBody>
          <a:bodyPr/>
          <a:lstStyle/>
          <a:p>
            <a:r>
              <a:rPr lang="en-US" noProof="0" dirty="0">
                <a:solidFill>
                  <a:srgbClr val="822433"/>
                </a:solidFill>
              </a:rPr>
              <a:t>Model Architectures</a:t>
            </a:r>
          </a:p>
        </p:txBody>
      </p:sp>
      <p:sp>
        <p:nvSpPr>
          <p:cNvPr id="4" name="Google Shape;102;p14">
            <a:extLst>
              <a:ext uri="{FF2B5EF4-FFF2-40B4-BE49-F238E27FC236}">
                <a16:creationId xmlns:a16="http://schemas.microsoft.com/office/drawing/2014/main" id="{A415486C-73B6-A808-48E2-C8E26D861B0B}"/>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9</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9D26EAC2-C8C4-E54E-FB2C-7C41DED30C92}"/>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333B2CA8-9696-5F1E-A9E7-3551C66E469A}"/>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[6] [7]</a:t>
            </a:r>
            <a:r>
              <a:rPr lang="en-US" dirty="0"/>
              <a:t> [8] [9] [10]</a:t>
            </a:r>
            <a:endParaRPr lang="en-US" sz="1125" b="0" dirty="0">
              <a:solidFill>
                <a:srgbClr val="656B73"/>
              </a:solidFill>
              <a:latin typeface="Roboto"/>
              <a:ea typeface="Roboto"/>
              <a:cs typeface="Roboto"/>
            </a:endParaRPr>
          </a:p>
        </p:txBody>
      </p:sp>
      <p:pic>
        <p:nvPicPr>
          <p:cNvPr id="10" name="Immagine 9">
            <a:extLst>
              <a:ext uri="{FF2B5EF4-FFF2-40B4-BE49-F238E27FC236}">
                <a16:creationId xmlns:a16="http://schemas.microsoft.com/office/drawing/2014/main" id="{226E4830-E866-D7E3-6457-3D28EB7CBD77}"/>
              </a:ext>
            </a:extLst>
          </p:cNvPr>
          <p:cNvPicPr>
            <a:picLocks noChangeAspect="1"/>
          </p:cNvPicPr>
          <p:nvPr/>
        </p:nvPicPr>
        <p:blipFill>
          <a:blip r:embed="rId3"/>
          <a:stretch>
            <a:fillRect/>
          </a:stretch>
        </p:blipFill>
        <p:spPr>
          <a:xfrm>
            <a:off x="1953491" y="2049811"/>
            <a:ext cx="8667328" cy="325458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2608853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D0B5E-FD6C-96CB-384F-BEF7C2B5500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363AF57-0B7F-AF05-A35B-ECE71E8E26A8}"/>
              </a:ext>
            </a:extLst>
          </p:cNvPr>
          <p:cNvSpPr>
            <a:spLocks noGrp="1"/>
          </p:cNvSpPr>
          <p:nvPr>
            <p:ph type="title"/>
          </p:nvPr>
        </p:nvSpPr>
        <p:spPr>
          <a:xfrm>
            <a:off x="838200" y="365125"/>
            <a:ext cx="8384177" cy="835787"/>
          </a:xfrm>
        </p:spPr>
        <p:txBody>
          <a:bodyPr/>
          <a:lstStyle/>
          <a:p>
            <a:r>
              <a:rPr lang="en-US" noProof="0" dirty="0">
                <a:solidFill>
                  <a:srgbClr val="822433"/>
                </a:solidFill>
              </a:rPr>
              <a:t>Training procedure</a:t>
            </a:r>
          </a:p>
        </p:txBody>
      </p:sp>
      <p:sp>
        <p:nvSpPr>
          <p:cNvPr id="4" name="Google Shape;102;p14">
            <a:extLst>
              <a:ext uri="{FF2B5EF4-FFF2-40B4-BE49-F238E27FC236}">
                <a16:creationId xmlns:a16="http://schemas.microsoft.com/office/drawing/2014/main" id="{1C1878B4-6C3D-E18B-961D-071A041F8122}"/>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10</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CC75C1E4-7668-9E8F-8052-F1A06FED99BF}"/>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103" name="training10-setup-heading">
            <a:extLst>
              <a:ext uri="{FF2B5EF4-FFF2-40B4-BE49-F238E27FC236}">
                <a16:creationId xmlns:a16="http://schemas.microsoft.com/office/drawing/2014/main" id="{976272DE-AE14-4A90-AA99-B977F68CA0A8}"/>
              </a:ext>
            </a:extLst>
          </p:cNvPr>
          <p:cNvSpPr>
            <a:spLocks noGrp="1"/>
          </p:cNvSpPr>
          <p:nvPr/>
        </p:nvSpPr>
        <p:spPr>
          <a:xfrm>
            <a:off x="1073727" y="2191615"/>
            <a:ext cx="2952750" cy="466725"/>
          </a:xfrm>
          <a:prstGeom prst="rect">
            <a:avLst/>
          </a:prstGeom>
          <a:noFill/>
          <a:ln w="0">
            <a:noFill/>
          </a:ln>
        </p:spPr>
        <p:txBody>
          <a:bodyPr wrap="square" lIns="0" tIns="0" rIns="0" bIns="0" anchor="t">
            <a:noAutofit/>
          </a:bodyPr>
          <a:lstStyle>
            <a:defPPr algn="ctr">
              <a:defRPr lang="en-US" sz="2400" b="1">
                <a:solidFill>
                  <a:srgbClr val="822433"/>
                </a:solidFill>
                <a:latin typeface="Roboto"/>
                <a:ea typeface="Roboto"/>
                <a:cs typeface="Roboto"/>
              </a:defRPr>
            </a:defPPr>
            <a:lvl1pPr algn="ctr">
              <a:defRPr lang="en-US" sz="2400" b="1">
                <a:solidFill>
                  <a:srgbClr val="822433"/>
                </a:solidFill>
                <a:latin typeface="Roboto"/>
                <a:ea typeface="Roboto"/>
                <a:cs typeface="Roboto"/>
              </a:defRPr>
            </a:lvl1pPr>
            <a:lvl2pPr algn="ctr">
              <a:defRPr lang="en-US" sz="2400" b="1">
                <a:solidFill>
                  <a:srgbClr val="822433"/>
                </a:solidFill>
                <a:latin typeface="Roboto"/>
                <a:ea typeface="Roboto"/>
                <a:cs typeface="Roboto"/>
              </a:defRPr>
            </a:lvl2pPr>
            <a:lvl3pPr algn="ctr">
              <a:defRPr lang="en-US" sz="2400" b="1">
                <a:solidFill>
                  <a:srgbClr val="822433"/>
                </a:solidFill>
                <a:latin typeface="Roboto"/>
                <a:ea typeface="Roboto"/>
                <a:cs typeface="Roboto"/>
              </a:defRPr>
            </a:lvl3pPr>
            <a:lvl4pPr algn="ctr">
              <a:defRPr lang="en-US" sz="2400" b="1">
                <a:solidFill>
                  <a:srgbClr val="822433"/>
                </a:solidFill>
                <a:latin typeface="Roboto"/>
                <a:ea typeface="Roboto"/>
                <a:cs typeface="Roboto"/>
              </a:defRPr>
            </a:lvl4pPr>
            <a:lvl5pPr algn="ctr">
              <a:defRPr lang="en-US" sz="2400" b="1">
                <a:solidFill>
                  <a:srgbClr val="822433"/>
                </a:solidFill>
                <a:latin typeface="Roboto"/>
                <a:ea typeface="Roboto"/>
                <a:cs typeface="Roboto"/>
              </a:defRPr>
            </a:lvl5pPr>
            <a:lvl6pPr algn="ctr">
              <a:defRPr lang="en-US" sz="2400" b="1">
                <a:solidFill>
                  <a:srgbClr val="822433"/>
                </a:solidFill>
                <a:latin typeface="Roboto"/>
                <a:ea typeface="Roboto"/>
                <a:cs typeface="Roboto"/>
              </a:defRPr>
            </a:lvl6pPr>
            <a:lvl7pPr algn="ctr">
              <a:defRPr lang="en-US" sz="2400" b="1">
                <a:solidFill>
                  <a:srgbClr val="822433"/>
                </a:solidFill>
                <a:latin typeface="Roboto"/>
                <a:ea typeface="Roboto"/>
                <a:cs typeface="Roboto"/>
              </a:defRPr>
            </a:lvl7pPr>
            <a:lvl8pPr algn="ctr">
              <a:defRPr lang="en-US" sz="2400" b="1">
                <a:solidFill>
                  <a:srgbClr val="822433"/>
                </a:solidFill>
                <a:latin typeface="Roboto"/>
                <a:ea typeface="Roboto"/>
                <a:cs typeface="Roboto"/>
              </a:defRPr>
            </a:lvl8pPr>
            <a:lvl9pPr algn="ctr">
              <a:defRPr lang="en-US" sz="2400" b="1">
                <a:solidFill>
                  <a:srgbClr val="822433"/>
                </a:solidFill>
                <a:latin typeface="Roboto"/>
                <a:ea typeface="Roboto"/>
                <a:cs typeface="Roboto"/>
              </a:defRPr>
            </a:lvl9pPr>
          </a:lstStyle>
          <a:p>
            <a:pPr algn="l">
              <a:defRPr lang="en-US" sz="2400" b="1">
                <a:solidFill>
                  <a:srgbClr val="822433"/>
                </a:solidFill>
                <a:latin typeface="Roboto"/>
                <a:ea typeface="Roboto"/>
                <a:cs typeface="Roboto"/>
              </a:defRPr>
            </a:pPr>
            <a:r>
              <a:rPr lang="en-US" sz="2400" b="1" dirty="0">
                <a:solidFill>
                  <a:srgbClr val="822433"/>
                </a:solidFill>
                <a:latin typeface="Roboto"/>
                <a:ea typeface="Roboto"/>
                <a:cs typeface="Roboto"/>
              </a:rPr>
              <a:t>Training setup</a:t>
            </a:r>
          </a:p>
        </p:txBody>
      </p:sp>
      <p:sp>
        <p:nvSpPr>
          <p:cNvPr id="104" name="training10-loss-heading">
            <a:extLst>
              <a:ext uri="{FF2B5EF4-FFF2-40B4-BE49-F238E27FC236}">
                <a16:creationId xmlns:a16="http://schemas.microsoft.com/office/drawing/2014/main" id="{5410843E-6112-4025-83DC-325457FC1D5A}"/>
              </a:ext>
            </a:extLst>
          </p:cNvPr>
          <p:cNvSpPr>
            <a:spLocks noGrp="1"/>
          </p:cNvSpPr>
          <p:nvPr/>
        </p:nvSpPr>
        <p:spPr>
          <a:xfrm>
            <a:off x="4236027" y="2192480"/>
            <a:ext cx="3676650" cy="466725"/>
          </a:xfrm>
          <a:prstGeom prst="rect">
            <a:avLst/>
          </a:prstGeom>
          <a:noFill/>
          <a:ln w="0">
            <a:noFill/>
          </a:ln>
        </p:spPr>
        <p:txBody>
          <a:bodyPr wrap="square" lIns="0" tIns="0" rIns="0" bIns="0" anchor="t">
            <a:noAutofit/>
          </a:bodyPr>
          <a:lstStyle>
            <a:defPPr algn="ctr">
              <a:defRPr lang="en-US" sz="2400" b="1">
                <a:solidFill>
                  <a:srgbClr val="822433"/>
                </a:solidFill>
                <a:latin typeface="Roboto"/>
                <a:ea typeface="Roboto"/>
                <a:cs typeface="Roboto"/>
              </a:defRPr>
            </a:defPPr>
            <a:lvl1pPr algn="ctr">
              <a:defRPr lang="en-US" sz="2400" b="1">
                <a:solidFill>
                  <a:srgbClr val="822433"/>
                </a:solidFill>
                <a:latin typeface="Roboto"/>
                <a:ea typeface="Roboto"/>
                <a:cs typeface="Roboto"/>
              </a:defRPr>
            </a:lvl1pPr>
            <a:lvl2pPr algn="ctr">
              <a:defRPr lang="en-US" sz="2400" b="1">
                <a:solidFill>
                  <a:srgbClr val="822433"/>
                </a:solidFill>
                <a:latin typeface="Roboto"/>
                <a:ea typeface="Roboto"/>
                <a:cs typeface="Roboto"/>
              </a:defRPr>
            </a:lvl2pPr>
            <a:lvl3pPr algn="ctr">
              <a:defRPr lang="en-US" sz="2400" b="1">
                <a:solidFill>
                  <a:srgbClr val="822433"/>
                </a:solidFill>
                <a:latin typeface="Roboto"/>
                <a:ea typeface="Roboto"/>
                <a:cs typeface="Roboto"/>
              </a:defRPr>
            </a:lvl3pPr>
            <a:lvl4pPr algn="ctr">
              <a:defRPr lang="en-US" sz="2400" b="1">
                <a:solidFill>
                  <a:srgbClr val="822433"/>
                </a:solidFill>
                <a:latin typeface="Roboto"/>
                <a:ea typeface="Roboto"/>
                <a:cs typeface="Roboto"/>
              </a:defRPr>
            </a:lvl4pPr>
            <a:lvl5pPr algn="ctr">
              <a:defRPr lang="en-US" sz="2400" b="1">
                <a:solidFill>
                  <a:srgbClr val="822433"/>
                </a:solidFill>
                <a:latin typeface="Roboto"/>
                <a:ea typeface="Roboto"/>
                <a:cs typeface="Roboto"/>
              </a:defRPr>
            </a:lvl5pPr>
            <a:lvl6pPr algn="ctr">
              <a:defRPr lang="en-US" sz="2400" b="1">
                <a:solidFill>
                  <a:srgbClr val="822433"/>
                </a:solidFill>
                <a:latin typeface="Roboto"/>
                <a:ea typeface="Roboto"/>
                <a:cs typeface="Roboto"/>
              </a:defRPr>
            </a:lvl6pPr>
            <a:lvl7pPr algn="ctr">
              <a:defRPr lang="en-US" sz="2400" b="1">
                <a:solidFill>
                  <a:srgbClr val="822433"/>
                </a:solidFill>
                <a:latin typeface="Roboto"/>
                <a:ea typeface="Roboto"/>
                <a:cs typeface="Roboto"/>
              </a:defRPr>
            </a:lvl7pPr>
            <a:lvl8pPr algn="ctr">
              <a:defRPr lang="en-US" sz="2400" b="1">
                <a:solidFill>
                  <a:srgbClr val="822433"/>
                </a:solidFill>
                <a:latin typeface="Roboto"/>
                <a:ea typeface="Roboto"/>
                <a:cs typeface="Roboto"/>
              </a:defRPr>
            </a:lvl8pPr>
            <a:lvl9pPr algn="ctr">
              <a:defRPr lang="en-US" sz="2400" b="1">
                <a:solidFill>
                  <a:srgbClr val="822433"/>
                </a:solidFill>
                <a:latin typeface="Roboto"/>
                <a:ea typeface="Roboto"/>
                <a:cs typeface="Roboto"/>
              </a:defRPr>
            </a:lvl9pPr>
          </a:lstStyle>
          <a:p>
            <a:pPr algn="l">
              <a:defRPr lang="en-US" sz="2400" b="1">
                <a:solidFill>
                  <a:srgbClr val="822433"/>
                </a:solidFill>
                <a:latin typeface="Roboto"/>
                <a:ea typeface="Roboto"/>
                <a:cs typeface="Roboto"/>
              </a:defRPr>
            </a:pPr>
            <a:r>
              <a:rPr lang="en-US" sz="2400" b="1" dirty="0">
                <a:solidFill>
                  <a:srgbClr val="822433"/>
                </a:solidFill>
                <a:latin typeface="Roboto"/>
                <a:ea typeface="Roboto"/>
                <a:cs typeface="Roboto"/>
              </a:rPr>
              <a:t>Loss and optimization</a:t>
            </a:r>
          </a:p>
        </p:txBody>
      </p:sp>
      <p:sp>
        <p:nvSpPr>
          <p:cNvPr id="105" name="training10-selection-heading">
            <a:extLst>
              <a:ext uri="{FF2B5EF4-FFF2-40B4-BE49-F238E27FC236}">
                <a16:creationId xmlns:a16="http://schemas.microsoft.com/office/drawing/2014/main" id="{CD4A2BA6-9C72-42D9-81DB-10C04175DCFC}"/>
              </a:ext>
            </a:extLst>
          </p:cNvPr>
          <p:cNvSpPr>
            <a:spLocks noGrp="1"/>
          </p:cNvSpPr>
          <p:nvPr/>
        </p:nvSpPr>
        <p:spPr>
          <a:xfrm>
            <a:off x="8322252" y="2191615"/>
            <a:ext cx="3209925" cy="466725"/>
          </a:xfrm>
          <a:prstGeom prst="rect">
            <a:avLst/>
          </a:prstGeom>
          <a:noFill/>
          <a:ln w="0">
            <a:noFill/>
          </a:ln>
        </p:spPr>
        <p:txBody>
          <a:bodyPr wrap="square" lIns="0" tIns="0" rIns="0" bIns="0" anchor="t">
            <a:noAutofit/>
          </a:bodyPr>
          <a:lstStyle>
            <a:defPPr algn="ctr">
              <a:defRPr lang="en-US" sz="2400" b="1">
                <a:solidFill>
                  <a:srgbClr val="822433"/>
                </a:solidFill>
                <a:latin typeface="Roboto"/>
                <a:ea typeface="Roboto"/>
                <a:cs typeface="Roboto"/>
              </a:defRPr>
            </a:defPPr>
            <a:lvl1pPr algn="ctr">
              <a:defRPr lang="en-US" sz="2400" b="1">
                <a:solidFill>
                  <a:srgbClr val="822433"/>
                </a:solidFill>
                <a:latin typeface="Roboto"/>
                <a:ea typeface="Roboto"/>
                <a:cs typeface="Roboto"/>
              </a:defRPr>
            </a:lvl1pPr>
            <a:lvl2pPr algn="ctr">
              <a:defRPr lang="en-US" sz="2400" b="1">
                <a:solidFill>
                  <a:srgbClr val="822433"/>
                </a:solidFill>
                <a:latin typeface="Roboto"/>
                <a:ea typeface="Roboto"/>
                <a:cs typeface="Roboto"/>
              </a:defRPr>
            </a:lvl2pPr>
            <a:lvl3pPr algn="ctr">
              <a:defRPr lang="en-US" sz="2400" b="1">
                <a:solidFill>
                  <a:srgbClr val="822433"/>
                </a:solidFill>
                <a:latin typeface="Roboto"/>
                <a:ea typeface="Roboto"/>
                <a:cs typeface="Roboto"/>
              </a:defRPr>
            </a:lvl3pPr>
            <a:lvl4pPr algn="ctr">
              <a:defRPr lang="en-US" sz="2400" b="1">
                <a:solidFill>
                  <a:srgbClr val="822433"/>
                </a:solidFill>
                <a:latin typeface="Roboto"/>
                <a:ea typeface="Roboto"/>
                <a:cs typeface="Roboto"/>
              </a:defRPr>
            </a:lvl4pPr>
            <a:lvl5pPr algn="ctr">
              <a:defRPr lang="en-US" sz="2400" b="1">
                <a:solidFill>
                  <a:srgbClr val="822433"/>
                </a:solidFill>
                <a:latin typeface="Roboto"/>
                <a:ea typeface="Roboto"/>
                <a:cs typeface="Roboto"/>
              </a:defRPr>
            </a:lvl5pPr>
            <a:lvl6pPr algn="ctr">
              <a:defRPr lang="en-US" sz="2400" b="1">
                <a:solidFill>
                  <a:srgbClr val="822433"/>
                </a:solidFill>
                <a:latin typeface="Roboto"/>
                <a:ea typeface="Roboto"/>
                <a:cs typeface="Roboto"/>
              </a:defRPr>
            </a:lvl6pPr>
            <a:lvl7pPr algn="ctr">
              <a:defRPr lang="en-US" sz="2400" b="1">
                <a:solidFill>
                  <a:srgbClr val="822433"/>
                </a:solidFill>
                <a:latin typeface="Roboto"/>
                <a:ea typeface="Roboto"/>
                <a:cs typeface="Roboto"/>
              </a:defRPr>
            </a:lvl7pPr>
            <a:lvl8pPr algn="ctr">
              <a:defRPr lang="en-US" sz="2400" b="1">
                <a:solidFill>
                  <a:srgbClr val="822433"/>
                </a:solidFill>
                <a:latin typeface="Roboto"/>
                <a:ea typeface="Roboto"/>
                <a:cs typeface="Roboto"/>
              </a:defRPr>
            </a:lvl8pPr>
            <a:lvl9pPr algn="ctr">
              <a:defRPr lang="en-US" sz="2400" b="1">
                <a:solidFill>
                  <a:srgbClr val="822433"/>
                </a:solidFill>
                <a:latin typeface="Roboto"/>
                <a:ea typeface="Roboto"/>
                <a:cs typeface="Roboto"/>
              </a:defRPr>
            </a:lvl9pPr>
          </a:lstStyle>
          <a:p>
            <a:pPr algn="l">
              <a:defRPr lang="en-US" sz="2400" b="1">
                <a:solidFill>
                  <a:srgbClr val="822433"/>
                </a:solidFill>
                <a:latin typeface="Roboto"/>
                <a:ea typeface="Roboto"/>
                <a:cs typeface="Roboto"/>
              </a:defRPr>
            </a:pPr>
            <a:r>
              <a:rPr lang="en-US" sz="2400" b="1" dirty="0">
                <a:solidFill>
                  <a:srgbClr val="822433"/>
                </a:solidFill>
                <a:latin typeface="Roboto"/>
                <a:ea typeface="Roboto"/>
                <a:cs typeface="Roboto"/>
              </a:rPr>
              <a:t>Quantization</a:t>
            </a:r>
          </a:p>
        </p:txBody>
      </p:sp>
      <p:sp>
        <p:nvSpPr>
          <p:cNvPr id="106" name="training10-resolution">
            <a:extLst>
              <a:ext uri="{FF2B5EF4-FFF2-40B4-BE49-F238E27FC236}">
                <a16:creationId xmlns:a16="http://schemas.microsoft.com/office/drawing/2014/main" id="{20BB474D-270B-4C37-8C56-EB8A6702C5D2}"/>
              </a:ext>
            </a:extLst>
          </p:cNvPr>
          <p:cNvSpPr>
            <a:spLocks noGrp="1"/>
          </p:cNvSpPr>
          <p:nvPr/>
        </p:nvSpPr>
        <p:spPr>
          <a:xfrm>
            <a:off x="1130877" y="2925040"/>
            <a:ext cx="3105150" cy="400050"/>
          </a:xfrm>
          <a:prstGeom prst="rect">
            <a:avLst/>
          </a:prstGeom>
          <a:noFill/>
          <a:ln w="0">
            <a:noFill/>
          </a:ln>
        </p:spPr>
        <p:txBody>
          <a:bodyPr wrap="square" lIns="0" tIns="0" rIns="0" bIns="0" anchor="t">
            <a:noAutofit/>
          </a:bodyPr>
          <a:lstStyle>
            <a:defPPr algn="l">
              <a:defRPr lang="en-US" sz="2000" b="0">
                <a:solidFill>
                  <a:srgbClr val="202124"/>
                </a:solidFill>
                <a:latin typeface="Roboto"/>
                <a:ea typeface="Roboto"/>
                <a:cs typeface="Roboto"/>
              </a:defRPr>
            </a:defPPr>
            <a:lvl1pPr algn="l">
              <a:defRPr lang="en-US" sz="2000" b="0">
                <a:solidFill>
                  <a:srgbClr val="202124"/>
                </a:solidFill>
                <a:latin typeface="Roboto"/>
                <a:ea typeface="Roboto"/>
                <a:cs typeface="Roboto"/>
              </a:defRPr>
            </a:lvl1pPr>
            <a:lvl2pPr algn="l">
              <a:defRPr lang="en-US" sz="2000" b="0">
                <a:solidFill>
                  <a:srgbClr val="202124"/>
                </a:solidFill>
                <a:latin typeface="Roboto"/>
                <a:ea typeface="Roboto"/>
                <a:cs typeface="Roboto"/>
              </a:defRPr>
            </a:lvl2pPr>
            <a:lvl3pPr algn="l">
              <a:defRPr lang="en-US" sz="2000" b="0">
                <a:solidFill>
                  <a:srgbClr val="202124"/>
                </a:solidFill>
                <a:latin typeface="Roboto"/>
                <a:ea typeface="Roboto"/>
                <a:cs typeface="Roboto"/>
              </a:defRPr>
            </a:lvl3pPr>
            <a:lvl4pPr algn="l">
              <a:defRPr lang="en-US" sz="2000" b="0">
                <a:solidFill>
                  <a:srgbClr val="202124"/>
                </a:solidFill>
                <a:latin typeface="Roboto"/>
                <a:ea typeface="Roboto"/>
                <a:cs typeface="Roboto"/>
              </a:defRPr>
            </a:lvl4pPr>
            <a:lvl5pPr algn="l">
              <a:defRPr lang="en-US" sz="2000" b="0">
                <a:solidFill>
                  <a:srgbClr val="202124"/>
                </a:solidFill>
                <a:latin typeface="Roboto"/>
                <a:ea typeface="Roboto"/>
                <a:cs typeface="Roboto"/>
              </a:defRPr>
            </a:lvl5pPr>
            <a:lvl6pPr algn="l">
              <a:defRPr lang="en-US" sz="2000" b="0">
                <a:solidFill>
                  <a:srgbClr val="202124"/>
                </a:solidFill>
                <a:latin typeface="Roboto"/>
                <a:ea typeface="Roboto"/>
                <a:cs typeface="Roboto"/>
              </a:defRPr>
            </a:lvl6pPr>
            <a:lvl7pPr algn="l">
              <a:defRPr lang="en-US" sz="2000" b="0">
                <a:solidFill>
                  <a:srgbClr val="202124"/>
                </a:solidFill>
                <a:latin typeface="Roboto"/>
                <a:ea typeface="Roboto"/>
                <a:cs typeface="Roboto"/>
              </a:defRPr>
            </a:lvl7pPr>
            <a:lvl8pPr algn="l">
              <a:defRPr lang="en-US" sz="2000" b="0">
                <a:solidFill>
                  <a:srgbClr val="202124"/>
                </a:solidFill>
                <a:latin typeface="Roboto"/>
                <a:ea typeface="Roboto"/>
                <a:cs typeface="Roboto"/>
              </a:defRPr>
            </a:lvl8pPr>
            <a:lvl9pPr algn="l">
              <a:defRPr lang="en-US" sz="2000" b="0">
                <a:solidFill>
                  <a:srgbClr val="202124"/>
                </a:solidFill>
                <a:latin typeface="Roboto"/>
                <a:ea typeface="Roboto"/>
                <a:cs typeface="Roboto"/>
              </a:defRPr>
            </a:lvl9pPr>
          </a:lstStyle>
          <a:p>
            <a:pPr algn="l">
              <a:defRPr lang="en-US" sz="2000" b="0">
                <a:solidFill>
                  <a:srgbClr val="202124"/>
                </a:solidFill>
                <a:latin typeface="Roboto"/>
                <a:ea typeface="Roboto"/>
                <a:cs typeface="Roboto"/>
              </a:defRPr>
            </a:pPr>
            <a:r>
              <a:rPr lang="en-US" sz="2000" b="0" dirty="0">
                <a:solidFill>
                  <a:srgbClr val="202124"/>
                </a:solidFill>
                <a:latin typeface="Roboto"/>
                <a:ea typeface="Roboto"/>
                <a:cs typeface="Roboto"/>
              </a:rPr>
              <a:t>512 × 512 input</a:t>
            </a:r>
          </a:p>
        </p:txBody>
      </p:sp>
      <p:sp>
        <p:nvSpPr>
          <p:cNvPr id="107" name="training10-batch">
            <a:extLst>
              <a:ext uri="{FF2B5EF4-FFF2-40B4-BE49-F238E27FC236}">
                <a16:creationId xmlns:a16="http://schemas.microsoft.com/office/drawing/2014/main" id="{6575BD82-DA6F-4837-9764-096BECF3EABB}"/>
              </a:ext>
            </a:extLst>
          </p:cNvPr>
          <p:cNvSpPr>
            <a:spLocks noGrp="1"/>
          </p:cNvSpPr>
          <p:nvPr/>
        </p:nvSpPr>
        <p:spPr>
          <a:xfrm>
            <a:off x="1130877" y="3391765"/>
            <a:ext cx="3105150" cy="400050"/>
          </a:xfrm>
          <a:prstGeom prst="rect">
            <a:avLst/>
          </a:prstGeom>
          <a:noFill/>
          <a:ln w="0">
            <a:noFill/>
          </a:ln>
        </p:spPr>
        <p:txBody>
          <a:bodyPr wrap="square" lIns="0" tIns="0" rIns="0" bIns="0" anchor="t">
            <a:noAutofit/>
          </a:bodyPr>
          <a:lstStyle>
            <a:defPPr algn="l">
              <a:defRPr lang="en-US" sz="2100" b="0">
                <a:solidFill>
                  <a:srgbClr val="202124"/>
                </a:solidFill>
                <a:latin typeface="Roboto"/>
                <a:ea typeface="Roboto"/>
                <a:cs typeface="Roboto"/>
              </a:defRPr>
            </a:defPPr>
            <a:lvl1pPr algn="l">
              <a:defRPr lang="en-US" sz="2100" b="0">
                <a:solidFill>
                  <a:srgbClr val="202124"/>
                </a:solidFill>
                <a:latin typeface="Roboto"/>
                <a:ea typeface="Roboto"/>
                <a:cs typeface="Roboto"/>
              </a:defRPr>
            </a:lvl1pPr>
            <a:lvl2pPr algn="l">
              <a:defRPr lang="en-US" sz="2100" b="0">
                <a:solidFill>
                  <a:srgbClr val="202124"/>
                </a:solidFill>
                <a:latin typeface="Roboto"/>
                <a:ea typeface="Roboto"/>
                <a:cs typeface="Roboto"/>
              </a:defRPr>
            </a:lvl2pPr>
            <a:lvl3pPr algn="l">
              <a:defRPr lang="en-US" sz="2100" b="0">
                <a:solidFill>
                  <a:srgbClr val="202124"/>
                </a:solidFill>
                <a:latin typeface="Roboto"/>
                <a:ea typeface="Roboto"/>
                <a:cs typeface="Roboto"/>
              </a:defRPr>
            </a:lvl3pPr>
            <a:lvl4pPr algn="l">
              <a:defRPr lang="en-US" sz="2100" b="0">
                <a:solidFill>
                  <a:srgbClr val="202124"/>
                </a:solidFill>
                <a:latin typeface="Roboto"/>
                <a:ea typeface="Roboto"/>
                <a:cs typeface="Roboto"/>
              </a:defRPr>
            </a:lvl4pPr>
            <a:lvl5pPr algn="l">
              <a:defRPr lang="en-US" sz="2100" b="0">
                <a:solidFill>
                  <a:srgbClr val="202124"/>
                </a:solidFill>
                <a:latin typeface="Roboto"/>
                <a:ea typeface="Roboto"/>
                <a:cs typeface="Roboto"/>
              </a:defRPr>
            </a:lvl5pPr>
            <a:lvl6pPr algn="l">
              <a:defRPr lang="en-US" sz="2100" b="0">
                <a:solidFill>
                  <a:srgbClr val="202124"/>
                </a:solidFill>
                <a:latin typeface="Roboto"/>
                <a:ea typeface="Roboto"/>
                <a:cs typeface="Roboto"/>
              </a:defRPr>
            </a:lvl6pPr>
            <a:lvl7pPr algn="l">
              <a:defRPr lang="en-US" sz="2100" b="0">
                <a:solidFill>
                  <a:srgbClr val="202124"/>
                </a:solidFill>
                <a:latin typeface="Roboto"/>
                <a:ea typeface="Roboto"/>
                <a:cs typeface="Roboto"/>
              </a:defRPr>
            </a:lvl7pPr>
            <a:lvl8pPr algn="l">
              <a:defRPr lang="en-US" sz="2100" b="0">
                <a:solidFill>
                  <a:srgbClr val="202124"/>
                </a:solidFill>
                <a:latin typeface="Roboto"/>
                <a:ea typeface="Roboto"/>
                <a:cs typeface="Roboto"/>
              </a:defRPr>
            </a:lvl8pPr>
            <a:lvl9pPr algn="l">
              <a:defRPr lang="en-US" sz="2100" b="0">
                <a:solidFill>
                  <a:srgbClr val="202124"/>
                </a:solidFill>
                <a:latin typeface="Roboto"/>
                <a:ea typeface="Roboto"/>
                <a:cs typeface="Roboto"/>
              </a:defRPr>
            </a:lvl9pPr>
          </a:lstStyle>
          <a:p>
            <a:pPr algn="l">
              <a:defRPr lang="en-US" sz="2100" b="0">
                <a:solidFill>
                  <a:srgbClr val="202124"/>
                </a:solidFill>
                <a:latin typeface="Roboto"/>
                <a:ea typeface="Roboto"/>
                <a:cs typeface="Roboto"/>
              </a:defRPr>
            </a:pPr>
            <a:r>
              <a:rPr lang="en-US" sz="2100" b="0">
                <a:solidFill>
                  <a:srgbClr val="202124"/>
                </a:solidFill>
                <a:latin typeface="Roboto"/>
                <a:ea typeface="Roboto"/>
                <a:cs typeface="Roboto"/>
              </a:rPr>
              <a:t>Batch size: 32</a:t>
            </a:r>
          </a:p>
        </p:txBody>
      </p:sp>
      <p:sp>
        <p:nvSpPr>
          <p:cNvPr id="108" name="training10-epochs">
            <a:extLst>
              <a:ext uri="{FF2B5EF4-FFF2-40B4-BE49-F238E27FC236}">
                <a16:creationId xmlns:a16="http://schemas.microsoft.com/office/drawing/2014/main" id="{C92598D6-B88F-4A79-AC45-9C0A87B1A8B3}"/>
              </a:ext>
            </a:extLst>
          </p:cNvPr>
          <p:cNvSpPr>
            <a:spLocks noGrp="1"/>
          </p:cNvSpPr>
          <p:nvPr/>
        </p:nvSpPr>
        <p:spPr>
          <a:xfrm>
            <a:off x="1130877" y="3868015"/>
            <a:ext cx="3105150" cy="571500"/>
          </a:xfrm>
          <a:prstGeom prst="rect">
            <a:avLst/>
          </a:prstGeom>
          <a:noFill/>
          <a:ln w="0">
            <a:noFill/>
          </a:ln>
        </p:spPr>
        <p:txBody>
          <a:bodyPr wrap="square" lIns="0" tIns="0" rIns="0" bIns="0" anchor="t">
            <a:noAutofit/>
          </a:bodyPr>
          <a:lstStyle>
            <a:defPPr algn="l">
              <a:defRPr lang="en-US" sz="3000" b="1">
                <a:solidFill>
                  <a:srgbClr val="822433"/>
                </a:solidFill>
                <a:latin typeface="Roboto"/>
                <a:ea typeface="Roboto"/>
                <a:cs typeface="Roboto"/>
              </a:defRPr>
            </a:defPPr>
            <a:lvl1pPr algn="l">
              <a:defRPr lang="en-US" sz="3000" b="1">
                <a:solidFill>
                  <a:srgbClr val="822433"/>
                </a:solidFill>
                <a:latin typeface="Roboto"/>
                <a:ea typeface="Roboto"/>
                <a:cs typeface="Roboto"/>
              </a:defRPr>
            </a:lvl1pPr>
            <a:lvl2pPr algn="l">
              <a:defRPr lang="en-US" sz="3000" b="1">
                <a:solidFill>
                  <a:srgbClr val="822433"/>
                </a:solidFill>
                <a:latin typeface="Roboto"/>
                <a:ea typeface="Roboto"/>
                <a:cs typeface="Roboto"/>
              </a:defRPr>
            </a:lvl2pPr>
            <a:lvl3pPr algn="l">
              <a:defRPr lang="en-US" sz="3000" b="1">
                <a:solidFill>
                  <a:srgbClr val="822433"/>
                </a:solidFill>
                <a:latin typeface="Roboto"/>
                <a:ea typeface="Roboto"/>
                <a:cs typeface="Roboto"/>
              </a:defRPr>
            </a:lvl3pPr>
            <a:lvl4pPr algn="l">
              <a:defRPr lang="en-US" sz="3000" b="1">
                <a:solidFill>
                  <a:srgbClr val="822433"/>
                </a:solidFill>
                <a:latin typeface="Roboto"/>
                <a:ea typeface="Roboto"/>
                <a:cs typeface="Roboto"/>
              </a:defRPr>
            </a:lvl4pPr>
            <a:lvl5pPr algn="l">
              <a:defRPr lang="en-US" sz="3000" b="1">
                <a:solidFill>
                  <a:srgbClr val="822433"/>
                </a:solidFill>
                <a:latin typeface="Roboto"/>
                <a:ea typeface="Roboto"/>
                <a:cs typeface="Roboto"/>
              </a:defRPr>
            </a:lvl5pPr>
            <a:lvl6pPr algn="l">
              <a:defRPr lang="en-US" sz="3000" b="1">
                <a:solidFill>
                  <a:srgbClr val="822433"/>
                </a:solidFill>
                <a:latin typeface="Roboto"/>
                <a:ea typeface="Roboto"/>
                <a:cs typeface="Roboto"/>
              </a:defRPr>
            </a:lvl6pPr>
            <a:lvl7pPr algn="l">
              <a:defRPr lang="en-US" sz="3000" b="1">
                <a:solidFill>
                  <a:srgbClr val="822433"/>
                </a:solidFill>
                <a:latin typeface="Roboto"/>
                <a:ea typeface="Roboto"/>
                <a:cs typeface="Roboto"/>
              </a:defRPr>
            </a:lvl7pPr>
            <a:lvl8pPr algn="l">
              <a:defRPr lang="en-US" sz="3000" b="1">
                <a:solidFill>
                  <a:srgbClr val="822433"/>
                </a:solidFill>
                <a:latin typeface="Roboto"/>
                <a:ea typeface="Roboto"/>
                <a:cs typeface="Roboto"/>
              </a:defRPr>
            </a:lvl8pPr>
            <a:lvl9pPr algn="l">
              <a:defRPr lang="en-US" sz="3000" b="1">
                <a:solidFill>
                  <a:srgbClr val="822433"/>
                </a:solidFill>
                <a:latin typeface="Roboto"/>
                <a:ea typeface="Roboto"/>
                <a:cs typeface="Roboto"/>
              </a:defRPr>
            </a:lvl9pPr>
          </a:lstStyle>
          <a:p>
            <a:pPr algn="l">
              <a:defRPr lang="en-US" sz="3000" b="1">
                <a:solidFill>
                  <a:srgbClr val="822433"/>
                </a:solidFill>
                <a:latin typeface="Roboto"/>
                <a:ea typeface="Roboto"/>
                <a:cs typeface="Roboto"/>
              </a:defRPr>
            </a:pPr>
            <a:r>
              <a:rPr lang="en-US" sz="2400" b="1" dirty="0">
                <a:solidFill>
                  <a:srgbClr val="822433"/>
                </a:solidFill>
                <a:latin typeface="Roboto"/>
                <a:ea typeface="Roboto"/>
                <a:cs typeface="Roboto"/>
              </a:rPr>
              <a:t>30 epochs</a:t>
            </a:r>
          </a:p>
        </p:txBody>
      </p:sp>
      <p:sp>
        <p:nvSpPr>
          <p:cNvPr id="109" name="training10-lcnet-epochs">
            <a:extLst>
              <a:ext uri="{FF2B5EF4-FFF2-40B4-BE49-F238E27FC236}">
                <a16:creationId xmlns:a16="http://schemas.microsoft.com/office/drawing/2014/main" id="{B021DAA4-4C67-464E-8D47-15C450274ABF}"/>
              </a:ext>
            </a:extLst>
          </p:cNvPr>
          <p:cNvSpPr>
            <a:spLocks noGrp="1"/>
          </p:cNvSpPr>
          <p:nvPr/>
        </p:nvSpPr>
        <p:spPr>
          <a:xfrm>
            <a:off x="1130877" y="4249015"/>
            <a:ext cx="3105150" cy="400050"/>
          </a:xfrm>
          <a:prstGeom prst="rect">
            <a:avLst/>
          </a:prstGeom>
          <a:noFill/>
          <a:ln w="0">
            <a:noFill/>
          </a:ln>
        </p:spPr>
        <p:txBody>
          <a:bodyPr wrap="square" lIns="0" tIns="0" rIns="0" bIns="0" anchor="t">
            <a:noAutofit/>
          </a:bodyPr>
          <a:lstStyle>
            <a:defPPr algn="l">
              <a:defRPr lang="en-US" sz="2000" b="0">
                <a:solidFill>
                  <a:srgbClr val="656B73"/>
                </a:solidFill>
                <a:latin typeface="Roboto"/>
                <a:ea typeface="Roboto"/>
                <a:cs typeface="Roboto"/>
              </a:defRPr>
            </a:defPPr>
            <a:lvl1pPr algn="l">
              <a:defRPr lang="en-US" sz="2000" b="0">
                <a:solidFill>
                  <a:srgbClr val="656B73"/>
                </a:solidFill>
                <a:latin typeface="Roboto"/>
                <a:ea typeface="Roboto"/>
                <a:cs typeface="Roboto"/>
              </a:defRPr>
            </a:lvl1pPr>
            <a:lvl2pPr algn="l">
              <a:defRPr lang="en-US" sz="2000" b="0">
                <a:solidFill>
                  <a:srgbClr val="656B73"/>
                </a:solidFill>
                <a:latin typeface="Roboto"/>
                <a:ea typeface="Roboto"/>
                <a:cs typeface="Roboto"/>
              </a:defRPr>
            </a:lvl2pPr>
            <a:lvl3pPr algn="l">
              <a:defRPr lang="en-US" sz="2000" b="0">
                <a:solidFill>
                  <a:srgbClr val="656B73"/>
                </a:solidFill>
                <a:latin typeface="Roboto"/>
                <a:ea typeface="Roboto"/>
                <a:cs typeface="Roboto"/>
              </a:defRPr>
            </a:lvl3pPr>
            <a:lvl4pPr algn="l">
              <a:defRPr lang="en-US" sz="2000" b="0">
                <a:solidFill>
                  <a:srgbClr val="656B73"/>
                </a:solidFill>
                <a:latin typeface="Roboto"/>
                <a:ea typeface="Roboto"/>
                <a:cs typeface="Roboto"/>
              </a:defRPr>
            </a:lvl4pPr>
            <a:lvl5pPr algn="l">
              <a:defRPr lang="en-US" sz="2000" b="0">
                <a:solidFill>
                  <a:srgbClr val="656B73"/>
                </a:solidFill>
                <a:latin typeface="Roboto"/>
                <a:ea typeface="Roboto"/>
                <a:cs typeface="Roboto"/>
              </a:defRPr>
            </a:lvl5pPr>
            <a:lvl6pPr algn="l">
              <a:defRPr lang="en-US" sz="2000" b="0">
                <a:solidFill>
                  <a:srgbClr val="656B73"/>
                </a:solidFill>
                <a:latin typeface="Roboto"/>
                <a:ea typeface="Roboto"/>
                <a:cs typeface="Roboto"/>
              </a:defRPr>
            </a:lvl6pPr>
            <a:lvl7pPr algn="l">
              <a:defRPr lang="en-US" sz="2000" b="0">
                <a:solidFill>
                  <a:srgbClr val="656B73"/>
                </a:solidFill>
                <a:latin typeface="Roboto"/>
                <a:ea typeface="Roboto"/>
                <a:cs typeface="Roboto"/>
              </a:defRPr>
            </a:lvl7pPr>
            <a:lvl8pPr algn="l">
              <a:defRPr lang="en-US" sz="2000" b="0">
                <a:solidFill>
                  <a:srgbClr val="656B73"/>
                </a:solidFill>
                <a:latin typeface="Roboto"/>
                <a:ea typeface="Roboto"/>
                <a:cs typeface="Roboto"/>
              </a:defRPr>
            </a:lvl8pPr>
            <a:lvl9pPr algn="l">
              <a:defRPr lang="en-US" sz="2000" b="0">
                <a:solidFill>
                  <a:srgbClr val="656B73"/>
                </a:solidFill>
                <a:latin typeface="Roboto"/>
                <a:ea typeface="Roboto"/>
                <a:cs typeface="Roboto"/>
              </a:defRPr>
            </a:lvl9pPr>
          </a:lstStyle>
          <a:p>
            <a:pPr algn="l">
              <a:defRPr lang="en-US" sz="2000" b="0">
                <a:solidFill>
                  <a:srgbClr val="656B73"/>
                </a:solidFill>
                <a:latin typeface="Roboto"/>
                <a:ea typeface="Roboto"/>
                <a:cs typeface="Roboto"/>
              </a:defRPr>
            </a:pPr>
            <a:r>
              <a:rPr lang="en-US" sz="1800" b="0" dirty="0">
                <a:solidFill>
                  <a:srgbClr val="656B73"/>
                </a:solidFill>
                <a:latin typeface="Roboto"/>
                <a:ea typeface="Roboto"/>
                <a:cs typeface="Roboto"/>
              </a:rPr>
              <a:t>(60 for </a:t>
            </a:r>
            <a:r>
              <a:rPr lang="en-US" sz="1800" b="0" dirty="0" err="1">
                <a:solidFill>
                  <a:srgbClr val="656B73"/>
                </a:solidFill>
                <a:latin typeface="Roboto"/>
                <a:ea typeface="Roboto"/>
                <a:cs typeface="Roboto"/>
              </a:rPr>
              <a:t>LCNet</a:t>
            </a:r>
            <a:r>
              <a:rPr lang="en-US" sz="1800" b="0" dirty="0">
                <a:solidFill>
                  <a:srgbClr val="656B73"/>
                </a:solidFill>
                <a:latin typeface="Roboto"/>
                <a:ea typeface="Roboto"/>
                <a:cs typeface="Roboto"/>
              </a:rPr>
              <a:t>)</a:t>
            </a:r>
          </a:p>
        </p:txBody>
      </p:sp>
      <p:sp>
        <p:nvSpPr>
          <p:cNvPr id="110" name="training10-end-to-end">
            <a:extLst>
              <a:ext uri="{FF2B5EF4-FFF2-40B4-BE49-F238E27FC236}">
                <a16:creationId xmlns:a16="http://schemas.microsoft.com/office/drawing/2014/main" id="{660EDAE0-A2AC-4201-B112-4AB80EA83907}"/>
              </a:ext>
            </a:extLst>
          </p:cNvPr>
          <p:cNvSpPr>
            <a:spLocks noGrp="1"/>
          </p:cNvSpPr>
          <p:nvPr/>
        </p:nvSpPr>
        <p:spPr>
          <a:xfrm>
            <a:off x="1130877" y="4717162"/>
            <a:ext cx="3105150" cy="409575"/>
          </a:xfrm>
          <a:prstGeom prst="rect">
            <a:avLst/>
          </a:prstGeom>
          <a:noFill/>
          <a:ln w="0">
            <a:noFill/>
          </a:ln>
        </p:spPr>
        <p:txBody>
          <a:bodyPr wrap="square" lIns="0" tIns="0" rIns="0" bIns="0" anchor="t">
            <a:noAutofit/>
          </a:bodyPr>
          <a:lstStyle>
            <a:defPPr algn="l">
              <a:defRPr lang="en-US" sz="2100" b="0">
                <a:solidFill>
                  <a:srgbClr val="202124"/>
                </a:solidFill>
                <a:latin typeface="Roboto"/>
                <a:ea typeface="Roboto"/>
                <a:cs typeface="Roboto"/>
              </a:defRPr>
            </a:defPPr>
            <a:lvl1pPr algn="l">
              <a:defRPr lang="en-US" sz="2100" b="0">
                <a:solidFill>
                  <a:srgbClr val="202124"/>
                </a:solidFill>
                <a:latin typeface="Roboto"/>
                <a:ea typeface="Roboto"/>
                <a:cs typeface="Roboto"/>
              </a:defRPr>
            </a:lvl1pPr>
            <a:lvl2pPr algn="l">
              <a:defRPr lang="en-US" sz="2100" b="0">
                <a:solidFill>
                  <a:srgbClr val="202124"/>
                </a:solidFill>
                <a:latin typeface="Roboto"/>
                <a:ea typeface="Roboto"/>
                <a:cs typeface="Roboto"/>
              </a:defRPr>
            </a:lvl2pPr>
            <a:lvl3pPr algn="l">
              <a:defRPr lang="en-US" sz="2100" b="0">
                <a:solidFill>
                  <a:srgbClr val="202124"/>
                </a:solidFill>
                <a:latin typeface="Roboto"/>
                <a:ea typeface="Roboto"/>
                <a:cs typeface="Roboto"/>
              </a:defRPr>
            </a:lvl3pPr>
            <a:lvl4pPr algn="l">
              <a:defRPr lang="en-US" sz="2100" b="0">
                <a:solidFill>
                  <a:srgbClr val="202124"/>
                </a:solidFill>
                <a:latin typeface="Roboto"/>
                <a:ea typeface="Roboto"/>
                <a:cs typeface="Roboto"/>
              </a:defRPr>
            </a:lvl4pPr>
            <a:lvl5pPr algn="l">
              <a:defRPr lang="en-US" sz="2100" b="0">
                <a:solidFill>
                  <a:srgbClr val="202124"/>
                </a:solidFill>
                <a:latin typeface="Roboto"/>
                <a:ea typeface="Roboto"/>
                <a:cs typeface="Roboto"/>
              </a:defRPr>
            </a:lvl5pPr>
            <a:lvl6pPr algn="l">
              <a:defRPr lang="en-US" sz="2100" b="0">
                <a:solidFill>
                  <a:srgbClr val="202124"/>
                </a:solidFill>
                <a:latin typeface="Roboto"/>
                <a:ea typeface="Roboto"/>
                <a:cs typeface="Roboto"/>
              </a:defRPr>
            </a:lvl6pPr>
            <a:lvl7pPr algn="l">
              <a:defRPr lang="en-US" sz="2100" b="0">
                <a:solidFill>
                  <a:srgbClr val="202124"/>
                </a:solidFill>
                <a:latin typeface="Roboto"/>
                <a:ea typeface="Roboto"/>
                <a:cs typeface="Roboto"/>
              </a:defRPr>
            </a:lvl7pPr>
            <a:lvl8pPr algn="l">
              <a:defRPr lang="en-US" sz="2100" b="0">
                <a:solidFill>
                  <a:srgbClr val="202124"/>
                </a:solidFill>
                <a:latin typeface="Roboto"/>
                <a:ea typeface="Roboto"/>
                <a:cs typeface="Roboto"/>
              </a:defRPr>
            </a:lvl8pPr>
            <a:lvl9pPr algn="l">
              <a:defRPr lang="en-US" sz="2100" b="0">
                <a:solidFill>
                  <a:srgbClr val="202124"/>
                </a:solidFill>
                <a:latin typeface="Roboto"/>
                <a:ea typeface="Roboto"/>
                <a:cs typeface="Roboto"/>
              </a:defRPr>
            </a:lvl9pPr>
          </a:lstStyle>
          <a:p>
            <a:pPr algn="l">
              <a:defRPr lang="en-US" sz="2100" b="0">
                <a:solidFill>
                  <a:srgbClr val="202124"/>
                </a:solidFill>
                <a:latin typeface="Roboto"/>
                <a:ea typeface="Roboto"/>
                <a:cs typeface="Roboto"/>
              </a:defRPr>
            </a:pPr>
            <a:r>
              <a:rPr lang="en-US" sz="2100" b="0" dirty="0">
                <a:solidFill>
                  <a:srgbClr val="202124"/>
                </a:solidFill>
                <a:latin typeface="Roboto"/>
                <a:ea typeface="Roboto"/>
                <a:cs typeface="Roboto"/>
              </a:rPr>
              <a:t>End-to-end training</a:t>
            </a:r>
          </a:p>
        </p:txBody>
      </p:sp>
      <p:sp>
        <p:nvSpPr>
          <p:cNvPr id="111" name="training10-loss-formula">
            <a:extLst>
              <a:ext uri="{FF2B5EF4-FFF2-40B4-BE49-F238E27FC236}">
                <a16:creationId xmlns:a16="http://schemas.microsoft.com/office/drawing/2014/main" id="{6F878C80-3805-42F8-8B85-7B57C77764F4}"/>
              </a:ext>
            </a:extLst>
          </p:cNvPr>
          <p:cNvSpPr>
            <a:spLocks noGrp="1"/>
          </p:cNvSpPr>
          <p:nvPr/>
        </p:nvSpPr>
        <p:spPr>
          <a:xfrm>
            <a:off x="4236027" y="2897330"/>
            <a:ext cx="3562350" cy="571500"/>
          </a:xfrm>
          <a:prstGeom prst="rect">
            <a:avLst/>
          </a:prstGeom>
          <a:noFill/>
          <a:ln w="0">
            <a:noFill/>
          </a:ln>
        </p:spPr>
        <p:txBody>
          <a:bodyPr wrap="square" lIns="0" tIns="0" rIns="0" bIns="0" anchor="t">
            <a:noAutofit/>
          </a:bodyPr>
          <a:lstStyle>
            <a:defPPr algn="l">
              <a:defRPr lang="en-US" sz="2400" b="0">
                <a:solidFill>
                  <a:srgbClr val="202124"/>
                </a:solidFill>
                <a:latin typeface="Roboto"/>
                <a:ea typeface="Roboto"/>
                <a:cs typeface="Roboto"/>
              </a:defRPr>
            </a:defPPr>
            <a:lvl1pPr algn="l">
              <a:defRPr lang="en-US" sz="2400" b="0">
                <a:solidFill>
                  <a:srgbClr val="202124"/>
                </a:solidFill>
                <a:latin typeface="Roboto"/>
                <a:ea typeface="Roboto"/>
                <a:cs typeface="Roboto"/>
              </a:defRPr>
            </a:lvl1pPr>
            <a:lvl2pPr algn="l">
              <a:defRPr lang="en-US" sz="2400" b="0">
                <a:solidFill>
                  <a:srgbClr val="202124"/>
                </a:solidFill>
                <a:latin typeface="Roboto"/>
                <a:ea typeface="Roboto"/>
                <a:cs typeface="Roboto"/>
              </a:defRPr>
            </a:lvl2pPr>
            <a:lvl3pPr algn="l">
              <a:defRPr lang="en-US" sz="2400" b="0">
                <a:solidFill>
                  <a:srgbClr val="202124"/>
                </a:solidFill>
                <a:latin typeface="Roboto"/>
                <a:ea typeface="Roboto"/>
                <a:cs typeface="Roboto"/>
              </a:defRPr>
            </a:lvl3pPr>
            <a:lvl4pPr algn="l">
              <a:defRPr lang="en-US" sz="2400" b="0">
                <a:solidFill>
                  <a:srgbClr val="202124"/>
                </a:solidFill>
                <a:latin typeface="Roboto"/>
                <a:ea typeface="Roboto"/>
                <a:cs typeface="Roboto"/>
              </a:defRPr>
            </a:lvl4pPr>
            <a:lvl5pPr algn="l">
              <a:defRPr lang="en-US" sz="2400" b="0">
                <a:solidFill>
                  <a:srgbClr val="202124"/>
                </a:solidFill>
                <a:latin typeface="Roboto"/>
                <a:ea typeface="Roboto"/>
                <a:cs typeface="Roboto"/>
              </a:defRPr>
            </a:lvl5pPr>
            <a:lvl6pPr algn="l">
              <a:defRPr lang="en-US" sz="2400" b="0">
                <a:solidFill>
                  <a:srgbClr val="202124"/>
                </a:solidFill>
                <a:latin typeface="Roboto"/>
                <a:ea typeface="Roboto"/>
                <a:cs typeface="Roboto"/>
              </a:defRPr>
            </a:lvl6pPr>
            <a:lvl7pPr algn="l">
              <a:defRPr lang="en-US" sz="2400" b="0">
                <a:solidFill>
                  <a:srgbClr val="202124"/>
                </a:solidFill>
                <a:latin typeface="Roboto"/>
                <a:ea typeface="Roboto"/>
                <a:cs typeface="Roboto"/>
              </a:defRPr>
            </a:lvl7pPr>
            <a:lvl8pPr algn="l">
              <a:defRPr lang="en-US" sz="2400" b="0">
                <a:solidFill>
                  <a:srgbClr val="202124"/>
                </a:solidFill>
                <a:latin typeface="Roboto"/>
                <a:ea typeface="Roboto"/>
                <a:cs typeface="Roboto"/>
              </a:defRPr>
            </a:lvl8pPr>
            <a:lvl9pPr algn="l">
              <a:defRPr lang="en-US" sz="2400" b="0">
                <a:solidFill>
                  <a:srgbClr val="202124"/>
                </a:solidFill>
                <a:latin typeface="Roboto"/>
                <a:ea typeface="Roboto"/>
                <a:cs typeface="Roboto"/>
              </a:defRPr>
            </a:lvl9pPr>
          </a:lstStyle>
          <a:p>
            <a:pPr algn="l">
              <a:defRPr lang="en-US" sz="2400" b="0">
                <a:solidFill>
                  <a:srgbClr val="202124"/>
                </a:solidFill>
                <a:latin typeface="Roboto"/>
                <a:ea typeface="Roboto"/>
                <a:cs typeface="Roboto"/>
              </a:defRPr>
            </a:pPr>
            <a:r>
              <a:rPr lang="en-US" sz="2400" b="0" dirty="0">
                <a:solidFill>
                  <a:srgbClr val="202124"/>
                </a:solidFill>
                <a:latin typeface="Roboto"/>
                <a:ea typeface="Roboto"/>
                <a:cs typeface="Roboto"/>
              </a:rPr>
              <a:t>ℒ = 0.5ℒ</a:t>
            </a:r>
            <a:r>
              <a:rPr lang="en-US" sz="1600" b="0" baseline="-25000" dirty="0">
                <a:solidFill>
                  <a:srgbClr val="202124"/>
                </a:solidFill>
                <a:latin typeface="Roboto"/>
                <a:ea typeface="Roboto"/>
                <a:cs typeface="Roboto"/>
              </a:rPr>
              <a:t>CE</a:t>
            </a:r>
            <a:r>
              <a:rPr lang="en-US" sz="2400" b="0" dirty="0">
                <a:solidFill>
                  <a:srgbClr val="202124"/>
                </a:solidFill>
                <a:latin typeface="Roboto"/>
                <a:ea typeface="Roboto"/>
                <a:cs typeface="Roboto"/>
              </a:rPr>
              <a:t> + 0.5ℒ</a:t>
            </a:r>
            <a:r>
              <a:rPr lang="en-US" sz="1600" b="0" baseline="-25000" dirty="0">
                <a:solidFill>
                  <a:srgbClr val="202124"/>
                </a:solidFill>
                <a:latin typeface="Roboto"/>
                <a:ea typeface="Roboto"/>
                <a:cs typeface="Roboto"/>
              </a:rPr>
              <a:t>GDL</a:t>
            </a:r>
          </a:p>
        </p:txBody>
      </p:sp>
      <p:sp>
        <p:nvSpPr>
          <p:cNvPr id="112" name="training10-optimizer">
            <a:extLst>
              <a:ext uri="{FF2B5EF4-FFF2-40B4-BE49-F238E27FC236}">
                <a16:creationId xmlns:a16="http://schemas.microsoft.com/office/drawing/2014/main" id="{EEF7085D-EA8E-4624-9154-B29D565C3AEA}"/>
              </a:ext>
            </a:extLst>
          </p:cNvPr>
          <p:cNvSpPr>
            <a:spLocks noGrp="1"/>
          </p:cNvSpPr>
          <p:nvPr/>
        </p:nvSpPr>
        <p:spPr>
          <a:xfrm>
            <a:off x="4236027" y="3324636"/>
            <a:ext cx="3667125" cy="669492"/>
          </a:xfrm>
          <a:prstGeom prst="rect">
            <a:avLst/>
          </a:prstGeom>
          <a:noFill/>
          <a:ln w="0">
            <a:noFill/>
          </a:ln>
        </p:spPr>
        <p:txBody>
          <a:bodyPr wrap="square" lIns="0" tIns="0" rIns="0" bIns="0" anchor="t">
            <a:noAutofit/>
          </a:bodyPr>
          <a:lstStyle>
            <a:defPPr algn="l">
              <a:defRPr lang="en-US" sz="2000" b="0">
                <a:solidFill>
                  <a:srgbClr val="202124"/>
                </a:solidFill>
                <a:latin typeface="Roboto"/>
                <a:ea typeface="Roboto"/>
                <a:cs typeface="Roboto"/>
              </a:defRPr>
            </a:defPPr>
            <a:lvl1pPr algn="l">
              <a:defRPr lang="en-US" sz="2000" b="0">
                <a:solidFill>
                  <a:srgbClr val="202124"/>
                </a:solidFill>
                <a:latin typeface="Roboto"/>
                <a:ea typeface="Roboto"/>
                <a:cs typeface="Roboto"/>
              </a:defRPr>
            </a:lvl1pPr>
            <a:lvl2pPr algn="l">
              <a:defRPr lang="en-US" sz="2000" b="0">
                <a:solidFill>
                  <a:srgbClr val="202124"/>
                </a:solidFill>
                <a:latin typeface="Roboto"/>
                <a:ea typeface="Roboto"/>
                <a:cs typeface="Roboto"/>
              </a:defRPr>
            </a:lvl2pPr>
            <a:lvl3pPr algn="l">
              <a:defRPr lang="en-US" sz="2000" b="0">
                <a:solidFill>
                  <a:srgbClr val="202124"/>
                </a:solidFill>
                <a:latin typeface="Roboto"/>
                <a:ea typeface="Roboto"/>
                <a:cs typeface="Roboto"/>
              </a:defRPr>
            </a:lvl3pPr>
            <a:lvl4pPr algn="l">
              <a:defRPr lang="en-US" sz="2000" b="0">
                <a:solidFill>
                  <a:srgbClr val="202124"/>
                </a:solidFill>
                <a:latin typeface="Roboto"/>
                <a:ea typeface="Roboto"/>
                <a:cs typeface="Roboto"/>
              </a:defRPr>
            </a:lvl4pPr>
            <a:lvl5pPr algn="l">
              <a:defRPr lang="en-US" sz="2000" b="0">
                <a:solidFill>
                  <a:srgbClr val="202124"/>
                </a:solidFill>
                <a:latin typeface="Roboto"/>
                <a:ea typeface="Roboto"/>
                <a:cs typeface="Roboto"/>
              </a:defRPr>
            </a:lvl5pPr>
            <a:lvl6pPr algn="l">
              <a:defRPr lang="en-US" sz="2000" b="0">
                <a:solidFill>
                  <a:srgbClr val="202124"/>
                </a:solidFill>
                <a:latin typeface="Roboto"/>
                <a:ea typeface="Roboto"/>
                <a:cs typeface="Roboto"/>
              </a:defRPr>
            </a:lvl6pPr>
            <a:lvl7pPr algn="l">
              <a:defRPr lang="en-US" sz="2000" b="0">
                <a:solidFill>
                  <a:srgbClr val="202124"/>
                </a:solidFill>
                <a:latin typeface="Roboto"/>
                <a:ea typeface="Roboto"/>
                <a:cs typeface="Roboto"/>
              </a:defRPr>
            </a:lvl7pPr>
            <a:lvl8pPr algn="l">
              <a:defRPr lang="en-US" sz="2000" b="0">
                <a:solidFill>
                  <a:srgbClr val="202124"/>
                </a:solidFill>
                <a:latin typeface="Roboto"/>
                <a:ea typeface="Roboto"/>
                <a:cs typeface="Roboto"/>
              </a:defRPr>
            </a:lvl8pPr>
            <a:lvl9pPr algn="l">
              <a:defRPr lang="en-US" sz="2000" b="0">
                <a:solidFill>
                  <a:srgbClr val="202124"/>
                </a:solidFill>
                <a:latin typeface="Roboto"/>
                <a:ea typeface="Roboto"/>
                <a:cs typeface="Roboto"/>
              </a:defRPr>
            </a:lvl9pPr>
          </a:lstStyle>
          <a:p>
            <a:pPr algn="l">
              <a:lnSpc>
                <a:spcPct val="150000"/>
              </a:lnSpc>
              <a:defRPr lang="en-US" sz="2000" b="0">
                <a:solidFill>
                  <a:srgbClr val="202124"/>
                </a:solidFill>
                <a:latin typeface="Roboto"/>
                <a:ea typeface="Roboto"/>
                <a:cs typeface="Roboto"/>
              </a:defRPr>
            </a:pPr>
            <a:r>
              <a:rPr lang="en-US" sz="2000" b="0" dirty="0" err="1">
                <a:solidFill>
                  <a:srgbClr val="202124"/>
                </a:solidFill>
                <a:latin typeface="Roboto"/>
                <a:ea typeface="Roboto"/>
                <a:cs typeface="Roboto"/>
              </a:rPr>
              <a:t>AdamW</a:t>
            </a:r>
            <a:endParaRPr lang="en-US" dirty="0"/>
          </a:p>
          <a:p>
            <a:pPr algn="l">
              <a:lnSpc>
                <a:spcPct val="150000"/>
              </a:lnSpc>
              <a:defRPr lang="en-US" sz="2000" b="0">
                <a:solidFill>
                  <a:srgbClr val="202124"/>
                </a:solidFill>
                <a:latin typeface="Roboto"/>
                <a:ea typeface="Roboto"/>
                <a:cs typeface="Roboto"/>
              </a:defRPr>
            </a:pPr>
            <a:r>
              <a:rPr lang="en-US" sz="2000" b="0" dirty="0">
                <a:solidFill>
                  <a:srgbClr val="202124"/>
                </a:solidFill>
                <a:latin typeface="Roboto"/>
                <a:ea typeface="Roboto"/>
                <a:cs typeface="Roboto"/>
              </a:rPr>
              <a:t>LR: 10⁻⁴</a:t>
            </a:r>
          </a:p>
        </p:txBody>
      </p:sp>
      <p:sp>
        <p:nvSpPr>
          <p:cNvPr id="113" name="training10-warmup">
            <a:extLst>
              <a:ext uri="{FF2B5EF4-FFF2-40B4-BE49-F238E27FC236}">
                <a16:creationId xmlns:a16="http://schemas.microsoft.com/office/drawing/2014/main" id="{50E3D12E-20BD-489A-9B1B-F87BAB3289D4}"/>
              </a:ext>
            </a:extLst>
          </p:cNvPr>
          <p:cNvSpPr>
            <a:spLocks noGrp="1"/>
          </p:cNvSpPr>
          <p:nvPr/>
        </p:nvSpPr>
        <p:spPr>
          <a:xfrm>
            <a:off x="4236027" y="4262250"/>
            <a:ext cx="3667125" cy="419100"/>
          </a:xfrm>
          <a:prstGeom prst="rect">
            <a:avLst/>
          </a:prstGeom>
          <a:noFill/>
          <a:ln w="0">
            <a:noFill/>
          </a:ln>
        </p:spPr>
        <p:txBody>
          <a:bodyPr wrap="square" lIns="0" tIns="0" rIns="0" bIns="0" anchor="t">
            <a:noAutofit/>
          </a:bodyPr>
          <a:lstStyle>
            <a:defPPr algn="l">
              <a:defRPr lang="en-US" sz="2100" b="0">
                <a:solidFill>
                  <a:srgbClr val="202124"/>
                </a:solidFill>
                <a:latin typeface="Roboto"/>
                <a:ea typeface="Roboto"/>
                <a:cs typeface="Roboto"/>
              </a:defRPr>
            </a:defPPr>
            <a:lvl1pPr algn="l">
              <a:defRPr lang="en-US" sz="2100" b="0">
                <a:solidFill>
                  <a:srgbClr val="202124"/>
                </a:solidFill>
                <a:latin typeface="Roboto"/>
                <a:ea typeface="Roboto"/>
                <a:cs typeface="Roboto"/>
              </a:defRPr>
            </a:lvl1pPr>
            <a:lvl2pPr algn="l">
              <a:defRPr lang="en-US" sz="2100" b="0">
                <a:solidFill>
                  <a:srgbClr val="202124"/>
                </a:solidFill>
                <a:latin typeface="Roboto"/>
                <a:ea typeface="Roboto"/>
                <a:cs typeface="Roboto"/>
              </a:defRPr>
            </a:lvl2pPr>
            <a:lvl3pPr algn="l">
              <a:defRPr lang="en-US" sz="2100" b="0">
                <a:solidFill>
                  <a:srgbClr val="202124"/>
                </a:solidFill>
                <a:latin typeface="Roboto"/>
                <a:ea typeface="Roboto"/>
                <a:cs typeface="Roboto"/>
              </a:defRPr>
            </a:lvl3pPr>
            <a:lvl4pPr algn="l">
              <a:defRPr lang="en-US" sz="2100" b="0">
                <a:solidFill>
                  <a:srgbClr val="202124"/>
                </a:solidFill>
                <a:latin typeface="Roboto"/>
                <a:ea typeface="Roboto"/>
                <a:cs typeface="Roboto"/>
              </a:defRPr>
            </a:lvl4pPr>
            <a:lvl5pPr algn="l">
              <a:defRPr lang="en-US" sz="2100" b="0">
                <a:solidFill>
                  <a:srgbClr val="202124"/>
                </a:solidFill>
                <a:latin typeface="Roboto"/>
                <a:ea typeface="Roboto"/>
                <a:cs typeface="Roboto"/>
              </a:defRPr>
            </a:lvl5pPr>
            <a:lvl6pPr algn="l">
              <a:defRPr lang="en-US" sz="2100" b="0">
                <a:solidFill>
                  <a:srgbClr val="202124"/>
                </a:solidFill>
                <a:latin typeface="Roboto"/>
                <a:ea typeface="Roboto"/>
                <a:cs typeface="Roboto"/>
              </a:defRPr>
            </a:lvl6pPr>
            <a:lvl7pPr algn="l">
              <a:defRPr lang="en-US" sz="2100" b="0">
                <a:solidFill>
                  <a:srgbClr val="202124"/>
                </a:solidFill>
                <a:latin typeface="Roboto"/>
                <a:ea typeface="Roboto"/>
                <a:cs typeface="Roboto"/>
              </a:defRPr>
            </a:lvl7pPr>
            <a:lvl8pPr algn="l">
              <a:defRPr lang="en-US" sz="2100" b="0">
                <a:solidFill>
                  <a:srgbClr val="202124"/>
                </a:solidFill>
                <a:latin typeface="Roboto"/>
                <a:ea typeface="Roboto"/>
                <a:cs typeface="Roboto"/>
              </a:defRPr>
            </a:lvl8pPr>
            <a:lvl9pPr algn="l">
              <a:defRPr lang="en-US" sz="2100" b="0">
                <a:solidFill>
                  <a:srgbClr val="202124"/>
                </a:solidFill>
                <a:latin typeface="Roboto"/>
                <a:ea typeface="Roboto"/>
                <a:cs typeface="Roboto"/>
              </a:defRPr>
            </a:lvl9pPr>
          </a:lstStyle>
          <a:p>
            <a:pPr algn="l">
              <a:defRPr lang="en-US" sz="2100" b="0">
                <a:solidFill>
                  <a:srgbClr val="202124"/>
                </a:solidFill>
                <a:latin typeface="Roboto"/>
                <a:ea typeface="Roboto"/>
                <a:cs typeface="Roboto"/>
              </a:defRPr>
            </a:pPr>
            <a:r>
              <a:rPr lang="en-US" dirty="0"/>
              <a:t>3</a:t>
            </a:r>
            <a:r>
              <a:rPr lang="en-US" sz="2100" b="0" dirty="0">
                <a:solidFill>
                  <a:srgbClr val="202124"/>
                </a:solidFill>
                <a:latin typeface="Roboto"/>
                <a:ea typeface="Roboto"/>
                <a:cs typeface="Roboto"/>
              </a:rPr>
              <a:t>-epoch warm-up</a:t>
            </a:r>
          </a:p>
        </p:txBody>
      </p:sp>
      <p:sp>
        <p:nvSpPr>
          <p:cNvPr id="114" name="training10-cosine">
            <a:extLst>
              <a:ext uri="{FF2B5EF4-FFF2-40B4-BE49-F238E27FC236}">
                <a16:creationId xmlns:a16="http://schemas.microsoft.com/office/drawing/2014/main" id="{6D276118-4CED-4B6C-82AB-4B6771E8FE83}"/>
              </a:ext>
            </a:extLst>
          </p:cNvPr>
          <p:cNvSpPr>
            <a:spLocks noGrp="1"/>
          </p:cNvSpPr>
          <p:nvPr/>
        </p:nvSpPr>
        <p:spPr>
          <a:xfrm>
            <a:off x="4236027" y="4738500"/>
            <a:ext cx="3667125" cy="419100"/>
          </a:xfrm>
          <a:prstGeom prst="rect">
            <a:avLst/>
          </a:prstGeom>
          <a:noFill/>
          <a:ln w="0">
            <a:noFill/>
          </a:ln>
        </p:spPr>
        <p:txBody>
          <a:bodyPr wrap="square" lIns="0" tIns="0" rIns="0" bIns="0" anchor="t">
            <a:noAutofit/>
          </a:bodyPr>
          <a:lstStyle>
            <a:defPPr algn="l">
              <a:defRPr lang="en-US" sz="2000" b="0">
                <a:solidFill>
                  <a:srgbClr val="202124"/>
                </a:solidFill>
                <a:latin typeface="Roboto"/>
                <a:ea typeface="Roboto"/>
                <a:cs typeface="Roboto"/>
              </a:defRPr>
            </a:defPPr>
            <a:lvl1pPr algn="l">
              <a:defRPr lang="en-US" sz="2000" b="0">
                <a:solidFill>
                  <a:srgbClr val="202124"/>
                </a:solidFill>
                <a:latin typeface="Roboto"/>
                <a:ea typeface="Roboto"/>
                <a:cs typeface="Roboto"/>
              </a:defRPr>
            </a:lvl1pPr>
            <a:lvl2pPr algn="l">
              <a:defRPr lang="en-US" sz="2000" b="0">
                <a:solidFill>
                  <a:srgbClr val="202124"/>
                </a:solidFill>
                <a:latin typeface="Roboto"/>
                <a:ea typeface="Roboto"/>
                <a:cs typeface="Roboto"/>
              </a:defRPr>
            </a:lvl2pPr>
            <a:lvl3pPr algn="l">
              <a:defRPr lang="en-US" sz="2000" b="0">
                <a:solidFill>
                  <a:srgbClr val="202124"/>
                </a:solidFill>
                <a:latin typeface="Roboto"/>
                <a:ea typeface="Roboto"/>
                <a:cs typeface="Roboto"/>
              </a:defRPr>
            </a:lvl3pPr>
            <a:lvl4pPr algn="l">
              <a:defRPr lang="en-US" sz="2000" b="0">
                <a:solidFill>
                  <a:srgbClr val="202124"/>
                </a:solidFill>
                <a:latin typeface="Roboto"/>
                <a:ea typeface="Roboto"/>
                <a:cs typeface="Roboto"/>
              </a:defRPr>
            </a:lvl4pPr>
            <a:lvl5pPr algn="l">
              <a:defRPr lang="en-US" sz="2000" b="0">
                <a:solidFill>
                  <a:srgbClr val="202124"/>
                </a:solidFill>
                <a:latin typeface="Roboto"/>
                <a:ea typeface="Roboto"/>
                <a:cs typeface="Roboto"/>
              </a:defRPr>
            </a:lvl5pPr>
            <a:lvl6pPr algn="l">
              <a:defRPr lang="en-US" sz="2000" b="0">
                <a:solidFill>
                  <a:srgbClr val="202124"/>
                </a:solidFill>
                <a:latin typeface="Roboto"/>
                <a:ea typeface="Roboto"/>
                <a:cs typeface="Roboto"/>
              </a:defRPr>
            </a:lvl6pPr>
            <a:lvl7pPr algn="l">
              <a:defRPr lang="en-US" sz="2000" b="0">
                <a:solidFill>
                  <a:srgbClr val="202124"/>
                </a:solidFill>
                <a:latin typeface="Roboto"/>
                <a:ea typeface="Roboto"/>
                <a:cs typeface="Roboto"/>
              </a:defRPr>
            </a:lvl7pPr>
            <a:lvl8pPr algn="l">
              <a:defRPr lang="en-US" sz="2000" b="0">
                <a:solidFill>
                  <a:srgbClr val="202124"/>
                </a:solidFill>
                <a:latin typeface="Roboto"/>
                <a:ea typeface="Roboto"/>
                <a:cs typeface="Roboto"/>
              </a:defRPr>
            </a:lvl8pPr>
            <a:lvl9pPr algn="l">
              <a:defRPr lang="en-US" sz="2000" b="0">
                <a:solidFill>
                  <a:srgbClr val="202124"/>
                </a:solidFill>
                <a:latin typeface="Roboto"/>
                <a:ea typeface="Roboto"/>
                <a:cs typeface="Roboto"/>
              </a:defRPr>
            </a:lvl9pPr>
          </a:lstStyle>
          <a:p>
            <a:pPr algn="l">
              <a:defRPr lang="en-US" sz="2000" b="0">
                <a:solidFill>
                  <a:srgbClr val="202124"/>
                </a:solidFill>
                <a:latin typeface="Roboto"/>
                <a:ea typeface="Roboto"/>
                <a:cs typeface="Roboto"/>
              </a:defRPr>
            </a:pPr>
            <a:r>
              <a:rPr lang="en-US" sz="2000" b="0" dirty="0">
                <a:solidFill>
                  <a:srgbClr val="202124"/>
                </a:solidFill>
                <a:latin typeface="Roboto"/>
                <a:ea typeface="Roboto"/>
                <a:cs typeface="Roboto"/>
              </a:rPr>
              <a:t>Cosine LR decay</a:t>
            </a:r>
          </a:p>
        </p:txBody>
      </p:sp>
      <p:sp>
        <p:nvSpPr>
          <p:cNvPr id="115" name="training10-best-metric">
            <a:extLst>
              <a:ext uri="{FF2B5EF4-FFF2-40B4-BE49-F238E27FC236}">
                <a16:creationId xmlns:a16="http://schemas.microsoft.com/office/drawing/2014/main" id="{DBA40154-5503-45ED-9670-4C3E6B9CE8E3}"/>
              </a:ext>
            </a:extLst>
          </p:cNvPr>
          <p:cNvSpPr>
            <a:spLocks noGrp="1"/>
          </p:cNvSpPr>
          <p:nvPr/>
        </p:nvSpPr>
        <p:spPr>
          <a:xfrm>
            <a:off x="8341302" y="2888259"/>
            <a:ext cx="3228975" cy="428625"/>
          </a:xfrm>
          <a:prstGeom prst="rect">
            <a:avLst/>
          </a:prstGeom>
          <a:noFill/>
          <a:ln w="0">
            <a:noFill/>
          </a:ln>
        </p:spPr>
        <p:txBody>
          <a:bodyPr wrap="square" lIns="0" tIns="0" rIns="0" bIns="0" anchor="t">
            <a:noAutofit/>
          </a:bodyPr>
          <a:lstStyle>
            <a:defPPr algn="l">
              <a:defRPr lang="en-US" sz="2100" b="1">
                <a:solidFill>
                  <a:srgbClr val="822433"/>
                </a:solidFill>
                <a:latin typeface="Roboto"/>
                <a:ea typeface="Roboto"/>
                <a:cs typeface="Roboto"/>
              </a:defRPr>
            </a:defPPr>
            <a:lvl1pPr algn="l">
              <a:defRPr lang="en-US" sz="2100" b="1">
                <a:solidFill>
                  <a:srgbClr val="822433"/>
                </a:solidFill>
                <a:latin typeface="Roboto"/>
                <a:ea typeface="Roboto"/>
                <a:cs typeface="Roboto"/>
              </a:defRPr>
            </a:lvl1pPr>
            <a:lvl2pPr algn="l">
              <a:defRPr lang="en-US" sz="2100" b="1">
                <a:solidFill>
                  <a:srgbClr val="822433"/>
                </a:solidFill>
                <a:latin typeface="Roboto"/>
                <a:ea typeface="Roboto"/>
                <a:cs typeface="Roboto"/>
              </a:defRPr>
            </a:lvl2pPr>
            <a:lvl3pPr algn="l">
              <a:defRPr lang="en-US" sz="2100" b="1">
                <a:solidFill>
                  <a:srgbClr val="822433"/>
                </a:solidFill>
                <a:latin typeface="Roboto"/>
                <a:ea typeface="Roboto"/>
                <a:cs typeface="Roboto"/>
              </a:defRPr>
            </a:lvl3pPr>
            <a:lvl4pPr algn="l">
              <a:defRPr lang="en-US" sz="2100" b="1">
                <a:solidFill>
                  <a:srgbClr val="822433"/>
                </a:solidFill>
                <a:latin typeface="Roboto"/>
                <a:ea typeface="Roboto"/>
                <a:cs typeface="Roboto"/>
              </a:defRPr>
            </a:lvl4pPr>
            <a:lvl5pPr algn="l">
              <a:defRPr lang="en-US" sz="2100" b="1">
                <a:solidFill>
                  <a:srgbClr val="822433"/>
                </a:solidFill>
                <a:latin typeface="Roboto"/>
                <a:ea typeface="Roboto"/>
                <a:cs typeface="Roboto"/>
              </a:defRPr>
            </a:lvl5pPr>
            <a:lvl6pPr algn="l">
              <a:defRPr lang="en-US" sz="2100" b="1">
                <a:solidFill>
                  <a:srgbClr val="822433"/>
                </a:solidFill>
                <a:latin typeface="Roboto"/>
                <a:ea typeface="Roboto"/>
                <a:cs typeface="Roboto"/>
              </a:defRPr>
            </a:lvl6pPr>
            <a:lvl7pPr algn="l">
              <a:defRPr lang="en-US" sz="2100" b="1">
                <a:solidFill>
                  <a:srgbClr val="822433"/>
                </a:solidFill>
                <a:latin typeface="Roboto"/>
                <a:ea typeface="Roboto"/>
                <a:cs typeface="Roboto"/>
              </a:defRPr>
            </a:lvl7pPr>
            <a:lvl8pPr algn="l">
              <a:defRPr lang="en-US" sz="2100" b="1">
                <a:solidFill>
                  <a:srgbClr val="822433"/>
                </a:solidFill>
                <a:latin typeface="Roboto"/>
                <a:ea typeface="Roboto"/>
                <a:cs typeface="Roboto"/>
              </a:defRPr>
            </a:lvl8pPr>
            <a:lvl9pPr algn="l">
              <a:defRPr lang="en-US" sz="2100" b="1">
                <a:solidFill>
                  <a:srgbClr val="822433"/>
                </a:solidFill>
                <a:latin typeface="Roboto"/>
                <a:ea typeface="Roboto"/>
                <a:cs typeface="Roboto"/>
              </a:defRPr>
            </a:lvl9pPr>
          </a:lstStyle>
          <a:p>
            <a:pPr algn="l">
              <a:defRPr lang="en-US" sz="2100" b="1">
                <a:solidFill>
                  <a:srgbClr val="822433"/>
                </a:solidFill>
                <a:latin typeface="Roboto"/>
                <a:ea typeface="Roboto"/>
                <a:cs typeface="Roboto"/>
              </a:defRPr>
            </a:pPr>
            <a:r>
              <a:rPr lang="en-US" sz="2100" b="0" dirty="0">
                <a:solidFill>
                  <a:schemeClr val="tx1"/>
                </a:solidFill>
                <a:latin typeface="Roboto"/>
                <a:ea typeface="Roboto"/>
                <a:cs typeface="Roboto"/>
              </a:rPr>
              <a:t>Base models are in FP32</a:t>
            </a:r>
          </a:p>
        </p:txBody>
      </p:sp>
      <p:sp>
        <p:nvSpPr>
          <p:cNvPr id="6" name="training10-best-metric">
            <a:extLst>
              <a:ext uri="{FF2B5EF4-FFF2-40B4-BE49-F238E27FC236}">
                <a16:creationId xmlns:a16="http://schemas.microsoft.com/office/drawing/2014/main" id="{D614CF7F-78B2-B829-DDDC-2A1EC47B7F5B}"/>
              </a:ext>
            </a:extLst>
          </p:cNvPr>
          <p:cNvSpPr>
            <a:spLocks noGrp="1"/>
          </p:cNvSpPr>
          <p:nvPr/>
        </p:nvSpPr>
        <p:spPr>
          <a:xfrm>
            <a:off x="8341302" y="3429000"/>
            <a:ext cx="3228975" cy="428625"/>
          </a:xfrm>
          <a:prstGeom prst="rect">
            <a:avLst/>
          </a:prstGeom>
          <a:noFill/>
          <a:ln w="0">
            <a:noFill/>
          </a:ln>
        </p:spPr>
        <p:txBody>
          <a:bodyPr wrap="square" lIns="0" tIns="0" rIns="0" bIns="0" anchor="t">
            <a:noAutofit/>
          </a:bodyPr>
          <a:lstStyle>
            <a:defPPr algn="l">
              <a:defRPr lang="en-US" sz="2100" b="1">
                <a:solidFill>
                  <a:srgbClr val="822433"/>
                </a:solidFill>
                <a:latin typeface="Roboto"/>
                <a:ea typeface="Roboto"/>
                <a:cs typeface="Roboto"/>
              </a:defRPr>
            </a:defPPr>
            <a:lvl1pPr algn="l">
              <a:defRPr lang="en-US" sz="2100" b="1">
                <a:solidFill>
                  <a:srgbClr val="822433"/>
                </a:solidFill>
                <a:latin typeface="Roboto"/>
                <a:ea typeface="Roboto"/>
                <a:cs typeface="Roboto"/>
              </a:defRPr>
            </a:lvl1pPr>
            <a:lvl2pPr algn="l">
              <a:defRPr lang="en-US" sz="2100" b="1">
                <a:solidFill>
                  <a:srgbClr val="822433"/>
                </a:solidFill>
                <a:latin typeface="Roboto"/>
                <a:ea typeface="Roboto"/>
                <a:cs typeface="Roboto"/>
              </a:defRPr>
            </a:lvl2pPr>
            <a:lvl3pPr algn="l">
              <a:defRPr lang="en-US" sz="2100" b="1">
                <a:solidFill>
                  <a:srgbClr val="822433"/>
                </a:solidFill>
                <a:latin typeface="Roboto"/>
                <a:ea typeface="Roboto"/>
                <a:cs typeface="Roboto"/>
              </a:defRPr>
            </a:lvl3pPr>
            <a:lvl4pPr algn="l">
              <a:defRPr lang="en-US" sz="2100" b="1">
                <a:solidFill>
                  <a:srgbClr val="822433"/>
                </a:solidFill>
                <a:latin typeface="Roboto"/>
                <a:ea typeface="Roboto"/>
                <a:cs typeface="Roboto"/>
              </a:defRPr>
            </a:lvl4pPr>
            <a:lvl5pPr algn="l">
              <a:defRPr lang="en-US" sz="2100" b="1">
                <a:solidFill>
                  <a:srgbClr val="822433"/>
                </a:solidFill>
                <a:latin typeface="Roboto"/>
                <a:ea typeface="Roboto"/>
                <a:cs typeface="Roboto"/>
              </a:defRPr>
            </a:lvl5pPr>
            <a:lvl6pPr algn="l">
              <a:defRPr lang="en-US" sz="2100" b="1">
                <a:solidFill>
                  <a:srgbClr val="822433"/>
                </a:solidFill>
                <a:latin typeface="Roboto"/>
                <a:ea typeface="Roboto"/>
                <a:cs typeface="Roboto"/>
              </a:defRPr>
            </a:lvl6pPr>
            <a:lvl7pPr algn="l">
              <a:defRPr lang="en-US" sz="2100" b="1">
                <a:solidFill>
                  <a:srgbClr val="822433"/>
                </a:solidFill>
                <a:latin typeface="Roboto"/>
                <a:ea typeface="Roboto"/>
                <a:cs typeface="Roboto"/>
              </a:defRPr>
            </a:lvl7pPr>
            <a:lvl8pPr algn="l">
              <a:defRPr lang="en-US" sz="2100" b="1">
                <a:solidFill>
                  <a:srgbClr val="822433"/>
                </a:solidFill>
                <a:latin typeface="Roboto"/>
                <a:ea typeface="Roboto"/>
                <a:cs typeface="Roboto"/>
              </a:defRPr>
            </a:lvl8pPr>
            <a:lvl9pPr algn="l">
              <a:defRPr lang="en-US" sz="2100" b="1">
                <a:solidFill>
                  <a:srgbClr val="822433"/>
                </a:solidFill>
                <a:latin typeface="Roboto"/>
                <a:ea typeface="Roboto"/>
                <a:cs typeface="Roboto"/>
              </a:defRPr>
            </a:lvl9pPr>
          </a:lstStyle>
          <a:p>
            <a:pPr marL="342900" indent="-342900" algn="l">
              <a:buFont typeface="Arial" panose="020B0604020202020204" pitchFamily="34" charset="0"/>
              <a:buChar char="•"/>
              <a:defRPr lang="en-US" sz="2100" b="1">
                <a:solidFill>
                  <a:srgbClr val="822433"/>
                </a:solidFill>
                <a:latin typeface="Roboto"/>
                <a:ea typeface="Roboto"/>
                <a:cs typeface="Roboto"/>
              </a:defRPr>
            </a:pPr>
            <a:r>
              <a:rPr lang="en-US" sz="2100" b="0" dirty="0">
                <a:solidFill>
                  <a:schemeClr val="tx1"/>
                </a:solidFill>
                <a:latin typeface="Roboto"/>
                <a:ea typeface="Roboto"/>
                <a:cs typeface="Roboto"/>
              </a:rPr>
              <a:t>FP16</a:t>
            </a:r>
          </a:p>
          <a:p>
            <a:pPr marL="342900" indent="-342900" algn="l">
              <a:buFont typeface="Arial" panose="020B0604020202020204" pitchFamily="34" charset="0"/>
              <a:buChar char="•"/>
              <a:defRPr lang="en-US" sz="2100" b="1">
                <a:solidFill>
                  <a:srgbClr val="822433"/>
                </a:solidFill>
                <a:latin typeface="Roboto"/>
                <a:ea typeface="Roboto"/>
                <a:cs typeface="Roboto"/>
              </a:defRPr>
            </a:pPr>
            <a:endParaRPr lang="en-US" b="0" dirty="0">
              <a:solidFill>
                <a:schemeClr val="tx1"/>
              </a:solidFill>
            </a:endParaRPr>
          </a:p>
          <a:p>
            <a:pPr marL="342900" indent="-342900" algn="l">
              <a:buFont typeface="Arial" panose="020B0604020202020204" pitchFamily="34" charset="0"/>
              <a:buChar char="•"/>
              <a:defRPr lang="en-US" sz="2100" b="1">
                <a:solidFill>
                  <a:srgbClr val="822433"/>
                </a:solidFill>
                <a:latin typeface="Roboto"/>
                <a:ea typeface="Roboto"/>
                <a:cs typeface="Roboto"/>
              </a:defRPr>
            </a:pPr>
            <a:r>
              <a:rPr lang="en-US" sz="2100" b="0" dirty="0">
                <a:solidFill>
                  <a:schemeClr val="tx1"/>
                </a:solidFill>
                <a:latin typeface="Roboto"/>
                <a:ea typeface="Roboto"/>
                <a:cs typeface="Roboto"/>
              </a:rPr>
              <a:t>PTQ INT8</a:t>
            </a:r>
          </a:p>
          <a:p>
            <a:pPr marL="342900" indent="-342900" algn="l">
              <a:buFont typeface="Arial" panose="020B0604020202020204" pitchFamily="34" charset="0"/>
              <a:buChar char="•"/>
              <a:defRPr lang="en-US" sz="2100" b="1">
                <a:solidFill>
                  <a:srgbClr val="822433"/>
                </a:solidFill>
                <a:latin typeface="Roboto"/>
                <a:ea typeface="Roboto"/>
                <a:cs typeface="Roboto"/>
              </a:defRPr>
            </a:pPr>
            <a:endParaRPr lang="en-US" b="0" dirty="0">
              <a:solidFill>
                <a:schemeClr val="tx1"/>
              </a:solidFill>
            </a:endParaRPr>
          </a:p>
          <a:p>
            <a:pPr marL="342900" indent="-342900" algn="l">
              <a:buFont typeface="Arial" panose="020B0604020202020204" pitchFamily="34" charset="0"/>
              <a:buChar char="•"/>
              <a:defRPr lang="en-US" sz="2100" b="1">
                <a:solidFill>
                  <a:srgbClr val="822433"/>
                </a:solidFill>
                <a:latin typeface="Roboto"/>
                <a:ea typeface="Roboto"/>
                <a:cs typeface="Roboto"/>
              </a:defRPr>
            </a:pPr>
            <a:r>
              <a:rPr lang="en-US" sz="2100" b="0" dirty="0">
                <a:solidFill>
                  <a:schemeClr val="tx1"/>
                </a:solidFill>
                <a:latin typeface="Roboto"/>
                <a:ea typeface="Roboto"/>
                <a:cs typeface="Roboto"/>
              </a:rPr>
              <a:t>QAT INT8</a:t>
            </a:r>
          </a:p>
        </p:txBody>
      </p:sp>
      <p:cxnSp>
        <p:nvCxnSpPr>
          <p:cNvPr id="8" name="Connettore diritto 7">
            <a:extLst>
              <a:ext uri="{FF2B5EF4-FFF2-40B4-BE49-F238E27FC236}">
                <a16:creationId xmlns:a16="http://schemas.microsoft.com/office/drawing/2014/main" id="{860C4971-2384-C68F-618B-07B452E1EEA1}"/>
              </a:ext>
            </a:extLst>
          </p:cNvPr>
          <p:cNvCxnSpPr>
            <a:cxnSpLocks/>
          </p:cNvCxnSpPr>
          <p:nvPr/>
        </p:nvCxnSpPr>
        <p:spPr>
          <a:xfrm flipV="1">
            <a:off x="3733800" y="2286000"/>
            <a:ext cx="0" cy="2770909"/>
          </a:xfrm>
          <a:prstGeom prst="line">
            <a:avLst/>
          </a:prstGeom>
          <a:ln w="19050">
            <a:solidFill>
              <a:srgbClr val="822433"/>
            </a:solidFill>
          </a:ln>
        </p:spPr>
        <p:style>
          <a:lnRef idx="1">
            <a:schemeClr val="accent1"/>
          </a:lnRef>
          <a:fillRef idx="0">
            <a:schemeClr val="accent1"/>
          </a:fillRef>
          <a:effectRef idx="0">
            <a:schemeClr val="accent1"/>
          </a:effectRef>
          <a:fontRef idx="minor">
            <a:schemeClr val="tx1"/>
          </a:fontRef>
        </p:style>
      </p:cxnSp>
      <p:cxnSp>
        <p:nvCxnSpPr>
          <p:cNvPr id="12" name="Connettore diritto 11">
            <a:extLst>
              <a:ext uri="{FF2B5EF4-FFF2-40B4-BE49-F238E27FC236}">
                <a16:creationId xmlns:a16="http://schemas.microsoft.com/office/drawing/2014/main" id="{0FB6FBB0-091D-00D3-A59D-82B189730255}"/>
              </a:ext>
            </a:extLst>
          </p:cNvPr>
          <p:cNvCxnSpPr>
            <a:cxnSpLocks/>
          </p:cNvCxnSpPr>
          <p:nvPr/>
        </p:nvCxnSpPr>
        <p:spPr>
          <a:xfrm flipV="1">
            <a:off x="7798377" y="2286000"/>
            <a:ext cx="0" cy="2770909"/>
          </a:xfrm>
          <a:prstGeom prst="line">
            <a:avLst/>
          </a:prstGeom>
          <a:ln w="19050">
            <a:solidFill>
              <a:srgbClr val="82243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9727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CF514-51FB-0831-F607-CB0746B6F3C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764EB2A-DB37-5AF4-8B49-A070B465FCF2}"/>
              </a:ext>
            </a:extLst>
          </p:cNvPr>
          <p:cNvSpPr>
            <a:spLocks noGrp="1"/>
          </p:cNvSpPr>
          <p:nvPr>
            <p:ph type="title"/>
          </p:nvPr>
        </p:nvSpPr>
        <p:spPr/>
        <p:txBody>
          <a:bodyPr>
            <a:normAutofit/>
          </a:bodyPr>
          <a:lstStyle/>
          <a:p>
            <a:r>
              <a:rPr lang="it-IT" sz="5400" dirty="0" err="1">
                <a:solidFill>
                  <a:srgbClr val="822433"/>
                </a:solidFill>
              </a:rPr>
              <a:t>Synthetic</a:t>
            </a:r>
            <a:r>
              <a:rPr lang="it-IT" sz="5400" dirty="0">
                <a:solidFill>
                  <a:srgbClr val="822433"/>
                </a:solidFill>
              </a:rPr>
              <a:t> Dataset Generation</a:t>
            </a:r>
          </a:p>
        </p:txBody>
      </p:sp>
      <p:sp>
        <p:nvSpPr>
          <p:cNvPr id="3" name="Segnaposto testo 2">
            <a:extLst>
              <a:ext uri="{FF2B5EF4-FFF2-40B4-BE49-F238E27FC236}">
                <a16:creationId xmlns:a16="http://schemas.microsoft.com/office/drawing/2014/main" id="{1F097CE2-62C2-7482-DA69-541CE1388B8A}"/>
              </a:ext>
            </a:extLst>
          </p:cNvPr>
          <p:cNvSpPr>
            <a:spLocks noGrp="1"/>
          </p:cNvSpPr>
          <p:nvPr>
            <p:ph type="body" idx="1"/>
          </p:nvPr>
        </p:nvSpPr>
        <p:spPr>
          <a:xfrm>
            <a:off x="844550" y="2968740"/>
            <a:ext cx="10515600" cy="920520"/>
          </a:xfrm>
        </p:spPr>
        <p:txBody>
          <a:bodyPr/>
          <a:lstStyle/>
          <a:p>
            <a:r>
              <a:rPr lang="it-IT" dirty="0" err="1"/>
              <a:t>Introduction</a:t>
            </a:r>
            <a:br>
              <a:rPr lang="it-IT" dirty="0"/>
            </a:br>
            <a:r>
              <a:rPr lang="it-IT" dirty="0" err="1">
                <a:solidFill>
                  <a:schemeClr val="bg1">
                    <a:lumMod val="50000"/>
                  </a:schemeClr>
                </a:solidFill>
              </a:rPr>
              <a:t>Lightweight</a:t>
            </a:r>
            <a:r>
              <a:rPr lang="it-IT" dirty="0">
                <a:solidFill>
                  <a:schemeClr val="bg1">
                    <a:lumMod val="50000"/>
                  </a:schemeClr>
                </a:solidFill>
              </a:rPr>
              <a:t> Scene </a:t>
            </a:r>
            <a:r>
              <a:rPr lang="it-IT" dirty="0" err="1">
                <a:solidFill>
                  <a:schemeClr val="bg1">
                    <a:lumMod val="50000"/>
                  </a:schemeClr>
                </a:solidFill>
              </a:rPr>
              <a:t>Understanding</a:t>
            </a:r>
            <a:endParaRPr lang="it-IT" dirty="0">
              <a:solidFill>
                <a:schemeClr val="bg1">
                  <a:lumMod val="50000"/>
                </a:schemeClr>
              </a:solidFill>
            </a:endParaRPr>
          </a:p>
        </p:txBody>
      </p:sp>
      <p:sp>
        <p:nvSpPr>
          <p:cNvPr id="4" name="Google Shape;102;p14">
            <a:extLst>
              <a:ext uri="{FF2B5EF4-FFF2-40B4-BE49-F238E27FC236}">
                <a16:creationId xmlns:a16="http://schemas.microsoft.com/office/drawing/2014/main" id="{FE8401AB-8BDF-C7D0-201F-A40255D162A4}"/>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11</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9BD8D4ED-5213-8DBD-F4D2-272CBA1006B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8" name="Segnaposto testo 2">
            <a:extLst>
              <a:ext uri="{FF2B5EF4-FFF2-40B4-BE49-F238E27FC236}">
                <a16:creationId xmlns:a16="http://schemas.microsoft.com/office/drawing/2014/main" id="{724A29BA-4CB0-A2B7-BD16-921F2DB6D402}"/>
              </a:ext>
            </a:extLst>
          </p:cNvPr>
          <p:cNvSpPr txBox="1">
            <a:spLocks/>
          </p:cNvSpPr>
          <p:nvPr/>
        </p:nvSpPr>
        <p:spPr>
          <a:xfrm>
            <a:off x="844550" y="4562475"/>
            <a:ext cx="10515600" cy="1544003"/>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buFont typeface="Arial" panose="020B0604020202020204" pitchFamily="34" charset="0"/>
              <a:buNone/>
              <a:defRPr sz="24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1pPr>
            <a:lvl2pPr marL="457200" indent="0" algn="l" defTabSz="914400" rtl="0" eaLnBrk="1" latinLnBrk="0" hangingPunct="1">
              <a:lnSpc>
                <a:spcPct val="100000"/>
              </a:lnSpc>
              <a:spcBef>
                <a:spcPts val="500"/>
              </a:spcBef>
              <a:buFont typeface="Arial" panose="020B0604020202020204" pitchFamily="34" charset="0"/>
              <a:buNone/>
              <a:defRPr sz="20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2pPr>
            <a:lvl3pPr marL="914400" indent="0" algn="l" defTabSz="914400" rtl="0" eaLnBrk="1" latinLnBrk="0" hangingPunct="1">
              <a:lnSpc>
                <a:spcPct val="100000"/>
              </a:lnSpc>
              <a:spcBef>
                <a:spcPts val="500"/>
              </a:spcBef>
              <a:buFont typeface="Arial" panose="020B0604020202020204" pitchFamily="34" charset="0"/>
              <a:buNone/>
              <a:defRPr sz="18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3pPr>
            <a:lvl4pPr marL="13716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4pPr>
            <a:lvl5pPr marL="18288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US" dirty="0"/>
              <a:t>Synthetic Damage Inspection</a:t>
            </a:r>
            <a:br>
              <a:rPr lang="en-US" dirty="0"/>
            </a:br>
            <a:r>
              <a:rPr lang="en-US" dirty="0"/>
              <a:t>Results</a:t>
            </a:r>
            <a:br>
              <a:rPr lang="en-US" dirty="0"/>
            </a:br>
            <a:r>
              <a:rPr lang="en-US" dirty="0"/>
              <a:t>Conclusions</a:t>
            </a:r>
            <a:endParaRPr lang="it-IT" dirty="0"/>
          </a:p>
        </p:txBody>
      </p:sp>
    </p:spTree>
    <p:extLst>
      <p:ext uri="{BB962C8B-B14F-4D97-AF65-F5344CB8AC3E}">
        <p14:creationId xmlns:p14="http://schemas.microsoft.com/office/powerpoint/2010/main" val="32765106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9132F-3D6A-E774-458D-4DF1F3BFF36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3BDF087-0FFC-462A-2244-85E7C89FEDAB}"/>
              </a:ext>
            </a:extLst>
          </p:cNvPr>
          <p:cNvSpPr>
            <a:spLocks noGrp="1"/>
          </p:cNvSpPr>
          <p:nvPr>
            <p:ph type="title"/>
          </p:nvPr>
        </p:nvSpPr>
        <p:spPr>
          <a:xfrm>
            <a:off x="838200" y="365125"/>
            <a:ext cx="8384177" cy="835787"/>
          </a:xfrm>
        </p:spPr>
        <p:txBody>
          <a:bodyPr/>
          <a:lstStyle/>
          <a:p>
            <a:r>
              <a:rPr lang="en-US" noProof="0" dirty="0">
                <a:solidFill>
                  <a:srgbClr val="822433"/>
                </a:solidFill>
              </a:rPr>
              <a:t>Design Requirements</a:t>
            </a:r>
          </a:p>
        </p:txBody>
      </p:sp>
      <p:sp>
        <p:nvSpPr>
          <p:cNvPr id="4" name="Google Shape;102;p14">
            <a:extLst>
              <a:ext uri="{FF2B5EF4-FFF2-40B4-BE49-F238E27FC236}">
                <a16:creationId xmlns:a16="http://schemas.microsoft.com/office/drawing/2014/main" id="{35F5CFE7-CBCB-E20C-A36B-49AB1798BD2F}"/>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12</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1FF09CC6-77B6-F436-740B-C1A896A41566}"/>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6" name="Segnaposto contenuto 5">
            <a:extLst>
              <a:ext uri="{FF2B5EF4-FFF2-40B4-BE49-F238E27FC236}">
                <a16:creationId xmlns:a16="http://schemas.microsoft.com/office/drawing/2014/main" id="{7D764894-6FF9-6CDB-0D56-C02EFB4D66D5}"/>
              </a:ext>
            </a:extLst>
          </p:cNvPr>
          <p:cNvSpPr>
            <a:spLocks noGrp="1"/>
          </p:cNvSpPr>
          <p:nvPr>
            <p:ph idx="1"/>
          </p:nvPr>
        </p:nvSpPr>
        <p:spPr>
          <a:xfrm>
            <a:off x="838200" y="2053122"/>
            <a:ext cx="10515600" cy="4351338"/>
          </a:xfrm>
        </p:spPr>
        <p:txBody>
          <a:bodyPr/>
          <a:lstStyle/>
          <a:p>
            <a:r>
              <a:rPr lang="it-IT" dirty="0"/>
              <a:t>Target Rover: </a:t>
            </a:r>
            <a:r>
              <a:rPr lang="it-IT" dirty="0">
                <a:solidFill>
                  <a:srgbClr val="822433"/>
                </a:solidFill>
              </a:rPr>
              <a:t>Curiosity</a:t>
            </a:r>
          </a:p>
          <a:p>
            <a:r>
              <a:rPr lang="it-IT" b="1" u="sng" dirty="0">
                <a:solidFill>
                  <a:srgbClr val="822433"/>
                </a:solidFill>
              </a:rPr>
              <a:t>1</a:t>
            </a:r>
            <a:r>
              <a:rPr lang="it-IT" sz="3600" b="1" dirty="0">
                <a:solidFill>
                  <a:srgbClr val="822433"/>
                </a:solidFill>
              </a:rPr>
              <a:t> </a:t>
            </a:r>
            <a:r>
              <a:rPr lang="it-IT" dirty="0" err="1"/>
              <a:t>anomaly</a:t>
            </a:r>
            <a:r>
              <a:rPr lang="it-IT" dirty="0"/>
              <a:t> class: wheel </a:t>
            </a:r>
            <a:r>
              <a:rPr lang="it-IT" dirty="0" err="1"/>
              <a:t>perforations</a:t>
            </a:r>
            <a:endParaRPr lang="it-IT" dirty="0"/>
          </a:p>
          <a:p>
            <a:r>
              <a:rPr lang="it-IT" dirty="0"/>
              <a:t>Training </a:t>
            </a:r>
            <a:r>
              <a:rPr lang="it-IT" dirty="0" err="1">
                <a:solidFill>
                  <a:srgbClr val="822433"/>
                </a:solidFill>
              </a:rPr>
              <a:t>normal-only</a:t>
            </a:r>
            <a:endParaRPr lang="it-IT" dirty="0">
              <a:solidFill>
                <a:srgbClr val="822433"/>
              </a:solidFill>
            </a:endParaRPr>
          </a:p>
          <a:p>
            <a:r>
              <a:rPr lang="it-IT" dirty="0">
                <a:solidFill>
                  <a:srgbClr val="822433"/>
                </a:solidFill>
              </a:rPr>
              <a:t>Domain </a:t>
            </a:r>
            <a:r>
              <a:rPr lang="it-IT" dirty="0" err="1">
                <a:solidFill>
                  <a:srgbClr val="822433"/>
                </a:solidFill>
              </a:rPr>
              <a:t>randomization</a:t>
            </a:r>
            <a:r>
              <a:rPr lang="it-IT" dirty="0">
                <a:solidFill>
                  <a:srgbClr val="822433"/>
                </a:solidFill>
              </a:rPr>
              <a:t> </a:t>
            </a:r>
            <a:r>
              <a:rPr lang="it-IT" dirty="0"/>
              <a:t>to </a:t>
            </a:r>
            <a:r>
              <a:rPr lang="it-IT" dirty="0" err="1"/>
              <a:t>prevent</a:t>
            </a:r>
            <a:r>
              <a:rPr lang="it-IT" dirty="0"/>
              <a:t> </a:t>
            </a:r>
            <a:r>
              <a:rPr lang="it-IT" dirty="0" err="1"/>
              <a:t>overfitting</a:t>
            </a:r>
            <a:endParaRPr lang="it-IT" dirty="0"/>
          </a:p>
          <a:p>
            <a:r>
              <a:rPr lang="it-IT" dirty="0">
                <a:solidFill>
                  <a:srgbClr val="822433"/>
                </a:solidFill>
              </a:rPr>
              <a:t>Pilot</a:t>
            </a:r>
            <a:r>
              <a:rPr lang="it-IT" dirty="0"/>
              <a:t> study</a:t>
            </a:r>
          </a:p>
        </p:txBody>
      </p:sp>
      <p:pic>
        <p:nvPicPr>
          <p:cNvPr id="8" name="Immagine 7" descr="NASA PNG Image">
            <a:extLst>
              <a:ext uri="{FF2B5EF4-FFF2-40B4-BE49-F238E27FC236}">
                <a16:creationId xmlns:a16="http://schemas.microsoft.com/office/drawing/2014/main" id="{2A6F564C-90FC-5442-BB5F-F87BCF43EE8A}"/>
              </a:ext>
            </a:extLst>
          </p:cNvPr>
          <p:cNvPicPr>
            <a:picLocks noChangeAspect="1"/>
          </p:cNvPicPr>
          <p:nvPr/>
        </p:nvPicPr>
        <p:blipFill>
          <a:blip r:embed="rId3"/>
          <a:stretch>
            <a:fillRect/>
          </a:stretch>
        </p:blipFill>
        <p:spPr>
          <a:xfrm rot="21050343">
            <a:off x="8783271" y="3128055"/>
            <a:ext cx="1067616" cy="907473"/>
          </a:xfrm>
          <a:prstGeom prst="rect">
            <a:avLst/>
          </a:prstGeom>
        </p:spPr>
      </p:pic>
      <p:pic>
        <p:nvPicPr>
          <p:cNvPr id="10" name="Immagine 9" descr="Blender Logo PNG Images Transparent Free Download">
            <a:extLst>
              <a:ext uri="{FF2B5EF4-FFF2-40B4-BE49-F238E27FC236}">
                <a16:creationId xmlns:a16="http://schemas.microsoft.com/office/drawing/2014/main" id="{9AAA2D60-D946-F0AC-4FA1-3E44811C04E9}"/>
              </a:ext>
            </a:extLst>
          </p:cNvPr>
          <p:cNvPicPr>
            <a:picLocks noChangeAspect="1"/>
          </p:cNvPicPr>
          <p:nvPr/>
        </p:nvPicPr>
        <p:blipFill>
          <a:blip r:embed="rId4"/>
          <a:stretch>
            <a:fillRect/>
          </a:stretch>
        </p:blipFill>
        <p:spPr>
          <a:xfrm rot="944221">
            <a:off x="9957495" y="3236881"/>
            <a:ext cx="1087584" cy="889100"/>
          </a:xfrm>
          <a:prstGeom prst="rect">
            <a:avLst/>
          </a:prstGeom>
        </p:spPr>
      </p:pic>
      <p:pic>
        <p:nvPicPr>
          <p:cNvPr id="11" name="Immagine 10" descr="Download Mars 2020 Rover - Mars Curiosity Rover Transparent - Full Size ...">
            <a:extLst>
              <a:ext uri="{FF2B5EF4-FFF2-40B4-BE49-F238E27FC236}">
                <a16:creationId xmlns:a16="http://schemas.microsoft.com/office/drawing/2014/main" id="{8E83AFDA-685F-DCF9-090A-CE79E623900B}"/>
              </a:ext>
            </a:extLst>
          </p:cNvPr>
          <p:cNvPicPr>
            <a:picLocks noChangeAspect="1"/>
          </p:cNvPicPr>
          <p:nvPr/>
        </p:nvPicPr>
        <p:blipFill>
          <a:blip r:embed="rId5"/>
          <a:stretch>
            <a:fillRect/>
          </a:stretch>
        </p:blipFill>
        <p:spPr>
          <a:xfrm>
            <a:off x="8776854" y="3818175"/>
            <a:ext cx="2043546" cy="1076446"/>
          </a:xfrm>
          <a:prstGeom prst="rect">
            <a:avLst/>
          </a:prstGeom>
        </p:spPr>
      </p:pic>
    </p:spTree>
    <p:extLst>
      <p:ext uri="{BB962C8B-B14F-4D97-AF65-F5344CB8AC3E}">
        <p14:creationId xmlns:p14="http://schemas.microsoft.com/office/powerpoint/2010/main" val="28875451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847C44-8558-93D8-2F7C-66168671E90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DBEF219-9FB1-D74B-788C-EDAE6421A376}"/>
              </a:ext>
            </a:extLst>
          </p:cNvPr>
          <p:cNvSpPr>
            <a:spLocks noGrp="1"/>
          </p:cNvSpPr>
          <p:nvPr>
            <p:ph type="title"/>
          </p:nvPr>
        </p:nvSpPr>
        <p:spPr>
          <a:xfrm>
            <a:off x="838200" y="365125"/>
            <a:ext cx="8384177" cy="835787"/>
          </a:xfrm>
        </p:spPr>
        <p:txBody>
          <a:bodyPr/>
          <a:lstStyle/>
          <a:p>
            <a:r>
              <a:rPr lang="en-US" noProof="0" dirty="0">
                <a:solidFill>
                  <a:srgbClr val="822433"/>
                </a:solidFill>
              </a:rPr>
              <a:t>Blender Scene</a:t>
            </a:r>
          </a:p>
        </p:txBody>
      </p:sp>
      <p:sp>
        <p:nvSpPr>
          <p:cNvPr id="4" name="Google Shape;102;p14">
            <a:extLst>
              <a:ext uri="{FF2B5EF4-FFF2-40B4-BE49-F238E27FC236}">
                <a16:creationId xmlns:a16="http://schemas.microsoft.com/office/drawing/2014/main" id="{A1F79FAC-68C4-89F7-07F1-EFD308CEC47E}"/>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13</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80ABAD18-070C-BCA4-1F33-EB2F21F76922}"/>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09837E98-4A42-EA03-9AD8-58309A1247B7}"/>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[12] [13]</a:t>
            </a:r>
          </a:p>
        </p:txBody>
      </p:sp>
      <p:pic>
        <p:nvPicPr>
          <p:cNvPr id="10" name="Immagine 9">
            <a:extLst>
              <a:ext uri="{FF2B5EF4-FFF2-40B4-BE49-F238E27FC236}">
                <a16:creationId xmlns:a16="http://schemas.microsoft.com/office/drawing/2014/main" id="{8EDCBB45-C010-1E14-DABB-34F69BE94EC6}"/>
              </a:ext>
            </a:extLst>
          </p:cNvPr>
          <p:cNvPicPr>
            <a:picLocks noChangeAspect="1"/>
          </p:cNvPicPr>
          <p:nvPr/>
        </p:nvPicPr>
        <p:blipFill>
          <a:blip r:embed="rId3"/>
          <a:stretch/>
        </p:blipFill>
        <p:spPr>
          <a:xfrm>
            <a:off x="1390650" y="1476375"/>
            <a:ext cx="5791200" cy="4343400"/>
          </a:xfrm>
          <a:prstGeom prst="rect">
            <a:avLst/>
          </a:prstGeom>
          <a:effectLst>
            <a:outerShdw blurRad="50800" dist="38100" dir="2700000" algn="tl" rotWithShape="0">
              <a:prstClr val="black">
                <a:alpha val="40000"/>
              </a:prstClr>
            </a:outerShdw>
          </a:effectLst>
        </p:spPr>
      </p:pic>
      <p:sp>
        <p:nvSpPr>
          <p:cNvPr id="12" name="nasa-asset">
            <a:extLst>
              <a:ext uri="{FF2B5EF4-FFF2-40B4-BE49-F238E27FC236}">
                <a16:creationId xmlns:a16="http://schemas.microsoft.com/office/drawing/2014/main" id="{A3FE5B3F-4BB9-8B59-7340-0D1D3A088244}"/>
              </a:ext>
            </a:extLst>
          </p:cNvPr>
          <p:cNvSpPr>
            <a:spLocks noGrp="1"/>
          </p:cNvSpPr>
          <p:nvPr/>
        </p:nvSpPr>
        <p:spPr>
          <a:xfrm>
            <a:off x="7787987" y="2282536"/>
            <a:ext cx="3333750" cy="396240"/>
          </a:xfrm>
          <a:prstGeom prst="rect">
            <a:avLst/>
          </a:prstGeom>
          <a:noFill/>
          <a:ln w="0">
            <a:noFill/>
          </a:ln>
          <a:effectLst/>
        </p:spPr>
        <p:txBody>
          <a:bodyPr wrap="square" lIns="0" tIns="0" rIns="0" bIns="0" anchor="t">
            <a:noAutofit/>
          </a:bodyPr>
          <a:lstStyle>
            <a:defPPr algn="ctr">
              <a:defRPr lang="en-US" sz="2175" b="1">
                <a:solidFill>
                  <a:srgbClr val="822433"/>
                </a:solidFill>
                <a:latin typeface="Roboto"/>
                <a:ea typeface="Roboto"/>
                <a:cs typeface="Roboto"/>
              </a:defRPr>
            </a:defPPr>
            <a:lvl1pPr algn="ctr">
              <a:defRPr lang="en-US" sz="2175" b="1">
                <a:solidFill>
                  <a:srgbClr val="822433"/>
                </a:solidFill>
                <a:latin typeface="Roboto"/>
                <a:ea typeface="Roboto"/>
                <a:cs typeface="Roboto"/>
              </a:defRPr>
            </a:lvl1pPr>
            <a:lvl2pPr algn="ctr">
              <a:defRPr lang="en-US" sz="2175" b="1">
                <a:solidFill>
                  <a:srgbClr val="822433"/>
                </a:solidFill>
                <a:latin typeface="Roboto"/>
                <a:ea typeface="Roboto"/>
                <a:cs typeface="Roboto"/>
              </a:defRPr>
            </a:lvl2pPr>
            <a:lvl3pPr algn="ctr">
              <a:defRPr lang="en-US" sz="2175" b="1">
                <a:solidFill>
                  <a:srgbClr val="822433"/>
                </a:solidFill>
                <a:latin typeface="Roboto"/>
                <a:ea typeface="Roboto"/>
                <a:cs typeface="Roboto"/>
              </a:defRPr>
            </a:lvl3pPr>
            <a:lvl4pPr algn="ctr">
              <a:defRPr lang="en-US" sz="2175" b="1">
                <a:solidFill>
                  <a:srgbClr val="822433"/>
                </a:solidFill>
                <a:latin typeface="Roboto"/>
                <a:ea typeface="Roboto"/>
                <a:cs typeface="Roboto"/>
              </a:defRPr>
            </a:lvl4pPr>
            <a:lvl5pPr algn="ctr">
              <a:defRPr lang="en-US" sz="2175" b="1">
                <a:solidFill>
                  <a:srgbClr val="822433"/>
                </a:solidFill>
                <a:latin typeface="Roboto"/>
                <a:ea typeface="Roboto"/>
                <a:cs typeface="Roboto"/>
              </a:defRPr>
            </a:lvl5pPr>
            <a:lvl6pPr algn="ctr">
              <a:defRPr lang="en-US" sz="2175" b="1">
                <a:solidFill>
                  <a:srgbClr val="822433"/>
                </a:solidFill>
                <a:latin typeface="Roboto"/>
                <a:ea typeface="Roboto"/>
                <a:cs typeface="Roboto"/>
              </a:defRPr>
            </a:lvl6pPr>
            <a:lvl7pPr algn="ctr">
              <a:defRPr lang="en-US" sz="2175" b="1">
                <a:solidFill>
                  <a:srgbClr val="822433"/>
                </a:solidFill>
                <a:latin typeface="Roboto"/>
                <a:ea typeface="Roboto"/>
                <a:cs typeface="Roboto"/>
              </a:defRPr>
            </a:lvl7pPr>
            <a:lvl8pPr algn="ctr">
              <a:defRPr lang="en-US" sz="2175" b="1">
                <a:solidFill>
                  <a:srgbClr val="822433"/>
                </a:solidFill>
                <a:latin typeface="Roboto"/>
                <a:ea typeface="Roboto"/>
                <a:cs typeface="Roboto"/>
              </a:defRPr>
            </a:lvl8pPr>
            <a:lvl9pPr algn="ctr">
              <a:defRPr lang="en-US" sz="2175" b="1">
                <a:solidFill>
                  <a:srgbClr val="822433"/>
                </a:solidFill>
                <a:latin typeface="Roboto"/>
                <a:ea typeface="Roboto"/>
                <a:cs typeface="Roboto"/>
              </a:defRPr>
            </a:lvl9pPr>
          </a:lstStyle>
          <a:p>
            <a:pPr algn="ctr">
              <a:defRPr lang="en-US" sz="2175" b="1">
                <a:solidFill>
                  <a:srgbClr val="822433"/>
                </a:solidFill>
                <a:latin typeface="Roboto"/>
                <a:ea typeface="Roboto"/>
                <a:cs typeface="Roboto"/>
              </a:defRPr>
            </a:pPr>
            <a:r>
              <a:rPr lang="en-US" sz="2175" b="1" dirty="0">
                <a:solidFill>
                  <a:srgbClr val="822433"/>
                </a:solidFill>
                <a:latin typeface="Roboto"/>
                <a:ea typeface="Roboto"/>
                <a:cs typeface="Roboto"/>
              </a:rPr>
              <a:t>NASA </a:t>
            </a:r>
            <a:r>
              <a:rPr lang="en-US" sz="2175" b="1" dirty="0">
                <a:solidFill>
                  <a:schemeClr val="tx1"/>
                </a:solidFill>
                <a:latin typeface="Roboto"/>
                <a:ea typeface="Roboto"/>
                <a:cs typeface="Roboto"/>
              </a:rPr>
              <a:t>Curiosity asset</a:t>
            </a:r>
          </a:p>
        </p:txBody>
      </p:sp>
      <p:sp>
        <p:nvSpPr>
          <p:cNvPr id="14" name="nasa-asset">
            <a:extLst>
              <a:ext uri="{FF2B5EF4-FFF2-40B4-BE49-F238E27FC236}">
                <a16:creationId xmlns:a16="http://schemas.microsoft.com/office/drawing/2014/main" id="{A88FC7D0-0AB6-E6B2-655D-717732940BF3}"/>
              </a:ext>
            </a:extLst>
          </p:cNvPr>
          <p:cNvSpPr>
            <a:spLocks noGrp="1"/>
          </p:cNvSpPr>
          <p:nvPr/>
        </p:nvSpPr>
        <p:spPr>
          <a:xfrm>
            <a:off x="7787987" y="3179726"/>
            <a:ext cx="3333750" cy="396240"/>
          </a:xfrm>
          <a:prstGeom prst="rect">
            <a:avLst/>
          </a:prstGeom>
          <a:noFill/>
          <a:ln w="0">
            <a:noFill/>
          </a:ln>
          <a:effectLst/>
        </p:spPr>
        <p:txBody>
          <a:bodyPr wrap="square" lIns="0" tIns="0" rIns="0" bIns="0" anchor="t">
            <a:noAutofit/>
          </a:bodyPr>
          <a:lstStyle>
            <a:defPPr algn="ctr">
              <a:defRPr lang="en-US" sz="2175" b="1">
                <a:solidFill>
                  <a:srgbClr val="822433"/>
                </a:solidFill>
                <a:latin typeface="Roboto"/>
                <a:ea typeface="Roboto"/>
                <a:cs typeface="Roboto"/>
              </a:defRPr>
            </a:defPPr>
            <a:lvl1pPr algn="ctr">
              <a:defRPr lang="en-US" sz="2175" b="1">
                <a:solidFill>
                  <a:srgbClr val="822433"/>
                </a:solidFill>
                <a:latin typeface="Roboto"/>
                <a:ea typeface="Roboto"/>
                <a:cs typeface="Roboto"/>
              </a:defRPr>
            </a:lvl1pPr>
            <a:lvl2pPr algn="ctr">
              <a:defRPr lang="en-US" sz="2175" b="1">
                <a:solidFill>
                  <a:srgbClr val="822433"/>
                </a:solidFill>
                <a:latin typeface="Roboto"/>
                <a:ea typeface="Roboto"/>
                <a:cs typeface="Roboto"/>
              </a:defRPr>
            </a:lvl2pPr>
            <a:lvl3pPr algn="ctr">
              <a:defRPr lang="en-US" sz="2175" b="1">
                <a:solidFill>
                  <a:srgbClr val="822433"/>
                </a:solidFill>
                <a:latin typeface="Roboto"/>
                <a:ea typeface="Roboto"/>
                <a:cs typeface="Roboto"/>
              </a:defRPr>
            </a:lvl3pPr>
            <a:lvl4pPr algn="ctr">
              <a:defRPr lang="en-US" sz="2175" b="1">
                <a:solidFill>
                  <a:srgbClr val="822433"/>
                </a:solidFill>
                <a:latin typeface="Roboto"/>
                <a:ea typeface="Roboto"/>
                <a:cs typeface="Roboto"/>
              </a:defRPr>
            </a:lvl4pPr>
            <a:lvl5pPr algn="ctr">
              <a:defRPr lang="en-US" sz="2175" b="1">
                <a:solidFill>
                  <a:srgbClr val="822433"/>
                </a:solidFill>
                <a:latin typeface="Roboto"/>
                <a:ea typeface="Roboto"/>
                <a:cs typeface="Roboto"/>
              </a:defRPr>
            </a:lvl5pPr>
            <a:lvl6pPr algn="ctr">
              <a:defRPr lang="en-US" sz="2175" b="1">
                <a:solidFill>
                  <a:srgbClr val="822433"/>
                </a:solidFill>
                <a:latin typeface="Roboto"/>
                <a:ea typeface="Roboto"/>
                <a:cs typeface="Roboto"/>
              </a:defRPr>
            </a:lvl6pPr>
            <a:lvl7pPr algn="ctr">
              <a:defRPr lang="en-US" sz="2175" b="1">
                <a:solidFill>
                  <a:srgbClr val="822433"/>
                </a:solidFill>
                <a:latin typeface="Roboto"/>
                <a:ea typeface="Roboto"/>
                <a:cs typeface="Roboto"/>
              </a:defRPr>
            </a:lvl7pPr>
            <a:lvl8pPr algn="ctr">
              <a:defRPr lang="en-US" sz="2175" b="1">
                <a:solidFill>
                  <a:srgbClr val="822433"/>
                </a:solidFill>
                <a:latin typeface="Roboto"/>
                <a:ea typeface="Roboto"/>
                <a:cs typeface="Roboto"/>
              </a:defRPr>
            </a:lvl8pPr>
            <a:lvl9pPr algn="ctr">
              <a:defRPr lang="en-US" sz="2175" b="1">
                <a:solidFill>
                  <a:srgbClr val="822433"/>
                </a:solidFill>
                <a:latin typeface="Roboto"/>
                <a:ea typeface="Roboto"/>
                <a:cs typeface="Roboto"/>
              </a:defRPr>
            </a:lvl9pPr>
          </a:lstStyle>
          <a:p>
            <a:pPr algn="ctr">
              <a:defRPr lang="en-US" sz="2175" b="1">
                <a:solidFill>
                  <a:srgbClr val="822433"/>
                </a:solidFill>
                <a:latin typeface="Roboto"/>
                <a:ea typeface="Roboto"/>
                <a:cs typeface="Roboto"/>
              </a:defRPr>
            </a:pPr>
            <a:r>
              <a:rPr lang="en-US" sz="2175" b="1" dirty="0">
                <a:solidFill>
                  <a:srgbClr val="822433"/>
                </a:solidFill>
                <a:latin typeface="Roboto"/>
                <a:ea typeface="Roboto"/>
                <a:cs typeface="Roboto"/>
              </a:rPr>
              <a:t>Gale Crater </a:t>
            </a:r>
            <a:r>
              <a:rPr lang="en-US" sz="2175" b="1" dirty="0">
                <a:solidFill>
                  <a:schemeClr val="tx1"/>
                </a:solidFill>
                <a:latin typeface="Roboto"/>
                <a:ea typeface="Roboto"/>
                <a:cs typeface="Roboto"/>
              </a:rPr>
              <a:t>terrain (HiRISE)</a:t>
            </a:r>
          </a:p>
        </p:txBody>
      </p:sp>
      <p:sp>
        <p:nvSpPr>
          <p:cNvPr id="16" name="nasa-asset">
            <a:extLst>
              <a:ext uri="{FF2B5EF4-FFF2-40B4-BE49-F238E27FC236}">
                <a16:creationId xmlns:a16="http://schemas.microsoft.com/office/drawing/2014/main" id="{62823DE0-D3AD-66FA-7C79-475E9C6ABA82}"/>
              </a:ext>
            </a:extLst>
          </p:cNvPr>
          <p:cNvSpPr>
            <a:spLocks noGrp="1"/>
          </p:cNvSpPr>
          <p:nvPr/>
        </p:nvSpPr>
        <p:spPr>
          <a:xfrm>
            <a:off x="7787987" y="4076916"/>
            <a:ext cx="3333750" cy="668266"/>
          </a:xfrm>
          <a:prstGeom prst="rect">
            <a:avLst/>
          </a:prstGeom>
          <a:noFill/>
          <a:ln w="0">
            <a:noFill/>
          </a:ln>
          <a:effectLst/>
        </p:spPr>
        <p:txBody>
          <a:bodyPr wrap="square" lIns="0" tIns="0" rIns="0" bIns="0" anchor="t">
            <a:noAutofit/>
          </a:bodyPr>
          <a:lstStyle>
            <a:defPPr algn="ctr">
              <a:defRPr lang="en-US" sz="2175" b="1">
                <a:solidFill>
                  <a:srgbClr val="822433"/>
                </a:solidFill>
                <a:latin typeface="Roboto"/>
                <a:ea typeface="Roboto"/>
                <a:cs typeface="Roboto"/>
              </a:defRPr>
            </a:defPPr>
            <a:lvl1pPr algn="ctr">
              <a:defRPr lang="en-US" sz="2175" b="1">
                <a:solidFill>
                  <a:srgbClr val="822433"/>
                </a:solidFill>
                <a:latin typeface="Roboto"/>
                <a:ea typeface="Roboto"/>
                <a:cs typeface="Roboto"/>
              </a:defRPr>
            </a:lvl1pPr>
            <a:lvl2pPr algn="ctr">
              <a:defRPr lang="en-US" sz="2175" b="1">
                <a:solidFill>
                  <a:srgbClr val="822433"/>
                </a:solidFill>
                <a:latin typeface="Roboto"/>
                <a:ea typeface="Roboto"/>
                <a:cs typeface="Roboto"/>
              </a:defRPr>
            </a:lvl2pPr>
            <a:lvl3pPr algn="ctr">
              <a:defRPr lang="en-US" sz="2175" b="1">
                <a:solidFill>
                  <a:srgbClr val="822433"/>
                </a:solidFill>
                <a:latin typeface="Roboto"/>
                <a:ea typeface="Roboto"/>
                <a:cs typeface="Roboto"/>
              </a:defRPr>
            </a:lvl3pPr>
            <a:lvl4pPr algn="ctr">
              <a:defRPr lang="en-US" sz="2175" b="1">
                <a:solidFill>
                  <a:srgbClr val="822433"/>
                </a:solidFill>
                <a:latin typeface="Roboto"/>
                <a:ea typeface="Roboto"/>
                <a:cs typeface="Roboto"/>
              </a:defRPr>
            </a:lvl4pPr>
            <a:lvl5pPr algn="ctr">
              <a:defRPr lang="en-US" sz="2175" b="1">
                <a:solidFill>
                  <a:srgbClr val="822433"/>
                </a:solidFill>
                <a:latin typeface="Roboto"/>
                <a:ea typeface="Roboto"/>
                <a:cs typeface="Roboto"/>
              </a:defRPr>
            </a:lvl5pPr>
            <a:lvl6pPr algn="ctr">
              <a:defRPr lang="en-US" sz="2175" b="1">
                <a:solidFill>
                  <a:srgbClr val="822433"/>
                </a:solidFill>
                <a:latin typeface="Roboto"/>
                <a:ea typeface="Roboto"/>
                <a:cs typeface="Roboto"/>
              </a:defRPr>
            </a:lvl6pPr>
            <a:lvl7pPr algn="ctr">
              <a:defRPr lang="en-US" sz="2175" b="1">
                <a:solidFill>
                  <a:srgbClr val="822433"/>
                </a:solidFill>
                <a:latin typeface="Roboto"/>
                <a:ea typeface="Roboto"/>
                <a:cs typeface="Roboto"/>
              </a:defRPr>
            </a:lvl7pPr>
            <a:lvl8pPr algn="ctr">
              <a:defRPr lang="en-US" sz="2175" b="1">
                <a:solidFill>
                  <a:srgbClr val="822433"/>
                </a:solidFill>
                <a:latin typeface="Roboto"/>
                <a:ea typeface="Roboto"/>
                <a:cs typeface="Roboto"/>
              </a:defRPr>
            </a:lvl8pPr>
            <a:lvl9pPr algn="ctr">
              <a:defRPr lang="en-US" sz="2175" b="1">
                <a:solidFill>
                  <a:srgbClr val="822433"/>
                </a:solidFill>
                <a:latin typeface="Roboto"/>
                <a:ea typeface="Roboto"/>
                <a:cs typeface="Roboto"/>
              </a:defRPr>
            </a:lvl9pPr>
          </a:lstStyle>
          <a:p>
            <a:pPr algn="ctr">
              <a:defRPr lang="en-US" sz="2175" b="1">
                <a:solidFill>
                  <a:srgbClr val="822433"/>
                </a:solidFill>
                <a:latin typeface="Roboto"/>
                <a:ea typeface="Roboto"/>
                <a:cs typeface="Roboto"/>
              </a:defRPr>
            </a:pPr>
            <a:r>
              <a:rPr lang="en-US" sz="2175" b="1" dirty="0">
                <a:solidFill>
                  <a:srgbClr val="822433"/>
                </a:solidFill>
                <a:latin typeface="Roboto"/>
                <a:ea typeface="Roboto"/>
                <a:cs typeface="Roboto"/>
              </a:rPr>
              <a:t>Procedurally generated </a:t>
            </a:r>
            <a:r>
              <a:rPr lang="en-US" sz="2175" b="1" dirty="0">
                <a:solidFill>
                  <a:schemeClr val="tx1"/>
                </a:solidFill>
                <a:latin typeface="Roboto"/>
                <a:ea typeface="Roboto"/>
                <a:cs typeface="Roboto"/>
              </a:rPr>
              <a:t>local terrain details</a:t>
            </a:r>
          </a:p>
        </p:txBody>
      </p:sp>
    </p:spTree>
    <p:extLst>
      <p:ext uri="{BB962C8B-B14F-4D97-AF65-F5344CB8AC3E}">
        <p14:creationId xmlns:p14="http://schemas.microsoft.com/office/powerpoint/2010/main" val="35939332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2EA06-8DED-AFB0-ADDE-C8EF7A6309C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C1BE008-05A5-9AFB-03FE-DB68BF358F21}"/>
              </a:ext>
            </a:extLst>
          </p:cNvPr>
          <p:cNvSpPr>
            <a:spLocks noGrp="1"/>
          </p:cNvSpPr>
          <p:nvPr>
            <p:ph type="title"/>
          </p:nvPr>
        </p:nvSpPr>
        <p:spPr>
          <a:xfrm>
            <a:off x="838200" y="365125"/>
            <a:ext cx="8384177" cy="835787"/>
          </a:xfrm>
        </p:spPr>
        <p:txBody>
          <a:bodyPr/>
          <a:lstStyle/>
          <a:p>
            <a:r>
              <a:rPr lang="en-US" noProof="0" dirty="0">
                <a:solidFill>
                  <a:srgbClr val="822433"/>
                </a:solidFill>
              </a:rPr>
              <a:t>Synthetic Damage</a:t>
            </a:r>
          </a:p>
        </p:txBody>
      </p:sp>
      <p:sp>
        <p:nvSpPr>
          <p:cNvPr id="4" name="Google Shape;102;p14">
            <a:extLst>
              <a:ext uri="{FF2B5EF4-FFF2-40B4-BE49-F238E27FC236}">
                <a16:creationId xmlns:a16="http://schemas.microsoft.com/office/drawing/2014/main" id="{87C39705-A017-E958-C58F-1F8E8151E158}"/>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14</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C268C275-1E3A-6C00-E5E1-DEE86E15F978}"/>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10" name="label-paired-normal.png">
            <a:extLst>
              <a:ext uri="{FF2B5EF4-FFF2-40B4-BE49-F238E27FC236}">
                <a16:creationId xmlns:a16="http://schemas.microsoft.com/office/drawing/2014/main" id="{2B329D36-DA00-AEE9-463E-CD0C89C92564}"/>
              </a:ext>
            </a:extLst>
          </p:cNvPr>
          <p:cNvSpPr>
            <a:spLocks noGrp="1"/>
          </p:cNvSpPr>
          <p:nvPr/>
        </p:nvSpPr>
        <p:spPr>
          <a:xfrm>
            <a:off x="904875" y="1581150"/>
            <a:ext cx="3190875" cy="381000"/>
          </a:xfrm>
          <a:prstGeom prst="rect">
            <a:avLst/>
          </a:prstGeom>
          <a:noFill/>
          <a:ln w="0">
            <a:noFill/>
          </a:ln>
        </p:spPr>
        <p:txBody>
          <a:bodyPr wrap="square" lIns="0" tIns="0" rIns="0" bIns="0" anchor="t">
            <a:noAutofit/>
          </a:bodyPr>
          <a:lstStyle>
            <a:defPPr algn="ctr">
              <a:defRPr sz="2025" b="1">
                <a:solidFill>
                  <a:srgbClr val="822433"/>
                </a:solidFill>
                <a:latin typeface="Roboto"/>
                <a:ea typeface="Roboto"/>
                <a:cs typeface="Roboto"/>
              </a:defRPr>
            </a:defPPr>
            <a:lvl1pPr algn="ctr">
              <a:defRPr sz="2025" b="1">
                <a:solidFill>
                  <a:srgbClr val="822433"/>
                </a:solidFill>
                <a:latin typeface="Roboto"/>
                <a:ea typeface="Roboto"/>
                <a:cs typeface="Roboto"/>
              </a:defRPr>
            </a:lvl1pPr>
            <a:lvl2pPr algn="ctr">
              <a:defRPr sz="2025" b="1">
                <a:solidFill>
                  <a:srgbClr val="822433"/>
                </a:solidFill>
                <a:latin typeface="Roboto"/>
                <a:ea typeface="Roboto"/>
                <a:cs typeface="Roboto"/>
              </a:defRPr>
            </a:lvl2pPr>
            <a:lvl3pPr algn="ctr">
              <a:defRPr sz="2025" b="1">
                <a:solidFill>
                  <a:srgbClr val="822433"/>
                </a:solidFill>
                <a:latin typeface="Roboto"/>
                <a:ea typeface="Roboto"/>
                <a:cs typeface="Roboto"/>
              </a:defRPr>
            </a:lvl3pPr>
            <a:lvl4pPr algn="ctr">
              <a:defRPr sz="2025" b="1">
                <a:solidFill>
                  <a:srgbClr val="822433"/>
                </a:solidFill>
                <a:latin typeface="Roboto"/>
                <a:ea typeface="Roboto"/>
                <a:cs typeface="Roboto"/>
              </a:defRPr>
            </a:lvl4pPr>
            <a:lvl5pPr algn="ctr">
              <a:defRPr sz="2025" b="1">
                <a:solidFill>
                  <a:srgbClr val="822433"/>
                </a:solidFill>
                <a:latin typeface="Roboto"/>
                <a:ea typeface="Roboto"/>
                <a:cs typeface="Roboto"/>
              </a:defRPr>
            </a:lvl5pPr>
            <a:lvl6pPr algn="ctr">
              <a:defRPr sz="2025" b="1">
                <a:solidFill>
                  <a:srgbClr val="822433"/>
                </a:solidFill>
                <a:latin typeface="Roboto"/>
                <a:ea typeface="Roboto"/>
                <a:cs typeface="Roboto"/>
              </a:defRPr>
            </a:lvl6pPr>
            <a:lvl7pPr algn="ctr">
              <a:defRPr sz="2025" b="1">
                <a:solidFill>
                  <a:srgbClr val="822433"/>
                </a:solidFill>
                <a:latin typeface="Roboto"/>
                <a:ea typeface="Roboto"/>
                <a:cs typeface="Roboto"/>
              </a:defRPr>
            </a:lvl7pPr>
            <a:lvl8pPr algn="ctr">
              <a:defRPr sz="2025" b="1">
                <a:solidFill>
                  <a:srgbClr val="822433"/>
                </a:solidFill>
                <a:latin typeface="Roboto"/>
                <a:ea typeface="Roboto"/>
                <a:cs typeface="Roboto"/>
              </a:defRPr>
            </a:lvl8pPr>
            <a:lvl9pPr algn="ctr">
              <a:defRPr sz="2025" b="1">
                <a:solidFill>
                  <a:srgbClr val="822433"/>
                </a:solidFill>
                <a:latin typeface="Roboto"/>
                <a:ea typeface="Roboto"/>
                <a:cs typeface="Roboto"/>
              </a:defRPr>
            </a:lvl9pPr>
          </a:lstStyle>
          <a:p>
            <a:pPr algn="ctr">
              <a:defRPr sz="2025" b="1">
                <a:solidFill>
                  <a:srgbClr val="822433"/>
                </a:solidFill>
                <a:latin typeface="Roboto"/>
                <a:ea typeface="Roboto"/>
                <a:cs typeface="Roboto"/>
              </a:defRPr>
            </a:pPr>
            <a:r>
              <a:rPr lang="it-IT" sz="2025" b="1" dirty="0">
                <a:solidFill>
                  <a:srgbClr val="822433"/>
                </a:solidFill>
                <a:latin typeface="Roboto"/>
                <a:ea typeface="Roboto"/>
                <a:cs typeface="Roboto"/>
              </a:rPr>
              <a:t>Normal</a:t>
            </a:r>
            <a:endParaRPr sz="2025" b="1" dirty="0">
              <a:solidFill>
                <a:srgbClr val="822433"/>
              </a:solidFill>
              <a:latin typeface="Roboto"/>
              <a:ea typeface="Roboto"/>
              <a:cs typeface="Roboto"/>
            </a:endParaRPr>
          </a:p>
        </p:txBody>
      </p:sp>
      <p:pic>
        <p:nvPicPr>
          <p:cNvPr id="12" name="Immagine 11">
            <a:extLst>
              <a:ext uri="{FF2B5EF4-FFF2-40B4-BE49-F238E27FC236}">
                <a16:creationId xmlns:a16="http://schemas.microsoft.com/office/drawing/2014/main" id="{7002725D-0B8E-AD71-78F7-BA71D85E114D}"/>
              </a:ext>
            </a:extLst>
          </p:cNvPr>
          <p:cNvPicPr>
            <a:picLocks noChangeAspect="1"/>
          </p:cNvPicPr>
          <p:nvPr/>
        </p:nvPicPr>
        <p:blipFill>
          <a:blip r:embed="rId3"/>
          <a:stretch/>
        </p:blipFill>
        <p:spPr>
          <a:xfrm>
            <a:off x="904875" y="2270522"/>
            <a:ext cx="3190875" cy="2393156"/>
          </a:xfrm>
          <a:prstGeom prst="rect">
            <a:avLst/>
          </a:prstGeom>
          <a:effectLst>
            <a:outerShdw blurRad="50800" dist="38100" dir="2700000" algn="tl" rotWithShape="0">
              <a:prstClr val="black">
                <a:alpha val="40000"/>
              </a:prstClr>
            </a:outerShdw>
          </a:effectLst>
        </p:spPr>
      </p:pic>
      <p:sp>
        <p:nvSpPr>
          <p:cNvPr id="14" name="label-paired-hole.png">
            <a:extLst>
              <a:ext uri="{FF2B5EF4-FFF2-40B4-BE49-F238E27FC236}">
                <a16:creationId xmlns:a16="http://schemas.microsoft.com/office/drawing/2014/main" id="{D1094802-5BD2-ED2B-253A-A6C22BEBF8EA}"/>
              </a:ext>
            </a:extLst>
          </p:cNvPr>
          <p:cNvSpPr>
            <a:spLocks noGrp="1"/>
          </p:cNvSpPr>
          <p:nvPr/>
        </p:nvSpPr>
        <p:spPr>
          <a:xfrm>
            <a:off x="4362450" y="1581150"/>
            <a:ext cx="3190875" cy="381000"/>
          </a:xfrm>
          <a:prstGeom prst="rect">
            <a:avLst/>
          </a:prstGeom>
          <a:noFill/>
          <a:ln w="0">
            <a:noFill/>
          </a:ln>
        </p:spPr>
        <p:txBody>
          <a:bodyPr wrap="square" lIns="0" tIns="0" rIns="0" bIns="0" anchor="t">
            <a:noAutofit/>
          </a:bodyPr>
          <a:lstStyle>
            <a:defPPr algn="ctr">
              <a:defRPr sz="2025" b="1">
                <a:solidFill>
                  <a:srgbClr val="822433"/>
                </a:solidFill>
                <a:latin typeface="Roboto"/>
                <a:ea typeface="Roboto"/>
                <a:cs typeface="Roboto"/>
              </a:defRPr>
            </a:defPPr>
            <a:lvl1pPr algn="ctr">
              <a:defRPr sz="2025" b="1">
                <a:solidFill>
                  <a:srgbClr val="822433"/>
                </a:solidFill>
                <a:latin typeface="Roboto"/>
                <a:ea typeface="Roboto"/>
                <a:cs typeface="Roboto"/>
              </a:defRPr>
            </a:lvl1pPr>
            <a:lvl2pPr algn="ctr">
              <a:defRPr sz="2025" b="1">
                <a:solidFill>
                  <a:srgbClr val="822433"/>
                </a:solidFill>
                <a:latin typeface="Roboto"/>
                <a:ea typeface="Roboto"/>
                <a:cs typeface="Roboto"/>
              </a:defRPr>
            </a:lvl2pPr>
            <a:lvl3pPr algn="ctr">
              <a:defRPr sz="2025" b="1">
                <a:solidFill>
                  <a:srgbClr val="822433"/>
                </a:solidFill>
                <a:latin typeface="Roboto"/>
                <a:ea typeface="Roboto"/>
                <a:cs typeface="Roboto"/>
              </a:defRPr>
            </a:lvl3pPr>
            <a:lvl4pPr algn="ctr">
              <a:defRPr sz="2025" b="1">
                <a:solidFill>
                  <a:srgbClr val="822433"/>
                </a:solidFill>
                <a:latin typeface="Roboto"/>
                <a:ea typeface="Roboto"/>
                <a:cs typeface="Roboto"/>
              </a:defRPr>
            </a:lvl4pPr>
            <a:lvl5pPr algn="ctr">
              <a:defRPr sz="2025" b="1">
                <a:solidFill>
                  <a:srgbClr val="822433"/>
                </a:solidFill>
                <a:latin typeface="Roboto"/>
                <a:ea typeface="Roboto"/>
                <a:cs typeface="Roboto"/>
              </a:defRPr>
            </a:lvl5pPr>
            <a:lvl6pPr algn="ctr">
              <a:defRPr sz="2025" b="1">
                <a:solidFill>
                  <a:srgbClr val="822433"/>
                </a:solidFill>
                <a:latin typeface="Roboto"/>
                <a:ea typeface="Roboto"/>
                <a:cs typeface="Roboto"/>
              </a:defRPr>
            </a:lvl6pPr>
            <a:lvl7pPr algn="ctr">
              <a:defRPr sz="2025" b="1">
                <a:solidFill>
                  <a:srgbClr val="822433"/>
                </a:solidFill>
                <a:latin typeface="Roboto"/>
                <a:ea typeface="Roboto"/>
                <a:cs typeface="Roboto"/>
              </a:defRPr>
            </a:lvl7pPr>
            <a:lvl8pPr algn="ctr">
              <a:defRPr sz="2025" b="1">
                <a:solidFill>
                  <a:srgbClr val="822433"/>
                </a:solidFill>
                <a:latin typeface="Roboto"/>
                <a:ea typeface="Roboto"/>
                <a:cs typeface="Roboto"/>
              </a:defRPr>
            </a:lvl8pPr>
            <a:lvl9pPr algn="ctr">
              <a:defRPr sz="2025" b="1">
                <a:solidFill>
                  <a:srgbClr val="822433"/>
                </a:solidFill>
                <a:latin typeface="Roboto"/>
                <a:ea typeface="Roboto"/>
                <a:cs typeface="Roboto"/>
              </a:defRPr>
            </a:lvl9pPr>
          </a:lstStyle>
          <a:p>
            <a:pPr algn="ctr">
              <a:defRPr sz="2025" b="1">
                <a:solidFill>
                  <a:srgbClr val="822433"/>
                </a:solidFill>
                <a:latin typeface="Roboto"/>
                <a:ea typeface="Roboto"/>
                <a:cs typeface="Roboto"/>
              </a:defRPr>
            </a:pPr>
            <a:r>
              <a:rPr lang="it-IT" dirty="0" err="1"/>
              <a:t>Damaged</a:t>
            </a:r>
            <a:endParaRPr sz="2025" b="1" dirty="0">
              <a:solidFill>
                <a:srgbClr val="822433"/>
              </a:solidFill>
              <a:latin typeface="Roboto"/>
              <a:ea typeface="Roboto"/>
              <a:cs typeface="Roboto"/>
            </a:endParaRPr>
          </a:p>
        </p:txBody>
      </p:sp>
      <p:pic>
        <p:nvPicPr>
          <p:cNvPr id="16" name="Immagine 15">
            <a:extLst>
              <a:ext uri="{FF2B5EF4-FFF2-40B4-BE49-F238E27FC236}">
                <a16:creationId xmlns:a16="http://schemas.microsoft.com/office/drawing/2014/main" id="{0EC45F1E-5397-0AFB-B887-A4229FDAEFDC}"/>
              </a:ext>
            </a:extLst>
          </p:cNvPr>
          <p:cNvPicPr>
            <a:picLocks noChangeAspect="1"/>
          </p:cNvPicPr>
          <p:nvPr/>
        </p:nvPicPr>
        <p:blipFill>
          <a:blip r:embed="rId4"/>
          <a:stretch/>
        </p:blipFill>
        <p:spPr>
          <a:xfrm>
            <a:off x="4362450" y="2270522"/>
            <a:ext cx="3190875" cy="2393156"/>
          </a:xfrm>
          <a:prstGeom prst="rect">
            <a:avLst/>
          </a:prstGeom>
          <a:effectLst>
            <a:outerShdw blurRad="50800" dist="38100" dir="2700000" algn="tl" rotWithShape="0">
              <a:prstClr val="black">
                <a:alpha val="40000"/>
              </a:prstClr>
            </a:outerShdw>
          </a:effectLst>
        </p:spPr>
      </p:pic>
      <p:sp>
        <p:nvSpPr>
          <p:cNvPr id="18" name="label-paired-hole-mask.png">
            <a:extLst>
              <a:ext uri="{FF2B5EF4-FFF2-40B4-BE49-F238E27FC236}">
                <a16:creationId xmlns:a16="http://schemas.microsoft.com/office/drawing/2014/main" id="{35D45323-43D2-78B7-F103-C1DBBF71D7CF}"/>
              </a:ext>
            </a:extLst>
          </p:cNvPr>
          <p:cNvSpPr>
            <a:spLocks noGrp="1"/>
          </p:cNvSpPr>
          <p:nvPr/>
        </p:nvSpPr>
        <p:spPr>
          <a:xfrm>
            <a:off x="7820025" y="1581150"/>
            <a:ext cx="3190875" cy="381000"/>
          </a:xfrm>
          <a:prstGeom prst="rect">
            <a:avLst/>
          </a:prstGeom>
          <a:noFill/>
          <a:ln w="0">
            <a:noFill/>
          </a:ln>
        </p:spPr>
        <p:txBody>
          <a:bodyPr wrap="square" lIns="0" tIns="0" rIns="0" bIns="0" anchor="t">
            <a:noAutofit/>
          </a:bodyPr>
          <a:lstStyle>
            <a:defPPr algn="ctr">
              <a:defRPr sz="2025" b="1">
                <a:solidFill>
                  <a:srgbClr val="822433"/>
                </a:solidFill>
                <a:latin typeface="Roboto"/>
                <a:ea typeface="Roboto"/>
                <a:cs typeface="Roboto"/>
              </a:defRPr>
            </a:defPPr>
            <a:lvl1pPr algn="ctr">
              <a:defRPr sz="2025" b="1">
                <a:solidFill>
                  <a:srgbClr val="822433"/>
                </a:solidFill>
                <a:latin typeface="Roboto"/>
                <a:ea typeface="Roboto"/>
                <a:cs typeface="Roboto"/>
              </a:defRPr>
            </a:lvl1pPr>
            <a:lvl2pPr algn="ctr">
              <a:defRPr sz="2025" b="1">
                <a:solidFill>
                  <a:srgbClr val="822433"/>
                </a:solidFill>
                <a:latin typeface="Roboto"/>
                <a:ea typeface="Roboto"/>
                <a:cs typeface="Roboto"/>
              </a:defRPr>
            </a:lvl2pPr>
            <a:lvl3pPr algn="ctr">
              <a:defRPr sz="2025" b="1">
                <a:solidFill>
                  <a:srgbClr val="822433"/>
                </a:solidFill>
                <a:latin typeface="Roboto"/>
                <a:ea typeface="Roboto"/>
                <a:cs typeface="Roboto"/>
              </a:defRPr>
            </a:lvl3pPr>
            <a:lvl4pPr algn="ctr">
              <a:defRPr sz="2025" b="1">
                <a:solidFill>
                  <a:srgbClr val="822433"/>
                </a:solidFill>
                <a:latin typeface="Roboto"/>
                <a:ea typeface="Roboto"/>
                <a:cs typeface="Roboto"/>
              </a:defRPr>
            </a:lvl4pPr>
            <a:lvl5pPr algn="ctr">
              <a:defRPr sz="2025" b="1">
                <a:solidFill>
                  <a:srgbClr val="822433"/>
                </a:solidFill>
                <a:latin typeface="Roboto"/>
                <a:ea typeface="Roboto"/>
                <a:cs typeface="Roboto"/>
              </a:defRPr>
            </a:lvl5pPr>
            <a:lvl6pPr algn="ctr">
              <a:defRPr sz="2025" b="1">
                <a:solidFill>
                  <a:srgbClr val="822433"/>
                </a:solidFill>
                <a:latin typeface="Roboto"/>
                <a:ea typeface="Roboto"/>
                <a:cs typeface="Roboto"/>
              </a:defRPr>
            </a:lvl6pPr>
            <a:lvl7pPr algn="ctr">
              <a:defRPr sz="2025" b="1">
                <a:solidFill>
                  <a:srgbClr val="822433"/>
                </a:solidFill>
                <a:latin typeface="Roboto"/>
                <a:ea typeface="Roboto"/>
                <a:cs typeface="Roboto"/>
              </a:defRPr>
            </a:lvl7pPr>
            <a:lvl8pPr algn="ctr">
              <a:defRPr sz="2025" b="1">
                <a:solidFill>
                  <a:srgbClr val="822433"/>
                </a:solidFill>
                <a:latin typeface="Roboto"/>
                <a:ea typeface="Roboto"/>
                <a:cs typeface="Roboto"/>
              </a:defRPr>
            </a:lvl8pPr>
            <a:lvl9pPr algn="ctr">
              <a:defRPr sz="2025" b="1">
                <a:solidFill>
                  <a:srgbClr val="822433"/>
                </a:solidFill>
                <a:latin typeface="Roboto"/>
                <a:ea typeface="Roboto"/>
                <a:cs typeface="Roboto"/>
              </a:defRPr>
            </a:lvl9pPr>
          </a:lstStyle>
          <a:p>
            <a:pPr algn="ctr">
              <a:defRPr sz="2025" b="1">
                <a:solidFill>
                  <a:srgbClr val="822433"/>
                </a:solidFill>
                <a:latin typeface="Roboto"/>
                <a:ea typeface="Roboto"/>
                <a:cs typeface="Roboto"/>
              </a:defRPr>
            </a:pPr>
            <a:r>
              <a:rPr lang="it-IT" sz="2025" b="1" dirty="0" err="1">
                <a:solidFill>
                  <a:srgbClr val="822433"/>
                </a:solidFill>
                <a:latin typeface="Roboto"/>
                <a:ea typeface="Roboto"/>
                <a:cs typeface="Roboto"/>
              </a:rPr>
              <a:t>Damage</a:t>
            </a:r>
            <a:r>
              <a:rPr lang="it-IT" sz="2025" b="1" dirty="0">
                <a:solidFill>
                  <a:srgbClr val="822433"/>
                </a:solidFill>
                <a:latin typeface="Roboto"/>
                <a:ea typeface="Roboto"/>
                <a:cs typeface="Roboto"/>
              </a:rPr>
              <a:t> mask</a:t>
            </a:r>
            <a:endParaRPr sz="2025" b="1" dirty="0">
              <a:solidFill>
                <a:srgbClr val="822433"/>
              </a:solidFill>
              <a:latin typeface="Roboto"/>
              <a:ea typeface="Roboto"/>
              <a:cs typeface="Roboto"/>
            </a:endParaRPr>
          </a:p>
        </p:txBody>
      </p:sp>
      <p:pic>
        <p:nvPicPr>
          <p:cNvPr id="20" name="Immagine 19">
            <a:extLst>
              <a:ext uri="{FF2B5EF4-FFF2-40B4-BE49-F238E27FC236}">
                <a16:creationId xmlns:a16="http://schemas.microsoft.com/office/drawing/2014/main" id="{08B2B7F6-019F-E2BA-849F-4C0EB751C22E}"/>
              </a:ext>
            </a:extLst>
          </p:cNvPr>
          <p:cNvPicPr>
            <a:picLocks noChangeAspect="1"/>
          </p:cNvPicPr>
          <p:nvPr/>
        </p:nvPicPr>
        <p:blipFill>
          <a:blip r:embed="rId5"/>
          <a:stretch/>
        </p:blipFill>
        <p:spPr>
          <a:xfrm>
            <a:off x="7820025" y="2270522"/>
            <a:ext cx="3190875" cy="2393156"/>
          </a:xfrm>
          <a:prstGeom prst="rect">
            <a:avLst/>
          </a:prstGeom>
          <a:effectLst>
            <a:outerShdw blurRad="50800" dist="38100" dir="2700000" algn="tl" rotWithShape="0">
              <a:prstClr val="black">
                <a:alpha val="40000"/>
              </a:prstClr>
            </a:outerShdw>
          </a:effectLst>
        </p:spPr>
      </p:pic>
      <p:sp>
        <p:nvSpPr>
          <p:cNvPr id="22" name="paired-controls">
            <a:extLst>
              <a:ext uri="{FF2B5EF4-FFF2-40B4-BE49-F238E27FC236}">
                <a16:creationId xmlns:a16="http://schemas.microsoft.com/office/drawing/2014/main" id="{61F9908C-9F76-ACE3-2599-E9BD1BD1DA75}"/>
              </a:ext>
            </a:extLst>
          </p:cNvPr>
          <p:cNvSpPr>
            <a:spLocks noGrp="1"/>
          </p:cNvSpPr>
          <p:nvPr/>
        </p:nvSpPr>
        <p:spPr>
          <a:xfrm>
            <a:off x="652895" y="5471822"/>
            <a:ext cx="10886209" cy="457200"/>
          </a:xfrm>
          <a:prstGeom prst="rect">
            <a:avLst/>
          </a:prstGeom>
          <a:noFill/>
          <a:ln w="0">
            <a:noFill/>
          </a:ln>
        </p:spPr>
        <p:txBody>
          <a:bodyPr wrap="square" lIns="0" tIns="0" rIns="0" bIns="0" anchor="t">
            <a:noAutofit/>
          </a:bodyPr>
          <a:lstStyle>
            <a:defPPr algn="ctr">
              <a:defRPr sz="2250" b="0">
                <a:solidFill>
                  <a:srgbClr val="202124"/>
                </a:solidFill>
                <a:latin typeface="Roboto"/>
                <a:ea typeface="Roboto"/>
                <a:cs typeface="Roboto"/>
              </a:defRPr>
            </a:defPPr>
            <a:lvl1pPr algn="ctr">
              <a:defRPr sz="2250" b="0">
                <a:solidFill>
                  <a:srgbClr val="202124"/>
                </a:solidFill>
                <a:latin typeface="Roboto"/>
                <a:ea typeface="Roboto"/>
                <a:cs typeface="Roboto"/>
              </a:defRPr>
            </a:lvl1pPr>
            <a:lvl2pPr algn="ctr">
              <a:defRPr sz="2250" b="0">
                <a:solidFill>
                  <a:srgbClr val="202124"/>
                </a:solidFill>
                <a:latin typeface="Roboto"/>
                <a:ea typeface="Roboto"/>
                <a:cs typeface="Roboto"/>
              </a:defRPr>
            </a:lvl2pPr>
            <a:lvl3pPr algn="ctr">
              <a:defRPr sz="2250" b="0">
                <a:solidFill>
                  <a:srgbClr val="202124"/>
                </a:solidFill>
                <a:latin typeface="Roboto"/>
                <a:ea typeface="Roboto"/>
                <a:cs typeface="Roboto"/>
              </a:defRPr>
            </a:lvl3pPr>
            <a:lvl4pPr algn="ctr">
              <a:defRPr sz="2250" b="0">
                <a:solidFill>
                  <a:srgbClr val="202124"/>
                </a:solidFill>
                <a:latin typeface="Roboto"/>
                <a:ea typeface="Roboto"/>
                <a:cs typeface="Roboto"/>
              </a:defRPr>
            </a:lvl4pPr>
            <a:lvl5pPr algn="ctr">
              <a:defRPr sz="2250" b="0">
                <a:solidFill>
                  <a:srgbClr val="202124"/>
                </a:solidFill>
                <a:latin typeface="Roboto"/>
                <a:ea typeface="Roboto"/>
                <a:cs typeface="Roboto"/>
              </a:defRPr>
            </a:lvl5pPr>
            <a:lvl6pPr algn="ctr">
              <a:defRPr sz="2250" b="0">
                <a:solidFill>
                  <a:srgbClr val="202124"/>
                </a:solidFill>
                <a:latin typeface="Roboto"/>
                <a:ea typeface="Roboto"/>
                <a:cs typeface="Roboto"/>
              </a:defRPr>
            </a:lvl6pPr>
            <a:lvl7pPr algn="ctr">
              <a:defRPr sz="2250" b="0">
                <a:solidFill>
                  <a:srgbClr val="202124"/>
                </a:solidFill>
                <a:latin typeface="Roboto"/>
                <a:ea typeface="Roboto"/>
                <a:cs typeface="Roboto"/>
              </a:defRPr>
            </a:lvl7pPr>
            <a:lvl8pPr algn="ctr">
              <a:defRPr sz="2250" b="0">
                <a:solidFill>
                  <a:srgbClr val="202124"/>
                </a:solidFill>
                <a:latin typeface="Roboto"/>
                <a:ea typeface="Roboto"/>
                <a:cs typeface="Roboto"/>
              </a:defRPr>
            </a:lvl8pPr>
            <a:lvl9pPr algn="ctr">
              <a:defRPr sz="2250" b="0">
                <a:solidFill>
                  <a:srgbClr val="202124"/>
                </a:solidFill>
                <a:latin typeface="Roboto"/>
                <a:ea typeface="Roboto"/>
                <a:cs typeface="Roboto"/>
              </a:defRPr>
            </a:lvl9pPr>
          </a:lstStyle>
          <a:p>
            <a:pPr algn="ctr">
              <a:defRPr sz="2250" b="0">
                <a:solidFill>
                  <a:srgbClr val="202124"/>
                </a:solidFill>
                <a:latin typeface="Roboto"/>
                <a:ea typeface="Roboto"/>
                <a:cs typeface="Roboto"/>
              </a:defRPr>
            </a:pPr>
            <a:r>
              <a:rPr lang="en-US" sz="2000" b="0" dirty="0">
                <a:solidFill>
                  <a:srgbClr val="202124"/>
                </a:solidFill>
                <a:latin typeface="Roboto"/>
                <a:ea typeface="Roboto"/>
                <a:cs typeface="Roboto"/>
              </a:rPr>
              <a:t>Both images in the </a:t>
            </a:r>
            <a:r>
              <a:rPr lang="en-US" sz="2000" b="0" dirty="0">
                <a:solidFill>
                  <a:srgbClr val="822433"/>
                </a:solidFill>
                <a:latin typeface="Roboto"/>
                <a:ea typeface="Roboto"/>
                <a:cs typeface="Roboto"/>
              </a:rPr>
              <a:t>same split</a:t>
            </a:r>
            <a:r>
              <a:rPr lang="en-US" sz="2000" b="0" dirty="0">
                <a:solidFill>
                  <a:srgbClr val="202124"/>
                </a:solidFill>
                <a:latin typeface="Roboto"/>
                <a:ea typeface="Roboto"/>
                <a:cs typeface="Roboto"/>
              </a:rPr>
              <a:t>                       Comparison of normal and damaged observation</a:t>
            </a:r>
          </a:p>
        </p:txBody>
      </p:sp>
      <p:sp>
        <p:nvSpPr>
          <p:cNvPr id="23" name="Freccia a destra 22">
            <a:extLst>
              <a:ext uri="{FF2B5EF4-FFF2-40B4-BE49-F238E27FC236}">
                <a16:creationId xmlns:a16="http://schemas.microsoft.com/office/drawing/2014/main" id="{CF5D802E-0777-985F-BD16-42AA5214CA43}"/>
              </a:ext>
            </a:extLst>
          </p:cNvPr>
          <p:cNvSpPr/>
          <p:nvPr/>
        </p:nvSpPr>
        <p:spPr>
          <a:xfrm>
            <a:off x="4590183" y="5575731"/>
            <a:ext cx="914400" cy="124691"/>
          </a:xfrm>
          <a:prstGeom prst="rightArrow">
            <a:avLst/>
          </a:prstGeom>
          <a:solidFill>
            <a:srgbClr val="822433"/>
          </a:solidFill>
          <a:ln>
            <a:solidFill>
              <a:srgbClr val="822433"/>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5" name="paired-controls">
            <a:extLst>
              <a:ext uri="{FF2B5EF4-FFF2-40B4-BE49-F238E27FC236}">
                <a16:creationId xmlns:a16="http://schemas.microsoft.com/office/drawing/2014/main" id="{76FC8607-32B3-3203-A211-FAC2449CDB23}"/>
              </a:ext>
            </a:extLst>
          </p:cNvPr>
          <p:cNvSpPr>
            <a:spLocks noGrp="1"/>
          </p:cNvSpPr>
          <p:nvPr/>
        </p:nvSpPr>
        <p:spPr>
          <a:xfrm>
            <a:off x="652894" y="5118431"/>
            <a:ext cx="10886209" cy="457200"/>
          </a:xfrm>
          <a:prstGeom prst="rect">
            <a:avLst/>
          </a:prstGeom>
          <a:noFill/>
          <a:ln w="0">
            <a:noFill/>
          </a:ln>
        </p:spPr>
        <p:txBody>
          <a:bodyPr wrap="square" lIns="0" tIns="0" rIns="0" bIns="0" anchor="t">
            <a:noAutofit/>
          </a:bodyPr>
          <a:lstStyle>
            <a:defPPr algn="ctr">
              <a:defRPr sz="2250" b="0">
                <a:solidFill>
                  <a:srgbClr val="202124"/>
                </a:solidFill>
                <a:latin typeface="Roboto"/>
                <a:ea typeface="Roboto"/>
                <a:cs typeface="Roboto"/>
              </a:defRPr>
            </a:defPPr>
            <a:lvl1pPr algn="ctr">
              <a:defRPr sz="2250" b="0">
                <a:solidFill>
                  <a:srgbClr val="202124"/>
                </a:solidFill>
                <a:latin typeface="Roboto"/>
                <a:ea typeface="Roboto"/>
                <a:cs typeface="Roboto"/>
              </a:defRPr>
            </a:lvl1pPr>
            <a:lvl2pPr algn="ctr">
              <a:defRPr sz="2250" b="0">
                <a:solidFill>
                  <a:srgbClr val="202124"/>
                </a:solidFill>
                <a:latin typeface="Roboto"/>
                <a:ea typeface="Roboto"/>
                <a:cs typeface="Roboto"/>
              </a:defRPr>
            </a:lvl2pPr>
            <a:lvl3pPr algn="ctr">
              <a:defRPr sz="2250" b="0">
                <a:solidFill>
                  <a:srgbClr val="202124"/>
                </a:solidFill>
                <a:latin typeface="Roboto"/>
                <a:ea typeface="Roboto"/>
                <a:cs typeface="Roboto"/>
              </a:defRPr>
            </a:lvl3pPr>
            <a:lvl4pPr algn="ctr">
              <a:defRPr sz="2250" b="0">
                <a:solidFill>
                  <a:srgbClr val="202124"/>
                </a:solidFill>
                <a:latin typeface="Roboto"/>
                <a:ea typeface="Roboto"/>
                <a:cs typeface="Roboto"/>
              </a:defRPr>
            </a:lvl4pPr>
            <a:lvl5pPr algn="ctr">
              <a:defRPr sz="2250" b="0">
                <a:solidFill>
                  <a:srgbClr val="202124"/>
                </a:solidFill>
                <a:latin typeface="Roboto"/>
                <a:ea typeface="Roboto"/>
                <a:cs typeface="Roboto"/>
              </a:defRPr>
            </a:lvl5pPr>
            <a:lvl6pPr algn="ctr">
              <a:defRPr sz="2250" b="0">
                <a:solidFill>
                  <a:srgbClr val="202124"/>
                </a:solidFill>
                <a:latin typeface="Roboto"/>
                <a:ea typeface="Roboto"/>
                <a:cs typeface="Roboto"/>
              </a:defRPr>
            </a:lvl6pPr>
            <a:lvl7pPr algn="ctr">
              <a:defRPr sz="2250" b="0">
                <a:solidFill>
                  <a:srgbClr val="202124"/>
                </a:solidFill>
                <a:latin typeface="Roboto"/>
                <a:ea typeface="Roboto"/>
                <a:cs typeface="Roboto"/>
              </a:defRPr>
            </a:lvl7pPr>
            <a:lvl8pPr algn="ctr">
              <a:defRPr sz="2250" b="0">
                <a:solidFill>
                  <a:srgbClr val="202124"/>
                </a:solidFill>
                <a:latin typeface="Roboto"/>
                <a:ea typeface="Roboto"/>
                <a:cs typeface="Roboto"/>
              </a:defRPr>
            </a:lvl8pPr>
            <a:lvl9pPr algn="ctr">
              <a:defRPr sz="2250" b="0">
                <a:solidFill>
                  <a:srgbClr val="202124"/>
                </a:solidFill>
                <a:latin typeface="Roboto"/>
                <a:ea typeface="Roboto"/>
                <a:cs typeface="Roboto"/>
              </a:defRPr>
            </a:lvl9pPr>
          </a:lstStyle>
          <a:p>
            <a:pPr algn="ctr">
              <a:defRPr sz="2250" b="0">
                <a:solidFill>
                  <a:srgbClr val="202124"/>
                </a:solidFill>
                <a:latin typeface="Roboto"/>
                <a:ea typeface="Roboto"/>
                <a:cs typeface="Roboto"/>
              </a:defRPr>
            </a:pPr>
            <a:r>
              <a:rPr lang="en-US" sz="2000" b="1" u="sng" dirty="0">
                <a:solidFill>
                  <a:srgbClr val="822433"/>
                </a:solidFill>
              </a:rPr>
              <a:t>3</a:t>
            </a:r>
            <a:r>
              <a:rPr lang="en-US" sz="2000" dirty="0"/>
              <a:t> perforation levels by size: </a:t>
            </a:r>
            <a:r>
              <a:rPr lang="en-US" sz="2000" dirty="0">
                <a:solidFill>
                  <a:srgbClr val="822433"/>
                </a:solidFill>
              </a:rPr>
              <a:t>Small</a:t>
            </a:r>
            <a:r>
              <a:rPr lang="en-US" sz="2000" dirty="0"/>
              <a:t>, </a:t>
            </a:r>
            <a:r>
              <a:rPr lang="en-US" sz="2000" dirty="0">
                <a:solidFill>
                  <a:srgbClr val="822433"/>
                </a:solidFill>
              </a:rPr>
              <a:t>Medium</a:t>
            </a:r>
            <a:r>
              <a:rPr lang="en-US" sz="2000" dirty="0"/>
              <a:t> and </a:t>
            </a:r>
            <a:r>
              <a:rPr lang="en-US" sz="2000" dirty="0">
                <a:solidFill>
                  <a:srgbClr val="822433"/>
                </a:solidFill>
              </a:rPr>
              <a:t>Large</a:t>
            </a:r>
            <a:endParaRPr lang="en-US" sz="2000" b="0" dirty="0">
              <a:solidFill>
                <a:srgbClr val="822433"/>
              </a:solidFill>
              <a:latin typeface="Roboto"/>
              <a:ea typeface="Roboto"/>
              <a:cs typeface="Roboto"/>
            </a:endParaRPr>
          </a:p>
        </p:txBody>
      </p:sp>
    </p:spTree>
    <p:extLst>
      <p:ext uri="{BB962C8B-B14F-4D97-AF65-F5344CB8AC3E}">
        <p14:creationId xmlns:p14="http://schemas.microsoft.com/office/powerpoint/2010/main" val="40312411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F78E-2E75-56B3-AEE6-B0E24FE5647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CEFDBDD-FB58-CA2A-6B23-A3A07E7D7C24}"/>
              </a:ext>
            </a:extLst>
          </p:cNvPr>
          <p:cNvSpPr>
            <a:spLocks noGrp="1"/>
          </p:cNvSpPr>
          <p:nvPr>
            <p:ph type="title"/>
          </p:nvPr>
        </p:nvSpPr>
        <p:spPr>
          <a:xfrm>
            <a:off x="838200" y="365125"/>
            <a:ext cx="8384177" cy="835787"/>
          </a:xfrm>
        </p:spPr>
        <p:txBody>
          <a:bodyPr/>
          <a:lstStyle/>
          <a:p>
            <a:r>
              <a:rPr lang="en-US" noProof="0" dirty="0">
                <a:solidFill>
                  <a:srgbClr val="822433"/>
                </a:solidFill>
              </a:rPr>
              <a:t>Domain Randomization</a:t>
            </a:r>
          </a:p>
        </p:txBody>
      </p:sp>
      <p:sp>
        <p:nvSpPr>
          <p:cNvPr id="4" name="Google Shape;102;p14">
            <a:extLst>
              <a:ext uri="{FF2B5EF4-FFF2-40B4-BE49-F238E27FC236}">
                <a16:creationId xmlns:a16="http://schemas.microsoft.com/office/drawing/2014/main" id="{7C1776EE-3F55-C714-1960-B2BCB8007483}"/>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15</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09D54CB8-9501-AA7C-79CB-3D9A42572BA3}"/>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088FEC76-8E6B-A884-8112-A7833EBA857C}"/>
              </a:ext>
            </a:extLst>
          </p:cNvPr>
          <p:cNvSpPr>
            <a:spLocks noGrp="1"/>
          </p:cNvSpPr>
          <p:nvPr/>
        </p:nvSpPr>
        <p:spPr>
          <a:xfrm>
            <a:off x="1038225" y="4257171"/>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dirty="0"/>
              <a:t>                               Clear                            			Evident wear                                                                              D: Upper detail</a:t>
            </a:r>
            <a:endParaRPr lang="en-US" sz="1125" b="0" dirty="0">
              <a:solidFill>
                <a:srgbClr val="656B73"/>
              </a:solidFill>
              <a:latin typeface="Roboto"/>
              <a:ea typeface="Roboto"/>
              <a:cs typeface="Roboto"/>
            </a:endParaRPr>
          </a:p>
        </p:txBody>
      </p:sp>
      <p:pic>
        <p:nvPicPr>
          <p:cNvPr id="10" name="Immagine 9">
            <a:extLst>
              <a:ext uri="{FF2B5EF4-FFF2-40B4-BE49-F238E27FC236}">
                <a16:creationId xmlns:a16="http://schemas.microsoft.com/office/drawing/2014/main" id="{A58F344A-DCDD-936D-D98F-983B54CC54EE}"/>
              </a:ext>
            </a:extLst>
          </p:cNvPr>
          <p:cNvPicPr>
            <a:picLocks noChangeAspect="1"/>
          </p:cNvPicPr>
          <p:nvPr/>
        </p:nvPicPr>
        <p:blipFill>
          <a:blip r:embed="rId3"/>
          <a:stretch/>
        </p:blipFill>
        <p:spPr>
          <a:xfrm>
            <a:off x="838200" y="1842697"/>
            <a:ext cx="3158114" cy="2368586"/>
          </a:xfrm>
          <a:prstGeom prst="rect">
            <a:avLst/>
          </a:prstGeom>
          <a:effectLst>
            <a:outerShdw blurRad="50800" dist="38100" dir="2700000" algn="tl" rotWithShape="0">
              <a:prstClr val="black">
                <a:alpha val="40000"/>
              </a:prstClr>
            </a:outerShdw>
          </a:effectLst>
        </p:spPr>
      </p:pic>
      <p:pic>
        <p:nvPicPr>
          <p:cNvPr id="12" name="Immagine 11">
            <a:extLst>
              <a:ext uri="{FF2B5EF4-FFF2-40B4-BE49-F238E27FC236}">
                <a16:creationId xmlns:a16="http://schemas.microsoft.com/office/drawing/2014/main" id="{06C2076E-5370-3A8A-8ABC-6D9793B390EB}"/>
              </a:ext>
            </a:extLst>
          </p:cNvPr>
          <p:cNvPicPr>
            <a:picLocks noChangeAspect="1"/>
          </p:cNvPicPr>
          <p:nvPr/>
        </p:nvPicPr>
        <p:blipFill>
          <a:blip r:embed="rId4"/>
          <a:stretch/>
        </p:blipFill>
        <p:spPr>
          <a:xfrm>
            <a:off x="4438650" y="1842697"/>
            <a:ext cx="3158114" cy="2368586"/>
          </a:xfrm>
          <a:prstGeom prst="rect">
            <a:avLst/>
          </a:prstGeom>
          <a:effectLst>
            <a:outerShdw blurRad="50800" dist="38100" dir="2700000" algn="tl" rotWithShape="0">
              <a:prstClr val="black">
                <a:alpha val="40000"/>
              </a:prstClr>
            </a:outerShdw>
          </a:effectLst>
        </p:spPr>
      </p:pic>
      <p:pic>
        <p:nvPicPr>
          <p:cNvPr id="14" name="Immagine 13">
            <a:extLst>
              <a:ext uri="{FF2B5EF4-FFF2-40B4-BE49-F238E27FC236}">
                <a16:creationId xmlns:a16="http://schemas.microsoft.com/office/drawing/2014/main" id="{6AC8D9D2-1EF9-95F5-CC94-589CD1DC5077}"/>
              </a:ext>
            </a:extLst>
          </p:cNvPr>
          <p:cNvPicPr>
            <a:picLocks noChangeAspect="1"/>
          </p:cNvPicPr>
          <p:nvPr/>
        </p:nvPicPr>
        <p:blipFill>
          <a:blip r:embed="rId5"/>
          <a:stretch/>
        </p:blipFill>
        <p:spPr>
          <a:xfrm>
            <a:off x="8039100" y="1842697"/>
            <a:ext cx="3158114" cy="2368586"/>
          </a:xfrm>
          <a:prstGeom prst="rect">
            <a:avLst/>
          </a:prstGeom>
          <a:effectLst>
            <a:outerShdw blurRad="50800" dist="38100" dir="2700000" algn="tl" rotWithShape="0">
              <a:prstClr val="black">
                <a:alpha val="40000"/>
              </a:prstClr>
            </a:outerShdw>
          </a:effectLst>
        </p:spPr>
      </p:pic>
      <p:sp>
        <p:nvSpPr>
          <p:cNvPr id="16" name="variation12-label-0-0">
            <a:extLst>
              <a:ext uri="{FF2B5EF4-FFF2-40B4-BE49-F238E27FC236}">
                <a16:creationId xmlns:a16="http://schemas.microsoft.com/office/drawing/2014/main" id="{C828AE87-F594-C59C-F2B8-24EE7F9CF067}"/>
              </a:ext>
            </a:extLst>
          </p:cNvPr>
          <p:cNvSpPr>
            <a:spLocks noGrp="1"/>
          </p:cNvSpPr>
          <p:nvPr/>
        </p:nvSpPr>
        <p:spPr>
          <a:xfrm>
            <a:off x="933450" y="4645859"/>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Dusty</a:t>
            </a:r>
          </a:p>
        </p:txBody>
      </p:sp>
      <p:sp>
        <p:nvSpPr>
          <p:cNvPr id="18" name="variation12-share-0-0">
            <a:extLst>
              <a:ext uri="{FF2B5EF4-FFF2-40B4-BE49-F238E27FC236}">
                <a16:creationId xmlns:a16="http://schemas.microsoft.com/office/drawing/2014/main" id="{EBFB5BA4-9CB4-552F-4FE9-88423B188913}"/>
              </a:ext>
            </a:extLst>
          </p:cNvPr>
          <p:cNvSpPr>
            <a:spLocks noGrp="1"/>
          </p:cNvSpPr>
          <p:nvPr/>
        </p:nvSpPr>
        <p:spPr>
          <a:xfrm>
            <a:off x="3124200" y="4645859"/>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dirty="0">
                <a:solidFill>
                  <a:srgbClr val="822433"/>
                </a:solidFill>
                <a:latin typeface="Roboto"/>
                <a:ea typeface="Roboto"/>
                <a:cs typeface="Roboto"/>
              </a:rPr>
              <a:t>75%</a:t>
            </a:r>
          </a:p>
        </p:txBody>
      </p:sp>
      <p:sp>
        <p:nvSpPr>
          <p:cNvPr id="20" name="variation12-label-0-1">
            <a:extLst>
              <a:ext uri="{FF2B5EF4-FFF2-40B4-BE49-F238E27FC236}">
                <a16:creationId xmlns:a16="http://schemas.microsoft.com/office/drawing/2014/main" id="{ACF3ECDA-C4D8-3518-7375-B952321458FA}"/>
              </a:ext>
            </a:extLst>
          </p:cNvPr>
          <p:cNvSpPr>
            <a:spLocks noGrp="1"/>
          </p:cNvSpPr>
          <p:nvPr/>
        </p:nvSpPr>
        <p:spPr>
          <a:xfrm>
            <a:off x="933450" y="4960184"/>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Clear</a:t>
            </a:r>
          </a:p>
        </p:txBody>
      </p:sp>
      <p:sp>
        <p:nvSpPr>
          <p:cNvPr id="22" name="variation12-share-0-1">
            <a:extLst>
              <a:ext uri="{FF2B5EF4-FFF2-40B4-BE49-F238E27FC236}">
                <a16:creationId xmlns:a16="http://schemas.microsoft.com/office/drawing/2014/main" id="{C368179D-6B26-238C-1272-AFB7FAB36A11}"/>
              </a:ext>
            </a:extLst>
          </p:cNvPr>
          <p:cNvSpPr>
            <a:spLocks noGrp="1"/>
          </p:cNvSpPr>
          <p:nvPr/>
        </p:nvSpPr>
        <p:spPr>
          <a:xfrm>
            <a:off x="3124200" y="4960184"/>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dirty="0">
                <a:solidFill>
                  <a:srgbClr val="822433"/>
                </a:solidFill>
                <a:latin typeface="Roboto"/>
                <a:ea typeface="Roboto"/>
                <a:cs typeface="Roboto"/>
              </a:rPr>
              <a:t>25%</a:t>
            </a:r>
          </a:p>
        </p:txBody>
      </p:sp>
      <p:sp>
        <p:nvSpPr>
          <p:cNvPr id="24" name="variation12-label-1-0">
            <a:extLst>
              <a:ext uri="{FF2B5EF4-FFF2-40B4-BE49-F238E27FC236}">
                <a16:creationId xmlns:a16="http://schemas.microsoft.com/office/drawing/2014/main" id="{ED37DD8A-FE8A-B5B1-A743-B051EFB86EC5}"/>
              </a:ext>
            </a:extLst>
          </p:cNvPr>
          <p:cNvSpPr>
            <a:spLocks noGrp="1"/>
          </p:cNvSpPr>
          <p:nvPr/>
        </p:nvSpPr>
        <p:spPr>
          <a:xfrm>
            <a:off x="4533900" y="4645859"/>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No extra wear</a:t>
            </a:r>
          </a:p>
        </p:txBody>
      </p:sp>
      <p:sp>
        <p:nvSpPr>
          <p:cNvPr id="26" name="variation12-share-1-0">
            <a:extLst>
              <a:ext uri="{FF2B5EF4-FFF2-40B4-BE49-F238E27FC236}">
                <a16:creationId xmlns:a16="http://schemas.microsoft.com/office/drawing/2014/main" id="{74C300FF-239B-827A-F1D9-90E653856414}"/>
              </a:ext>
            </a:extLst>
          </p:cNvPr>
          <p:cNvSpPr>
            <a:spLocks noGrp="1"/>
          </p:cNvSpPr>
          <p:nvPr/>
        </p:nvSpPr>
        <p:spPr>
          <a:xfrm>
            <a:off x="6724650" y="4645859"/>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20%</a:t>
            </a:r>
          </a:p>
        </p:txBody>
      </p:sp>
      <p:sp>
        <p:nvSpPr>
          <p:cNvPr id="28" name="variation12-label-1-1">
            <a:extLst>
              <a:ext uri="{FF2B5EF4-FFF2-40B4-BE49-F238E27FC236}">
                <a16:creationId xmlns:a16="http://schemas.microsoft.com/office/drawing/2014/main" id="{4EC5CCDB-A13E-B497-50F7-8840F3748300}"/>
              </a:ext>
            </a:extLst>
          </p:cNvPr>
          <p:cNvSpPr>
            <a:spLocks noGrp="1"/>
          </p:cNvSpPr>
          <p:nvPr/>
        </p:nvSpPr>
        <p:spPr>
          <a:xfrm>
            <a:off x="4533900" y="4960184"/>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Light wear</a:t>
            </a:r>
          </a:p>
        </p:txBody>
      </p:sp>
      <p:sp>
        <p:nvSpPr>
          <p:cNvPr id="30" name="variation12-share-1-1">
            <a:extLst>
              <a:ext uri="{FF2B5EF4-FFF2-40B4-BE49-F238E27FC236}">
                <a16:creationId xmlns:a16="http://schemas.microsoft.com/office/drawing/2014/main" id="{B38AB69A-9FBB-F2DE-0F8A-A8E82F20ADDF}"/>
              </a:ext>
            </a:extLst>
          </p:cNvPr>
          <p:cNvSpPr>
            <a:spLocks noGrp="1"/>
          </p:cNvSpPr>
          <p:nvPr/>
        </p:nvSpPr>
        <p:spPr>
          <a:xfrm>
            <a:off x="6724650" y="4960184"/>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45%</a:t>
            </a:r>
          </a:p>
        </p:txBody>
      </p:sp>
      <p:sp>
        <p:nvSpPr>
          <p:cNvPr id="32" name="variation12-label-1-2">
            <a:extLst>
              <a:ext uri="{FF2B5EF4-FFF2-40B4-BE49-F238E27FC236}">
                <a16:creationId xmlns:a16="http://schemas.microsoft.com/office/drawing/2014/main" id="{2F0304B3-7A68-E53B-99BB-D349F67AE0C7}"/>
              </a:ext>
            </a:extLst>
          </p:cNvPr>
          <p:cNvSpPr>
            <a:spLocks noGrp="1"/>
          </p:cNvSpPr>
          <p:nvPr/>
        </p:nvSpPr>
        <p:spPr>
          <a:xfrm>
            <a:off x="4533900" y="5274509"/>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Evident wear</a:t>
            </a:r>
          </a:p>
        </p:txBody>
      </p:sp>
      <p:sp>
        <p:nvSpPr>
          <p:cNvPr id="34" name="variation12-share-1-2">
            <a:extLst>
              <a:ext uri="{FF2B5EF4-FFF2-40B4-BE49-F238E27FC236}">
                <a16:creationId xmlns:a16="http://schemas.microsoft.com/office/drawing/2014/main" id="{C49F127B-79BB-A0A6-55D4-FA351B9087D7}"/>
              </a:ext>
            </a:extLst>
          </p:cNvPr>
          <p:cNvSpPr>
            <a:spLocks noGrp="1"/>
          </p:cNvSpPr>
          <p:nvPr/>
        </p:nvSpPr>
        <p:spPr>
          <a:xfrm>
            <a:off x="6724650" y="5274509"/>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35%</a:t>
            </a:r>
          </a:p>
        </p:txBody>
      </p:sp>
      <p:sp>
        <p:nvSpPr>
          <p:cNvPr id="36" name="variation12-label-2-0">
            <a:extLst>
              <a:ext uri="{FF2B5EF4-FFF2-40B4-BE49-F238E27FC236}">
                <a16:creationId xmlns:a16="http://schemas.microsoft.com/office/drawing/2014/main" id="{5E05A911-63D5-5D9D-F833-E077225BEDBF}"/>
              </a:ext>
            </a:extLst>
          </p:cNvPr>
          <p:cNvSpPr>
            <a:spLocks noGrp="1"/>
          </p:cNvSpPr>
          <p:nvPr/>
        </p:nvSpPr>
        <p:spPr>
          <a:xfrm>
            <a:off x="8134350" y="4645859"/>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A: Overhead</a:t>
            </a:r>
          </a:p>
        </p:txBody>
      </p:sp>
      <p:sp>
        <p:nvSpPr>
          <p:cNvPr id="38" name="variation12-share-2-0">
            <a:extLst>
              <a:ext uri="{FF2B5EF4-FFF2-40B4-BE49-F238E27FC236}">
                <a16:creationId xmlns:a16="http://schemas.microsoft.com/office/drawing/2014/main" id="{B4E9A15D-758A-4B87-6FA7-9E58209B6E91}"/>
              </a:ext>
            </a:extLst>
          </p:cNvPr>
          <p:cNvSpPr>
            <a:spLocks noGrp="1"/>
          </p:cNvSpPr>
          <p:nvPr/>
        </p:nvSpPr>
        <p:spPr>
          <a:xfrm>
            <a:off x="10325100" y="4645859"/>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40%</a:t>
            </a:r>
          </a:p>
        </p:txBody>
      </p:sp>
      <p:sp>
        <p:nvSpPr>
          <p:cNvPr id="40" name="variation12-label-2-1">
            <a:extLst>
              <a:ext uri="{FF2B5EF4-FFF2-40B4-BE49-F238E27FC236}">
                <a16:creationId xmlns:a16="http://schemas.microsoft.com/office/drawing/2014/main" id="{9DC8C06E-EB5F-A0AD-E291-1F87581F3506}"/>
              </a:ext>
            </a:extLst>
          </p:cNvPr>
          <p:cNvSpPr>
            <a:spLocks noGrp="1"/>
          </p:cNvSpPr>
          <p:nvPr/>
        </p:nvSpPr>
        <p:spPr>
          <a:xfrm>
            <a:off x="8134350" y="4960184"/>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C1: Leading</a:t>
            </a:r>
          </a:p>
        </p:txBody>
      </p:sp>
      <p:sp>
        <p:nvSpPr>
          <p:cNvPr id="42" name="variation12-share-2-1">
            <a:extLst>
              <a:ext uri="{FF2B5EF4-FFF2-40B4-BE49-F238E27FC236}">
                <a16:creationId xmlns:a16="http://schemas.microsoft.com/office/drawing/2014/main" id="{5965B414-5EC6-8E79-9CF8-27DAE16FC60F}"/>
              </a:ext>
            </a:extLst>
          </p:cNvPr>
          <p:cNvSpPr>
            <a:spLocks noGrp="1"/>
          </p:cNvSpPr>
          <p:nvPr/>
        </p:nvSpPr>
        <p:spPr>
          <a:xfrm>
            <a:off x="10325100" y="4960184"/>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27.5%</a:t>
            </a:r>
          </a:p>
        </p:txBody>
      </p:sp>
      <p:sp>
        <p:nvSpPr>
          <p:cNvPr id="44" name="variation12-label-2-2">
            <a:extLst>
              <a:ext uri="{FF2B5EF4-FFF2-40B4-BE49-F238E27FC236}">
                <a16:creationId xmlns:a16="http://schemas.microsoft.com/office/drawing/2014/main" id="{AE57C499-06E0-308C-53AD-D1B7F7EEC148}"/>
              </a:ext>
            </a:extLst>
          </p:cNvPr>
          <p:cNvSpPr>
            <a:spLocks noGrp="1"/>
          </p:cNvSpPr>
          <p:nvPr/>
        </p:nvSpPr>
        <p:spPr>
          <a:xfrm>
            <a:off x="8134350" y="5274509"/>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C2: Trailing</a:t>
            </a:r>
          </a:p>
        </p:txBody>
      </p:sp>
      <p:sp>
        <p:nvSpPr>
          <p:cNvPr id="46" name="variation12-share-2-2">
            <a:extLst>
              <a:ext uri="{FF2B5EF4-FFF2-40B4-BE49-F238E27FC236}">
                <a16:creationId xmlns:a16="http://schemas.microsoft.com/office/drawing/2014/main" id="{35AE90B3-6D18-EEF9-5714-75028E6CBAED}"/>
              </a:ext>
            </a:extLst>
          </p:cNvPr>
          <p:cNvSpPr>
            <a:spLocks noGrp="1"/>
          </p:cNvSpPr>
          <p:nvPr/>
        </p:nvSpPr>
        <p:spPr>
          <a:xfrm>
            <a:off x="10325100" y="5274509"/>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27.5%</a:t>
            </a:r>
          </a:p>
        </p:txBody>
      </p:sp>
      <p:sp>
        <p:nvSpPr>
          <p:cNvPr id="48" name="variation12-label-2-3">
            <a:extLst>
              <a:ext uri="{FF2B5EF4-FFF2-40B4-BE49-F238E27FC236}">
                <a16:creationId xmlns:a16="http://schemas.microsoft.com/office/drawing/2014/main" id="{2F865993-FD2F-8201-7020-4B228EC15C2D}"/>
              </a:ext>
            </a:extLst>
          </p:cNvPr>
          <p:cNvSpPr>
            <a:spLocks noGrp="1"/>
          </p:cNvSpPr>
          <p:nvPr/>
        </p:nvSpPr>
        <p:spPr>
          <a:xfrm>
            <a:off x="8134350" y="5588834"/>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D: Upper detail</a:t>
            </a:r>
          </a:p>
        </p:txBody>
      </p:sp>
      <p:sp>
        <p:nvSpPr>
          <p:cNvPr id="50" name="variation12-share-2-3">
            <a:extLst>
              <a:ext uri="{FF2B5EF4-FFF2-40B4-BE49-F238E27FC236}">
                <a16:creationId xmlns:a16="http://schemas.microsoft.com/office/drawing/2014/main" id="{1769C892-7288-7966-FDC5-E338C523FC3C}"/>
              </a:ext>
            </a:extLst>
          </p:cNvPr>
          <p:cNvSpPr>
            <a:spLocks noGrp="1"/>
          </p:cNvSpPr>
          <p:nvPr/>
        </p:nvSpPr>
        <p:spPr>
          <a:xfrm>
            <a:off x="10325100" y="5588834"/>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5%</a:t>
            </a:r>
          </a:p>
        </p:txBody>
      </p:sp>
      <p:sp>
        <p:nvSpPr>
          <p:cNvPr id="54" name="source-citations">
            <a:extLst>
              <a:ext uri="{FF2B5EF4-FFF2-40B4-BE49-F238E27FC236}">
                <a16:creationId xmlns:a16="http://schemas.microsoft.com/office/drawing/2014/main" id="{002CD51F-28ED-4B5A-E67E-9FFAA44F7DF2}"/>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[14]</a:t>
            </a:r>
          </a:p>
        </p:txBody>
      </p:sp>
    </p:spTree>
    <p:extLst>
      <p:ext uri="{BB962C8B-B14F-4D97-AF65-F5344CB8AC3E}">
        <p14:creationId xmlns:p14="http://schemas.microsoft.com/office/powerpoint/2010/main" val="40535940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E4D9F-3155-055A-38C5-60B758E2E18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7D24C4A-5FF0-D8EC-4305-FC8A8B7BEA37}"/>
              </a:ext>
            </a:extLst>
          </p:cNvPr>
          <p:cNvSpPr>
            <a:spLocks noGrp="1"/>
          </p:cNvSpPr>
          <p:nvPr>
            <p:ph type="title"/>
          </p:nvPr>
        </p:nvSpPr>
        <p:spPr>
          <a:xfrm>
            <a:off x="838200" y="365125"/>
            <a:ext cx="8384177" cy="835787"/>
          </a:xfrm>
        </p:spPr>
        <p:txBody>
          <a:bodyPr/>
          <a:lstStyle/>
          <a:p>
            <a:r>
              <a:rPr lang="en-US" noProof="0" dirty="0">
                <a:solidFill>
                  <a:srgbClr val="822433"/>
                </a:solidFill>
              </a:rPr>
              <a:t>Dataset Composition</a:t>
            </a:r>
          </a:p>
        </p:txBody>
      </p:sp>
      <p:sp>
        <p:nvSpPr>
          <p:cNvPr id="4" name="Google Shape;102;p14">
            <a:extLst>
              <a:ext uri="{FF2B5EF4-FFF2-40B4-BE49-F238E27FC236}">
                <a16:creationId xmlns:a16="http://schemas.microsoft.com/office/drawing/2014/main" id="{AE760294-A9ED-6852-FE55-D254453DA5A5}"/>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16</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E6BD4C08-CCAD-C9DB-7D7D-8D6559A81318}"/>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6" name="Segnaposto contenuto 5">
            <a:extLst>
              <a:ext uri="{FF2B5EF4-FFF2-40B4-BE49-F238E27FC236}">
                <a16:creationId xmlns:a16="http://schemas.microsoft.com/office/drawing/2014/main" id="{4D3A9B68-C251-B335-8A60-AC3AAE2A2262}"/>
              </a:ext>
            </a:extLst>
          </p:cNvPr>
          <p:cNvSpPr>
            <a:spLocks noGrp="1"/>
          </p:cNvSpPr>
          <p:nvPr>
            <p:ph idx="1"/>
          </p:nvPr>
        </p:nvSpPr>
        <p:spPr>
          <a:xfrm>
            <a:off x="838200" y="1825625"/>
            <a:ext cx="10515600" cy="3717925"/>
          </a:xfrm>
        </p:spPr>
        <p:txBody>
          <a:bodyPr/>
          <a:lstStyle/>
          <a:p>
            <a:pPr marL="0" indent="0">
              <a:buNone/>
            </a:pPr>
            <a:r>
              <a:rPr lang="en-US" sz="3600" b="1" noProof="0" dirty="0">
                <a:solidFill>
                  <a:srgbClr val="822433"/>
                </a:solidFill>
              </a:rPr>
              <a:t>10,000</a:t>
            </a:r>
            <a:r>
              <a:rPr lang="en-US" noProof="0" dirty="0"/>
              <a:t> RGB images across all 6 wheels</a:t>
            </a:r>
          </a:p>
          <a:p>
            <a:pPr marL="0" indent="0">
              <a:buNone/>
            </a:pPr>
            <a:r>
              <a:rPr lang="en-US" dirty="0"/>
              <a:t>1200 </a:t>
            </a:r>
            <a:r>
              <a:rPr lang="en-US" dirty="0">
                <a:solidFill>
                  <a:srgbClr val="202124"/>
                </a:solidFill>
                <a:latin typeface="Roboto"/>
                <a:ea typeface="Roboto"/>
                <a:cs typeface="Roboto"/>
              </a:rPr>
              <a:t>×</a:t>
            </a:r>
            <a:r>
              <a:rPr lang="en-US" dirty="0"/>
              <a:t> 900 resolution</a:t>
            </a:r>
          </a:p>
          <a:p>
            <a:pPr marL="0" indent="0">
              <a:buNone/>
            </a:pPr>
            <a:endParaRPr lang="en-US" noProof="0" dirty="0"/>
          </a:p>
          <a:p>
            <a:pPr>
              <a:buFontTx/>
              <a:buChar char="-"/>
            </a:pPr>
            <a:r>
              <a:rPr lang="en-US" noProof="0" dirty="0"/>
              <a:t>Training: 		</a:t>
            </a:r>
            <a:r>
              <a:rPr lang="en-US" b="1" noProof="0" dirty="0">
                <a:solidFill>
                  <a:srgbClr val="822433"/>
                </a:solidFill>
              </a:rPr>
              <a:t>7,000</a:t>
            </a:r>
            <a:r>
              <a:rPr lang="en-US" noProof="0" dirty="0"/>
              <a:t> normal </a:t>
            </a:r>
          </a:p>
          <a:p>
            <a:pPr>
              <a:buFontTx/>
              <a:buChar char="-"/>
            </a:pPr>
            <a:r>
              <a:rPr lang="en-US" noProof="0" dirty="0"/>
              <a:t>Validation	:	   </a:t>
            </a:r>
            <a:r>
              <a:rPr lang="en-US" b="1" noProof="0" dirty="0">
                <a:solidFill>
                  <a:srgbClr val="822433"/>
                </a:solidFill>
              </a:rPr>
              <a:t>750</a:t>
            </a:r>
            <a:r>
              <a:rPr lang="en-US" noProof="0" dirty="0"/>
              <a:t> normal       </a:t>
            </a:r>
            <a:r>
              <a:rPr lang="en-US" b="1" noProof="0" dirty="0">
                <a:solidFill>
                  <a:srgbClr val="822433"/>
                </a:solidFill>
              </a:rPr>
              <a:t>250</a:t>
            </a:r>
            <a:r>
              <a:rPr lang="en-US" noProof="0" dirty="0"/>
              <a:t> perforated</a:t>
            </a:r>
          </a:p>
          <a:p>
            <a:pPr>
              <a:buFontTx/>
              <a:buChar char="-"/>
            </a:pPr>
            <a:r>
              <a:rPr lang="en-US" noProof="0" dirty="0"/>
              <a:t>Test:		</a:t>
            </a:r>
            <a:r>
              <a:rPr lang="en-US" b="1" noProof="0" dirty="0">
                <a:solidFill>
                  <a:srgbClr val="822433"/>
                </a:solidFill>
              </a:rPr>
              <a:t>1,000</a:t>
            </a:r>
            <a:r>
              <a:rPr lang="en-US" noProof="0" dirty="0"/>
              <a:t> normal    </a:t>
            </a:r>
            <a:r>
              <a:rPr lang="en-US" b="1" noProof="0" dirty="0">
                <a:solidFill>
                  <a:srgbClr val="822433"/>
                </a:solidFill>
              </a:rPr>
              <a:t>1,000</a:t>
            </a:r>
            <a:r>
              <a:rPr lang="en-US" noProof="0" dirty="0"/>
              <a:t> perforated</a:t>
            </a:r>
          </a:p>
        </p:txBody>
      </p:sp>
      <p:sp>
        <p:nvSpPr>
          <p:cNvPr id="3" name="TextBox 2">
            <a:extLst>
              <a:ext uri="{FF2B5EF4-FFF2-40B4-BE49-F238E27FC236}">
                <a16:creationId xmlns:a16="http://schemas.microsoft.com/office/drawing/2014/main" id="{877139A3-B9A6-CEED-2633-12DF0C656C08}"/>
              </a:ext>
            </a:extLst>
          </p:cNvPr>
          <p:cNvSpPr txBox="1"/>
          <p:nvPr/>
        </p:nvSpPr>
        <p:spPr>
          <a:xfrm>
            <a:off x="838200" y="5915025"/>
            <a:ext cx="2255746" cy="369332"/>
          </a:xfrm>
          <a:prstGeom prst="rect">
            <a:avLst/>
          </a:prstGeom>
          <a:noFill/>
        </p:spPr>
        <p:txBody>
          <a:bodyPr wrap="none" rtlCol="0">
            <a:spAutoFit/>
          </a:bodyPr>
          <a:lstStyle/>
          <a:p>
            <a:r>
              <a:rPr lang="en-GB" dirty="0">
                <a:solidFill>
                  <a:schemeClr val="tx1">
                    <a:lumMod val="50000"/>
                    <a:lumOff val="50000"/>
                  </a:schemeClr>
                </a:solidFill>
                <a:latin typeface="Roboto" panose="02000000000000000000" pitchFamily="2" charset="0"/>
                <a:ea typeface="Roboto" panose="02000000000000000000" pitchFamily="2" charset="0"/>
                <a:cs typeface="Roboto" panose="02000000000000000000" pitchFamily="2" charset="0"/>
              </a:rPr>
              <a:t>Available on </a:t>
            </a:r>
            <a:r>
              <a:rPr lang="en-GB" dirty="0">
                <a:solidFill>
                  <a:srgbClr val="822433"/>
                </a:solidFill>
                <a:latin typeface="Roboto" panose="02000000000000000000" pitchFamily="2" charset="0"/>
                <a:ea typeface="Roboto" panose="02000000000000000000" pitchFamily="2" charset="0"/>
                <a:cs typeface="Roboto" panose="02000000000000000000" pitchFamily="2" charset="0"/>
                <a:hlinkClick r:id="rId3">
                  <a:extLst>
                    <a:ext uri="{A12FA001-AC4F-418D-AE19-62706E023703}">
                      <ahyp:hlinkClr xmlns:ahyp="http://schemas.microsoft.com/office/drawing/2018/hyperlinkcolor" val="tx"/>
                    </a:ext>
                  </a:extLst>
                </a:hlinkClick>
              </a:rPr>
              <a:t>Kaggle</a:t>
            </a:r>
            <a:endParaRPr lang="en-GB" dirty="0">
              <a:solidFill>
                <a:srgbClr val="822433"/>
              </a:solidFill>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23308683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917CD-A89E-8C54-997C-BA0E00DE8DB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0EAFFA2-E325-B7EB-A1DF-65A026D25762}"/>
              </a:ext>
            </a:extLst>
          </p:cNvPr>
          <p:cNvSpPr>
            <a:spLocks noGrp="1"/>
          </p:cNvSpPr>
          <p:nvPr>
            <p:ph type="title"/>
          </p:nvPr>
        </p:nvSpPr>
        <p:spPr/>
        <p:txBody>
          <a:bodyPr>
            <a:normAutofit/>
          </a:bodyPr>
          <a:lstStyle/>
          <a:p>
            <a:r>
              <a:rPr lang="it-IT" sz="5400" dirty="0" err="1">
                <a:solidFill>
                  <a:srgbClr val="822433"/>
                </a:solidFill>
              </a:rPr>
              <a:t>Synthetic</a:t>
            </a:r>
            <a:r>
              <a:rPr lang="it-IT" sz="5400" dirty="0">
                <a:solidFill>
                  <a:srgbClr val="822433"/>
                </a:solidFill>
              </a:rPr>
              <a:t> </a:t>
            </a:r>
            <a:r>
              <a:rPr lang="it-IT" sz="5400" dirty="0" err="1">
                <a:solidFill>
                  <a:srgbClr val="822433"/>
                </a:solidFill>
              </a:rPr>
              <a:t>Damage</a:t>
            </a:r>
            <a:r>
              <a:rPr lang="it-IT" sz="5400" dirty="0">
                <a:solidFill>
                  <a:srgbClr val="822433"/>
                </a:solidFill>
              </a:rPr>
              <a:t> </a:t>
            </a:r>
            <a:r>
              <a:rPr lang="it-IT" sz="5400" dirty="0" err="1">
                <a:solidFill>
                  <a:srgbClr val="822433"/>
                </a:solidFill>
              </a:rPr>
              <a:t>Inspection</a:t>
            </a:r>
            <a:endParaRPr lang="it-IT" sz="5400" dirty="0">
              <a:solidFill>
                <a:srgbClr val="822433"/>
              </a:solidFill>
            </a:endParaRPr>
          </a:p>
        </p:txBody>
      </p:sp>
      <p:sp>
        <p:nvSpPr>
          <p:cNvPr id="3" name="Segnaposto testo 2">
            <a:extLst>
              <a:ext uri="{FF2B5EF4-FFF2-40B4-BE49-F238E27FC236}">
                <a16:creationId xmlns:a16="http://schemas.microsoft.com/office/drawing/2014/main" id="{013F41C7-15DC-0FAD-374D-EE5514064876}"/>
              </a:ext>
            </a:extLst>
          </p:cNvPr>
          <p:cNvSpPr>
            <a:spLocks noGrp="1"/>
          </p:cNvSpPr>
          <p:nvPr>
            <p:ph type="body" idx="1"/>
          </p:nvPr>
        </p:nvSpPr>
        <p:spPr>
          <a:xfrm>
            <a:off x="844550" y="2576945"/>
            <a:ext cx="10515600" cy="1312315"/>
          </a:xfrm>
        </p:spPr>
        <p:txBody>
          <a:bodyPr>
            <a:normAutofit/>
          </a:bodyPr>
          <a:lstStyle/>
          <a:p>
            <a:r>
              <a:rPr lang="it-IT" dirty="0" err="1"/>
              <a:t>Introduction</a:t>
            </a:r>
            <a:br>
              <a:rPr lang="it-IT" dirty="0"/>
            </a:br>
            <a:r>
              <a:rPr lang="it-IT" dirty="0" err="1">
                <a:solidFill>
                  <a:schemeClr val="bg1">
                    <a:lumMod val="50000"/>
                  </a:schemeClr>
                </a:solidFill>
              </a:rPr>
              <a:t>Lightweight</a:t>
            </a:r>
            <a:r>
              <a:rPr lang="it-IT" dirty="0">
                <a:solidFill>
                  <a:schemeClr val="bg1">
                    <a:lumMod val="50000"/>
                  </a:schemeClr>
                </a:solidFill>
              </a:rPr>
              <a:t> Scene </a:t>
            </a:r>
            <a:r>
              <a:rPr lang="it-IT" dirty="0" err="1">
                <a:solidFill>
                  <a:schemeClr val="bg1">
                    <a:lumMod val="50000"/>
                  </a:schemeClr>
                </a:solidFill>
              </a:rPr>
              <a:t>Understanding</a:t>
            </a:r>
            <a:br>
              <a:rPr lang="it-IT" dirty="0">
                <a:solidFill>
                  <a:schemeClr val="bg1">
                    <a:lumMod val="50000"/>
                  </a:schemeClr>
                </a:solidFill>
              </a:rPr>
            </a:br>
            <a:r>
              <a:rPr lang="it-IT" dirty="0" err="1">
                <a:solidFill>
                  <a:schemeClr val="bg1">
                    <a:lumMod val="50000"/>
                  </a:schemeClr>
                </a:solidFill>
              </a:rPr>
              <a:t>Synthetic</a:t>
            </a:r>
            <a:r>
              <a:rPr lang="it-IT" dirty="0">
                <a:solidFill>
                  <a:schemeClr val="bg1">
                    <a:lumMod val="50000"/>
                  </a:schemeClr>
                </a:solidFill>
              </a:rPr>
              <a:t> Dataset Generation</a:t>
            </a:r>
          </a:p>
        </p:txBody>
      </p:sp>
      <p:sp>
        <p:nvSpPr>
          <p:cNvPr id="4" name="Google Shape;102;p14">
            <a:extLst>
              <a:ext uri="{FF2B5EF4-FFF2-40B4-BE49-F238E27FC236}">
                <a16:creationId xmlns:a16="http://schemas.microsoft.com/office/drawing/2014/main" id="{9CB9DC0C-587C-2A06-FF6D-CEE1DE16D590}"/>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17</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BBA62F15-ABE4-D939-594E-7BF8AE0DD10E}"/>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8" name="Segnaposto testo 2">
            <a:extLst>
              <a:ext uri="{FF2B5EF4-FFF2-40B4-BE49-F238E27FC236}">
                <a16:creationId xmlns:a16="http://schemas.microsoft.com/office/drawing/2014/main" id="{87B65971-BB8B-0232-30D8-0A7A53F2F3E4}"/>
              </a:ext>
            </a:extLst>
          </p:cNvPr>
          <p:cNvSpPr txBox="1">
            <a:spLocks/>
          </p:cNvSpPr>
          <p:nvPr/>
        </p:nvSpPr>
        <p:spPr>
          <a:xfrm>
            <a:off x="844550" y="4562475"/>
            <a:ext cx="10515600" cy="1544003"/>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buFont typeface="Arial" panose="020B0604020202020204" pitchFamily="34" charset="0"/>
              <a:buNone/>
              <a:defRPr sz="24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1pPr>
            <a:lvl2pPr marL="457200" indent="0" algn="l" defTabSz="914400" rtl="0" eaLnBrk="1" latinLnBrk="0" hangingPunct="1">
              <a:lnSpc>
                <a:spcPct val="100000"/>
              </a:lnSpc>
              <a:spcBef>
                <a:spcPts val="500"/>
              </a:spcBef>
              <a:buFont typeface="Arial" panose="020B0604020202020204" pitchFamily="34" charset="0"/>
              <a:buNone/>
              <a:defRPr sz="20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2pPr>
            <a:lvl3pPr marL="914400" indent="0" algn="l" defTabSz="914400" rtl="0" eaLnBrk="1" latinLnBrk="0" hangingPunct="1">
              <a:lnSpc>
                <a:spcPct val="100000"/>
              </a:lnSpc>
              <a:spcBef>
                <a:spcPts val="500"/>
              </a:spcBef>
              <a:buFont typeface="Arial" panose="020B0604020202020204" pitchFamily="34" charset="0"/>
              <a:buNone/>
              <a:defRPr sz="18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3pPr>
            <a:lvl4pPr marL="13716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4pPr>
            <a:lvl5pPr marL="18288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US" dirty="0"/>
              <a:t>Results</a:t>
            </a:r>
            <a:br>
              <a:rPr lang="en-US" dirty="0"/>
            </a:br>
            <a:r>
              <a:rPr lang="en-US" dirty="0"/>
              <a:t>Conclusions</a:t>
            </a:r>
            <a:endParaRPr lang="it-IT" dirty="0"/>
          </a:p>
        </p:txBody>
      </p:sp>
    </p:spTree>
    <p:extLst>
      <p:ext uri="{BB962C8B-B14F-4D97-AF65-F5344CB8AC3E}">
        <p14:creationId xmlns:p14="http://schemas.microsoft.com/office/powerpoint/2010/main" val="7700406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16F0C-E1DC-9135-A3BF-202EE79596B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FFF0E92-6318-FF12-9E93-A6E0A7A4DDAF}"/>
              </a:ext>
            </a:extLst>
          </p:cNvPr>
          <p:cNvSpPr>
            <a:spLocks noGrp="1"/>
          </p:cNvSpPr>
          <p:nvPr>
            <p:ph type="title"/>
          </p:nvPr>
        </p:nvSpPr>
        <p:spPr>
          <a:xfrm>
            <a:off x="838200" y="365125"/>
            <a:ext cx="8384177" cy="835787"/>
          </a:xfrm>
        </p:spPr>
        <p:txBody>
          <a:bodyPr/>
          <a:lstStyle/>
          <a:p>
            <a:r>
              <a:rPr lang="en-US" noProof="0" dirty="0">
                <a:solidFill>
                  <a:srgbClr val="822433"/>
                </a:solidFill>
              </a:rPr>
              <a:t>Anomaly Detection</a:t>
            </a:r>
          </a:p>
        </p:txBody>
      </p:sp>
      <p:sp>
        <p:nvSpPr>
          <p:cNvPr id="4" name="Google Shape;102;p14">
            <a:extLst>
              <a:ext uri="{FF2B5EF4-FFF2-40B4-BE49-F238E27FC236}">
                <a16:creationId xmlns:a16="http://schemas.microsoft.com/office/drawing/2014/main" id="{2B2751E7-11E9-9F59-E07F-6E1D66D2EAC5}"/>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18</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2BFF42B6-9D65-E0FA-FC28-94072484696F}"/>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9EA4E498-8EC1-FA09-BF6A-B2B5235B71C2}"/>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[15]</a:t>
            </a:r>
          </a:p>
        </p:txBody>
      </p:sp>
      <p:pic>
        <p:nvPicPr>
          <p:cNvPr id="10" name="Immagine 9">
            <a:extLst>
              <a:ext uri="{FF2B5EF4-FFF2-40B4-BE49-F238E27FC236}">
                <a16:creationId xmlns:a16="http://schemas.microsoft.com/office/drawing/2014/main" id="{6AADA56E-B9AC-B244-2673-968B448EB2AB}"/>
              </a:ext>
            </a:extLst>
          </p:cNvPr>
          <p:cNvPicPr>
            <a:picLocks noChangeAspect="1"/>
          </p:cNvPicPr>
          <p:nvPr/>
        </p:nvPicPr>
        <p:blipFill>
          <a:blip r:embed="rId3"/>
          <a:stretch/>
        </p:blipFill>
        <p:spPr>
          <a:xfrm>
            <a:off x="1047750" y="1543050"/>
            <a:ext cx="5524500" cy="4143375"/>
          </a:xfrm>
          <a:prstGeom prst="rect">
            <a:avLst/>
          </a:prstGeom>
        </p:spPr>
      </p:pic>
      <p:sp>
        <p:nvSpPr>
          <p:cNvPr id="11" name="CasellaDiTesto 10">
            <a:extLst>
              <a:ext uri="{FF2B5EF4-FFF2-40B4-BE49-F238E27FC236}">
                <a16:creationId xmlns:a16="http://schemas.microsoft.com/office/drawing/2014/main" id="{5CAAC85F-4061-995C-5E1B-6CC36B47291C}"/>
              </a:ext>
            </a:extLst>
          </p:cNvPr>
          <p:cNvSpPr txBox="1"/>
          <p:nvPr/>
        </p:nvSpPr>
        <p:spPr>
          <a:xfrm>
            <a:off x="6890892" y="1835094"/>
            <a:ext cx="3780202" cy="2246769"/>
          </a:xfrm>
          <a:prstGeom prst="rect">
            <a:avLst/>
          </a:prstGeom>
          <a:noFill/>
        </p:spPr>
        <p:txBody>
          <a:bodyPr wrap="none" rtlCol="0">
            <a:spAutoFit/>
          </a:bodyPr>
          <a:lstStyle/>
          <a:p>
            <a:r>
              <a:rPr lang="en-US" sz="2000" noProof="0" dirty="0">
                <a:latin typeface="Roboto" panose="02000000000000000000" pitchFamily="2" charset="0"/>
                <a:ea typeface="Roboto" panose="02000000000000000000" pitchFamily="2" charset="0"/>
              </a:rPr>
              <a:t>Aims to learn the normal </a:t>
            </a:r>
            <a:r>
              <a:rPr lang="en-US" sz="2000" noProof="0" dirty="0">
                <a:solidFill>
                  <a:srgbClr val="822433"/>
                </a:solidFill>
                <a:latin typeface="Roboto" panose="02000000000000000000" pitchFamily="2" charset="0"/>
                <a:ea typeface="Roboto" panose="02000000000000000000" pitchFamily="2" charset="0"/>
              </a:rPr>
              <a:t>wheel</a:t>
            </a:r>
            <a:r>
              <a:rPr lang="en-US" sz="2000" noProof="0" dirty="0">
                <a:latin typeface="Roboto" panose="02000000000000000000" pitchFamily="2" charset="0"/>
                <a:ea typeface="Roboto" panose="02000000000000000000" pitchFamily="2" charset="0"/>
              </a:rPr>
              <a:t> </a:t>
            </a:r>
          </a:p>
          <a:p>
            <a:r>
              <a:rPr lang="en-US" sz="2000" noProof="0" dirty="0">
                <a:solidFill>
                  <a:srgbClr val="822433"/>
                </a:solidFill>
                <a:latin typeface="Roboto" panose="02000000000000000000" pitchFamily="2" charset="0"/>
                <a:ea typeface="Roboto" panose="02000000000000000000" pitchFamily="2" charset="0"/>
              </a:rPr>
              <a:t>appearance</a:t>
            </a:r>
            <a:r>
              <a:rPr lang="en-US" sz="2000" noProof="0" dirty="0">
                <a:latin typeface="Roboto" panose="02000000000000000000" pitchFamily="2" charset="0"/>
                <a:ea typeface="Roboto" panose="02000000000000000000" pitchFamily="2" charset="0"/>
              </a:rPr>
              <a:t> </a:t>
            </a:r>
            <a:r>
              <a:rPr lang="en-US" sz="2000" dirty="0">
                <a:latin typeface="Roboto" panose="02000000000000000000" pitchFamily="2" charset="0"/>
                <a:ea typeface="Roboto" panose="02000000000000000000" pitchFamily="2" charset="0"/>
              </a:rPr>
              <a:t>to detect and</a:t>
            </a:r>
          </a:p>
          <a:p>
            <a:r>
              <a:rPr lang="en-US" sz="2000" dirty="0">
                <a:latin typeface="Roboto" panose="02000000000000000000" pitchFamily="2" charset="0"/>
                <a:ea typeface="Roboto" panose="02000000000000000000" pitchFamily="2" charset="0"/>
              </a:rPr>
              <a:t>localize </a:t>
            </a:r>
            <a:r>
              <a:rPr lang="en-US" sz="2000" dirty="0">
                <a:solidFill>
                  <a:srgbClr val="822433"/>
                </a:solidFill>
                <a:latin typeface="Roboto" panose="02000000000000000000" pitchFamily="2" charset="0"/>
                <a:ea typeface="Roboto" panose="02000000000000000000" pitchFamily="2" charset="0"/>
              </a:rPr>
              <a:t>potential damage</a:t>
            </a:r>
            <a:endParaRPr lang="en-US" sz="2000" noProof="0" dirty="0">
              <a:solidFill>
                <a:srgbClr val="822433"/>
              </a:solidFill>
              <a:latin typeface="Roboto" panose="02000000000000000000" pitchFamily="2" charset="0"/>
              <a:ea typeface="Roboto" panose="02000000000000000000" pitchFamily="2" charset="0"/>
            </a:endParaRPr>
          </a:p>
          <a:p>
            <a:endParaRPr lang="en-US" sz="2000" noProof="0" dirty="0">
              <a:latin typeface="Roboto" panose="02000000000000000000" pitchFamily="2" charset="0"/>
              <a:ea typeface="Roboto" panose="02000000000000000000" pitchFamily="2" charset="0"/>
            </a:endParaRPr>
          </a:p>
          <a:p>
            <a:endParaRPr lang="en-US" sz="2000" noProof="0" dirty="0">
              <a:latin typeface="Roboto" panose="02000000000000000000" pitchFamily="2" charset="0"/>
              <a:ea typeface="Roboto" panose="02000000000000000000" pitchFamily="2" charset="0"/>
            </a:endParaRPr>
          </a:p>
          <a:p>
            <a:endParaRPr lang="en-US" sz="2000" b="1" noProof="0" dirty="0">
              <a:latin typeface="Roboto" panose="02000000000000000000" pitchFamily="2" charset="0"/>
              <a:ea typeface="Roboto" panose="02000000000000000000" pitchFamily="2" charset="0"/>
            </a:endParaRPr>
          </a:p>
          <a:p>
            <a:r>
              <a:rPr lang="en-US" sz="2000" b="1" noProof="0" dirty="0">
                <a:solidFill>
                  <a:srgbClr val="822433"/>
                </a:solidFill>
                <a:latin typeface="Roboto" panose="02000000000000000000" pitchFamily="2" charset="0"/>
                <a:ea typeface="Roboto" panose="02000000000000000000" pitchFamily="2" charset="0"/>
              </a:rPr>
              <a:t>Normal-only training</a:t>
            </a:r>
          </a:p>
        </p:txBody>
      </p:sp>
      <p:sp>
        <p:nvSpPr>
          <p:cNvPr id="24" name="CasellaDiTesto 23">
            <a:extLst>
              <a:ext uri="{FF2B5EF4-FFF2-40B4-BE49-F238E27FC236}">
                <a16:creationId xmlns:a16="http://schemas.microsoft.com/office/drawing/2014/main" id="{0F20E36A-F169-7BCF-59DC-369F250C84F9}"/>
              </a:ext>
            </a:extLst>
          </p:cNvPr>
          <p:cNvSpPr txBox="1"/>
          <p:nvPr/>
        </p:nvSpPr>
        <p:spPr>
          <a:xfrm>
            <a:off x="7334477" y="4090490"/>
            <a:ext cx="3789820" cy="369332"/>
          </a:xfrm>
          <a:prstGeom prst="rect">
            <a:avLst/>
          </a:prstGeom>
          <a:noFill/>
        </p:spPr>
        <p:txBody>
          <a:bodyPr wrap="none" rtlCol="0">
            <a:spAutoFit/>
          </a:bodyPr>
          <a:lstStyle/>
          <a:p>
            <a:r>
              <a:rPr lang="en-US" b="1" noProof="0" dirty="0">
                <a:solidFill>
                  <a:srgbClr val="822433"/>
                </a:solidFill>
                <a:latin typeface="Roboto" panose="02000000000000000000" pitchFamily="2" charset="0"/>
                <a:ea typeface="Roboto" panose="02000000000000000000" pitchFamily="2" charset="0"/>
              </a:rPr>
              <a:t>Detection</a:t>
            </a:r>
            <a:r>
              <a:rPr lang="en-US" noProof="0" dirty="0">
                <a:latin typeface="Roboto" panose="02000000000000000000" pitchFamily="2" charset="0"/>
                <a:ea typeface="Roboto" panose="02000000000000000000" pitchFamily="2" charset="0"/>
              </a:rPr>
              <a:t>:     Image anomaly score</a:t>
            </a:r>
          </a:p>
        </p:txBody>
      </p:sp>
      <p:sp>
        <p:nvSpPr>
          <p:cNvPr id="25" name="CasellaDiTesto 24">
            <a:extLst>
              <a:ext uri="{FF2B5EF4-FFF2-40B4-BE49-F238E27FC236}">
                <a16:creationId xmlns:a16="http://schemas.microsoft.com/office/drawing/2014/main" id="{A357012D-A4A3-3CBD-B604-3126495629FF}"/>
              </a:ext>
            </a:extLst>
          </p:cNvPr>
          <p:cNvSpPr txBox="1"/>
          <p:nvPr/>
        </p:nvSpPr>
        <p:spPr>
          <a:xfrm>
            <a:off x="7334477" y="4603199"/>
            <a:ext cx="3671198" cy="369332"/>
          </a:xfrm>
          <a:prstGeom prst="rect">
            <a:avLst/>
          </a:prstGeom>
          <a:noFill/>
        </p:spPr>
        <p:txBody>
          <a:bodyPr wrap="none" rtlCol="0">
            <a:spAutoFit/>
          </a:bodyPr>
          <a:lstStyle/>
          <a:p>
            <a:r>
              <a:rPr lang="en-US" b="1" noProof="0" dirty="0">
                <a:solidFill>
                  <a:srgbClr val="822433"/>
                </a:solidFill>
                <a:latin typeface="Roboto" panose="02000000000000000000" pitchFamily="2" charset="0"/>
                <a:ea typeface="Roboto" panose="02000000000000000000" pitchFamily="2" charset="0"/>
              </a:rPr>
              <a:t>Localization</a:t>
            </a:r>
            <a:r>
              <a:rPr lang="en-US" noProof="0" dirty="0">
                <a:latin typeface="Roboto" panose="02000000000000000000" pitchFamily="2" charset="0"/>
                <a:ea typeface="Roboto" panose="02000000000000000000" pitchFamily="2" charset="0"/>
              </a:rPr>
              <a:t>: Spatial anomaly map</a:t>
            </a:r>
          </a:p>
        </p:txBody>
      </p:sp>
      <p:pic>
        <p:nvPicPr>
          <p:cNvPr id="27" name="Immagine 26">
            <a:extLst>
              <a:ext uri="{FF2B5EF4-FFF2-40B4-BE49-F238E27FC236}">
                <a16:creationId xmlns:a16="http://schemas.microsoft.com/office/drawing/2014/main" id="{92B89F20-AF53-04D8-798E-7EC7CF633F68}"/>
              </a:ext>
            </a:extLst>
          </p:cNvPr>
          <p:cNvPicPr>
            <a:picLocks noChangeAspect="1"/>
          </p:cNvPicPr>
          <p:nvPr/>
        </p:nvPicPr>
        <p:blipFill>
          <a:blip r:embed="rId4">
            <a:duotone>
              <a:schemeClr val="accent2">
                <a:shade val="45000"/>
                <a:satMod val="135000"/>
              </a:schemeClr>
              <a:prstClr val="white"/>
            </a:duotone>
          </a:blip>
          <a:stretch>
            <a:fillRect/>
          </a:stretch>
        </p:blipFill>
        <p:spPr>
          <a:xfrm>
            <a:off x="7036016" y="4144524"/>
            <a:ext cx="298461" cy="298461"/>
          </a:xfrm>
          <a:prstGeom prst="rect">
            <a:avLst/>
          </a:prstGeom>
          <a:effectLst>
            <a:outerShdw blurRad="50800" dist="38100" dir="2700000" algn="tl" rotWithShape="0">
              <a:prstClr val="black">
                <a:alpha val="40000"/>
              </a:prstClr>
            </a:outerShdw>
          </a:effectLst>
        </p:spPr>
      </p:pic>
      <p:pic>
        <p:nvPicPr>
          <p:cNvPr id="29" name="Immagine 28">
            <a:extLst>
              <a:ext uri="{FF2B5EF4-FFF2-40B4-BE49-F238E27FC236}">
                <a16:creationId xmlns:a16="http://schemas.microsoft.com/office/drawing/2014/main" id="{54E61213-F313-8AE1-BFE9-5D328EBA6F83}"/>
              </a:ext>
            </a:extLst>
          </p:cNvPr>
          <p:cNvPicPr>
            <a:picLocks noChangeAspect="1"/>
          </p:cNvPicPr>
          <p:nvPr/>
        </p:nvPicPr>
        <p:blipFill>
          <a:blip r:embed="rId5">
            <a:duotone>
              <a:schemeClr val="accent2">
                <a:shade val="45000"/>
                <a:satMod val="135000"/>
              </a:schemeClr>
              <a:prstClr val="white"/>
            </a:duotone>
          </a:blip>
          <a:stretch>
            <a:fillRect/>
          </a:stretch>
        </p:blipFill>
        <p:spPr>
          <a:xfrm>
            <a:off x="6926874" y="4527005"/>
            <a:ext cx="502890" cy="502890"/>
          </a:xfrm>
          <a:prstGeom prst="rect">
            <a:avLst/>
          </a:prstGeom>
          <a:effectLst>
            <a:outerShdw blurRad="50800" dist="38100" dir="2700000" algn="tl" rotWithShape="0">
              <a:prstClr val="black">
                <a:alpha val="40000"/>
              </a:prstClr>
            </a:outerShdw>
          </a:effectLst>
        </p:spPr>
      </p:pic>
      <p:sp>
        <p:nvSpPr>
          <p:cNvPr id="30" name="CasellaDiTesto 29">
            <a:extLst>
              <a:ext uri="{FF2B5EF4-FFF2-40B4-BE49-F238E27FC236}">
                <a16:creationId xmlns:a16="http://schemas.microsoft.com/office/drawing/2014/main" id="{27283E1F-1155-CFB6-BE3B-6E7818FC4B55}"/>
              </a:ext>
            </a:extLst>
          </p:cNvPr>
          <p:cNvSpPr txBox="1"/>
          <p:nvPr/>
        </p:nvSpPr>
        <p:spPr>
          <a:xfrm>
            <a:off x="2554468" y="5662325"/>
            <a:ext cx="2327881" cy="276999"/>
          </a:xfrm>
          <a:prstGeom prst="rect">
            <a:avLst/>
          </a:prstGeom>
          <a:noFill/>
        </p:spPr>
        <p:txBody>
          <a:bodyPr wrap="none" rtlCol="0">
            <a:spAutoFit/>
          </a:bodyPr>
          <a:lstStyle/>
          <a:p>
            <a:r>
              <a:rPr lang="it-IT" sz="1200" dirty="0">
                <a:solidFill>
                  <a:schemeClr val="bg1">
                    <a:lumMod val="50000"/>
                  </a:schemeClr>
                </a:solidFill>
                <a:latin typeface="Roboto" panose="02000000000000000000" pitchFamily="2" charset="0"/>
                <a:ea typeface="Roboto" panose="02000000000000000000" pitchFamily="2" charset="0"/>
              </a:rPr>
              <a:t>Normal </a:t>
            </a:r>
            <a:r>
              <a:rPr lang="en-US" sz="1200" dirty="0">
                <a:solidFill>
                  <a:schemeClr val="bg1">
                    <a:lumMod val="50000"/>
                  </a:schemeClr>
                </a:solidFill>
                <a:latin typeface="Roboto" panose="02000000000000000000" pitchFamily="2" charset="0"/>
                <a:ea typeface="Roboto" panose="02000000000000000000" pitchFamily="2" charset="0"/>
              </a:rPr>
              <a:t>synthetic</a:t>
            </a:r>
            <a:r>
              <a:rPr lang="it-IT" sz="1200" dirty="0">
                <a:solidFill>
                  <a:schemeClr val="bg1">
                    <a:lumMod val="50000"/>
                  </a:schemeClr>
                </a:solidFill>
                <a:latin typeface="Roboto" panose="02000000000000000000" pitchFamily="2" charset="0"/>
                <a:ea typeface="Roboto" panose="02000000000000000000" pitchFamily="2" charset="0"/>
              </a:rPr>
              <a:t> wheel sample</a:t>
            </a:r>
          </a:p>
        </p:txBody>
      </p:sp>
    </p:spTree>
    <p:extLst>
      <p:ext uri="{BB962C8B-B14F-4D97-AF65-F5344CB8AC3E}">
        <p14:creationId xmlns:p14="http://schemas.microsoft.com/office/powerpoint/2010/main" val="22907595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529E9-8DAA-19EB-DA9B-9BD50D3B65D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B21507F-6DC3-4D1C-B079-DC6ABD8EC1C1}"/>
              </a:ext>
            </a:extLst>
          </p:cNvPr>
          <p:cNvSpPr>
            <a:spLocks noGrp="1"/>
          </p:cNvSpPr>
          <p:nvPr>
            <p:ph type="title"/>
          </p:nvPr>
        </p:nvSpPr>
        <p:spPr>
          <a:xfrm>
            <a:off x="838200" y="365125"/>
            <a:ext cx="8384177" cy="835787"/>
          </a:xfrm>
        </p:spPr>
        <p:txBody>
          <a:bodyPr/>
          <a:lstStyle/>
          <a:p>
            <a:r>
              <a:rPr lang="en-US" noProof="0" dirty="0">
                <a:solidFill>
                  <a:srgbClr val="822433"/>
                </a:solidFill>
              </a:rPr>
              <a:t>Model Architectures</a:t>
            </a:r>
          </a:p>
        </p:txBody>
      </p:sp>
      <p:sp>
        <p:nvSpPr>
          <p:cNvPr id="4" name="Google Shape;102;p14">
            <a:extLst>
              <a:ext uri="{FF2B5EF4-FFF2-40B4-BE49-F238E27FC236}">
                <a16:creationId xmlns:a16="http://schemas.microsoft.com/office/drawing/2014/main" id="{2676A94E-8046-6200-5EA9-30266E8EEC29}"/>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19</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59FC8543-76DD-1F73-D96A-3CE0E7C051FB}"/>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6" name="Segnaposto contenuto 5">
            <a:extLst>
              <a:ext uri="{FF2B5EF4-FFF2-40B4-BE49-F238E27FC236}">
                <a16:creationId xmlns:a16="http://schemas.microsoft.com/office/drawing/2014/main" id="{DB63DC6A-2AFE-6443-0785-55F1EA05A94B}"/>
              </a:ext>
            </a:extLst>
          </p:cNvPr>
          <p:cNvSpPr>
            <a:spLocks noGrp="1"/>
          </p:cNvSpPr>
          <p:nvPr>
            <p:ph idx="1"/>
          </p:nvPr>
        </p:nvSpPr>
        <p:spPr>
          <a:xfrm>
            <a:off x="1184564" y="2407517"/>
            <a:ext cx="4572000" cy="4351338"/>
          </a:xfrm>
        </p:spPr>
        <p:txBody>
          <a:bodyPr/>
          <a:lstStyle/>
          <a:p>
            <a:pPr marL="0" indent="0">
              <a:buNone/>
            </a:pPr>
            <a:r>
              <a:rPr lang="en-US" noProof="0" dirty="0"/>
              <a:t>1 </a:t>
            </a:r>
            <a:r>
              <a:rPr lang="en-US" b="1" noProof="0" dirty="0">
                <a:solidFill>
                  <a:srgbClr val="822433"/>
                </a:solidFill>
              </a:rPr>
              <a:t>PatchCore</a:t>
            </a:r>
            <a:br>
              <a:rPr lang="en-US" b="1" noProof="0" dirty="0">
                <a:solidFill>
                  <a:srgbClr val="822433"/>
                </a:solidFill>
              </a:rPr>
            </a:br>
            <a:r>
              <a:rPr lang="en-US" sz="2200" b="1" noProof="0" dirty="0">
                <a:solidFill>
                  <a:srgbClr val="822433"/>
                </a:solidFill>
              </a:rPr>
              <a:t>- </a:t>
            </a:r>
            <a:r>
              <a:rPr lang="en-US" sz="2200" noProof="0" dirty="0"/>
              <a:t>Stores normal patch features</a:t>
            </a:r>
            <a:br>
              <a:rPr lang="en-US" sz="2200" noProof="0" dirty="0"/>
            </a:br>
            <a:r>
              <a:rPr lang="en-US" sz="2200" noProof="0" dirty="0"/>
              <a:t>  in a </a:t>
            </a:r>
            <a:r>
              <a:rPr lang="en-US" sz="2200" noProof="0" dirty="0">
                <a:solidFill>
                  <a:srgbClr val="822433"/>
                </a:solidFill>
              </a:rPr>
              <a:t>memory bank</a:t>
            </a:r>
          </a:p>
          <a:p>
            <a:pPr marL="0" indent="0">
              <a:buNone/>
            </a:pPr>
            <a:r>
              <a:rPr lang="en-US" sz="2200" noProof="0" dirty="0">
                <a:solidFill>
                  <a:srgbClr val="822433"/>
                </a:solidFill>
              </a:rPr>
              <a:t>-</a:t>
            </a:r>
            <a:r>
              <a:rPr lang="en-US" sz="2200" noProof="0" dirty="0"/>
              <a:t> Detects anomalies through</a:t>
            </a:r>
            <a:br>
              <a:rPr lang="en-US" sz="2200" noProof="0" dirty="0"/>
            </a:br>
            <a:r>
              <a:rPr lang="en-US" sz="2200" noProof="0" dirty="0"/>
              <a:t>  </a:t>
            </a:r>
            <a:r>
              <a:rPr lang="en-US" sz="2200" noProof="0" dirty="0">
                <a:solidFill>
                  <a:srgbClr val="822433"/>
                </a:solidFill>
              </a:rPr>
              <a:t>nearest-neighbor</a:t>
            </a:r>
            <a:r>
              <a:rPr lang="en-US" sz="2200" noProof="0" dirty="0"/>
              <a:t> feature</a:t>
            </a:r>
            <a:br>
              <a:rPr lang="en-US" sz="2200" noProof="0" dirty="0"/>
            </a:br>
            <a:r>
              <a:rPr lang="en-US" sz="2200" noProof="0" dirty="0"/>
              <a:t>  distances</a:t>
            </a:r>
          </a:p>
          <a:p>
            <a:pPr marL="0" indent="0">
              <a:buNone/>
            </a:pPr>
            <a:r>
              <a:rPr lang="en-US" sz="2200" noProof="0" dirty="0">
                <a:solidFill>
                  <a:srgbClr val="822433"/>
                </a:solidFill>
              </a:rPr>
              <a:t>-</a:t>
            </a:r>
            <a:r>
              <a:rPr lang="en-US" sz="2200" noProof="0" dirty="0"/>
              <a:t> </a:t>
            </a:r>
            <a:r>
              <a:rPr lang="en-US" sz="2200" noProof="0" dirty="0">
                <a:solidFill>
                  <a:schemeClr val="tx1">
                    <a:lumMod val="95000"/>
                    <a:lumOff val="5000"/>
                  </a:schemeClr>
                </a:solidFill>
              </a:rPr>
              <a:t>Two backbones: ResNet18</a:t>
            </a:r>
            <a:br>
              <a:rPr lang="en-US" sz="2200" noProof="0" dirty="0">
                <a:solidFill>
                  <a:schemeClr val="tx1">
                    <a:lumMod val="95000"/>
                    <a:lumOff val="5000"/>
                  </a:schemeClr>
                </a:solidFill>
              </a:rPr>
            </a:br>
            <a:r>
              <a:rPr lang="en-US" sz="2200" noProof="0" dirty="0">
                <a:solidFill>
                  <a:schemeClr val="tx1">
                    <a:lumMod val="95000"/>
                    <a:lumOff val="5000"/>
                  </a:schemeClr>
                </a:solidFill>
              </a:rPr>
              <a:t>  (</a:t>
            </a:r>
            <a:r>
              <a:rPr lang="en-US" sz="2200" noProof="0" dirty="0">
                <a:solidFill>
                  <a:srgbClr val="822433"/>
                </a:solidFill>
              </a:rPr>
              <a:t>PC-S</a:t>
            </a:r>
            <a:r>
              <a:rPr lang="en-US" sz="2200" noProof="0" dirty="0">
                <a:solidFill>
                  <a:schemeClr val="tx1">
                    <a:lumMod val="95000"/>
                    <a:lumOff val="5000"/>
                  </a:schemeClr>
                </a:solidFill>
              </a:rPr>
              <a:t>) or WideResNet50-2 (</a:t>
            </a:r>
            <a:r>
              <a:rPr lang="en-US" sz="2200" noProof="0" dirty="0">
                <a:solidFill>
                  <a:srgbClr val="822433"/>
                </a:solidFill>
              </a:rPr>
              <a:t>PC-L</a:t>
            </a:r>
            <a:r>
              <a:rPr lang="en-US" sz="2200" noProof="0" dirty="0">
                <a:solidFill>
                  <a:schemeClr val="tx1">
                    <a:lumMod val="95000"/>
                    <a:lumOff val="5000"/>
                  </a:schemeClr>
                </a:solidFill>
              </a:rPr>
              <a:t>)</a:t>
            </a:r>
            <a:br>
              <a:rPr lang="en-US" noProof="0" dirty="0"/>
            </a:br>
            <a:endParaRPr lang="en-US" noProof="0" dirty="0"/>
          </a:p>
        </p:txBody>
      </p:sp>
      <p:sp>
        <p:nvSpPr>
          <p:cNvPr id="9" name="source-citations">
            <a:extLst>
              <a:ext uri="{FF2B5EF4-FFF2-40B4-BE49-F238E27FC236}">
                <a16:creationId xmlns:a16="http://schemas.microsoft.com/office/drawing/2014/main" id="{FF0C7D20-FDBE-3097-DEBF-FC6DFE09DA57}"/>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[16] [17]</a:t>
            </a:r>
          </a:p>
        </p:txBody>
      </p:sp>
      <p:sp>
        <p:nvSpPr>
          <p:cNvPr id="3" name="Segnaposto contenuto 5">
            <a:extLst>
              <a:ext uri="{FF2B5EF4-FFF2-40B4-BE49-F238E27FC236}">
                <a16:creationId xmlns:a16="http://schemas.microsoft.com/office/drawing/2014/main" id="{404C3DFA-4218-8A1C-DD93-995D60F71277}"/>
              </a:ext>
            </a:extLst>
          </p:cNvPr>
          <p:cNvSpPr txBox="1">
            <a:spLocks/>
          </p:cNvSpPr>
          <p:nvPr/>
        </p:nvSpPr>
        <p:spPr>
          <a:xfrm>
            <a:off x="6352032" y="2407517"/>
            <a:ext cx="4572000" cy="4351338"/>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Roboto" panose="02000000000000000000" pitchFamily="2"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Roboto" panose="02000000000000000000" pitchFamily="2"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Roboto" panose="02000000000000000000" pitchFamily="2"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noProof="0" dirty="0"/>
              <a:t>2 </a:t>
            </a:r>
            <a:r>
              <a:rPr lang="en-US" b="1" noProof="0" dirty="0">
                <a:solidFill>
                  <a:srgbClr val="822433"/>
                </a:solidFill>
              </a:rPr>
              <a:t>EfficientAD-S</a:t>
            </a:r>
            <a:br>
              <a:rPr lang="en-US" b="1" noProof="0" dirty="0">
                <a:solidFill>
                  <a:srgbClr val="822433"/>
                </a:solidFill>
              </a:rPr>
            </a:br>
            <a:r>
              <a:rPr lang="en-US" sz="2200" b="1" noProof="0" dirty="0">
                <a:solidFill>
                  <a:srgbClr val="822433"/>
                </a:solidFill>
              </a:rPr>
              <a:t>- </a:t>
            </a:r>
            <a:r>
              <a:rPr lang="en-US" sz="2200" noProof="0" dirty="0"/>
              <a:t>A </a:t>
            </a:r>
            <a:r>
              <a:rPr lang="en-US" sz="2200" noProof="0" dirty="0">
                <a:solidFill>
                  <a:srgbClr val="822433"/>
                </a:solidFill>
              </a:rPr>
              <a:t>students</a:t>
            </a:r>
            <a:r>
              <a:rPr lang="en-US" sz="2200" noProof="0" dirty="0"/>
              <a:t> learns to reproduce a</a:t>
            </a:r>
            <a:br>
              <a:rPr lang="en-US" sz="2200" noProof="0" dirty="0"/>
            </a:br>
            <a:r>
              <a:rPr lang="en-US" sz="2200" noProof="0" dirty="0"/>
              <a:t>  </a:t>
            </a:r>
            <a:r>
              <a:rPr lang="en-US" sz="2200" noProof="0" dirty="0">
                <a:solidFill>
                  <a:srgbClr val="822433"/>
                </a:solidFill>
              </a:rPr>
              <a:t>frozen</a:t>
            </a:r>
            <a:r>
              <a:rPr lang="en-US" sz="2200" noProof="0" dirty="0"/>
              <a:t> </a:t>
            </a:r>
            <a:r>
              <a:rPr lang="en-US" sz="2200" noProof="0" dirty="0">
                <a:solidFill>
                  <a:srgbClr val="822433"/>
                </a:solidFill>
              </a:rPr>
              <a:t>teacher</a:t>
            </a:r>
            <a:r>
              <a:rPr lang="en-US" sz="2200" noProof="0" dirty="0"/>
              <a:t>’s normal features</a:t>
            </a:r>
          </a:p>
          <a:p>
            <a:pPr marL="0" indent="0">
              <a:buFont typeface="Arial" panose="020B0604020202020204" pitchFamily="34" charset="0"/>
              <a:buNone/>
            </a:pPr>
            <a:r>
              <a:rPr lang="en-US" sz="2200" noProof="0" dirty="0">
                <a:solidFill>
                  <a:srgbClr val="822433"/>
                </a:solidFill>
              </a:rPr>
              <a:t>-</a:t>
            </a:r>
            <a:r>
              <a:rPr lang="en-US" sz="2200" noProof="0" dirty="0"/>
              <a:t> Teacher-student </a:t>
            </a:r>
            <a:r>
              <a:rPr lang="en-US" sz="2200" noProof="0" dirty="0">
                <a:solidFill>
                  <a:srgbClr val="822433"/>
                </a:solidFill>
              </a:rPr>
              <a:t>disagreement</a:t>
            </a:r>
            <a:br>
              <a:rPr lang="en-US" sz="2200" noProof="0" dirty="0"/>
            </a:br>
            <a:r>
              <a:rPr lang="en-US" sz="2200" noProof="0" dirty="0"/>
              <a:t>  highlights local anomalies</a:t>
            </a:r>
          </a:p>
          <a:p>
            <a:pPr marL="0" indent="0">
              <a:buFont typeface="Arial" panose="020B0604020202020204" pitchFamily="34" charset="0"/>
              <a:buNone/>
            </a:pPr>
            <a:r>
              <a:rPr lang="en-US" sz="2200" noProof="0" dirty="0">
                <a:solidFill>
                  <a:srgbClr val="822433"/>
                </a:solidFill>
              </a:rPr>
              <a:t>-</a:t>
            </a:r>
            <a:r>
              <a:rPr lang="en-US" sz="2200" noProof="0" dirty="0"/>
              <a:t> </a:t>
            </a:r>
            <a:r>
              <a:rPr lang="en-US" sz="2200" noProof="0" dirty="0">
                <a:solidFill>
                  <a:schemeClr val="tx1">
                    <a:lumMod val="95000"/>
                    <a:lumOff val="5000"/>
                  </a:schemeClr>
                </a:solidFill>
              </a:rPr>
              <a:t>An </a:t>
            </a:r>
            <a:r>
              <a:rPr lang="en-US" sz="2200" noProof="0" dirty="0">
                <a:solidFill>
                  <a:srgbClr val="822433"/>
                </a:solidFill>
              </a:rPr>
              <a:t>autoencoder</a:t>
            </a:r>
            <a:r>
              <a:rPr lang="en-US" sz="2200" noProof="0" dirty="0">
                <a:solidFill>
                  <a:schemeClr val="tx1">
                    <a:lumMod val="95000"/>
                    <a:lumOff val="5000"/>
                  </a:schemeClr>
                </a:solidFill>
              </a:rPr>
              <a:t> branch captures</a:t>
            </a:r>
            <a:br>
              <a:rPr lang="en-US" sz="2200" noProof="0" dirty="0">
                <a:solidFill>
                  <a:schemeClr val="tx1">
                    <a:lumMod val="95000"/>
                    <a:lumOff val="5000"/>
                  </a:schemeClr>
                </a:solidFill>
              </a:rPr>
            </a:br>
            <a:r>
              <a:rPr lang="en-US" sz="2200" noProof="0" dirty="0">
                <a:solidFill>
                  <a:schemeClr val="tx1">
                    <a:lumMod val="95000"/>
                    <a:lumOff val="5000"/>
                  </a:schemeClr>
                </a:solidFill>
              </a:rPr>
              <a:t>  global context</a:t>
            </a:r>
            <a:br>
              <a:rPr lang="en-US" noProof="0" dirty="0"/>
            </a:br>
            <a:endParaRPr lang="en-US" noProof="0" dirty="0"/>
          </a:p>
        </p:txBody>
      </p:sp>
      <p:sp>
        <p:nvSpPr>
          <p:cNvPr id="7" name="CasellaDiTesto 6">
            <a:extLst>
              <a:ext uri="{FF2B5EF4-FFF2-40B4-BE49-F238E27FC236}">
                <a16:creationId xmlns:a16="http://schemas.microsoft.com/office/drawing/2014/main" id="{D8518CC0-C9C1-6B3F-78A8-3BE43E7C1EF9}"/>
              </a:ext>
            </a:extLst>
          </p:cNvPr>
          <p:cNvSpPr txBox="1"/>
          <p:nvPr/>
        </p:nvSpPr>
        <p:spPr>
          <a:xfrm>
            <a:off x="1184564" y="1604159"/>
            <a:ext cx="9587345" cy="400110"/>
          </a:xfrm>
          <a:prstGeom prst="rect">
            <a:avLst/>
          </a:prstGeom>
          <a:noFill/>
        </p:spPr>
        <p:txBody>
          <a:bodyPr wrap="square" rtlCol="0">
            <a:spAutoFit/>
          </a:bodyPr>
          <a:lstStyle/>
          <a:p>
            <a:r>
              <a:rPr lang="en-US" sz="2000" b="1">
                <a:solidFill>
                  <a:srgbClr val="822433"/>
                </a:solidFill>
                <a:latin typeface="Roboto" panose="02000000000000000000" pitchFamily="2" charset="0"/>
                <a:ea typeface="Roboto" panose="02000000000000000000" pitchFamily="2" charset="0"/>
              </a:rPr>
              <a:t>Goal: </a:t>
            </a:r>
            <a:r>
              <a:rPr lang="en-US" sz="2000">
                <a:latin typeface="Roboto" panose="02000000000000000000" pitchFamily="2" charset="0"/>
                <a:ea typeface="Roboto" panose="02000000000000000000" pitchFamily="2" charset="0"/>
              </a:rPr>
              <a:t>Compare AD approaches in term of accuracy and computational cost</a:t>
            </a:r>
          </a:p>
        </p:txBody>
      </p:sp>
    </p:spTree>
    <p:extLst>
      <p:ext uri="{BB962C8B-B14F-4D97-AF65-F5344CB8AC3E}">
        <p14:creationId xmlns:p14="http://schemas.microsoft.com/office/powerpoint/2010/main" val="12157211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08974-67DD-D80F-AEA4-3E47C2D06A2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D336D46-549D-8DD1-8542-7F2A5323BA99}"/>
              </a:ext>
            </a:extLst>
          </p:cNvPr>
          <p:cNvSpPr>
            <a:spLocks noGrp="1"/>
          </p:cNvSpPr>
          <p:nvPr>
            <p:ph type="title"/>
          </p:nvPr>
        </p:nvSpPr>
        <p:spPr>
          <a:xfrm>
            <a:off x="838200" y="365125"/>
            <a:ext cx="8384177" cy="835787"/>
          </a:xfrm>
        </p:spPr>
        <p:txBody>
          <a:bodyPr/>
          <a:lstStyle/>
          <a:p>
            <a:r>
              <a:rPr lang="en-US" noProof="0" dirty="0">
                <a:solidFill>
                  <a:srgbClr val="822433"/>
                </a:solidFill>
              </a:rPr>
              <a:t>Model Architectures</a:t>
            </a:r>
          </a:p>
        </p:txBody>
      </p:sp>
      <p:sp>
        <p:nvSpPr>
          <p:cNvPr id="4" name="Google Shape;102;p14">
            <a:extLst>
              <a:ext uri="{FF2B5EF4-FFF2-40B4-BE49-F238E27FC236}">
                <a16:creationId xmlns:a16="http://schemas.microsoft.com/office/drawing/2014/main" id="{79E4DB09-D900-BAC8-007F-DA58DFDBDC23}"/>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20</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5CD0A760-B852-761D-A05F-6D85A9CE939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20263965-79F1-4ADD-9BD3-17952F655AA7}"/>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[18] [19]</a:t>
            </a:r>
          </a:p>
        </p:txBody>
      </p:sp>
      <p:sp>
        <p:nvSpPr>
          <p:cNvPr id="8" name="Segnaposto contenuto 5">
            <a:extLst>
              <a:ext uri="{FF2B5EF4-FFF2-40B4-BE49-F238E27FC236}">
                <a16:creationId xmlns:a16="http://schemas.microsoft.com/office/drawing/2014/main" id="{643E6AE6-153F-3104-B4C0-67AFFF71905E}"/>
              </a:ext>
            </a:extLst>
          </p:cNvPr>
          <p:cNvSpPr>
            <a:spLocks noGrp="1"/>
          </p:cNvSpPr>
          <p:nvPr>
            <p:ph idx="1"/>
          </p:nvPr>
        </p:nvSpPr>
        <p:spPr>
          <a:xfrm>
            <a:off x="1184564" y="2407516"/>
            <a:ext cx="4572000" cy="4351338"/>
          </a:xfrm>
        </p:spPr>
        <p:txBody>
          <a:bodyPr/>
          <a:lstStyle/>
          <a:p>
            <a:pPr marL="0" indent="0">
              <a:buNone/>
            </a:pPr>
            <a:r>
              <a:rPr lang="en-US" noProof="0" dirty="0"/>
              <a:t>1 </a:t>
            </a:r>
            <a:r>
              <a:rPr lang="en-US" b="1" noProof="0" dirty="0">
                <a:solidFill>
                  <a:srgbClr val="822433"/>
                </a:solidFill>
              </a:rPr>
              <a:t>SuperSimpleNet</a:t>
            </a:r>
            <a:br>
              <a:rPr lang="en-US" b="1" noProof="0" dirty="0">
                <a:solidFill>
                  <a:srgbClr val="822433"/>
                </a:solidFill>
              </a:rPr>
            </a:br>
            <a:r>
              <a:rPr lang="en-US" sz="2200" b="1" noProof="0" dirty="0">
                <a:solidFill>
                  <a:srgbClr val="822433"/>
                </a:solidFill>
              </a:rPr>
              <a:t>- </a:t>
            </a:r>
            <a:r>
              <a:rPr lang="en-US" sz="2200" noProof="0" dirty="0"/>
              <a:t>Synthetic anomalies created by</a:t>
            </a:r>
            <a:br>
              <a:rPr lang="en-US" sz="2200" noProof="0" dirty="0"/>
            </a:br>
            <a:r>
              <a:rPr lang="en-US" sz="2200" noProof="0" dirty="0"/>
              <a:t>  localized </a:t>
            </a:r>
            <a:r>
              <a:rPr lang="en-US" sz="2200" noProof="0" dirty="0">
                <a:solidFill>
                  <a:srgbClr val="822433"/>
                </a:solidFill>
              </a:rPr>
              <a:t>gaussian noise </a:t>
            </a:r>
            <a:r>
              <a:rPr lang="en-US" sz="2200" noProof="0" dirty="0"/>
              <a:t>to</a:t>
            </a:r>
            <a:br>
              <a:rPr lang="en-US" sz="2200" noProof="0" dirty="0"/>
            </a:br>
            <a:r>
              <a:rPr lang="en-US" sz="2200" noProof="0" dirty="0"/>
              <a:t>  features</a:t>
            </a:r>
          </a:p>
          <a:p>
            <a:pPr marL="0" indent="0">
              <a:buNone/>
            </a:pPr>
            <a:r>
              <a:rPr lang="en-US" sz="2200" noProof="0" dirty="0">
                <a:solidFill>
                  <a:srgbClr val="822433"/>
                </a:solidFill>
              </a:rPr>
              <a:t>-</a:t>
            </a:r>
            <a:r>
              <a:rPr lang="en-US" sz="2200" noProof="0" dirty="0"/>
              <a:t> </a:t>
            </a:r>
            <a:r>
              <a:rPr lang="en-US" sz="2200" noProof="0" dirty="0">
                <a:solidFill>
                  <a:srgbClr val="822433"/>
                </a:solidFill>
              </a:rPr>
              <a:t>Separate heads </a:t>
            </a:r>
            <a:r>
              <a:rPr lang="en-US" sz="2200" noProof="0" dirty="0"/>
              <a:t>for image</a:t>
            </a:r>
            <a:br>
              <a:rPr lang="en-US" sz="2200" noProof="0" dirty="0"/>
            </a:br>
            <a:r>
              <a:rPr lang="en-US" sz="2200" noProof="0" dirty="0"/>
              <a:t>  detection and spatial localization</a:t>
            </a:r>
            <a:br>
              <a:rPr lang="en-US" noProof="0" dirty="0"/>
            </a:br>
            <a:endParaRPr lang="en-US" noProof="0" dirty="0"/>
          </a:p>
        </p:txBody>
      </p:sp>
      <p:sp>
        <p:nvSpPr>
          <p:cNvPr id="10" name="Segnaposto contenuto 5">
            <a:extLst>
              <a:ext uri="{FF2B5EF4-FFF2-40B4-BE49-F238E27FC236}">
                <a16:creationId xmlns:a16="http://schemas.microsoft.com/office/drawing/2014/main" id="{6A12BA27-D799-F0C4-85D4-A2EB79E44B5A}"/>
              </a:ext>
            </a:extLst>
          </p:cNvPr>
          <p:cNvSpPr txBox="1">
            <a:spLocks/>
          </p:cNvSpPr>
          <p:nvPr/>
        </p:nvSpPr>
        <p:spPr>
          <a:xfrm>
            <a:off x="6352032" y="2407516"/>
            <a:ext cx="4572000" cy="4351338"/>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Roboto" panose="02000000000000000000" pitchFamily="2"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Roboto" panose="02000000000000000000" pitchFamily="2"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Roboto" panose="02000000000000000000" pitchFamily="2"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noProof="0" dirty="0"/>
              <a:t>2 </a:t>
            </a:r>
            <a:r>
              <a:rPr lang="en-US" b="1" noProof="0" dirty="0">
                <a:solidFill>
                  <a:srgbClr val="822433"/>
                </a:solidFill>
              </a:rPr>
              <a:t>TinyGLASS</a:t>
            </a:r>
            <a:br>
              <a:rPr lang="en-US" b="1" noProof="0" dirty="0">
                <a:solidFill>
                  <a:srgbClr val="822433"/>
                </a:solidFill>
              </a:rPr>
            </a:br>
            <a:r>
              <a:rPr lang="en-US" sz="2200" b="1" noProof="0" dirty="0">
                <a:solidFill>
                  <a:srgbClr val="822433"/>
                </a:solidFill>
              </a:rPr>
              <a:t>- </a:t>
            </a:r>
            <a:r>
              <a:rPr lang="en-US" sz="2200" noProof="0" dirty="0">
                <a:solidFill>
                  <a:srgbClr val="822433"/>
                </a:solidFill>
              </a:rPr>
              <a:t>Compact</a:t>
            </a:r>
            <a:r>
              <a:rPr lang="en-US" sz="2200" noProof="0" dirty="0"/>
              <a:t> ResNet18 backbone</a:t>
            </a:r>
          </a:p>
          <a:p>
            <a:pPr marL="0" indent="0">
              <a:buFont typeface="Arial" panose="020B0604020202020204" pitchFamily="34" charset="0"/>
              <a:buNone/>
            </a:pPr>
            <a:r>
              <a:rPr lang="en-US" sz="2200" noProof="0" dirty="0">
                <a:solidFill>
                  <a:srgbClr val="822433"/>
                </a:solidFill>
              </a:rPr>
              <a:t>-</a:t>
            </a:r>
            <a:r>
              <a:rPr lang="en-US" sz="2200" noProof="0" dirty="0"/>
              <a:t> Combines </a:t>
            </a:r>
            <a:r>
              <a:rPr lang="en-US" sz="2200" noProof="0" dirty="0">
                <a:solidFill>
                  <a:srgbClr val="822433"/>
                </a:solidFill>
              </a:rPr>
              <a:t>image-space</a:t>
            </a:r>
            <a:br>
              <a:rPr lang="en-US" sz="2200" noProof="0" dirty="0"/>
            </a:br>
            <a:r>
              <a:rPr lang="en-US" sz="2200" noProof="0" dirty="0"/>
              <a:t>  alterations with </a:t>
            </a:r>
            <a:r>
              <a:rPr lang="en-US" sz="2200" noProof="0" dirty="0">
                <a:solidFill>
                  <a:srgbClr val="822433"/>
                </a:solidFill>
              </a:rPr>
              <a:t>features-space</a:t>
            </a:r>
            <a:br>
              <a:rPr lang="en-US" sz="2200" noProof="0" dirty="0"/>
            </a:br>
            <a:r>
              <a:rPr lang="en-US" sz="2200" noProof="0" dirty="0"/>
              <a:t>  perturbations</a:t>
            </a:r>
          </a:p>
          <a:p>
            <a:pPr marL="0" indent="0">
              <a:buFont typeface="Arial" panose="020B0604020202020204" pitchFamily="34" charset="0"/>
              <a:buNone/>
            </a:pPr>
            <a:r>
              <a:rPr lang="en-US" sz="2200" noProof="0" dirty="0">
                <a:solidFill>
                  <a:srgbClr val="822433"/>
                </a:solidFill>
              </a:rPr>
              <a:t>-</a:t>
            </a:r>
            <a:r>
              <a:rPr lang="en-US" sz="2200" noProof="0" dirty="0"/>
              <a:t> </a:t>
            </a:r>
            <a:r>
              <a:rPr lang="en-US" sz="2200" noProof="0" dirty="0">
                <a:solidFill>
                  <a:srgbClr val="822433"/>
                </a:solidFill>
              </a:rPr>
              <a:t>Adapted</a:t>
            </a:r>
            <a:r>
              <a:rPr lang="en-US" sz="2200" noProof="0" dirty="0"/>
              <a:t> to create specialized</a:t>
            </a:r>
            <a:br>
              <a:rPr lang="en-US" sz="2200" noProof="0" dirty="0"/>
            </a:br>
            <a:r>
              <a:rPr lang="en-US" sz="2200" noProof="0" dirty="0"/>
              <a:t>  </a:t>
            </a:r>
            <a:r>
              <a:rPr lang="en-US" sz="2200" dirty="0">
                <a:solidFill>
                  <a:srgbClr val="822433"/>
                </a:solidFill>
              </a:rPr>
              <a:t>h</a:t>
            </a:r>
            <a:r>
              <a:rPr lang="en-US" sz="2200" noProof="0" dirty="0">
                <a:solidFill>
                  <a:srgbClr val="822433"/>
                </a:solidFill>
              </a:rPr>
              <a:t>ole like</a:t>
            </a:r>
            <a:r>
              <a:rPr lang="en-US" sz="2200" noProof="0" dirty="0">
                <a:solidFill>
                  <a:schemeClr val="tx1">
                    <a:lumMod val="95000"/>
                    <a:lumOff val="5000"/>
                  </a:schemeClr>
                </a:solidFill>
              </a:rPr>
              <a:t> alterations</a:t>
            </a:r>
            <a:br>
              <a:rPr lang="en-US" noProof="0" dirty="0"/>
            </a:br>
            <a:endParaRPr lang="en-US" noProof="0" dirty="0"/>
          </a:p>
        </p:txBody>
      </p:sp>
      <p:sp>
        <p:nvSpPr>
          <p:cNvPr id="12" name="CasellaDiTesto 11">
            <a:extLst>
              <a:ext uri="{FF2B5EF4-FFF2-40B4-BE49-F238E27FC236}">
                <a16:creationId xmlns:a16="http://schemas.microsoft.com/office/drawing/2014/main" id="{26C0AD4E-3E56-CD77-9AF5-2B5E0B06CC86}"/>
              </a:ext>
            </a:extLst>
          </p:cNvPr>
          <p:cNvSpPr txBox="1"/>
          <p:nvPr/>
        </p:nvSpPr>
        <p:spPr>
          <a:xfrm>
            <a:off x="1184564" y="1604159"/>
            <a:ext cx="9587345" cy="400110"/>
          </a:xfrm>
          <a:prstGeom prst="rect">
            <a:avLst/>
          </a:prstGeom>
          <a:noFill/>
        </p:spPr>
        <p:txBody>
          <a:bodyPr wrap="square" rtlCol="0">
            <a:spAutoFit/>
          </a:bodyPr>
          <a:lstStyle/>
          <a:p>
            <a:r>
              <a:rPr lang="it-IT" sz="2000" b="1" dirty="0">
                <a:solidFill>
                  <a:srgbClr val="822433"/>
                </a:solidFill>
                <a:latin typeface="Roboto" panose="02000000000000000000" pitchFamily="2" charset="0"/>
                <a:ea typeface="Roboto" panose="02000000000000000000" pitchFamily="2" charset="0"/>
              </a:rPr>
              <a:t>Goal: </a:t>
            </a:r>
            <a:r>
              <a:rPr lang="it-IT" sz="2000" dirty="0">
                <a:latin typeface="Roboto" panose="02000000000000000000" pitchFamily="2" charset="0"/>
                <a:ea typeface="Roboto" panose="02000000000000000000" pitchFamily="2" charset="0"/>
              </a:rPr>
              <a:t>Compare AD </a:t>
            </a:r>
            <a:r>
              <a:rPr lang="it-IT" sz="2000" dirty="0" err="1">
                <a:latin typeface="Roboto" panose="02000000000000000000" pitchFamily="2" charset="0"/>
                <a:ea typeface="Roboto" panose="02000000000000000000" pitchFamily="2" charset="0"/>
              </a:rPr>
              <a:t>approaches</a:t>
            </a:r>
            <a:r>
              <a:rPr lang="it-IT" sz="2000" dirty="0">
                <a:latin typeface="Roboto" panose="02000000000000000000" pitchFamily="2" charset="0"/>
                <a:ea typeface="Roboto" panose="02000000000000000000" pitchFamily="2" charset="0"/>
              </a:rPr>
              <a:t> in </a:t>
            </a:r>
            <a:r>
              <a:rPr lang="it-IT" sz="2000" dirty="0" err="1">
                <a:latin typeface="Roboto" panose="02000000000000000000" pitchFamily="2" charset="0"/>
                <a:ea typeface="Roboto" panose="02000000000000000000" pitchFamily="2" charset="0"/>
              </a:rPr>
              <a:t>term</a:t>
            </a:r>
            <a:r>
              <a:rPr lang="it-IT" sz="2000" dirty="0">
                <a:latin typeface="Roboto" panose="02000000000000000000" pitchFamily="2" charset="0"/>
                <a:ea typeface="Roboto" panose="02000000000000000000" pitchFamily="2" charset="0"/>
              </a:rPr>
              <a:t> of </a:t>
            </a:r>
            <a:r>
              <a:rPr lang="it-IT" sz="2000" dirty="0" err="1">
                <a:latin typeface="Roboto" panose="02000000000000000000" pitchFamily="2" charset="0"/>
                <a:ea typeface="Roboto" panose="02000000000000000000" pitchFamily="2" charset="0"/>
              </a:rPr>
              <a:t>accuracy</a:t>
            </a:r>
            <a:r>
              <a:rPr lang="it-IT" sz="2000" dirty="0">
                <a:latin typeface="Roboto" panose="02000000000000000000" pitchFamily="2" charset="0"/>
                <a:ea typeface="Roboto" panose="02000000000000000000" pitchFamily="2" charset="0"/>
              </a:rPr>
              <a:t> and </a:t>
            </a:r>
            <a:r>
              <a:rPr lang="it-IT" sz="2000" dirty="0" err="1">
                <a:latin typeface="Roboto" panose="02000000000000000000" pitchFamily="2" charset="0"/>
                <a:ea typeface="Roboto" panose="02000000000000000000" pitchFamily="2" charset="0"/>
              </a:rPr>
              <a:t>computational</a:t>
            </a:r>
            <a:r>
              <a:rPr lang="it-IT" sz="2000" dirty="0">
                <a:latin typeface="Roboto" panose="02000000000000000000" pitchFamily="2" charset="0"/>
                <a:ea typeface="Roboto" panose="02000000000000000000" pitchFamily="2" charset="0"/>
              </a:rPr>
              <a:t> cost</a:t>
            </a:r>
          </a:p>
        </p:txBody>
      </p:sp>
    </p:spTree>
    <p:extLst>
      <p:ext uri="{BB962C8B-B14F-4D97-AF65-F5344CB8AC3E}">
        <p14:creationId xmlns:p14="http://schemas.microsoft.com/office/powerpoint/2010/main" val="21228924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D974E-45DA-3F68-01D9-7A37586BA78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E1A6707-7D1D-0F74-464D-A1283F66F368}"/>
              </a:ext>
            </a:extLst>
          </p:cNvPr>
          <p:cNvSpPr>
            <a:spLocks noGrp="1"/>
          </p:cNvSpPr>
          <p:nvPr>
            <p:ph type="title"/>
          </p:nvPr>
        </p:nvSpPr>
        <p:spPr>
          <a:xfrm>
            <a:off x="838200" y="365125"/>
            <a:ext cx="8384177" cy="835787"/>
          </a:xfrm>
        </p:spPr>
        <p:txBody>
          <a:bodyPr/>
          <a:lstStyle/>
          <a:p>
            <a:r>
              <a:rPr lang="en-US" dirty="0">
                <a:solidFill>
                  <a:srgbClr val="822433"/>
                </a:solidFill>
              </a:rPr>
              <a:t>P</a:t>
            </a:r>
            <a:r>
              <a:rPr lang="en-US" noProof="0" dirty="0">
                <a:solidFill>
                  <a:srgbClr val="822433"/>
                </a:solidFill>
              </a:rPr>
              <a:t>reprocessing</a:t>
            </a:r>
          </a:p>
        </p:txBody>
      </p:sp>
      <p:sp>
        <p:nvSpPr>
          <p:cNvPr id="4" name="Google Shape;102;p14">
            <a:extLst>
              <a:ext uri="{FF2B5EF4-FFF2-40B4-BE49-F238E27FC236}">
                <a16:creationId xmlns:a16="http://schemas.microsoft.com/office/drawing/2014/main" id="{5172196D-A79E-15D0-59EB-B039391B9539}"/>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21</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7F0CCFBA-1ECA-8AFC-C625-E97B7DA3D08C}"/>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10" name="Immagine 9">
            <a:extLst>
              <a:ext uri="{FF2B5EF4-FFF2-40B4-BE49-F238E27FC236}">
                <a16:creationId xmlns:a16="http://schemas.microsoft.com/office/drawing/2014/main" id="{05C01783-730C-D87E-7BE6-CEE8057363F6}"/>
              </a:ext>
            </a:extLst>
          </p:cNvPr>
          <p:cNvPicPr>
            <a:picLocks noChangeAspect="1"/>
          </p:cNvPicPr>
          <p:nvPr/>
        </p:nvPicPr>
        <p:blipFill>
          <a:blip r:embed="rId3"/>
          <a:stretch/>
        </p:blipFill>
        <p:spPr>
          <a:xfrm>
            <a:off x="1478973" y="2260643"/>
            <a:ext cx="8707582" cy="3990975"/>
          </a:xfrm>
          <a:prstGeom prst="rect">
            <a:avLst/>
          </a:prstGeom>
        </p:spPr>
      </p:pic>
      <p:sp>
        <p:nvSpPr>
          <p:cNvPr id="11" name="CasellaDiTesto 10">
            <a:extLst>
              <a:ext uri="{FF2B5EF4-FFF2-40B4-BE49-F238E27FC236}">
                <a16:creationId xmlns:a16="http://schemas.microsoft.com/office/drawing/2014/main" id="{FD7F7CA6-4CA5-B94E-130A-BDDDEEA5990A}"/>
              </a:ext>
            </a:extLst>
          </p:cNvPr>
          <p:cNvSpPr txBox="1"/>
          <p:nvPr/>
        </p:nvSpPr>
        <p:spPr>
          <a:xfrm>
            <a:off x="1143001" y="1614312"/>
            <a:ext cx="10094430" cy="646331"/>
          </a:xfrm>
          <a:prstGeom prst="rect">
            <a:avLst/>
          </a:prstGeom>
          <a:noFill/>
        </p:spPr>
        <p:txBody>
          <a:bodyPr wrap="none" rtlCol="0">
            <a:spAutoFit/>
          </a:bodyPr>
          <a:lstStyle/>
          <a:p>
            <a:r>
              <a:rPr lang="en-US" noProof="0" dirty="0">
                <a:latin typeface="Roboto" panose="02000000000000000000" pitchFamily="2" charset="0"/>
                <a:ea typeface="Roboto" panose="02000000000000000000" pitchFamily="2" charset="0"/>
                <a:cs typeface="Roboto" panose="02000000000000000000" pitchFamily="2" charset="0"/>
              </a:rPr>
              <a:t>Based on preliminary experiments, a fixed 720 × 720 crop and only one camera pose A was used </a:t>
            </a:r>
            <a:br>
              <a:rPr lang="en-US" noProof="0" dirty="0">
                <a:latin typeface="Roboto" panose="02000000000000000000" pitchFamily="2" charset="0"/>
                <a:ea typeface="Roboto" panose="02000000000000000000" pitchFamily="2" charset="0"/>
                <a:cs typeface="Roboto" panose="02000000000000000000" pitchFamily="2" charset="0"/>
              </a:rPr>
            </a:br>
            <a:r>
              <a:rPr lang="en-US" noProof="0" dirty="0">
                <a:latin typeface="Roboto" panose="02000000000000000000" pitchFamily="2" charset="0"/>
                <a:ea typeface="Roboto" panose="02000000000000000000" pitchFamily="2" charset="0"/>
                <a:cs typeface="Roboto" panose="02000000000000000000" pitchFamily="2" charset="0"/>
              </a:rPr>
              <a:t>for training, because it helped having a single normal reference</a:t>
            </a:r>
          </a:p>
        </p:txBody>
      </p:sp>
    </p:spTree>
    <p:extLst>
      <p:ext uri="{BB962C8B-B14F-4D97-AF65-F5344CB8AC3E}">
        <p14:creationId xmlns:p14="http://schemas.microsoft.com/office/powerpoint/2010/main" val="33718003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3EAF4-FF6C-CAF5-B270-07F0A75C744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705D1C1-A403-9683-648A-F12A013998C7}"/>
              </a:ext>
            </a:extLst>
          </p:cNvPr>
          <p:cNvSpPr>
            <a:spLocks noGrp="1"/>
          </p:cNvSpPr>
          <p:nvPr>
            <p:ph type="title"/>
          </p:nvPr>
        </p:nvSpPr>
        <p:spPr/>
        <p:txBody>
          <a:bodyPr>
            <a:normAutofit/>
          </a:bodyPr>
          <a:lstStyle/>
          <a:p>
            <a:r>
              <a:rPr lang="it-IT" sz="5400" dirty="0" err="1">
                <a:solidFill>
                  <a:srgbClr val="822433"/>
                </a:solidFill>
              </a:rPr>
              <a:t>Results</a:t>
            </a:r>
            <a:endParaRPr lang="it-IT" sz="5400" dirty="0">
              <a:solidFill>
                <a:srgbClr val="822433"/>
              </a:solidFill>
            </a:endParaRPr>
          </a:p>
        </p:txBody>
      </p:sp>
      <p:sp>
        <p:nvSpPr>
          <p:cNvPr id="3" name="Segnaposto testo 2">
            <a:extLst>
              <a:ext uri="{FF2B5EF4-FFF2-40B4-BE49-F238E27FC236}">
                <a16:creationId xmlns:a16="http://schemas.microsoft.com/office/drawing/2014/main" id="{61BFE22E-331F-BA2C-8863-9ED455C5ADA3}"/>
              </a:ext>
            </a:extLst>
          </p:cNvPr>
          <p:cNvSpPr>
            <a:spLocks noGrp="1"/>
          </p:cNvSpPr>
          <p:nvPr>
            <p:ph type="body" idx="1"/>
          </p:nvPr>
        </p:nvSpPr>
        <p:spPr>
          <a:xfrm>
            <a:off x="844550" y="2345259"/>
            <a:ext cx="10515600" cy="1544002"/>
          </a:xfrm>
        </p:spPr>
        <p:txBody>
          <a:bodyPr>
            <a:normAutofit lnSpcReduction="10000"/>
          </a:bodyPr>
          <a:lstStyle/>
          <a:p>
            <a:r>
              <a:rPr lang="it-IT" dirty="0" err="1"/>
              <a:t>Introduction</a:t>
            </a:r>
            <a:br>
              <a:rPr lang="it-IT" dirty="0"/>
            </a:br>
            <a:r>
              <a:rPr lang="it-IT" dirty="0" err="1">
                <a:solidFill>
                  <a:schemeClr val="bg1">
                    <a:lumMod val="50000"/>
                  </a:schemeClr>
                </a:solidFill>
              </a:rPr>
              <a:t>Lightweight</a:t>
            </a:r>
            <a:r>
              <a:rPr lang="it-IT" dirty="0">
                <a:solidFill>
                  <a:schemeClr val="bg1">
                    <a:lumMod val="50000"/>
                  </a:schemeClr>
                </a:solidFill>
              </a:rPr>
              <a:t> Scene </a:t>
            </a:r>
            <a:r>
              <a:rPr lang="it-IT" dirty="0" err="1">
                <a:solidFill>
                  <a:schemeClr val="bg1">
                    <a:lumMod val="50000"/>
                  </a:schemeClr>
                </a:solidFill>
              </a:rPr>
              <a:t>Understanding</a:t>
            </a:r>
            <a:br>
              <a:rPr lang="it-IT" dirty="0">
                <a:solidFill>
                  <a:schemeClr val="bg1">
                    <a:lumMod val="50000"/>
                  </a:schemeClr>
                </a:solidFill>
              </a:rPr>
            </a:br>
            <a:r>
              <a:rPr lang="it-IT" dirty="0" err="1">
                <a:solidFill>
                  <a:schemeClr val="bg1">
                    <a:lumMod val="50000"/>
                  </a:schemeClr>
                </a:solidFill>
              </a:rPr>
              <a:t>Synthetic</a:t>
            </a:r>
            <a:r>
              <a:rPr lang="it-IT" dirty="0">
                <a:solidFill>
                  <a:schemeClr val="bg1">
                    <a:lumMod val="50000"/>
                  </a:schemeClr>
                </a:solidFill>
              </a:rPr>
              <a:t> Dataset Generation</a:t>
            </a:r>
            <a:br>
              <a:rPr lang="it-IT" dirty="0">
                <a:solidFill>
                  <a:schemeClr val="bg1">
                    <a:lumMod val="50000"/>
                  </a:schemeClr>
                </a:solidFill>
              </a:rPr>
            </a:br>
            <a:r>
              <a:rPr lang="it-IT" dirty="0" err="1">
                <a:solidFill>
                  <a:schemeClr val="bg1">
                    <a:lumMod val="50000"/>
                  </a:schemeClr>
                </a:solidFill>
              </a:rPr>
              <a:t>Synthetic</a:t>
            </a:r>
            <a:r>
              <a:rPr lang="it-IT" dirty="0">
                <a:solidFill>
                  <a:schemeClr val="bg1">
                    <a:lumMod val="50000"/>
                  </a:schemeClr>
                </a:solidFill>
              </a:rPr>
              <a:t> </a:t>
            </a:r>
            <a:r>
              <a:rPr lang="it-IT" dirty="0" err="1">
                <a:solidFill>
                  <a:schemeClr val="bg1">
                    <a:lumMod val="50000"/>
                  </a:schemeClr>
                </a:solidFill>
              </a:rPr>
              <a:t>Damage</a:t>
            </a:r>
            <a:r>
              <a:rPr lang="it-IT" dirty="0">
                <a:solidFill>
                  <a:schemeClr val="bg1">
                    <a:lumMod val="50000"/>
                  </a:schemeClr>
                </a:solidFill>
              </a:rPr>
              <a:t> </a:t>
            </a:r>
            <a:r>
              <a:rPr lang="it-IT" dirty="0" err="1">
                <a:solidFill>
                  <a:schemeClr val="bg1">
                    <a:lumMod val="50000"/>
                  </a:schemeClr>
                </a:solidFill>
              </a:rPr>
              <a:t>Inspection</a:t>
            </a:r>
            <a:endParaRPr lang="it-IT" dirty="0">
              <a:solidFill>
                <a:schemeClr val="bg1">
                  <a:lumMod val="50000"/>
                </a:schemeClr>
              </a:solidFill>
            </a:endParaRPr>
          </a:p>
        </p:txBody>
      </p:sp>
      <p:sp>
        <p:nvSpPr>
          <p:cNvPr id="4" name="Google Shape;102;p14">
            <a:extLst>
              <a:ext uri="{FF2B5EF4-FFF2-40B4-BE49-F238E27FC236}">
                <a16:creationId xmlns:a16="http://schemas.microsoft.com/office/drawing/2014/main" id="{1A17498E-FA1D-2807-FFFF-0D4BA57DF4D2}"/>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22</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76173B0E-A155-AF15-A232-F9574D652BC7}"/>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8" name="Segnaposto testo 2">
            <a:extLst>
              <a:ext uri="{FF2B5EF4-FFF2-40B4-BE49-F238E27FC236}">
                <a16:creationId xmlns:a16="http://schemas.microsoft.com/office/drawing/2014/main" id="{D3DC633C-8853-9424-6E25-22C6917DC5B2}"/>
              </a:ext>
            </a:extLst>
          </p:cNvPr>
          <p:cNvSpPr txBox="1">
            <a:spLocks/>
          </p:cNvSpPr>
          <p:nvPr/>
        </p:nvSpPr>
        <p:spPr>
          <a:xfrm>
            <a:off x="844550" y="4562475"/>
            <a:ext cx="10515600" cy="1544003"/>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buFont typeface="Arial" panose="020B0604020202020204" pitchFamily="34" charset="0"/>
              <a:buNone/>
              <a:defRPr sz="24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1pPr>
            <a:lvl2pPr marL="457200" indent="0" algn="l" defTabSz="914400" rtl="0" eaLnBrk="1" latinLnBrk="0" hangingPunct="1">
              <a:lnSpc>
                <a:spcPct val="100000"/>
              </a:lnSpc>
              <a:spcBef>
                <a:spcPts val="500"/>
              </a:spcBef>
              <a:buFont typeface="Arial" panose="020B0604020202020204" pitchFamily="34" charset="0"/>
              <a:buNone/>
              <a:defRPr sz="20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2pPr>
            <a:lvl3pPr marL="914400" indent="0" algn="l" defTabSz="914400" rtl="0" eaLnBrk="1" latinLnBrk="0" hangingPunct="1">
              <a:lnSpc>
                <a:spcPct val="100000"/>
              </a:lnSpc>
              <a:spcBef>
                <a:spcPts val="500"/>
              </a:spcBef>
              <a:buFont typeface="Arial" panose="020B0604020202020204" pitchFamily="34" charset="0"/>
              <a:buNone/>
              <a:defRPr sz="18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3pPr>
            <a:lvl4pPr marL="13716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4pPr>
            <a:lvl5pPr marL="18288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US" dirty="0"/>
              <a:t>Conclusions</a:t>
            </a:r>
            <a:endParaRPr lang="it-IT" dirty="0"/>
          </a:p>
        </p:txBody>
      </p:sp>
    </p:spTree>
    <p:extLst>
      <p:ext uri="{BB962C8B-B14F-4D97-AF65-F5344CB8AC3E}">
        <p14:creationId xmlns:p14="http://schemas.microsoft.com/office/powerpoint/2010/main" val="15438325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8D659-1EC5-A9E1-89C0-B2C99E86295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7AB4C88-3498-D11C-BB58-096E1DFC2913}"/>
              </a:ext>
            </a:extLst>
          </p:cNvPr>
          <p:cNvSpPr>
            <a:spLocks noGrp="1"/>
          </p:cNvSpPr>
          <p:nvPr>
            <p:ph type="title"/>
          </p:nvPr>
        </p:nvSpPr>
        <p:spPr>
          <a:xfrm>
            <a:off x="838200" y="365125"/>
            <a:ext cx="8384177" cy="835787"/>
          </a:xfrm>
        </p:spPr>
        <p:txBody>
          <a:bodyPr/>
          <a:lstStyle/>
          <a:p>
            <a:r>
              <a:rPr lang="en-US" dirty="0">
                <a:solidFill>
                  <a:srgbClr val="822433"/>
                </a:solidFill>
              </a:rPr>
              <a:t>Semantic Segmentation: Quality</a:t>
            </a:r>
            <a:endParaRPr lang="en-US" noProof="0" dirty="0">
              <a:solidFill>
                <a:srgbClr val="822433"/>
              </a:solidFill>
            </a:endParaRPr>
          </a:p>
        </p:txBody>
      </p:sp>
      <p:sp>
        <p:nvSpPr>
          <p:cNvPr id="4" name="Google Shape;102;p14">
            <a:extLst>
              <a:ext uri="{FF2B5EF4-FFF2-40B4-BE49-F238E27FC236}">
                <a16:creationId xmlns:a16="http://schemas.microsoft.com/office/drawing/2014/main" id="{828421EA-6AD6-06E7-F9E4-764739558A92}"/>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23</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75859FAA-366C-F762-DB80-430840E54E91}"/>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12" name="Chart">
            <a:extLst>
              <a:ext uri="{FF2B5EF4-FFF2-40B4-BE49-F238E27FC236}">
                <a16:creationId xmlns:a16="http://schemas.microsoft.com/office/drawing/2014/main" id="{140DAC26-A801-17B6-4C89-DCD77DDACB30}"/>
              </a:ext>
            </a:extLst>
          </p:cNvPr>
          <p:cNvGraphicFramePr/>
          <p:nvPr>
            <p:extLst>
              <p:ext uri="{D42A27DB-BD31-4B8C-83A1-F6EECF244321}">
                <p14:modId xmlns:p14="http://schemas.microsoft.com/office/powerpoint/2010/main" val="837873225"/>
              </p:ext>
            </p:extLst>
          </p:nvPr>
        </p:nvGraphicFramePr>
        <p:xfrm>
          <a:off x="958948" y="1556678"/>
          <a:ext cx="7715250" cy="4171950"/>
        </p:xfrm>
        <a:graphic>
          <a:graphicData uri="http://schemas.openxmlformats.org/drawingml/2006/chart">
            <c:chart xmlns:c="http://schemas.openxmlformats.org/drawingml/2006/chart" xmlns:r="http://schemas.openxmlformats.org/officeDocument/2006/relationships" r:id="rId3"/>
          </a:graphicData>
        </a:graphic>
      </p:graphicFrame>
      <p:sp>
        <p:nvSpPr>
          <p:cNvPr id="14" name="segmetric">
            <a:extLst>
              <a:ext uri="{FF2B5EF4-FFF2-40B4-BE49-F238E27FC236}">
                <a16:creationId xmlns:a16="http://schemas.microsoft.com/office/drawing/2014/main" id="{683F8C51-DDD6-899A-A679-32684091905B}"/>
              </a:ext>
            </a:extLst>
          </p:cNvPr>
          <p:cNvSpPr>
            <a:spLocks noGrp="1"/>
          </p:cNvSpPr>
          <p:nvPr/>
        </p:nvSpPr>
        <p:spPr>
          <a:xfrm>
            <a:off x="2761077" y="5684502"/>
            <a:ext cx="10096500" cy="333375"/>
          </a:xfrm>
          <a:prstGeom prst="rect">
            <a:avLst/>
          </a:prstGeom>
          <a:noFill/>
          <a:ln w="0">
            <a:noFill/>
          </a:ln>
        </p:spPr>
        <p:txBody>
          <a:bodyPr wrap="square" lIns="0" tIns="0" rIns="0" bIns="0" anchor="t">
            <a:noAutofit/>
          </a:bodyPr>
          <a:lstStyle>
            <a:defPPr algn="l">
              <a:defRPr lang="en-US" sz="1875" b="0">
                <a:solidFill>
                  <a:srgbClr val="656B73"/>
                </a:solidFill>
                <a:latin typeface="Roboto"/>
                <a:ea typeface="Roboto"/>
                <a:cs typeface="Roboto"/>
              </a:defRPr>
            </a:defPPr>
            <a:lvl1pPr algn="l">
              <a:defRPr lang="en-US" sz="1875" b="0">
                <a:solidFill>
                  <a:srgbClr val="656B73"/>
                </a:solidFill>
                <a:latin typeface="Roboto"/>
                <a:ea typeface="Roboto"/>
                <a:cs typeface="Roboto"/>
              </a:defRPr>
            </a:lvl1pPr>
            <a:lvl2pPr algn="l">
              <a:defRPr lang="en-US" sz="1875" b="0">
                <a:solidFill>
                  <a:srgbClr val="656B73"/>
                </a:solidFill>
                <a:latin typeface="Roboto"/>
                <a:ea typeface="Roboto"/>
                <a:cs typeface="Roboto"/>
              </a:defRPr>
            </a:lvl2pPr>
            <a:lvl3pPr algn="l">
              <a:defRPr lang="en-US" sz="1875" b="0">
                <a:solidFill>
                  <a:srgbClr val="656B73"/>
                </a:solidFill>
                <a:latin typeface="Roboto"/>
                <a:ea typeface="Roboto"/>
                <a:cs typeface="Roboto"/>
              </a:defRPr>
            </a:lvl3pPr>
            <a:lvl4pPr algn="l">
              <a:defRPr lang="en-US" sz="1875" b="0">
                <a:solidFill>
                  <a:srgbClr val="656B73"/>
                </a:solidFill>
                <a:latin typeface="Roboto"/>
                <a:ea typeface="Roboto"/>
                <a:cs typeface="Roboto"/>
              </a:defRPr>
            </a:lvl4pPr>
            <a:lvl5pPr algn="l">
              <a:defRPr lang="en-US" sz="1875" b="0">
                <a:solidFill>
                  <a:srgbClr val="656B73"/>
                </a:solidFill>
                <a:latin typeface="Roboto"/>
                <a:ea typeface="Roboto"/>
                <a:cs typeface="Roboto"/>
              </a:defRPr>
            </a:lvl5pPr>
            <a:lvl6pPr algn="l">
              <a:defRPr lang="en-US" sz="1875" b="0">
                <a:solidFill>
                  <a:srgbClr val="656B73"/>
                </a:solidFill>
                <a:latin typeface="Roboto"/>
                <a:ea typeface="Roboto"/>
                <a:cs typeface="Roboto"/>
              </a:defRPr>
            </a:lvl6pPr>
            <a:lvl7pPr algn="l">
              <a:defRPr lang="en-US" sz="1875" b="0">
                <a:solidFill>
                  <a:srgbClr val="656B73"/>
                </a:solidFill>
                <a:latin typeface="Roboto"/>
                <a:ea typeface="Roboto"/>
                <a:cs typeface="Roboto"/>
              </a:defRPr>
            </a:lvl7pPr>
            <a:lvl8pPr algn="l">
              <a:defRPr lang="en-US" sz="1875" b="0">
                <a:solidFill>
                  <a:srgbClr val="656B73"/>
                </a:solidFill>
                <a:latin typeface="Roboto"/>
                <a:ea typeface="Roboto"/>
                <a:cs typeface="Roboto"/>
              </a:defRPr>
            </a:lvl8pPr>
            <a:lvl9pPr algn="l">
              <a:defRPr lang="en-US" sz="1875" b="0">
                <a:solidFill>
                  <a:srgbClr val="656B73"/>
                </a:solidFill>
                <a:latin typeface="Roboto"/>
                <a:ea typeface="Roboto"/>
                <a:cs typeface="Roboto"/>
              </a:defRPr>
            </a:lvl9pPr>
          </a:lstStyle>
          <a:p>
            <a:pPr algn="l">
              <a:defRPr lang="en-US" sz="1875" b="0">
                <a:solidFill>
                  <a:srgbClr val="656B73"/>
                </a:solidFill>
                <a:latin typeface="Roboto"/>
                <a:ea typeface="Roboto"/>
                <a:cs typeface="Roboto"/>
              </a:defRPr>
            </a:pPr>
            <a:r>
              <a:rPr lang="en-US" sz="1600" b="0" dirty="0" err="1">
                <a:solidFill>
                  <a:srgbClr val="656B73"/>
                </a:solidFill>
                <a:latin typeface="Roboto"/>
                <a:ea typeface="Roboto"/>
                <a:cs typeface="Roboto"/>
              </a:rPr>
              <a:t>S⁵Mars</a:t>
            </a:r>
            <a:r>
              <a:rPr lang="en-US" sz="1600" b="0" dirty="0">
                <a:solidFill>
                  <a:srgbClr val="656B73"/>
                </a:solidFill>
                <a:latin typeface="Roboto"/>
                <a:ea typeface="Roboto"/>
                <a:cs typeface="Roboto"/>
              </a:rPr>
              <a:t> test </a:t>
            </a:r>
            <a:r>
              <a:rPr lang="en-US" sz="1600" b="0" dirty="0" err="1">
                <a:solidFill>
                  <a:srgbClr val="656B73"/>
                </a:solidFill>
                <a:latin typeface="Roboto"/>
                <a:ea typeface="Roboto"/>
                <a:cs typeface="Roboto"/>
              </a:rPr>
              <a:t>mIoU</a:t>
            </a:r>
            <a:r>
              <a:rPr lang="en-US" sz="1600" b="0" dirty="0">
                <a:solidFill>
                  <a:srgbClr val="656B73"/>
                </a:solidFill>
                <a:latin typeface="Roboto"/>
                <a:ea typeface="Roboto"/>
                <a:cs typeface="Roboto"/>
              </a:rPr>
              <a:t>, FP32 configurations</a:t>
            </a:r>
          </a:p>
        </p:txBody>
      </p:sp>
      <p:sp>
        <p:nvSpPr>
          <p:cNvPr id="16" name="best-seg-value">
            <a:extLst>
              <a:ext uri="{FF2B5EF4-FFF2-40B4-BE49-F238E27FC236}">
                <a16:creationId xmlns:a16="http://schemas.microsoft.com/office/drawing/2014/main" id="{D8CD169C-FF17-51E5-43BA-647C1168C841}"/>
              </a:ext>
            </a:extLst>
          </p:cNvPr>
          <p:cNvSpPr>
            <a:spLocks noGrp="1"/>
          </p:cNvSpPr>
          <p:nvPr/>
        </p:nvSpPr>
        <p:spPr>
          <a:xfrm>
            <a:off x="8828796" y="2885263"/>
            <a:ext cx="2905125" cy="895350"/>
          </a:xfrm>
          <a:prstGeom prst="rect">
            <a:avLst/>
          </a:prstGeom>
          <a:noFill/>
          <a:ln w="0">
            <a:noFill/>
          </a:ln>
        </p:spPr>
        <p:txBody>
          <a:bodyPr wrap="square" lIns="0" tIns="0" rIns="0" bIns="0" anchor="t">
            <a:noAutofit/>
          </a:bodyPr>
          <a:lstStyle>
            <a:defPPr algn="ctr">
              <a:defRPr lang="en-US" sz="4800" b="1">
                <a:solidFill>
                  <a:srgbClr val="822433"/>
                </a:solidFill>
                <a:latin typeface="Roboto"/>
                <a:ea typeface="Roboto"/>
                <a:cs typeface="Roboto"/>
              </a:defRPr>
            </a:defPPr>
            <a:lvl1pPr algn="ctr">
              <a:defRPr lang="en-US" sz="4800" b="1">
                <a:solidFill>
                  <a:srgbClr val="822433"/>
                </a:solidFill>
                <a:latin typeface="Roboto"/>
                <a:ea typeface="Roboto"/>
                <a:cs typeface="Roboto"/>
              </a:defRPr>
            </a:lvl1pPr>
            <a:lvl2pPr algn="ctr">
              <a:defRPr lang="en-US" sz="4800" b="1">
                <a:solidFill>
                  <a:srgbClr val="822433"/>
                </a:solidFill>
                <a:latin typeface="Roboto"/>
                <a:ea typeface="Roboto"/>
                <a:cs typeface="Roboto"/>
              </a:defRPr>
            </a:lvl2pPr>
            <a:lvl3pPr algn="ctr">
              <a:defRPr lang="en-US" sz="4800" b="1">
                <a:solidFill>
                  <a:srgbClr val="822433"/>
                </a:solidFill>
                <a:latin typeface="Roboto"/>
                <a:ea typeface="Roboto"/>
                <a:cs typeface="Roboto"/>
              </a:defRPr>
            </a:lvl3pPr>
            <a:lvl4pPr algn="ctr">
              <a:defRPr lang="en-US" sz="4800" b="1">
                <a:solidFill>
                  <a:srgbClr val="822433"/>
                </a:solidFill>
                <a:latin typeface="Roboto"/>
                <a:ea typeface="Roboto"/>
                <a:cs typeface="Roboto"/>
              </a:defRPr>
            </a:lvl4pPr>
            <a:lvl5pPr algn="ctr">
              <a:defRPr lang="en-US" sz="4800" b="1">
                <a:solidFill>
                  <a:srgbClr val="822433"/>
                </a:solidFill>
                <a:latin typeface="Roboto"/>
                <a:ea typeface="Roboto"/>
                <a:cs typeface="Roboto"/>
              </a:defRPr>
            </a:lvl5pPr>
            <a:lvl6pPr algn="ctr">
              <a:defRPr lang="en-US" sz="4800" b="1">
                <a:solidFill>
                  <a:srgbClr val="822433"/>
                </a:solidFill>
                <a:latin typeface="Roboto"/>
                <a:ea typeface="Roboto"/>
                <a:cs typeface="Roboto"/>
              </a:defRPr>
            </a:lvl6pPr>
            <a:lvl7pPr algn="ctr">
              <a:defRPr lang="en-US" sz="4800" b="1">
                <a:solidFill>
                  <a:srgbClr val="822433"/>
                </a:solidFill>
                <a:latin typeface="Roboto"/>
                <a:ea typeface="Roboto"/>
                <a:cs typeface="Roboto"/>
              </a:defRPr>
            </a:lvl7pPr>
            <a:lvl8pPr algn="ctr">
              <a:defRPr lang="en-US" sz="4800" b="1">
                <a:solidFill>
                  <a:srgbClr val="822433"/>
                </a:solidFill>
                <a:latin typeface="Roboto"/>
                <a:ea typeface="Roboto"/>
                <a:cs typeface="Roboto"/>
              </a:defRPr>
            </a:lvl8pPr>
            <a:lvl9pPr algn="ctr">
              <a:defRPr lang="en-US" sz="4800" b="1">
                <a:solidFill>
                  <a:srgbClr val="822433"/>
                </a:solidFill>
                <a:latin typeface="Roboto"/>
                <a:ea typeface="Roboto"/>
                <a:cs typeface="Roboto"/>
              </a:defRPr>
            </a:lvl9pPr>
          </a:lstStyle>
          <a:p>
            <a:pPr algn="ctr">
              <a:defRPr lang="en-US" sz="4800" b="1">
                <a:solidFill>
                  <a:srgbClr val="822433"/>
                </a:solidFill>
                <a:latin typeface="Roboto"/>
                <a:ea typeface="Roboto"/>
                <a:cs typeface="Roboto"/>
              </a:defRPr>
            </a:pPr>
            <a:r>
              <a:rPr lang="en-US" sz="4800" b="1" dirty="0">
                <a:solidFill>
                  <a:srgbClr val="822433"/>
                </a:solidFill>
                <a:latin typeface="Roboto"/>
                <a:ea typeface="Roboto"/>
                <a:cs typeface="Roboto"/>
              </a:rPr>
              <a:t>75.55%</a:t>
            </a:r>
          </a:p>
        </p:txBody>
      </p:sp>
      <p:sp>
        <p:nvSpPr>
          <p:cNvPr id="18" name="best-seg-model">
            <a:extLst>
              <a:ext uri="{FF2B5EF4-FFF2-40B4-BE49-F238E27FC236}">
                <a16:creationId xmlns:a16="http://schemas.microsoft.com/office/drawing/2014/main" id="{B34A71A2-9C61-8B85-A2C8-FDA132BD775D}"/>
              </a:ext>
            </a:extLst>
          </p:cNvPr>
          <p:cNvSpPr>
            <a:spLocks noGrp="1"/>
          </p:cNvSpPr>
          <p:nvPr/>
        </p:nvSpPr>
        <p:spPr>
          <a:xfrm>
            <a:off x="8914521" y="3561538"/>
            <a:ext cx="2762250" cy="438150"/>
          </a:xfrm>
          <a:prstGeom prst="rect">
            <a:avLst/>
          </a:prstGeom>
          <a:noFill/>
          <a:ln w="0">
            <a:noFill/>
          </a:ln>
        </p:spPr>
        <p:txBody>
          <a:bodyPr wrap="square" lIns="0" tIns="0" rIns="0" bIns="0" anchor="t">
            <a:noAutofit/>
          </a:bodyPr>
          <a:lstStyle>
            <a:defPPr algn="ctr">
              <a:defRPr lang="en-US" sz="2175" b="1">
                <a:solidFill>
                  <a:srgbClr val="202124"/>
                </a:solidFill>
                <a:latin typeface="Roboto"/>
                <a:ea typeface="Roboto"/>
                <a:cs typeface="Roboto"/>
              </a:defRPr>
            </a:defPPr>
            <a:lvl1pPr algn="ctr">
              <a:defRPr lang="en-US" sz="2175" b="1">
                <a:solidFill>
                  <a:srgbClr val="202124"/>
                </a:solidFill>
                <a:latin typeface="Roboto"/>
                <a:ea typeface="Roboto"/>
                <a:cs typeface="Roboto"/>
              </a:defRPr>
            </a:lvl1pPr>
            <a:lvl2pPr algn="ctr">
              <a:defRPr lang="en-US" sz="2175" b="1">
                <a:solidFill>
                  <a:srgbClr val="202124"/>
                </a:solidFill>
                <a:latin typeface="Roboto"/>
                <a:ea typeface="Roboto"/>
                <a:cs typeface="Roboto"/>
              </a:defRPr>
            </a:lvl2pPr>
            <a:lvl3pPr algn="ctr">
              <a:defRPr lang="en-US" sz="2175" b="1">
                <a:solidFill>
                  <a:srgbClr val="202124"/>
                </a:solidFill>
                <a:latin typeface="Roboto"/>
                <a:ea typeface="Roboto"/>
                <a:cs typeface="Roboto"/>
              </a:defRPr>
            </a:lvl3pPr>
            <a:lvl4pPr algn="ctr">
              <a:defRPr lang="en-US" sz="2175" b="1">
                <a:solidFill>
                  <a:srgbClr val="202124"/>
                </a:solidFill>
                <a:latin typeface="Roboto"/>
                <a:ea typeface="Roboto"/>
                <a:cs typeface="Roboto"/>
              </a:defRPr>
            </a:lvl4pPr>
            <a:lvl5pPr algn="ctr">
              <a:defRPr lang="en-US" sz="2175" b="1">
                <a:solidFill>
                  <a:srgbClr val="202124"/>
                </a:solidFill>
                <a:latin typeface="Roboto"/>
                <a:ea typeface="Roboto"/>
                <a:cs typeface="Roboto"/>
              </a:defRPr>
            </a:lvl5pPr>
            <a:lvl6pPr algn="ctr">
              <a:defRPr lang="en-US" sz="2175" b="1">
                <a:solidFill>
                  <a:srgbClr val="202124"/>
                </a:solidFill>
                <a:latin typeface="Roboto"/>
                <a:ea typeface="Roboto"/>
                <a:cs typeface="Roboto"/>
              </a:defRPr>
            </a:lvl6pPr>
            <a:lvl7pPr algn="ctr">
              <a:defRPr lang="en-US" sz="2175" b="1">
                <a:solidFill>
                  <a:srgbClr val="202124"/>
                </a:solidFill>
                <a:latin typeface="Roboto"/>
                <a:ea typeface="Roboto"/>
                <a:cs typeface="Roboto"/>
              </a:defRPr>
            </a:lvl7pPr>
            <a:lvl8pPr algn="ctr">
              <a:defRPr lang="en-US" sz="2175" b="1">
                <a:solidFill>
                  <a:srgbClr val="202124"/>
                </a:solidFill>
                <a:latin typeface="Roboto"/>
                <a:ea typeface="Roboto"/>
                <a:cs typeface="Roboto"/>
              </a:defRPr>
            </a:lvl8pPr>
            <a:lvl9pPr algn="ctr">
              <a:defRPr lang="en-US" sz="2175" b="1">
                <a:solidFill>
                  <a:srgbClr val="202124"/>
                </a:solidFill>
                <a:latin typeface="Roboto"/>
                <a:ea typeface="Roboto"/>
                <a:cs typeface="Roboto"/>
              </a:defRPr>
            </a:lvl9pPr>
          </a:lstStyle>
          <a:p>
            <a:pPr algn="ctr">
              <a:defRPr lang="en-US" sz="2175" b="1">
                <a:solidFill>
                  <a:srgbClr val="202124"/>
                </a:solidFill>
                <a:latin typeface="Roboto"/>
                <a:ea typeface="Roboto"/>
                <a:cs typeface="Roboto"/>
              </a:defRPr>
            </a:pPr>
            <a:r>
              <a:rPr lang="en-US" sz="2175" b="1" dirty="0">
                <a:solidFill>
                  <a:srgbClr val="202124"/>
                </a:solidFill>
                <a:latin typeface="Roboto"/>
                <a:ea typeface="Roboto"/>
                <a:cs typeface="Roboto"/>
              </a:rPr>
              <a:t>SegFormer-B0</a:t>
            </a:r>
          </a:p>
        </p:txBody>
      </p:sp>
      <p:sp>
        <p:nvSpPr>
          <p:cNvPr id="20" name="best-seg-params">
            <a:extLst>
              <a:ext uri="{FF2B5EF4-FFF2-40B4-BE49-F238E27FC236}">
                <a16:creationId xmlns:a16="http://schemas.microsoft.com/office/drawing/2014/main" id="{7E44B55A-E98F-B8F2-F6C9-AD2769C124EC}"/>
              </a:ext>
            </a:extLst>
          </p:cNvPr>
          <p:cNvSpPr>
            <a:spLocks noGrp="1"/>
          </p:cNvSpPr>
          <p:nvPr/>
        </p:nvSpPr>
        <p:spPr>
          <a:xfrm>
            <a:off x="8900233" y="4025736"/>
            <a:ext cx="2762250" cy="409575"/>
          </a:xfrm>
          <a:prstGeom prst="rect">
            <a:avLst/>
          </a:prstGeom>
          <a:noFill/>
          <a:ln w="0">
            <a:noFill/>
          </a:ln>
        </p:spPr>
        <p:txBody>
          <a:bodyPr wrap="square" lIns="0" tIns="0" rIns="0" bIns="0" anchor="t">
            <a:noAutofit/>
          </a:bodyPr>
          <a:lstStyle>
            <a:defPPr algn="ctr">
              <a:defRPr lang="en-US" sz="1875" b="0">
                <a:solidFill>
                  <a:srgbClr val="656B73"/>
                </a:solidFill>
                <a:latin typeface="Roboto"/>
                <a:ea typeface="Roboto"/>
                <a:cs typeface="Roboto"/>
              </a:defRPr>
            </a:defPPr>
            <a:lvl1pPr algn="ctr">
              <a:defRPr lang="en-US" sz="1875" b="0">
                <a:solidFill>
                  <a:srgbClr val="656B73"/>
                </a:solidFill>
                <a:latin typeface="Roboto"/>
                <a:ea typeface="Roboto"/>
                <a:cs typeface="Roboto"/>
              </a:defRPr>
            </a:lvl1pPr>
            <a:lvl2pPr algn="ctr">
              <a:defRPr lang="en-US" sz="1875" b="0">
                <a:solidFill>
                  <a:srgbClr val="656B73"/>
                </a:solidFill>
                <a:latin typeface="Roboto"/>
                <a:ea typeface="Roboto"/>
                <a:cs typeface="Roboto"/>
              </a:defRPr>
            </a:lvl2pPr>
            <a:lvl3pPr algn="ctr">
              <a:defRPr lang="en-US" sz="1875" b="0">
                <a:solidFill>
                  <a:srgbClr val="656B73"/>
                </a:solidFill>
                <a:latin typeface="Roboto"/>
                <a:ea typeface="Roboto"/>
                <a:cs typeface="Roboto"/>
              </a:defRPr>
            </a:lvl3pPr>
            <a:lvl4pPr algn="ctr">
              <a:defRPr lang="en-US" sz="1875" b="0">
                <a:solidFill>
                  <a:srgbClr val="656B73"/>
                </a:solidFill>
                <a:latin typeface="Roboto"/>
                <a:ea typeface="Roboto"/>
                <a:cs typeface="Roboto"/>
              </a:defRPr>
            </a:lvl4pPr>
            <a:lvl5pPr algn="ctr">
              <a:defRPr lang="en-US" sz="1875" b="0">
                <a:solidFill>
                  <a:srgbClr val="656B73"/>
                </a:solidFill>
                <a:latin typeface="Roboto"/>
                <a:ea typeface="Roboto"/>
                <a:cs typeface="Roboto"/>
              </a:defRPr>
            </a:lvl5pPr>
            <a:lvl6pPr algn="ctr">
              <a:defRPr lang="en-US" sz="1875" b="0">
                <a:solidFill>
                  <a:srgbClr val="656B73"/>
                </a:solidFill>
                <a:latin typeface="Roboto"/>
                <a:ea typeface="Roboto"/>
                <a:cs typeface="Roboto"/>
              </a:defRPr>
            </a:lvl6pPr>
            <a:lvl7pPr algn="ctr">
              <a:defRPr lang="en-US" sz="1875" b="0">
                <a:solidFill>
                  <a:srgbClr val="656B73"/>
                </a:solidFill>
                <a:latin typeface="Roboto"/>
                <a:ea typeface="Roboto"/>
                <a:cs typeface="Roboto"/>
              </a:defRPr>
            </a:lvl7pPr>
            <a:lvl8pPr algn="ctr">
              <a:defRPr lang="en-US" sz="1875" b="0">
                <a:solidFill>
                  <a:srgbClr val="656B73"/>
                </a:solidFill>
                <a:latin typeface="Roboto"/>
                <a:ea typeface="Roboto"/>
                <a:cs typeface="Roboto"/>
              </a:defRPr>
            </a:lvl8pPr>
            <a:lvl9pPr algn="ctr">
              <a:defRPr lang="en-US" sz="1875" b="0">
                <a:solidFill>
                  <a:srgbClr val="656B73"/>
                </a:solidFill>
                <a:latin typeface="Roboto"/>
                <a:ea typeface="Roboto"/>
                <a:cs typeface="Roboto"/>
              </a:defRPr>
            </a:lvl9pPr>
          </a:lstStyle>
          <a:p>
            <a:pPr algn="ctr">
              <a:defRPr lang="en-US" sz="1875" b="0">
                <a:solidFill>
                  <a:srgbClr val="656B73"/>
                </a:solidFill>
                <a:latin typeface="Roboto"/>
                <a:ea typeface="Roboto"/>
                <a:cs typeface="Roboto"/>
              </a:defRPr>
            </a:pPr>
            <a:r>
              <a:rPr lang="en-US" sz="1875" b="0" dirty="0">
                <a:solidFill>
                  <a:srgbClr val="656B73"/>
                </a:solidFill>
                <a:latin typeface="Roboto"/>
                <a:ea typeface="Roboto"/>
                <a:cs typeface="Roboto"/>
              </a:rPr>
              <a:t>3.72M parameters</a:t>
            </a:r>
          </a:p>
        </p:txBody>
      </p:sp>
    </p:spTree>
    <p:extLst>
      <p:ext uri="{BB962C8B-B14F-4D97-AF65-F5344CB8AC3E}">
        <p14:creationId xmlns:p14="http://schemas.microsoft.com/office/powerpoint/2010/main" val="19145481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2A7E0-036F-0FAB-F318-6F34781F658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A753354-8731-0F2D-72DE-450BAAB8D057}"/>
              </a:ext>
            </a:extLst>
          </p:cNvPr>
          <p:cNvSpPr>
            <a:spLocks noGrp="1"/>
          </p:cNvSpPr>
          <p:nvPr>
            <p:ph type="title"/>
          </p:nvPr>
        </p:nvSpPr>
        <p:spPr>
          <a:xfrm>
            <a:off x="838200" y="365125"/>
            <a:ext cx="8384177" cy="835787"/>
          </a:xfrm>
        </p:spPr>
        <p:txBody>
          <a:bodyPr/>
          <a:lstStyle/>
          <a:p>
            <a:r>
              <a:rPr lang="en-US" dirty="0">
                <a:solidFill>
                  <a:srgbClr val="822433"/>
                </a:solidFill>
              </a:rPr>
              <a:t>Cross-generalization</a:t>
            </a:r>
            <a:endParaRPr lang="en-US" noProof="0" dirty="0">
              <a:solidFill>
                <a:srgbClr val="822433"/>
              </a:solidFill>
            </a:endParaRPr>
          </a:p>
        </p:txBody>
      </p:sp>
      <p:sp>
        <p:nvSpPr>
          <p:cNvPr id="4" name="Google Shape;102;p14">
            <a:extLst>
              <a:ext uri="{FF2B5EF4-FFF2-40B4-BE49-F238E27FC236}">
                <a16:creationId xmlns:a16="http://schemas.microsoft.com/office/drawing/2014/main" id="{66AD3EA7-99DC-21B4-74D2-984BAFDF260A}"/>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24</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2AF55B1C-2B8D-F4C6-7953-117E91C8BA8B}"/>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Tabella 5">
            <a:extLst>
              <a:ext uri="{FF2B5EF4-FFF2-40B4-BE49-F238E27FC236}">
                <a16:creationId xmlns:a16="http://schemas.microsoft.com/office/drawing/2014/main" id="{11FC2143-848E-85BB-337E-A033457A48BC}"/>
              </a:ext>
            </a:extLst>
          </p:cNvPr>
          <p:cNvGraphicFramePr/>
          <p:nvPr>
            <p:extLst>
              <p:ext uri="{D42A27DB-BD31-4B8C-83A1-F6EECF244321}">
                <p14:modId xmlns:p14="http://schemas.microsoft.com/office/powerpoint/2010/main" val="1118548531"/>
              </p:ext>
            </p:extLst>
          </p:nvPr>
        </p:nvGraphicFramePr>
        <p:xfrm>
          <a:off x="838200" y="2155261"/>
          <a:ext cx="10668000" cy="2790825"/>
        </p:xfrm>
        <a:graphic>
          <a:graphicData uri="http://schemas.openxmlformats.org/drawingml/2006/table">
            <a:tbl>
              <a:tblPr>
                <a:effectLst>
                  <a:outerShdw blurRad="50800" dist="38100" dir="2700000" algn="tl" rotWithShape="0">
                    <a:prstClr val="black">
                      <a:alpha val="40000"/>
                    </a:prstClr>
                  </a:outerShdw>
                </a:effectLst>
              </a:tblPr>
              <a:tblGrid>
                <a:gridCol w="3048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gridCol w="1905000">
                  <a:extLst>
                    <a:ext uri="{9D8B030D-6E8A-4147-A177-3AD203B41FA5}">
                      <a16:colId xmlns:a16="http://schemas.microsoft.com/office/drawing/2014/main" val="20004"/>
                    </a:ext>
                  </a:extLst>
                </a:gridCol>
              </a:tblGrid>
              <a:tr h="558165">
                <a:tc rowSpan="2">
                  <a:txBody>
                    <a:bodyPr/>
                    <a:lstStyle/>
                    <a:p>
                      <a:pPr algn="ctr"/>
                      <a:r>
                        <a:rPr lang="en-US" sz="1950" b="1" dirty="0">
                          <a:solidFill>
                            <a:schemeClr val="bg1"/>
                          </a:solidFill>
                          <a:latin typeface="Roboto"/>
                          <a:ea typeface="Roboto"/>
                          <a:cs typeface="Roboto"/>
                        </a:rPr>
                        <a:t>Model</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822433"/>
                    </a:solidFill>
                  </a:tcPr>
                </a:tc>
                <a:tc gridSpan="2">
                  <a:txBody>
                    <a:bodyPr/>
                    <a:lstStyle/>
                    <a:p>
                      <a:pPr algn="ctr"/>
                      <a:r>
                        <a:rPr lang="en-US" sz="1950" b="1" dirty="0">
                          <a:solidFill>
                            <a:schemeClr val="bg1"/>
                          </a:solidFill>
                          <a:latin typeface="Roboto"/>
                          <a:ea typeface="Roboto"/>
                          <a:cs typeface="Roboto"/>
                        </a:rPr>
                        <a:t>MSL training </a:t>
                      </a:r>
                      <a:r>
                        <a:rPr lang="en-US" sz="1950" b="1" dirty="0" err="1">
                          <a:solidFill>
                            <a:schemeClr val="bg1"/>
                          </a:solidFill>
                          <a:latin typeface="Roboto"/>
                          <a:ea typeface="Roboto"/>
                          <a:cs typeface="Roboto"/>
                        </a:rPr>
                        <a:t>mIoU</a:t>
                      </a:r>
                      <a:endParaRPr lang="en-US" sz="1950" b="1" dirty="0">
                        <a:solidFill>
                          <a:schemeClr val="bg1"/>
                        </a:solidFill>
                        <a:latin typeface="Roboto"/>
                        <a:ea typeface="Roboto"/>
                        <a:cs typeface="Roboto"/>
                      </a:endParaRPr>
                    </a:p>
                  </a:txBody>
                  <a:tcPr marL="76200" marR="7620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822433"/>
                    </a:solidFill>
                  </a:tcPr>
                </a:tc>
                <a:tc hMerge="1">
                  <a:txBody>
                    <a:bodyPr/>
                    <a:lstStyle/>
                    <a:p>
                      <a:pPr algn="ctr"/>
                      <a:endParaRPr/>
                    </a:p>
                  </a:txBody>
                  <a:tcPr marL="76200" marR="76200" marT="47625" marB="47625" anchor="ctr">
                    <a:lnL w="0">
                      <a:noFill/>
                    </a:lnL>
                    <a:lnR w="0">
                      <a:noFill/>
                    </a:lnR>
                    <a:lnT w="0">
                      <a:noFill/>
                    </a:lnT>
                    <a:lnB w="0">
                      <a:noFill/>
                    </a:lnB>
                    <a:lnTlToBr w="0">
                      <a:noFill/>
                    </a:lnTlToBr>
                    <a:lnBlToTr w="0">
                      <a:noFill/>
                    </a:lnBlToTr>
                    <a:solidFill>
                      <a:srgbClr val="FFFFFF"/>
                    </a:solidFill>
                  </a:tcPr>
                </a:tc>
                <a:tc gridSpan="2">
                  <a:txBody>
                    <a:bodyPr/>
                    <a:lstStyle/>
                    <a:p>
                      <a:pPr algn="ctr"/>
                      <a:r>
                        <a:rPr lang="en-US" sz="1950" b="1" dirty="0">
                          <a:solidFill>
                            <a:schemeClr val="bg1"/>
                          </a:solidFill>
                          <a:latin typeface="Roboto"/>
                          <a:ea typeface="Roboto"/>
                          <a:cs typeface="Roboto"/>
                        </a:rPr>
                        <a:t>MER training </a:t>
                      </a:r>
                      <a:r>
                        <a:rPr lang="en-US" sz="1950" b="1" dirty="0" err="1">
                          <a:solidFill>
                            <a:schemeClr val="bg1"/>
                          </a:solidFill>
                          <a:latin typeface="Roboto"/>
                          <a:ea typeface="Roboto"/>
                          <a:cs typeface="Roboto"/>
                        </a:rPr>
                        <a:t>mIoU</a:t>
                      </a:r>
                      <a:endParaRPr lang="en-US" sz="1950" b="1" dirty="0">
                        <a:solidFill>
                          <a:schemeClr val="bg1"/>
                        </a:solidFill>
                        <a:latin typeface="Roboto"/>
                        <a:ea typeface="Roboto"/>
                        <a:cs typeface="Roboto"/>
                      </a:endParaRP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822433"/>
                    </a:solidFill>
                  </a:tcPr>
                </a:tc>
                <a:tc hMerge="1">
                  <a:txBody>
                    <a:bodyPr/>
                    <a:lstStyle/>
                    <a:p>
                      <a:pPr algn="ctr"/>
                      <a:endParaRPr/>
                    </a:p>
                  </a:txBody>
                  <a:tcPr marL="76200" marR="76200" marT="47625" marB="47625"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0"/>
                  </a:ext>
                </a:extLst>
              </a:tr>
              <a:tr h="558165">
                <a:tc vMerge="1">
                  <a:txBody>
                    <a:bodyPr/>
                    <a:lstStyle/>
                    <a:p>
                      <a:pPr algn="ctr"/>
                      <a:endParaRPr/>
                    </a:p>
                  </a:txBody>
                  <a:tcPr marL="76200" marR="76200" marT="47625" marB="47625" anchor="ctr">
                    <a:lnL w="0">
                      <a:noFill/>
                    </a:lnL>
                    <a:lnR w="0">
                      <a:noFill/>
                    </a:lnR>
                    <a:lnT w="0">
                      <a:noFill/>
                    </a:lnT>
                    <a:lnB w="0">
                      <a:noFill/>
                    </a:lnB>
                    <a:lnTlToBr w="0">
                      <a:noFill/>
                    </a:lnTlToBr>
                    <a:lnBlToTr w="0">
                      <a:noFill/>
                    </a:lnBlToTr>
                    <a:solidFill>
                      <a:srgbClr val="FFFFFF"/>
                    </a:solidFill>
                  </a:tcPr>
                </a:tc>
                <a:tc>
                  <a:txBody>
                    <a:bodyPr/>
                    <a:lstStyle/>
                    <a:p>
                      <a:pPr algn="ctr"/>
                      <a:r>
                        <a:rPr lang="en-US" sz="1950" b="1" dirty="0">
                          <a:solidFill>
                            <a:srgbClr val="202124"/>
                          </a:solidFill>
                          <a:latin typeface="Roboto"/>
                          <a:ea typeface="Roboto"/>
                          <a:cs typeface="Roboto"/>
                        </a:rPr>
                        <a:t>MSL test</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1950" b="1" dirty="0">
                          <a:solidFill>
                            <a:srgbClr val="822433"/>
                          </a:solidFill>
                          <a:latin typeface="Roboto"/>
                          <a:ea typeface="Roboto"/>
                          <a:cs typeface="Roboto"/>
                        </a:rPr>
                        <a:t>MER test</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FFFFFF"/>
                    </a:solidFill>
                  </a:tcPr>
                </a:tc>
                <a:tc>
                  <a:txBody>
                    <a:bodyPr/>
                    <a:lstStyle/>
                    <a:p>
                      <a:pPr algn="ctr"/>
                      <a:r>
                        <a:rPr lang="en-US" sz="1950" b="1" dirty="0">
                          <a:solidFill>
                            <a:srgbClr val="202124"/>
                          </a:solidFill>
                          <a:latin typeface="Roboto"/>
                          <a:ea typeface="Roboto"/>
                          <a:cs typeface="Roboto"/>
                        </a:rPr>
                        <a:t>MER test</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1950" b="1" dirty="0">
                          <a:solidFill>
                            <a:srgbClr val="822433"/>
                          </a:solidFill>
                          <a:latin typeface="Roboto"/>
                          <a:ea typeface="Roboto"/>
                          <a:cs typeface="Roboto"/>
                        </a:rPr>
                        <a:t>MSL test</a:t>
                      </a:r>
                    </a:p>
                  </a:txBody>
                  <a:tcPr marL="76200" marR="76200" marT="47625" marB="47625"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1"/>
                  </a:ext>
                </a:extLst>
              </a:tr>
              <a:tr h="558165">
                <a:tc>
                  <a:txBody>
                    <a:bodyPr/>
                    <a:lstStyle/>
                    <a:p>
                      <a:pPr algn="l"/>
                      <a:r>
                        <a:rPr lang="en-US" sz="2100" dirty="0">
                          <a:solidFill>
                            <a:srgbClr val="202124"/>
                          </a:solidFill>
                          <a:latin typeface="Roboto"/>
                          <a:ea typeface="Roboto"/>
                          <a:cs typeface="Roboto"/>
                        </a:rPr>
                        <a:t>SegFormer-B0</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chemeClr val="bg1">
                        <a:lumMod val="95000"/>
                      </a:schemeClr>
                    </a:solidFill>
                  </a:tcPr>
                </a:tc>
                <a:tc>
                  <a:txBody>
                    <a:bodyPr/>
                    <a:lstStyle/>
                    <a:p>
                      <a:pPr algn="ctr"/>
                      <a:r>
                        <a:rPr lang="en-US" sz="2400" dirty="0">
                          <a:solidFill>
                            <a:srgbClr val="202124"/>
                          </a:solidFill>
                          <a:latin typeface="Roboto"/>
                          <a:ea typeface="Roboto"/>
                          <a:cs typeface="Roboto"/>
                        </a:rPr>
                        <a:t>70.63%</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400" b="1" dirty="0">
                          <a:solidFill>
                            <a:srgbClr val="822433"/>
                          </a:solidFill>
                          <a:latin typeface="Roboto"/>
                          <a:ea typeface="Roboto"/>
                          <a:cs typeface="Roboto"/>
                        </a:rPr>
                        <a:t>52.06%</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chemeClr val="bg1">
                        <a:lumMod val="95000"/>
                      </a:schemeClr>
                    </a:solidFill>
                  </a:tcPr>
                </a:tc>
                <a:tc>
                  <a:txBody>
                    <a:bodyPr/>
                    <a:lstStyle/>
                    <a:p>
                      <a:pPr algn="ctr"/>
                      <a:r>
                        <a:rPr lang="en-US" sz="2400" dirty="0">
                          <a:solidFill>
                            <a:srgbClr val="202124"/>
                          </a:solidFill>
                          <a:latin typeface="Roboto"/>
                          <a:ea typeface="Roboto"/>
                          <a:cs typeface="Roboto"/>
                        </a:rPr>
                        <a:t>66.75%</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400" b="1" dirty="0">
                          <a:solidFill>
                            <a:srgbClr val="822433"/>
                          </a:solidFill>
                          <a:latin typeface="Roboto"/>
                          <a:ea typeface="Roboto"/>
                          <a:cs typeface="Roboto"/>
                        </a:rPr>
                        <a:t>48.11%</a:t>
                      </a:r>
                    </a:p>
                  </a:txBody>
                  <a:tcPr marL="76200" marR="76200" marT="47625" marB="47625"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2"/>
                  </a:ext>
                </a:extLst>
              </a:tr>
              <a:tr h="558165">
                <a:tc>
                  <a:txBody>
                    <a:bodyPr/>
                    <a:lstStyle/>
                    <a:p>
                      <a:pPr algn="l"/>
                      <a:r>
                        <a:rPr lang="en-US" sz="2100" dirty="0">
                          <a:solidFill>
                            <a:srgbClr val="202124"/>
                          </a:solidFill>
                          <a:latin typeface="Roboto"/>
                          <a:ea typeface="Roboto"/>
                          <a:cs typeface="Roboto"/>
                        </a:rPr>
                        <a:t>U-Net R34</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FFFFFF"/>
                    </a:solidFill>
                  </a:tcPr>
                </a:tc>
                <a:tc>
                  <a:txBody>
                    <a:bodyPr/>
                    <a:lstStyle/>
                    <a:p>
                      <a:pPr algn="ctr"/>
                      <a:r>
                        <a:rPr lang="en-US" sz="2400" b="1" dirty="0">
                          <a:solidFill>
                            <a:srgbClr val="202124"/>
                          </a:solidFill>
                          <a:latin typeface="Roboto"/>
                          <a:ea typeface="Roboto"/>
                          <a:cs typeface="Roboto"/>
                        </a:rPr>
                        <a:t>71.80%</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2400" dirty="0">
                          <a:solidFill>
                            <a:srgbClr val="822433"/>
                          </a:solidFill>
                          <a:latin typeface="Roboto"/>
                          <a:ea typeface="Roboto"/>
                          <a:cs typeface="Roboto"/>
                        </a:rPr>
                        <a:t>27.43%</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FFFFFF"/>
                    </a:solidFill>
                  </a:tcPr>
                </a:tc>
                <a:tc>
                  <a:txBody>
                    <a:bodyPr/>
                    <a:lstStyle/>
                    <a:p>
                      <a:pPr algn="ctr"/>
                      <a:r>
                        <a:rPr lang="en-US" sz="2400" b="1" dirty="0">
                          <a:solidFill>
                            <a:srgbClr val="202124"/>
                          </a:solidFill>
                          <a:latin typeface="Roboto"/>
                          <a:ea typeface="Roboto"/>
                          <a:cs typeface="Roboto"/>
                        </a:rPr>
                        <a:t>67.76%</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2400" dirty="0">
                          <a:solidFill>
                            <a:srgbClr val="822433"/>
                          </a:solidFill>
                          <a:latin typeface="Roboto"/>
                          <a:ea typeface="Roboto"/>
                          <a:cs typeface="Roboto"/>
                        </a:rPr>
                        <a:t>13.82%</a:t>
                      </a:r>
                    </a:p>
                  </a:txBody>
                  <a:tcPr marL="76200" marR="76200" marT="47625" marB="47625"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3"/>
                  </a:ext>
                </a:extLst>
              </a:tr>
              <a:tr h="558165">
                <a:tc>
                  <a:txBody>
                    <a:bodyPr/>
                    <a:lstStyle/>
                    <a:p>
                      <a:pPr algn="l"/>
                      <a:r>
                        <a:rPr lang="en-US" sz="2100" dirty="0">
                          <a:solidFill>
                            <a:srgbClr val="202124"/>
                          </a:solidFill>
                          <a:latin typeface="Roboto"/>
                          <a:ea typeface="Roboto"/>
                          <a:cs typeface="Roboto"/>
                        </a:rPr>
                        <a:t>DeepLabV3+ MV2</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chemeClr val="bg1">
                        <a:lumMod val="95000"/>
                      </a:schemeClr>
                    </a:solidFill>
                  </a:tcPr>
                </a:tc>
                <a:tc>
                  <a:txBody>
                    <a:bodyPr/>
                    <a:lstStyle/>
                    <a:p>
                      <a:pPr algn="ctr"/>
                      <a:r>
                        <a:rPr lang="en-US" sz="2400" dirty="0">
                          <a:solidFill>
                            <a:srgbClr val="202124"/>
                          </a:solidFill>
                          <a:latin typeface="Roboto"/>
                          <a:ea typeface="Roboto"/>
                          <a:cs typeface="Roboto"/>
                        </a:rPr>
                        <a:t>68.98%</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400" dirty="0">
                          <a:solidFill>
                            <a:srgbClr val="822433"/>
                          </a:solidFill>
                          <a:latin typeface="Roboto"/>
                          <a:ea typeface="Roboto"/>
                          <a:cs typeface="Roboto"/>
                        </a:rPr>
                        <a:t>38.27%</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chemeClr val="bg1">
                        <a:lumMod val="95000"/>
                      </a:schemeClr>
                    </a:solidFill>
                  </a:tcPr>
                </a:tc>
                <a:tc>
                  <a:txBody>
                    <a:bodyPr/>
                    <a:lstStyle/>
                    <a:p>
                      <a:pPr algn="ctr"/>
                      <a:r>
                        <a:rPr lang="en-US" sz="2400" dirty="0">
                          <a:solidFill>
                            <a:srgbClr val="202124"/>
                          </a:solidFill>
                          <a:latin typeface="Roboto"/>
                          <a:ea typeface="Roboto"/>
                          <a:cs typeface="Roboto"/>
                        </a:rPr>
                        <a:t>65.10%</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400" dirty="0">
                          <a:solidFill>
                            <a:srgbClr val="822433"/>
                          </a:solidFill>
                          <a:latin typeface="Roboto"/>
                          <a:ea typeface="Roboto"/>
                          <a:cs typeface="Roboto"/>
                        </a:rPr>
                        <a:t>12.86%</a:t>
                      </a:r>
                    </a:p>
                  </a:txBody>
                  <a:tcPr marL="76200" marR="76200" marT="47625" marB="47625"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4"/>
                  </a:ext>
                </a:extLst>
              </a:tr>
            </a:tbl>
          </a:graphicData>
        </a:graphic>
      </p:graphicFrame>
      <p:sp>
        <p:nvSpPr>
          <p:cNvPr id="10" name="cross-scope">
            <a:extLst>
              <a:ext uri="{FF2B5EF4-FFF2-40B4-BE49-F238E27FC236}">
                <a16:creationId xmlns:a16="http://schemas.microsoft.com/office/drawing/2014/main" id="{1FAB7C16-D544-C895-8174-86F62D812A8F}"/>
              </a:ext>
            </a:extLst>
          </p:cNvPr>
          <p:cNvSpPr>
            <a:spLocks noGrp="1"/>
          </p:cNvSpPr>
          <p:nvPr/>
        </p:nvSpPr>
        <p:spPr>
          <a:xfrm>
            <a:off x="838200" y="5076953"/>
            <a:ext cx="10668000" cy="333375"/>
          </a:xfrm>
          <a:prstGeom prst="rect">
            <a:avLst/>
          </a:prstGeom>
          <a:noFill/>
          <a:ln w="0">
            <a:noFill/>
          </a:ln>
        </p:spPr>
        <p:txBody>
          <a:bodyPr wrap="square" lIns="0" tIns="0" rIns="0" bIns="0" anchor="t">
            <a:noAutofit/>
          </a:bodyPr>
          <a:lstStyle>
            <a:defPPr algn="l">
              <a:defRPr lang="en-US" sz="1725" b="0">
                <a:solidFill>
                  <a:srgbClr val="656B73"/>
                </a:solidFill>
                <a:latin typeface="Roboto"/>
                <a:ea typeface="Roboto"/>
                <a:cs typeface="Roboto"/>
              </a:defRPr>
            </a:defPPr>
            <a:lvl1pPr algn="l">
              <a:defRPr lang="en-US" sz="1725" b="0">
                <a:solidFill>
                  <a:srgbClr val="656B73"/>
                </a:solidFill>
                <a:latin typeface="Roboto"/>
                <a:ea typeface="Roboto"/>
                <a:cs typeface="Roboto"/>
              </a:defRPr>
            </a:lvl1pPr>
            <a:lvl2pPr algn="l">
              <a:defRPr lang="en-US" sz="1725" b="0">
                <a:solidFill>
                  <a:srgbClr val="656B73"/>
                </a:solidFill>
                <a:latin typeface="Roboto"/>
                <a:ea typeface="Roboto"/>
                <a:cs typeface="Roboto"/>
              </a:defRPr>
            </a:lvl2pPr>
            <a:lvl3pPr algn="l">
              <a:defRPr lang="en-US" sz="1725" b="0">
                <a:solidFill>
                  <a:srgbClr val="656B73"/>
                </a:solidFill>
                <a:latin typeface="Roboto"/>
                <a:ea typeface="Roboto"/>
                <a:cs typeface="Roboto"/>
              </a:defRPr>
            </a:lvl3pPr>
            <a:lvl4pPr algn="l">
              <a:defRPr lang="en-US" sz="1725" b="0">
                <a:solidFill>
                  <a:srgbClr val="656B73"/>
                </a:solidFill>
                <a:latin typeface="Roboto"/>
                <a:ea typeface="Roboto"/>
                <a:cs typeface="Roboto"/>
              </a:defRPr>
            </a:lvl4pPr>
            <a:lvl5pPr algn="l">
              <a:defRPr lang="en-US" sz="1725" b="0">
                <a:solidFill>
                  <a:srgbClr val="656B73"/>
                </a:solidFill>
                <a:latin typeface="Roboto"/>
                <a:ea typeface="Roboto"/>
                <a:cs typeface="Roboto"/>
              </a:defRPr>
            </a:lvl5pPr>
            <a:lvl6pPr algn="l">
              <a:defRPr lang="en-US" sz="1725" b="0">
                <a:solidFill>
                  <a:srgbClr val="656B73"/>
                </a:solidFill>
                <a:latin typeface="Roboto"/>
                <a:ea typeface="Roboto"/>
                <a:cs typeface="Roboto"/>
              </a:defRPr>
            </a:lvl6pPr>
            <a:lvl7pPr algn="l">
              <a:defRPr lang="en-US" sz="1725" b="0">
                <a:solidFill>
                  <a:srgbClr val="656B73"/>
                </a:solidFill>
                <a:latin typeface="Roboto"/>
                <a:ea typeface="Roboto"/>
                <a:cs typeface="Roboto"/>
              </a:defRPr>
            </a:lvl7pPr>
            <a:lvl8pPr algn="l">
              <a:defRPr lang="en-US" sz="1725" b="0">
                <a:solidFill>
                  <a:srgbClr val="656B73"/>
                </a:solidFill>
                <a:latin typeface="Roboto"/>
                <a:ea typeface="Roboto"/>
                <a:cs typeface="Roboto"/>
              </a:defRPr>
            </a:lvl8pPr>
            <a:lvl9pPr algn="l">
              <a:defRPr lang="en-US" sz="1725" b="0">
                <a:solidFill>
                  <a:srgbClr val="656B73"/>
                </a:solidFill>
                <a:latin typeface="Roboto"/>
                <a:ea typeface="Roboto"/>
                <a:cs typeface="Roboto"/>
              </a:defRPr>
            </a:lvl9pPr>
          </a:lstStyle>
          <a:p>
            <a:pPr algn="l">
              <a:defRPr lang="en-US" sz="1725" b="0">
                <a:solidFill>
                  <a:srgbClr val="656B73"/>
                </a:solidFill>
                <a:latin typeface="Roboto"/>
                <a:ea typeface="Roboto"/>
                <a:cs typeface="Roboto"/>
              </a:defRPr>
            </a:pPr>
            <a:r>
              <a:rPr lang="en-US" sz="1400" b="0" dirty="0">
                <a:solidFill>
                  <a:srgbClr val="656B73"/>
                </a:solidFill>
                <a:latin typeface="Roboto"/>
                <a:ea typeface="Roboto"/>
                <a:cs typeface="Roboto"/>
              </a:rPr>
              <a:t>Separate training runs, no target fine-tuning</a:t>
            </a:r>
          </a:p>
        </p:txBody>
      </p:sp>
    </p:spTree>
    <p:extLst>
      <p:ext uri="{BB962C8B-B14F-4D97-AF65-F5344CB8AC3E}">
        <p14:creationId xmlns:p14="http://schemas.microsoft.com/office/powerpoint/2010/main" val="2793047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308B2-58D6-FEE9-4C01-9AA2D12956E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3894003-A9B7-8E92-4D48-270852ADEB05}"/>
              </a:ext>
            </a:extLst>
          </p:cNvPr>
          <p:cNvSpPr>
            <a:spLocks noGrp="1"/>
          </p:cNvSpPr>
          <p:nvPr>
            <p:ph type="title"/>
          </p:nvPr>
        </p:nvSpPr>
        <p:spPr>
          <a:xfrm>
            <a:off x="838200" y="365125"/>
            <a:ext cx="9386455" cy="835787"/>
          </a:xfrm>
        </p:spPr>
        <p:txBody>
          <a:bodyPr>
            <a:normAutofit/>
          </a:bodyPr>
          <a:lstStyle/>
          <a:p>
            <a:r>
              <a:rPr lang="en-US" dirty="0">
                <a:solidFill>
                  <a:srgbClr val="822433"/>
                </a:solidFill>
              </a:rPr>
              <a:t>Semantic Segmentation: Efficiency</a:t>
            </a:r>
            <a:endParaRPr lang="en-US" noProof="0" dirty="0">
              <a:solidFill>
                <a:srgbClr val="822433"/>
              </a:solidFill>
            </a:endParaRPr>
          </a:p>
        </p:txBody>
      </p:sp>
      <p:sp>
        <p:nvSpPr>
          <p:cNvPr id="4" name="Google Shape;102;p14">
            <a:extLst>
              <a:ext uri="{FF2B5EF4-FFF2-40B4-BE49-F238E27FC236}">
                <a16:creationId xmlns:a16="http://schemas.microsoft.com/office/drawing/2014/main" id="{7CEC75DA-4BEC-E538-8FC5-C0F3CA89D3CD}"/>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25</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1150DABA-181E-0A37-54AC-D552EFF142B1}"/>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Tabella 5">
            <a:extLst>
              <a:ext uri="{FF2B5EF4-FFF2-40B4-BE49-F238E27FC236}">
                <a16:creationId xmlns:a16="http://schemas.microsoft.com/office/drawing/2014/main" id="{100EDF0A-48F2-63D9-C838-736981AF5462}"/>
              </a:ext>
            </a:extLst>
          </p:cNvPr>
          <p:cNvGraphicFramePr/>
          <p:nvPr>
            <p:extLst>
              <p:ext uri="{D42A27DB-BD31-4B8C-83A1-F6EECF244321}">
                <p14:modId xmlns:p14="http://schemas.microsoft.com/office/powerpoint/2010/main" val="1085277147"/>
              </p:ext>
            </p:extLst>
          </p:nvPr>
        </p:nvGraphicFramePr>
        <p:xfrm>
          <a:off x="762000" y="1665316"/>
          <a:ext cx="10668000" cy="4053840"/>
        </p:xfrm>
        <a:graphic>
          <a:graphicData uri="http://schemas.openxmlformats.org/drawingml/2006/table">
            <a:tbl>
              <a:tblPr>
                <a:effectLst>
                  <a:outerShdw blurRad="50800" dist="38100" dir="2700000" algn="tl" rotWithShape="0">
                    <a:prstClr val="black">
                      <a:alpha val="40000"/>
                    </a:prstClr>
                  </a:outerShdw>
                </a:effectLst>
              </a:tblPr>
              <a:tblGrid>
                <a:gridCol w="2714625">
                  <a:extLst>
                    <a:ext uri="{9D8B030D-6E8A-4147-A177-3AD203B41FA5}">
                      <a16:colId xmlns:a16="http://schemas.microsoft.com/office/drawing/2014/main" val="20000"/>
                    </a:ext>
                  </a:extLst>
                </a:gridCol>
                <a:gridCol w="1857375">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tblGrid>
              <a:tr h="609600">
                <a:tc>
                  <a:txBody>
                    <a:bodyPr/>
                    <a:lstStyle/>
                    <a:p>
                      <a:pPr algn="ctr"/>
                      <a:r>
                        <a:rPr lang="en-US" sz="1800" b="1" dirty="0">
                          <a:solidFill>
                            <a:schemeClr val="bg1"/>
                          </a:solidFill>
                          <a:latin typeface="Roboto"/>
                          <a:ea typeface="Roboto"/>
                          <a:cs typeface="Roboto"/>
                        </a:rPr>
                        <a:t>Model</a:t>
                      </a:r>
                    </a:p>
                  </a:txBody>
                  <a:tcPr marL="76200" marR="76200" marT="38100" marB="38100" anchor="ctr">
                    <a:lnL w="0">
                      <a:noFill/>
                    </a:lnL>
                    <a:lnR w="12700" cap="flat" cmpd="sng" algn="ctr">
                      <a:solidFill>
                        <a:schemeClr val="tx1"/>
                      </a:solidFill>
                      <a:prstDash val="solid"/>
                      <a:round/>
                      <a:headEnd type="none" w="med" len="med"/>
                      <a:tailEnd type="none" w="med" len="med"/>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800" b="1" dirty="0">
                          <a:solidFill>
                            <a:schemeClr val="bg1"/>
                          </a:solidFill>
                          <a:latin typeface="Roboto"/>
                          <a:ea typeface="Roboto"/>
                          <a:cs typeface="Roboto"/>
                        </a:rPr>
                        <a:t>Variant</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800" b="1" dirty="0">
                          <a:solidFill>
                            <a:schemeClr val="bg1"/>
                          </a:solidFill>
                          <a:latin typeface="Roboto"/>
                          <a:ea typeface="Roboto"/>
                          <a:cs typeface="Roboto"/>
                        </a:rPr>
                        <a:t>Test </a:t>
                      </a:r>
                      <a:r>
                        <a:rPr lang="en-US" sz="1800" b="1" dirty="0" err="1">
                          <a:solidFill>
                            <a:schemeClr val="bg1"/>
                          </a:solidFill>
                          <a:latin typeface="Roboto"/>
                          <a:ea typeface="Roboto"/>
                          <a:cs typeface="Roboto"/>
                        </a:rPr>
                        <a:t>mIoU</a:t>
                      </a:r>
                      <a:endParaRPr lang="en-US" sz="1800" b="1" dirty="0">
                        <a:solidFill>
                          <a:schemeClr val="bg1"/>
                        </a:solidFill>
                        <a:latin typeface="Roboto"/>
                        <a:ea typeface="Roboto"/>
                        <a:cs typeface="Roboto"/>
                      </a:endParaRPr>
                    </a:p>
                    <a:p>
                      <a:pPr algn="ctr"/>
                      <a:r>
                        <a:rPr lang="en-US" sz="1800" b="1" dirty="0">
                          <a:solidFill>
                            <a:schemeClr val="bg1"/>
                          </a:solidFill>
                          <a:latin typeface="Roboto"/>
                          <a:ea typeface="Roboto"/>
                          <a:cs typeface="Roboto"/>
                        </a:rPr>
                        <a:t>(%)</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800" b="1" dirty="0">
                          <a:solidFill>
                            <a:schemeClr val="bg1"/>
                          </a:solidFill>
                          <a:latin typeface="Roboto"/>
                          <a:ea typeface="Roboto"/>
                          <a:cs typeface="Roboto"/>
                        </a:rPr>
                        <a:t>Latency</a:t>
                      </a:r>
                    </a:p>
                    <a:p>
                      <a:pPr algn="ctr"/>
                      <a:r>
                        <a:rPr lang="en-US" sz="1800" b="1" dirty="0">
                          <a:solidFill>
                            <a:schemeClr val="bg1"/>
                          </a:solidFill>
                          <a:latin typeface="Roboto"/>
                          <a:ea typeface="Roboto"/>
                          <a:cs typeface="Roboto"/>
                        </a:rPr>
                        <a:t>(</a:t>
                      </a:r>
                      <a:r>
                        <a:rPr lang="en-US" sz="1800" b="1" dirty="0" err="1">
                          <a:solidFill>
                            <a:schemeClr val="bg1"/>
                          </a:solidFill>
                          <a:latin typeface="Roboto"/>
                          <a:ea typeface="Roboto"/>
                          <a:cs typeface="Roboto"/>
                        </a:rPr>
                        <a:t>ms</a:t>
                      </a:r>
                      <a:r>
                        <a:rPr lang="en-US" sz="1800" b="1" dirty="0">
                          <a:solidFill>
                            <a:schemeClr val="bg1"/>
                          </a:solidFill>
                          <a:latin typeface="Roboto"/>
                          <a:ea typeface="Roboto"/>
                          <a:cs typeface="Roboto"/>
                        </a:rPr>
                        <a:t>)</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800" b="1" dirty="0">
                          <a:solidFill>
                            <a:schemeClr val="bg1"/>
                          </a:solidFill>
                          <a:latin typeface="Roboto"/>
                          <a:ea typeface="Roboto"/>
                          <a:cs typeface="Roboto"/>
                        </a:rPr>
                        <a:t>Energy</a:t>
                      </a:r>
                    </a:p>
                    <a:p>
                      <a:pPr algn="ctr"/>
                      <a:r>
                        <a:rPr lang="en-US" sz="1800" b="1" dirty="0">
                          <a:solidFill>
                            <a:schemeClr val="bg1"/>
                          </a:solidFill>
                          <a:latin typeface="Roboto"/>
                          <a:ea typeface="Roboto"/>
                          <a:cs typeface="Roboto"/>
                        </a:rPr>
                        <a:t>(</a:t>
                      </a:r>
                      <a:r>
                        <a:rPr lang="en-US" sz="1800" b="1" dirty="0" err="1">
                          <a:solidFill>
                            <a:schemeClr val="bg1"/>
                          </a:solidFill>
                          <a:latin typeface="Roboto"/>
                          <a:ea typeface="Roboto"/>
                          <a:cs typeface="Roboto"/>
                        </a:rPr>
                        <a:t>mJ</a:t>
                      </a:r>
                      <a:r>
                        <a:rPr lang="en-US" sz="1800" b="1" dirty="0">
                          <a:solidFill>
                            <a:schemeClr val="bg1"/>
                          </a:solidFill>
                          <a:latin typeface="Roboto"/>
                          <a:ea typeface="Roboto"/>
                          <a:cs typeface="Roboto"/>
                        </a:rPr>
                        <a:t>/image)</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extLst>
                  <a:ext uri="{0D108BD9-81ED-4DB2-BD59-A6C34878D82A}">
                    <a16:rowId xmlns:a16="http://schemas.microsoft.com/office/drawing/2014/main" val="10000"/>
                  </a:ext>
                </a:extLst>
              </a:tr>
              <a:tr h="428625">
                <a:tc rowSpan="4">
                  <a:txBody>
                    <a:bodyPr/>
                    <a:lstStyle/>
                    <a:p>
                      <a:pPr algn="l"/>
                      <a:r>
                        <a:rPr lang="en-US" sz="2025" b="1" dirty="0">
                          <a:solidFill>
                            <a:srgbClr val="202124"/>
                          </a:solidFill>
                          <a:latin typeface="Roboto"/>
                          <a:ea typeface="Roboto"/>
                          <a:cs typeface="Roboto"/>
                        </a:rPr>
                        <a:t>DeepLabV3+</a:t>
                      </a:r>
                    </a:p>
                    <a:p>
                      <a:pPr algn="l"/>
                      <a:r>
                        <a:rPr lang="en-US" sz="2025" b="1" dirty="0">
                          <a:solidFill>
                            <a:srgbClr val="202124"/>
                          </a:solidFill>
                          <a:latin typeface="Roboto"/>
                          <a:ea typeface="Roboto"/>
                          <a:cs typeface="Roboto"/>
                        </a:rPr>
                        <a:t>MobileNetV2</a:t>
                      </a:r>
                    </a:p>
                  </a:txBody>
                  <a:tcPr marL="76200" marR="76200" marT="38100" marB="381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FP32</a:t>
                      </a:r>
                    </a:p>
                  </a:txBody>
                  <a:tcPr marL="76200" marR="76200" marT="38100" marB="38100" anchor="ctr">
                    <a:lnL w="12700" cap="flat" cmpd="sng" algn="ctr">
                      <a:solidFill>
                        <a:schemeClr val="tx1"/>
                      </a:solidFill>
                      <a:prstDash val="solid"/>
                      <a:round/>
                      <a:headEnd type="none" w="med" len="med"/>
                      <a:tailEnd type="none" w="med" len="med"/>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64.07</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8.84</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653.72</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extLst>
                  <a:ext uri="{0D108BD9-81ED-4DB2-BD59-A6C34878D82A}">
                    <a16:rowId xmlns:a16="http://schemas.microsoft.com/office/drawing/2014/main" val="10001"/>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FP16</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64.07</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6.03</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377.88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2"/>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PTQ INT8</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59.14</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4.02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159.19</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3"/>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b="1" dirty="0">
                          <a:solidFill>
                            <a:srgbClr val="822433"/>
                          </a:solidFill>
                          <a:latin typeface="Roboto"/>
                          <a:ea typeface="Roboto"/>
                          <a:cs typeface="Roboto"/>
                        </a:rPr>
                        <a:t>QAT INT8</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65.63</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3.01</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115.34</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chemeClr val="bg1">
                        <a:lumMod val="95000"/>
                      </a:schemeClr>
                    </a:solidFill>
                  </a:tcPr>
                </a:tc>
                <a:extLst>
                  <a:ext uri="{0D108BD9-81ED-4DB2-BD59-A6C34878D82A}">
                    <a16:rowId xmlns:a16="http://schemas.microsoft.com/office/drawing/2014/main" val="10004"/>
                  </a:ext>
                </a:extLst>
              </a:tr>
              <a:tr h="428625">
                <a:tc rowSpan="4">
                  <a:txBody>
                    <a:bodyPr/>
                    <a:lstStyle/>
                    <a:p>
                      <a:pPr algn="l"/>
                      <a:r>
                        <a:rPr lang="en-US" sz="2025" b="1" dirty="0">
                          <a:solidFill>
                            <a:srgbClr val="202124"/>
                          </a:solidFill>
                          <a:latin typeface="Roboto"/>
                          <a:ea typeface="Roboto"/>
                          <a:cs typeface="Roboto"/>
                        </a:rPr>
                        <a:t>SegFormer-B0</a:t>
                      </a:r>
                    </a:p>
                  </a:txBody>
                  <a:tcPr marL="76200" marR="76200" marT="38100" marB="38100" anchor="ctr">
                    <a:lnL w="0">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FP32</a:t>
                      </a:r>
                    </a:p>
                  </a:txBody>
                  <a:tcPr marL="76200" marR="76200" marT="38100" marB="38100" anchor="ctr">
                    <a:lnL w="12700" cap="flat" cmpd="sng" algn="ctr">
                      <a:solidFill>
                        <a:schemeClr val="tx1"/>
                      </a:solidFill>
                      <a:prstDash val="solid"/>
                      <a:round/>
                      <a:headEnd type="none" w="med" len="med"/>
                      <a:tailEnd type="none" w="med" len="med"/>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75.55</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11.88</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835.72</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extLst>
                  <a:ext uri="{0D108BD9-81ED-4DB2-BD59-A6C34878D82A}">
                    <a16:rowId xmlns:a16="http://schemas.microsoft.com/office/drawing/2014/main" val="10005"/>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FP16</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75.55</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7.17</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432.07</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6"/>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PTQ INT8</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75.60</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5.92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327.99</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7"/>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b="1" dirty="0">
                          <a:solidFill>
                            <a:srgbClr val="822433"/>
                          </a:solidFill>
                          <a:latin typeface="Roboto"/>
                          <a:ea typeface="Roboto"/>
                          <a:cs typeface="Roboto"/>
                        </a:rPr>
                        <a:t>QAT INT8</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76.93</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5.66</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291.76</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8"/>
                  </a:ext>
                </a:extLst>
              </a:tr>
            </a:tbl>
          </a:graphicData>
        </a:graphic>
      </p:graphicFrame>
      <p:sp>
        <p:nvSpPr>
          <p:cNvPr id="8" name="benchmark-scope">
            <a:extLst>
              <a:ext uri="{FF2B5EF4-FFF2-40B4-BE49-F238E27FC236}">
                <a16:creationId xmlns:a16="http://schemas.microsoft.com/office/drawing/2014/main" id="{E420B95F-C84B-F185-58E3-DF14E120C93D}"/>
              </a:ext>
            </a:extLst>
          </p:cNvPr>
          <p:cNvSpPr>
            <a:spLocks noGrp="1"/>
          </p:cNvSpPr>
          <p:nvPr/>
        </p:nvSpPr>
        <p:spPr>
          <a:xfrm>
            <a:off x="762000" y="5611091"/>
            <a:ext cx="10763250" cy="304800"/>
          </a:xfrm>
          <a:prstGeom prst="rect">
            <a:avLst/>
          </a:prstGeom>
          <a:noFill/>
          <a:ln w="0">
            <a:noFill/>
          </a:ln>
        </p:spPr>
        <p:txBody>
          <a:bodyPr wrap="square" lIns="0" tIns="0" rIns="0" bIns="0" anchor="t">
            <a:noAutofit/>
          </a:bodyPr>
          <a:lstStyle>
            <a:defPPr algn="l">
              <a:defRPr lang="en-US" sz="1725" b="0">
                <a:solidFill>
                  <a:srgbClr val="656B73"/>
                </a:solidFill>
                <a:latin typeface="Roboto"/>
                <a:ea typeface="Roboto"/>
                <a:cs typeface="Roboto"/>
              </a:defRPr>
            </a:defPPr>
            <a:lvl1pPr algn="l">
              <a:defRPr lang="en-US" sz="1725" b="0">
                <a:solidFill>
                  <a:srgbClr val="656B73"/>
                </a:solidFill>
                <a:latin typeface="Roboto"/>
                <a:ea typeface="Roboto"/>
                <a:cs typeface="Roboto"/>
              </a:defRPr>
            </a:lvl1pPr>
            <a:lvl2pPr algn="l">
              <a:defRPr lang="en-US" sz="1725" b="0">
                <a:solidFill>
                  <a:srgbClr val="656B73"/>
                </a:solidFill>
                <a:latin typeface="Roboto"/>
                <a:ea typeface="Roboto"/>
                <a:cs typeface="Roboto"/>
              </a:defRPr>
            </a:lvl2pPr>
            <a:lvl3pPr algn="l">
              <a:defRPr lang="en-US" sz="1725" b="0">
                <a:solidFill>
                  <a:srgbClr val="656B73"/>
                </a:solidFill>
                <a:latin typeface="Roboto"/>
                <a:ea typeface="Roboto"/>
                <a:cs typeface="Roboto"/>
              </a:defRPr>
            </a:lvl3pPr>
            <a:lvl4pPr algn="l">
              <a:defRPr lang="en-US" sz="1725" b="0">
                <a:solidFill>
                  <a:srgbClr val="656B73"/>
                </a:solidFill>
                <a:latin typeface="Roboto"/>
                <a:ea typeface="Roboto"/>
                <a:cs typeface="Roboto"/>
              </a:defRPr>
            </a:lvl4pPr>
            <a:lvl5pPr algn="l">
              <a:defRPr lang="en-US" sz="1725" b="0">
                <a:solidFill>
                  <a:srgbClr val="656B73"/>
                </a:solidFill>
                <a:latin typeface="Roboto"/>
                <a:ea typeface="Roboto"/>
                <a:cs typeface="Roboto"/>
              </a:defRPr>
            </a:lvl5pPr>
            <a:lvl6pPr algn="l">
              <a:defRPr lang="en-US" sz="1725" b="0">
                <a:solidFill>
                  <a:srgbClr val="656B73"/>
                </a:solidFill>
                <a:latin typeface="Roboto"/>
                <a:ea typeface="Roboto"/>
                <a:cs typeface="Roboto"/>
              </a:defRPr>
            </a:lvl6pPr>
            <a:lvl7pPr algn="l">
              <a:defRPr lang="en-US" sz="1725" b="0">
                <a:solidFill>
                  <a:srgbClr val="656B73"/>
                </a:solidFill>
                <a:latin typeface="Roboto"/>
                <a:ea typeface="Roboto"/>
                <a:cs typeface="Roboto"/>
              </a:defRPr>
            </a:lvl7pPr>
            <a:lvl8pPr algn="l">
              <a:defRPr lang="en-US" sz="1725" b="0">
                <a:solidFill>
                  <a:srgbClr val="656B73"/>
                </a:solidFill>
                <a:latin typeface="Roboto"/>
                <a:ea typeface="Roboto"/>
                <a:cs typeface="Roboto"/>
              </a:defRPr>
            </a:lvl8pPr>
            <a:lvl9pPr algn="l">
              <a:defRPr lang="en-US" sz="1725" b="0">
                <a:solidFill>
                  <a:srgbClr val="656B73"/>
                </a:solidFill>
                <a:latin typeface="Roboto"/>
                <a:ea typeface="Roboto"/>
                <a:cs typeface="Roboto"/>
              </a:defRPr>
            </a:lvl9pPr>
          </a:lstStyle>
          <a:p>
            <a:pPr>
              <a:defRPr lang="en-US" sz="1725" b="0">
                <a:solidFill>
                  <a:srgbClr val="656B73"/>
                </a:solidFill>
                <a:latin typeface="Roboto"/>
                <a:ea typeface="Roboto"/>
                <a:cs typeface="Roboto"/>
              </a:defRPr>
            </a:pPr>
            <a:r>
              <a:rPr lang="en-US" sz="1400" dirty="0"/>
              <a:t>Best two results, </a:t>
            </a:r>
            <a:r>
              <a:rPr lang="en-US" sz="1400" b="0" dirty="0">
                <a:solidFill>
                  <a:srgbClr val="656B73"/>
                </a:solidFill>
                <a:latin typeface="Roboto"/>
                <a:ea typeface="Roboto"/>
                <a:cs typeface="Roboto"/>
              </a:rPr>
              <a:t>NVIDIA T4, batch 1, </a:t>
            </a:r>
            <a:r>
              <a:rPr lang="en-US" sz="1400" dirty="0"/>
              <a:t>f</a:t>
            </a:r>
            <a:r>
              <a:rPr lang="en-US" sz="1400" b="0" dirty="0">
                <a:solidFill>
                  <a:srgbClr val="656B73"/>
                </a:solidFill>
                <a:latin typeface="Roboto"/>
                <a:ea typeface="Roboto"/>
                <a:cs typeface="Roboto"/>
              </a:rPr>
              <a:t>orward pass only, preprocessing excluded</a:t>
            </a:r>
          </a:p>
        </p:txBody>
      </p:sp>
    </p:spTree>
    <p:extLst>
      <p:ext uri="{BB962C8B-B14F-4D97-AF65-F5344CB8AC3E}">
        <p14:creationId xmlns:p14="http://schemas.microsoft.com/office/powerpoint/2010/main" val="36509643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574E0-A803-9799-B3EE-F1EB4BC0D46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8B4D3FC-ADFB-10F4-78F3-E24B2F982387}"/>
              </a:ext>
            </a:extLst>
          </p:cNvPr>
          <p:cNvSpPr>
            <a:spLocks noGrp="1"/>
          </p:cNvSpPr>
          <p:nvPr>
            <p:ph type="title"/>
          </p:nvPr>
        </p:nvSpPr>
        <p:spPr>
          <a:xfrm>
            <a:off x="838200" y="365125"/>
            <a:ext cx="8384177" cy="835787"/>
          </a:xfrm>
        </p:spPr>
        <p:txBody>
          <a:bodyPr/>
          <a:lstStyle/>
          <a:p>
            <a:r>
              <a:rPr lang="en-US" dirty="0">
                <a:solidFill>
                  <a:srgbClr val="822433"/>
                </a:solidFill>
              </a:rPr>
              <a:t>Damage Inspection: Detection</a:t>
            </a:r>
            <a:endParaRPr lang="en-US" noProof="0" dirty="0">
              <a:solidFill>
                <a:srgbClr val="822433"/>
              </a:solidFill>
            </a:endParaRPr>
          </a:p>
        </p:txBody>
      </p:sp>
      <p:sp>
        <p:nvSpPr>
          <p:cNvPr id="4" name="Google Shape;102;p14">
            <a:extLst>
              <a:ext uri="{FF2B5EF4-FFF2-40B4-BE49-F238E27FC236}">
                <a16:creationId xmlns:a16="http://schemas.microsoft.com/office/drawing/2014/main" id="{5CC8E176-C497-BECA-9F7F-0450BF15F75F}"/>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26</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674077C5-673F-DCC8-C8A5-AB973C1711D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Chart">
            <a:extLst>
              <a:ext uri="{FF2B5EF4-FFF2-40B4-BE49-F238E27FC236}">
                <a16:creationId xmlns:a16="http://schemas.microsoft.com/office/drawing/2014/main" id="{1EF5FD2C-5DFB-2189-1B94-317B10DA47DA}"/>
              </a:ext>
            </a:extLst>
          </p:cNvPr>
          <p:cNvGraphicFramePr/>
          <p:nvPr>
            <p:extLst>
              <p:ext uri="{D42A27DB-BD31-4B8C-83A1-F6EECF244321}">
                <p14:modId xmlns:p14="http://schemas.microsoft.com/office/powerpoint/2010/main" val="2844569967"/>
              </p:ext>
            </p:extLst>
          </p:nvPr>
        </p:nvGraphicFramePr>
        <p:xfrm>
          <a:off x="762000" y="1543050"/>
          <a:ext cx="7810500" cy="4143375"/>
        </p:xfrm>
        <a:graphic>
          <a:graphicData uri="http://schemas.openxmlformats.org/drawingml/2006/chart">
            <c:chart xmlns:c="http://schemas.openxmlformats.org/drawingml/2006/chart" xmlns:r="http://schemas.openxmlformats.org/officeDocument/2006/relationships" r:id="rId3"/>
          </a:graphicData>
        </a:graphic>
      </p:graphicFrame>
      <p:sp>
        <p:nvSpPr>
          <p:cNvPr id="10" name="ad-best-value">
            <a:extLst>
              <a:ext uri="{FF2B5EF4-FFF2-40B4-BE49-F238E27FC236}">
                <a16:creationId xmlns:a16="http://schemas.microsoft.com/office/drawing/2014/main" id="{AF75B76F-6498-5BC1-4F5C-9F494B2B03FE}"/>
              </a:ext>
            </a:extLst>
          </p:cNvPr>
          <p:cNvSpPr>
            <a:spLocks noGrp="1"/>
          </p:cNvSpPr>
          <p:nvPr/>
        </p:nvSpPr>
        <p:spPr>
          <a:xfrm>
            <a:off x="8882061" y="3048381"/>
            <a:ext cx="2819400" cy="895350"/>
          </a:xfrm>
          <a:prstGeom prst="rect">
            <a:avLst/>
          </a:prstGeom>
          <a:noFill/>
          <a:ln w="0">
            <a:noFill/>
          </a:ln>
        </p:spPr>
        <p:txBody>
          <a:bodyPr wrap="square" lIns="0" tIns="0" rIns="0" bIns="0" anchor="t">
            <a:noAutofit/>
          </a:bodyPr>
          <a:lstStyle>
            <a:defPPr algn="ctr">
              <a:defRPr lang="en-US" sz="4800" b="1">
                <a:solidFill>
                  <a:srgbClr val="822433"/>
                </a:solidFill>
                <a:latin typeface="Roboto"/>
                <a:ea typeface="Roboto"/>
                <a:cs typeface="Roboto"/>
              </a:defRPr>
            </a:defPPr>
            <a:lvl1pPr algn="ctr">
              <a:defRPr lang="en-US" sz="4800" b="1">
                <a:solidFill>
                  <a:srgbClr val="822433"/>
                </a:solidFill>
                <a:latin typeface="Roboto"/>
                <a:ea typeface="Roboto"/>
                <a:cs typeface="Roboto"/>
              </a:defRPr>
            </a:lvl1pPr>
            <a:lvl2pPr algn="ctr">
              <a:defRPr lang="en-US" sz="4800" b="1">
                <a:solidFill>
                  <a:srgbClr val="822433"/>
                </a:solidFill>
                <a:latin typeface="Roboto"/>
                <a:ea typeface="Roboto"/>
                <a:cs typeface="Roboto"/>
              </a:defRPr>
            </a:lvl2pPr>
            <a:lvl3pPr algn="ctr">
              <a:defRPr lang="en-US" sz="4800" b="1">
                <a:solidFill>
                  <a:srgbClr val="822433"/>
                </a:solidFill>
                <a:latin typeface="Roboto"/>
                <a:ea typeface="Roboto"/>
                <a:cs typeface="Roboto"/>
              </a:defRPr>
            </a:lvl3pPr>
            <a:lvl4pPr algn="ctr">
              <a:defRPr lang="en-US" sz="4800" b="1">
                <a:solidFill>
                  <a:srgbClr val="822433"/>
                </a:solidFill>
                <a:latin typeface="Roboto"/>
                <a:ea typeface="Roboto"/>
                <a:cs typeface="Roboto"/>
              </a:defRPr>
            </a:lvl4pPr>
            <a:lvl5pPr algn="ctr">
              <a:defRPr lang="en-US" sz="4800" b="1">
                <a:solidFill>
                  <a:srgbClr val="822433"/>
                </a:solidFill>
                <a:latin typeface="Roboto"/>
                <a:ea typeface="Roboto"/>
                <a:cs typeface="Roboto"/>
              </a:defRPr>
            </a:lvl5pPr>
            <a:lvl6pPr algn="ctr">
              <a:defRPr lang="en-US" sz="4800" b="1">
                <a:solidFill>
                  <a:srgbClr val="822433"/>
                </a:solidFill>
                <a:latin typeface="Roboto"/>
                <a:ea typeface="Roboto"/>
                <a:cs typeface="Roboto"/>
              </a:defRPr>
            </a:lvl6pPr>
            <a:lvl7pPr algn="ctr">
              <a:defRPr lang="en-US" sz="4800" b="1">
                <a:solidFill>
                  <a:srgbClr val="822433"/>
                </a:solidFill>
                <a:latin typeface="Roboto"/>
                <a:ea typeface="Roboto"/>
                <a:cs typeface="Roboto"/>
              </a:defRPr>
            </a:lvl7pPr>
            <a:lvl8pPr algn="ctr">
              <a:defRPr lang="en-US" sz="4800" b="1">
                <a:solidFill>
                  <a:srgbClr val="822433"/>
                </a:solidFill>
                <a:latin typeface="Roboto"/>
                <a:ea typeface="Roboto"/>
                <a:cs typeface="Roboto"/>
              </a:defRPr>
            </a:lvl8pPr>
            <a:lvl9pPr algn="ctr">
              <a:defRPr lang="en-US" sz="4800" b="1">
                <a:solidFill>
                  <a:srgbClr val="822433"/>
                </a:solidFill>
                <a:latin typeface="Roboto"/>
                <a:ea typeface="Roboto"/>
                <a:cs typeface="Roboto"/>
              </a:defRPr>
            </a:lvl9pPr>
          </a:lstStyle>
          <a:p>
            <a:pPr algn="ctr">
              <a:defRPr lang="en-US" sz="4800" b="1">
                <a:solidFill>
                  <a:srgbClr val="822433"/>
                </a:solidFill>
                <a:latin typeface="Roboto"/>
                <a:ea typeface="Roboto"/>
                <a:cs typeface="Roboto"/>
              </a:defRPr>
            </a:pPr>
            <a:r>
              <a:rPr lang="en-US" sz="4800" b="1" dirty="0">
                <a:solidFill>
                  <a:srgbClr val="822433"/>
                </a:solidFill>
                <a:latin typeface="Roboto"/>
                <a:ea typeface="Roboto"/>
                <a:cs typeface="Roboto"/>
              </a:rPr>
              <a:t>86.43%</a:t>
            </a:r>
          </a:p>
        </p:txBody>
      </p:sp>
      <p:sp>
        <p:nvSpPr>
          <p:cNvPr id="12" name="ad-best-model">
            <a:extLst>
              <a:ext uri="{FF2B5EF4-FFF2-40B4-BE49-F238E27FC236}">
                <a16:creationId xmlns:a16="http://schemas.microsoft.com/office/drawing/2014/main" id="{ACAE6630-8D59-DAF8-0EEC-01DA46019B8A}"/>
              </a:ext>
            </a:extLst>
          </p:cNvPr>
          <p:cNvSpPr>
            <a:spLocks noGrp="1"/>
          </p:cNvSpPr>
          <p:nvPr/>
        </p:nvSpPr>
        <p:spPr>
          <a:xfrm>
            <a:off x="8958261" y="3695701"/>
            <a:ext cx="2667000" cy="438150"/>
          </a:xfrm>
          <a:prstGeom prst="rect">
            <a:avLst/>
          </a:prstGeom>
          <a:noFill/>
          <a:ln w="0">
            <a:noFill/>
          </a:ln>
        </p:spPr>
        <p:txBody>
          <a:bodyPr wrap="square" lIns="0" tIns="0" rIns="0" bIns="0" anchor="t">
            <a:noAutofit/>
          </a:bodyPr>
          <a:lstStyle>
            <a:defPPr algn="ctr">
              <a:defRPr lang="en-US" sz="2250" b="1">
                <a:solidFill>
                  <a:srgbClr val="202124"/>
                </a:solidFill>
                <a:latin typeface="Roboto"/>
                <a:ea typeface="Roboto"/>
                <a:cs typeface="Roboto"/>
              </a:defRPr>
            </a:defPPr>
            <a:lvl1pPr algn="ctr">
              <a:defRPr lang="en-US" sz="2250" b="1">
                <a:solidFill>
                  <a:srgbClr val="202124"/>
                </a:solidFill>
                <a:latin typeface="Roboto"/>
                <a:ea typeface="Roboto"/>
                <a:cs typeface="Roboto"/>
              </a:defRPr>
            </a:lvl1pPr>
            <a:lvl2pPr algn="ctr">
              <a:defRPr lang="en-US" sz="2250" b="1">
                <a:solidFill>
                  <a:srgbClr val="202124"/>
                </a:solidFill>
                <a:latin typeface="Roboto"/>
                <a:ea typeface="Roboto"/>
                <a:cs typeface="Roboto"/>
              </a:defRPr>
            </a:lvl2pPr>
            <a:lvl3pPr algn="ctr">
              <a:defRPr lang="en-US" sz="2250" b="1">
                <a:solidFill>
                  <a:srgbClr val="202124"/>
                </a:solidFill>
                <a:latin typeface="Roboto"/>
                <a:ea typeface="Roboto"/>
                <a:cs typeface="Roboto"/>
              </a:defRPr>
            </a:lvl3pPr>
            <a:lvl4pPr algn="ctr">
              <a:defRPr lang="en-US" sz="2250" b="1">
                <a:solidFill>
                  <a:srgbClr val="202124"/>
                </a:solidFill>
                <a:latin typeface="Roboto"/>
                <a:ea typeface="Roboto"/>
                <a:cs typeface="Roboto"/>
              </a:defRPr>
            </a:lvl4pPr>
            <a:lvl5pPr algn="ctr">
              <a:defRPr lang="en-US" sz="2250" b="1">
                <a:solidFill>
                  <a:srgbClr val="202124"/>
                </a:solidFill>
                <a:latin typeface="Roboto"/>
                <a:ea typeface="Roboto"/>
                <a:cs typeface="Roboto"/>
              </a:defRPr>
            </a:lvl5pPr>
            <a:lvl6pPr algn="ctr">
              <a:defRPr lang="en-US" sz="2250" b="1">
                <a:solidFill>
                  <a:srgbClr val="202124"/>
                </a:solidFill>
                <a:latin typeface="Roboto"/>
                <a:ea typeface="Roboto"/>
                <a:cs typeface="Roboto"/>
              </a:defRPr>
            </a:lvl6pPr>
            <a:lvl7pPr algn="ctr">
              <a:defRPr lang="en-US" sz="2250" b="1">
                <a:solidFill>
                  <a:srgbClr val="202124"/>
                </a:solidFill>
                <a:latin typeface="Roboto"/>
                <a:ea typeface="Roboto"/>
                <a:cs typeface="Roboto"/>
              </a:defRPr>
            </a:lvl7pPr>
            <a:lvl8pPr algn="ctr">
              <a:defRPr lang="en-US" sz="2250" b="1">
                <a:solidFill>
                  <a:srgbClr val="202124"/>
                </a:solidFill>
                <a:latin typeface="Roboto"/>
                <a:ea typeface="Roboto"/>
                <a:cs typeface="Roboto"/>
              </a:defRPr>
            </a:lvl8pPr>
            <a:lvl9pPr algn="ctr">
              <a:defRPr lang="en-US" sz="2250" b="1">
                <a:solidFill>
                  <a:srgbClr val="202124"/>
                </a:solidFill>
                <a:latin typeface="Roboto"/>
                <a:ea typeface="Roboto"/>
                <a:cs typeface="Roboto"/>
              </a:defRPr>
            </a:lvl9pPr>
          </a:lstStyle>
          <a:p>
            <a:pPr algn="ctr">
              <a:defRPr lang="en-US" sz="2250" b="1">
                <a:solidFill>
                  <a:srgbClr val="202124"/>
                </a:solidFill>
                <a:latin typeface="Roboto"/>
                <a:ea typeface="Roboto"/>
                <a:cs typeface="Roboto"/>
              </a:defRPr>
            </a:pPr>
            <a:r>
              <a:rPr lang="en-US" sz="2250" b="1" dirty="0">
                <a:solidFill>
                  <a:srgbClr val="202124"/>
                </a:solidFill>
                <a:latin typeface="Roboto"/>
                <a:ea typeface="Roboto"/>
                <a:cs typeface="Roboto"/>
              </a:rPr>
              <a:t>PatchCore-L</a:t>
            </a:r>
          </a:p>
        </p:txBody>
      </p:sp>
      <p:sp>
        <p:nvSpPr>
          <p:cNvPr id="14" name="ad-best-scope">
            <a:extLst>
              <a:ext uri="{FF2B5EF4-FFF2-40B4-BE49-F238E27FC236}">
                <a16:creationId xmlns:a16="http://schemas.microsoft.com/office/drawing/2014/main" id="{3BDC17C2-FC1F-08A8-6287-61729627D614}"/>
              </a:ext>
            </a:extLst>
          </p:cNvPr>
          <p:cNvSpPr>
            <a:spLocks noGrp="1"/>
          </p:cNvSpPr>
          <p:nvPr/>
        </p:nvSpPr>
        <p:spPr>
          <a:xfrm>
            <a:off x="8772524" y="4073793"/>
            <a:ext cx="3038475" cy="409575"/>
          </a:xfrm>
          <a:prstGeom prst="rect">
            <a:avLst/>
          </a:prstGeom>
          <a:noFill/>
          <a:ln w="0">
            <a:noFill/>
          </a:ln>
        </p:spPr>
        <p:txBody>
          <a:bodyPr wrap="square" lIns="0" tIns="0" rIns="0" bIns="0" anchor="t">
            <a:noAutofit/>
          </a:bodyPr>
          <a:lstStyle>
            <a:defPPr algn="ctr">
              <a:defRPr lang="en-US" sz="1875" b="0">
                <a:solidFill>
                  <a:srgbClr val="656B73"/>
                </a:solidFill>
                <a:latin typeface="Roboto"/>
                <a:ea typeface="Roboto"/>
                <a:cs typeface="Roboto"/>
              </a:defRPr>
            </a:defPPr>
            <a:lvl1pPr algn="ctr">
              <a:defRPr lang="en-US" sz="1875" b="0">
                <a:solidFill>
                  <a:srgbClr val="656B73"/>
                </a:solidFill>
                <a:latin typeface="Roboto"/>
                <a:ea typeface="Roboto"/>
                <a:cs typeface="Roboto"/>
              </a:defRPr>
            </a:lvl1pPr>
            <a:lvl2pPr algn="ctr">
              <a:defRPr lang="en-US" sz="1875" b="0">
                <a:solidFill>
                  <a:srgbClr val="656B73"/>
                </a:solidFill>
                <a:latin typeface="Roboto"/>
                <a:ea typeface="Roboto"/>
                <a:cs typeface="Roboto"/>
              </a:defRPr>
            </a:lvl2pPr>
            <a:lvl3pPr algn="ctr">
              <a:defRPr lang="en-US" sz="1875" b="0">
                <a:solidFill>
                  <a:srgbClr val="656B73"/>
                </a:solidFill>
                <a:latin typeface="Roboto"/>
                <a:ea typeface="Roboto"/>
                <a:cs typeface="Roboto"/>
              </a:defRPr>
            </a:lvl3pPr>
            <a:lvl4pPr algn="ctr">
              <a:defRPr lang="en-US" sz="1875" b="0">
                <a:solidFill>
                  <a:srgbClr val="656B73"/>
                </a:solidFill>
                <a:latin typeface="Roboto"/>
                <a:ea typeface="Roboto"/>
                <a:cs typeface="Roboto"/>
              </a:defRPr>
            </a:lvl4pPr>
            <a:lvl5pPr algn="ctr">
              <a:defRPr lang="en-US" sz="1875" b="0">
                <a:solidFill>
                  <a:srgbClr val="656B73"/>
                </a:solidFill>
                <a:latin typeface="Roboto"/>
                <a:ea typeface="Roboto"/>
                <a:cs typeface="Roboto"/>
              </a:defRPr>
            </a:lvl5pPr>
            <a:lvl6pPr algn="ctr">
              <a:defRPr lang="en-US" sz="1875" b="0">
                <a:solidFill>
                  <a:srgbClr val="656B73"/>
                </a:solidFill>
                <a:latin typeface="Roboto"/>
                <a:ea typeface="Roboto"/>
                <a:cs typeface="Roboto"/>
              </a:defRPr>
            </a:lvl6pPr>
            <a:lvl7pPr algn="ctr">
              <a:defRPr lang="en-US" sz="1875" b="0">
                <a:solidFill>
                  <a:srgbClr val="656B73"/>
                </a:solidFill>
                <a:latin typeface="Roboto"/>
                <a:ea typeface="Roboto"/>
                <a:cs typeface="Roboto"/>
              </a:defRPr>
            </a:lvl7pPr>
            <a:lvl8pPr algn="ctr">
              <a:defRPr lang="en-US" sz="1875" b="0">
                <a:solidFill>
                  <a:srgbClr val="656B73"/>
                </a:solidFill>
                <a:latin typeface="Roboto"/>
                <a:ea typeface="Roboto"/>
                <a:cs typeface="Roboto"/>
              </a:defRPr>
            </a:lvl8pPr>
            <a:lvl9pPr algn="ctr">
              <a:defRPr lang="en-US" sz="1875" b="0">
                <a:solidFill>
                  <a:srgbClr val="656B73"/>
                </a:solidFill>
                <a:latin typeface="Roboto"/>
                <a:ea typeface="Roboto"/>
                <a:cs typeface="Roboto"/>
              </a:defRPr>
            </a:lvl9pPr>
          </a:lstStyle>
          <a:p>
            <a:pPr algn="ctr">
              <a:defRPr lang="en-US" sz="1875" b="0">
                <a:solidFill>
                  <a:srgbClr val="656B73"/>
                </a:solidFill>
                <a:latin typeface="Roboto"/>
                <a:ea typeface="Roboto"/>
                <a:cs typeface="Roboto"/>
              </a:defRPr>
            </a:pPr>
            <a:r>
              <a:rPr lang="en-US" sz="1875" b="0" dirty="0">
                <a:solidFill>
                  <a:srgbClr val="656B73"/>
                </a:solidFill>
                <a:latin typeface="Roboto"/>
                <a:ea typeface="Roboto"/>
                <a:cs typeface="Roboto"/>
              </a:rPr>
              <a:t>Synthetic pose-A test</a:t>
            </a:r>
          </a:p>
        </p:txBody>
      </p:sp>
      <p:sp>
        <p:nvSpPr>
          <p:cNvPr id="16" name="admetric">
            <a:extLst>
              <a:ext uri="{FF2B5EF4-FFF2-40B4-BE49-F238E27FC236}">
                <a16:creationId xmlns:a16="http://schemas.microsoft.com/office/drawing/2014/main" id="{FAC88116-C676-604C-A8F3-7D1F3C96AC64}"/>
              </a:ext>
            </a:extLst>
          </p:cNvPr>
          <p:cNvSpPr>
            <a:spLocks noGrp="1"/>
          </p:cNvSpPr>
          <p:nvPr/>
        </p:nvSpPr>
        <p:spPr>
          <a:xfrm>
            <a:off x="838200" y="5640274"/>
            <a:ext cx="10287000" cy="352425"/>
          </a:xfrm>
          <a:prstGeom prst="rect">
            <a:avLst/>
          </a:prstGeom>
          <a:noFill/>
          <a:ln w="0">
            <a:noFill/>
          </a:ln>
        </p:spPr>
        <p:txBody>
          <a:bodyPr wrap="square" lIns="0" tIns="0" rIns="0" bIns="0" anchor="t">
            <a:noAutofit/>
          </a:bodyPr>
          <a:lstStyle>
            <a:defPPr algn="l">
              <a:defRPr lang="en-US" sz="1800" b="0">
                <a:solidFill>
                  <a:srgbClr val="656B73"/>
                </a:solidFill>
                <a:latin typeface="Roboto"/>
                <a:ea typeface="Roboto"/>
                <a:cs typeface="Roboto"/>
              </a:defRPr>
            </a:defPPr>
            <a:lvl1pPr algn="l">
              <a:defRPr lang="en-US" sz="1800" b="0">
                <a:solidFill>
                  <a:srgbClr val="656B73"/>
                </a:solidFill>
                <a:latin typeface="Roboto"/>
                <a:ea typeface="Roboto"/>
                <a:cs typeface="Roboto"/>
              </a:defRPr>
            </a:lvl1pPr>
            <a:lvl2pPr algn="l">
              <a:defRPr lang="en-US" sz="1800" b="0">
                <a:solidFill>
                  <a:srgbClr val="656B73"/>
                </a:solidFill>
                <a:latin typeface="Roboto"/>
                <a:ea typeface="Roboto"/>
                <a:cs typeface="Roboto"/>
              </a:defRPr>
            </a:lvl2pPr>
            <a:lvl3pPr algn="l">
              <a:defRPr lang="en-US" sz="1800" b="0">
                <a:solidFill>
                  <a:srgbClr val="656B73"/>
                </a:solidFill>
                <a:latin typeface="Roboto"/>
                <a:ea typeface="Roboto"/>
                <a:cs typeface="Roboto"/>
              </a:defRPr>
            </a:lvl3pPr>
            <a:lvl4pPr algn="l">
              <a:defRPr lang="en-US" sz="1800" b="0">
                <a:solidFill>
                  <a:srgbClr val="656B73"/>
                </a:solidFill>
                <a:latin typeface="Roboto"/>
                <a:ea typeface="Roboto"/>
                <a:cs typeface="Roboto"/>
              </a:defRPr>
            </a:lvl4pPr>
            <a:lvl5pPr algn="l">
              <a:defRPr lang="en-US" sz="1800" b="0">
                <a:solidFill>
                  <a:srgbClr val="656B73"/>
                </a:solidFill>
                <a:latin typeface="Roboto"/>
                <a:ea typeface="Roboto"/>
                <a:cs typeface="Roboto"/>
              </a:defRPr>
            </a:lvl5pPr>
            <a:lvl6pPr algn="l">
              <a:defRPr lang="en-US" sz="1800" b="0">
                <a:solidFill>
                  <a:srgbClr val="656B73"/>
                </a:solidFill>
                <a:latin typeface="Roboto"/>
                <a:ea typeface="Roboto"/>
                <a:cs typeface="Roboto"/>
              </a:defRPr>
            </a:lvl6pPr>
            <a:lvl7pPr algn="l">
              <a:defRPr lang="en-US" sz="1800" b="0">
                <a:solidFill>
                  <a:srgbClr val="656B73"/>
                </a:solidFill>
                <a:latin typeface="Roboto"/>
                <a:ea typeface="Roboto"/>
                <a:cs typeface="Roboto"/>
              </a:defRPr>
            </a:lvl7pPr>
            <a:lvl8pPr algn="l">
              <a:defRPr lang="en-US" sz="1800" b="0">
                <a:solidFill>
                  <a:srgbClr val="656B73"/>
                </a:solidFill>
                <a:latin typeface="Roboto"/>
                <a:ea typeface="Roboto"/>
                <a:cs typeface="Roboto"/>
              </a:defRPr>
            </a:lvl8pPr>
            <a:lvl9pPr algn="l">
              <a:defRPr lang="en-US" sz="1800" b="0">
                <a:solidFill>
                  <a:srgbClr val="656B73"/>
                </a:solidFill>
                <a:latin typeface="Roboto"/>
                <a:ea typeface="Roboto"/>
                <a:cs typeface="Roboto"/>
              </a:defRPr>
            </a:lvl9pPr>
          </a:lstStyle>
          <a:p>
            <a:pPr algn="l">
              <a:defRPr lang="en-US" sz="1800" b="0">
                <a:solidFill>
                  <a:srgbClr val="656B73"/>
                </a:solidFill>
                <a:latin typeface="Roboto"/>
                <a:ea typeface="Roboto"/>
                <a:cs typeface="Roboto"/>
              </a:defRPr>
            </a:pPr>
            <a:r>
              <a:rPr lang="en-US" sz="1800" b="0" dirty="0">
                <a:solidFill>
                  <a:srgbClr val="656B73"/>
                </a:solidFill>
                <a:latin typeface="Roboto"/>
                <a:ea typeface="Roboto"/>
                <a:cs typeface="Roboto"/>
              </a:rPr>
              <a:t>Image AUROC on the test split</a:t>
            </a:r>
          </a:p>
        </p:txBody>
      </p:sp>
    </p:spTree>
    <p:extLst>
      <p:ext uri="{BB962C8B-B14F-4D97-AF65-F5344CB8AC3E}">
        <p14:creationId xmlns:p14="http://schemas.microsoft.com/office/powerpoint/2010/main" val="27796411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9E62A9-CB18-A19C-A614-05F64918621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C528257-3203-028A-0523-756BB753A6EB}"/>
              </a:ext>
            </a:extLst>
          </p:cNvPr>
          <p:cNvSpPr>
            <a:spLocks noGrp="1"/>
          </p:cNvSpPr>
          <p:nvPr>
            <p:ph type="title"/>
          </p:nvPr>
        </p:nvSpPr>
        <p:spPr>
          <a:xfrm>
            <a:off x="838200" y="365125"/>
            <a:ext cx="8384177" cy="835787"/>
          </a:xfrm>
        </p:spPr>
        <p:txBody>
          <a:bodyPr/>
          <a:lstStyle/>
          <a:p>
            <a:r>
              <a:rPr lang="en-US" dirty="0">
                <a:solidFill>
                  <a:srgbClr val="822433"/>
                </a:solidFill>
              </a:rPr>
              <a:t>Damage Inspection: Efficiency</a:t>
            </a:r>
            <a:endParaRPr lang="en-US" noProof="0" dirty="0">
              <a:solidFill>
                <a:srgbClr val="822433"/>
              </a:solidFill>
            </a:endParaRPr>
          </a:p>
        </p:txBody>
      </p:sp>
      <p:sp>
        <p:nvSpPr>
          <p:cNvPr id="4" name="Google Shape;102;p14">
            <a:extLst>
              <a:ext uri="{FF2B5EF4-FFF2-40B4-BE49-F238E27FC236}">
                <a16:creationId xmlns:a16="http://schemas.microsoft.com/office/drawing/2014/main" id="{8FD17F6C-164E-3587-02F7-1AF0BE1A15A4}"/>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27</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A5161605-37A6-DCB9-4B19-CEC53B5E016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12" name="Tabella 11">
            <a:extLst>
              <a:ext uri="{FF2B5EF4-FFF2-40B4-BE49-F238E27FC236}">
                <a16:creationId xmlns:a16="http://schemas.microsoft.com/office/drawing/2014/main" id="{5D1293E6-A870-FBF8-E38C-E06508BE6B24}"/>
              </a:ext>
            </a:extLst>
          </p:cNvPr>
          <p:cNvGraphicFramePr/>
          <p:nvPr>
            <p:extLst>
              <p:ext uri="{D42A27DB-BD31-4B8C-83A1-F6EECF244321}">
                <p14:modId xmlns:p14="http://schemas.microsoft.com/office/powerpoint/2010/main" val="1727332733"/>
              </p:ext>
            </p:extLst>
          </p:nvPr>
        </p:nvGraphicFramePr>
        <p:xfrm>
          <a:off x="2244436" y="1699922"/>
          <a:ext cx="8096250" cy="3528060"/>
        </p:xfrm>
        <a:graphic>
          <a:graphicData uri="http://schemas.openxmlformats.org/drawingml/2006/table">
            <a:tbl>
              <a:tblPr>
                <a:effectLst>
                  <a:outerShdw blurRad="50800" dist="38100" dir="2700000" algn="tl" rotWithShape="0">
                    <a:prstClr val="black">
                      <a:alpha val="40000"/>
                    </a:prstClr>
                  </a:outerShdw>
                </a:effectLst>
              </a:tblPr>
              <a:tblGrid>
                <a:gridCol w="3333750">
                  <a:extLst>
                    <a:ext uri="{9D8B030D-6E8A-4147-A177-3AD203B41FA5}">
                      <a16:colId xmlns:a16="http://schemas.microsoft.com/office/drawing/2014/main" val="20000"/>
                    </a:ext>
                  </a:extLst>
                </a:gridCol>
                <a:gridCol w="2381250">
                  <a:extLst>
                    <a:ext uri="{9D8B030D-6E8A-4147-A177-3AD203B41FA5}">
                      <a16:colId xmlns:a16="http://schemas.microsoft.com/office/drawing/2014/main" val="20001"/>
                    </a:ext>
                  </a:extLst>
                </a:gridCol>
                <a:gridCol w="2381250">
                  <a:extLst>
                    <a:ext uri="{9D8B030D-6E8A-4147-A177-3AD203B41FA5}">
                      <a16:colId xmlns:a16="http://schemas.microsoft.com/office/drawing/2014/main" val="20002"/>
                    </a:ext>
                  </a:extLst>
                </a:gridCol>
              </a:tblGrid>
              <a:tr h="609600">
                <a:tc>
                  <a:txBody>
                    <a:bodyPr/>
                    <a:lstStyle/>
                    <a:p>
                      <a:pPr algn="ctr"/>
                      <a:r>
                        <a:rPr lang="en-US" sz="1950" b="1" dirty="0">
                          <a:solidFill>
                            <a:schemeClr val="bg1"/>
                          </a:solidFill>
                          <a:latin typeface="Roboto"/>
                          <a:ea typeface="Roboto"/>
                          <a:cs typeface="Roboto"/>
                        </a:rPr>
                        <a:t>Model</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950" b="1" dirty="0">
                          <a:solidFill>
                            <a:schemeClr val="bg1"/>
                          </a:solidFill>
                          <a:latin typeface="Roboto"/>
                          <a:ea typeface="Roboto"/>
                          <a:cs typeface="Roboto"/>
                        </a:rPr>
                        <a:t>Latency</a:t>
                      </a:r>
                    </a:p>
                    <a:p>
                      <a:pPr algn="ctr"/>
                      <a:r>
                        <a:rPr lang="en-US" sz="1950" b="1" dirty="0">
                          <a:solidFill>
                            <a:schemeClr val="bg1"/>
                          </a:solidFill>
                          <a:latin typeface="Roboto"/>
                          <a:ea typeface="Roboto"/>
                          <a:cs typeface="Roboto"/>
                        </a:rPr>
                        <a:t>(</a:t>
                      </a:r>
                      <a:r>
                        <a:rPr lang="en-US" sz="1950" b="1" dirty="0" err="1">
                          <a:solidFill>
                            <a:schemeClr val="bg1"/>
                          </a:solidFill>
                          <a:latin typeface="Roboto"/>
                          <a:ea typeface="Roboto"/>
                          <a:cs typeface="Roboto"/>
                        </a:rPr>
                        <a:t>ms</a:t>
                      </a:r>
                      <a:r>
                        <a:rPr lang="en-US" sz="1950" b="1" dirty="0">
                          <a:solidFill>
                            <a:schemeClr val="bg1"/>
                          </a:solidFill>
                          <a:latin typeface="Roboto"/>
                          <a:ea typeface="Roboto"/>
                          <a:cs typeface="Roboto"/>
                        </a:rPr>
                        <a:t>)</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950" b="1" dirty="0">
                          <a:solidFill>
                            <a:schemeClr val="bg1"/>
                          </a:solidFill>
                          <a:latin typeface="Roboto"/>
                          <a:ea typeface="Roboto"/>
                          <a:cs typeface="Roboto"/>
                        </a:rPr>
                        <a:t>GPU energy</a:t>
                      </a:r>
                    </a:p>
                    <a:p>
                      <a:pPr algn="ctr"/>
                      <a:r>
                        <a:rPr lang="en-US" sz="1950" b="1" dirty="0">
                          <a:solidFill>
                            <a:schemeClr val="bg1"/>
                          </a:solidFill>
                          <a:latin typeface="Roboto"/>
                          <a:ea typeface="Roboto"/>
                          <a:cs typeface="Roboto"/>
                        </a:rPr>
                        <a:t>(J/image)</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extLst>
                  <a:ext uri="{0D108BD9-81ED-4DB2-BD59-A6C34878D82A}">
                    <a16:rowId xmlns:a16="http://schemas.microsoft.com/office/drawing/2014/main" val="10000"/>
                  </a:ext>
                </a:extLst>
              </a:tr>
              <a:tr h="476250">
                <a:tc>
                  <a:txBody>
                    <a:bodyPr/>
                    <a:lstStyle/>
                    <a:p>
                      <a:pPr algn="l"/>
                      <a:r>
                        <a:rPr lang="en-US" sz="2100" b="1" dirty="0">
                          <a:solidFill>
                            <a:srgbClr val="822433"/>
                          </a:solidFill>
                          <a:latin typeface="Roboto"/>
                          <a:ea typeface="Roboto"/>
                          <a:cs typeface="Roboto"/>
                        </a:rPr>
                        <a:t>TinyGLASS-384</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chemeClr val="bg1">
                        <a:lumMod val="95000"/>
                      </a:schemeClr>
                    </a:solidFill>
                  </a:tcPr>
                </a:tc>
                <a:tc>
                  <a:txBody>
                    <a:bodyPr/>
                    <a:lstStyle/>
                    <a:p>
                      <a:pPr algn="ctr"/>
                      <a:r>
                        <a:rPr lang="en-US" sz="2250" b="1" dirty="0">
                          <a:solidFill>
                            <a:srgbClr val="822433"/>
                          </a:solidFill>
                          <a:latin typeface="Roboto"/>
                          <a:ea typeface="Roboto"/>
                          <a:cs typeface="Roboto"/>
                        </a:rPr>
                        <a:t>5.13</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chemeClr val="bg1">
                        <a:lumMod val="95000"/>
                      </a:schemeClr>
                    </a:solidFill>
                  </a:tcPr>
                </a:tc>
                <a:tc>
                  <a:txBody>
                    <a:bodyPr/>
                    <a:lstStyle/>
                    <a:p>
                      <a:pPr algn="ctr"/>
                      <a:r>
                        <a:rPr lang="en-US" sz="2250" b="1" dirty="0">
                          <a:solidFill>
                            <a:srgbClr val="822433"/>
                          </a:solidFill>
                          <a:latin typeface="Roboto"/>
                          <a:ea typeface="Roboto"/>
                          <a:cs typeface="Roboto"/>
                        </a:rPr>
                        <a:t>0.239</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1"/>
                  </a:ext>
                </a:extLst>
              </a:tr>
              <a:tr h="476250">
                <a:tc>
                  <a:txBody>
                    <a:bodyPr/>
                    <a:lstStyle/>
                    <a:p>
                      <a:pPr algn="l"/>
                      <a:r>
                        <a:rPr lang="en-US" sz="2100">
                          <a:solidFill>
                            <a:srgbClr val="202124"/>
                          </a:solidFill>
                          <a:latin typeface="Roboto"/>
                          <a:ea typeface="Roboto"/>
                          <a:cs typeface="Roboto"/>
                        </a:rPr>
                        <a:t>TinyGLASS-512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a:solidFill>
                            <a:srgbClr val="202124"/>
                          </a:solidFill>
                          <a:latin typeface="Roboto"/>
                          <a:ea typeface="Roboto"/>
                          <a:cs typeface="Roboto"/>
                        </a:rPr>
                        <a:t>6.29</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a:solidFill>
                            <a:srgbClr val="202124"/>
                          </a:solidFill>
                          <a:latin typeface="Roboto"/>
                          <a:ea typeface="Roboto"/>
                          <a:cs typeface="Roboto"/>
                        </a:rPr>
                        <a:t>0.369</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2"/>
                  </a:ext>
                </a:extLst>
              </a:tr>
              <a:tr h="476250">
                <a:tc>
                  <a:txBody>
                    <a:bodyPr/>
                    <a:lstStyle/>
                    <a:p>
                      <a:pPr algn="l"/>
                      <a:r>
                        <a:rPr lang="en-US" sz="2100" dirty="0">
                          <a:solidFill>
                            <a:srgbClr val="202124"/>
                          </a:solidFill>
                          <a:latin typeface="Roboto"/>
                          <a:ea typeface="Roboto"/>
                          <a:cs typeface="Roboto"/>
                        </a:rPr>
                        <a:t>SuperSimpleNet</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250" dirty="0">
                          <a:solidFill>
                            <a:srgbClr val="202124"/>
                          </a:solidFill>
                          <a:latin typeface="Roboto"/>
                          <a:ea typeface="Roboto"/>
                          <a:cs typeface="Roboto"/>
                        </a:rPr>
                        <a:t>27.54</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250" dirty="0">
                          <a:solidFill>
                            <a:srgbClr val="202124"/>
                          </a:solidFill>
                          <a:latin typeface="Roboto"/>
                          <a:ea typeface="Roboto"/>
                          <a:cs typeface="Roboto"/>
                        </a:rPr>
                        <a:t>1.939</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3"/>
                  </a:ext>
                </a:extLst>
              </a:tr>
              <a:tr h="476250">
                <a:tc>
                  <a:txBody>
                    <a:bodyPr/>
                    <a:lstStyle/>
                    <a:p>
                      <a:pPr algn="l"/>
                      <a:r>
                        <a:rPr lang="en-US" sz="2100">
                          <a:solidFill>
                            <a:srgbClr val="202124"/>
                          </a:solidFill>
                          <a:latin typeface="Roboto"/>
                          <a:ea typeface="Roboto"/>
                          <a:cs typeface="Roboto"/>
                        </a:rPr>
                        <a:t>EfficientAD-S</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a:solidFill>
                            <a:srgbClr val="202124"/>
                          </a:solidFill>
                          <a:latin typeface="Roboto"/>
                          <a:ea typeface="Roboto"/>
                          <a:cs typeface="Roboto"/>
                        </a:rPr>
                        <a:t>57.72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a:solidFill>
                            <a:srgbClr val="202124"/>
                          </a:solidFill>
                          <a:latin typeface="Roboto"/>
                          <a:ea typeface="Roboto"/>
                          <a:cs typeface="Roboto"/>
                        </a:rPr>
                        <a:t>4.032</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4"/>
                  </a:ext>
                </a:extLst>
              </a:tr>
              <a:tr h="476250">
                <a:tc>
                  <a:txBody>
                    <a:bodyPr/>
                    <a:lstStyle/>
                    <a:p>
                      <a:pPr algn="l"/>
                      <a:r>
                        <a:rPr lang="en-US" sz="2100" dirty="0">
                          <a:solidFill>
                            <a:srgbClr val="202124"/>
                          </a:solidFill>
                          <a:latin typeface="Roboto"/>
                          <a:ea typeface="Roboto"/>
                          <a:cs typeface="Roboto"/>
                        </a:rPr>
                        <a:t>PatchCore-L</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250" dirty="0">
                          <a:solidFill>
                            <a:srgbClr val="202124"/>
                          </a:solidFill>
                          <a:latin typeface="Roboto"/>
                          <a:ea typeface="Roboto"/>
                          <a:cs typeface="Roboto"/>
                        </a:rPr>
                        <a:t>62.89</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250" dirty="0">
                          <a:solidFill>
                            <a:srgbClr val="202124"/>
                          </a:solidFill>
                          <a:latin typeface="Roboto"/>
                          <a:ea typeface="Roboto"/>
                          <a:cs typeface="Roboto"/>
                        </a:rPr>
                        <a:t>4.116</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5"/>
                  </a:ext>
                </a:extLst>
              </a:tr>
              <a:tr h="476250">
                <a:tc>
                  <a:txBody>
                    <a:bodyPr/>
                    <a:lstStyle/>
                    <a:p>
                      <a:pPr algn="l"/>
                      <a:r>
                        <a:rPr lang="en-US" sz="2100">
                          <a:solidFill>
                            <a:srgbClr val="202124"/>
                          </a:solidFill>
                          <a:latin typeface="Roboto"/>
                          <a:ea typeface="Roboto"/>
                          <a:cs typeface="Roboto"/>
                        </a:rPr>
                        <a:t>PatchCore-S</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dirty="0">
                          <a:solidFill>
                            <a:srgbClr val="202124"/>
                          </a:solidFill>
                          <a:latin typeface="Roboto"/>
                          <a:ea typeface="Roboto"/>
                          <a:cs typeface="Roboto"/>
                        </a:rPr>
                        <a:t>101.21</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dirty="0">
                          <a:solidFill>
                            <a:srgbClr val="202124"/>
                          </a:solidFill>
                          <a:latin typeface="Roboto"/>
                          <a:ea typeface="Roboto"/>
                          <a:cs typeface="Roboto"/>
                        </a:rPr>
                        <a:t>6.849</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6"/>
                  </a:ext>
                </a:extLst>
              </a:tr>
            </a:tbl>
          </a:graphicData>
        </a:graphic>
      </p:graphicFrame>
      <p:sp>
        <p:nvSpPr>
          <p:cNvPr id="14" name="benchmark-scope">
            <a:extLst>
              <a:ext uri="{FF2B5EF4-FFF2-40B4-BE49-F238E27FC236}">
                <a16:creationId xmlns:a16="http://schemas.microsoft.com/office/drawing/2014/main" id="{6D7A6928-DF49-078F-464E-0E452485A636}"/>
              </a:ext>
            </a:extLst>
          </p:cNvPr>
          <p:cNvSpPr>
            <a:spLocks noGrp="1"/>
          </p:cNvSpPr>
          <p:nvPr/>
        </p:nvSpPr>
        <p:spPr>
          <a:xfrm>
            <a:off x="2244436" y="5297632"/>
            <a:ext cx="7926506" cy="304800"/>
          </a:xfrm>
          <a:prstGeom prst="rect">
            <a:avLst/>
          </a:prstGeom>
          <a:noFill/>
          <a:ln w="0">
            <a:noFill/>
          </a:ln>
        </p:spPr>
        <p:txBody>
          <a:bodyPr wrap="square" lIns="0" tIns="0" rIns="0" bIns="0" anchor="t">
            <a:noAutofit/>
          </a:bodyPr>
          <a:lstStyle>
            <a:defPPr algn="l">
              <a:defRPr lang="en-US" sz="1725" b="0">
                <a:solidFill>
                  <a:srgbClr val="656B73"/>
                </a:solidFill>
                <a:latin typeface="Roboto"/>
                <a:ea typeface="Roboto"/>
                <a:cs typeface="Roboto"/>
              </a:defRPr>
            </a:defPPr>
            <a:lvl1pPr algn="l">
              <a:defRPr lang="en-US" sz="1725" b="0">
                <a:solidFill>
                  <a:srgbClr val="656B73"/>
                </a:solidFill>
                <a:latin typeface="Roboto"/>
                <a:ea typeface="Roboto"/>
                <a:cs typeface="Roboto"/>
              </a:defRPr>
            </a:lvl1pPr>
            <a:lvl2pPr algn="l">
              <a:defRPr lang="en-US" sz="1725" b="0">
                <a:solidFill>
                  <a:srgbClr val="656B73"/>
                </a:solidFill>
                <a:latin typeface="Roboto"/>
                <a:ea typeface="Roboto"/>
                <a:cs typeface="Roboto"/>
              </a:defRPr>
            </a:lvl2pPr>
            <a:lvl3pPr algn="l">
              <a:defRPr lang="en-US" sz="1725" b="0">
                <a:solidFill>
                  <a:srgbClr val="656B73"/>
                </a:solidFill>
                <a:latin typeface="Roboto"/>
                <a:ea typeface="Roboto"/>
                <a:cs typeface="Roboto"/>
              </a:defRPr>
            </a:lvl3pPr>
            <a:lvl4pPr algn="l">
              <a:defRPr lang="en-US" sz="1725" b="0">
                <a:solidFill>
                  <a:srgbClr val="656B73"/>
                </a:solidFill>
                <a:latin typeface="Roboto"/>
                <a:ea typeface="Roboto"/>
                <a:cs typeface="Roboto"/>
              </a:defRPr>
            </a:lvl4pPr>
            <a:lvl5pPr algn="l">
              <a:defRPr lang="en-US" sz="1725" b="0">
                <a:solidFill>
                  <a:srgbClr val="656B73"/>
                </a:solidFill>
                <a:latin typeface="Roboto"/>
                <a:ea typeface="Roboto"/>
                <a:cs typeface="Roboto"/>
              </a:defRPr>
            </a:lvl5pPr>
            <a:lvl6pPr algn="l">
              <a:defRPr lang="en-US" sz="1725" b="0">
                <a:solidFill>
                  <a:srgbClr val="656B73"/>
                </a:solidFill>
                <a:latin typeface="Roboto"/>
                <a:ea typeface="Roboto"/>
                <a:cs typeface="Roboto"/>
              </a:defRPr>
            </a:lvl6pPr>
            <a:lvl7pPr algn="l">
              <a:defRPr lang="en-US" sz="1725" b="0">
                <a:solidFill>
                  <a:srgbClr val="656B73"/>
                </a:solidFill>
                <a:latin typeface="Roboto"/>
                <a:ea typeface="Roboto"/>
                <a:cs typeface="Roboto"/>
              </a:defRPr>
            </a:lvl7pPr>
            <a:lvl8pPr algn="l">
              <a:defRPr lang="en-US" sz="1725" b="0">
                <a:solidFill>
                  <a:srgbClr val="656B73"/>
                </a:solidFill>
                <a:latin typeface="Roboto"/>
                <a:ea typeface="Roboto"/>
                <a:cs typeface="Roboto"/>
              </a:defRPr>
            </a:lvl8pPr>
            <a:lvl9pPr algn="l">
              <a:defRPr lang="en-US" sz="1725" b="0">
                <a:solidFill>
                  <a:srgbClr val="656B73"/>
                </a:solidFill>
                <a:latin typeface="Roboto"/>
                <a:ea typeface="Roboto"/>
                <a:cs typeface="Roboto"/>
              </a:defRPr>
            </a:lvl9pPr>
          </a:lstStyle>
          <a:p>
            <a:pPr algn="l">
              <a:defRPr lang="en-US" sz="1725" b="0">
                <a:solidFill>
                  <a:srgbClr val="656B73"/>
                </a:solidFill>
                <a:latin typeface="Roboto"/>
                <a:ea typeface="Roboto"/>
                <a:cs typeface="Roboto"/>
              </a:defRPr>
            </a:pPr>
            <a:r>
              <a:rPr lang="en-US" sz="1725" b="0" dirty="0">
                <a:solidFill>
                  <a:srgbClr val="656B73"/>
                </a:solidFill>
                <a:latin typeface="Roboto"/>
                <a:ea typeface="Roboto"/>
                <a:cs typeface="Roboto"/>
              </a:rPr>
              <a:t>NVIDIA T4, batch 1, forward pass only, preprocessing excluded</a:t>
            </a:r>
          </a:p>
        </p:txBody>
      </p:sp>
    </p:spTree>
    <p:extLst>
      <p:ext uri="{BB962C8B-B14F-4D97-AF65-F5344CB8AC3E}">
        <p14:creationId xmlns:p14="http://schemas.microsoft.com/office/powerpoint/2010/main" val="36415830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4CF57-C8A4-A657-ABEC-780253A1ADF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978870A-69F8-437B-9A37-7525C89A6C54}"/>
              </a:ext>
            </a:extLst>
          </p:cNvPr>
          <p:cNvSpPr>
            <a:spLocks noGrp="1"/>
          </p:cNvSpPr>
          <p:nvPr>
            <p:ph type="title"/>
          </p:nvPr>
        </p:nvSpPr>
        <p:spPr>
          <a:xfrm>
            <a:off x="838200" y="365125"/>
            <a:ext cx="8384177" cy="835787"/>
          </a:xfrm>
        </p:spPr>
        <p:txBody>
          <a:bodyPr/>
          <a:lstStyle/>
          <a:p>
            <a:r>
              <a:rPr lang="en-US" dirty="0">
                <a:solidFill>
                  <a:srgbClr val="822433"/>
                </a:solidFill>
              </a:rPr>
              <a:t>Damage Inspection: Localization</a:t>
            </a:r>
            <a:endParaRPr lang="en-US" noProof="0" dirty="0">
              <a:solidFill>
                <a:srgbClr val="822433"/>
              </a:solidFill>
            </a:endParaRPr>
          </a:p>
        </p:txBody>
      </p:sp>
      <p:sp>
        <p:nvSpPr>
          <p:cNvPr id="4" name="Google Shape;102;p14">
            <a:extLst>
              <a:ext uri="{FF2B5EF4-FFF2-40B4-BE49-F238E27FC236}">
                <a16:creationId xmlns:a16="http://schemas.microsoft.com/office/drawing/2014/main" id="{256F4F28-1777-39B3-CBB3-A6EC1258A916}"/>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28</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B9BB6370-1573-C10B-BF23-AEC2559855E2}"/>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6" name="label-damage-rgb.png">
            <a:extLst>
              <a:ext uri="{FF2B5EF4-FFF2-40B4-BE49-F238E27FC236}">
                <a16:creationId xmlns:a16="http://schemas.microsoft.com/office/drawing/2014/main" id="{EEA0D960-7396-9D62-3616-03ACBC2F2E0A}"/>
              </a:ext>
            </a:extLst>
          </p:cNvPr>
          <p:cNvSpPr>
            <a:spLocks noGrp="1"/>
          </p:cNvSpPr>
          <p:nvPr/>
        </p:nvSpPr>
        <p:spPr>
          <a:xfrm>
            <a:off x="762000" y="1590675"/>
            <a:ext cx="2381250" cy="361950"/>
          </a:xfrm>
          <a:prstGeom prst="rect">
            <a:avLst/>
          </a:prstGeom>
          <a:noFill/>
          <a:ln w="0">
            <a:noFill/>
          </a:ln>
        </p:spPr>
        <p:txBody>
          <a:bodyPr wrap="square" lIns="0" tIns="0" rIns="0" bIns="0" anchor="t">
            <a:noAutofit/>
          </a:bodyPr>
          <a:lstStyle>
            <a:defPPr algn="ctr">
              <a:defRPr lang="en-US" sz="1950" b="1">
                <a:solidFill>
                  <a:srgbClr val="202124"/>
                </a:solidFill>
                <a:latin typeface="Roboto"/>
                <a:ea typeface="Roboto"/>
                <a:cs typeface="Roboto"/>
              </a:defRPr>
            </a:defPPr>
            <a:lvl1pPr algn="ctr">
              <a:defRPr lang="en-US" sz="1950" b="1">
                <a:solidFill>
                  <a:srgbClr val="202124"/>
                </a:solidFill>
                <a:latin typeface="Roboto"/>
                <a:ea typeface="Roboto"/>
                <a:cs typeface="Roboto"/>
              </a:defRPr>
            </a:lvl1pPr>
            <a:lvl2pPr algn="ctr">
              <a:defRPr lang="en-US" sz="1950" b="1">
                <a:solidFill>
                  <a:srgbClr val="202124"/>
                </a:solidFill>
                <a:latin typeface="Roboto"/>
                <a:ea typeface="Roboto"/>
                <a:cs typeface="Roboto"/>
              </a:defRPr>
            </a:lvl2pPr>
            <a:lvl3pPr algn="ctr">
              <a:defRPr lang="en-US" sz="1950" b="1">
                <a:solidFill>
                  <a:srgbClr val="202124"/>
                </a:solidFill>
                <a:latin typeface="Roboto"/>
                <a:ea typeface="Roboto"/>
                <a:cs typeface="Roboto"/>
              </a:defRPr>
            </a:lvl3pPr>
            <a:lvl4pPr algn="ctr">
              <a:defRPr lang="en-US" sz="1950" b="1">
                <a:solidFill>
                  <a:srgbClr val="202124"/>
                </a:solidFill>
                <a:latin typeface="Roboto"/>
                <a:ea typeface="Roboto"/>
                <a:cs typeface="Roboto"/>
              </a:defRPr>
            </a:lvl4pPr>
            <a:lvl5pPr algn="ctr">
              <a:defRPr lang="en-US" sz="1950" b="1">
                <a:solidFill>
                  <a:srgbClr val="202124"/>
                </a:solidFill>
                <a:latin typeface="Roboto"/>
                <a:ea typeface="Roboto"/>
                <a:cs typeface="Roboto"/>
              </a:defRPr>
            </a:lvl5pPr>
            <a:lvl6pPr algn="ctr">
              <a:defRPr lang="en-US" sz="1950" b="1">
                <a:solidFill>
                  <a:srgbClr val="202124"/>
                </a:solidFill>
                <a:latin typeface="Roboto"/>
                <a:ea typeface="Roboto"/>
                <a:cs typeface="Roboto"/>
              </a:defRPr>
            </a:lvl6pPr>
            <a:lvl7pPr algn="ctr">
              <a:defRPr lang="en-US" sz="1950" b="1">
                <a:solidFill>
                  <a:srgbClr val="202124"/>
                </a:solidFill>
                <a:latin typeface="Roboto"/>
                <a:ea typeface="Roboto"/>
                <a:cs typeface="Roboto"/>
              </a:defRPr>
            </a:lvl7pPr>
            <a:lvl8pPr algn="ctr">
              <a:defRPr lang="en-US" sz="1950" b="1">
                <a:solidFill>
                  <a:srgbClr val="202124"/>
                </a:solidFill>
                <a:latin typeface="Roboto"/>
                <a:ea typeface="Roboto"/>
                <a:cs typeface="Roboto"/>
              </a:defRPr>
            </a:lvl8pPr>
            <a:lvl9pPr algn="ctr">
              <a:defRPr lang="en-US" sz="1950" b="1">
                <a:solidFill>
                  <a:srgbClr val="202124"/>
                </a:solidFill>
                <a:latin typeface="Roboto"/>
                <a:ea typeface="Roboto"/>
                <a:cs typeface="Roboto"/>
              </a:defRPr>
            </a:lvl9pPr>
          </a:lstStyle>
          <a:p>
            <a:pPr algn="ctr">
              <a:defRPr lang="en-US" sz="1950" b="1">
                <a:solidFill>
                  <a:srgbClr val="202124"/>
                </a:solidFill>
                <a:latin typeface="Roboto"/>
                <a:ea typeface="Roboto"/>
                <a:cs typeface="Roboto"/>
              </a:defRPr>
            </a:pPr>
            <a:r>
              <a:rPr lang="en-US" sz="1950" b="1">
                <a:solidFill>
                  <a:srgbClr val="202124"/>
                </a:solidFill>
                <a:latin typeface="Roboto"/>
                <a:ea typeface="Roboto"/>
                <a:cs typeface="Roboto"/>
              </a:rPr>
              <a:t>Observation</a:t>
            </a:r>
          </a:p>
        </p:txBody>
      </p:sp>
      <p:pic>
        <p:nvPicPr>
          <p:cNvPr id="8" name="Immagine 7">
            <a:extLst>
              <a:ext uri="{FF2B5EF4-FFF2-40B4-BE49-F238E27FC236}">
                <a16:creationId xmlns:a16="http://schemas.microsoft.com/office/drawing/2014/main" id="{A1EB0A69-1EBD-CFCB-4513-4654CBD17C44}"/>
              </a:ext>
            </a:extLst>
          </p:cNvPr>
          <p:cNvPicPr>
            <a:picLocks noChangeAspect="1"/>
          </p:cNvPicPr>
          <p:nvPr/>
        </p:nvPicPr>
        <p:blipFill>
          <a:blip r:embed="rId3"/>
          <a:stretch/>
        </p:blipFill>
        <p:spPr>
          <a:xfrm>
            <a:off x="762000" y="2181225"/>
            <a:ext cx="2381250" cy="2381250"/>
          </a:xfrm>
          <a:prstGeom prst="rect">
            <a:avLst/>
          </a:prstGeom>
        </p:spPr>
      </p:pic>
      <p:sp>
        <p:nvSpPr>
          <p:cNvPr id="10" name="label-damage-ground-truth.png">
            <a:extLst>
              <a:ext uri="{FF2B5EF4-FFF2-40B4-BE49-F238E27FC236}">
                <a16:creationId xmlns:a16="http://schemas.microsoft.com/office/drawing/2014/main" id="{C571C057-ACE2-218F-DB46-DAC3C7541056}"/>
              </a:ext>
            </a:extLst>
          </p:cNvPr>
          <p:cNvSpPr>
            <a:spLocks noGrp="1"/>
          </p:cNvSpPr>
          <p:nvPr/>
        </p:nvSpPr>
        <p:spPr>
          <a:xfrm>
            <a:off x="3495675" y="1590675"/>
            <a:ext cx="2381250" cy="361950"/>
          </a:xfrm>
          <a:prstGeom prst="rect">
            <a:avLst/>
          </a:prstGeom>
          <a:noFill/>
          <a:ln w="0">
            <a:noFill/>
          </a:ln>
        </p:spPr>
        <p:txBody>
          <a:bodyPr wrap="square" lIns="0" tIns="0" rIns="0" bIns="0" anchor="t">
            <a:noAutofit/>
          </a:bodyPr>
          <a:lstStyle>
            <a:defPPr algn="ctr">
              <a:defRPr lang="en-US" sz="1950" b="1">
                <a:solidFill>
                  <a:srgbClr val="202124"/>
                </a:solidFill>
                <a:latin typeface="Roboto"/>
                <a:ea typeface="Roboto"/>
                <a:cs typeface="Roboto"/>
              </a:defRPr>
            </a:defPPr>
            <a:lvl1pPr algn="ctr">
              <a:defRPr lang="en-US" sz="1950" b="1">
                <a:solidFill>
                  <a:srgbClr val="202124"/>
                </a:solidFill>
                <a:latin typeface="Roboto"/>
                <a:ea typeface="Roboto"/>
                <a:cs typeface="Roboto"/>
              </a:defRPr>
            </a:lvl1pPr>
            <a:lvl2pPr algn="ctr">
              <a:defRPr lang="en-US" sz="1950" b="1">
                <a:solidFill>
                  <a:srgbClr val="202124"/>
                </a:solidFill>
                <a:latin typeface="Roboto"/>
                <a:ea typeface="Roboto"/>
                <a:cs typeface="Roboto"/>
              </a:defRPr>
            </a:lvl2pPr>
            <a:lvl3pPr algn="ctr">
              <a:defRPr lang="en-US" sz="1950" b="1">
                <a:solidFill>
                  <a:srgbClr val="202124"/>
                </a:solidFill>
                <a:latin typeface="Roboto"/>
                <a:ea typeface="Roboto"/>
                <a:cs typeface="Roboto"/>
              </a:defRPr>
            </a:lvl3pPr>
            <a:lvl4pPr algn="ctr">
              <a:defRPr lang="en-US" sz="1950" b="1">
                <a:solidFill>
                  <a:srgbClr val="202124"/>
                </a:solidFill>
                <a:latin typeface="Roboto"/>
                <a:ea typeface="Roboto"/>
                <a:cs typeface="Roboto"/>
              </a:defRPr>
            </a:lvl4pPr>
            <a:lvl5pPr algn="ctr">
              <a:defRPr lang="en-US" sz="1950" b="1">
                <a:solidFill>
                  <a:srgbClr val="202124"/>
                </a:solidFill>
                <a:latin typeface="Roboto"/>
                <a:ea typeface="Roboto"/>
                <a:cs typeface="Roboto"/>
              </a:defRPr>
            </a:lvl5pPr>
            <a:lvl6pPr algn="ctr">
              <a:defRPr lang="en-US" sz="1950" b="1">
                <a:solidFill>
                  <a:srgbClr val="202124"/>
                </a:solidFill>
                <a:latin typeface="Roboto"/>
                <a:ea typeface="Roboto"/>
                <a:cs typeface="Roboto"/>
              </a:defRPr>
            </a:lvl6pPr>
            <a:lvl7pPr algn="ctr">
              <a:defRPr lang="en-US" sz="1950" b="1">
                <a:solidFill>
                  <a:srgbClr val="202124"/>
                </a:solidFill>
                <a:latin typeface="Roboto"/>
                <a:ea typeface="Roboto"/>
                <a:cs typeface="Roboto"/>
              </a:defRPr>
            </a:lvl7pPr>
            <a:lvl8pPr algn="ctr">
              <a:defRPr lang="en-US" sz="1950" b="1">
                <a:solidFill>
                  <a:srgbClr val="202124"/>
                </a:solidFill>
                <a:latin typeface="Roboto"/>
                <a:ea typeface="Roboto"/>
                <a:cs typeface="Roboto"/>
              </a:defRPr>
            </a:lvl8pPr>
            <a:lvl9pPr algn="ctr">
              <a:defRPr lang="en-US" sz="1950" b="1">
                <a:solidFill>
                  <a:srgbClr val="202124"/>
                </a:solidFill>
                <a:latin typeface="Roboto"/>
                <a:ea typeface="Roboto"/>
                <a:cs typeface="Roboto"/>
              </a:defRPr>
            </a:lvl9pPr>
          </a:lstStyle>
          <a:p>
            <a:pPr algn="ctr">
              <a:defRPr lang="en-US" sz="1950" b="1">
                <a:solidFill>
                  <a:srgbClr val="202124"/>
                </a:solidFill>
                <a:latin typeface="Roboto"/>
                <a:ea typeface="Roboto"/>
                <a:cs typeface="Roboto"/>
              </a:defRPr>
            </a:pPr>
            <a:r>
              <a:rPr lang="en-US" sz="1950" b="1">
                <a:solidFill>
                  <a:srgbClr val="202124"/>
                </a:solidFill>
                <a:latin typeface="Roboto"/>
                <a:ea typeface="Roboto"/>
                <a:cs typeface="Roboto"/>
              </a:rPr>
              <a:t>Ground truth</a:t>
            </a:r>
          </a:p>
        </p:txBody>
      </p:sp>
      <p:pic>
        <p:nvPicPr>
          <p:cNvPr id="12" name="Immagine 11">
            <a:extLst>
              <a:ext uri="{FF2B5EF4-FFF2-40B4-BE49-F238E27FC236}">
                <a16:creationId xmlns:a16="http://schemas.microsoft.com/office/drawing/2014/main" id="{42C9BA10-EBFA-86BF-891A-766DA20CABCE}"/>
              </a:ext>
            </a:extLst>
          </p:cNvPr>
          <p:cNvPicPr>
            <a:picLocks noChangeAspect="1"/>
          </p:cNvPicPr>
          <p:nvPr/>
        </p:nvPicPr>
        <p:blipFill>
          <a:blip r:embed="rId4"/>
          <a:stretch/>
        </p:blipFill>
        <p:spPr>
          <a:xfrm>
            <a:off x="3495675" y="2181225"/>
            <a:ext cx="2381250" cy="2381250"/>
          </a:xfrm>
          <a:prstGeom prst="rect">
            <a:avLst/>
          </a:prstGeom>
        </p:spPr>
      </p:pic>
      <p:sp>
        <p:nvSpPr>
          <p:cNvPr id="14" name="label-damage-ssn.png">
            <a:extLst>
              <a:ext uri="{FF2B5EF4-FFF2-40B4-BE49-F238E27FC236}">
                <a16:creationId xmlns:a16="http://schemas.microsoft.com/office/drawing/2014/main" id="{D95D8403-961A-DDB9-A992-8C7DE4CA454A}"/>
              </a:ext>
            </a:extLst>
          </p:cNvPr>
          <p:cNvSpPr>
            <a:spLocks noGrp="1"/>
          </p:cNvSpPr>
          <p:nvPr/>
        </p:nvSpPr>
        <p:spPr>
          <a:xfrm>
            <a:off x="6229350" y="1590675"/>
            <a:ext cx="2381250" cy="361950"/>
          </a:xfrm>
          <a:prstGeom prst="rect">
            <a:avLst/>
          </a:prstGeom>
          <a:noFill/>
          <a:ln w="0">
            <a:noFill/>
          </a:ln>
        </p:spPr>
        <p:txBody>
          <a:bodyPr wrap="square" lIns="0" tIns="0" rIns="0" bIns="0" anchor="t">
            <a:noAutofit/>
          </a:bodyPr>
          <a:lstStyle>
            <a:defPPr algn="ctr">
              <a:defRPr lang="en-US" sz="1950" b="1">
                <a:solidFill>
                  <a:srgbClr val="202124"/>
                </a:solidFill>
                <a:latin typeface="Roboto"/>
                <a:ea typeface="Roboto"/>
                <a:cs typeface="Roboto"/>
              </a:defRPr>
            </a:defPPr>
            <a:lvl1pPr algn="ctr">
              <a:defRPr lang="en-US" sz="1950" b="1">
                <a:solidFill>
                  <a:srgbClr val="202124"/>
                </a:solidFill>
                <a:latin typeface="Roboto"/>
                <a:ea typeface="Roboto"/>
                <a:cs typeface="Roboto"/>
              </a:defRPr>
            </a:lvl1pPr>
            <a:lvl2pPr algn="ctr">
              <a:defRPr lang="en-US" sz="1950" b="1">
                <a:solidFill>
                  <a:srgbClr val="202124"/>
                </a:solidFill>
                <a:latin typeface="Roboto"/>
                <a:ea typeface="Roboto"/>
                <a:cs typeface="Roboto"/>
              </a:defRPr>
            </a:lvl2pPr>
            <a:lvl3pPr algn="ctr">
              <a:defRPr lang="en-US" sz="1950" b="1">
                <a:solidFill>
                  <a:srgbClr val="202124"/>
                </a:solidFill>
                <a:latin typeface="Roboto"/>
                <a:ea typeface="Roboto"/>
                <a:cs typeface="Roboto"/>
              </a:defRPr>
            </a:lvl3pPr>
            <a:lvl4pPr algn="ctr">
              <a:defRPr lang="en-US" sz="1950" b="1">
                <a:solidFill>
                  <a:srgbClr val="202124"/>
                </a:solidFill>
                <a:latin typeface="Roboto"/>
                <a:ea typeface="Roboto"/>
                <a:cs typeface="Roboto"/>
              </a:defRPr>
            </a:lvl4pPr>
            <a:lvl5pPr algn="ctr">
              <a:defRPr lang="en-US" sz="1950" b="1">
                <a:solidFill>
                  <a:srgbClr val="202124"/>
                </a:solidFill>
                <a:latin typeface="Roboto"/>
                <a:ea typeface="Roboto"/>
                <a:cs typeface="Roboto"/>
              </a:defRPr>
            </a:lvl5pPr>
            <a:lvl6pPr algn="ctr">
              <a:defRPr lang="en-US" sz="1950" b="1">
                <a:solidFill>
                  <a:srgbClr val="202124"/>
                </a:solidFill>
                <a:latin typeface="Roboto"/>
                <a:ea typeface="Roboto"/>
                <a:cs typeface="Roboto"/>
              </a:defRPr>
            </a:lvl6pPr>
            <a:lvl7pPr algn="ctr">
              <a:defRPr lang="en-US" sz="1950" b="1">
                <a:solidFill>
                  <a:srgbClr val="202124"/>
                </a:solidFill>
                <a:latin typeface="Roboto"/>
                <a:ea typeface="Roboto"/>
                <a:cs typeface="Roboto"/>
              </a:defRPr>
            </a:lvl7pPr>
            <a:lvl8pPr algn="ctr">
              <a:defRPr lang="en-US" sz="1950" b="1">
                <a:solidFill>
                  <a:srgbClr val="202124"/>
                </a:solidFill>
                <a:latin typeface="Roboto"/>
                <a:ea typeface="Roboto"/>
                <a:cs typeface="Roboto"/>
              </a:defRPr>
            </a:lvl8pPr>
            <a:lvl9pPr algn="ctr">
              <a:defRPr lang="en-US" sz="1950" b="1">
                <a:solidFill>
                  <a:srgbClr val="202124"/>
                </a:solidFill>
                <a:latin typeface="Roboto"/>
                <a:ea typeface="Roboto"/>
                <a:cs typeface="Roboto"/>
              </a:defRPr>
            </a:lvl9pPr>
          </a:lstStyle>
          <a:p>
            <a:pPr algn="ctr">
              <a:defRPr lang="en-US" sz="1950" b="1">
                <a:solidFill>
                  <a:srgbClr val="202124"/>
                </a:solidFill>
                <a:latin typeface="Roboto"/>
                <a:ea typeface="Roboto"/>
                <a:cs typeface="Roboto"/>
              </a:defRPr>
            </a:pPr>
            <a:r>
              <a:rPr lang="en-US" sz="1950" b="1">
                <a:solidFill>
                  <a:srgbClr val="202124"/>
                </a:solidFill>
                <a:latin typeface="Roboto"/>
                <a:ea typeface="Roboto"/>
                <a:cs typeface="Roboto"/>
              </a:rPr>
              <a:t>SuperSimpleNet</a:t>
            </a:r>
          </a:p>
        </p:txBody>
      </p:sp>
      <p:pic>
        <p:nvPicPr>
          <p:cNvPr id="16" name="Immagine 15">
            <a:extLst>
              <a:ext uri="{FF2B5EF4-FFF2-40B4-BE49-F238E27FC236}">
                <a16:creationId xmlns:a16="http://schemas.microsoft.com/office/drawing/2014/main" id="{513CA2F7-5FEA-FE00-1E0D-A2AA6373A1F0}"/>
              </a:ext>
            </a:extLst>
          </p:cNvPr>
          <p:cNvPicPr>
            <a:picLocks noChangeAspect="1"/>
          </p:cNvPicPr>
          <p:nvPr/>
        </p:nvPicPr>
        <p:blipFill>
          <a:blip r:embed="rId5"/>
          <a:stretch/>
        </p:blipFill>
        <p:spPr>
          <a:xfrm>
            <a:off x="6229350" y="2181225"/>
            <a:ext cx="2381250" cy="2381250"/>
          </a:xfrm>
          <a:prstGeom prst="rect">
            <a:avLst/>
          </a:prstGeom>
        </p:spPr>
      </p:pic>
      <p:sp>
        <p:nvSpPr>
          <p:cNvPr id="18" name="label-damage-tg512.png">
            <a:extLst>
              <a:ext uri="{FF2B5EF4-FFF2-40B4-BE49-F238E27FC236}">
                <a16:creationId xmlns:a16="http://schemas.microsoft.com/office/drawing/2014/main" id="{692F7F91-6D2A-A262-4004-6A1B7EC08070}"/>
              </a:ext>
            </a:extLst>
          </p:cNvPr>
          <p:cNvSpPr>
            <a:spLocks noGrp="1"/>
          </p:cNvSpPr>
          <p:nvPr/>
        </p:nvSpPr>
        <p:spPr>
          <a:xfrm>
            <a:off x="8963025" y="1590675"/>
            <a:ext cx="2381250" cy="361950"/>
          </a:xfrm>
          <a:prstGeom prst="rect">
            <a:avLst/>
          </a:prstGeom>
          <a:noFill/>
          <a:ln w="0">
            <a:noFill/>
          </a:ln>
        </p:spPr>
        <p:txBody>
          <a:bodyPr wrap="square" lIns="0" tIns="0" rIns="0" bIns="0" anchor="t">
            <a:noAutofit/>
          </a:bodyPr>
          <a:lstStyle>
            <a:defPPr algn="ctr">
              <a:defRPr lang="en-US" sz="1950" b="1">
                <a:solidFill>
                  <a:srgbClr val="202124"/>
                </a:solidFill>
                <a:latin typeface="Roboto"/>
                <a:ea typeface="Roboto"/>
                <a:cs typeface="Roboto"/>
              </a:defRPr>
            </a:defPPr>
            <a:lvl1pPr algn="ctr">
              <a:defRPr lang="en-US" sz="1950" b="1">
                <a:solidFill>
                  <a:srgbClr val="202124"/>
                </a:solidFill>
                <a:latin typeface="Roboto"/>
                <a:ea typeface="Roboto"/>
                <a:cs typeface="Roboto"/>
              </a:defRPr>
            </a:lvl1pPr>
            <a:lvl2pPr algn="ctr">
              <a:defRPr lang="en-US" sz="1950" b="1">
                <a:solidFill>
                  <a:srgbClr val="202124"/>
                </a:solidFill>
                <a:latin typeface="Roboto"/>
                <a:ea typeface="Roboto"/>
                <a:cs typeface="Roboto"/>
              </a:defRPr>
            </a:lvl2pPr>
            <a:lvl3pPr algn="ctr">
              <a:defRPr lang="en-US" sz="1950" b="1">
                <a:solidFill>
                  <a:srgbClr val="202124"/>
                </a:solidFill>
                <a:latin typeface="Roboto"/>
                <a:ea typeface="Roboto"/>
                <a:cs typeface="Roboto"/>
              </a:defRPr>
            </a:lvl3pPr>
            <a:lvl4pPr algn="ctr">
              <a:defRPr lang="en-US" sz="1950" b="1">
                <a:solidFill>
                  <a:srgbClr val="202124"/>
                </a:solidFill>
                <a:latin typeface="Roboto"/>
                <a:ea typeface="Roboto"/>
                <a:cs typeface="Roboto"/>
              </a:defRPr>
            </a:lvl4pPr>
            <a:lvl5pPr algn="ctr">
              <a:defRPr lang="en-US" sz="1950" b="1">
                <a:solidFill>
                  <a:srgbClr val="202124"/>
                </a:solidFill>
                <a:latin typeface="Roboto"/>
                <a:ea typeface="Roboto"/>
                <a:cs typeface="Roboto"/>
              </a:defRPr>
            </a:lvl5pPr>
            <a:lvl6pPr algn="ctr">
              <a:defRPr lang="en-US" sz="1950" b="1">
                <a:solidFill>
                  <a:srgbClr val="202124"/>
                </a:solidFill>
                <a:latin typeface="Roboto"/>
                <a:ea typeface="Roboto"/>
                <a:cs typeface="Roboto"/>
              </a:defRPr>
            </a:lvl6pPr>
            <a:lvl7pPr algn="ctr">
              <a:defRPr lang="en-US" sz="1950" b="1">
                <a:solidFill>
                  <a:srgbClr val="202124"/>
                </a:solidFill>
                <a:latin typeface="Roboto"/>
                <a:ea typeface="Roboto"/>
                <a:cs typeface="Roboto"/>
              </a:defRPr>
            </a:lvl7pPr>
            <a:lvl8pPr algn="ctr">
              <a:defRPr lang="en-US" sz="1950" b="1">
                <a:solidFill>
                  <a:srgbClr val="202124"/>
                </a:solidFill>
                <a:latin typeface="Roboto"/>
                <a:ea typeface="Roboto"/>
                <a:cs typeface="Roboto"/>
              </a:defRPr>
            </a:lvl8pPr>
            <a:lvl9pPr algn="ctr">
              <a:defRPr lang="en-US" sz="1950" b="1">
                <a:solidFill>
                  <a:srgbClr val="202124"/>
                </a:solidFill>
                <a:latin typeface="Roboto"/>
                <a:ea typeface="Roboto"/>
                <a:cs typeface="Roboto"/>
              </a:defRPr>
            </a:lvl9pPr>
          </a:lstStyle>
          <a:p>
            <a:pPr algn="ctr">
              <a:defRPr lang="en-US" sz="1950" b="1">
                <a:solidFill>
                  <a:srgbClr val="202124"/>
                </a:solidFill>
                <a:latin typeface="Roboto"/>
                <a:ea typeface="Roboto"/>
                <a:cs typeface="Roboto"/>
              </a:defRPr>
            </a:pPr>
            <a:r>
              <a:rPr lang="en-US" sz="1950" b="1">
                <a:solidFill>
                  <a:srgbClr val="202124"/>
                </a:solidFill>
                <a:latin typeface="Roboto"/>
                <a:ea typeface="Roboto"/>
                <a:cs typeface="Roboto"/>
              </a:rPr>
              <a:t>TinyGLASS-512</a:t>
            </a:r>
          </a:p>
        </p:txBody>
      </p:sp>
      <p:pic>
        <p:nvPicPr>
          <p:cNvPr id="20" name="Immagine 19">
            <a:extLst>
              <a:ext uri="{FF2B5EF4-FFF2-40B4-BE49-F238E27FC236}">
                <a16:creationId xmlns:a16="http://schemas.microsoft.com/office/drawing/2014/main" id="{672271A9-C6B1-C898-99CC-A739BB111654}"/>
              </a:ext>
            </a:extLst>
          </p:cNvPr>
          <p:cNvPicPr>
            <a:picLocks noChangeAspect="1"/>
          </p:cNvPicPr>
          <p:nvPr/>
        </p:nvPicPr>
        <p:blipFill>
          <a:blip r:embed="rId6"/>
          <a:stretch/>
        </p:blipFill>
        <p:spPr>
          <a:xfrm>
            <a:off x="8963025" y="2181225"/>
            <a:ext cx="2381250" cy="2381250"/>
          </a:xfrm>
          <a:prstGeom prst="rect">
            <a:avLst/>
          </a:prstGeom>
        </p:spPr>
      </p:pic>
      <p:sp>
        <p:nvSpPr>
          <p:cNvPr id="22" name="ssn-map-ap">
            <a:extLst>
              <a:ext uri="{FF2B5EF4-FFF2-40B4-BE49-F238E27FC236}">
                <a16:creationId xmlns:a16="http://schemas.microsoft.com/office/drawing/2014/main" id="{3E0E1F39-A802-BB5F-CF2E-48B7F6993070}"/>
              </a:ext>
            </a:extLst>
          </p:cNvPr>
          <p:cNvSpPr>
            <a:spLocks noGrp="1"/>
          </p:cNvSpPr>
          <p:nvPr/>
        </p:nvSpPr>
        <p:spPr>
          <a:xfrm>
            <a:off x="6229350" y="4995862"/>
            <a:ext cx="2381250" cy="542925"/>
          </a:xfrm>
          <a:prstGeom prst="rect">
            <a:avLst/>
          </a:prstGeom>
          <a:noFill/>
          <a:ln w="0">
            <a:noFill/>
          </a:ln>
        </p:spPr>
        <p:txBody>
          <a:bodyPr wrap="square" lIns="0" tIns="0" rIns="0" bIns="0" anchor="t">
            <a:noAutofit/>
          </a:bodyPr>
          <a:lstStyle>
            <a:defPPr algn="ctr">
              <a:defRPr lang="en-US" sz="3000" b="1">
                <a:solidFill>
                  <a:srgbClr val="2C8390"/>
                </a:solidFill>
                <a:latin typeface="Roboto"/>
                <a:ea typeface="Roboto"/>
                <a:cs typeface="Roboto"/>
              </a:defRPr>
            </a:defPPr>
            <a:lvl1pPr algn="ctr">
              <a:defRPr lang="en-US" sz="3000" b="1">
                <a:solidFill>
                  <a:srgbClr val="2C8390"/>
                </a:solidFill>
                <a:latin typeface="Roboto"/>
                <a:ea typeface="Roboto"/>
                <a:cs typeface="Roboto"/>
              </a:defRPr>
            </a:lvl1pPr>
            <a:lvl2pPr algn="ctr">
              <a:defRPr lang="en-US" sz="3000" b="1">
                <a:solidFill>
                  <a:srgbClr val="2C8390"/>
                </a:solidFill>
                <a:latin typeface="Roboto"/>
                <a:ea typeface="Roboto"/>
                <a:cs typeface="Roboto"/>
              </a:defRPr>
            </a:lvl2pPr>
            <a:lvl3pPr algn="ctr">
              <a:defRPr lang="en-US" sz="3000" b="1">
                <a:solidFill>
                  <a:srgbClr val="2C8390"/>
                </a:solidFill>
                <a:latin typeface="Roboto"/>
                <a:ea typeface="Roboto"/>
                <a:cs typeface="Roboto"/>
              </a:defRPr>
            </a:lvl3pPr>
            <a:lvl4pPr algn="ctr">
              <a:defRPr lang="en-US" sz="3000" b="1">
                <a:solidFill>
                  <a:srgbClr val="2C8390"/>
                </a:solidFill>
                <a:latin typeface="Roboto"/>
                <a:ea typeface="Roboto"/>
                <a:cs typeface="Roboto"/>
              </a:defRPr>
            </a:lvl4pPr>
            <a:lvl5pPr algn="ctr">
              <a:defRPr lang="en-US" sz="3000" b="1">
                <a:solidFill>
                  <a:srgbClr val="2C8390"/>
                </a:solidFill>
                <a:latin typeface="Roboto"/>
                <a:ea typeface="Roboto"/>
                <a:cs typeface="Roboto"/>
              </a:defRPr>
            </a:lvl5pPr>
            <a:lvl6pPr algn="ctr">
              <a:defRPr lang="en-US" sz="3000" b="1">
                <a:solidFill>
                  <a:srgbClr val="2C8390"/>
                </a:solidFill>
                <a:latin typeface="Roboto"/>
                <a:ea typeface="Roboto"/>
                <a:cs typeface="Roboto"/>
              </a:defRPr>
            </a:lvl6pPr>
            <a:lvl7pPr algn="ctr">
              <a:defRPr lang="en-US" sz="3000" b="1">
                <a:solidFill>
                  <a:srgbClr val="2C8390"/>
                </a:solidFill>
                <a:latin typeface="Roboto"/>
                <a:ea typeface="Roboto"/>
                <a:cs typeface="Roboto"/>
              </a:defRPr>
            </a:lvl7pPr>
            <a:lvl8pPr algn="ctr">
              <a:defRPr lang="en-US" sz="3000" b="1">
                <a:solidFill>
                  <a:srgbClr val="2C8390"/>
                </a:solidFill>
                <a:latin typeface="Roboto"/>
                <a:ea typeface="Roboto"/>
                <a:cs typeface="Roboto"/>
              </a:defRPr>
            </a:lvl8pPr>
            <a:lvl9pPr algn="ctr">
              <a:defRPr lang="en-US" sz="3000" b="1">
                <a:solidFill>
                  <a:srgbClr val="2C8390"/>
                </a:solidFill>
                <a:latin typeface="Roboto"/>
                <a:ea typeface="Roboto"/>
                <a:cs typeface="Roboto"/>
              </a:defRPr>
            </a:lvl9pPr>
          </a:lstStyle>
          <a:p>
            <a:pPr algn="ctr">
              <a:defRPr lang="en-US" sz="3000" b="1">
                <a:solidFill>
                  <a:srgbClr val="2C8390"/>
                </a:solidFill>
                <a:latin typeface="Roboto"/>
                <a:ea typeface="Roboto"/>
                <a:cs typeface="Roboto"/>
              </a:defRPr>
            </a:pPr>
            <a:r>
              <a:rPr lang="en-US" sz="3000" b="1" dirty="0">
                <a:solidFill>
                  <a:srgbClr val="2C8390"/>
                </a:solidFill>
                <a:latin typeface="Roboto"/>
                <a:ea typeface="Roboto"/>
                <a:cs typeface="Roboto"/>
              </a:rPr>
              <a:t>19.10%</a:t>
            </a:r>
          </a:p>
        </p:txBody>
      </p:sp>
      <p:sp>
        <p:nvSpPr>
          <p:cNvPr id="24" name="tg-map-ap">
            <a:extLst>
              <a:ext uri="{FF2B5EF4-FFF2-40B4-BE49-F238E27FC236}">
                <a16:creationId xmlns:a16="http://schemas.microsoft.com/office/drawing/2014/main" id="{18E1BF7C-1D9A-BE8D-2D38-295F482979CB}"/>
              </a:ext>
            </a:extLst>
          </p:cNvPr>
          <p:cNvSpPr>
            <a:spLocks noGrp="1"/>
          </p:cNvSpPr>
          <p:nvPr/>
        </p:nvSpPr>
        <p:spPr>
          <a:xfrm>
            <a:off x="8963025" y="4995862"/>
            <a:ext cx="2381250" cy="542925"/>
          </a:xfrm>
          <a:prstGeom prst="rect">
            <a:avLst/>
          </a:prstGeom>
          <a:noFill/>
          <a:ln w="0">
            <a:noFill/>
          </a:ln>
        </p:spPr>
        <p:txBody>
          <a:bodyPr wrap="square" lIns="0" tIns="0" rIns="0" bIns="0" anchor="t">
            <a:noAutofit/>
          </a:bodyPr>
          <a:lstStyle>
            <a:defPPr algn="ctr">
              <a:defRPr lang="en-US" sz="3000" b="1">
                <a:solidFill>
                  <a:srgbClr val="822433"/>
                </a:solidFill>
                <a:latin typeface="Roboto"/>
                <a:ea typeface="Roboto"/>
                <a:cs typeface="Roboto"/>
              </a:defRPr>
            </a:defPPr>
            <a:lvl1pPr algn="ctr">
              <a:defRPr lang="en-US" sz="3000" b="1">
                <a:solidFill>
                  <a:srgbClr val="822433"/>
                </a:solidFill>
                <a:latin typeface="Roboto"/>
                <a:ea typeface="Roboto"/>
                <a:cs typeface="Roboto"/>
              </a:defRPr>
            </a:lvl1pPr>
            <a:lvl2pPr algn="ctr">
              <a:defRPr lang="en-US" sz="3000" b="1">
                <a:solidFill>
                  <a:srgbClr val="822433"/>
                </a:solidFill>
                <a:latin typeface="Roboto"/>
                <a:ea typeface="Roboto"/>
                <a:cs typeface="Roboto"/>
              </a:defRPr>
            </a:lvl2pPr>
            <a:lvl3pPr algn="ctr">
              <a:defRPr lang="en-US" sz="3000" b="1">
                <a:solidFill>
                  <a:srgbClr val="822433"/>
                </a:solidFill>
                <a:latin typeface="Roboto"/>
                <a:ea typeface="Roboto"/>
                <a:cs typeface="Roboto"/>
              </a:defRPr>
            </a:lvl3pPr>
            <a:lvl4pPr algn="ctr">
              <a:defRPr lang="en-US" sz="3000" b="1">
                <a:solidFill>
                  <a:srgbClr val="822433"/>
                </a:solidFill>
                <a:latin typeface="Roboto"/>
                <a:ea typeface="Roboto"/>
                <a:cs typeface="Roboto"/>
              </a:defRPr>
            </a:lvl4pPr>
            <a:lvl5pPr algn="ctr">
              <a:defRPr lang="en-US" sz="3000" b="1">
                <a:solidFill>
                  <a:srgbClr val="822433"/>
                </a:solidFill>
                <a:latin typeface="Roboto"/>
                <a:ea typeface="Roboto"/>
                <a:cs typeface="Roboto"/>
              </a:defRPr>
            </a:lvl5pPr>
            <a:lvl6pPr algn="ctr">
              <a:defRPr lang="en-US" sz="3000" b="1">
                <a:solidFill>
                  <a:srgbClr val="822433"/>
                </a:solidFill>
                <a:latin typeface="Roboto"/>
                <a:ea typeface="Roboto"/>
                <a:cs typeface="Roboto"/>
              </a:defRPr>
            </a:lvl6pPr>
            <a:lvl7pPr algn="ctr">
              <a:defRPr lang="en-US" sz="3000" b="1">
                <a:solidFill>
                  <a:srgbClr val="822433"/>
                </a:solidFill>
                <a:latin typeface="Roboto"/>
                <a:ea typeface="Roboto"/>
                <a:cs typeface="Roboto"/>
              </a:defRPr>
            </a:lvl7pPr>
            <a:lvl8pPr algn="ctr">
              <a:defRPr lang="en-US" sz="3000" b="1">
                <a:solidFill>
                  <a:srgbClr val="822433"/>
                </a:solidFill>
                <a:latin typeface="Roboto"/>
                <a:ea typeface="Roboto"/>
                <a:cs typeface="Roboto"/>
              </a:defRPr>
            </a:lvl8pPr>
            <a:lvl9pPr algn="ctr">
              <a:defRPr lang="en-US" sz="3000" b="1">
                <a:solidFill>
                  <a:srgbClr val="822433"/>
                </a:solidFill>
                <a:latin typeface="Roboto"/>
                <a:ea typeface="Roboto"/>
                <a:cs typeface="Roboto"/>
              </a:defRPr>
            </a:lvl9pPr>
          </a:lstStyle>
          <a:p>
            <a:pPr algn="ctr">
              <a:defRPr lang="en-US" sz="3000" b="1">
                <a:solidFill>
                  <a:srgbClr val="822433"/>
                </a:solidFill>
                <a:latin typeface="Roboto"/>
                <a:ea typeface="Roboto"/>
                <a:cs typeface="Roboto"/>
              </a:defRPr>
            </a:pPr>
            <a:r>
              <a:rPr lang="en-US" sz="3000" b="1" dirty="0">
                <a:solidFill>
                  <a:srgbClr val="822433"/>
                </a:solidFill>
                <a:latin typeface="Roboto"/>
                <a:ea typeface="Roboto"/>
                <a:cs typeface="Roboto"/>
              </a:rPr>
              <a:t>27.59%</a:t>
            </a:r>
          </a:p>
        </p:txBody>
      </p:sp>
      <p:sp>
        <p:nvSpPr>
          <p:cNvPr id="26" name="map-precision-label">
            <a:extLst>
              <a:ext uri="{FF2B5EF4-FFF2-40B4-BE49-F238E27FC236}">
                <a16:creationId xmlns:a16="http://schemas.microsoft.com/office/drawing/2014/main" id="{1DE0493D-174C-32D7-0729-C6BAE7EF43CC}"/>
              </a:ext>
            </a:extLst>
          </p:cNvPr>
          <p:cNvSpPr>
            <a:spLocks noGrp="1"/>
          </p:cNvSpPr>
          <p:nvPr/>
        </p:nvSpPr>
        <p:spPr>
          <a:xfrm>
            <a:off x="4840431" y="5072061"/>
            <a:ext cx="1324841" cy="390525"/>
          </a:xfrm>
          <a:prstGeom prst="rect">
            <a:avLst/>
          </a:prstGeom>
          <a:noFill/>
          <a:ln w="0">
            <a:noFill/>
          </a:ln>
        </p:spPr>
        <p:txBody>
          <a:bodyPr wrap="square" lIns="0" tIns="0" rIns="0" bIns="0" anchor="t">
            <a:noAutofit/>
          </a:bodyPr>
          <a:lstStyle>
            <a:defPPr algn="ctr">
              <a:defRPr lang="en-US" sz="1875" b="0">
                <a:solidFill>
                  <a:srgbClr val="656B73"/>
                </a:solidFill>
                <a:latin typeface="Roboto"/>
                <a:ea typeface="Roboto"/>
                <a:cs typeface="Roboto"/>
              </a:defRPr>
            </a:defPPr>
            <a:lvl1pPr algn="ctr">
              <a:defRPr lang="en-US" sz="1875" b="0">
                <a:solidFill>
                  <a:srgbClr val="656B73"/>
                </a:solidFill>
                <a:latin typeface="Roboto"/>
                <a:ea typeface="Roboto"/>
                <a:cs typeface="Roboto"/>
              </a:defRPr>
            </a:lvl1pPr>
            <a:lvl2pPr algn="ctr">
              <a:defRPr lang="en-US" sz="1875" b="0">
                <a:solidFill>
                  <a:srgbClr val="656B73"/>
                </a:solidFill>
                <a:latin typeface="Roboto"/>
                <a:ea typeface="Roboto"/>
                <a:cs typeface="Roboto"/>
              </a:defRPr>
            </a:lvl2pPr>
            <a:lvl3pPr algn="ctr">
              <a:defRPr lang="en-US" sz="1875" b="0">
                <a:solidFill>
                  <a:srgbClr val="656B73"/>
                </a:solidFill>
                <a:latin typeface="Roboto"/>
                <a:ea typeface="Roboto"/>
                <a:cs typeface="Roboto"/>
              </a:defRPr>
            </a:lvl3pPr>
            <a:lvl4pPr algn="ctr">
              <a:defRPr lang="en-US" sz="1875" b="0">
                <a:solidFill>
                  <a:srgbClr val="656B73"/>
                </a:solidFill>
                <a:latin typeface="Roboto"/>
                <a:ea typeface="Roboto"/>
                <a:cs typeface="Roboto"/>
              </a:defRPr>
            </a:lvl4pPr>
            <a:lvl5pPr algn="ctr">
              <a:defRPr lang="en-US" sz="1875" b="0">
                <a:solidFill>
                  <a:srgbClr val="656B73"/>
                </a:solidFill>
                <a:latin typeface="Roboto"/>
                <a:ea typeface="Roboto"/>
                <a:cs typeface="Roboto"/>
              </a:defRPr>
            </a:lvl5pPr>
            <a:lvl6pPr algn="ctr">
              <a:defRPr lang="en-US" sz="1875" b="0">
                <a:solidFill>
                  <a:srgbClr val="656B73"/>
                </a:solidFill>
                <a:latin typeface="Roboto"/>
                <a:ea typeface="Roboto"/>
                <a:cs typeface="Roboto"/>
              </a:defRPr>
            </a:lvl6pPr>
            <a:lvl7pPr algn="ctr">
              <a:defRPr lang="en-US" sz="1875" b="0">
                <a:solidFill>
                  <a:srgbClr val="656B73"/>
                </a:solidFill>
                <a:latin typeface="Roboto"/>
                <a:ea typeface="Roboto"/>
                <a:cs typeface="Roboto"/>
              </a:defRPr>
            </a:lvl7pPr>
            <a:lvl8pPr algn="ctr">
              <a:defRPr lang="en-US" sz="1875" b="0">
                <a:solidFill>
                  <a:srgbClr val="656B73"/>
                </a:solidFill>
                <a:latin typeface="Roboto"/>
                <a:ea typeface="Roboto"/>
                <a:cs typeface="Roboto"/>
              </a:defRPr>
            </a:lvl8pPr>
            <a:lvl9pPr algn="ctr">
              <a:defRPr lang="en-US" sz="1875" b="0">
                <a:solidFill>
                  <a:srgbClr val="656B73"/>
                </a:solidFill>
                <a:latin typeface="Roboto"/>
                <a:ea typeface="Roboto"/>
                <a:cs typeface="Roboto"/>
              </a:defRPr>
            </a:lvl9pPr>
          </a:lstStyle>
          <a:p>
            <a:pPr algn="ctr">
              <a:defRPr lang="en-US" sz="1875" b="0">
                <a:solidFill>
                  <a:srgbClr val="656B73"/>
                </a:solidFill>
                <a:latin typeface="Roboto"/>
                <a:ea typeface="Roboto"/>
                <a:cs typeface="Roboto"/>
              </a:defRPr>
            </a:pPr>
            <a:r>
              <a:rPr lang="en-US" sz="2400" b="0" dirty="0">
                <a:solidFill>
                  <a:sysClr val="windowText" lastClr="000000"/>
                </a:solidFill>
                <a:latin typeface="Roboto"/>
                <a:ea typeface="Roboto"/>
                <a:cs typeface="Roboto"/>
              </a:rPr>
              <a:t>Pixel AP</a:t>
            </a:r>
            <a:r>
              <a:rPr lang="en-US" sz="2400" dirty="0">
                <a:solidFill>
                  <a:sysClr val="windowText" lastClr="000000"/>
                </a:solidFill>
              </a:rPr>
              <a:t>:</a:t>
            </a:r>
            <a:endParaRPr lang="en-US" sz="2400" b="0" dirty="0">
              <a:solidFill>
                <a:sysClr val="windowText" lastClr="000000"/>
              </a:solidFill>
              <a:latin typeface="Roboto"/>
              <a:ea typeface="Roboto"/>
              <a:cs typeface="Roboto"/>
            </a:endParaRPr>
          </a:p>
        </p:txBody>
      </p:sp>
    </p:spTree>
    <p:extLst>
      <p:ext uri="{BB962C8B-B14F-4D97-AF65-F5344CB8AC3E}">
        <p14:creationId xmlns:p14="http://schemas.microsoft.com/office/powerpoint/2010/main" val="1735588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3D7AC-1FA9-417F-BDB9-3185684DCBE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A15373B-52F9-2A08-CE83-957040FF5924}"/>
              </a:ext>
            </a:extLst>
          </p:cNvPr>
          <p:cNvSpPr>
            <a:spLocks noGrp="1"/>
          </p:cNvSpPr>
          <p:nvPr>
            <p:ph type="title"/>
          </p:nvPr>
        </p:nvSpPr>
        <p:spPr/>
        <p:txBody>
          <a:bodyPr>
            <a:normAutofit/>
          </a:bodyPr>
          <a:lstStyle/>
          <a:p>
            <a:r>
              <a:rPr lang="it-IT" sz="5400" dirty="0" err="1">
                <a:solidFill>
                  <a:srgbClr val="822433"/>
                </a:solidFill>
              </a:rPr>
              <a:t>Conclusions</a:t>
            </a:r>
            <a:endParaRPr lang="it-IT" sz="5400" dirty="0">
              <a:solidFill>
                <a:srgbClr val="822433"/>
              </a:solidFill>
            </a:endParaRPr>
          </a:p>
        </p:txBody>
      </p:sp>
      <p:sp>
        <p:nvSpPr>
          <p:cNvPr id="3" name="Segnaposto testo 2">
            <a:extLst>
              <a:ext uri="{FF2B5EF4-FFF2-40B4-BE49-F238E27FC236}">
                <a16:creationId xmlns:a16="http://schemas.microsoft.com/office/drawing/2014/main" id="{1FF580B9-178F-76BA-F22D-C1F0D3CE5302}"/>
              </a:ext>
            </a:extLst>
          </p:cNvPr>
          <p:cNvSpPr>
            <a:spLocks noGrp="1"/>
          </p:cNvSpPr>
          <p:nvPr>
            <p:ph type="body" idx="1"/>
          </p:nvPr>
        </p:nvSpPr>
        <p:spPr>
          <a:xfrm>
            <a:off x="844550" y="2085109"/>
            <a:ext cx="10515600" cy="1859570"/>
          </a:xfrm>
        </p:spPr>
        <p:txBody>
          <a:bodyPr>
            <a:normAutofit lnSpcReduction="10000"/>
          </a:bodyPr>
          <a:lstStyle/>
          <a:p>
            <a:r>
              <a:rPr lang="it-IT" dirty="0" err="1"/>
              <a:t>Introduction</a:t>
            </a:r>
            <a:br>
              <a:rPr lang="it-IT" dirty="0"/>
            </a:br>
            <a:r>
              <a:rPr lang="it-IT" dirty="0" err="1">
                <a:solidFill>
                  <a:schemeClr val="bg1">
                    <a:lumMod val="50000"/>
                  </a:schemeClr>
                </a:solidFill>
              </a:rPr>
              <a:t>Lightweight</a:t>
            </a:r>
            <a:r>
              <a:rPr lang="it-IT" dirty="0">
                <a:solidFill>
                  <a:schemeClr val="bg1">
                    <a:lumMod val="50000"/>
                  </a:schemeClr>
                </a:solidFill>
              </a:rPr>
              <a:t> Scene </a:t>
            </a:r>
            <a:r>
              <a:rPr lang="it-IT" dirty="0" err="1">
                <a:solidFill>
                  <a:schemeClr val="bg1">
                    <a:lumMod val="50000"/>
                  </a:schemeClr>
                </a:solidFill>
              </a:rPr>
              <a:t>Understanding</a:t>
            </a:r>
            <a:br>
              <a:rPr lang="it-IT" dirty="0">
                <a:solidFill>
                  <a:schemeClr val="bg1">
                    <a:lumMod val="50000"/>
                  </a:schemeClr>
                </a:solidFill>
              </a:rPr>
            </a:br>
            <a:r>
              <a:rPr lang="it-IT" dirty="0" err="1">
                <a:solidFill>
                  <a:schemeClr val="bg1">
                    <a:lumMod val="50000"/>
                  </a:schemeClr>
                </a:solidFill>
              </a:rPr>
              <a:t>Synthetic</a:t>
            </a:r>
            <a:r>
              <a:rPr lang="it-IT" dirty="0">
                <a:solidFill>
                  <a:schemeClr val="bg1">
                    <a:lumMod val="50000"/>
                  </a:schemeClr>
                </a:solidFill>
              </a:rPr>
              <a:t> Dataset Generation</a:t>
            </a:r>
            <a:br>
              <a:rPr lang="it-IT" dirty="0">
                <a:solidFill>
                  <a:schemeClr val="bg1">
                    <a:lumMod val="50000"/>
                  </a:schemeClr>
                </a:solidFill>
              </a:rPr>
            </a:br>
            <a:r>
              <a:rPr lang="it-IT" dirty="0" err="1">
                <a:solidFill>
                  <a:schemeClr val="bg1">
                    <a:lumMod val="50000"/>
                  </a:schemeClr>
                </a:solidFill>
              </a:rPr>
              <a:t>Synthetic</a:t>
            </a:r>
            <a:r>
              <a:rPr lang="it-IT" dirty="0">
                <a:solidFill>
                  <a:schemeClr val="bg1">
                    <a:lumMod val="50000"/>
                  </a:schemeClr>
                </a:solidFill>
              </a:rPr>
              <a:t> </a:t>
            </a:r>
            <a:r>
              <a:rPr lang="it-IT" dirty="0" err="1">
                <a:solidFill>
                  <a:schemeClr val="bg1">
                    <a:lumMod val="50000"/>
                  </a:schemeClr>
                </a:solidFill>
              </a:rPr>
              <a:t>Damage</a:t>
            </a:r>
            <a:r>
              <a:rPr lang="it-IT" dirty="0">
                <a:solidFill>
                  <a:schemeClr val="bg1">
                    <a:lumMod val="50000"/>
                  </a:schemeClr>
                </a:solidFill>
              </a:rPr>
              <a:t> </a:t>
            </a:r>
            <a:r>
              <a:rPr lang="it-IT" dirty="0" err="1">
                <a:solidFill>
                  <a:schemeClr val="bg1">
                    <a:lumMod val="50000"/>
                  </a:schemeClr>
                </a:solidFill>
              </a:rPr>
              <a:t>Inspection</a:t>
            </a:r>
            <a:br>
              <a:rPr lang="it-IT" dirty="0">
                <a:solidFill>
                  <a:schemeClr val="bg1">
                    <a:lumMod val="50000"/>
                  </a:schemeClr>
                </a:solidFill>
              </a:rPr>
            </a:br>
            <a:r>
              <a:rPr lang="it-IT" dirty="0" err="1">
                <a:solidFill>
                  <a:schemeClr val="bg1">
                    <a:lumMod val="50000"/>
                  </a:schemeClr>
                </a:solidFill>
              </a:rPr>
              <a:t>Results</a:t>
            </a:r>
            <a:endParaRPr lang="it-IT" dirty="0">
              <a:solidFill>
                <a:schemeClr val="bg1">
                  <a:lumMod val="50000"/>
                </a:schemeClr>
              </a:solidFill>
            </a:endParaRPr>
          </a:p>
        </p:txBody>
      </p:sp>
      <p:sp>
        <p:nvSpPr>
          <p:cNvPr id="4" name="Google Shape;102;p14">
            <a:extLst>
              <a:ext uri="{FF2B5EF4-FFF2-40B4-BE49-F238E27FC236}">
                <a16:creationId xmlns:a16="http://schemas.microsoft.com/office/drawing/2014/main" id="{2786C3E9-D1B2-CF4D-3DE5-4C6223359D9F}"/>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29</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1A9A2193-642E-7EE8-6381-A6BC5414C22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8" name="Segnaposto testo 2">
            <a:extLst>
              <a:ext uri="{FF2B5EF4-FFF2-40B4-BE49-F238E27FC236}">
                <a16:creationId xmlns:a16="http://schemas.microsoft.com/office/drawing/2014/main" id="{60ECD5A8-A0CB-A08A-9347-40A53FDBBC1F}"/>
              </a:ext>
            </a:extLst>
          </p:cNvPr>
          <p:cNvSpPr txBox="1">
            <a:spLocks/>
          </p:cNvSpPr>
          <p:nvPr/>
        </p:nvSpPr>
        <p:spPr>
          <a:xfrm>
            <a:off x="844550" y="4562475"/>
            <a:ext cx="10515600" cy="1544003"/>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buFont typeface="Arial" panose="020B0604020202020204" pitchFamily="34" charset="0"/>
              <a:buNone/>
              <a:defRPr sz="24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1pPr>
            <a:lvl2pPr marL="457200" indent="0" algn="l" defTabSz="914400" rtl="0" eaLnBrk="1" latinLnBrk="0" hangingPunct="1">
              <a:lnSpc>
                <a:spcPct val="100000"/>
              </a:lnSpc>
              <a:spcBef>
                <a:spcPts val="500"/>
              </a:spcBef>
              <a:buFont typeface="Arial" panose="020B0604020202020204" pitchFamily="34" charset="0"/>
              <a:buNone/>
              <a:defRPr sz="20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2pPr>
            <a:lvl3pPr marL="914400" indent="0" algn="l" defTabSz="914400" rtl="0" eaLnBrk="1" latinLnBrk="0" hangingPunct="1">
              <a:lnSpc>
                <a:spcPct val="100000"/>
              </a:lnSpc>
              <a:spcBef>
                <a:spcPts val="500"/>
              </a:spcBef>
              <a:buFont typeface="Arial" panose="020B0604020202020204" pitchFamily="34" charset="0"/>
              <a:buNone/>
              <a:defRPr sz="18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3pPr>
            <a:lvl4pPr marL="13716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4pPr>
            <a:lvl5pPr marL="18288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endParaRPr lang="it-IT" dirty="0"/>
          </a:p>
        </p:txBody>
      </p:sp>
    </p:spTree>
    <p:extLst>
      <p:ext uri="{BB962C8B-B14F-4D97-AF65-F5344CB8AC3E}">
        <p14:creationId xmlns:p14="http://schemas.microsoft.com/office/powerpoint/2010/main" val="313909260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4D8585C-6547-3DF2-5F9C-75F0EB87C360}"/>
              </a:ext>
            </a:extLst>
          </p:cNvPr>
          <p:cNvSpPr>
            <a:spLocks noGrp="1"/>
          </p:cNvSpPr>
          <p:nvPr>
            <p:ph type="title"/>
          </p:nvPr>
        </p:nvSpPr>
        <p:spPr>
          <a:xfrm>
            <a:off x="838200" y="365125"/>
            <a:ext cx="8384177" cy="835787"/>
          </a:xfrm>
        </p:spPr>
        <p:txBody>
          <a:bodyPr/>
          <a:lstStyle/>
          <a:p>
            <a:r>
              <a:rPr>
                <a:solidFill>
                  <a:srgbClr val="822433"/>
                </a:solidFill>
              </a:rPr>
              <a:t>Conclusions</a:t>
            </a:r>
          </a:p>
        </p:txBody>
      </p:sp>
      <p:sp>
        <p:nvSpPr>
          <p:cNvPr id="5" name="Google Shape;103;p14">
            <a:extLst>
              <a:ext uri="{FF2B5EF4-FFF2-40B4-BE49-F238E27FC236}">
                <a16:creationId xmlns:a16="http://schemas.microsoft.com/office/drawing/2014/main" id="{9729A674-1148-4E3C-8155-19C360C96032}"/>
              </a:ext>
            </a:extLst>
          </p:cNvPr>
          <p:cNvSpPr>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oAutofit/>
          </a:bodyPr>
          <a:lstStyle/>
          <a:p>
            <a:pPr lvl="0" algn="l">
              <a:buClr>
                <a:schemeClr val="dk1"/>
              </a:buClr>
              <a:buNone/>
            </a:pPr>
            <a:r>
              <a:rPr sz="1000" dirty="0">
                <a:solidFill>
                  <a:srgbClr val="822433"/>
                </a:solidFill>
                <a:latin typeface="Roboto"/>
                <a:ea typeface="Roboto"/>
                <a:cs typeface="Roboto"/>
              </a:rPr>
              <a:t>               Lightweight Scene Understanding and Synthetic Data-Driven Damage Inspection for Martian Rovers                                                                     27/10/2026</a:t>
            </a:r>
          </a:p>
        </p:txBody>
      </p:sp>
      <p:sp>
        <p:nvSpPr>
          <p:cNvPr id="6" name="segmentation-heading">
            <a:extLst>
              <a:ext uri="{FF2B5EF4-FFF2-40B4-BE49-F238E27FC236}">
                <a16:creationId xmlns:a16="http://schemas.microsoft.com/office/drawing/2014/main" id="{B7325B3D-7F2B-47A3-8C78-382A15EA48F9}"/>
              </a:ext>
            </a:extLst>
          </p:cNvPr>
          <p:cNvSpPr>
            <a:spLocks noGrp="1"/>
          </p:cNvSpPr>
          <p:nvPr/>
        </p:nvSpPr>
        <p:spPr>
          <a:xfrm>
            <a:off x="1453861" y="1616653"/>
            <a:ext cx="8858250" cy="428625"/>
          </a:xfrm>
          <a:prstGeom prst="rect">
            <a:avLst/>
          </a:prstGeom>
          <a:noFill/>
          <a:ln w="0">
            <a:noFill/>
          </a:ln>
        </p:spPr>
        <p:txBody>
          <a:bodyPr wrap="square" lIns="0" tIns="0" rIns="0" bIns="0" anchor="t">
            <a:noAutofit/>
          </a:bodyPr>
          <a:lstStyle>
            <a:defPPr algn="l">
              <a:defRPr sz="2600" b="1">
                <a:solidFill>
                  <a:srgbClr val="822433"/>
                </a:solidFill>
                <a:latin typeface="Roboto"/>
                <a:ea typeface="Roboto"/>
                <a:cs typeface="Roboto"/>
              </a:defRPr>
            </a:defPPr>
            <a:lvl1pPr algn="l">
              <a:defRPr sz="2600" b="1">
                <a:solidFill>
                  <a:srgbClr val="822433"/>
                </a:solidFill>
                <a:latin typeface="Roboto"/>
                <a:ea typeface="Roboto"/>
                <a:cs typeface="Roboto"/>
              </a:defRPr>
            </a:lvl1pPr>
            <a:lvl2pPr algn="l">
              <a:defRPr sz="2600" b="1">
                <a:solidFill>
                  <a:srgbClr val="822433"/>
                </a:solidFill>
                <a:latin typeface="Roboto"/>
                <a:ea typeface="Roboto"/>
                <a:cs typeface="Roboto"/>
              </a:defRPr>
            </a:lvl2pPr>
            <a:lvl3pPr algn="l">
              <a:defRPr sz="2600" b="1">
                <a:solidFill>
                  <a:srgbClr val="822433"/>
                </a:solidFill>
                <a:latin typeface="Roboto"/>
                <a:ea typeface="Roboto"/>
                <a:cs typeface="Roboto"/>
              </a:defRPr>
            </a:lvl3pPr>
            <a:lvl4pPr algn="l">
              <a:defRPr sz="2600" b="1">
                <a:solidFill>
                  <a:srgbClr val="822433"/>
                </a:solidFill>
                <a:latin typeface="Roboto"/>
                <a:ea typeface="Roboto"/>
                <a:cs typeface="Roboto"/>
              </a:defRPr>
            </a:lvl4pPr>
            <a:lvl5pPr algn="l">
              <a:defRPr sz="2600" b="1">
                <a:solidFill>
                  <a:srgbClr val="822433"/>
                </a:solidFill>
                <a:latin typeface="Roboto"/>
                <a:ea typeface="Roboto"/>
                <a:cs typeface="Roboto"/>
              </a:defRPr>
            </a:lvl5pPr>
            <a:lvl6pPr algn="l">
              <a:defRPr sz="2600" b="1">
                <a:solidFill>
                  <a:srgbClr val="822433"/>
                </a:solidFill>
                <a:latin typeface="Roboto"/>
                <a:ea typeface="Roboto"/>
                <a:cs typeface="Roboto"/>
              </a:defRPr>
            </a:lvl6pPr>
            <a:lvl7pPr algn="l">
              <a:defRPr sz="2600" b="1">
                <a:solidFill>
                  <a:srgbClr val="822433"/>
                </a:solidFill>
                <a:latin typeface="Roboto"/>
                <a:ea typeface="Roboto"/>
                <a:cs typeface="Roboto"/>
              </a:defRPr>
            </a:lvl7pPr>
            <a:lvl8pPr algn="l">
              <a:defRPr sz="2600" b="1">
                <a:solidFill>
                  <a:srgbClr val="822433"/>
                </a:solidFill>
                <a:latin typeface="Roboto"/>
                <a:ea typeface="Roboto"/>
                <a:cs typeface="Roboto"/>
              </a:defRPr>
            </a:lvl8pPr>
            <a:lvl9pPr algn="l">
              <a:defRPr sz="2600" b="1">
                <a:solidFill>
                  <a:srgbClr val="822433"/>
                </a:solidFill>
                <a:latin typeface="Roboto"/>
                <a:ea typeface="Roboto"/>
                <a:cs typeface="Roboto"/>
              </a:defRPr>
            </a:lvl9pPr>
          </a:lstStyle>
          <a:p>
            <a:pPr marL="457200" indent="-457200" algn="l">
              <a:buFont typeface="Arial" panose="020B0604020202020204" pitchFamily="34" charset="0"/>
              <a:buChar char="•"/>
              <a:defRPr sz="2600" b="1">
                <a:solidFill>
                  <a:srgbClr val="822433"/>
                </a:solidFill>
                <a:latin typeface="Roboto"/>
                <a:ea typeface="Roboto"/>
                <a:cs typeface="Roboto"/>
              </a:defRPr>
            </a:pPr>
            <a:r>
              <a:rPr sz="2600" b="1" dirty="0">
                <a:solidFill>
                  <a:srgbClr val="822433"/>
                </a:solidFill>
                <a:latin typeface="Roboto"/>
                <a:ea typeface="Roboto"/>
                <a:cs typeface="Roboto"/>
              </a:rPr>
              <a:t>Lightweight segmentation</a:t>
            </a:r>
          </a:p>
        </p:txBody>
      </p:sp>
      <p:sp>
        <p:nvSpPr>
          <p:cNvPr id="7" name="segmentation-conclusion">
            <a:extLst>
              <a:ext uri="{FF2B5EF4-FFF2-40B4-BE49-F238E27FC236}">
                <a16:creationId xmlns:a16="http://schemas.microsoft.com/office/drawing/2014/main" id="{5837311F-4BC9-4BAA-8E99-2BA14664A04F}"/>
              </a:ext>
            </a:extLst>
          </p:cNvPr>
          <p:cNvSpPr>
            <a:spLocks noGrp="1"/>
          </p:cNvSpPr>
          <p:nvPr/>
        </p:nvSpPr>
        <p:spPr>
          <a:xfrm>
            <a:off x="1952625" y="2054803"/>
            <a:ext cx="8858250" cy="714375"/>
          </a:xfrm>
          <a:prstGeom prst="rect">
            <a:avLst/>
          </a:prstGeom>
          <a:noFill/>
          <a:ln w="0">
            <a:noFill/>
          </a:ln>
        </p:spPr>
        <p:txBody>
          <a:bodyPr wrap="square" lIns="0" tIns="0" rIns="0" bIns="0" anchor="t">
            <a:noAutofit/>
          </a:bodyPr>
          <a:lstStyle>
            <a:defPPr algn="l">
              <a:defRPr sz="2000" b="0">
                <a:solidFill>
                  <a:srgbClr val="252525"/>
                </a:solidFill>
                <a:latin typeface="Calibri"/>
                <a:ea typeface="Calibri"/>
                <a:cs typeface="Calibri"/>
              </a:defRPr>
            </a:defPPr>
            <a:lvl1pPr algn="l">
              <a:defRPr sz="2000" b="0">
                <a:solidFill>
                  <a:srgbClr val="252525"/>
                </a:solidFill>
                <a:latin typeface="Calibri"/>
                <a:ea typeface="Calibri"/>
                <a:cs typeface="Calibri"/>
              </a:defRPr>
            </a:lvl1pPr>
            <a:lvl2pPr algn="l">
              <a:defRPr sz="2000" b="0">
                <a:solidFill>
                  <a:srgbClr val="252525"/>
                </a:solidFill>
                <a:latin typeface="Calibri"/>
                <a:ea typeface="Calibri"/>
                <a:cs typeface="Calibri"/>
              </a:defRPr>
            </a:lvl2pPr>
            <a:lvl3pPr algn="l">
              <a:defRPr sz="2000" b="0">
                <a:solidFill>
                  <a:srgbClr val="252525"/>
                </a:solidFill>
                <a:latin typeface="Calibri"/>
                <a:ea typeface="Calibri"/>
                <a:cs typeface="Calibri"/>
              </a:defRPr>
            </a:lvl3pPr>
            <a:lvl4pPr algn="l">
              <a:defRPr sz="2000" b="0">
                <a:solidFill>
                  <a:srgbClr val="252525"/>
                </a:solidFill>
                <a:latin typeface="Calibri"/>
                <a:ea typeface="Calibri"/>
                <a:cs typeface="Calibri"/>
              </a:defRPr>
            </a:lvl4pPr>
            <a:lvl5pPr algn="l">
              <a:defRPr sz="2000" b="0">
                <a:solidFill>
                  <a:srgbClr val="252525"/>
                </a:solidFill>
                <a:latin typeface="Calibri"/>
                <a:ea typeface="Calibri"/>
                <a:cs typeface="Calibri"/>
              </a:defRPr>
            </a:lvl5pPr>
            <a:lvl6pPr algn="l">
              <a:defRPr sz="2000" b="0">
                <a:solidFill>
                  <a:srgbClr val="252525"/>
                </a:solidFill>
                <a:latin typeface="Calibri"/>
                <a:ea typeface="Calibri"/>
                <a:cs typeface="Calibri"/>
              </a:defRPr>
            </a:lvl6pPr>
            <a:lvl7pPr algn="l">
              <a:defRPr sz="2000" b="0">
                <a:solidFill>
                  <a:srgbClr val="252525"/>
                </a:solidFill>
                <a:latin typeface="Calibri"/>
                <a:ea typeface="Calibri"/>
                <a:cs typeface="Calibri"/>
              </a:defRPr>
            </a:lvl7pPr>
            <a:lvl8pPr algn="l">
              <a:defRPr sz="2000" b="0">
                <a:solidFill>
                  <a:srgbClr val="252525"/>
                </a:solidFill>
                <a:latin typeface="Calibri"/>
                <a:ea typeface="Calibri"/>
                <a:cs typeface="Calibri"/>
              </a:defRPr>
            </a:lvl8pPr>
            <a:lvl9pPr algn="l">
              <a:defRPr sz="2000" b="0">
                <a:solidFill>
                  <a:srgbClr val="252525"/>
                </a:solidFill>
                <a:latin typeface="Calibri"/>
                <a:ea typeface="Calibri"/>
                <a:cs typeface="Calibri"/>
              </a:defRPr>
            </a:lvl9pPr>
          </a:lstStyle>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Selective quantization lowers inference costs,</a:t>
            </a:r>
          </a:p>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with accuracy preserved.</a:t>
            </a:r>
          </a:p>
        </p:txBody>
      </p:sp>
      <p:sp>
        <p:nvSpPr>
          <p:cNvPr id="8" name="dataset-heading">
            <a:extLst>
              <a:ext uri="{FF2B5EF4-FFF2-40B4-BE49-F238E27FC236}">
                <a16:creationId xmlns:a16="http://schemas.microsoft.com/office/drawing/2014/main" id="{32875869-91FC-46A7-85B7-79FA341C7C7D}"/>
              </a:ext>
            </a:extLst>
          </p:cNvPr>
          <p:cNvSpPr>
            <a:spLocks noGrp="1"/>
          </p:cNvSpPr>
          <p:nvPr/>
        </p:nvSpPr>
        <p:spPr>
          <a:xfrm>
            <a:off x="1453861" y="3140653"/>
            <a:ext cx="8858250" cy="428625"/>
          </a:xfrm>
          <a:prstGeom prst="rect">
            <a:avLst/>
          </a:prstGeom>
          <a:noFill/>
          <a:ln w="0">
            <a:noFill/>
          </a:ln>
        </p:spPr>
        <p:txBody>
          <a:bodyPr wrap="square" lIns="0" tIns="0" rIns="0" bIns="0" anchor="t">
            <a:noAutofit/>
          </a:bodyPr>
          <a:lstStyle>
            <a:defPPr algn="l">
              <a:defRPr sz="2600" b="1">
                <a:solidFill>
                  <a:srgbClr val="822433"/>
                </a:solidFill>
                <a:latin typeface="Roboto"/>
                <a:ea typeface="Roboto"/>
                <a:cs typeface="Roboto"/>
              </a:defRPr>
            </a:defPPr>
            <a:lvl1pPr algn="l">
              <a:defRPr sz="2600" b="1">
                <a:solidFill>
                  <a:srgbClr val="822433"/>
                </a:solidFill>
                <a:latin typeface="Roboto"/>
                <a:ea typeface="Roboto"/>
                <a:cs typeface="Roboto"/>
              </a:defRPr>
            </a:lvl1pPr>
            <a:lvl2pPr algn="l">
              <a:defRPr sz="2600" b="1">
                <a:solidFill>
                  <a:srgbClr val="822433"/>
                </a:solidFill>
                <a:latin typeface="Roboto"/>
                <a:ea typeface="Roboto"/>
                <a:cs typeface="Roboto"/>
              </a:defRPr>
            </a:lvl2pPr>
            <a:lvl3pPr algn="l">
              <a:defRPr sz="2600" b="1">
                <a:solidFill>
                  <a:srgbClr val="822433"/>
                </a:solidFill>
                <a:latin typeface="Roboto"/>
                <a:ea typeface="Roboto"/>
                <a:cs typeface="Roboto"/>
              </a:defRPr>
            </a:lvl3pPr>
            <a:lvl4pPr algn="l">
              <a:defRPr sz="2600" b="1">
                <a:solidFill>
                  <a:srgbClr val="822433"/>
                </a:solidFill>
                <a:latin typeface="Roboto"/>
                <a:ea typeface="Roboto"/>
                <a:cs typeface="Roboto"/>
              </a:defRPr>
            </a:lvl4pPr>
            <a:lvl5pPr algn="l">
              <a:defRPr sz="2600" b="1">
                <a:solidFill>
                  <a:srgbClr val="822433"/>
                </a:solidFill>
                <a:latin typeface="Roboto"/>
                <a:ea typeface="Roboto"/>
                <a:cs typeface="Roboto"/>
              </a:defRPr>
            </a:lvl5pPr>
            <a:lvl6pPr algn="l">
              <a:defRPr sz="2600" b="1">
                <a:solidFill>
                  <a:srgbClr val="822433"/>
                </a:solidFill>
                <a:latin typeface="Roboto"/>
                <a:ea typeface="Roboto"/>
                <a:cs typeface="Roboto"/>
              </a:defRPr>
            </a:lvl6pPr>
            <a:lvl7pPr algn="l">
              <a:defRPr sz="2600" b="1">
                <a:solidFill>
                  <a:srgbClr val="822433"/>
                </a:solidFill>
                <a:latin typeface="Roboto"/>
                <a:ea typeface="Roboto"/>
                <a:cs typeface="Roboto"/>
              </a:defRPr>
            </a:lvl7pPr>
            <a:lvl8pPr algn="l">
              <a:defRPr sz="2600" b="1">
                <a:solidFill>
                  <a:srgbClr val="822433"/>
                </a:solidFill>
                <a:latin typeface="Roboto"/>
                <a:ea typeface="Roboto"/>
                <a:cs typeface="Roboto"/>
              </a:defRPr>
            </a:lvl8pPr>
            <a:lvl9pPr algn="l">
              <a:defRPr sz="2600" b="1">
                <a:solidFill>
                  <a:srgbClr val="822433"/>
                </a:solidFill>
                <a:latin typeface="Roboto"/>
                <a:ea typeface="Roboto"/>
                <a:cs typeface="Roboto"/>
              </a:defRPr>
            </a:lvl9pPr>
          </a:lstStyle>
          <a:p>
            <a:pPr marL="457200" indent="-457200" algn="l">
              <a:buFont typeface="Arial" panose="020B0604020202020204" pitchFamily="34" charset="0"/>
              <a:buChar char="•"/>
              <a:defRPr sz="2600" b="1">
                <a:solidFill>
                  <a:srgbClr val="822433"/>
                </a:solidFill>
                <a:latin typeface="Roboto"/>
                <a:ea typeface="Roboto"/>
                <a:cs typeface="Roboto"/>
              </a:defRPr>
            </a:pPr>
            <a:r>
              <a:rPr sz="2600" b="1" dirty="0">
                <a:solidFill>
                  <a:srgbClr val="822433"/>
                </a:solidFill>
                <a:latin typeface="Roboto"/>
                <a:ea typeface="Roboto"/>
                <a:cs typeface="Roboto"/>
              </a:rPr>
              <a:t>10,000 annotated synthetic images</a:t>
            </a:r>
          </a:p>
        </p:txBody>
      </p:sp>
      <p:sp>
        <p:nvSpPr>
          <p:cNvPr id="9" name="dataset-conclusion">
            <a:extLst>
              <a:ext uri="{FF2B5EF4-FFF2-40B4-BE49-F238E27FC236}">
                <a16:creationId xmlns:a16="http://schemas.microsoft.com/office/drawing/2014/main" id="{54F99695-6CCE-4730-8A5B-E56780BB4BA1}"/>
              </a:ext>
            </a:extLst>
          </p:cNvPr>
          <p:cNvSpPr>
            <a:spLocks noGrp="1"/>
          </p:cNvSpPr>
          <p:nvPr/>
        </p:nvSpPr>
        <p:spPr>
          <a:xfrm>
            <a:off x="1952625" y="3569278"/>
            <a:ext cx="8858250" cy="714375"/>
          </a:xfrm>
          <a:prstGeom prst="rect">
            <a:avLst/>
          </a:prstGeom>
          <a:noFill/>
          <a:ln w="0">
            <a:noFill/>
          </a:ln>
        </p:spPr>
        <p:txBody>
          <a:bodyPr wrap="square" lIns="0" tIns="0" rIns="0" bIns="0" anchor="t">
            <a:noAutofit/>
          </a:bodyPr>
          <a:lstStyle>
            <a:defPPr algn="l">
              <a:defRPr sz="2000" b="0">
                <a:solidFill>
                  <a:srgbClr val="252525"/>
                </a:solidFill>
                <a:latin typeface="Calibri"/>
                <a:ea typeface="Calibri"/>
                <a:cs typeface="Calibri"/>
              </a:defRPr>
            </a:defPPr>
            <a:lvl1pPr algn="l">
              <a:defRPr sz="2000" b="0">
                <a:solidFill>
                  <a:srgbClr val="252525"/>
                </a:solidFill>
                <a:latin typeface="Calibri"/>
                <a:ea typeface="Calibri"/>
                <a:cs typeface="Calibri"/>
              </a:defRPr>
            </a:lvl1pPr>
            <a:lvl2pPr algn="l">
              <a:defRPr sz="2000" b="0">
                <a:solidFill>
                  <a:srgbClr val="252525"/>
                </a:solidFill>
                <a:latin typeface="Calibri"/>
                <a:ea typeface="Calibri"/>
                <a:cs typeface="Calibri"/>
              </a:defRPr>
            </a:lvl2pPr>
            <a:lvl3pPr algn="l">
              <a:defRPr sz="2000" b="0">
                <a:solidFill>
                  <a:srgbClr val="252525"/>
                </a:solidFill>
                <a:latin typeface="Calibri"/>
                <a:ea typeface="Calibri"/>
                <a:cs typeface="Calibri"/>
              </a:defRPr>
            </a:lvl3pPr>
            <a:lvl4pPr algn="l">
              <a:defRPr sz="2000" b="0">
                <a:solidFill>
                  <a:srgbClr val="252525"/>
                </a:solidFill>
                <a:latin typeface="Calibri"/>
                <a:ea typeface="Calibri"/>
                <a:cs typeface="Calibri"/>
              </a:defRPr>
            </a:lvl4pPr>
            <a:lvl5pPr algn="l">
              <a:defRPr sz="2000" b="0">
                <a:solidFill>
                  <a:srgbClr val="252525"/>
                </a:solidFill>
                <a:latin typeface="Calibri"/>
                <a:ea typeface="Calibri"/>
                <a:cs typeface="Calibri"/>
              </a:defRPr>
            </a:lvl5pPr>
            <a:lvl6pPr algn="l">
              <a:defRPr sz="2000" b="0">
                <a:solidFill>
                  <a:srgbClr val="252525"/>
                </a:solidFill>
                <a:latin typeface="Calibri"/>
                <a:ea typeface="Calibri"/>
                <a:cs typeface="Calibri"/>
              </a:defRPr>
            </a:lvl6pPr>
            <a:lvl7pPr algn="l">
              <a:defRPr sz="2000" b="0">
                <a:solidFill>
                  <a:srgbClr val="252525"/>
                </a:solidFill>
                <a:latin typeface="Calibri"/>
                <a:ea typeface="Calibri"/>
                <a:cs typeface="Calibri"/>
              </a:defRPr>
            </a:lvl7pPr>
            <a:lvl8pPr algn="l">
              <a:defRPr sz="2000" b="0">
                <a:solidFill>
                  <a:srgbClr val="252525"/>
                </a:solidFill>
                <a:latin typeface="Calibri"/>
                <a:ea typeface="Calibri"/>
                <a:cs typeface="Calibri"/>
              </a:defRPr>
            </a:lvl8pPr>
            <a:lvl9pPr algn="l">
              <a:defRPr sz="2000" b="0">
                <a:solidFill>
                  <a:srgbClr val="252525"/>
                </a:solidFill>
                <a:latin typeface="Calibri"/>
                <a:ea typeface="Calibri"/>
                <a:cs typeface="Calibri"/>
              </a:defRPr>
            </a:lvl9pPr>
          </a:lstStyle>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A pilot dataset for rover wheel inspection,</a:t>
            </a:r>
          </a:p>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with scope to improve visual realism.</a:t>
            </a:r>
          </a:p>
        </p:txBody>
      </p:sp>
      <p:sp>
        <p:nvSpPr>
          <p:cNvPr id="10" name="anomaly-heading">
            <a:extLst>
              <a:ext uri="{FF2B5EF4-FFF2-40B4-BE49-F238E27FC236}">
                <a16:creationId xmlns:a16="http://schemas.microsoft.com/office/drawing/2014/main" id="{5E292AE1-D6B0-4716-A763-7657D64C2944}"/>
              </a:ext>
            </a:extLst>
          </p:cNvPr>
          <p:cNvSpPr>
            <a:spLocks noGrp="1"/>
          </p:cNvSpPr>
          <p:nvPr/>
        </p:nvSpPr>
        <p:spPr>
          <a:xfrm>
            <a:off x="1453861" y="4664653"/>
            <a:ext cx="8858250" cy="428625"/>
          </a:xfrm>
          <a:prstGeom prst="rect">
            <a:avLst/>
          </a:prstGeom>
          <a:noFill/>
          <a:ln w="0">
            <a:noFill/>
          </a:ln>
        </p:spPr>
        <p:txBody>
          <a:bodyPr wrap="square" lIns="0" tIns="0" rIns="0" bIns="0" anchor="t">
            <a:noAutofit/>
          </a:bodyPr>
          <a:lstStyle>
            <a:defPPr algn="l">
              <a:defRPr sz="2600" b="1">
                <a:solidFill>
                  <a:srgbClr val="822433"/>
                </a:solidFill>
                <a:latin typeface="Roboto"/>
                <a:ea typeface="Roboto"/>
                <a:cs typeface="Roboto"/>
              </a:defRPr>
            </a:defPPr>
            <a:lvl1pPr algn="l">
              <a:defRPr sz="2600" b="1">
                <a:solidFill>
                  <a:srgbClr val="822433"/>
                </a:solidFill>
                <a:latin typeface="Roboto"/>
                <a:ea typeface="Roboto"/>
                <a:cs typeface="Roboto"/>
              </a:defRPr>
            </a:lvl1pPr>
            <a:lvl2pPr algn="l">
              <a:defRPr sz="2600" b="1">
                <a:solidFill>
                  <a:srgbClr val="822433"/>
                </a:solidFill>
                <a:latin typeface="Roboto"/>
                <a:ea typeface="Roboto"/>
                <a:cs typeface="Roboto"/>
              </a:defRPr>
            </a:lvl2pPr>
            <a:lvl3pPr algn="l">
              <a:defRPr sz="2600" b="1">
                <a:solidFill>
                  <a:srgbClr val="822433"/>
                </a:solidFill>
                <a:latin typeface="Roboto"/>
                <a:ea typeface="Roboto"/>
                <a:cs typeface="Roboto"/>
              </a:defRPr>
            </a:lvl3pPr>
            <a:lvl4pPr algn="l">
              <a:defRPr sz="2600" b="1">
                <a:solidFill>
                  <a:srgbClr val="822433"/>
                </a:solidFill>
                <a:latin typeface="Roboto"/>
                <a:ea typeface="Roboto"/>
                <a:cs typeface="Roboto"/>
              </a:defRPr>
            </a:lvl4pPr>
            <a:lvl5pPr algn="l">
              <a:defRPr sz="2600" b="1">
                <a:solidFill>
                  <a:srgbClr val="822433"/>
                </a:solidFill>
                <a:latin typeface="Roboto"/>
                <a:ea typeface="Roboto"/>
                <a:cs typeface="Roboto"/>
              </a:defRPr>
            </a:lvl5pPr>
            <a:lvl6pPr algn="l">
              <a:defRPr sz="2600" b="1">
                <a:solidFill>
                  <a:srgbClr val="822433"/>
                </a:solidFill>
                <a:latin typeface="Roboto"/>
                <a:ea typeface="Roboto"/>
                <a:cs typeface="Roboto"/>
              </a:defRPr>
            </a:lvl6pPr>
            <a:lvl7pPr algn="l">
              <a:defRPr sz="2600" b="1">
                <a:solidFill>
                  <a:srgbClr val="822433"/>
                </a:solidFill>
                <a:latin typeface="Roboto"/>
                <a:ea typeface="Roboto"/>
                <a:cs typeface="Roboto"/>
              </a:defRPr>
            </a:lvl7pPr>
            <a:lvl8pPr algn="l">
              <a:defRPr sz="2600" b="1">
                <a:solidFill>
                  <a:srgbClr val="822433"/>
                </a:solidFill>
                <a:latin typeface="Roboto"/>
                <a:ea typeface="Roboto"/>
                <a:cs typeface="Roboto"/>
              </a:defRPr>
            </a:lvl8pPr>
            <a:lvl9pPr algn="l">
              <a:defRPr sz="2600" b="1">
                <a:solidFill>
                  <a:srgbClr val="822433"/>
                </a:solidFill>
                <a:latin typeface="Roboto"/>
                <a:ea typeface="Roboto"/>
                <a:cs typeface="Roboto"/>
              </a:defRPr>
            </a:lvl9pPr>
          </a:lstStyle>
          <a:p>
            <a:pPr marL="457200" indent="-457200" algn="l">
              <a:buFont typeface="Arial" panose="020B0604020202020204" pitchFamily="34" charset="0"/>
              <a:buChar char="•"/>
              <a:defRPr sz="2600" b="1">
                <a:solidFill>
                  <a:srgbClr val="822433"/>
                </a:solidFill>
                <a:latin typeface="Roboto"/>
                <a:ea typeface="Roboto"/>
                <a:cs typeface="Roboto"/>
              </a:defRPr>
            </a:pPr>
            <a:r>
              <a:rPr sz="2600" b="1" dirty="0">
                <a:solidFill>
                  <a:srgbClr val="822433"/>
                </a:solidFill>
                <a:latin typeface="Roboto"/>
                <a:ea typeface="Roboto"/>
                <a:cs typeface="Roboto"/>
              </a:rPr>
              <a:t>Anomaly detection and localization</a:t>
            </a:r>
          </a:p>
        </p:txBody>
      </p:sp>
      <p:sp>
        <p:nvSpPr>
          <p:cNvPr id="11" name="anomaly-conclusion">
            <a:extLst>
              <a:ext uri="{FF2B5EF4-FFF2-40B4-BE49-F238E27FC236}">
                <a16:creationId xmlns:a16="http://schemas.microsoft.com/office/drawing/2014/main" id="{F268A950-9C78-4163-BFF3-040D63F9B9CF}"/>
              </a:ext>
            </a:extLst>
          </p:cNvPr>
          <p:cNvSpPr>
            <a:spLocks noGrp="1"/>
          </p:cNvSpPr>
          <p:nvPr/>
        </p:nvSpPr>
        <p:spPr>
          <a:xfrm>
            <a:off x="1952625" y="5102803"/>
            <a:ext cx="8858250" cy="714375"/>
          </a:xfrm>
          <a:prstGeom prst="rect">
            <a:avLst/>
          </a:prstGeom>
          <a:noFill/>
          <a:ln w="0">
            <a:noFill/>
          </a:ln>
        </p:spPr>
        <p:txBody>
          <a:bodyPr wrap="square" lIns="0" tIns="0" rIns="0" bIns="0" anchor="t">
            <a:noAutofit/>
          </a:bodyPr>
          <a:lstStyle>
            <a:defPPr algn="l">
              <a:defRPr sz="2000" b="0">
                <a:solidFill>
                  <a:srgbClr val="252525"/>
                </a:solidFill>
                <a:latin typeface="Calibri"/>
                <a:ea typeface="Calibri"/>
                <a:cs typeface="Calibri"/>
              </a:defRPr>
            </a:defPPr>
            <a:lvl1pPr algn="l">
              <a:defRPr sz="2000" b="0">
                <a:solidFill>
                  <a:srgbClr val="252525"/>
                </a:solidFill>
                <a:latin typeface="Calibri"/>
                <a:ea typeface="Calibri"/>
                <a:cs typeface="Calibri"/>
              </a:defRPr>
            </a:lvl1pPr>
            <a:lvl2pPr algn="l">
              <a:defRPr sz="2000" b="0">
                <a:solidFill>
                  <a:srgbClr val="252525"/>
                </a:solidFill>
                <a:latin typeface="Calibri"/>
                <a:ea typeface="Calibri"/>
                <a:cs typeface="Calibri"/>
              </a:defRPr>
            </a:lvl2pPr>
            <a:lvl3pPr algn="l">
              <a:defRPr sz="2000" b="0">
                <a:solidFill>
                  <a:srgbClr val="252525"/>
                </a:solidFill>
                <a:latin typeface="Calibri"/>
                <a:ea typeface="Calibri"/>
                <a:cs typeface="Calibri"/>
              </a:defRPr>
            </a:lvl3pPr>
            <a:lvl4pPr algn="l">
              <a:defRPr sz="2000" b="0">
                <a:solidFill>
                  <a:srgbClr val="252525"/>
                </a:solidFill>
                <a:latin typeface="Calibri"/>
                <a:ea typeface="Calibri"/>
                <a:cs typeface="Calibri"/>
              </a:defRPr>
            </a:lvl4pPr>
            <a:lvl5pPr algn="l">
              <a:defRPr sz="2000" b="0">
                <a:solidFill>
                  <a:srgbClr val="252525"/>
                </a:solidFill>
                <a:latin typeface="Calibri"/>
                <a:ea typeface="Calibri"/>
                <a:cs typeface="Calibri"/>
              </a:defRPr>
            </a:lvl5pPr>
            <a:lvl6pPr algn="l">
              <a:defRPr sz="2000" b="0">
                <a:solidFill>
                  <a:srgbClr val="252525"/>
                </a:solidFill>
                <a:latin typeface="Calibri"/>
                <a:ea typeface="Calibri"/>
                <a:cs typeface="Calibri"/>
              </a:defRPr>
            </a:lvl6pPr>
            <a:lvl7pPr algn="l">
              <a:defRPr sz="2000" b="0">
                <a:solidFill>
                  <a:srgbClr val="252525"/>
                </a:solidFill>
                <a:latin typeface="Calibri"/>
                <a:ea typeface="Calibri"/>
                <a:cs typeface="Calibri"/>
              </a:defRPr>
            </a:lvl7pPr>
            <a:lvl8pPr algn="l">
              <a:defRPr sz="2000" b="0">
                <a:solidFill>
                  <a:srgbClr val="252525"/>
                </a:solidFill>
                <a:latin typeface="Calibri"/>
                <a:ea typeface="Calibri"/>
                <a:cs typeface="Calibri"/>
              </a:defRPr>
            </a:lvl8pPr>
            <a:lvl9pPr algn="l">
              <a:defRPr sz="2000" b="0">
                <a:solidFill>
                  <a:srgbClr val="252525"/>
                </a:solidFill>
                <a:latin typeface="Calibri"/>
                <a:ea typeface="Calibri"/>
                <a:cs typeface="Calibri"/>
              </a:defRPr>
            </a:lvl9pPr>
          </a:lstStyle>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Four </a:t>
            </a:r>
            <a:r>
              <a:rPr lang="it-IT" sz="2000" b="0" dirty="0">
                <a:solidFill>
                  <a:srgbClr val="252525"/>
                </a:solidFill>
                <a:latin typeface="Calibri"/>
                <a:ea typeface="Calibri"/>
                <a:cs typeface="Calibri"/>
              </a:rPr>
              <a:t>SOTA </a:t>
            </a:r>
            <a:r>
              <a:rPr sz="2000" b="0" dirty="0">
                <a:solidFill>
                  <a:srgbClr val="252525"/>
                </a:solidFill>
                <a:latin typeface="Calibri"/>
                <a:ea typeface="Calibri"/>
                <a:cs typeface="Calibri"/>
              </a:rPr>
              <a:t>model families compared using configurations</a:t>
            </a:r>
          </a:p>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tailored to wheel damage inspection.</a:t>
            </a:r>
          </a:p>
        </p:txBody>
      </p:sp>
      <p:sp>
        <p:nvSpPr>
          <p:cNvPr id="3" name="Google Shape;102;p14">
            <a:extLst>
              <a:ext uri="{FF2B5EF4-FFF2-40B4-BE49-F238E27FC236}">
                <a16:creationId xmlns:a16="http://schemas.microsoft.com/office/drawing/2014/main" id="{795D8C77-C9FA-2C6A-4ED0-7E23FD286AA5}"/>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30</a:t>
            </a:fld>
            <a:r>
              <a:rPr lang="en-US" sz="1000" noProof="0" dirty="0">
                <a:solidFill>
                  <a:srgbClr val="822433"/>
                </a:solidFill>
                <a:latin typeface="Roboto" panose="02000000000000000000" pitchFamily="2" charset="0"/>
                <a:ea typeface="Roboto" panose="02000000000000000000" pitchFamily="2" charset="0"/>
              </a:rPr>
              <a:t>/25</a:t>
            </a:r>
          </a:p>
        </p:txBody>
      </p:sp>
      <p:sp>
        <p:nvSpPr>
          <p:cNvPr id="4" name="CasellaDiTesto 3">
            <a:extLst>
              <a:ext uri="{FF2B5EF4-FFF2-40B4-BE49-F238E27FC236}">
                <a16:creationId xmlns:a16="http://schemas.microsoft.com/office/drawing/2014/main" id="{AA4C893B-FAB3-ED33-1ABB-CF63158F2349}"/>
              </a:ext>
            </a:extLst>
          </p:cNvPr>
          <p:cNvSpPr txBox="1"/>
          <p:nvPr/>
        </p:nvSpPr>
        <p:spPr>
          <a:xfrm>
            <a:off x="838200" y="5912428"/>
            <a:ext cx="10792690" cy="369332"/>
          </a:xfrm>
          <a:prstGeom prst="rect">
            <a:avLst/>
          </a:prstGeom>
          <a:noFill/>
        </p:spPr>
        <p:txBody>
          <a:bodyPr wrap="square" rtlCol="0">
            <a:spAutoFit/>
          </a:bodyPr>
          <a:lstStyle/>
          <a:p>
            <a:r>
              <a:rPr lang="en-US" noProof="0">
                <a:solidFill>
                  <a:schemeClr val="tx1">
                    <a:lumMod val="65000"/>
                    <a:lumOff val="35000"/>
                  </a:schemeClr>
                </a:solidFill>
              </a:rPr>
              <a:t>Manuscript in preparation for submission to </a:t>
            </a:r>
            <a:r>
              <a:rPr lang="en-US" b="1" noProof="0">
                <a:solidFill>
                  <a:srgbClr val="822433"/>
                </a:solidFill>
              </a:rPr>
              <a:t>IEEE Transactions on Industrial Informatics</a:t>
            </a:r>
            <a:endParaRPr lang="en-US" noProof="0">
              <a:solidFill>
                <a:srgbClr val="822433"/>
              </a:solidFill>
            </a:endParaRPr>
          </a:p>
        </p:txBody>
      </p:sp>
    </p:spTree>
    <p:extLst>
      <p:ext uri="{BB962C8B-B14F-4D97-AF65-F5344CB8AC3E}">
        <p14:creationId xmlns:p14="http://schemas.microsoft.com/office/powerpoint/2010/main" val="27317946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1F065-7255-9B3F-381A-AE4514C567E2}"/>
            </a:ext>
          </a:extLst>
        </p:cNvPr>
        <p:cNvGrpSpPr/>
        <p:nvPr/>
      </p:nvGrpSpPr>
      <p:grpSpPr>
        <a:xfrm>
          <a:off x="0" y="0"/>
          <a:ext cx="0" cy="0"/>
          <a:chOff x="0" y="0"/>
          <a:chExt cx="0" cy="0"/>
        </a:xfrm>
      </p:grpSpPr>
      <p:sp>
        <p:nvSpPr>
          <p:cNvPr id="7" name="future-1-heading">
            <a:extLst>
              <a:ext uri="{FF2B5EF4-FFF2-40B4-BE49-F238E27FC236}">
                <a16:creationId xmlns:a16="http://schemas.microsoft.com/office/drawing/2014/main" id="{18C9854F-5529-4B4C-CA48-A412591AD457}"/>
              </a:ext>
            </a:extLst>
          </p:cNvPr>
          <p:cNvSpPr>
            <a:spLocks noGrp="1"/>
          </p:cNvSpPr>
          <p:nvPr/>
        </p:nvSpPr>
        <p:spPr>
          <a:xfrm>
            <a:off x="1422689" y="1631994"/>
            <a:ext cx="8191500" cy="361950"/>
          </a:xfrm>
          <a:prstGeom prst="rect">
            <a:avLst/>
          </a:prstGeom>
          <a:noFill/>
          <a:ln w="0">
            <a:noFill/>
          </a:ln>
        </p:spPr>
        <p:txBody>
          <a:bodyPr wrap="square" lIns="0" tIns="0" rIns="0" bIns="0" anchor="t">
            <a:noAutofit/>
          </a:bodyPr>
          <a:lstStyle>
            <a:defPPr algn="l">
              <a:defRPr sz="2100" b="1">
                <a:solidFill>
                  <a:srgbClr val="822433"/>
                </a:solidFill>
                <a:latin typeface="Roboto"/>
                <a:ea typeface="Roboto"/>
                <a:cs typeface="Roboto"/>
              </a:defRPr>
            </a:defPPr>
            <a:lvl1pPr algn="l">
              <a:defRPr sz="2100" b="1">
                <a:solidFill>
                  <a:srgbClr val="822433"/>
                </a:solidFill>
                <a:latin typeface="Roboto"/>
                <a:ea typeface="Roboto"/>
                <a:cs typeface="Roboto"/>
              </a:defRPr>
            </a:lvl1pPr>
            <a:lvl2pPr algn="l">
              <a:defRPr sz="2100" b="1">
                <a:solidFill>
                  <a:srgbClr val="822433"/>
                </a:solidFill>
                <a:latin typeface="Roboto"/>
                <a:ea typeface="Roboto"/>
                <a:cs typeface="Roboto"/>
              </a:defRPr>
            </a:lvl2pPr>
            <a:lvl3pPr algn="l">
              <a:defRPr sz="2100" b="1">
                <a:solidFill>
                  <a:srgbClr val="822433"/>
                </a:solidFill>
                <a:latin typeface="Roboto"/>
                <a:ea typeface="Roboto"/>
                <a:cs typeface="Roboto"/>
              </a:defRPr>
            </a:lvl3pPr>
            <a:lvl4pPr algn="l">
              <a:defRPr sz="2100" b="1">
                <a:solidFill>
                  <a:srgbClr val="822433"/>
                </a:solidFill>
                <a:latin typeface="Roboto"/>
                <a:ea typeface="Roboto"/>
                <a:cs typeface="Roboto"/>
              </a:defRPr>
            </a:lvl4pPr>
            <a:lvl5pPr algn="l">
              <a:defRPr sz="2100" b="1">
                <a:solidFill>
                  <a:srgbClr val="822433"/>
                </a:solidFill>
                <a:latin typeface="Roboto"/>
                <a:ea typeface="Roboto"/>
                <a:cs typeface="Roboto"/>
              </a:defRPr>
            </a:lvl5pPr>
            <a:lvl6pPr algn="l">
              <a:defRPr sz="2100" b="1">
                <a:solidFill>
                  <a:srgbClr val="822433"/>
                </a:solidFill>
                <a:latin typeface="Roboto"/>
                <a:ea typeface="Roboto"/>
                <a:cs typeface="Roboto"/>
              </a:defRPr>
            </a:lvl6pPr>
            <a:lvl7pPr algn="l">
              <a:defRPr sz="2100" b="1">
                <a:solidFill>
                  <a:srgbClr val="822433"/>
                </a:solidFill>
                <a:latin typeface="Roboto"/>
                <a:ea typeface="Roboto"/>
                <a:cs typeface="Roboto"/>
              </a:defRPr>
            </a:lvl7pPr>
            <a:lvl8pPr algn="l">
              <a:defRPr sz="2100" b="1">
                <a:solidFill>
                  <a:srgbClr val="822433"/>
                </a:solidFill>
                <a:latin typeface="Roboto"/>
                <a:ea typeface="Roboto"/>
                <a:cs typeface="Roboto"/>
              </a:defRPr>
            </a:lvl8pPr>
            <a:lvl9pPr algn="l">
              <a:defRPr sz="2100" b="1">
                <a:solidFill>
                  <a:srgbClr val="822433"/>
                </a:solidFill>
                <a:latin typeface="Roboto"/>
                <a:ea typeface="Roboto"/>
                <a:cs typeface="Roboto"/>
              </a:defRPr>
            </a:lvl9pPr>
          </a:lstStyle>
          <a:p>
            <a:pPr marL="342900" indent="-342900" algn="l">
              <a:buFont typeface="Arial" panose="020B0604020202020204" pitchFamily="34" charset="0"/>
              <a:buChar char="•"/>
              <a:defRPr sz="2100" b="1">
                <a:solidFill>
                  <a:srgbClr val="822433"/>
                </a:solidFill>
                <a:latin typeface="Roboto"/>
                <a:ea typeface="Roboto"/>
                <a:cs typeface="Roboto"/>
              </a:defRPr>
            </a:pPr>
            <a:r>
              <a:rPr lang="en-US" sz="2600" b="1" noProof="0" dirty="0">
                <a:solidFill>
                  <a:srgbClr val="822433"/>
                </a:solidFill>
                <a:latin typeface="Roboto"/>
                <a:ea typeface="Roboto"/>
                <a:cs typeface="Roboto"/>
              </a:rPr>
              <a:t>  Real-image validation</a:t>
            </a:r>
          </a:p>
        </p:txBody>
      </p:sp>
      <p:sp>
        <p:nvSpPr>
          <p:cNvPr id="9" name="future-1-body">
            <a:extLst>
              <a:ext uri="{FF2B5EF4-FFF2-40B4-BE49-F238E27FC236}">
                <a16:creationId xmlns:a16="http://schemas.microsoft.com/office/drawing/2014/main" id="{B1B0549C-34E2-2B43-FB34-208FAF10ED06}"/>
              </a:ext>
            </a:extLst>
          </p:cNvPr>
          <p:cNvSpPr>
            <a:spLocks noGrp="1"/>
          </p:cNvSpPr>
          <p:nvPr/>
        </p:nvSpPr>
        <p:spPr>
          <a:xfrm>
            <a:off x="1952622" y="2050289"/>
            <a:ext cx="8239125" cy="666750"/>
          </a:xfrm>
          <a:prstGeom prst="rect">
            <a:avLst/>
          </a:prstGeom>
          <a:noFill/>
          <a:ln w="0">
            <a:noFill/>
          </a:ln>
        </p:spPr>
        <p:txBody>
          <a:bodyPr wrap="square" lIns="0" tIns="0" rIns="0" bIns="0" anchor="t">
            <a:noAutofit/>
          </a:bodyPr>
          <a:lstStyle>
            <a:defPPr algn="l">
              <a:defRPr sz="1800" b="0">
                <a:solidFill>
                  <a:srgbClr val="252525"/>
                </a:solidFill>
                <a:latin typeface="Calibri"/>
                <a:ea typeface="Calibri"/>
                <a:cs typeface="Calibri"/>
              </a:defRPr>
            </a:defPPr>
            <a:lvl1pPr algn="l">
              <a:defRPr sz="1800" b="0">
                <a:solidFill>
                  <a:srgbClr val="252525"/>
                </a:solidFill>
                <a:latin typeface="Calibri"/>
                <a:ea typeface="Calibri"/>
                <a:cs typeface="Calibri"/>
              </a:defRPr>
            </a:lvl1pPr>
            <a:lvl2pPr algn="l">
              <a:defRPr sz="1800" b="0">
                <a:solidFill>
                  <a:srgbClr val="252525"/>
                </a:solidFill>
                <a:latin typeface="Calibri"/>
                <a:ea typeface="Calibri"/>
                <a:cs typeface="Calibri"/>
              </a:defRPr>
            </a:lvl2pPr>
            <a:lvl3pPr algn="l">
              <a:defRPr sz="1800" b="0">
                <a:solidFill>
                  <a:srgbClr val="252525"/>
                </a:solidFill>
                <a:latin typeface="Calibri"/>
                <a:ea typeface="Calibri"/>
                <a:cs typeface="Calibri"/>
              </a:defRPr>
            </a:lvl3pPr>
            <a:lvl4pPr algn="l">
              <a:defRPr sz="1800" b="0">
                <a:solidFill>
                  <a:srgbClr val="252525"/>
                </a:solidFill>
                <a:latin typeface="Calibri"/>
                <a:ea typeface="Calibri"/>
                <a:cs typeface="Calibri"/>
              </a:defRPr>
            </a:lvl4pPr>
            <a:lvl5pPr algn="l">
              <a:defRPr sz="1800" b="0">
                <a:solidFill>
                  <a:srgbClr val="252525"/>
                </a:solidFill>
                <a:latin typeface="Calibri"/>
                <a:ea typeface="Calibri"/>
                <a:cs typeface="Calibri"/>
              </a:defRPr>
            </a:lvl5pPr>
            <a:lvl6pPr algn="l">
              <a:defRPr sz="1800" b="0">
                <a:solidFill>
                  <a:srgbClr val="252525"/>
                </a:solidFill>
                <a:latin typeface="Calibri"/>
                <a:ea typeface="Calibri"/>
                <a:cs typeface="Calibri"/>
              </a:defRPr>
            </a:lvl6pPr>
            <a:lvl7pPr algn="l">
              <a:defRPr sz="1800" b="0">
                <a:solidFill>
                  <a:srgbClr val="252525"/>
                </a:solidFill>
                <a:latin typeface="Calibri"/>
                <a:ea typeface="Calibri"/>
                <a:cs typeface="Calibri"/>
              </a:defRPr>
            </a:lvl7pPr>
            <a:lvl8pPr algn="l">
              <a:defRPr sz="1800" b="0">
                <a:solidFill>
                  <a:srgbClr val="252525"/>
                </a:solidFill>
                <a:latin typeface="Calibri"/>
                <a:ea typeface="Calibri"/>
                <a:cs typeface="Calibri"/>
              </a:defRPr>
            </a:lvl8pPr>
            <a:lvl9pPr algn="l">
              <a:defRPr sz="1800" b="0">
                <a:solidFill>
                  <a:srgbClr val="252525"/>
                </a:solidFill>
                <a:latin typeface="Calibri"/>
                <a:ea typeface="Calibri"/>
                <a:cs typeface="Calibri"/>
              </a:defRPr>
            </a:lvl9pPr>
          </a:lstStyle>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Validate synthetic-to-real transfer on rover images.</a:t>
            </a:r>
          </a:p>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Extend domain variation and damage coverage.</a:t>
            </a:r>
          </a:p>
        </p:txBody>
      </p:sp>
      <p:sp>
        <p:nvSpPr>
          <p:cNvPr id="11" name="future-2-heading">
            <a:extLst>
              <a:ext uri="{FF2B5EF4-FFF2-40B4-BE49-F238E27FC236}">
                <a16:creationId xmlns:a16="http://schemas.microsoft.com/office/drawing/2014/main" id="{32A27B6C-8E24-D478-3006-A19C185DAF9C}"/>
              </a:ext>
            </a:extLst>
          </p:cNvPr>
          <p:cNvSpPr>
            <a:spLocks noGrp="1"/>
          </p:cNvSpPr>
          <p:nvPr/>
        </p:nvSpPr>
        <p:spPr>
          <a:xfrm>
            <a:off x="1450397" y="3133169"/>
            <a:ext cx="8191500" cy="361950"/>
          </a:xfrm>
          <a:prstGeom prst="rect">
            <a:avLst/>
          </a:prstGeom>
          <a:noFill/>
          <a:ln w="0">
            <a:noFill/>
          </a:ln>
        </p:spPr>
        <p:txBody>
          <a:bodyPr wrap="square" lIns="0" tIns="0" rIns="0" bIns="0" anchor="t">
            <a:noAutofit/>
          </a:bodyPr>
          <a:lstStyle>
            <a:defPPr algn="l">
              <a:defRPr sz="2100" b="1">
                <a:solidFill>
                  <a:srgbClr val="822433"/>
                </a:solidFill>
                <a:latin typeface="Roboto"/>
                <a:ea typeface="Roboto"/>
                <a:cs typeface="Roboto"/>
              </a:defRPr>
            </a:defPPr>
            <a:lvl1pPr algn="l">
              <a:defRPr sz="2100" b="1">
                <a:solidFill>
                  <a:srgbClr val="822433"/>
                </a:solidFill>
                <a:latin typeface="Roboto"/>
                <a:ea typeface="Roboto"/>
                <a:cs typeface="Roboto"/>
              </a:defRPr>
            </a:lvl1pPr>
            <a:lvl2pPr algn="l">
              <a:defRPr sz="2100" b="1">
                <a:solidFill>
                  <a:srgbClr val="822433"/>
                </a:solidFill>
                <a:latin typeface="Roboto"/>
                <a:ea typeface="Roboto"/>
                <a:cs typeface="Roboto"/>
              </a:defRPr>
            </a:lvl2pPr>
            <a:lvl3pPr algn="l">
              <a:defRPr sz="2100" b="1">
                <a:solidFill>
                  <a:srgbClr val="822433"/>
                </a:solidFill>
                <a:latin typeface="Roboto"/>
                <a:ea typeface="Roboto"/>
                <a:cs typeface="Roboto"/>
              </a:defRPr>
            </a:lvl3pPr>
            <a:lvl4pPr algn="l">
              <a:defRPr sz="2100" b="1">
                <a:solidFill>
                  <a:srgbClr val="822433"/>
                </a:solidFill>
                <a:latin typeface="Roboto"/>
                <a:ea typeface="Roboto"/>
                <a:cs typeface="Roboto"/>
              </a:defRPr>
            </a:lvl4pPr>
            <a:lvl5pPr algn="l">
              <a:defRPr sz="2100" b="1">
                <a:solidFill>
                  <a:srgbClr val="822433"/>
                </a:solidFill>
                <a:latin typeface="Roboto"/>
                <a:ea typeface="Roboto"/>
                <a:cs typeface="Roboto"/>
              </a:defRPr>
            </a:lvl5pPr>
            <a:lvl6pPr algn="l">
              <a:defRPr sz="2100" b="1">
                <a:solidFill>
                  <a:srgbClr val="822433"/>
                </a:solidFill>
                <a:latin typeface="Roboto"/>
                <a:ea typeface="Roboto"/>
                <a:cs typeface="Roboto"/>
              </a:defRPr>
            </a:lvl6pPr>
            <a:lvl7pPr algn="l">
              <a:defRPr sz="2100" b="1">
                <a:solidFill>
                  <a:srgbClr val="822433"/>
                </a:solidFill>
                <a:latin typeface="Roboto"/>
                <a:ea typeface="Roboto"/>
                <a:cs typeface="Roboto"/>
              </a:defRPr>
            </a:lvl7pPr>
            <a:lvl8pPr algn="l">
              <a:defRPr sz="2100" b="1">
                <a:solidFill>
                  <a:srgbClr val="822433"/>
                </a:solidFill>
                <a:latin typeface="Roboto"/>
                <a:ea typeface="Roboto"/>
                <a:cs typeface="Roboto"/>
              </a:defRPr>
            </a:lvl8pPr>
            <a:lvl9pPr algn="l">
              <a:defRPr sz="2100" b="1">
                <a:solidFill>
                  <a:srgbClr val="822433"/>
                </a:solidFill>
                <a:latin typeface="Roboto"/>
                <a:ea typeface="Roboto"/>
                <a:cs typeface="Roboto"/>
              </a:defRPr>
            </a:lvl9pPr>
          </a:lstStyle>
          <a:p>
            <a:pPr marL="342900" indent="-342900" algn="l">
              <a:buFont typeface="Arial" panose="020B0604020202020204" pitchFamily="34" charset="0"/>
              <a:buChar char="•"/>
              <a:defRPr sz="2100" b="1">
                <a:solidFill>
                  <a:srgbClr val="822433"/>
                </a:solidFill>
                <a:latin typeface="Roboto"/>
                <a:ea typeface="Roboto"/>
                <a:cs typeface="Roboto"/>
              </a:defRPr>
            </a:pPr>
            <a:r>
              <a:rPr lang="en-US" sz="2600" b="1" noProof="0" dirty="0">
                <a:solidFill>
                  <a:srgbClr val="822433"/>
                </a:solidFill>
                <a:latin typeface="Roboto"/>
                <a:ea typeface="Roboto"/>
                <a:cs typeface="Roboto"/>
              </a:rPr>
              <a:t>  Efficiency and deployment</a:t>
            </a:r>
          </a:p>
        </p:txBody>
      </p:sp>
      <p:sp>
        <p:nvSpPr>
          <p:cNvPr id="13" name="future-2-body">
            <a:extLst>
              <a:ext uri="{FF2B5EF4-FFF2-40B4-BE49-F238E27FC236}">
                <a16:creationId xmlns:a16="http://schemas.microsoft.com/office/drawing/2014/main" id="{B3CA27CF-1D66-E02B-A554-05892551C487}"/>
              </a:ext>
            </a:extLst>
          </p:cNvPr>
          <p:cNvSpPr>
            <a:spLocks noGrp="1"/>
          </p:cNvSpPr>
          <p:nvPr/>
        </p:nvSpPr>
        <p:spPr>
          <a:xfrm>
            <a:off x="1952624" y="3568845"/>
            <a:ext cx="8239125" cy="666750"/>
          </a:xfrm>
          <a:prstGeom prst="rect">
            <a:avLst/>
          </a:prstGeom>
          <a:noFill/>
          <a:ln w="0">
            <a:noFill/>
          </a:ln>
        </p:spPr>
        <p:txBody>
          <a:bodyPr wrap="square" lIns="0" tIns="0" rIns="0" bIns="0" anchor="t">
            <a:noAutofit/>
          </a:bodyPr>
          <a:lstStyle>
            <a:defPPr algn="l">
              <a:defRPr sz="1800" b="0">
                <a:solidFill>
                  <a:srgbClr val="252525"/>
                </a:solidFill>
                <a:latin typeface="Calibri"/>
                <a:ea typeface="Calibri"/>
                <a:cs typeface="Calibri"/>
              </a:defRPr>
            </a:defPPr>
            <a:lvl1pPr algn="l">
              <a:defRPr sz="1800" b="0">
                <a:solidFill>
                  <a:srgbClr val="252525"/>
                </a:solidFill>
                <a:latin typeface="Calibri"/>
                <a:ea typeface="Calibri"/>
                <a:cs typeface="Calibri"/>
              </a:defRPr>
            </a:lvl1pPr>
            <a:lvl2pPr algn="l">
              <a:defRPr sz="1800" b="0">
                <a:solidFill>
                  <a:srgbClr val="252525"/>
                </a:solidFill>
                <a:latin typeface="Calibri"/>
                <a:ea typeface="Calibri"/>
                <a:cs typeface="Calibri"/>
              </a:defRPr>
            </a:lvl2pPr>
            <a:lvl3pPr algn="l">
              <a:defRPr sz="1800" b="0">
                <a:solidFill>
                  <a:srgbClr val="252525"/>
                </a:solidFill>
                <a:latin typeface="Calibri"/>
                <a:ea typeface="Calibri"/>
                <a:cs typeface="Calibri"/>
              </a:defRPr>
            </a:lvl3pPr>
            <a:lvl4pPr algn="l">
              <a:defRPr sz="1800" b="0">
                <a:solidFill>
                  <a:srgbClr val="252525"/>
                </a:solidFill>
                <a:latin typeface="Calibri"/>
                <a:ea typeface="Calibri"/>
                <a:cs typeface="Calibri"/>
              </a:defRPr>
            </a:lvl4pPr>
            <a:lvl5pPr algn="l">
              <a:defRPr sz="1800" b="0">
                <a:solidFill>
                  <a:srgbClr val="252525"/>
                </a:solidFill>
                <a:latin typeface="Calibri"/>
                <a:ea typeface="Calibri"/>
                <a:cs typeface="Calibri"/>
              </a:defRPr>
            </a:lvl5pPr>
            <a:lvl6pPr algn="l">
              <a:defRPr sz="1800" b="0">
                <a:solidFill>
                  <a:srgbClr val="252525"/>
                </a:solidFill>
                <a:latin typeface="Calibri"/>
                <a:ea typeface="Calibri"/>
                <a:cs typeface="Calibri"/>
              </a:defRPr>
            </a:lvl6pPr>
            <a:lvl7pPr algn="l">
              <a:defRPr sz="1800" b="0">
                <a:solidFill>
                  <a:srgbClr val="252525"/>
                </a:solidFill>
                <a:latin typeface="Calibri"/>
                <a:ea typeface="Calibri"/>
                <a:cs typeface="Calibri"/>
              </a:defRPr>
            </a:lvl7pPr>
            <a:lvl8pPr algn="l">
              <a:defRPr sz="1800" b="0">
                <a:solidFill>
                  <a:srgbClr val="252525"/>
                </a:solidFill>
                <a:latin typeface="Calibri"/>
                <a:ea typeface="Calibri"/>
                <a:cs typeface="Calibri"/>
              </a:defRPr>
            </a:lvl8pPr>
            <a:lvl9pPr algn="l">
              <a:defRPr sz="1800" b="0">
                <a:solidFill>
                  <a:srgbClr val="252525"/>
                </a:solidFill>
                <a:latin typeface="Calibri"/>
                <a:ea typeface="Calibri"/>
                <a:cs typeface="Calibri"/>
              </a:defRPr>
            </a:lvl9pPr>
          </a:lstStyle>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Explore lighter models, augmentation and quantization.</a:t>
            </a:r>
          </a:p>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Benchmark the full pipeline on representative hardware.</a:t>
            </a:r>
          </a:p>
        </p:txBody>
      </p:sp>
      <p:sp>
        <p:nvSpPr>
          <p:cNvPr id="15" name="future-3-heading">
            <a:extLst>
              <a:ext uri="{FF2B5EF4-FFF2-40B4-BE49-F238E27FC236}">
                <a16:creationId xmlns:a16="http://schemas.microsoft.com/office/drawing/2014/main" id="{F67AB9D7-B568-5C84-2FB9-CCD621E4C675}"/>
              </a:ext>
            </a:extLst>
          </p:cNvPr>
          <p:cNvSpPr>
            <a:spLocks noGrp="1"/>
          </p:cNvSpPr>
          <p:nvPr/>
        </p:nvSpPr>
        <p:spPr>
          <a:xfrm>
            <a:off x="1450397" y="4653519"/>
            <a:ext cx="8191500" cy="361950"/>
          </a:xfrm>
          <a:prstGeom prst="rect">
            <a:avLst/>
          </a:prstGeom>
          <a:noFill/>
          <a:ln w="0">
            <a:noFill/>
          </a:ln>
        </p:spPr>
        <p:txBody>
          <a:bodyPr wrap="square" lIns="0" tIns="0" rIns="0" bIns="0" anchor="t">
            <a:noAutofit/>
          </a:bodyPr>
          <a:lstStyle>
            <a:defPPr algn="l">
              <a:defRPr sz="2100" b="1">
                <a:solidFill>
                  <a:srgbClr val="822433"/>
                </a:solidFill>
                <a:latin typeface="Roboto"/>
                <a:ea typeface="Roboto"/>
                <a:cs typeface="Roboto"/>
              </a:defRPr>
            </a:defPPr>
            <a:lvl1pPr algn="l">
              <a:defRPr sz="2100" b="1">
                <a:solidFill>
                  <a:srgbClr val="822433"/>
                </a:solidFill>
                <a:latin typeface="Roboto"/>
                <a:ea typeface="Roboto"/>
                <a:cs typeface="Roboto"/>
              </a:defRPr>
            </a:lvl1pPr>
            <a:lvl2pPr algn="l">
              <a:defRPr sz="2100" b="1">
                <a:solidFill>
                  <a:srgbClr val="822433"/>
                </a:solidFill>
                <a:latin typeface="Roboto"/>
                <a:ea typeface="Roboto"/>
                <a:cs typeface="Roboto"/>
              </a:defRPr>
            </a:lvl2pPr>
            <a:lvl3pPr algn="l">
              <a:defRPr sz="2100" b="1">
                <a:solidFill>
                  <a:srgbClr val="822433"/>
                </a:solidFill>
                <a:latin typeface="Roboto"/>
                <a:ea typeface="Roboto"/>
                <a:cs typeface="Roboto"/>
              </a:defRPr>
            </a:lvl3pPr>
            <a:lvl4pPr algn="l">
              <a:defRPr sz="2100" b="1">
                <a:solidFill>
                  <a:srgbClr val="822433"/>
                </a:solidFill>
                <a:latin typeface="Roboto"/>
                <a:ea typeface="Roboto"/>
                <a:cs typeface="Roboto"/>
              </a:defRPr>
            </a:lvl4pPr>
            <a:lvl5pPr algn="l">
              <a:defRPr sz="2100" b="1">
                <a:solidFill>
                  <a:srgbClr val="822433"/>
                </a:solidFill>
                <a:latin typeface="Roboto"/>
                <a:ea typeface="Roboto"/>
                <a:cs typeface="Roboto"/>
              </a:defRPr>
            </a:lvl5pPr>
            <a:lvl6pPr algn="l">
              <a:defRPr sz="2100" b="1">
                <a:solidFill>
                  <a:srgbClr val="822433"/>
                </a:solidFill>
                <a:latin typeface="Roboto"/>
                <a:ea typeface="Roboto"/>
                <a:cs typeface="Roboto"/>
              </a:defRPr>
            </a:lvl6pPr>
            <a:lvl7pPr algn="l">
              <a:defRPr sz="2100" b="1">
                <a:solidFill>
                  <a:srgbClr val="822433"/>
                </a:solidFill>
                <a:latin typeface="Roboto"/>
                <a:ea typeface="Roboto"/>
                <a:cs typeface="Roboto"/>
              </a:defRPr>
            </a:lvl7pPr>
            <a:lvl8pPr algn="l">
              <a:defRPr sz="2100" b="1">
                <a:solidFill>
                  <a:srgbClr val="822433"/>
                </a:solidFill>
                <a:latin typeface="Roboto"/>
                <a:ea typeface="Roboto"/>
                <a:cs typeface="Roboto"/>
              </a:defRPr>
            </a:lvl8pPr>
            <a:lvl9pPr algn="l">
              <a:defRPr sz="2100" b="1">
                <a:solidFill>
                  <a:srgbClr val="822433"/>
                </a:solidFill>
                <a:latin typeface="Roboto"/>
                <a:ea typeface="Roboto"/>
                <a:cs typeface="Roboto"/>
              </a:defRPr>
            </a:lvl9pPr>
          </a:lstStyle>
          <a:p>
            <a:pPr marL="342900" indent="-342900" algn="l">
              <a:buFont typeface="Arial" panose="020B0604020202020204" pitchFamily="34" charset="0"/>
              <a:buChar char="•"/>
              <a:defRPr sz="2100" b="1">
                <a:solidFill>
                  <a:srgbClr val="822433"/>
                </a:solidFill>
                <a:latin typeface="Roboto"/>
                <a:ea typeface="Roboto"/>
                <a:cs typeface="Roboto"/>
              </a:defRPr>
            </a:pPr>
            <a:r>
              <a:rPr lang="en-US" sz="2600" b="1" noProof="0" dirty="0">
                <a:solidFill>
                  <a:srgbClr val="822433"/>
                </a:solidFill>
                <a:latin typeface="Roboto"/>
                <a:ea typeface="Roboto"/>
                <a:cs typeface="Roboto"/>
              </a:rPr>
              <a:t>  Branch Integration</a:t>
            </a:r>
          </a:p>
        </p:txBody>
      </p:sp>
      <p:sp>
        <p:nvSpPr>
          <p:cNvPr id="17" name="future-3-body">
            <a:extLst>
              <a:ext uri="{FF2B5EF4-FFF2-40B4-BE49-F238E27FC236}">
                <a16:creationId xmlns:a16="http://schemas.microsoft.com/office/drawing/2014/main" id="{5B67EA93-C8C7-DBB3-D4DE-0DFAD38D8EAF}"/>
              </a:ext>
            </a:extLst>
          </p:cNvPr>
          <p:cNvSpPr>
            <a:spLocks noGrp="1"/>
          </p:cNvSpPr>
          <p:nvPr/>
        </p:nvSpPr>
        <p:spPr>
          <a:xfrm>
            <a:off x="1952623" y="5093278"/>
            <a:ext cx="8239125" cy="666750"/>
          </a:xfrm>
          <a:prstGeom prst="rect">
            <a:avLst/>
          </a:prstGeom>
          <a:noFill/>
          <a:ln w="0">
            <a:noFill/>
          </a:ln>
        </p:spPr>
        <p:txBody>
          <a:bodyPr wrap="square" lIns="0" tIns="0" rIns="0" bIns="0" anchor="t">
            <a:noAutofit/>
          </a:bodyPr>
          <a:lstStyle>
            <a:defPPr algn="l">
              <a:defRPr sz="1800" b="0">
                <a:solidFill>
                  <a:srgbClr val="252525"/>
                </a:solidFill>
                <a:latin typeface="Calibri"/>
                <a:ea typeface="Calibri"/>
                <a:cs typeface="Calibri"/>
              </a:defRPr>
            </a:defPPr>
            <a:lvl1pPr algn="l">
              <a:defRPr sz="1800" b="0">
                <a:solidFill>
                  <a:srgbClr val="252525"/>
                </a:solidFill>
                <a:latin typeface="Calibri"/>
                <a:ea typeface="Calibri"/>
                <a:cs typeface="Calibri"/>
              </a:defRPr>
            </a:lvl1pPr>
            <a:lvl2pPr algn="l">
              <a:defRPr sz="1800" b="0">
                <a:solidFill>
                  <a:srgbClr val="252525"/>
                </a:solidFill>
                <a:latin typeface="Calibri"/>
                <a:ea typeface="Calibri"/>
                <a:cs typeface="Calibri"/>
              </a:defRPr>
            </a:lvl2pPr>
            <a:lvl3pPr algn="l">
              <a:defRPr sz="1800" b="0">
                <a:solidFill>
                  <a:srgbClr val="252525"/>
                </a:solidFill>
                <a:latin typeface="Calibri"/>
                <a:ea typeface="Calibri"/>
                <a:cs typeface="Calibri"/>
              </a:defRPr>
            </a:lvl3pPr>
            <a:lvl4pPr algn="l">
              <a:defRPr sz="1800" b="0">
                <a:solidFill>
                  <a:srgbClr val="252525"/>
                </a:solidFill>
                <a:latin typeface="Calibri"/>
                <a:ea typeface="Calibri"/>
                <a:cs typeface="Calibri"/>
              </a:defRPr>
            </a:lvl4pPr>
            <a:lvl5pPr algn="l">
              <a:defRPr sz="1800" b="0">
                <a:solidFill>
                  <a:srgbClr val="252525"/>
                </a:solidFill>
                <a:latin typeface="Calibri"/>
                <a:ea typeface="Calibri"/>
                <a:cs typeface="Calibri"/>
              </a:defRPr>
            </a:lvl5pPr>
            <a:lvl6pPr algn="l">
              <a:defRPr sz="1800" b="0">
                <a:solidFill>
                  <a:srgbClr val="252525"/>
                </a:solidFill>
                <a:latin typeface="Calibri"/>
                <a:ea typeface="Calibri"/>
                <a:cs typeface="Calibri"/>
              </a:defRPr>
            </a:lvl6pPr>
            <a:lvl7pPr algn="l">
              <a:defRPr sz="1800" b="0">
                <a:solidFill>
                  <a:srgbClr val="252525"/>
                </a:solidFill>
                <a:latin typeface="Calibri"/>
                <a:ea typeface="Calibri"/>
                <a:cs typeface="Calibri"/>
              </a:defRPr>
            </a:lvl7pPr>
            <a:lvl8pPr algn="l">
              <a:defRPr sz="1800" b="0">
                <a:solidFill>
                  <a:srgbClr val="252525"/>
                </a:solidFill>
                <a:latin typeface="Calibri"/>
                <a:ea typeface="Calibri"/>
                <a:cs typeface="Calibri"/>
              </a:defRPr>
            </a:lvl8pPr>
            <a:lvl9pPr algn="l">
              <a:defRPr sz="1800" b="0">
                <a:solidFill>
                  <a:srgbClr val="252525"/>
                </a:solidFill>
                <a:latin typeface="Calibri"/>
                <a:ea typeface="Calibri"/>
                <a:cs typeface="Calibri"/>
              </a:defRPr>
            </a:lvl9pPr>
          </a:lstStyle>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Assess whether Rover semantic masks can help subsequent </a:t>
            </a:r>
          </a:p>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damage inspection.</a:t>
            </a:r>
          </a:p>
        </p:txBody>
      </p:sp>
      <p:sp>
        <p:nvSpPr>
          <p:cNvPr id="2" name="Titolo 1">
            <a:extLst>
              <a:ext uri="{FF2B5EF4-FFF2-40B4-BE49-F238E27FC236}">
                <a16:creationId xmlns:a16="http://schemas.microsoft.com/office/drawing/2014/main" id="{439C9465-AFA3-A871-3C47-057862547A40}"/>
              </a:ext>
            </a:extLst>
          </p:cNvPr>
          <p:cNvSpPr>
            <a:spLocks noGrp="1"/>
          </p:cNvSpPr>
          <p:nvPr>
            <p:ph type="title"/>
          </p:nvPr>
        </p:nvSpPr>
        <p:spPr>
          <a:xfrm>
            <a:off x="838200" y="365125"/>
            <a:ext cx="8384177" cy="835787"/>
          </a:xfrm>
        </p:spPr>
        <p:txBody>
          <a:bodyPr/>
          <a:lstStyle/>
          <a:p>
            <a:r>
              <a:rPr lang="en-US" noProof="0" dirty="0">
                <a:solidFill>
                  <a:srgbClr val="822433"/>
                </a:solidFill>
              </a:rPr>
              <a:t>Future Work</a:t>
            </a:r>
          </a:p>
        </p:txBody>
      </p:sp>
      <p:sp>
        <p:nvSpPr>
          <p:cNvPr id="4" name="Google Shape;102;p14">
            <a:extLst>
              <a:ext uri="{FF2B5EF4-FFF2-40B4-BE49-F238E27FC236}">
                <a16:creationId xmlns:a16="http://schemas.microsoft.com/office/drawing/2014/main" id="{CABADCA2-FBDC-3F17-EAB3-72BAE5D0CCF4}"/>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31</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9CA17F8C-08C6-2A09-B4C4-4FD5F8D22E6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Tree>
    <p:extLst>
      <p:ext uri="{BB962C8B-B14F-4D97-AF65-F5344CB8AC3E}">
        <p14:creationId xmlns:p14="http://schemas.microsoft.com/office/powerpoint/2010/main" val="35724178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A24DDDD-3E7D-352D-39CE-05E259100A91}"/>
              </a:ext>
            </a:extLst>
          </p:cNvPr>
          <p:cNvSpPr>
            <a:spLocks noGrp="1"/>
          </p:cNvSpPr>
          <p:nvPr>
            <p:ph type="ctrTitle"/>
          </p:nvPr>
        </p:nvSpPr>
        <p:spPr/>
        <p:txBody>
          <a:bodyPr>
            <a:normAutofit/>
          </a:bodyPr>
          <a:lstStyle/>
          <a:p>
            <a:r>
              <a:rPr lang="en-US" sz="5400" noProof="0" dirty="0">
                <a:solidFill>
                  <a:srgbClr val="822433"/>
                </a:solidFill>
              </a:rPr>
              <a:t>Thank you for your attention</a:t>
            </a:r>
          </a:p>
        </p:txBody>
      </p:sp>
      <p:sp>
        <p:nvSpPr>
          <p:cNvPr id="3" name="Sottotitolo 2">
            <a:extLst>
              <a:ext uri="{FF2B5EF4-FFF2-40B4-BE49-F238E27FC236}">
                <a16:creationId xmlns:a16="http://schemas.microsoft.com/office/drawing/2014/main" id="{0800D48E-7799-4E3F-2241-A8646C7C67DB}"/>
              </a:ext>
            </a:extLst>
          </p:cNvPr>
          <p:cNvSpPr>
            <a:spLocks noGrp="1"/>
          </p:cNvSpPr>
          <p:nvPr>
            <p:ph type="subTitle" idx="1"/>
          </p:nvPr>
        </p:nvSpPr>
        <p:spPr/>
        <p:txBody>
          <a:bodyPr>
            <a:normAutofit/>
          </a:bodyPr>
          <a:lstStyle/>
          <a:p>
            <a:r>
              <a:rPr lang="en-US" sz="2800" noProof="0" dirty="0">
                <a:solidFill>
                  <a:srgbClr val="822433"/>
                </a:solidFill>
              </a:rPr>
              <a:t>Questions?</a:t>
            </a:r>
          </a:p>
        </p:txBody>
      </p:sp>
      <p:sp>
        <p:nvSpPr>
          <p:cNvPr id="4" name="TextBox 3">
            <a:extLst>
              <a:ext uri="{FF2B5EF4-FFF2-40B4-BE49-F238E27FC236}">
                <a16:creationId xmlns:a16="http://schemas.microsoft.com/office/drawing/2014/main" id="{6548035F-B0D3-808A-9245-DAED2703C2E6}"/>
              </a:ext>
            </a:extLst>
          </p:cNvPr>
          <p:cNvSpPr txBox="1"/>
          <p:nvPr/>
        </p:nvSpPr>
        <p:spPr>
          <a:xfrm>
            <a:off x="1524000" y="5550971"/>
            <a:ext cx="1181734" cy="369332"/>
          </a:xfrm>
          <a:prstGeom prst="rect">
            <a:avLst/>
          </a:prstGeom>
          <a:noFill/>
        </p:spPr>
        <p:txBody>
          <a:bodyPr wrap="none" rtlCol="0">
            <a:spAutoFit/>
          </a:bodyPr>
          <a:lstStyle/>
          <a:p>
            <a:r>
              <a:rPr lang="en-US" noProof="0" dirty="0"/>
              <a:t>QR GitHub</a:t>
            </a:r>
          </a:p>
        </p:txBody>
      </p:sp>
      <p:sp>
        <p:nvSpPr>
          <p:cNvPr id="5" name="TextBox 4">
            <a:extLst>
              <a:ext uri="{FF2B5EF4-FFF2-40B4-BE49-F238E27FC236}">
                <a16:creationId xmlns:a16="http://schemas.microsoft.com/office/drawing/2014/main" id="{C731605D-24BE-13B8-BEDF-A2965F41674D}"/>
              </a:ext>
            </a:extLst>
          </p:cNvPr>
          <p:cNvSpPr txBox="1"/>
          <p:nvPr/>
        </p:nvSpPr>
        <p:spPr>
          <a:xfrm>
            <a:off x="9315450" y="5523983"/>
            <a:ext cx="1133515" cy="369332"/>
          </a:xfrm>
          <a:prstGeom prst="rect">
            <a:avLst/>
          </a:prstGeom>
          <a:noFill/>
        </p:spPr>
        <p:txBody>
          <a:bodyPr wrap="none" rtlCol="0">
            <a:spAutoFit/>
          </a:bodyPr>
          <a:lstStyle/>
          <a:p>
            <a:r>
              <a:rPr lang="en-US" noProof="0" dirty="0"/>
              <a:t>QR Kaggle</a:t>
            </a:r>
          </a:p>
        </p:txBody>
      </p:sp>
      <p:pic>
        <p:nvPicPr>
          <p:cNvPr id="7" name="Immagine 6">
            <a:extLst>
              <a:ext uri="{FF2B5EF4-FFF2-40B4-BE49-F238E27FC236}">
                <a16:creationId xmlns:a16="http://schemas.microsoft.com/office/drawing/2014/main" id="{C75ECEB7-2709-5B8E-DBA1-25FB8050EB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7154" y="4248440"/>
            <a:ext cx="2937160" cy="2202870"/>
          </a:xfrm>
          <a:prstGeom prst="rect">
            <a:avLst/>
          </a:prstGeom>
        </p:spPr>
      </p:pic>
      <p:pic>
        <p:nvPicPr>
          <p:cNvPr id="9" name="Immagine 8">
            <a:extLst>
              <a:ext uri="{FF2B5EF4-FFF2-40B4-BE49-F238E27FC236}">
                <a16:creationId xmlns:a16="http://schemas.microsoft.com/office/drawing/2014/main" id="{E618CC33-8C3A-C88B-02C5-420876C2A8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22883" y="4248440"/>
            <a:ext cx="2937160" cy="2202868"/>
          </a:xfrm>
          <a:prstGeom prst="rect">
            <a:avLst/>
          </a:prstGeom>
        </p:spPr>
      </p:pic>
    </p:spTree>
    <p:extLst>
      <p:ext uri="{BB962C8B-B14F-4D97-AF65-F5344CB8AC3E}">
        <p14:creationId xmlns:p14="http://schemas.microsoft.com/office/powerpoint/2010/main" val="134604344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title">
            <a:extLst>
              <a:ext uri="{FF2B5EF4-FFF2-40B4-BE49-F238E27FC236}">
                <a16:creationId xmlns:a16="http://schemas.microsoft.com/office/drawing/2014/main" id="{11FAAC68-AECF-CAFA-AC40-DA4762FFC624}"/>
              </a:ext>
            </a:extLst>
          </p:cNvPr>
          <p:cNvSpPr>
            <a:spLocks noGrp="1"/>
          </p:cNvSpPr>
          <p:nvPr/>
        </p:nvSpPr>
        <p:spPr>
          <a:xfrm>
            <a:off x="762000" y="485775"/>
            <a:ext cx="9858375" cy="857250"/>
          </a:xfrm>
          <a:prstGeom prst="rect">
            <a:avLst/>
          </a:prstGeom>
          <a:noFill/>
          <a:ln w="0">
            <a:noFill/>
          </a:ln>
        </p:spPr>
        <p:txBody>
          <a:bodyPr wrap="square" lIns="0" tIns="0" rIns="0" bIns="0" anchor="t">
            <a:noAutofit/>
          </a:bodyPr>
          <a:lstStyle>
            <a:defPPr algn="l">
              <a:defRPr lang="en-US" sz="3200" b="0">
                <a:solidFill>
                  <a:srgbClr val="202124"/>
                </a:solidFill>
                <a:latin typeface="Roboto"/>
                <a:ea typeface="Roboto"/>
                <a:cs typeface="Roboto"/>
              </a:defRPr>
            </a:defPPr>
            <a:lvl1pPr algn="l">
              <a:defRPr lang="en-US" sz="3200" b="0">
                <a:solidFill>
                  <a:srgbClr val="202124"/>
                </a:solidFill>
                <a:latin typeface="Roboto"/>
                <a:ea typeface="Roboto"/>
                <a:cs typeface="Roboto"/>
              </a:defRPr>
            </a:lvl1pPr>
            <a:lvl2pPr algn="l">
              <a:defRPr lang="en-US" sz="3200" b="0">
                <a:solidFill>
                  <a:srgbClr val="202124"/>
                </a:solidFill>
                <a:latin typeface="Roboto"/>
                <a:ea typeface="Roboto"/>
                <a:cs typeface="Roboto"/>
              </a:defRPr>
            </a:lvl2pPr>
            <a:lvl3pPr algn="l">
              <a:defRPr lang="en-US" sz="3200" b="0">
                <a:solidFill>
                  <a:srgbClr val="202124"/>
                </a:solidFill>
                <a:latin typeface="Roboto"/>
                <a:ea typeface="Roboto"/>
                <a:cs typeface="Roboto"/>
              </a:defRPr>
            </a:lvl3pPr>
            <a:lvl4pPr algn="l">
              <a:defRPr lang="en-US" sz="3200" b="0">
                <a:solidFill>
                  <a:srgbClr val="202124"/>
                </a:solidFill>
                <a:latin typeface="Roboto"/>
                <a:ea typeface="Roboto"/>
                <a:cs typeface="Roboto"/>
              </a:defRPr>
            </a:lvl4pPr>
            <a:lvl5pPr algn="l">
              <a:defRPr lang="en-US" sz="3200" b="0">
                <a:solidFill>
                  <a:srgbClr val="202124"/>
                </a:solidFill>
                <a:latin typeface="Roboto"/>
                <a:ea typeface="Roboto"/>
                <a:cs typeface="Roboto"/>
              </a:defRPr>
            </a:lvl5pPr>
            <a:lvl6pPr algn="l">
              <a:defRPr lang="en-US" sz="3200" b="0">
                <a:solidFill>
                  <a:srgbClr val="202124"/>
                </a:solidFill>
                <a:latin typeface="Roboto"/>
                <a:ea typeface="Roboto"/>
                <a:cs typeface="Roboto"/>
              </a:defRPr>
            </a:lvl6pPr>
            <a:lvl7pPr algn="l">
              <a:defRPr lang="en-US" sz="3200" b="0">
                <a:solidFill>
                  <a:srgbClr val="202124"/>
                </a:solidFill>
                <a:latin typeface="Roboto"/>
                <a:ea typeface="Roboto"/>
                <a:cs typeface="Roboto"/>
              </a:defRPr>
            </a:lvl7pPr>
            <a:lvl8pPr algn="l">
              <a:defRPr lang="en-US" sz="3200" b="0">
                <a:solidFill>
                  <a:srgbClr val="202124"/>
                </a:solidFill>
                <a:latin typeface="Roboto"/>
                <a:ea typeface="Roboto"/>
                <a:cs typeface="Roboto"/>
              </a:defRPr>
            </a:lvl8pPr>
            <a:lvl9pPr algn="l">
              <a:defRPr lang="en-US" sz="3200" b="0">
                <a:solidFill>
                  <a:srgbClr val="202124"/>
                </a:solidFill>
                <a:latin typeface="Roboto"/>
                <a:ea typeface="Roboto"/>
                <a:cs typeface="Roboto"/>
              </a:defRPr>
            </a:lvl9pPr>
          </a:lstStyle>
          <a:p>
            <a:pPr algn="l">
              <a:defRPr lang="en-US" sz="3200" b="0">
                <a:solidFill>
                  <a:srgbClr val="202124"/>
                </a:solidFill>
                <a:latin typeface="Roboto"/>
                <a:ea typeface="Roboto"/>
                <a:cs typeface="Roboto"/>
              </a:defRPr>
            </a:pPr>
            <a:r>
              <a:rPr lang="en-US" sz="3200" b="0" dirty="0">
                <a:solidFill>
                  <a:srgbClr val="202124"/>
                </a:solidFill>
                <a:latin typeface="Roboto"/>
                <a:ea typeface="Roboto"/>
                <a:cs typeface="Roboto"/>
              </a:rPr>
              <a:t>References</a:t>
            </a:r>
          </a:p>
        </p:txBody>
      </p:sp>
      <p:sp>
        <p:nvSpPr>
          <p:cNvPr id="7" name="ref-number-1">
            <a:extLst>
              <a:ext uri="{FF2B5EF4-FFF2-40B4-BE49-F238E27FC236}">
                <a16:creationId xmlns:a16="http://schemas.microsoft.com/office/drawing/2014/main" id="{D50755D4-B4E1-65DD-504A-4F2865A756CA}"/>
              </a:ext>
            </a:extLst>
          </p:cNvPr>
          <p:cNvSpPr>
            <a:spLocks noGrp="1"/>
          </p:cNvSpPr>
          <p:nvPr/>
        </p:nvSpPr>
        <p:spPr>
          <a:xfrm>
            <a:off x="762000" y="14001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a:t>
            </a:r>
          </a:p>
        </p:txBody>
      </p:sp>
      <p:sp>
        <p:nvSpPr>
          <p:cNvPr id="9" name="ref-venue-1">
            <a:extLst>
              <a:ext uri="{FF2B5EF4-FFF2-40B4-BE49-F238E27FC236}">
                <a16:creationId xmlns:a16="http://schemas.microsoft.com/office/drawing/2014/main" id="{9A3DBDDA-9EE5-30F6-6C93-C609B598A47B}"/>
              </a:ext>
            </a:extLst>
          </p:cNvPr>
          <p:cNvSpPr>
            <a:spLocks noGrp="1"/>
          </p:cNvSpPr>
          <p:nvPr/>
        </p:nvSpPr>
        <p:spPr>
          <a:xfrm>
            <a:off x="1409700" y="166116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On a Mission, Season 4, Episode 8, 25 August 2022.</a:t>
            </a:r>
          </a:p>
        </p:txBody>
      </p:sp>
      <p:sp>
        <p:nvSpPr>
          <p:cNvPr id="11" name="ref-link-1">
            <a:extLst>
              <a:ext uri="{FF2B5EF4-FFF2-40B4-BE49-F238E27FC236}">
                <a16:creationId xmlns:a16="http://schemas.microsoft.com/office/drawing/2014/main" id="{24A6E2EC-21AA-1DAF-ED0A-BA3D9031ABD8}"/>
              </a:ext>
            </a:extLst>
          </p:cNvPr>
          <p:cNvSpPr>
            <a:spLocks noGrp="1"/>
          </p:cNvSpPr>
          <p:nvPr/>
        </p:nvSpPr>
        <p:spPr>
          <a:xfrm>
            <a:off x="1409700" y="188023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dirty="0">
                <a:solidFill>
                  <a:srgbClr val="822433"/>
                </a:solidFill>
                <a:latin typeface="Roboto"/>
                <a:ea typeface="Roboto"/>
                <a:cs typeface="Roboto"/>
                <a:hlinkClick r:id="rId3"/>
              </a:rPr>
              <a:t>jpl.nasa.gov, On a Mission, S4 E8</a:t>
            </a:r>
          </a:p>
        </p:txBody>
      </p:sp>
      <p:sp>
        <p:nvSpPr>
          <p:cNvPr id="13" name="ref-number-2">
            <a:extLst>
              <a:ext uri="{FF2B5EF4-FFF2-40B4-BE49-F238E27FC236}">
                <a16:creationId xmlns:a16="http://schemas.microsoft.com/office/drawing/2014/main" id="{D55F48A7-441D-7F69-04A9-72E95C143523}"/>
              </a:ext>
            </a:extLst>
          </p:cNvPr>
          <p:cNvSpPr>
            <a:spLocks noGrp="1"/>
          </p:cNvSpPr>
          <p:nvPr/>
        </p:nvSpPr>
        <p:spPr>
          <a:xfrm>
            <a:off x="762000" y="23717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[2]</a:t>
            </a:r>
          </a:p>
        </p:txBody>
      </p:sp>
      <p:sp>
        <p:nvSpPr>
          <p:cNvPr id="15" name="ref-venue-2">
            <a:extLst>
              <a:ext uri="{FF2B5EF4-FFF2-40B4-BE49-F238E27FC236}">
                <a16:creationId xmlns:a16="http://schemas.microsoft.com/office/drawing/2014/main" id="{4CBED393-95E4-3EB9-C029-02170483DE12}"/>
              </a:ext>
            </a:extLst>
          </p:cNvPr>
          <p:cNvSpPr>
            <a:spLocks noGrp="1"/>
          </p:cNvSpPr>
          <p:nvPr/>
        </p:nvSpPr>
        <p:spPr>
          <a:xfrm>
            <a:off x="1409700" y="2619375"/>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IEEE Aerospace Conference, 2022, pp. 1–19.</a:t>
            </a:r>
          </a:p>
        </p:txBody>
      </p:sp>
      <p:sp>
        <p:nvSpPr>
          <p:cNvPr id="17" name="ref-link-2">
            <a:extLst>
              <a:ext uri="{FF2B5EF4-FFF2-40B4-BE49-F238E27FC236}">
                <a16:creationId xmlns:a16="http://schemas.microsoft.com/office/drawing/2014/main" id="{984AE361-FE62-52A9-BF4D-91C9D8195ABA}"/>
              </a:ext>
            </a:extLst>
          </p:cNvPr>
          <p:cNvSpPr>
            <a:spLocks noGrp="1"/>
          </p:cNvSpPr>
          <p:nvPr/>
        </p:nvSpPr>
        <p:spPr>
          <a:xfrm>
            <a:off x="1409700" y="2838450"/>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4"/>
              </a:rPr>
              <a:t>robotics.jpl.nasa.gov, fmwi-rankin-2022-0225-final.pdf</a:t>
            </a:r>
          </a:p>
        </p:txBody>
      </p:sp>
      <p:sp>
        <p:nvSpPr>
          <p:cNvPr id="19" name="ref-number-3">
            <a:extLst>
              <a:ext uri="{FF2B5EF4-FFF2-40B4-BE49-F238E27FC236}">
                <a16:creationId xmlns:a16="http://schemas.microsoft.com/office/drawing/2014/main" id="{C611492B-0942-5E6D-A907-E73FF1A2384F}"/>
              </a:ext>
            </a:extLst>
          </p:cNvPr>
          <p:cNvSpPr>
            <a:spLocks noGrp="1"/>
          </p:cNvSpPr>
          <p:nvPr/>
        </p:nvSpPr>
        <p:spPr>
          <a:xfrm>
            <a:off x="762000" y="33432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[3]</a:t>
            </a:r>
          </a:p>
        </p:txBody>
      </p:sp>
      <p:sp>
        <p:nvSpPr>
          <p:cNvPr id="21" name="ref-venue-3">
            <a:extLst>
              <a:ext uri="{FF2B5EF4-FFF2-40B4-BE49-F238E27FC236}">
                <a16:creationId xmlns:a16="http://schemas.microsoft.com/office/drawing/2014/main" id="{0C546CD6-B2A4-5591-2F6C-8AF4F8AF97D0}"/>
              </a:ext>
            </a:extLst>
          </p:cNvPr>
          <p:cNvSpPr>
            <a:spLocks noGrp="1"/>
          </p:cNvSpPr>
          <p:nvPr/>
        </p:nvSpPr>
        <p:spPr>
          <a:xfrm>
            <a:off x="1409700" y="361950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NASA Science, 27 April 2016. Image PIA20334.</a:t>
            </a:r>
          </a:p>
        </p:txBody>
      </p:sp>
      <p:sp>
        <p:nvSpPr>
          <p:cNvPr id="23" name="ref-link-3">
            <a:extLst>
              <a:ext uri="{FF2B5EF4-FFF2-40B4-BE49-F238E27FC236}">
                <a16:creationId xmlns:a16="http://schemas.microsoft.com/office/drawing/2014/main" id="{093EA0D9-A04B-7576-4AE1-663BC3FAB39F}"/>
              </a:ext>
            </a:extLst>
          </p:cNvPr>
          <p:cNvSpPr>
            <a:spLocks noGrp="1"/>
          </p:cNvSpPr>
          <p:nvPr/>
        </p:nvSpPr>
        <p:spPr>
          <a:xfrm>
            <a:off x="1409700" y="383857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dirty="0">
                <a:solidFill>
                  <a:srgbClr val="822433"/>
                </a:solidFill>
                <a:latin typeface="Roboto"/>
                <a:ea typeface="Roboto"/>
                <a:cs typeface="Roboto"/>
                <a:hlinkClick r:id="rId5"/>
              </a:rPr>
              <a:t>science.nasa.gov/resource/routine-inspection-of-rover-wheel-wear-and-tear/</a:t>
            </a:r>
          </a:p>
        </p:txBody>
      </p:sp>
      <p:sp>
        <p:nvSpPr>
          <p:cNvPr id="25" name="ref-number-4">
            <a:extLst>
              <a:ext uri="{FF2B5EF4-FFF2-40B4-BE49-F238E27FC236}">
                <a16:creationId xmlns:a16="http://schemas.microsoft.com/office/drawing/2014/main" id="{2D1FF007-E8BE-C0DA-2CB9-26D4EC5AA1C4}"/>
              </a:ext>
            </a:extLst>
          </p:cNvPr>
          <p:cNvSpPr>
            <a:spLocks noGrp="1"/>
          </p:cNvSpPr>
          <p:nvPr/>
        </p:nvSpPr>
        <p:spPr>
          <a:xfrm>
            <a:off x="762000" y="43148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[4]</a:t>
            </a:r>
          </a:p>
        </p:txBody>
      </p:sp>
      <p:sp>
        <p:nvSpPr>
          <p:cNvPr id="27" name="ref-venue-4">
            <a:extLst>
              <a:ext uri="{FF2B5EF4-FFF2-40B4-BE49-F238E27FC236}">
                <a16:creationId xmlns:a16="http://schemas.microsoft.com/office/drawing/2014/main" id="{C417F74B-C6C3-4725-C3A2-8AADF0C0FCBA}"/>
              </a:ext>
            </a:extLst>
          </p:cNvPr>
          <p:cNvSpPr>
            <a:spLocks noGrp="1"/>
          </p:cNvSpPr>
          <p:nvPr/>
        </p:nvSpPr>
        <p:spPr>
          <a:xfrm>
            <a:off x="1409700" y="459105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IEEE Transactions on Geoscience and Remote Sensing, vol. 62, 2024.</a:t>
            </a:r>
          </a:p>
        </p:txBody>
      </p:sp>
      <p:sp>
        <p:nvSpPr>
          <p:cNvPr id="29" name="ref-link-4">
            <a:extLst>
              <a:ext uri="{FF2B5EF4-FFF2-40B4-BE49-F238E27FC236}">
                <a16:creationId xmlns:a16="http://schemas.microsoft.com/office/drawing/2014/main" id="{7C82B286-6523-E1AD-FFB4-E1AA8D8F75CE}"/>
              </a:ext>
            </a:extLst>
          </p:cNvPr>
          <p:cNvSpPr>
            <a:spLocks noGrp="1"/>
          </p:cNvSpPr>
          <p:nvPr/>
        </p:nvSpPr>
        <p:spPr>
          <a:xfrm>
            <a:off x="1409700" y="481012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6"/>
              </a:rPr>
              <a:t>doi: 10.1109/TGRS.2024.3386756</a:t>
            </a:r>
          </a:p>
        </p:txBody>
      </p:sp>
      <p:sp>
        <p:nvSpPr>
          <p:cNvPr id="31" name="ref-number-5">
            <a:extLst>
              <a:ext uri="{FF2B5EF4-FFF2-40B4-BE49-F238E27FC236}">
                <a16:creationId xmlns:a16="http://schemas.microsoft.com/office/drawing/2014/main" id="{2EE45169-9D4A-B330-5141-F63ACE6B7E6B}"/>
              </a:ext>
            </a:extLst>
          </p:cNvPr>
          <p:cNvSpPr>
            <a:spLocks noGrp="1"/>
          </p:cNvSpPr>
          <p:nvPr/>
        </p:nvSpPr>
        <p:spPr>
          <a:xfrm>
            <a:off x="762000" y="542353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[5]</a:t>
            </a:r>
          </a:p>
        </p:txBody>
      </p:sp>
      <p:sp>
        <p:nvSpPr>
          <p:cNvPr id="33" name="ref-venue-5">
            <a:extLst>
              <a:ext uri="{FF2B5EF4-FFF2-40B4-BE49-F238E27FC236}">
                <a16:creationId xmlns:a16="http://schemas.microsoft.com/office/drawing/2014/main" id="{B4BD0FC3-3765-F007-8439-2EC257514D41}"/>
              </a:ext>
            </a:extLst>
          </p:cNvPr>
          <p:cNvSpPr>
            <a:spLocks noGrp="1"/>
          </p:cNvSpPr>
          <p:nvPr/>
        </p:nvSpPr>
        <p:spPr>
          <a:xfrm>
            <a:off x="1409700" y="566166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NeurIPS, Datasets and Benchmarks Track, 2025.</a:t>
            </a:r>
          </a:p>
        </p:txBody>
      </p:sp>
      <p:sp>
        <p:nvSpPr>
          <p:cNvPr id="35" name="ref-link-5">
            <a:extLst>
              <a:ext uri="{FF2B5EF4-FFF2-40B4-BE49-F238E27FC236}">
                <a16:creationId xmlns:a16="http://schemas.microsoft.com/office/drawing/2014/main" id="{3C667E7A-1303-5AD7-A76E-CFA7C9ACC0E9}"/>
              </a:ext>
            </a:extLst>
          </p:cNvPr>
          <p:cNvSpPr>
            <a:spLocks noGrp="1"/>
          </p:cNvSpPr>
          <p:nvPr/>
        </p:nvSpPr>
        <p:spPr>
          <a:xfrm>
            <a:off x="1409700" y="588073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7"/>
              </a:rPr>
              <a:t>doi: 10.52202/085713-4098</a:t>
            </a:r>
          </a:p>
        </p:txBody>
      </p:sp>
      <p:sp>
        <p:nvSpPr>
          <p:cNvPr id="69" name="ref-title-1">
            <a:extLst>
              <a:ext uri="{FF2B5EF4-FFF2-40B4-BE49-F238E27FC236}">
                <a16:creationId xmlns:a16="http://schemas.microsoft.com/office/drawing/2014/main" id="{F7A6C1EC-2256-D2C6-D031-0E00C75D45AE}"/>
              </a:ext>
            </a:extLst>
          </p:cNvPr>
          <p:cNvSpPr>
            <a:spLocks noGrp="1"/>
          </p:cNvSpPr>
          <p:nvPr/>
        </p:nvSpPr>
        <p:spPr>
          <a:xfrm>
            <a:off x="1409700" y="14001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NASA Jet Propulsion Laboratory. How to Drive a Mars Rover.</a:t>
            </a:r>
          </a:p>
        </p:txBody>
      </p:sp>
      <p:sp>
        <p:nvSpPr>
          <p:cNvPr id="71" name="ref-title-2">
            <a:extLst>
              <a:ext uri="{FF2B5EF4-FFF2-40B4-BE49-F238E27FC236}">
                <a16:creationId xmlns:a16="http://schemas.microsoft.com/office/drawing/2014/main" id="{C3263381-F1DA-58F3-4F31-DC8C35BB01E8}"/>
              </a:ext>
            </a:extLst>
          </p:cNvPr>
          <p:cNvSpPr>
            <a:spLocks noGrp="1"/>
          </p:cNvSpPr>
          <p:nvPr/>
        </p:nvSpPr>
        <p:spPr>
          <a:xfrm>
            <a:off x="1409700" y="23717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A. Rankin et al. Assessing Mars Curiosity Rover Wheel Damage.</a:t>
            </a:r>
          </a:p>
        </p:txBody>
      </p:sp>
      <p:sp>
        <p:nvSpPr>
          <p:cNvPr id="73" name="ref-title-3">
            <a:extLst>
              <a:ext uri="{FF2B5EF4-FFF2-40B4-BE49-F238E27FC236}">
                <a16:creationId xmlns:a16="http://schemas.microsoft.com/office/drawing/2014/main" id="{2656BE13-A19E-D028-2960-41FD285C71E6}"/>
              </a:ext>
            </a:extLst>
          </p:cNvPr>
          <p:cNvSpPr>
            <a:spLocks noGrp="1"/>
          </p:cNvSpPr>
          <p:nvPr/>
        </p:nvSpPr>
        <p:spPr>
          <a:xfrm>
            <a:off x="1409700" y="33432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NASA. Routine Inspection of Rover Wheel Wear and Tear.</a:t>
            </a:r>
          </a:p>
        </p:txBody>
      </p:sp>
      <p:sp>
        <p:nvSpPr>
          <p:cNvPr id="75" name="ref-title-4">
            <a:extLst>
              <a:ext uri="{FF2B5EF4-FFF2-40B4-BE49-F238E27FC236}">
                <a16:creationId xmlns:a16="http://schemas.microsoft.com/office/drawing/2014/main" id="{1BAC2FE3-8211-36CF-8850-BF0F83ECD79C}"/>
              </a:ext>
            </a:extLst>
          </p:cNvPr>
          <p:cNvSpPr>
            <a:spLocks noGrp="1"/>
          </p:cNvSpPr>
          <p:nvPr/>
        </p:nvSpPr>
        <p:spPr>
          <a:xfrm>
            <a:off x="1409700" y="43148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J. Zhang et al. S⁵Mars: Semi-Supervised Learning for Mars Semantic Segmentation.</a:t>
            </a:r>
          </a:p>
        </p:txBody>
      </p:sp>
      <p:sp>
        <p:nvSpPr>
          <p:cNvPr id="77" name="ref-title-5">
            <a:extLst>
              <a:ext uri="{FF2B5EF4-FFF2-40B4-BE49-F238E27FC236}">
                <a16:creationId xmlns:a16="http://schemas.microsoft.com/office/drawing/2014/main" id="{F9485071-B946-77AC-B470-AE0619F88C79}"/>
              </a:ext>
            </a:extLst>
          </p:cNvPr>
          <p:cNvSpPr>
            <a:spLocks noGrp="1"/>
          </p:cNvSpPr>
          <p:nvPr/>
        </p:nvSpPr>
        <p:spPr>
          <a:xfrm>
            <a:off x="1409700" y="542353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dirty="0">
                <a:solidFill>
                  <a:srgbClr val="202124"/>
                </a:solidFill>
                <a:latin typeface="Roboto"/>
                <a:ea typeface="Roboto"/>
                <a:cs typeface="Roboto"/>
              </a:rPr>
              <a:t>M. Purohit et al. Mars-Bench: A Benchmark for Evaluating Foundation Models for Mars Science Tasks.</a:t>
            </a:r>
          </a:p>
        </p:txBody>
      </p:sp>
    </p:spTree>
    <p:extLst>
      <p:ext uri="{BB962C8B-B14F-4D97-AF65-F5344CB8AC3E}">
        <p14:creationId xmlns:p14="http://schemas.microsoft.com/office/powerpoint/2010/main" val="40585142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FA7A4-2D70-A483-E334-948C47D5A113}"/>
            </a:ext>
          </a:extLst>
        </p:cNvPr>
        <p:cNvGrpSpPr/>
        <p:nvPr/>
      </p:nvGrpSpPr>
      <p:grpSpPr>
        <a:xfrm>
          <a:off x="0" y="0"/>
          <a:ext cx="0" cy="0"/>
          <a:chOff x="0" y="0"/>
          <a:chExt cx="0" cy="0"/>
        </a:xfrm>
      </p:grpSpPr>
      <p:sp>
        <p:nvSpPr>
          <p:cNvPr id="5" name="slide-title">
            <a:extLst>
              <a:ext uri="{FF2B5EF4-FFF2-40B4-BE49-F238E27FC236}">
                <a16:creationId xmlns:a16="http://schemas.microsoft.com/office/drawing/2014/main" id="{E76EB4E8-00F3-F458-0AAD-B82EF38CAF42}"/>
              </a:ext>
            </a:extLst>
          </p:cNvPr>
          <p:cNvSpPr>
            <a:spLocks noGrp="1"/>
          </p:cNvSpPr>
          <p:nvPr/>
        </p:nvSpPr>
        <p:spPr>
          <a:xfrm>
            <a:off x="762000" y="485775"/>
            <a:ext cx="9858375" cy="857250"/>
          </a:xfrm>
          <a:prstGeom prst="rect">
            <a:avLst/>
          </a:prstGeom>
          <a:noFill/>
          <a:ln w="0">
            <a:noFill/>
          </a:ln>
        </p:spPr>
        <p:txBody>
          <a:bodyPr wrap="square" lIns="0" tIns="0" rIns="0" bIns="0" anchor="t">
            <a:noAutofit/>
          </a:bodyPr>
          <a:lstStyle>
            <a:defPPr algn="l">
              <a:defRPr lang="en-US" sz="3200" b="0">
                <a:solidFill>
                  <a:srgbClr val="202124"/>
                </a:solidFill>
                <a:latin typeface="Roboto"/>
                <a:ea typeface="Roboto"/>
                <a:cs typeface="Roboto"/>
              </a:defRPr>
            </a:defPPr>
            <a:lvl1pPr algn="l">
              <a:defRPr lang="en-US" sz="3200" b="0">
                <a:solidFill>
                  <a:srgbClr val="202124"/>
                </a:solidFill>
                <a:latin typeface="Roboto"/>
                <a:ea typeface="Roboto"/>
                <a:cs typeface="Roboto"/>
              </a:defRPr>
            </a:lvl1pPr>
            <a:lvl2pPr algn="l">
              <a:defRPr lang="en-US" sz="3200" b="0">
                <a:solidFill>
                  <a:srgbClr val="202124"/>
                </a:solidFill>
                <a:latin typeface="Roboto"/>
                <a:ea typeface="Roboto"/>
                <a:cs typeface="Roboto"/>
              </a:defRPr>
            </a:lvl2pPr>
            <a:lvl3pPr algn="l">
              <a:defRPr lang="en-US" sz="3200" b="0">
                <a:solidFill>
                  <a:srgbClr val="202124"/>
                </a:solidFill>
                <a:latin typeface="Roboto"/>
                <a:ea typeface="Roboto"/>
                <a:cs typeface="Roboto"/>
              </a:defRPr>
            </a:lvl3pPr>
            <a:lvl4pPr algn="l">
              <a:defRPr lang="en-US" sz="3200" b="0">
                <a:solidFill>
                  <a:srgbClr val="202124"/>
                </a:solidFill>
                <a:latin typeface="Roboto"/>
                <a:ea typeface="Roboto"/>
                <a:cs typeface="Roboto"/>
              </a:defRPr>
            </a:lvl4pPr>
            <a:lvl5pPr algn="l">
              <a:defRPr lang="en-US" sz="3200" b="0">
                <a:solidFill>
                  <a:srgbClr val="202124"/>
                </a:solidFill>
                <a:latin typeface="Roboto"/>
                <a:ea typeface="Roboto"/>
                <a:cs typeface="Roboto"/>
              </a:defRPr>
            </a:lvl5pPr>
            <a:lvl6pPr algn="l">
              <a:defRPr lang="en-US" sz="3200" b="0">
                <a:solidFill>
                  <a:srgbClr val="202124"/>
                </a:solidFill>
                <a:latin typeface="Roboto"/>
                <a:ea typeface="Roboto"/>
                <a:cs typeface="Roboto"/>
              </a:defRPr>
            </a:lvl6pPr>
            <a:lvl7pPr algn="l">
              <a:defRPr lang="en-US" sz="3200" b="0">
                <a:solidFill>
                  <a:srgbClr val="202124"/>
                </a:solidFill>
                <a:latin typeface="Roboto"/>
                <a:ea typeface="Roboto"/>
                <a:cs typeface="Roboto"/>
              </a:defRPr>
            </a:lvl7pPr>
            <a:lvl8pPr algn="l">
              <a:defRPr lang="en-US" sz="3200" b="0">
                <a:solidFill>
                  <a:srgbClr val="202124"/>
                </a:solidFill>
                <a:latin typeface="Roboto"/>
                <a:ea typeface="Roboto"/>
                <a:cs typeface="Roboto"/>
              </a:defRPr>
            </a:lvl8pPr>
            <a:lvl9pPr algn="l">
              <a:defRPr lang="en-US" sz="3200" b="0">
                <a:solidFill>
                  <a:srgbClr val="202124"/>
                </a:solidFill>
                <a:latin typeface="Roboto"/>
                <a:ea typeface="Roboto"/>
                <a:cs typeface="Roboto"/>
              </a:defRPr>
            </a:lvl9pPr>
          </a:lstStyle>
          <a:p>
            <a:pPr algn="l">
              <a:defRPr lang="en-US" sz="3200" b="0">
                <a:solidFill>
                  <a:srgbClr val="202124"/>
                </a:solidFill>
                <a:latin typeface="Roboto"/>
                <a:ea typeface="Roboto"/>
                <a:cs typeface="Roboto"/>
              </a:defRPr>
            </a:pPr>
            <a:r>
              <a:rPr lang="en-US" sz="3200" b="0" dirty="0">
                <a:solidFill>
                  <a:srgbClr val="202124"/>
                </a:solidFill>
                <a:latin typeface="Roboto"/>
                <a:ea typeface="Roboto"/>
                <a:cs typeface="Roboto"/>
              </a:rPr>
              <a:t>References</a:t>
            </a:r>
          </a:p>
        </p:txBody>
      </p:sp>
      <p:sp>
        <p:nvSpPr>
          <p:cNvPr id="3" name="ref-number-6">
            <a:extLst>
              <a:ext uri="{FF2B5EF4-FFF2-40B4-BE49-F238E27FC236}">
                <a16:creationId xmlns:a16="http://schemas.microsoft.com/office/drawing/2014/main" id="{0821FF25-ECD2-F4D9-F150-CBC60522B100}"/>
              </a:ext>
            </a:extLst>
          </p:cNvPr>
          <p:cNvSpPr>
            <a:spLocks noGrp="1"/>
          </p:cNvSpPr>
          <p:nvPr/>
        </p:nvSpPr>
        <p:spPr>
          <a:xfrm>
            <a:off x="762000" y="14001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[6]</a:t>
            </a:r>
          </a:p>
        </p:txBody>
      </p:sp>
      <p:sp>
        <p:nvSpPr>
          <p:cNvPr id="6" name="ref-title-6">
            <a:extLst>
              <a:ext uri="{FF2B5EF4-FFF2-40B4-BE49-F238E27FC236}">
                <a16:creationId xmlns:a16="http://schemas.microsoft.com/office/drawing/2014/main" id="{297A56C7-9061-098D-3131-FA7C18DC6853}"/>
              </a:ext>
            </a:extLst>
          </p:cNvPr>
          <p:cNvSpPr>
            <a:spLocks noGrp="1"/>
          </p:cNvSpPr>
          <p:nvPr/>
        </p:nvSpPr>
        <p:spPr>
          <a:xfrm>
            <a:off x="1409700" y="14001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O. Ronneberger, P. Fischer and T. Brox. U-Net: Convolutional Networks for Biomedical Image Segmentation.</a:t>
            </a:r>
          </a:p>
        </p:txBody>
      </p:sp>
      <p:sp>
        <p:nvSpPr>
          <p:cNvPr id="10" name="ref-venue-6">
            <a:extLst>
              <a:ext uri="{FF2B5EF4-FFF2-40B4-BE49-F238E27FC236}">
                <a16:creationId xmlns:a16="http://schemas.microsoft.com/office/drawing/2014/main" id="{9AAA3DC0-381C-A5F8-8CDC-3A1EA4B4937B}"/>
              </a:ext>
            </a:extLst>
          </p:cNvPr>
          <p:cNvSpPr>
            <a:spLocks noGrp="1"/>
          </p:cNvSpPr>
          <p:nvPr/>
        </p:nvSpPr>
        <p:spPr>
          <a:xfrm>
            <a:off x="1409700" y="164955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MICCAI, 2015, pp. 234–241.</a:t>
            </a:r>
          </a:p>
        </p:txBody>
      </p:sp>
      <p:sp>
        <p:nvSpPr>
          <p:cNvPr id="14" name="ref-link-6">
            <a:extLst>
              <a:ext uri="{FF2B5EF4-FFF2-40B4-BE49-F238E27FC236}">
                <a16:creationId xmlns:a16="http://schemas.microsoft.com/office/drawing/2014/main" id="{53B0F193-568C-EAD1-5CE2-84CA26A8B470}"/>
              </a:ext>
            </a:extLst>
          </p:cNvPr>
          <p:cNvSpPr>
            <a:spLocks noGrp="1"/>
          </p:cNvSpPr>
          <p:nvPr/>
        </p:nvSpPr>
        <p:spPr>
          <a:xfrm>
            <a:off x="1409700" y="186863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dirty="0" err="1">
                <a:solidFill>
                  <a:srgbClr val="822433"/>
                </a:solidFill>
                <a:latin typeface="Roboto"/>
                <a:ea typeface="Roboto"/>
                <a:cs typeface="Roboto"/>
                <a:hlinkClick r:id="rId3"/>
              </a:rPr>
              <a:t>doi</a:t>
            </a:r>
            <a:r>
              <a:rPr lang="en-US" sz="1275" b="0" dirty="0">
                <a:solidFill>
                  <a:srgbClr val="822433"/>
                </a:solidFill>
                <a:latin typeface="Roboto"/>
                <a:ea typeface="Roboto"/>
                <a:cs typeface="Roboto"/>
                <a:hlinkClick r:id="rId3"/>
              </a:rPr>
              <a:t>: 10.1007/978-3-319-24574-4_28</a:t>
            </a:r>
          </a:p>
        </p:txBody>
      </p:sp>
      <p:sp>
        <p:nvSpPr>
          <p:cNvPr id="18" name="ref-number-7">
            <a:extLst>
              <a:ext uri="{FF2B5EF4-FFF2-40B4-BE49-F238E27FC236}">
                <a16:creationId xmlns:a16="http://schemas.microsoft.com/office/drawing/2014/main" id="{D24575B9-18DE-0F01-BC21-49C24CB2777B}"/>
              </a:ext>
            </a:extLst>
          </p:cNvPr>
          <p:cNvSpPr>
            <a:spLocks noGrp="1"/>
          </p:cNvSpPr>
          <p:nvPr/>
        </p:nvSpPr>
        <p:spPr>
          <a:xfrm>
            <a:off x="762000" y="23717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[7]</a:t>
            </a:r>
          </a:p>
        </p:txBody>
      </p:sp>
      <p:sp>
        <p:nvSpPr>
          <p:cNvPr id="22" name="ref-title-7">
            <a:extLst>
              <a:ext uri="{FF2B5EF4-FFF2-40B4-BE49-F238E27FC236}">
                <a16:creationId xmlns:a16="http://schemas.microsoft.com/office/drawing/2014/main" id="{CEF36257-7668-348F-51B1-CD13545A3062}"/>
              </a:ext>
            </a:extLst>
          </p:cNvPr>
          <p:cNvSpPr>
            <a:spLocks noGrp="1"/>
          </p:cNvSpPr>
          <p:nvPr/>
        </p:nvSpPr>
        <p:spPr>
          <a:xfrm>
            <a:off x="1409700" y="23717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L.-C. Chen et al. Rethinking Atrous Convolution for Semantic Image Segmentation.</a:t>
            </a:r>
          </a:p>
        </p:txBody>
      </p:sp>
      <p:sp>
        <p:nvSpPr>
          <p:cNvPr id="26" name="ref-venue-7">
            <a:extLst>
              <a:ext uri="{FF2B5EF4-FFF2-40B4-BE49-F238E27FC236}">
                <a16:creationId xmlns:a16="http://schemas.microsoft.com/office/drawing/2014/main" id="{F880F072-8991-F778-8255-43B3C18CBAE5}"/>
              </a:ext>
            </a:extLst>
          </p:cNvPr>
          <p:cNvSpPr>
            <a:spLocks noGrp="1"/>
          </p:cNvSpPr>
          <p:nvPr/>
        </p:nvSpPr>
        <p:spPr>
          <a:xfrm>
            <a:off x="1409700" y="263323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arXiv:1706.05587, 2017.</a:t>
            </a:r>
          </a:p>
        </p:txBody>
      </p:sp>
      <p:sp>
        <p:nvSpPr>
          <p:cNvPr id="30" name="ref-link-7">
            <a:extLst>
              <a:ext uri="{FF2B5EF4-FFF2-40B4-BE49-F238E27FC236}">
                <a16:creationId xmlns:a16="http://schemas.microsoft.com/office/drawing/2014/main" id="{FCB372AD-8AF8-4DCE-37E9-23DE7325BA2F}"/>
              </a:ext>
            </a:extLst>
          </p:cNvPr>
          <p:cNvSpPr>
            <a:spLocks noGrp="1"/>
          </p:cNvSpPr>
          <p:nvPr/>
        </p:nvSpPr>
        <p:spPr>
          <a:xfrm>
            <a:off x="1409700" y="285230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4"/>
              </a:rPr>
              <a:t>arxiv.org/abs/1706.05587</a:t>
            </a:r>
          </a:p>
        </p:txBody>
      </p:sp>
      <p:sp>
        <p:nvSpPr>
          <p:cNvPr id="34" name="ref-number-8">
            <a:extLst>
              <a:ext uri="{FF2B5EF4-FFF2-40B4-BE49-F238E27FC236}">
                <a16:creationId xmlns:a16="http://schemas.microsoft.com/office/drawing/2014/main" id="{4499402C-6023-07DA-17A8-B73FF0A8C28A}"/>
              </a:ext>
            </a:extLst>
          </p:cNvPr>
          <p:cNvSpPr>
            <a:spLocks noGrp="1"/>
          </p:cNvSpPr>
          <p:nvPr/>
        </p:nvSpPr>
        <p:spPr>
          <a:xfrm>
            <a:off x="762000" y="33432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[8]</a:t>
            </a:r>
          </a:p>
        </p:txBody>
      </p:sp>
      <p:sp>
        <p:nvSpPr>
          <p:cNvPr id="37" name="ref-title-8">
            <a:extLst>
              <a:ext uri="{FF2B5EF4-FFF2-40B4-BE49-F238E27FC236}">
                <a16:creationId xmlns:a16="http://schemas.microsoft.com/office/drawing/2014/main" id="{1FEF7ADE-0A42-982B-8D4E-2DE087A0D36D}"/>
              </a:ext>
            </a:extLst>
          </p:cNvPr>
          <p:cNvSpPr>
            <a:spLocks noGrp="1"/>
          </p:cNvSpPr>
          <p:nvPr/>
        </p:nvSpPr>
        <p:spPr>
          <a:xfrm>
            <a:off x="1409700" y="33432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L.-C. Chen et al. Encoder-Decoder with Atrous Separable Convolution for Semantic Image Segmentation.</a:t>
            </a:r>
          </a:p>
        </p:txBody>
      </p:sp>
      <p:sp>
        <p:nvSpPr>
          <p:cNvPr id="39" name="ref-venue-8">
            <a:extLst>
              <a:ext uri="{FF2B5EF4-FFF2-40B4-BE49-F238E27FC236}">
                <a16:creationId xmlns:a16="http://schemas.microsoft.com/office/drawing/2014/main" id="{93F68481-2A7A-CAF7-A9CA-26FAB4A4CF3F}"/>
              </a:ext>
            </a:extLst>
          </p:cNvPr>
          <p:cNvSpPr>
            <a:spLocks noGrp="1"/>
          </p:cNvSpPr>
          <p:nvPr/>
        </p:nvSpPr>
        <p:spPr>
          <a:xfrm>
            <a:off x="1409700" y="359265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ECCV, 2018, pp. 833–851.</a:t>
            </a:r>
          </a:p>
        </p:txBody>
      </p:sp>
      <p:sp>
        <p:nvSpPr>
          <p:cNvPr id="41" name="ref-link-8">
            <a:extLst>
              <a:ext uri="{FF2B5EF4-FFF2-40B4-BE49-F238E27FC236}">
                <a16:creationId xmlns:a16="http://schemas.microsoft.com/office/drawing/2014/main" id="{9544EA9A-86B7-BBF0-E609-160FA64BBAFC}"/>
              </a:ext>
            </a:extLst>
          </p:cNvPr>
          <p:cNvSpPr>
            <a:spLocks noGrp="1"/>
          </p:cNvSpPr>
          <p:nvPr/>
        </p:nvSpPr>
        <p:spPr>
          <a:xfrm>
            <a:off x="1409700" y="381173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5"/>
              </a:rPr>
              <a:t>doi: 10.1007/978-3-030-01234-2_49</a:t>
            </a:r>
          </a:p>
        </p:txBody>
      </p:sp>
      <p:sp>
        <p:nvSpPr>
          <p:cNvPr id="43" name="ref-number-9">
            <a:extLst>
              <a:ext uri="{FF2B5EF4-FFF2-40B4-BE49-F238E27FC236}">
                <a16:creationId xmlns:a16="http://schemas.microsoft.com/office/drawing/2014/main" id="{C730D5B4-0AC9-A910-1955-5B5501ECBEB2}"/>
              </a:ext>
            </a:extLst>
          </p:cNvPr>
          <p:cNvSpPr>
            <a:spLocks noGrp="1"/>
          </p:cNvSpPr>
          <p:nvPr/>
        </p:nvSpPr>
        <p:spPr>
          <a:xfrm>
            <a:off x="762000" y="43148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[9]</a:t>
            </a:r>
          </a:p>
        </p:txBody>
      </p:sp>
      <p:sp>
        <p:nvSpPr>
          <p:cNvPr id="45" name="ref-title-9">
            <a:extLst>
              <a:ext uri="{FF2B5EF4-FFF2-40B4-BE49-F238E27FC236}">
                <a16:creationId xmlns:a16="http://schemas.microsoft.com/office/drawing/2014/main" id="{148C544D-2D22-F2E2-591B-54FB35A1F30E}"/>
              </a:ext>
            </a:extLst>
          </p:cNvPr>
          <p:cNvSpPr>
            <a:spLocks noGrp="1"/>
          </p:cNvSpPr>
          <p:nvPr/>
        </p:nvSpPr>
        <p:spPr>
          <a:xfrm>
            <a:off x="1409700" y="43148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E. Xie et al. SegFormer: Simple and Efficient Design for Semantic Segmentation with Transformers.</a:t>
            </a:r>
          </a:p>
        </p:txBody>
      </p:sp>
      <p:sp>
        <p:nvSpPr>
          <p:cNvPr id="47" name="ref-venue-9">
            <a:extLst>
              <a:ext uri="{FF2B5EF4-FFF2-40B4-BE49-F238E27FC236}">
                <a16:creationId xmlns:a16="http://schemas.microsoft.com/office/drawing/2014/main" id="{EECB0CBB-A035-8C10-62C3-3D41A3AA4B1F}"/>
              </a:ext>
            </a:extLst>
          </p:cNvPr>
          <p:cNvSpPr>
            <a:spLocks noGrp="1"/>
          </p:cNvSpPr>
          <p:nvPr/>
        </p:nvSpPr>
        <p:spPr>
          <a:xfrm>
            <a:off x="1409700" y="4579793"/>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err="1">
                <a:solidFill>
                  <a:srgbClr val="656B73"/>
                </a:solidFill>
                <a:latin typeface="Roboto"/>
                <a:ea typeface="Roboto"/>
                <a:cs typeface="Roboto"/>
              </a:rPr>
              <a:t>NeurIPS</a:t>
            </a:r>
            <a:r>
              <a:rPr lang="en-US" sz="1313" b="0" dirty="0">
                <a:solidFill>
                  <a:srgbClr val="656B73"/>
                </a:solidFill>
                <a:latin typeface="Roboto"/>
                <a:ea typeface="Roboto"/>
                <a:cs typeface="Roboto"/>
              </a:rPr>
              <a:t>, vol. 34, 2021, pp. 12077–12090.</a:t>
            </a:r>
          </a:p>
        </p:txBody>
      </p:sp>
      <p:sp>
        <p:nvSpPr>
          <p:cNvPr id="49" name="ref-link-9">
            <a:extLst>
              <a:ext uri="{FF2B5EF4-FFF2-40B4-BE49-F238E27FC236}">
                <a16:creationId xmlns:a16="http://schemas.microsoft.com/office/drawing/2014/main" id="{CC9DC076-C5AB-84BB-6982-441CD70B6F46}"/>
              </a:ext>
            </a:extLst>
          </p:cNvPr>
          <p:cNvSpPr>
            <a:spLocks noGrp="1"/>
          </p:cNvSpPr>
          <p:nvPr/>
        </p:nvSpPr>
        <p:spPr>
          <a:xfrm>
            <a:off x="1409700" y="4798868"/>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6"/>
              </a:rPr>
              <a:t>arxiv.org/abs/2105.15203</a:t>
            </a:r>
          </a:p>
        </p:txBody>
      </p:sp>
      <p:sp>
        <p:nvSpPr>
          <p:cNvPr id="51" name="ref-number-10">
            <a:extLst>
              <a:ext uri="{FF2B5EF4-FFF2-40B4-BE49-F238E27FC236}">
                <a16:creationId xmlns:a16="http://schemas.microsoft.com/office/drawing/2014/main" id="{F1CF2FC5-9EA2-537B-8DBA-61E73F56DB5F}"/>
              </a:ext>
            </a:extLst>
          </p:cNvPr>
          <p:cNvSpPr>
            <a:spLocks noGrp="1"/>
          </p:cNvSpPr>
          <p:nvPr/>
        </p:nvSpPr>
        <p:spPr>
          <a:xfrm>
            <a:off x="762000" y="52863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[10]</a:t>
            </a:r>
          </a:p>
        </p:txBody>
      </p:sp>
      <p:sp>
        <p:nvSpPr>
          <p:cNvPr id="53" name="ref-title-10">
            <a:extLst>
              <a:ext uri="{FF2B5EF4-FFF2-40B4-BE49-F238E27FC236}">
                <a16:creationId xmlns:a16="http://schemas.microsoft.com/office/drawing/2014/main" id="{84E8B91A-ED19-1731-5EB4-2285CE38C9DC}"/>
              </a:ext>
            </a:extLst>
          </p:cNvPr>
          <p:cNvSpPr>
            <a:spLocks noGrp="1"/>
          </p:cNvSpPr>
          <p:nvPr/>
        </p:nvSpPr>
        <p:spPr>
          <a:xfrm>
            <a:off x="1409700" y="52863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M. Shi et al. Lightweight Context-Aware Network Using Partial-Channel Transformation for Real-Time Semantic Segmentation.</a:t>
            </a:r>
          </a:p>
        </p:txBody>
      </p:sp>
      <p:sp>
        <p:nvSpPr>
          <p:cNvPr id="55" name="ref-venue-10">
            <a:extLst>
              <a:ext uri="{FF2B5EF4-FFF2-40B4-BE49-F238E27FC236}">
                <a16:creationId xmlns:a16="http://schemas.microsoft.com/office/drawing/2014/main" id="{B37CCFF1-E1B8-BC42-4E2A-291E470FFA2A}"/>
              </a:ext>
            </a:extLst>
          </p:cNvPr>
          <p:cNvSpPr>
            <a:spLocks noGrp="1"/>
          </p:cNvSpPr>
          <p:nvPr/>
        </p:nvSpPr>
        <p:spPr>
          <a:xfrm>
            <a:off x="1409700" y="579120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IEEE Transactions on Intelligent Transportation Systems, 25(7), 2024.</a:t>
            </a:r>
          </a:p>
        </p:txBody>
      </p:sp>
      <p:sp>
        <p:nvSpPr>
          <p:cNvPr id="57" name="ref-link-10">
            <a:extLst>
              <a:ext uri="{FF2B5EF4-FFF2-40B4-BE49-F238E27FC236}">
                <a16:creationId xmlns:a16="http://schemas.microsoft.com/office/drawing/2014/main" id="{22646CC2-4C05-842B-FEC0-FC9648FA9AA7}"/>
              </a:ext>
            </a:extLst>
          </p:cNvPr>
          <p:cNvSpPr>
            <a:spLocks noGrp="1"/>
          </p:cNvSpPr>
          <p:nvPr/>
        </p:nvSpPr>
        <p:spPr>
          <a:xfrm>
            <a:off x="1409700" y="601027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7"/>
              </a:rPr>
              <a:t>doi: 10.1109/TITS.2023.3348631</a:t>
            </a:r>
          </a:p>
        </p:txBody>
      </p:sp>
    </p:spTree>
    <p:extLst>
      <p:ext uri="{BB962C8B-B14F-4D97-AF65-F5344CB8AC3E}">
        <p14:creationId xmlns:p14="http://schemas.microsoft.com/office/powerpoint/2010/main" val="7405035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7F767-E65D-BD54-9A7B-3974EE4C2CE1}"/>
            </a:ext>
          </a:extLst>
        </p:cNvPr>
        <p:cNvGrpSpPr/>
        <p:nvPr/>
      </p:nvGrpSpPr>
      <p:grpSpPr>
        <a:xfrm>
          <a:off x="0" y="0"/>
          <a:ext cx="0" cy="0"/>
          <a:chOff x="0" y="0"/>
          <a:chExt cx="0" cy="0"/>
        </a:xfrm>
      </p:grpSpPr>
      <p:sp>
        <p:nvSpPr>
          <p:cNvPr id="5" name="slide-title">
            <a:extLst>
              <a:ext uri="{FF2B5EF4-FFF2-40B4-BE49-F238E27FC236}">
                <a16:creationId xmlns:a16="http://schemas.microsoft.com/office/drawing/2014/main" id="{C680000B-601D-6466-9E1B-4D1A19FA2AE6}"/>
              </a:ext>
            </a:extLst>
          </p:cNvPr>
          <p:cNvSpPr>
            <a:spLocks noGrp="1"/>
          </p:cNvSpPr>
          <p:nvPr/>
        </p:nvSpPr>
        <p:spPr>
          <a:xfrm>
            <a:off x="762000" y="485775"/>
            <a:ext cx="9858375" cy="857250"/>
          </a:xfrm>
          <a:prstGeom prst="rect">
            <a:avLst/>
          </a:prstGeom>
          <a:noFill/>
          <a:ln w="0">
            <a:noFill/>
          </a:ln>
        </p:spPr>
        <p:txBody>
          <a:bodyPr wrap="square" lIns="0" tIns="0" rIns="0" bIns="0" anchor="t">
            <a:noAutofit/>
          </a:bodyPr>
          <a:lstStyle>
            <a:defPPr algn="l">
              <a:defRPr lang="en-US" sz="3200" b="0">
                <a:solidFill>
                  <a:srgbClr val="202124"/>
                </a:solidFill>
                <a:latin typeface="Roboto"/>
                <a:ea typeface="Roboto"/>
                <a:cs typeface="Roboto"/>
              </a:defRPr>
            </a:defPPr>
            <a:lvl1pPr algn="l">
              <a:defRPr lang="en-US" sz="3200" b="0">
                <a:solidFill>
                  <a:srgbClr val="202124"/>
                </a:solidFill>
                <a:latin typeface="Roboto"/>
                <a:ea typeface="Roboto"/>
                <a:cs typeface="Roboto"/>
              </a:defRPr>
            </a:lvl1pPr>
            <a:lvl2pPr algn="l">
              <a:defRPr lang="en-US" sz="3200" b="0">
                <a:solidFill>
                  <a:srgbClr val="202124"/>
                </a:solidFill>
                <a:latin typeface="Roboto"/>
                <a:ea typeface="Roboto"/>
                <a:cs typeface="Roboto"/>
              </a:defRPr>
            </a:lvl2pPr>
            <a:lvl3pPr algn="l">
              <a:defRPr lang="en-US" sz="3200" b="0">
                <a:solidFill>
                  <a:srgbClr val="202124"/>
                </a:solidFill>
                <a:latin typeface="Roboto"/>
                <a:ea typeface="Roboto"/>
                <a:cs typeface="Roboto"/>
              </a:defRPr>
            </a:lvl3pPr>
            <a:lvl4pPr algn="l">
              <a:defRPr lang="en-US" sz="3200" b="0">
                <a:solidFill>
                  <a:srgbClr val="202124"/>
                </a:solidFill>
                <a:latin typeface="Roboto"/>
                <a:ea typeface="Roboto"/>
                <a:cs typeface="Roboto"/>
              </a:defRPr>
            </a:lvl4pPr>
            <a:lvl5pPr algn="l">
              <a:defRPr lang="en-US" sz="3200" b="0">
                <a:solidFill>
                  <a:srgbClr val="202124"/>
                </a:solidFill>
                <a:latin typeface="Roboto"/>
                <a:ea typeface="Roboto"/>
                <a:cs typeface="Roboto"/>
              </a:defRPr>
            </a:lvl5pPr>
            <a:lvl6pPr algn="l">
              <a:defRPr lang="en-US" sz="3200" b="0">
                <a:solidFill>
                  <a:srgbClr val="202124"/>
                </a:solidFill>
                <a:latin typeface="Roboto"/>
                <a:ea typeface="Roboto"/>
                <a:cs typeface="Roboto"/>
              </a:defRPr>
            </a:lvl6pPr>
            <a:lvl7pPr algn="l">
              <a:defRPr lang="en-US" sz="3200" b="0">
                <a:solidFill>
                  <a:srgbClr val="202124"/>
                </a:solidFill>
                <a:latin typeface="Roboto"/>
                <a:ea typeface="Roboto"/>
                <a:cs typeface="Roboto"/>
              </a:defRPr>
            </a:lvl7pPr>
            <a:lvl8pPr algn="l">
              <a:defRPr lang="en-US" sz="3200" b="0">
                <a:solidFill>
                  <a:srgbClr val="202124"/>
                </a:solidFill>
                <a:latin typeface="Roboto"/>
                <a:ea typeface="Roboto"/>
                <a:cs typeface="Roboto"/>
              </a:defRPr>
            </a:lvl8pPr>
            <a:lvl9pPr algn="l">
              <a:defRPr lang="en-US" sz="3200" b="0">
                <a:solidFill>
                  <a:srgbClr val="202124"/>
                </a:solidFill>
                <a:latin typeface="Roboto"/>
                <a:ea typeface="Roboto"/>
                <a:cs typeface="Roboto"/>
              </a:defRPr>
            </a:lvl9pPr>
          </a:lstStyle>
          <a:p>
            <a:pPr algn="l">
              <a:defRPr lang="en-US" sz="3200" b="0">
                <a:solidFill>
                  <a:srgbClr val="202124"/>
                </a:solidFill>
                <a:latin typeface="Roboto"/>
                <a:ea typeface="Roboto"/>
                <a:cs typeface="Roboto"/>
              </a:defRPr>
            </a:pPr>
            <a:r>
              <a:rPr lang="en-US" sz="3200" b="0" dirty="0">
                <a:solidFill>
                  <a:srgbClr val="202124"/>
                </a:solidFill>
                <a:latin typeface="Roboto"/>
                <a:ea typeface="Roboto"/>
                <a:cs typeface="Roboto"/>
              </a:rPr>
              <a:t>References</a:t>
            </a:r>
          </a:p>
        </p:txBody>
      </p:sp>
      <p:sp>
        <p:nvSpPr>
          <p:cNvPr id="3" name="ref-number-11">
            <a:extLst>
              <a:ext uri="{FF2B5EF4-FFF2-40B4-BE49-F238E27FC236}">
                <a16:creationId xmlns:a16="http://schemas.microsoft.com/office/drawing/2014/main" id="{565BEFDF-341E-CDC0-A8F6-3F63D7B75A2B}"/>
              </a:ext>
            </a:extLst>
          </p:cNvPr>
          <p:cNvSpPr>
            <a:spLocks noGrp="1"/>
          </p:cNvSpPr>
          <p:nvPr/>
        </p:nvSpPr>
        <p:spPr>
          <a:xfrm>
            <a:off x="762000" y="14001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[11]</a:t>
            </a:r>
          </a:p>
        </p:txBody>
      </p:sp>
      <p:sp>
        <p:nvSpPr>
          <p:cNvPr id="6" name="ref-title-11">
            <a:extLst>
              <a:ext uri="{FF2B5EF4-FFF2-40B4-BE49-F238E27FC236}">
                <a16:creationId xmlns:a16="http://schemas.microsoft.com/office/drawing/2014/main" id="{325CAD5A-E533-9F40-367A-4B2AF0848C6B}"/>
              </a:ext>
            </a:extLst>
          </p:cNvPr>
          <p:cNvSpPr>
            <a:spLocks noGrp="1"/>
          </p:cNvSpPr>
          <p:nvPr/>
        </p:nvSpPr>
        <p:spPr>
          <a:xfrm>
            <a:off x="1409700" y="14001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B. Jacob et al. Quantization and Training of Neural Networks for Efficient Integer-Arithmetic-Only Inference.</a:t>
            </a:r>
          </a:p>
        </p:txBody>
      </p:sp>
      <p:sp>
        <p:nvSpPr>
          <p:cNvPr id="10" name="ref-venue-11">
            <a:extLst>
              <a:ext uri="{FF2B5EF4-FFF2-40B4-BE49-F238E27FC236}">
                <a16:creationId xmlns:a16="http://schemas.microsoft.com/office/drawing/2014/main" id="{89802A4F-8B9F-B632-B6D5-53DE2B93A602}"/>
              </a:ext>
            </a:extLst>
          </p:cNvPr>
          <p:cNvSpPr>
            <a:spLocks noGrp="1"/>
          </p:cNvSpPr>
          <p:nvPr/>
        </p:nvSpPr>
        <p:spPr>
          <a:xfrm>
            <a:off x="1409700" y="163353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CVPR, 2018, pp. 2704–2713.</a:t>
            </a:r>
          </a:p>
        </p:txBody>
      </p:sp>
      <p:sp>
        <p:nvSpPr>
          <p:cNvPr id="14" name="ref-link-11">
            <a:extLst>
              <a:ext uri="{FF2B5EF4-FFF2-40B4-BE49-F238E27FC236}">
                <a16:creationId xmlns:a16="http://schemas.microsoft.com/office/drawing/2014/main" id="{29F9B77A-7FD7-99DF-C07C-EE8EB59EB011}"/>
              </a:ext>
            </a:extLst>
          </p:cNvPr>
          <p:cNvSpPr>
            <a:spLocks noGrp="1"/>
          </p:cNvSpPr>
          <p:nvPr/>
        </p:nvSpPr>
        <p:spPr>
          <a:xfrm>
            <a:off x="1409700" y="185261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3"/>
              </a:rPr>
              <a:t>arxiv.org/abs/1712.05877</a:t>
            </a:r>
          </a:p>
        </p:txBody>
      </p:sp>
      <p:sp>
        <p:nvSpPr>
          <p:cNvPr id="18" name="ref-number-12">
            <a:extLst>
              <a:ext uri="{FF2B5EF4-FFF2-40B4-BE49-F238E27FC236}">
                <a16:creationId xmlns:a16="http://schemas.microsoft.com/office/drawing/2014/main" id="{DE8B9118-5DF0-9F8A-04E5-641884AE3C53}"/>
              </a:ext>
            </a:extLst>
          </p:cNvPr>
          <p:cNvSpPr>
            <a:spLocks noGrp="1"/>
          </p:cNvSpPr>
          <p:nvPr/>
        </p:nvSpPr>
        <p:spPr>
          <a:xfrm>
            <a:off x="762000" y="23717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[12]</a:t>
            </a:r>
          </a:p>
        </p:txBody>
      </p:sp>
      <p:sp>
        <p:nvSpPr>
          <p:cNvPr id="22" name="ref-title-12">
            <a:extLst>
              <a:ext uri="{FF2B5EF4-FFF2-40B4-BE49-F238E27FC236}">
                <a16:creationId xmlns:a16="http://schemas.microsoft.com/office/drawing/2014/main" id="{F024849A-4BE0-559D-9683-4B0DE8801825}"/>
              </a:ext>
            </a:extLst>
          </p:cNvPr>
          <p:cNvSpPr>
            <a:spLocks noGrp="1"/>
          </p:cNvSpPr>
          <p:nvPr/>
        </p:nvSpPr>
        <p:spPr>
          <a:xfrm>
            <a:off x="1409700" y="23717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NASA Visualization Technology Applications and Development. Curiosity 3D Model.</a:t>
            </a:r>
          </a:p>
        </p:txBody>
      </p:sp>
      <p:sp>
        <p:nvSpPr>
          <p:cNvPr id="26" name="ref-venue-12">
            <a:extLst>
              <a:ext uri="{FF2B5EF4-FFF2-40B4-BE49-F238E27FC236}">
                <a16:creationId xmlns:a16="http://schemas.microsoft.com/office/drawing/2014/main" id="{76BE68B3-154F-2175-3927-FE070B2D1F25}"/>
              </a:ext>
            </a:extLst>
          </p:cNvPr>
          <p:cNvSpPr>
            <a:spLocks noGrp="1"/>
          </p:cNvSpPr>
          <p:nvPr/>
        </p:nvSpPr>
        <p:spPr>
          <a:xfrm>
            <a:off x="1409700" y="260508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NASA Science, 22 April 2019.</a:t>
            </a:r>
          </a:p>
        </p:txBody>
      </p:sp>
      <p:sp>
        <p:nvSpPr>
          <p:cNvPr id="30" name="ref-link-12">
            <a:extLst>
              <a:ext uri="{FF2B5EF4-FFF2-40B4-BE49-F238E27FC236}">
                <a16:creationId xmlns:a16="http://schemas.microsoft.com/office/drawing/2014/main" id="{CF711D89-6489-0356-A22E-DDE749EA9523}"/>
              </a:ext>
            </a:extLst>
          </p:cNvPr>
          <p:cNvSpPr>
            <a:spLocks noGrp="1"/>
          </p:cNvSpPr>
          <p:nvPr/>
        </p:nvSpPr>
        <p:spPr>
          <a:xfrm>
            <a:off x="1409700" y="282416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4"/>
              </a:rPr>
              <a:t>science.nasa.gov/resource/curiosity-3d-model/</a:t>
            </a:r>
          </a:p>
        </p:txBody>
      </p:sp>
      <p:sp>
        <p:nvSpPr>
          <p:cNvPr id="34" name="ref-number-13">
            <a:extLst>
              <a:ext uri="{FF2B5EF4-FFF2-40B4-BE49-F238E27FC236}">
                <a16:creationId xmlns:a16="http://schemas.microsoft.com/office/drawing/2014/main" id="{FE3F6B81-D87E-A447-565F-F8DF8849AD48}"/>
              </a:ext>
            </a:extLst>
          </p:cNvPr>
          <p:cNvSpPr>
            <a:spLocks noGrp="1"/>
          </p:cNvSpPr>
          <p:nvPr/>
        </p:nvSpPr>
        <p:spPr>
          <a:xfrm>
            <a:off x="762000" y="33432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[13]</a:t>
            </a:r>
          </a:p>
        </p:txBody>
      </p:sp>
      <p:sp>
        <p:nvSpPr>
          <p:cNvPr id="37" name="ref-title-13">
            <a:extLst>
              <a:ext uri="{FF2B5EF4-FFF2-40B4-BE49-F238E27FC236}">
                <a16:creationId xmlns:a16="http://schemas.microsoft.com/office/drawing/2014/main" id="{1AC1527C-3165-EB7F-3CAF-05431708A481}"/>
              </a:ext>
            </a:extLst>
          </p:cNvPr>
          <p:cNvSpPr>
            <a:spLocks noGrp="1"/>
          </p:cNvSpPr>
          <p:nvPr/>
        </p:nvSpPr>
        <p:spPr>
          <a:xfrm>
            <a:off x="1409700" y="33432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HiRISE. Possible MSL Landing Site in Gale Crater.</a:t>
            </a:r>
          </a:p>
        </p:txBody>
      </p:sp>
      <p:sp>
        <p:nvSpPr>
          <p:cNvPr id="39" name="ref-venue-13">
            <a:extLst>
              <a:ext uri="{FF2B5EF4-FFF2-40B4-BE49-F238E27FC236}">
                <a16:creationId xmlns:a16="http://schemas.microsoft.com/office/drawing/2014/main" id="{87625E2A-1C63-2266-6C91-CD73BFA32D1D}"/>
              </a:ext>
            </a:extLst>
          </p:cNvPr>
          <p:cNvSpPr>
            <a:spLocks noGrp="1"/>
          </p:cNvSpPr>
          <p:nvPr/>
        </p:nvSpPr>
        <p:spPr>
          <a:xfrm>
            <a:off x="1409700" y="357663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DTM and orthoimage, PSP_010573_1755 and PSP_010639_1755.</a:t>
            </a:r>
          </a:p>
        </p:txBody>
      </p:sp>
      <p:sp>
        <p:nvSpPr>
          <p:cNvPr id="41" name="ref-link-13">
            <a:extLst>
              <a:ext uri="{FF2B5EF4-FFF2-40B4-BE49-F238E27FC236}">
                <a16:creationId xmlns:a16="http://schemas.microsoft.com/office/drawing/2014/main" id="{A04981A3-0668-0C7C-DAA6-07681E686CC9}"/>
              </a:ext>
            </a:extLst>
          </p:cNvPr>
          <p:cNvSpPr>
            <a:spLocks noGrp="1"/>
          </p:cNvSpPr>
          <p:nvPr/>
        </p:nvSpPr>
        <p:spPr>
          <a:xfrm>
            <a:off x="1409700" y="379571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dirty="0">
                <a:solidFill>
                  <a:srgbClr val="822433"/>
                </a:solidFill>
                <a:latin typeface="Roboto"/>
                <a:ea typeface="Roboto"/>
                <a:cs typeface="Roboto"/>
                <a:hlinkClick r:id="rId5"/>
              </a:rPr>
              <a:t>hirise.lpl.arizona.edu/</a:t>
            </a:r>
            <a:r>
              <a:rPr lang="en-US" sz="1275" b="0" dirty="0" err="1">
                <a:solidFill>
                  <a:srgbClr val="822433"/>
                </a:solidFill>
                <a:latin typeface="Roboto"/>
                <a:ea typeface="Roboto"/>
                <a:cs typeface="Roboto"/>
                <a:hlinkClick r:id="rId5"/>
              </a:rPr>
              <a:t>dtm</a:t>
            </a:r>
            <a:r>
              <a:rPr lang="en-US" sz="1275" b="0" dirty="0">
                <a:solidFill>
                  <a:srgbClr val="822433"/>
                </a:solidFill>
                <a:latin typeface="Roboto"/>
                <a:ea typeface="Roboto"/>
                <a:cs typeface="Roboto"/>
                <a:hlinkClick r:id="rId5"/>
              </a:rPr>
              <a:t>/</a:t>
            </a:r>
            <a:r>
              <a:rPr lang="en-US" sz="1275" b="0" dirty="0" err="1">
                <a:solidFill>
                  <a:srgbClr val="822433"/>
                </a:solidFill>
                <a:latin typeface="Roboto"/>
                <a:ea typeface="Roboto"/>
                <a:cs typeface="Roboto"/>
                <a:hlinkClick r:id="rId5"/>
              </a:rPr>
              <a:t>dtm.php?ID</a:t>
            </a:r>
            <a:r>
              <a:rPr lang="en-US" sz="1275" b="0" dirty="0">
                <a:solidFill>
                  <a:srgbClr val="822433"/>
                </a:solidFill>
                <a:latin typeface="Roboto"/>
                <a:ea typeface="Roboto"/>
                <a:cs typeface="Roboto"/>
                <a:hlinkClick r:id="rId5"/>
              </a:rPr>
              <a:t>=PSP_010573_1755</a:t>
            </a:r>
          </a:p>
        </p:txBody>
      </p:sp>
      <p:sp>
        <p:nvSpPr>
          <p:cNvPr id="43" name="ref-number-14">
            <a:extLst>
              <a:ext uri="{FF2B5EF4-FFF2-40B4-BE49-F238E27FC236}">
                <a16:creationId xmlns:a16="http://schemas.microsoft.com/office/drawing/2014/main" id="{AC6B1B1E-A916-03C9-0855-DF32E5CC4C9A}"/>
              </a:ext>
            </a:extLst>
          </p:cNvPr>
          <p:cNvSpPr>
            <a:spLocks noGrp="1"/>
          </p:cNvSpPr>
          <p:nvPr/>
        </p:nvSpPr>
        <p:spPr>
          <a:xfrm>
            <a:off x="762000" y="43148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[14]</a:t>
            </a:r>
          </a:p>
        </p:txBody>
      </p:sp>
      <p:sp>
        <p:nvSpPr>
          <p:cNvPr id="45" name="ref-title-14">
            <a:extLst>
              <a:ext uri="{FF2B5EF4-FFF2-40B4-BE49-F238E27FC236}">
                <a16:creationId xmlns:a16="http://schemas.microsoft.com/office/drawing/2014/main" id="{1509D3C1-18E5-F43F-6ABB-92537436C319}"/>
              </a:ext>
            </a:extLst>
          </p:cNvPr>
          <p:cNvSpPr>
            <a:spLocks noGrp="1"/>
          </p:cNvSpPr>
          <p:nvPr/>
        </p:nvSpPr>
        <p:spPr>
          <a:xfrm>
            <a:off x="1409700" y="43148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J. Tobin et al. Domain Randomization for Transferring Deep Neural Networks from Simulation to the Real World.</a:t>
            </a:r>
          </a:p>
        </p:txBody>
      </p:sp>
      <p:sp>
        <p:nvSpPr>
          <p:cNvPr id="47" name="ref-venue-14">
            <a:extLst>
              <a:ext uri="{FF2B5EF4-FFF2-40B4-BE49-F238E27FC236}">
                <a16:creationId xmlns:a16="http://schemas.microsoft.com/office/drawing/2014/main" id="{90CA55B2-5AFA-DDBF-83C5-9BCD4AFB0351}"/>
              </a:ext>
            </a:extLst>
          </p:cNvPr>
          <p:cNvSpPr>
            <a:spLocks noGrp="1"/>
          </p:cNvSpPr>
          <p:nvPr/>
        </p:nvSpPr>
        <p:spPr>
          <a:xfrm>
            <a:off x="1409700" y="454818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IEEE/RSJ IROS, 2017, pp. 23–30.</a:t>
            </a:r>
          </a:p>
        </p:txBody>
      </p:sp>
      <p:sp>
        <p:nvSpPr>
          <p:cNvPr id="49" name="ref-link-14">
            <a:extLst>
              <a:ext uri="{FF2B5EF4-FFF2-40B4-BE49-F238E27FC236}">
                <a16:creationId xmlns:a16="http://schemas.microsoft.com/office/drawing/2014/main" id="{A92D3111-7D97-4187-34D5-16CB163567D6}"/>
              </a:ext>
            </a:extLst>
          </p:cNvPr>
          <p:cNvSpPr>
            <a:spLocks noGrp="1"/>
          </p:cNvSpPr>
          <p:nvPr/>
        </p:nvSpPr>
        <p:spPr>
          <a:xfrm>
            <a:off x="1409700" y="476726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6"/>
              </a:rPr>
              <a:t>doi: 10.1109/IROS.2017.8202133</a:t>
            </a:r>
          </a:p>
        </p:txBody>
      </p:sp>
      <p:sp>
        <p:nvSpPr>
          <p:cNvPr id="51" name="ref-number-15">
            <a:extLst>
              <a:ext uri="{FF2B5EF4-FFF2-40B4-BE49-F238E27FC236}">
                <a16:creationId xmlns:a16="http://schemas.microsoft.com/office/drawing/2014/main" id="{EC736862-BAD5-A7E5-AA8C-B0C385FFCE17}"/>
              </a:ext>
            </a:extLst>
          </p:cNvPr>
          <p:cNvSpPr>
            <a:spLocks noGrp="1"/>
          </p:cNvSpPr>
          <p:nvPr/>
        </p:nvSpPr>
        <p:spPr>
          <a:xfrm>
            <a:off x="762000" y="52863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[15]</a:t>
            </a:r>
          </a:p>
        </p:txBody>
      </p:sp>
      <p:sp>
        <p:nvSpPr>
          <p:cNvPr id="53" name="ref-title-15">
            <a:extLst>
              <a:ext uri="{FF2B5EF4-FFF2-40B4-BE49-F238E27FC236}">
                <a16:creationId xmlns:a16="http://schemas.microsoft.com/office/drawing/2014/main" id="{8188A915-CA54-75A2-D2D0-3F65597B8CC3}"/>
              </a:ext>
            </a:extLst>
          </p:cNvPr>
          <p:cNvSpPr>
            <a:spLocks noGrp="1"/>
          </p:cNvSpPr>
          <p:nvPr/>
        </p:nvSpPr>
        <p:spPr>
          <a:xfrm>
            <a:off x="1409700" y="52863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P. Bergmann et al. MVTec AD: A Comprehensive Real-World Dataset for Unsupervised Anomaly Detection.</a:t>
            </a:r>
          </a:p>
        </p:txBody>
      </p:sp>
      <p:sp>
        <p:nvSpPr>
          <p:cNvPr id="55" name="ref-venue-15">
            <a:extLst>
              <a:ext uri="{FF2B5EF4-FFF2-40B4-BE49-F238E27FC236}">
                <a16:creationId xmlns:a16="http://schemas.microsoft.com/office/drawing/2014/main" id="{A39FFE36-0AB7-6B5C-0813-B6F514873DFF}"/>
              </a:ext>
            </a:extLst>
          </p:cNvPr>
          <p:cNvSpPr>
            <a:spLocks noGrp="1"/>
          </p:cNvSpPr>
          <p:nvPr/>
        </p:nvSpPr>
        <p:spPr>
          <a:xfrm>
            <a:off x="1409700" y="551973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CVPR, 2019, pp. 9584–9592.</a:t>
            </a:r>
          </a:p>
        </p:txBody>
      </p:sp>
      <p:sp>
        <p:nvSpPr>
          <p:cNvPr id="57" name="ref-link-15">
            <a:extLst>
              <a:ext uri="{FF2B5EF4-FFF2-40B4-BE49-F238E27FC236}">
                <a16:creationId xmlns:a16="http://schemas.microsoft.com/office/drawing/2014/main" id="{DF69B8D8-422E-7C21-2011-28CC15B6A3AF}"/>
              </a:ext>
            </a:extLst>
          </p:cNvPr>
          <p:cNvSpPr>
            <a:spLocks noGrp="1"/>
          </p:cNvSpPr>
          <p:nvPr/>
        </p:nvSpPr>
        <p:spPr>
          <a:xfrm>
            <a:off x="1409700" y="573881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7"/>
              </a:rPr>
              <a:t>doi: 10.1109/CVPR.2019.00982</a:t>
            </a:r>
          </a:p>
        </p:txBody>
      </p:sp>
    </p:spTree>
    <p:extLst>
      <p:ext uri="{BB962C8B-B14F-4D97-AF65-F5344CB8AC3E}">
        <p14:creationId xmlns:p14="http://schemas.microsoft.com/office/powerpoint/2010/main" val="240506975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8ECB4-4F84-2D53-0116-86C33BF71553}"/>
            </a:ext>
          </a:extLst>
        </p:cNvPr>
        <p:cNvGrpSpPr/>
        <p:nvPr/>
      </p:nvGrpSpPr>
      <p:grpSpPr>
        <a:xfrm>
          <a:off x="0" y="0"/>
          <a:ext cx="0" cy="0"/>
          <a:chOff x="0" y="0"/>
          <a:chExt cx="0" cy="0"/>
        </a:xfrm>
      </p:grpSpPr>
      <p:sp>
        <p:nvSpPr>
          <p:cNvPr id="5" name="slide-title">
            <a:extLst>
              <a:ext uri="{FF2B5EF4-FFF2-40B4-BE49-F238E27FC236}">
                <a16:creationId xmlns:a16="http://schemas.microsoft.com/office/drawing/2014/main" id="{2252B152-DCA6-4692-7EBA-165BDDC6D93A}"/>
              </a:ext>
            </a:extLst>
          </p:cNvPr>
          <p:cNvSpPr>
            <a:spLocks noGrp="1"/>
          </p:cNvSpPr>
          <p:nvPr/>
        </p:nvSpPr>
        <p:spPr>
          <a:xfrm>
            <a:off x="762000" y="485775"/>
            <a:ext cx="9858375" cy="857250"/>
          </a:xfrm>
          <a:prstGeom prst="rect">
            <a:avLst/>
          </a:prstGeom>
          <a:noFill/>
          <a:ln w="0">
            <a:noFill/>
          </a:ln>
        </p:spPr>
        <p:txBody>
          <a:bodyPr wrap="square" lIns="0" tIns="0" rIns="0" bIns="0" anchor="t">
            <a:noAutofit/>
          </a:bodyPr>
          <a:lstStyle>
            <a:defPPr algn="l">
              <a:defRPr lang="en-US" sz="3200" b="0">
                <a:solidFill>
                  <a:srgbClr val="202124"/>
                </a:solidFill>
                <a:latin typeface="Roboto"/>
                <a:ea typeface="Roboto"/>
                <a:cs typeface="Roboto"/>
              </a:defRPr>
            </a:defPPr>
            <a:lvl1pPr algn="l">
              <a:defRPr lang="en-US" sz="3200" b="0">
                <a:solidFill>
                  <a:srgbClr val="202124"/>
                </a:solidFill>
                <a:latin typeface="Roboto"/>
                <a:ea typeface="Roboto"/>
                <a:cs typeface="Roboto"/>
              </a:defRPr>
            </a:lvl1pPr>
            <a:lvl2pPr algn="l">
              <a:defRPr lang="en-US" sz="3200" b="0">
                <a:solidFill>
                  <a:srgbClr val="202124"/>
                </a:solidFill>
                <a:latin typeface="Roboto"/>
                <a:ea typeface="Roboto"/>
                <a:cs typeface="Roboto"/>
              </a:defRPr>
            </a:lvl2pPr>
            <a:lvl3pPr algn="l">
              <a:defRPr lang="en-US" sz="3200" b="0">
                <a:solidFill>
                  <a:srgbClr val="202124"/>
                </a:solidFill>
                <a:latin typeface="Roboto"/>
                <a:ea typeface="Roboto"/>
                <a:cs typeface="Roboto"/>
              </a:defRPr>
            </a:lvl3pPr>
            <a:lvl4pPr algn="l">
              <a:defRPr lang="en-US" sz="3200" b="0">
                <a:solidFill>
                  <a:srgbClr val="202124"/>
                </a:solidFill>
                <a:latin typeface="Roboto"/>
                <a:ea typeface="Roboto"/>
                <a:cs typeface="Roboto"/>
              </a:defRPr>
            </a:lvl4pPr>
            <a:lvl5pPr algn="l">
              <a:defRPr lang="en-US" sz="3200" b="0">
                <a:solidFill>
                  <a:srgbClr val="202124"/>
                </a:solidFill>
                <a:latin typeface="Roboto"/>
                <a:ea typeface="Roboto"/>
                <a:cs typeface="Roboto"/>
              </a:defRPr>
            </a:lvl5pPr>
            <a:lvl6pPr algn="l">
              <a:defRPr lang="en-US" sz="3200" b="0">
                <a:solidFill>
                  <a:srgbClr val="202124"/>
                </a:solidFill>
                <a:latin typeface="Roboto"/>
                <a:ea typeface="Roboto"/>
                <a:cs typeface="Roboto"/>
              </a:defRPr>
            </a:lvl6pPr>
            <a:lvl7pPr algn="l">
              <a:defRPr lang="en-US" sz="3200" b="0">
                <a:solidFill>
                  <a:srgbClr val="202124"/>
                </a:solidFill>
                <a:latin typeface="Roboto"/>
                <a:ea typeface="Roboto"/>
                <a:cs typeface="Roboto"/>
              </a:defRPr>
            </a:lvl7pPr>
            <a:lvl8pPr algn="l">
              <a:defRPr lang="en-US" sz="3200" b="0">
                <a:solidFill>
                  <a:srgbClr val="202124"/>
                </a:solidFill>
                <a:latin typeface="Roboto"/>
                <a:ea typeface="Roboto"/>
                <a:cs typeface="Roboto"/>
              </a:defRPr>
            </a:lvl8pPr>
            <a:lvl9pPr algn="l">
              <a:defRPr lang="en-US" sz="3200" b="0">
                <a:solidFill>
                  <a:srgbClr val="202124"/>
                </a:solidFill>
                <a:latin typeface="Roboto"/>
                <a:ea typeface="Roboto"/>
                <a:cs typeface="Roboto"/>
              </a:defRPr>
            </a:lvl9pPr>
          </a:lstStyle>
          <a:p>
            <a:pPr algn="l">
              <a:defRPr lang="en-US" sz="3200" b="0">
                <a:solidFill>
                  <a:srgbClr val="202124"/>
                </a:solidFill>
                <a:latin typeface="Roboto"/>
                <a:ea typeface="Roboto"/>
                <a:cs typeface="Roboto"/>
              </a:defRPr>
            </a:pPr>
            <a:r>
              <a:rPr lang="en-US" sz="3200" b="0" dirty="0">
                <a:solidFill>
                  <a:srgbClr val="202124"/>
                </a:solidFill>
                <a:latin typeface="Roboto"/>
                <a:ea typeface="Roboto"/>
                <a:cs typeface="Roboto"/>
              </a:rPr>
              <a:t>References</a:t>
            </a:r>
          </a:p>
        </p:txBody>
      </p:sp>
      <p:sp>
        <p:nvSpPr>
          <p:cNvPr id="4" name="ref-number-16">
            <a:extLst>
              <a:ext uri="{FF2B5EF4-FFF2-40B4-BE49-F238E27FC236}">
                <a16:creationId xmlns:a16="http://schemas.microsoft.com/office/drawing/2014/main" id="{4652C0B3-28E8-167F-6EAD-A324C0ADDD66}"/>
              </a:ext>
            </a:extLst>
          </p:cNvPr>
          <p:cNvSpPr>
            <a:spLocks noGrp="1"/>
          </p:cNvSpPr>
          <p:nvPr/>
        </p:nvSpPr>
        <p:spPr>
          <a:xfrm>
            <a:off x="762000" y="14001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[16]</a:t>
            </a:r>
          </a:p>
        </p:txBody>
      </p:sp>
      <p:sp>
        <p:nvSpPr>
          <p:cNvPr id="8" name="ref-title-16">
            <a:extLst>
              <a:ext uri="{FF2B5EF4-FFF2-40B4-BE49-F238E27FC236}">
                <a16:creationId xmlns:a16="http://schemas.microsoft.com/office/drawing/2014/main" id="{F1855BDD-AAB5-498E-326A-E555710F21C9}"/>
              </a:ext>
            </a:extLst>
          </p:cNvPr>
          <p:cNvSpPr>
            <a:spLocks noGrp="1"/>
          </p:cNvSpPr>
          <p:nvPr/>
        </p:nvSpPr>
        <p:spPr>
          <a:xfrm>
            <a:off x="1409700" y="14001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K. Roth et al. Towards Total Recall in Industrial Anomaly Detection.</a:t>
            </a:r>
          </a:p>
        </p:txBody>
      </p:sp>
      <p:sp>
        <p:nvSpPr>
          <p:cNvPr id="11" name="ref-venue-16">
            <a:extLst>
              <a:ext uri="{FF2B5EF4-FFF2-40B4-BE49-F238E27FC236}">
                <a16:creationId xmlns:a16="http://schemas.microsoft.com/office/drawing/2014/main" id="{FBB04C09-D8CA-8FE4-5A33-403390C15BD1}"/>
              </a:ext>
            </a:extLst>
          </p:cNvPr>
          <p:cNvSpPr>
            <a:spLocks noGrp="1"/>
          </p:cNvSpPr>
          <p:nvPr/>
        </p:nvSpPr>
        <p:spPr>
          <a:xfrm>
            <a:off x="1409700" y="163353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CVPR, 2022, pp. 14318–14328.</a:t>
            </a:r>
          </a:p>
        </p:txBody>
      </p:sp>
      <p:sp>
        <p:nvSpPr>
          <p:cNvPr id="13" name="ref-link-16">
            <a:extLst>
              <a:ext uri="{FF2B5EF4-FFF2-40B4-BE49-F238E27FC236}">
                <a16:creationId xmlns:a16="http://schemas.microsoft.com/office/drawing/2014/main" id="{AF67AF79-CB36-89C6-40E3-2A138CA241C7}"/>
              </a:ext>
            </a:extLst>
          </p:cNvPr>
          <p:cNvSpPr>
            <a:spLocks noGrp="1"/>
          </p:cNvSpPr>
          <p:nvPr/>
        </p:nvSpPr>
        <p:spPr>
          <a:xfrm>
            <a:off x="1409700" y="185261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3"/>
              </a:rPr>
              <a:t>arxiv.org/abs/2106.08265</a:t>
            </a:r>
          </a:p>
        </p:txBody>
      </p:sp>
      <p:sp>
        <p:nvSpPr>
          <p:cNvPr id="16" name="ref-number-17">
            <a:extLst>
              <a:ext uri="{FF2B5EF4-FFF2-40B4-BE49-F238E27FC236}">
                <a16:creationId xmlns:a16="http://schemas.microsoft.com/office/drawing/2014/main" id="{79FC4092-FFF5-4B74-D689-0F80DB42B9F5}"/>
              </a:ext>
            </a:extLst>
          </p:cNvPr>
          <p:cNvSpPr>
            <a:spLocks noGrp="1"/>
          </p:cNvSpPr>
          <p:nvPr/>
        </p:nvSpPr>
        <p:spPr>
          <a:xfrm>
            <a:off x="762000" y="23717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[17]</a:t>
            </a:r>
          </a:p>
        </p:txBody>
      </p:sp>
      <p:sp>
        <p:nvSpPr>
          <p:cNvPr id="19" name="ref-title-17">
            <a:extLst>
              <a:ext uri="{FF2B5EF4-FFF2-40B4-BE49-F238E27FC236}">
                <a16:creationId xmlns:a16="http://schemas.microsoft.com/office/drawing/2014/main" id="{65712436-652E-EA09-E670-172794677CFE}"/>
              </a:ext>
            </a:extLst>
          </p:cNvPr>
          <p:cNvSpPr>
            <a:spLocks noGrp="1"/>
          </p:cNvSpPr>
          <p:nvPr/>
        </p:nvSpPr>
        <p:spPr>
          <a:xfrm>
            <a:off x="1409700" y="23717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dirty="0">
                <a:solidFill>
                  <a:srgbClr val="202124"/>
                </a:solidFill>
                <a:latin typeface="Roboto"/>
                <a:ea typeface="Roboto"/>
                <a:cs typeface="Roboto"/>
              </a:rPr>
              <a:t>K. </a:t>
            </a:r>
            <a:r>
              <a:rPr lang="en-US" sz="1538" b="0" dirty="0" err="1">
                <a:solidFill>
                  <a:srgbClr val="202124"/>
                </a:solidFill>
                <a:latin typeface="Roboto"/>
                <a:ea typeface="Roboto"/>
                <a:cs typeface="Roboto"/>
              </a:rPr>
              <a:t>Batzner</a:t>
            </a:r>
            <a:r>
              <a:rPr lang="en-US" sz="1538" b="0" dirty="0">
                <a:solidFill>
                  <a:srgbClr val="202124"/>
                </a:solidFill>
                <a:latin typeface="Roboto"/>
                <a:ea typeface="Roboto"/>
                <a:cs typeface="Roboto"/>
              </a:rPr>
              <a:t>, L. Heckler and R. König. EfficientAD: Accurate Visual Anomaly Detection at Millisecond-Level Latencies.</a:t>
            </a:r>
          </a:p>
        </p:txBody>
      </p:sp>
      <p:sp>
        <p:nvSpPr>
          <p:cNvPr id="21" name="ref-venue-17">
            <a:extLst>
              <a:ext uri="{FF2B5EF4-FFF2-40B4-BE49-F238E27FC236}">
                <a16:creationId xmlns:a16="http://schemas.microsoft.com/office/drawing/2014/main" id="{8DD79526-C41C-CE30-99CA-9E8C49D11EB5}"/>
              </a:ext>
            </a:extLst>
          </p:cNvPr>
          <p:cNvSpPr>
            <a:spLocks noGrp="1"/>
          </p:cNvSpPr>
          <p:nvPr/>
        </p:nvSpPr>
        <p:spPr>
          <a:xfrm>
            <a:off x="1409700" y="260508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WACV, 2024, pp. 128–138.</a:t>
            </a:r>
          </a:p>
        </p:txBody>
      </p:sp>
      <p:sp>
        <p:nvSpPr>
          <p:cNvPr id="24" name="ref-link-17">
            <a:extLst>
              <a:ext uri="{FF2B5EF4-FFF2-40B4-BE49-F238E27FC236}">
                <a16:creationId xmlns:a16="http://schemas.microsoft.com/office/drawing/2014/main" id="{E8A8DBC0-3B69-EA26-2E18-CD4A9B37C047}"/>
              </a:ext>
            </a:extLst>
          </p:cNvPr>
          <p:cNvSpPr>
            <a:spLocks noGrp="1"/>
          </p:cNvSpPr>
          <p:nvPr/>
        </p:nvSpPr>
        <p:spPr>
          <a:xfrm>
            <a:off x="1409700" y="282416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4"/>
              </a:rPr>
              <a:t>arxiv.org/abs/2303.14535</a:t>
            </a:r>
          </a:p>
        </p:txBody>
      </p:sp>
      <p:sp>
        <p:nvSpPr>
          <p:cNvPr id="27" name="ref-number-18">
            <a:extLst>
              <a:ext uri="{FF2B5EF4-FFF2-40B4-BE49-F238E27FC236}">
                <a16:creationId xmlns:a16="http://schemas.microsoft.com/office/drawing/2014/main" id="{0333A43C-4B6F-6F25-ADF8-518AE10E9E5E}"/>
              </a:ext>
            </a:extLst>
          </p:cNvPr>
          <p:cNvSpPr>
            <a:spLocks noGrp="1"/>
          </p:cNvSpPr>
          <p:nvPr/>
        </p:nvSpPr>
        <p:spPr>
          <a:xfrm>
            <a:off x="762000" y="33432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[18]</a:t>
            </a:r>
          </a:p>
        </p:txBody>
      </p:sp>
      <p:sp>
        <p:nvSpPr>
          <p:cNvPr id="29" name="ref-title-18">
            <a:extLst>
              <a:ext uri="{FF2B5EF4-FFF2-40B4-BE49-F238E27FC236}">
                <a16:creationId xmlns:a16="http://schemas.microsoft.com/office/drawing/2014/main" id="{7EE751B4-7402-D159-AC31-041B5EEDE99A}"/>
              </a:ext>
            </a:extLst>
          </p:cNvPr>
          <p:cNvSpPr>
            <a:spLocks noGrp="1"/>
          </p:cNvSpPr>
          <p:nvPr/>
        </p:nvSpPr>
        <p:spPr>
          <a:xfrm>
            <a:off x="1409700" y="33432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dirty="0">
                <a:solidFill>
                  <a:srgbClr val="202124"/>
                </a:solidFill>
                <a:latin typeface="Roboto"/>
                <a:ea typeface="Roboto"/>
                <a:cs typeface="Roboto"/>
              </a:rPr>
              <a:t>B. </a:t>
            </a:r>
            <a:r>
              <a:rPr lang="en-US" sz="1538" b="0" dirty="0" err="1">
                <a:solidFill>
                  <a:srgbClr val="202124"/>
                </a:solidFill>
                <a:latin typeface="Roboto"/>
                <a:ea typeface="Roboto"/>
                <a:cs typeface="Roboto"/>
              </a:rPr>
              <a:t>Rolih</a:t>
            </a:r>
            <a:r>
              <a:rPr lang="en-US" sz="1538" b="0" dirty="0">
                <a:solidFill>
                  <a:srgbClr val="202124"/>
                </a:solidFill>
                <a:latin typeface="Roboto"/>
                <a:ea typeface="Roboto"/>
                <a:cs typeface="Roboto"/>
              </a:rPr>
              <a:t>, M. </a:t>
            </a:r>
            <a:r>
              <a:rPr lang="en-US" sz="1538" b="0" dirty="0" err="1">
                <a:solidFill>
                  <a:srgbClr val="202124"/>
                </a:solidFill>
                <a:latin typeface="Roboto"/>
                <a:ea typeface="Roboto"/>
                <a:cs typeface="Roboto"/>
              </a:rPr>
              <a:t>Fučka</a:t>
            </a:r>
            <a:r>
              <a:rPr lang="en-US" sz="1538" b="0" dirty="0">
                <a:solidFill>
                  <a:srgbClr val="202124"/>
                </a:solidFill>
                <a:latin typeface="Roboto"/>
                <a:ea typeface="Roboto"/>
                <a:cs typeface="Roboto"/>
              </a:rPr>
              <a:t> and D. </a:t>
            </a:r>
            <a:r>
              <a:rPr lang="en-US" sz="1538" b="0" dirty="0" err="1">
                <a:solidFill>
                  <a:srgbClr val="202124"/>
                </a:solidFill>
                <a:latin typeface="Roboto"/>
                <a:ea typeface="Roboto"/>
                <a:cs typeface="Roboto"/>
              </a:rPr>
              <a:t>Skočaj</a:t>
            </a:r>
            <a:r>
              <a:rPr lang="en-US" sz="1538" b="0" dirty="0">
                <a:solidFill>
                  <a:srgbClr val="202124"/>
                </a:solidFill>
                <a:latin typeface="Roboto"/>
                <a:ea typeface="Roboto"/>
                <a:cs typeface="Roboto"/>
              </a:rPr>
              <a:t>. SuperSimpleNet: Unifying Unsupervised and Supervised Learning for Fast and Reliable Surface Defect Detection.</a:t>
            </a:r>
          </a:p>
        </p:txBody>
      </p:sp>
      <p:sp>
        <p:nvSpPr>
          <p:cNvPr id="32" name="ref-venue-18">
            <a:extLst>
              <a:ext uri="{FF2B5EF4-FFF2-40B4-BE49-F238E27FC236}">
                <a16:creationId xmlns:a16="http://schemas.microsoft.com/office/drawing/2014/main" id="{4DD9BEB6-647B-37F1-8610-120CB9AA5547}"/>
              </a:ext>
            </a:extLst>
          </p:cNvPr>
          <p:cNvSpPr>
            <a:spLocks noGrp="1"/>
          </p:cNvSpPr>
          <p:nvPr/>
        </p:nvSpPr>
        <p:spPr>
          <a:xfrm>
            <a:off x="1409700" y="384810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ICPR 2024, LNCS 15310, Springer, 2025, pp. 47–65.</a:t>
            </a:r>
          </a:p>
        </p:txBody>
      </p:sp>
      <p:sp>
        <p:nvSpPr>
          <p:cNvPr id="35" name="ref-link-18">
            <a:extLst>
              <a:ext uri="{FF2B5EF4-FFF2-40B4-BE49-F238E27FC236}">
                <a16:creationId xmlns:a16="http://schemas.microsoft.com/office/drawing/2014/main" id="{01FC4B5F-1686-0ACC-D335-73FD8943F85E}"/>
              </a:ext>
            </a:extLst>
          </p:cNvPr>
          <p:cNvSpPr>
            <a:spLocks noGrp="1"/>
          </p:cNvSpPr>
          <p:nvPr/>
        </p:nvSpPr>
        <p:spPr>
          <a:xfrm>
            <a:off x="1409700" y="406717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5"/>
              </a:rPr>
              <a:t>doi: 10.1007/978-3-031-78192-6_4</a:t>
            </a:r>
          </a:p>
        </p:txBody>
      </p:sp>
      <p:sp>
        <p:nvSpPr>
          <p:cNvPr id="38" name="ref-number-19">
            <a:extLst>
              <a:ext uri="{FF2B5EF4-FFF2-40B4-BE49-F238E27FC236}">
                <a16:creationId xmlns:a16="http://schemas.microsoft.com/office/drawing/2014/main" id="{761407C1-B46B-0893-39FC-5052BFF36BC1}"/>
              </a:ext>
            </a:extLst>
          </p:cNvPr>
          <p:cNvSpPr>
            <a:spLocks noGrp="1"/>
          </p:cNvSpPr>
          <p:nvPr/>
        </p:nvSpPr>
        <p:spPr>
          <a:xfrm>
            <a:off x="762000" y="43148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[19]</a:t>
            </a:r>
          </a:p>
        </p:txBody>
      </p:sp>
      <p:sp>
        <p:nvSpPr>
          <p:cNvPr id="42" name="ref-title-19">
            <a:extLst>
              <a:ext uri="{FF2B5EF4-FFF2-40B4-BE49-F238E27FC236}">
                <a16:creationId xmlns:a16="http://schemas.microsoft.com/office/drawing/2014/main" id="{8A19A991-154E-29CF-1DE8-CCA322112B50}"/>
              </a:ext>
            </a:extLst>
          </p:cNvPr>
          <p:cNvSpPr>
            <a:spLocks noGrp="1"/>
          </p:cNvSpPr>
          <p:nvPr/>
        </p:nvSpPr>
        <p:spPr>
          <a:xfrm>
            <a:off x="1409700" y="43148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B. Rolih, M. Fučka and D. Skočaj. No Label Left Behind: A Unified Surface Defect Detection Model for All Supervision Regimes.</a:t>
            </a:r>
          </a:p>
        </p:txBody>
      </p:sp>
      <p:sp>
        <p:nvSpPr>
          <p:cNvPr id="46" name="ref-venue-19">
            <a:extLst>
              <a:ext uri="{FF2B5EF4-FFF2-40B4-BE49-F238E27FC236}">
                <a16:creationId xmlns:a16="http://schemas.microsoft.com/office/drawing/2014/main" id="{7D90B736-2565-056D-C80B-0864F3CBA0F5}"/>
              </a:ext>
            </a:extLst>
          </p:cNvPr>
          <p:cNvSpPr>
            <a:spLocks noGrp="1"/>
          </p:cNvSpPr>
          <p:nvPr/>
        </p:nvSpPr>
        <p:spPr>
          <a:xfrm>
            <a:off x="1409700" y="481965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Journal of Intelligent Manufacturing, vol. 37, 2026, pp. 3189–3209.</a:t>
            </a:r>
          </a:p>
        </p:txBody>
      </p:sp>
      <p:sp>
        <p:nvSpPr>
          <p:cNvPr id="50" name="ref-link-19">
            <a:extLst>
              <a:ext uri="{FF2B5EF4-FFF2-40B4-BE49-F238E27FC236}">
                <a16:creationId xmlns:a16="http://schemas.microsoft.com/office/drawing/2014/main" id="{9A371867-7D84-96C5-7F86-84808D67C29B}"/>
              </a:ext>
            </a:extLst>
          </p:cNvPr>
          <p:cNvSpPr>
            <a:spLocks noGrp="1"/>
          </p:cNvSpPr>
          <p:nvPr/>
        </p:nvSpPr>
        <p:spPr>
          <a:xfrm>
            <a:off x="1409700" y="503872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6"/>
              </a:rPr>
              <a:t>doi: 10.1007/s10845-025-02680-8</a:t>
            </a:r>
          </a:p>
        </p:txBody>
      </p:sp>
      <p:sp>
        <p:nvSpPr>
          <p:cNvPr id="54" name="ref-number-20">
            <a:extLst>
              <a:ext uri="{FF2B5EF4-FFF2-40B4-BE49-F238E27FC236}">
                <a16:creationId xmlns:a16="http://schemas.microsoft.com/office/drawing/2014/main" id="{ABBF4884-3BAF-05F3-3E6A-A35FC6E52AE4}"/>
              </a:ext>
            </a:extLst>
          </p:cNvPr>
          <p:cNvSpPr>
            <a:spLocks noGrp="1"/>
          </p:cNvSpPr>
          <p:nvPr/>
        </p:nvSpPr>
        <p:spPr>
          <a:xfrm>
            <a:off x="762000" y="52863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[20]</a:t>
            </a:r>
          </a:p>
        </p:txBody>
      </p:sp>
      <p:sp>
        <p:nvSpPr>
          <p:cNvPr id="58" name="ref-title-20">
            <a:extLst>
              <a:ext uri="{FF2B5EF4-FFF2-40B4-BE49-F238E27FC236}">
                <a16:creationId xmlns:a16="http://schemas.microsoft.com/office/drawing/2014/main" id="{132BECD1-4465-50E1-1E38-E47521D25CE1}"/>
              </a:ext>
            </a:extLst>
          </p:cNvPr>
          <p:cNvSpPr>
            <a:spLocks noGrp="1"/>
          </p:cNvSpPr>
          <p:nvPr/>
        </p:nvSpPr>
        <p:spPr>
          <a:xfrm>
            <a:off x="1409700" y="52863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dirty="0">
                <a:solidFill>
                  <a:srgbClr val="202124"/>
                </a:solidFill>
                <a:latin typeface="Roboto"/>
                <a:ea typeface="Roboto"/>
                <a:cs typeface="Roboto"/>
              </a:rPr>
              <a:t>P. Bonazzi et al. TinyGLASS: Real-Time Self-Supervised In-Sensor Anomaly Detection.</a:t>
            </a:r>
          </a:p>
        </p:txBody>
      </p:sp>
      <p:sp>
        <p:nvSpPr>
          <p:cNvPr id="60" name="ref-venue-20">
            <a:extLst>
              <a:ext uri="{FF2B5EF4-FFF2-40B4-BE49-F238E27FC236}">
                <a16:creationId xmlns:a16="http://schemas.microsoft.com/office/drawing/2014/main" id="{DF021030-E9F8-1106-FD32-7CD0CD434FC6}"/>
              </a:ext>
            </a:extLst>
          </p:cNvPr>
          <p:cNvSpPr>
            <a:spLocks noGrp="1"/>
          </p:cNvSpPr>
          <p:nvPr/>
        </p:nvSpPr>
        <p:spPr>
          <a:xfrm>
            <a:off x="1409700" y="551973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arXiv:2603.16451v3, 2026. Accepted at AICAS 2026.</a:t>
            </a:r>
          </a:p>
        </p:txBody>
      </p:sp>
      <p:sp>
        <p:nvSpPr>
          <p:cNvPr id="62" name="ref-link-20">
            <a:extLst>
              <a:ext uri="{FF2B5EF4-FFF2-40B4-BE49-F238E27FC236}">
                <a16:creationId xmlns:a16="http://schemas.microsoft.com/office/drawing/2014/main" id="{6530BCF0-A591-D5ED-9E89-D282E01540C8}"/>
              </a:ext>
            </a:extLst>
          </p:cNvPr>
          <p:cNvSpPr>
            <a:spLocks noGrp="1"/>
          </p:cNvSpPr>
          <p:nvPr/>
        </p:nvSpPr>
        <p:spPr>
          <a:xfrm>
            <a:off x="1409700" y="573881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dirty="0">
                <a:solidFill>
                  <a:srgbClr val="822433"/>
                </a:solidFill>
                <a:latin typeface="Roboto"/>
                <a:ea typeface="Roboto"/>
                <a:cs typeface="Roboto"/>
                <a:hlinkClick r:id="rId7"/>
              </a:rPr>
              <a:t>arxiv.org/abs/2603.16451v3</a:t>
            </a:r>
          </a:p>
        </p:txBody>
      </p:sp>
    </p:spTree>
    <p:extLst>
      <p:ext uri="{BB962C8B-B14F-4D97-AF65-F5344CB8AC3E}">
        <p14:creationId xmlns:p14="http://schemas.microsoft.com/office/powerpoint/2010/main" val="20895755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EFA7B-AE05-0E93-F6DA-08BF15B9696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69F7ED5-325C-0858-A07E-DD81E90EB74E}"/>
              </a:ext>
            </a:extLst>
          </p:cNvPr>
          <p:cNvSpPr>
            <a:spLocks noGrp="1"/>
          </p:cNvSpPr>
          <p:nvPr>
            <p:ph type="title"/>
          </p:nvPr>
        </p:nvSpPr>
        <p:spPr>
          <a:xfrm>
            <a:off x="838200" y="365125"/>
            <a:ext cx="8384177" cy="835787"/>
          </a:xfrm>
        </p:spPr>
        <p:txBody>
          <a:bodyPr/>
          <a:lstStyle/>
          <a:p>
            <a:r>
              <a:rPr lang="en-US" noProof="0" dirty="0">
                <a:solidFill>
                  <a:srgbClr val="822433"/>
                </a:solidFill>
              </a:rPr>
              <a:t>Extra: variations</a:t>
            </a:r>
          </a:p>
        </p:txBody>
      </p:sp>
      <p:sp>
        <p:nvSpPr>
          <p:cNvPr id="4" name="Google Shape;102;p14">
            <a:extLst>
              <a:ext uri="{FF2B5EF4-FFF2-40B4-BE49-F238E27FC236}">
                <a16:creationId xmlns:a16="http://schemas.microsoft.com/office/drawing/2014/main" id="{50753634-C5AA-8F05-2C47-1F18EC91E80F}"/>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37</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146DF103-68A5-4471-67BA-0ABE7A64E136}"/>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12" name="Immagine 11">
            <a:extLst>
              <a:ext uri="{FF2B5EF4-FFF2-40B4-BE49-F238E27FC236}">
                <a16:creationId xmlns:a16="http://schemas.microsoft.com/office/drawing/2014/main" id="{994A5306-9AB1-EB3A-9F4B-62E554A0C662}"/>
              </a:ext>
            </a:extLst>
          </p:cNvPr>
          <p:cNvPicPr>
            <a:picLocks noChangeAspect="1"/>
          </p:cNvPicPr>
          <p:nvPr/>
        </p:nvPicPr>
        <p:blipFill>
          <a:blip r:embed="rId3"/>
          <a:stretch/>
        </p:blipFill>
        <p:spPr>
          <a:xfrm>
            <a:off x="2944375" y="1264260"/>
            <a:ext cx="3151625" cy="2363720"/>
          </a:xfrm>
          <a:prstGeom prst="rect">
            <a:avLst/>
          </a:prstGeom>
        </p:spPr>
      </p:pic>
      <p:sp>
        <p:nvSpPr>
          <p:cNvPr id="14" name="extra-caption-1">
            <a:extLst>
              <a:ext uri="{FF2B5EF4-FFF2-40B4-BE49-F238E27FC236}">
                <a16:creationId xmlns:a16="http://schemas.microsoft.com/office/drawing/2014/main" id="{D2347A2E-B4E2-561A-C329-06B52ABA1C61}"/>
              </a:ext>
            </a:extLst>
          </p:cNvPr>
          <p:cNvSpPr>
            <a:spLocks noGrp="1"/>
          </p:cNvSpPr>
          <p:nvPr/>
        </p:nvSpPr>
        <p:spPr>
          <a:xfrm>
            <a:off x="838200" y="2296160"/>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Lighting: Dusty (75%)</a:t>
            </a:r>
          </a:p>
        </p:txBody>
      </p:sp>
      <p:pic>
        <p:nvPicPr>
          <p:cNvPr id="16" name="Immagine 15">
            <a:extLst>
              <a:ext uri="{FF2B5EF4-FFF2-40B4-BE49-F238E27FC236}">
                <a16:creationId xmlns:a16="http://schemas.microsoft.com/office/drawing/2014/main" id="{57D13467-A6C8-1982-4A35-BB5FF81E8173}"/>
              </a:ext>
            </a:extLst>
          </p:cNvPr>
          <p:cNvPicPr>
            <a:picLocks noChangeAspect="1"/>
          </p:cNvPicPr>
          <p:nvPr/>
        </p:nvPicPr>
        <p:blipFill>
          <a:blip r:embed="rId4"/>
          <a:stretch/>
        </p:blipFill>
        <p:spPr>
          <a:xfrm>
            <a:off x="6488542" y="1259963"/>
            <a:ext cx="3151625" cy="2363720"/>
          </a:xfrm>
          <a:prstGeom prst="rect">
            <a:avLst/>
          </a:prstGeom>
        </p:spPr>
      </p:pic>
      <p:sp>
        <p:nvSpPr>
          <p:cNvPr id="18" name="extra-caption-2">
            <a:extLst>
              <a:ext uri="{FF2B5EF4-FFF2-40B4-BE49-F238E27FC236}">
                <a16:creationId xmlns:a16="http://schemas.microsoft.com/office/drawing/2014/main" id="{D6C813FB-75DB-F059-F3AF-61ABB92A4DEB}"/>
              </a:ext>
            </a:extLst>
          </p:cNvPr>
          <p:cNvSpPr>
            <a:spLocks noGrp="1"/>
          </p:cNvSpPr>
          <p:nvPr/>
        </p:nvSpPr>
        <p:spPr>
          <a:xfrm>
            <a:off x="9247625" y="2296160"/>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Lighting: Clear (25%)</a:t>
            </a:r>
          </a:p>
        </p:txBody>
      </p:sp>
      <p:pic>
        <p:nvPicPr>
          <p:cNvPr id="20" name="Immagine 19">
            <a:extLst>
              <a:ext uri="{FF2B5EF4-FFF2-40B4-BE49-F238E27FC236}">
                <a16:creationId xmlns:a16="http://schemas.microsoft.com/office/drawing/2014/main" id="{94EFBD83-00E7-7053-6115-2C5DA9FC3781}"/>
              </a:ext>
            </a:extLst>
          </p:cNvPr>
          <p:cNvPicPr>
            <a:picLocks noChangeAspect="1"/>
          </p:cNvPicPr>
          <p:nvPr/>
        </p:nvPicPr>
        <p:blipFill>
          <a:blip r:embed="rId3"/>
          <a:stretch/>
        </p:blipFill>
        <p:spPr>
          <a:xfrm>
            <a:off x="1033455" y="3792548"/>
            <a:ext cx="3151625" cy="2363720"/>
          </a:xfrm>
          <a:prstGeom prst="rect">
            <a:avLst/>
          </a:prstGeom>
        </p:spPr>
      </p:pic>
      <p:sp>
        <p:nvSpPr>
          <p:cNvPr id="22" name="extra-caption-3">
            <a:extLst>
              <a:ext uri="{FF2B5EF4-FFF2-40B4-BE49-F238E27FC236}">
                <a16:creationId xmlns:a16="http://schemas.microsoft.com/office/drawing/2014/main" id="{BB7F0C39-7105-95F3-4BA4-0669E65EBF9E}"/>
              </a:ext>
            </a:extLst>
          </p:cNvPr>
          <p:cNvSpPr>
            <a:spLocks noGrp="1"/>
          </p:cNvSpPr>
          <p:nvPr/>
        </p:nvSpPr>
        <p:spPr>
          <a:xfrm>
            <a:off x="1382373" y="6254968"/>
            <a:ext cx="2514600" cy="270048"/>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Wear: None added (20%)</a:t>
            </a:r>
          </a:p>
        </p:txBody>
      </p:sp>
      <p:pic>
        <p:nvPicPr>
          <p:cNvPr id="24" name="Immagine 23">
            <a:extLst>
              <a:ext uri="{FF2B5EF4-FFF2-40B4-BE49-F238E27FC236}">
                <a16:creationId xmlns:a16="http://schemas.microsoft.com/office/drawing/2014/main" id="{DA7290F4-888E-5BD1-B3B6-B12D813480F1}"/>
              </a:ext>
            </a:extLst>
          </p:cNvPr>
          <p:cNvPicPr>
            <a:picLocks noChangeAspect="1"/>
          </p:cNvPicPr>
          <p:nvPr/>
        </p:nvPicPr>
        <p:blipFill>
          <a:blip r:embed="rId5"/>
          <a:stretch/>
        </p:blipFill>
        <p:spPr>
          <a:xfrm>
            <a:off x="4706641" y="3776379"/>
            <a:ext cx="3151625" cy="2363720"/>
          </a:xfrm>
          <a:prstGeom prst="rect">
            <a:avLst/>
          </a:prstGeom>
        </p:spPr>
      </p:pic>
      <p:sp>
        <p:nvSpPr>
          <p:cNvPr id="26" name="extra-caption-4">
            <a:extLst>
              <a:ext uri="{FF2B5EF4-FFF2-40B4-BE49-F238E27FC236}">
                <a16:creationId xmlns:a16="http://schemas.microsoft.com/office/drawing/2014/main" id="{69C2F15E-4859-F7BF-78E4-C4B8AAB7672C}"/>
              </a:ext>
            </a:extLst>
          </p:cNvPr>
          <p:cNvSpPr>
            <a:spLocks noGrp="1"/>
          </p:cNvSpPr>
          <p:nvPr/>
        </p:nvSpPr>
        <p:spPr>
          <a:xfrm>
            <a:off x="8678203" y="6254307"/>
            <a:ext cx="2514600" cy="270048"/>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Wear: Light (45%)</a:t>
            </a:r>
          </a:p>
        </p:txBody>
      </p:sp>
      <p:pic>
        <p:nvPicPr>
          <p:cNvPr id="28" name="Immagine 27">
            <a:extLst>
              <a:ext uri="{FF2B5EF4-FFF2-40B4-BE49-F238E27FC236}">
                <a16:creationId xmlns:a16="http://schemas.microsoft.com/office/drawing/2014/main" id="{3015F56D-57FD-8F33-C81A-950218238CF2}"/>
              </a:ext>
            </a:extLst>
          </p:cNvPr>
          <p:cNvPicPr>
            <a:picLocks noChangeAspect="1"/>
          </p:cNvPicPr>
          <p:nvPr/>
        </p:nvPicPr>
        <p:blipFill>
          <a:blip r:embed="rId6"/>
          <a:stretch/>
        </p:blipFill>
        <p:spPr>
          <a:xfrm>
            <a:off x="8379828" y="3776379"/>
            <a:ext cx="3151625" cy="2363720"/>
          </a:xfrm>
          <a:prstGeom prst="rect">
            <a:avLst/>
          </a:prstGeom>
        </p:spPr>
      </p:pic>
      <p:sp>
        <p:nvSpPr>
          <p:cNvPr id="30" name="extra-caption-5">
            <a:extLst>
              <a:ext uri="{FF2B5EF4-FFF2-40B4-BE49-F238E27FC236}">
                <a16:creationId xmlns:a16="http://schemas.microsoft.com/office/drawing/2014/main" id="{BC758623-D8C4-4BE0-48A6-86904C9CF19F}"/>
              </a:ext>
            </a:extLst>
          </p:cNvPr>
          <p:cNvSpPr>
            <a:spLocks noGrp="1"/>
          </p:cNvSpPr>
          <p:nvPr/>
        </p:nvSpPr>
        <p:spPr>
          <a:xfrm>
            <a:off x="5030288" y="6254307"/>
            <a:ext cx="2514600" cy="270048"/>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Wear: Evident (35%)</a:t>
            </a:r>
          </a:p>
        </p:txBody>
      </p:sp>
    </p:spTree>
    <p:extLst>
      <p:ext uri="{BB962C8B-B14F-4D97-AF65-F5344CB8AC3E}">
        <p14:creationId xmlns:p14="http://schemas.microsoft.com/office/powerpoint/2010/main" val="37050081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F0CEF5-92DD-848B-C55B-04F929CD593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A61F077-600E-A55F-AD3D-45E5700B6846}"/>
              </a:ext>
            </a:extLst>
          </p:cNvPr>
          <p:cNvSpPr>
            <a:spLocks noGrp="1"/>
          </p:cNvSpPr>
          <p:nvPr>
            <p:ph type="title"/>
          </p:nvPr>
        </p:nvSpPr>
        <p:spPr>
          <a:xfrm>
            <a:off x="838200" y="365125"/>
            <a:ext cx="8384177" cy="835787"/>
          </a:xfrm>
        </p:spPr>
        <p:txBody>
          <a:bodyPr/>
          <a:lstStyle/>
          <a:p>
            <a:r>
              <a:rPr lang="en-US" noProof="0" dirty="0">
                <a:solidFill>
                  <a:srgbClr val="822433"/>
                </a:solidFill>
              </a:rPr>
              <a:t>Extra: variations</a:t>
            </a:r>
          </a:p>
        </p:txBody>
      </p:sp>
      <p:sp>
        <p:nvSpPr>
          <p:cNvPr id="4" name="Google Shape;102;p14">
            <a:extLst>
              <a:ext uri="{FF2B5EF4-FFF2-40B4-BE49-F238E27FC236}">
                <a16:creationId xmlns:a16="http://schemas.microsoft.com/office/drawing/2014/main" id="{F525E9FE-F12F-0F9C-ED49-19599FADF364}"/>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38</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D2596891-FC2D-C927-6511-997D290A2D0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32" name="Immagine 31">
            <a:extLst>
              <a:ext uri="{FF2B5EF4-FFF2-40B4-BE49-F238E27FC236}">
                <a16:creationId xmlns:a16="http://schemas.microsoft.com/office/drawing/2014/main" id="{18955CA9-EF13-4308-9116-555620D9B123}"/>
              </a:ext>
            </a:extLst>
          </p:cNvPr>
          <p:cNvPicPr>
            <a:picLocks noChangeAspect="1"/>
          </p:cNvPicPr>
          <p:nvPr/>
        </p:nvPicPr>
        <p:blipFill>
          <a:blip r:embed="rId3"/>
          <a:stretch/>
        </p:blipFill>
        <p:spPr>
          <a:xfrm>
            <a:off x="734313" y="1458918"/>
            <a:ext cx="2719821" cy="2039867"/>
          </a:xfrm>
          <a:prstGeom prst="rect">
            <a:avLst/>
          </a:prstGeom>
        </p:spPr>
      </p:pic>
      <p:sp>
        <p:nvSpPr>
          <p:cNvPr id="34" name="extra-caption-6">
            <a:extLst>
              <a:ext uri="{FF2B5EF4-FFF2-40B4-BE49-F238E27FC236}">
                <a16:creationId xmlns:a16="http://schemas.microsoft.com/office/drawing/2014/main" id="{88FB0E5A-8D8B-3AE4-5054-07B36256B72E}"/>
              </a:ext>
            </a:extLst>
          </p:cNvPr>
          <p:cNvSpPr>
            <a:spLocks noGrp="1"/>
          </p:cNvSpPr>
          <p:nvPr/>
        </p:nvSpPr>
        <p:spPr>
          <a:xfrm>
            <a:off x="860935" y="3531366"/>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a:solidFill>
                  <a:srgbClr val="202124"/>
                </a:solidFill>
                <a:latin typeface="Roboto"/>
                <a:ea typeface="Roboto"/>
                <a:cs typeface="Roboto"/>
              </a:rPr>
              <a:t>View A: Overhead (40%)</a:t>
            </a:r>
          </a:p>
        </p:txBody>
      </p:sp>
      <p:pic>
        <p:nvPicPr>
          <p:cNvPr id="36" name="Immagine 35">
            <a:extLst>
              <a:ext uri="{FF2B5EF4-FFF2-40B4-BE49-F238E27FC236}">
                <a16:creationId xmlns:a16="http://schemas.microsoft.com/office/drawing/2014/main" id="{06C6D9E1-5C88-C1A6-4798-66AD56BBE2EA}"/>
              </a:ext>
            </a:extLst>
          </p:cNvPr>
          <p:cNvPicPr>
            <a:picLocks noChangeAspect="1"/>
          </p:cNvPicPr>
          <p:nvPr/>
        </p:nvPicPr>
        <p:blipFill>
          <a:blip r:embed="rId4"/>
          <a:stretch/>
        </p:blipFill>
        <p:spPr>
          <a:xfrm>
            <a:off x="3522739" y="1458918"/>
            <a:ext cx="2719821" cy="2039867"/>
          </a:xfrm>
          <a:prstGeom prst="rect">
            <a:avLst/>
          </a:prstGeom>
        </p:spPr>
      </p:pic>
      <p:sp>
        <p:nvSpPr>
          <p:cNvPr id="38" name="extra-caption-7">
            <a:extLst>
              <a:ext uri="{FF2B5EF4-FFF2-40B4-BE49-F238E27FC236}">
                <a16:creationId xmlns:a16="http://schemas.microsoft.com/office/drawing/2014/main" id="{894FB89F-1F73-6B52-09D3-6E2FB4CFAFF5}"/>
              </a:ext>
            </a:extLst>
          </p:cNvPr>
          <p:cNvSpPr>
            <a:spLocks noGrp="1"/>
          </p:cNvSpPr>
          <p:nvPr/>
        </p:nvSpPr>
        <p:spPr>
          <a:xfrm>
            <a:off x="3683563" y="3531365"/>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View C1: Leading (27.5%)</a:t>
            </a:r>
          </a:p>
        </p:txBody>
      </p:sp>
      <p:pic>
        <p:nvPicPr>
          <p:cNvPr id="40" name="Immagine 39">
            <a:extLst>
              <a:ext uri="{FF2B5EF4-FFF2-40B4-BE49-F238E27FC236}">
                <a16:creationId xmlns:a16="http://schemas.microsoft.com/office/drawing/2014/main" id="{9FC969FC-21E4-CF79-3946-C7FD2E5F15CA}"/>
              </a:ext>
            </a:extLst>
          </p:cNvPr>
          <p:cNvPicPr>
            <a:picLocks noChangeAspect="1"/>
          </p:cNvPicPr>
          <p:nvPr/>
        </p:nvPicPr>
        <p:blipFill>
          <a:blip r:embed="rId5"/>
          <a:stretch/>
        </p:blipFill>
        <p:spPr>
          <a:xfrm>
            <a:off x="6330214" y="1458918"/>
            <a:ext cx="2719821" cy="2039867"/>
          </a:xfrm>
          <a:prstGeom prst="rect">
            <a:avLst/>
          </a:prstGeom>
        </p:spPr>
      </p:pic>
      <p:sp>
        <p:nvSpPr>
          <p:cNvPr id="42" name="extra-caption-8">
            <a:extLst>
              <a:ext uri="{FF2B5EF4-FFF2-40B4-BE49-F238E27FC236}">
                <a16:creationId xmlns:a16="http://schemas.microsoft.com/office/drawing/2014/main" id="{66702C7C-350C-6B5A-7394-8E5465C7D857}"/>
              </a:ext>
            </a:extLst>
          </p:cNvPr>
          <p:cNvSpPr>
            <a:spLocks noGrp="1"/>
          </p:cNvSpPr>
          <p:nvPr/>
        </p:nvSpPr>
        <p:spPr>
          <a:xfrm>
            <a:off x="6432824" y="3539252"/>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View C2: Trailing (27.5%)</a:t>
            </a:r>
          </a:p>
        </p:txBody>
      </p:sp>
      <p:pic>
        <p:nvPicPr>
          <p:cNvPr id="44" name="Immagine 43">
            <a:extLst>
              <a:ext uri="{FF2B5EF4-FFF2-40B4-BE49-F238E27FC236}">
                <a16:creationId xmlns:a16="http://schemas.microsoft.com/office/drawing/2014/main" id="{3090CBA4-61E4-1361-4845-0AE693510AC0}"/>
              </a:ext>
            </a:extLst>
          </p:cNvPr>
          <p:cNvPicPr>
            <a:picLocks noChangeAspect="1"/>
          </p:cNvPicPr>
          <p:nvPr/>
        </p:nvPicPr>
        <p:blipFill>
          <a:blip r:embed="rId6"/>
          <a:stretch/>
        </p:blipFill>
        <p:spPr>
          <a:xfrm>
            <a:off x="9137689" y="1458917"/>
            <a:ext cx="2719821" cy="2039867"/>
          </a:xfrm>
          <a:prstGeom prst="rect">
            <a:avLst/>
          </a:prstGeom>
        </p:spPr>
      </p:pic>
      <p:sp>
        <p:nvSpPr>
          <p:cNvPr id="46" name="extra-caption-9">
            <a:extLst>
              <a:ext uri="{FF2B5EF4-FFF2-40B4-BE49-F238E27FC236}">
                <a16:creationId xmlns:a16="http://schemas.microsoft.com/office/drawing/2014/main" id="{F06F78EE-BA1D-D5DC-95D0-E2D1ABB1282E}"/>
              </a:ext>
            </a:extLst>
          </p:cNvPr>
          <p:cNvSpPr>
            <a:spLocks noGrp="1"/>
          </p:cNvSpPr>
          <p:nvPr/>
        </p:nvSpPr>
        <p:spPr>
          <a:xfrm>
            <a:off x="9240299" y="3559069"/>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View D: Upper detail (5%)</a:t>
            </a:r>
          </a:p>
        </p:txBody>
      </p:sp>
      <p:pic>
        <p:nvPicPr>
          <p:cNvPr id="48" name="Immagine 47">
            <a:extLst>
              <a:ext uri="{FF2B5EF4-FFF2-40B4-BE49-F238E27FC236}">
                <a16:creationId xmlns:a16="http://schemas.microsoft.com/office/drawing/2014/main" id="{43D31A3E-9BEB-113E-6FD1-6682D56C1DAF}"/>
              </a:ext>
            </a:extLst>
          </p:cNvPr>
          <p:cNvPicPr>
            <a:picLocks noChangeAspect="1"/>
          </p:cNvPicPr>
          <p:nvPr/>
        </p:nvPicPr>
        <p:blipFill>
          <a:blip r:embed="rId7"/>
          <a:stretch/>
        </p:blipFill>
        <p:spPr>
          <a:xfrm>
            <a:off x="1322576" y="3907343"/>
            <a:ext cx="2719821" cy="2039867"/>
          </a:xfrm>
          <a:prstGeom prst="rect">
            <a:avLst/>
          </a:prstGeom>
        </p:spPr>
      </p:pic>
      <p:sp>
        <p:nvSpPr>
          <p:cNvPr id="50" name="extra-caption-10">
            <a:extLst>
              <a:ext uri="{FF2B5EF4-FFF2-40B4-BE49-F238E27FC236}">
                <a16:creationId xmlns:a16="http://schemas.microsoft.com/office/drawing/2014/main" id="{8FE51700-9143-B829-C052-FBE53EF6D888}"/>
              </a:ext>
            </a:extLst>
          </p:cNvPr>
          <p:cNvSpPr>
            <a:spLocks noGrp="1"/>
          </p:cNvSpPr>
          <p:nvPr/>
        </p:nvSpPr>
        <p:spPr>
          <a:xfrm>
            <a:off x="1402994" y="5994835"/>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Small hole: 50%</a:t>
            </a:r>
          </a:p>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2.7–4.1 cm</a:t>
            </a:r>
          </a:p>
        </p:txBody>
      </p:sp>
      <p:pic>
        <p:nvPicPr>
          <p:cNvPr id="52" name="Immagine 51">
            <a:extLst>
              <a:ext uri="{FF2B5EF4-FFF2-40B4-BE49-F238E27FC236}">
                <a16:creationId xmlns:a16="http://schemas.microsoft.com/office/drawing/2014/main" id="{72E58E8A-680E-484A-966D-6CDAF7C802C6}"/>
              </a:ext>
            </a:extLst>
          </p:cNvPr>
          <p:cNvPicPr>
            <a:picLocks noChangeAspect="1"/>
          </p:cNvPicPr>
          <p:nvPr/>
        </p:nvPicPr>
        <p:blipFill>
          <a:blip r:embed="rId8"/>
          <a:stretch/>
        </p:blipFill>
        <p:spPr>
          <a:xfrm>
            <a:off x="4980337" y="3907343"/>
            <a:ext cx="2719821" cy="2039867"/>
          </a:xfrm>
          <a:prstGeom prst="rect">
            <a:avLst/>
          </a:prstGeom>
        </p:spPr>
      </p:pic>
      <p:sp>
        <p:nvSpPr>
          <p:cNvPr id="54" name="extra-caption-11">
            <a:extLst>
              <a:ext uri="{FF2B5EF4-FFF2-40B4-BE49-F238E27FC236}">
                <a16:creationId xmlns:a16="http://schemas.microsoft.com/office/drawing/2014/main" id="{461F54F3-E83D-8CCF-0C72-0EF0554BED93}"/>
              </a:ext>
            </a:extLst>
          </p:cNvPr>
          <p:cNvSpPr>
            <a:spLocks noGrp="1"/>
          </p:cNvSpPr>
          <p:nvPr/>
        </p:nvSpPr>
        <p:spPr>
          <a:xfrm>
            <a:off x="5071851" y="5994835"/>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Medium hole: 40%</a:t>
            </a:r>
          </a:p>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4.4–6.8 cm</a:t>
            </a:r>
          </a:p>
        </p:txBody>
      </p:sp>
      <p:pic>
        <p:nvPicPr>
          <p:cNvPr id="56" name="Immagine 55">
            <a:extLst>
              <a:ext uri="{FF2B5EF4-FFF2-40B4-BE49-F238E27FC236}">
                <a16:creationId xmlns:a16="http://schemas.microsoft.com/office/drawing/2014/main" id="{37AB3CC2-AF20-7F12-0A1E-5417CA65FE07}"/>
              </a:ext>
            </a:extLst>
          </p:cNvPr>
          <p:cNvPicPr>
            <a:picLocks noChangeAspect="1"/>
          </p:cNvPicPr>
          <p:nvPr/>
        </p:nvPicPr>
        <p:blipFill>
          <a:blip r:embed="rId9"/>
          <a:stretch/>
        </p:blipFill>
        <p:spPr>
          <a:xfrm>
            <a:off x="8638098" y="3922439"/>
            <a:ext cx="2719821" cy="2039867"/>
          </a:xfrm>
          <a:prstGeom prst="rect">
            <a:avLst/>
          </a:prstGeom>
        </p:spPr>
      </p:pic>
      <p:sp>
        <p:nvSpPr>
          <p:cNvPr id="58" name="extra-caption-12">
            <a:extLst>
              <a:ext uri="{FF2B5EF4-FFF2-40B4-BE49-F238E27FC236}">
                <a16:creationId xmlns:a16="http://schemas.microsoft.com/office/drawing/2014/main" id="{1AF8C803-E063-7A7B-E80C-2A31243957AB}"/>
              </a:ext>
            </a:extLst>
          </p:cNvPr>
          <p:cNvSpPr>
            <a:spLocks noGrp="1"/>
          </p:cNvSpPr>
          <p:nvPr/>
        </p:nvSpPr>
        <p:spPr>
          <a:xfrm>
            <a:off x="8740708" y="5994835"/>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Large hole: 10%</a:t>
            </a:r>
          </a:p>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7.3–11.6 cm</a:t>
            </a:r>
          </a:p>
        </p:txBody>
      </p:sp>
    </p:spTree>
    <p:extLst>
      <p:ext uri="{BB962C8B-B14F-4D97-AF65-F5344CB8AC3E}">
        <p14:creationId xmlns:p14="http://schemas.microsoft.com/office/powerpoint/2010/main" val="30551136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28767-0239-DD82-079D-9327F2EE38F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3868458-DB65-8F2D-299C-82C5725BD62E}"/>
              </a:ext>
            </a:extLst>
          </p:cNvPr>
          <p:cNvSpPr>
            <a:spLocks noGrp="1"/>
          </p:cNvSpPr>
          <p:nvPr>
            <p:ph type="title"/>
          </p:nvPr>
        </p:nvSpPr>
        <p:spPr>
          <a:xfrm>
            <a:off x="838200" y="365125"/>
            <a:ext cx="8384177" cy="835787"/>
          </a:xfrm>
        </p:spPr>
        <p:txBody>
          <a:bodyPr/>
          <a:lstStyle/>
          <a:p>
            <a:r>
              <a:rPr lang="en-US" dirty="0">
                <a:solidFill>
                  <a:srgbClr val="822433"/>
                </a:solidFill>
              </a:rPr>
              <a:t>Extra: Loss function ablation</a:t>
            </a:r>
            <a:endParaRPr lang="en-US" noProof="0" dirty="0">
              <a:solidFill>
                <a:srgbClr val="822433"/>
              </a:solidFill>
            </a:endParaRPr>
          </a:p>
        </p:txBody>
      </p:sp>
      <p:sp>
        <p:nvSpPr>
          <p:cNvPr id="4" name="Google Shape;102;p14">
            <a:extLst>
              <a:ext uri="{FF2B5EF4-FFF2-40B4-BE49-F238E27FC236}">
                <a16:creationId xmlns:a16="http://schemas.microsoft.com/office/drawing/2014/main" id="{055A6A55-C5AD-1A50-F4C2-7450CE79D246}"/>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39</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60426956-E2EA-9C7E-FA84-ECDD00CC2095}"/>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Chart">
            <a:extLst>
              <a:ext uri="{FF2B5EF4-FFF2-40B4-BE49-F238E27FC236}">
                <a16:creationId xmlns:a16="http://schemas.microsoft.com/office/drawing/2014/main" id="{C6A3FFCA-0B3B-C26F-FD48-531654BA2AEE}"/>
              </a:ext>
            </a:extLst>
          </p:cNvPr>
          <p:cNvGraphicFramePr/>
          <p:nvPr>
            <p:extLst>
              <p:ext uri="{D42A27DB-BD31-4B8C-83A1-F6EECF244321}">
                <p14:modId xmlns:p14="http://schemas.microsoft.com/office/powerpoint/2010/main" val="3167910254"/>
              </p:ext>
            </p:extLst>
          </p:nvPr>
        </p:nvGraphicFramePr>
        <p:xfrm>
          <a:off x="2798618" y="1803133"/>
          <a:ext cx="7429500" cy="2905125"/>
        </p:xfrm>
        <a:graphic>
          <a:graphicData uri="http://schemas.openxmlformats.org/drawingml/2006/chart">
            <c:chart xmlns:c="http://schemas.openxmlformats.org/drawingml/2006/chart" xmlns:r="http://schemas.openxmlformats.org/officeDocument/2006/relationships" r:id="rId3"/>
          </a:graphicData>
        </a:graphic>
      </p:graphicFrame>
      <p:sp>
        <p:nvSpPr>
          <p:cNvPr id="14" name="weighting-title">
            <a:extLst>
              <a:ext uri="{FF2B5EF4-FFF2-40B4-BE49-F238E27FC236}">
                <a16:creationId xmlns:a16="http://schemas.microsoft.com/office/drawing/2014/main" id="{542CBF3B-BBA9-9DA7-A88C-6DAF7D4FAA73}"/>
              </a:ext>
            </a:extLst>
          </p:cNvPr>
          <p:cNvSpPr>
            <a:spLocks noGrp="1"/>
          </p:cNvSpPr>
          <p:nvPr/>
        </p:nvSpPr>
        <p:spPr>
          <a:xfrm>
            <a:off x="3740727" y="4931143"/>
            <a:ext cx="5153891" cy="409575"/>
          </a:xfrm>
          <a:prstGeom prst="rect">
            <a:avLst/>
          </a:prstGeom>
          <a:noFill/>
          <a:ln w="0">
            <a:noFill/>
          </a:ln>
        </p:spPr>
        <p:txBody>
          <a:bodyPr wrap="square" lIns="0" tIns="0" rIns="0" bIns="0" anchor="t">
            <a:noAutofit/>
          </a:bodyPr>
          <a:lstStyle>
            <a:defPPr algn="l">
              <a:defRPr lang="en-US" sz="2100" b="0">
                <a:solidFill>
                  <a:srgbClr val="202124"/>
                </a:solidFill>
                <a:latin typeface="Roboto"/>
                <a:ea typeface="Roboto"/>
                <a:cs typeface="Roboto"/>
              </a:defRPr>
            </a:defPPr>
            <a:lvl1pPr algn="l">
              <a:defRPr lang="en-US" sz="2100" b="0">
                <a:solidFill>
                  <a:srgbClr val="202124"/>
                </a:solidFill>
                <a:latin typeface="Roboto"/>
                <a:ea typeface="Roboto"/>
                <a:cs typeface="Roboto"/>
              </a:defRPr>
            </a:lvl1pPr>
            <a:lvl2pPr algn="l">
              <a:defRPr lang="en-US" sz="2100" b="0">
                <a:solidFill>
                  <a:srgbClr val="202124"/>
                </a:solidFill>
                <a:latin typeface="Roboto"/>
                <a:ea typeface="Roboto"/>
                <a:cs typeface="Roboto"/>
              </a:defRPr>
            </a:lvl2pPr>
            <a:lvl3pPr algn="l">
              <a:defRPr lang="en-US" sz="2100" b="0">
                <a:solidFill>
                  <a:srgbClr val="202124"/>
                </a:solidFill>
                <a:latin typeface="Roboto"/>
                <a:ea typeface="Roboto"/>
                <a:cs typeface="Roboto"/>
              </a:defRPr>
            </a:lvl3pPr>
            <a:lvl4pPr algn="l">
              <a:defRPr lang="en-US" sz="2100" b="0">
                <a:solidFill>
                  <a:srgbClr val="202124"/>
                </a:solidFill>
                <a:latin typeface="Roboto"/>
                <a:ea typeface="Roboto"/>
                <a:cs typeface="Roboto"/>
              </a:defRPr>
            </a:lvl4pPr>
            <a:lvl5pPr algn="l">
              <a:defRPr lang="en-US" sz="2100" b="0">
                <a:solidFill>
                  <a:srgbClr val="202124"/>
                </a:solidFill>
                <a:latin typeface="Roboto"/>
                <a:ea typeface="Roboto"/>
                <a:cs typeface="Roboto"/>
              </a:defRPr>
            </a:lvl5pPr>
            <a:lvl6pPr algn="l">
              <a:defRPr lang="en-US" sz="2100" b="0">
                <a:solidFill>
                  <a:srgbClr val="202124"/>
                </a:solidFill>
                <a:latin typeface="Roboto"/>
                <a:ea typeface="Roboto"/>
                <a:cs typeface="Roboto"/>
              </a:defRPr>
            </a:lvl6pPr>
            <a:lvl7pPr algn="l">
              <a:defRPr lang="en-US" sz="2100" b="0">
                <a:solidFill>
                  <a:srgbClr val="202124"/>
                </a:solidFill>
                <a:latin typeface="Roboto"/>
                <a:ea typeface="Roboto"/>
                <a:cs typeface="Roboto"/>
              </a:defRPr>
            </a:lvl7pPr>
            <a:lvl8pPr algn="l">
              <a:defRPr lang="en-US" sz="2100" b="0">
                <a:solidFill>
                  <a:srgbClr val="202124"/>
                </a:solidFill>
                <a:latin typeface="Roboto"/>
                <a:ea typeface="Roboto"/>
                <a:cs typeface="Roboto"/>
              </a:defRPr>
            </a:lvl8pPr>
            <a:lvl9pPr algn="l">
              <a:defRPr lang="en-US" sz="2100" b="0">
                <a:solidFill>
                  <a:srgbClr val="202124"/>
                </a:solidFill>
                <a:latin typeface="Roboto"/>
                <a:ea typeface="Roboto"/>
                <a:cs typeface="Roboto"/>
              </a:defRPr>
            </a:lvl9pPr>
          </a:lstStyle>
          <a:p>
            <a:pPr algn="l">
              <a:defRPr lang="en-US" sz="2100" b="0">
                <a:solidFill>
                  <a:srgbClr val="202124"/>
                </a:solidFill>
                <a:latin typeface="Roboto"/>
                <a:ea typeface="Roboto"/>
                <a:cs typeface="Roboto"/>
              </a:defRPr>
            </a:pPr>
            <a:r>
              <a:rPr lang="en-US" sz="2100" b="0" u="sng" dirty="0">
                <a:solidFill>
                  <a:srgbClr val="202124"/>
                </a:solidFill>
                <a:latin typeface="Roboto"/>
                <a:ea typeface="Roboto"/>
                <a:cs typeface="Roboto"/>
              </a:rPr>
              <a:t>U-Net R34: Dice weighting within CE + GDL</a:t>
            </a:r>
          </a:p>
        </p:txBody>
      </p:sp>
      <p:graphicFrame>
        <p:nvGraphicFramePr>
          <p:cNvPr id="16" name="Tabella 15">
            <a:extLst>
              <a:ext uri="{FF2B5EF4-FFF2-40B4-BE49-F238E27FC236}">
                <a16:creationId xmlns:a16="http://schemas.microsoft.com/office/drawing/2014/main" id="{9AF89638-339F-0DB8-7503-6218661B1C45}"/>
              </a:ext>
            </a:extLst>
          </p:cNvPr>
          <p:cNvGraphicFramePr/>
          <p:nvPr/>
        </p:nvGraphicFramePr>
        <p:xfrm>
          <a:off x="904875" y="5286375"/>
          <a:ext cx="10382250" cy="874395"/>
        </p:xfrm>
        <a:graphic>
          <a:graphicData uri="http://schemas.openxmlformats.org/drawingml/2006/table">
            <a:tbl>
              <a:tblPr/>
              <a:tblGrid>
                <a:gridCol w="3457575">
                  <a:extLst>
                    <a:ext uri="{9D8B030D-6E8A-4147-A177-3AD203B41FA5}">
                      <a16:colId xmlns:a16="http://schemas.microsoft.com/office/drawing/2014/main" val="20000"/>
                    </a:ext>
                  </a:extLst>
                </a:gridCol>
                <a:gridCol w="3467100">
                  <a:extLst>
                    <a:ext uri="{9D8B030D-6E8A-4147-A177-3AD203B41FA5}">
                      <a16:colId xmlns:a16="http://schemas.microsoft.com/office/drawing/2014/main" val="20001"/>
                    </a:ext>
                  </a:extLst>
                </a:gridCol>
                <a:gridCol w="3457575">
                  <a:extLst>
                    <a:ext uri="{9D8B030D-6E8A-4147-A177-3AD203B41FA5}">
                      <a16:colId xmlns:a16="http://schemas.microsoft.com/office/drawing/2014/main" val="20002"/>
                    </a:ext>
                  </a:extLst>
                </a:gridCol>
              </a:tblGrid>
              <a:tr h="390525">
                <a:tc>
                  <a:txBody>
                    <a:bodyPr/>
                    <a:lstStyle/>
                    <a:p>
                      <a:pPr algn="ctr"/>
                      <a:r>
                        <a:rPr lang="en-US" sz="1875">
                          <a:solidFill>
                            <a:srgbClr val="202124"/>
                          </a:solidFill>
                          <a:latin typeface="Roboto"/>
                          <a:ea typeface="Roboto"/>
                          <a:cs typeface="Roboto"/>
                        </a:rPr>
                        <a:t>Inverse square</a:t>
                      </a:r>
                    </a:p>
                  </a:txBody>
                  <a:tcPr marL="76200" marR="76200" marT="47625" marB="47625" anchor="ctr">
                    <a:lnL w="0">
                      <a:noFill/>
                    </a:lnL>
                    <a:lnR w="0">
                      <a:noFill/>
                    </a:lnR>
                    <a:lnT w="0">
                      <a:noFill/>
                    </a:lnT>
                    <a:lnB w="0">
                      <a:noFill/>
                    </a:lnB>
                    <a:lnTlToBr w="0">
                      <a:noFill/>
                    </a:lnTlToBr>
                    <a:lnBlToTr w="0">
                      <a:noFill/>
                    </a:lnBlToTr>
                    <a:solidFill>
                      <a:srgbClr val="FFFFFF"/>
                    </a:solidFill>
                  </a:tcPr>
                </a:tc>
                <a:tc>
                  <a:txBody>
                    <a:bodyPr/>
                    <a:lstStyle/>
                    <a:p>
                      <a:pPr algn="ctr"/>
                      <a:r>
                        <a:rPr lang="en-US" sz="1875">
                          <a:solidFill>
                            <a:srgbClr val="202124"/>
                          </a:solidFill>
                          <a:latin typeface="Roboto"/>
                          <a:ea typeface="Roboto"/>
                          <a:cs typeface="Roboto"/>
                        </a:rPr>
                        <a:t>Inverse volume</a:t>
                      </a:r>
                    </a:p>
                  </a:txBody>
                  <a:tcPr marL="76200" marR="76200" marT="47625" marB="47625" anchor="ctr">
                    <a:lnL w="0">
                      <a:noFill/>
                    </a:lnL>
                    <a:lnR w="0">
                      <a:noFill/>
                    </a:lnR>
                    <a:lnT w="0">
                      <a:noFill/>
                    </a:lnT>
                    <a:lnB w="0">
                      <a:noFill/>
                    </a:lnB>
                    <a:lnTlToBr w="0">
                      <a:noFill/>
                    </a:lnTlToBr>
                    <a:lnBlToTr w="0">
                      <a:noFill/>
                    </a:lnBlToTr>
                    <a:solidFill>
                      <a:srgbClr val="FFFFFF"/>
                    </a:solidFill>
                  </a:tcPr>
                </a:tc>
                <a:tc>
                  <a:txBody>
                    <a:bodyPr/>
                    <a:lstStyle/>
                    <a:p>
                      <a:pPr algn="ctr"/>
                      <a:r>
                        <a:rPr lang="en-US" sz="1875">
                          <a:solidFill>
                            <a:srgbClr val="202124"/>
                          </a:solidFill>
                          <a:latin typeface="Roboto"/>
                          <a:ea typeface="Roboto"/>
                          <a:cs typeface="Roboto"/>
                        </a:rPr>
                        <a:t>Uniform</a:t>
                      </a:r>
                    </a:p>
                  </a:txBody>
                  <a:tcPr marL="76200" marR="76200" marT="47625" marB="47625"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0"/>
                  </a:ext>
                </a:extLst>
              </a:tr>
              <a:tr h="390525">
                <a:tc>
                  <a:txBody>
                    <a:bodyPr/>
                    <a:lstStyle/>
                    <a:p>
                      <a:pPr algn="ctr"/>
                      <a:r>
                        <a:rPr lang="en-US" sz="2550" b="1">
                          <a:solidFill>
                            <a:srgbClr val="822433"/>
                          </a:solidFill>
                          <a:latin typeface="Roboto"/>
                          <a:ea typeface="Roboto"/>
                          <a:cs typeface="Roboto"/>
                        </a:rPr>
                        <a:t>64.5</a:t>
                      </a:r>
                    </a:p>
                  </a:txBody>
                  <a:tcPr marL="76200" marR="76200" marT="47625" marB="47625" anchor="ctr">
                    <a:lnL w="0">
                      <a:noFill/>
                    </a:lnL>
                    <a:lnR w="0">
                      <a:noFill/>
                    </a:lnR>
                    <a:lnT w="0">
                      <a:noFill/>
                    </a:lnT>
                    <a:lnB w="0">
                      <a:noFill/>
                    </a:lnB>
                    <a:lnTlToBr w="0">
                      <a:noFill/>
                    </a:lnTlToBr>
                    <a:lnBlToTr w="0">
                      <a:noFill/>
                    </a:lnBlToTr>
                    <a:solidFill>
                      <a:srgbClr val="FFFFFF"/>
                    </a:solidFill>
                  </a:tcPr>
                </a:tc>
                <a:tc>
                  <a:txBody>
                    <a:bodyPr/>
                    <a:lstStyle/>
                    <a:p>
                      <a:pPr algn="ctr"/>
                      <a:r>
                        <a:rPr lang="en-US" sz="2550">
                          <a:solidFill>
                            <a:srgbClr val="202124"/>
                          </a:solidFill>
                          <a:latin typeface="Roboto"/>
                          <a:ea typeface="Roboto"/>
                          <a:cs typeface="Roboto"/>
                        </a:rPr>
                        <a:t>57.2</a:t>
                      </a:r>
                    </a:p>
                  </a:txBody>
                  <a:tcPr marL="76200" marR="76200" marT="47625" marB="47625" anchor="ctr">
                    <a:lnL w="0">
                      <a:noFill/>
                    </a:lnL>
                    <a:lnR w="0">
                      <a:noFill/>
                    </a:lnR>
                    <a:lnT w="0">
                      <a:noFill/>
                    </a:lnT>
                    <a:lnB w="0">
                      <a:noFill/>
                    </a:lnB>
                    <a:lnTlToBr w="0">
                      <a:noFill/>
                    </a:lnTlToBr>
                    <a:lnBlToTr w="0">
                      <a:noFill/>
                    </a:lnBlToTr>
                    <a:solidFill>
                      <a:srgbClr val="FFFFFF"/>
                    </a:solidFill>
                  </a:tcPr>
                </a:tc>
                <a:tc>
                  <a:txBody>
                    <a:bodyPr/>
                    <a:lstStyle/>
                    <a:p>
                      <a:pPr algn="ctr"/>
                      <a:r>
                        <a:rPr lang="en-US" sz="2550">
                          <a:solidFill>
                            <a:srgbClr val="202124"/>
                          </a:solidFill>
                          <a:latin typeface="Roboto"/>
                          <a:ea typeface="Roboto"/>
                          <a:cs typeface="Roboto"/>
                        </a:rPr>
                        <a:t>62.2</a:t>
                      </a:r>
                    </a:p>
                  </a:txBody>
                  <a:tcPr marL="76200" marR="76200" marT="47625" marB="47625"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4572919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2A263-024C-5473-90F1-F6EAEFE353A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4AFB3F7-0C8F-EA3A-4B5C-950064476B76}"/>
              </a:ext>
            </a:extLst>
          </p:cNvPr>
          <p:cNvSpPr>
            <a:spLocks noGrp="1"/>
          </p:cNvSpPr>
          <p:nvPr>
            <p:ph type="title"/>
          </p:nvPr>
        </p:nvSpPr>
        <p:spPr>
          <a:xfrm>
            <a:off x="838200" y="365125"/>
            <a:ext cx="8384177" cy="835787"/>
          </a:xfrm>
        </p:spPr>
        <p:txBody>
          <a:bodyPr/>
          <a:lstStyle/>
          <a:p>
            <a:r>
              <a:rPr lang="en-US" dirty="0">
                <a:solidFill>
                  <a:srgbClr val="822433"/>
                </a:solidFill>
              </a:rPr>
              <a:t>Extra: P</a:t>
            </a:r>
            <a:r>
              <a:rPr lang="en-US" noProof="0" dirty="0">
                <a:solidFill>
                  <a:srgbClr val="822433"/>
                </a:solidFill>
              </a:rPr>
              <a:t>reprocessing</a:t>
            </a:r>
          </a:p>
        </p:txBody>
      </p:sp>
      <p:sp>
        <p:nvSpPr>
          <p:cNvPr id="4" name="Google Shape;102;p14">
            <a:extLst>
              <a:ext uri="{FF2B5EF4-FFF2-40B4-BE49-F238E27FC236}">
                <a16:creationId xmlns:a16="http://schemas.microsoft.com/office/drawing/2014/main" id="{E086F621-31B2-9F0E-AFA3-DABF507F90C5}"/>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40</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48C1BFEE-7512-864B-37AE-7FCE2D1A68E1}"/>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Chart">
            <a:extLst>
              <a:ext uri="{FF2B5EF4-FFF2-40B4-BE49-F238E27FC236}">
                <a16:creationId xmlns:a16="http://schemas.microsoft.com/office/drawing/2014/main" id="{C953AD1A-D91F-F1FA-8BD7-2E6BB57D0BF1}"/>
              </a:ext>
            </a:extLst>
          </p:cNvPr>
          <p:cNvGraphicFramePr/>
          <p:nvPr/>
        </p:nvGraphicFramePr>
        <p:xfrm>
          <a:off x="762000" y="1657350"/>
          <a:ext cx="8048625" cy="3781425"/>
        </p:xfrm>
        <a:graphic>
          <a:graphicData uri="http://schemas.openxmlformats.org/drawingml/2006/chart">
            <c:chart xmlns:c="http://schemas.openxmlformats.org/drawingml/2006/chart" xmlns:r="http://schemas.openxmlformats.org/officeDocument/2006/relationships" r:id="rId3"/>
          </a:graphicData>
        </a:graphic>
      </p:graphicFrame>
      <p:sp>
        <p:nvSpPr>
          <p:cNvPr id="10" name="ablation-best">
            <a:extLst>
              <a:ext uri="{FF2B5EF4-FFF2-40B4-BE49-F238E27FC236}">
                <a16:creationId xmlns:a16="http://schemas.microsoft.com/office/drawing/2014/main" id="{83A1DE4B-DAC2-9C5D-ACEF-AFE0E7232134}"/>
              </a:ext>
            </a:extLst>
          </p:cNvPr>
          <p:cNvSpPr>
            <a:spLocks noGrp="1"/>
          </p:cNvSpPr>
          <p:nvPr/>
        </p:nvSpPr>
        <p:spPr>
          <a:xfrm>
            <a:off x="8839200" y="2815590"/>
            <a:ext cx="2857500" cy="838200"/>
          </a:xfrm>
          <a:prstGeom prst="rect">
            <a:avLst/>
          </a:prstGeom>
          <a:noFill/>
          <a:ln w="0">
            <a:noFill/>
          </a:ln>
        </p:spPr>
        <p:txBody>
          <a:bodyPr wrap="square" lIns="0" tIns="0" rIns="0" bIns="0" anchor="t">
            <a:noAutofit/>
          </a:bodyPr>
          <a:lstStyle>
            <a:defPPr algn="ctr">
              <a:defRPr lang="en-US" sz="4350" b="1">
                <a:solidFill>
                  <a:srgbClr val="822433"/>
                </a:solidFill>
                <a:latin typeface="Roboto"/>
                <a:ea typeface="Roboto"/>
                <a:cs typeface="Roboto"/>
              </a:defRPr>
            </a:defPPr>
            <a:lvl1pPr algn="ctr">
              <a:defRPr lang="en-US" sz="4350" b="1">
                <a:solidFill>
                  <a:srgbClr val="822433"/>
                </a:solidFill>
                <a:latin typeface="Roboto"/>
                <a:ea typeface="Roboto"/>
                <a:cs typeface="Roboto"/>
              </a:defRPr>
            </a:lvl1pPr>
            <a:lvl2pPr algn="ctr">
              <a:defRPr lang="en-US" sz="4350" b="1">
                <a:solidFill>
                  <a:srgbClr val="822433"/>
                </a:solidFill>
                <a:latin typeface="Roboto"/>
                <a:ea typeface="Roboto"/>
                <a:cs typeface="Roboto"/>
              </a:defRPr>
            </a:lvl2pPr>
            <a:lvl3pPr algn="ctr">
              <a:defRPr lang="en-US" sz="4350" b="1">
                <a:solidFill>
                  <a:srgbClr val="822433"/>
                </a:solidFill>
                <a:latin typeface="Roboto"/>
                <a:ea typeface="Roboto"/>
                <a:cs typeface="Roboto"/>
              </a:defRPr>
            </a:lvl3pPr>
            <a:lvl4pPr algn="ctr">
              <a:defRPr lang="en-US" sz="4350" b="1">
                <a:solidFill>
                  <a:srgbClr val="822433"/>
                </a:solidFill>
                <a:latin typeface="Roboto"/>
                <a:ea typeface="Roboto"/>
                <a:cs typeface="Roboto"/>
              </a:defRPr>
            </a:lvl4pPr>
            <a:lvl5pPr algn="ctr">
              <a:defRPr lang="en-US" sz="4350" b="1">
                <a:solidFill>
                  <a:srgbClr val="822433"/>
                </a:solidFill>
                <a:latin typeface="Roboto"/>
                <a:ea typeface="Roboto"/>
                <a:cs typeface="Roboto"/>
              </a:defRPr>
            </a:lvl5pPr>
            <a:lvl6pPr algn="ctr">
              <a:defRPr lang="en-US" sz="4350" b="1">
                <a:solidFill>
                  <a:srgbClr val="822433"/>
                </a:solidFill>
                <a:latin typeface="Roboto"/>
                <a:ea typeface="Roboto"/>
                <a:cs typeface="Roboto"/>
              </a:defRPr>
            </a:lvl6pPr>
            <a:lvl7pPr algn="ctr">
              <a:defRPr lang="en-US" sz="4350" b="1">
                <a:solidFill>
                  <a:srgbClr val="822433"/>
                </a:solidFill>
                <a:latin typeface="Roboto"/>
                <a:ea typeface="Roboto"/>
                <a:cs typeface="Roboto"/>
              </a:defRPr>
            </a:lvl7pPr>
            <a:lvl8pPr algn="ctr">
              <a:defRPr lang="en-US" sz="4350" b="1">
                <a:solidFill>
                  <a:srgbClr val="822433"/>
                </a:solidFill>
                <a:latin typeface="Roboto"/>
                <a:ea typeface="Roboto"/>
                <a:cs typeface="Roboto"/>
              </a:defRPr>
            </a:lvl8pPr>
            <a:lvl9pPr algn="ctr">
              <a:defRPr lang="en-US" sz="4350" b="1">
                <a:solidFill>
                  <a:srgbClr val="822433"/>
                </a:solidFill>
                <a:latin typeface="Roboto"/>
                <a:ea typeface="Roboto"/>
                <a:cs typeface="Roboto"/>
              </a:defRPr>
            </a:lvl9pPr>
          </a:lstStyle>
          <a:p>
            <a:pPr algn="ctr">
              <a:defRPr lang="en-US" sz="4350" b="1">
                <a:solidFill>
                  <a:srgbClr val="822433"/>
                </a:solidFill>
                <a:latin typeface="Roboto"/>
                <a:ea typeface="Roboto"/>
                <a:cs typeface="Roboto"/>
              </a:defRPr>
            </a:pPr>
            <a:r>
              <a:rPr lang="en-US" sz="4350" b="1" dirty="0">
                <a:solidFill>
                  <a:srgbClr val="822433"/>
                </a:solidFill>
                <a:latin typeface="Roboto"/>
                <a:ea typeface="Roboto"/>
                <a:cs typeface="Roboto"/>
              </a:rPr>
              <a:t>75.55%</a:t>
            </a:r>
          </a:p>
        </p:txBody>
      </p:sp>
      <p:sp>
        <p:nvSpPr>
          <p:cNvPr id="12" name="ablation-best-label">
            <a:extLst>
              <a:ext uri="{FF2B5EF4-FFF2-40B4-BE49-F238E27FC236}">
                <a16:creationId xmlns:a16="http://schemas.microsoft.com/office/drawing/2014/main" id="{B6C6D0D9-3437-ACE2-C9A3-91C4FEBB2622}"/>
              </a:ext>
            </a:extLst>
          </p:cNvPr>
          <p:cNvSpPr>
            <a:spLocks noGrp="1"/>
          </p:cNvSpPr>
          <p:nvPr/>
        </p:nvSpPr>
        <p:spPr>
          <a:xfrm>
            <a:off x="8839200" y="3501390"/>
            <a:ext cx="2857500" cy="447675"/>
          </a:xfrm>
          <a:prstGeom prst="rect">
            <a:avLst/>
          </a:prstGeom>
          <a:noFill/>
          <a:ln w="0">
            <a:noFill/>
          </a:ln>
        </p:spPr>
        <p:txBody>
          <a:bodyPr wrap="square" lIns="0" tIns="0" rIns="0" bIns="0" anchor="t">
            <a:noAutofit/>
          </a:bodyPr>
          <a:lstStyle>
            <a:defPPr algn="ctr">
              <a:defRPr lang="en-US" sz="1950" b="0">
                <a:solidFill>
                  <a:srgbClr val="202124"/>
                </a:solidFill>
                <a:latin typeface="Roboto"/>
                <a:ea typeface="Roboto"/>
                <a:cs typeface="Roboto"/>
              </a:defRPr>
            </a:defPPr>
            <a:lvl1pPr algn="ctr">
              <a:defRPr lang="en-US" sz="1950" b="0">
                <a:solidFill>
                  <a:srgbClr val="202124"/>
                </a:solidFill>
                <a:latin typeface="Roboto"/>
                <a:ea typeface="Roboto"/>
                <a:cs typeface="Roboto"/>
              </a:defRPr>
            </a:lvl1pPr>
            <a:lvl2pPr algn="ctr">
              <a:defRPr lang="en-US" sz="1950" b="0">
                <a:solidFill>
                  <a:srgbClr val="202124"/>
                </a:solidFill>
                <a:latin typeface="Roboto"/>
                <a:ea typeface="Roboto"/>
                <a:cs typeface="Roboto"/>
              </a:defRPr>
            </a:lvl2pPr>
            <a:lvl3pPr algn="ctr">
              <a:defRPr lang="en-US" sz="1950" b="0">
                <a:solidFill>
                  <a:srgbClr val="202124"/>
                </a:solidFill>
                <a:latin typeface="Roboto"/>
                <a:ea typeface="Roboto"/>
                <a:cs typeface="Roboto"/>
              </a:defRPr>
            </a:lvl3pPr>
            <a:lvl4pPr algn="ctr">
              <a:defRPr lang="en-US" sz="1950" b="0">
                <a:solidFill>
                  <a:srgbClr val="202124"/>
                </a:solidFill>
                <a:latin typeface="Roboto"/>
                <a:ea typeface="Roboto"/>
                <a:cs typeface="Roboto"/>
              </a:defRPr>
            </a:lvl4pPr>
            <a:lvl5pPr algn="ctr">
              <a:defRPr lang="en-US" sz="1950" b="0">
                <a:solidFill>
                  <a:srgbClr val="202124"/>
                </a:solidFill>
                <a:latin typeface="Roboto"/>
                <a:ea typeface="Roboto"/>
                <a:cs typeface="Roboto"/>
              </a:defRPr>
            </a:lvl5pPr>
            <a:lvl6pPr algn="ctr">
              <a:defRPr lang="en-US" sz="1950" b="0">
                <a:solidFill>
                  <a:srgbClr val="202124"/>
                </a:solidFill>
                <a:latin typeface="Roboto"/>
                <a:ea typeface="Roboto"/>
                <a:cs typeface="Roboto"/>
              </a:defRPr>
            </a:lvl6pPr>
            <a:lvl7pPr algn="ctr">
              <a:defRPr lang="en-US" sz="1950" b="0">
                <a:solidFill>
                  <a:srgbClr val="202124"/>
                </a:solidFill>
                <a:latin typeface="Roboto"/>
                <a:ea typeface="Roboto"/>
                <a:cs typeface="Roboto"/>
              </a:defRPr>
            </a:lvl7pPr>
            <a:lvl8pPr algn="ctr">
              <a:defRPr lang="en-US" sz="1950" b="0">
                <a:solidFill>
                  <a:srgbClr val="202124"/>
                </a:solidFill>
                <a:latin typeface="Roboto"/>
                <a:ea typeface="Roboto"/>
                <a:cs typeface="Roboto"/>
              </a:defRPr>
            </a:lvl8pPr>
            <a:lvl9pPr algn="ctr">
              <a:defRPr lang="en-US" sz="1950" b="0">
                <a:solidFill>
                  <a:srgbClr val="202124"/>
                </a:solidFill>
                <a:latin typeface="Roboto"/>
                <a:ea typeface="Roboto"/>
                <a:cs typeface="Roboto"/>
              </a:defRPr>
            </a:lvl9pPr>
          </a:lstStyle>
          <a:p>
            <a:pPr algn="ctr">
              <a:defRPr lang="en-US" sz="1950" b="0">
                <a:solidFill>
                  <a:srgbClr val="202124"/>
                </a:solidFill>
                <a:latin typeface="Roboto"/>
                <a:ea typeface="Roboto"/>
                <a:cs typeface="Roboto"/>
              </a:defRPr>
            </a:pPr>
            <a:r>
              <a:rPr lang="en-US" sz="1950" b="0" dirty="0">
                <a:solidFill>
                  <a:srgbClr val="202124"/>
                </a:solidFill>
                <a:latin typeface="Roboto"/>
                <a:ea typeface="Roboto"/>
                <a:cs typeface="Roboto"/>
              </a:rPr>
              <a:t>Default test </a:t>
            </a:r>
            <a:r>
              <a:rPr lang="en-US" sz="1950" b="0" dirty="0" err="1">
                <a:solidFill>
                  <a:srgbClr val="202124"/>
                </a:solidFill>
                <a:latin typeface="Roboto"/>
                <a:ea typeface="Roboto"/>
                <a:cs typeface="Roboto"/>
              </a:rPr>
              <a:t>mIoU</a:t>
            </a:r>
            <a:endParaRPr lang="en-US" sz="1950" b="0" dirty="0">
              <a:solidFill>
                <a:srgbClr val="202124"/>
              </a:solidFill>
              <a:latin typeface="Roboto"/>
              <a:ea typeface="Roboto"/>
              <a:cs typeface="Roboto"/>
            </a:endParaRPr>
          </a:p>
        </p:txBody>
      </p:sp>
      <p:sp>
        <p:nvSpPr>
          <p:cNvPr id="14" name="ablation-model">
            <a:extLst>
              <a:ext uri="{FF2B5EF4-FFF2-40B4-BE49-F238E27FC236}">
                <a16:creationId xmlns:a16="http://schemas.microsoft.com/office/drawing/2014/main" id="{28D9F4D6-2E9A-F2A8-E213-9326D33919D7}"/>
              </a:ext>
            </a:extLst>
          </p:cNvPr>
          <p:cNvSpPr>
            <a:spLocks noGrp="1"/>
          </p:cNvSpPr>
          <p:nvPr/>
        </p:nvSpPr>
        <p:spPr>
          <a:xfrm>
            <a:off x="8839200" y="3867050"/>
            <a:ext cx="2857500" cy="809625"/>
          </a:xfrm>
          <a:prstGeom prst="rect">
            <a:avLst/>
          </a:prstGeom>
          <a:noFill/>
          <a:ln w="0">
            <a:noFill/>
          </a:ln>
        </p:spPr>
        <p:txBody>
          <a:bodyPr wrap="square" lIns="0" tIns="0" rIns="0" bIns="0" anchor="t">
            <a:noAutofit/>
          </a:bodyPr>
          <a:lstStyle>
            <a:defPPr algn="ctr">
              <a:defRPr lang="en-US" sz="1875" b="0">
                <a:solidFill>
                  <a:srgbClr val="656B73"/>
                </a:solidFill>
                <a:latin typeface="Roboto"/>
                <a:ea typeface="Roboto"/>
                <a:cs typeface="Roboto"/>
              </a:defRPr>
            </a:defPPr>
            <a:lvl1pPr algn="ctr">
              <a:defRPr lang="en-US" sz="1875" b="0">
                <a:solidFill>
                  <a:srgbClr val="656B73"/>
                </a:solidFill>
                <a:latin typeface="Roboto"/>
                <a:ea typeface="Roboto"/>
                <a:cs typeface="Roboto"/>
              </a:defRPr>
            </a:lvl1pPr>
            <a:lvl2pPr algn="ctr">
              <a:defRPr lang="en-US" sz="1875" b="0">
                <a:solidFill>
                  <a:srgbClr val="656B73"/>
                </a:solidFill>
                <a:latin typeface="Roboto"/>
                <a:ea typeface="Roboto"/>
                <a:cs typeface="Roboto"/>
              </a:defRPr>
            </a:lvl2pPr>
            <a:lvl3pPr algn="ctr">
              <a:defRPr lang="en-US" sz="1875" b="0">
                <a:solidFill>
                  <a:srgbClr val="656B73"/>
                </a:solidFill>
                <a:latin typeface="Roboto"/>
                <a:ea typeface="Roboto"/>
                <a:cs typeface="Roboto"/>
              </a:defRPr>
            </a:lvl3pPr>
            <a:lvl4pPr algn="ctr">
              <a:defRPr lang="en-US" sz="1875" b="0">
                <a:solidFill>
                  <a:srgbClr val="656B73"/>
                </a:solidFill>
                <a:latin typeface="Roboto"/>
                <a:ea typeface="Roboto"/>
                <a:cs typeface="Roboto"/>
              </a:defRPr>
            </a:lvl4pPr>
            <a:lvl5pPr algn="ctr">
              <a:defRPr lang="en-US" sz="1875" b="0">
                <a:solidFill>
                  <a:srgbClr val="656B73"/>
                </a:solidFill>
                <a:latin typeface="Roboto"/>
                <a:ea typeface="Roboto"/>
                <a:cs typeface="Roboto"/>
              </a:defRPr>
            </a:lvl5pPr>
            <a:lvl6pPr algn="ctr">
              <a:defRPr lang="en-US" sz="1875" b="0">
                <a:solidFill>
                  <a:srgbClr val="656B73"/>
                </a:solidFill>
                <a:latin typeface="Roboto"/>
                <a:ea typeface="Roboto"/>
                <a:cs typeface="Roboto"/>
              </a:defRPr>
            </a:lvl6pPr>
            <a:lvl7pPr algn="ctr">
              <a:defRPr lang="en-US" sz="1875" b="0">
                <a:solidFill>
                  <a:srgbClr val="656B73"/>
                </a:solidFill>
                <a:latin typeface="Roboto"/>
                <a:ea typeface="Roboto"/>
                <a:cs typeface="Roboto"/>
              </a:defRPr>
            </a:lvl7pPr>
            <a:lvl8pPr algn="ctr">
              <a:defRPr lang="en-US" sz="1875" b="0">
                <a:solidFill>
                  <a:srgbClr val="656B73"/>
                </a:solidFill>
                <a:latin typeface="Roboto"/>
                <a:ea typeface="Roboto"/>
                <a:cs typeface="Roboto"/>
              </a:defRPr>
            </a:lvl8pPr>
            <a:lvl9pPr algn="ctr">
              <a:defRPr lang="en-US" sz="1875" b="0">
                <a:solidFill>
                  <a:srgbClr val="656B73"/>
                </a:solidFill>
                <a:latin typeface="Roboto"/>
                <a:ea typeface="Roboto"/>
                <a:cs typeface="Roboto"/>
              </a:defRPr>
            </a:lvl9pPr>
          </a:lstStyle>
          <a:p>
            <a:pPr algn="ctr">
              <a:defRPr lang="en-US" sz="1875" b="0">
                <a:solidFill>
                  <a:srgbClr val="656B73"/>
                </a:solidFill>
                <a:latin typeface="Roboto"/>
                <a:ea typeface="Roboto"/>
                <a:cs typeface="Roboto"/>
              </a:defRPr>
            </a:pPr>
            <a:r>
              <a:rPr lang="en-US" sz="1875" b="0" dirty="0">
                <a:solidFill>
                  <a:srgbClr val="656B73"/>
                </a:solidFill>
                <a:latin typeface="Roboto"/>
                <a:ea typeface="Roboto"/>
                <a:cs typeface="Roboto"/>
              </a:rPr>
              <a:t>SegFormer-B0</a:t>
            </a:r>
          </a:p>
          <a:p>
            <a:pPr algn="ctr">
              <a:defRPr lang="en-US" sz="1875" b="0">
                <a:solidFill>
                  <a:srgbClr val="656B73"/>
                </a:solidFill>
                <a:latin typeface="Roboto"/>
                <a:ea typeface="Roboto"/>
                <a:cs typeface="Roboto"/>
              </a:defRPr>
            </a:pPr>
            <a:r>
              <a:rPr lang="en-US" sz="1875" b="0" dirty="0">
                <a:solidFill>
                  <a:srgbClr val="656B73"/>
                </a:solidFill>
                <a:latin typeface="Roboto"/>
                <a:ea typeface="Roboto"/>
                <a:cs typeface="Roboto"/>
              </a:rPr>
              <a:t>CE + GDL</a:t>
            </a:r>
          </a:p>
        </p:txBody>
      </p:sp>
      <p:sp>
        <p:nvSpPr>
          <p:cNvPr id="16" name="ablation-policy">
            <a:extLst>
              <a:ext uri="{FF2B5EF4-FFF2-40B4-BE49-F238E27FC236}">
                <a16:creationId xmlns:a16="http://schemas.microsoft.com/office/drawing/2014/main" id="{5B027FAD-4B73-C724-7B3F-8E54B71DA9BF}"/>
              </a:ext>
            </a:extLst>
          </p:cNvPr>
          <p:cNvSpPr>
            <a:spLocks noGrp="1"/>
          </p:cNvSpPr>
          <p:nvPr/>
        </p:nvSpPr>
        <p:spPr>
          <a:xfrm>
            <a:off x="701575" y="5471060"/>
            <a:ext cx="10858500" cy="361950"/>
          </a:xfrm>
          <a:prstGeom prst="rect">
            <a:avLst/>
          </a:prstGeom>
          <a:noFill/>
          <a:ln w="0">
            <a:noFill/>
          </a:ln>
        </p:spPr>
        <p:txBody>
          <a:bodyPr wrap="square" lIns="0" tIns="0" rIns="0" bIns="0" anchor="t">
            <a:noAutofit/>
          </a:bodyPr>
          <a:lstStyle>
            <a:defPPr algn="l">
              <a:defRPr lang="en-US" sz="1725" b="0">
                <a:solidFill>
                  <a:srgbClr val="656B73"/>
                </a:solidFill>
                <a:latin typeface="Roboto"/>
                <a:ea typeface="Roboto"/>
                <a:cs typeface="Roboto"/>
              </a:defRPr>
            </a:defPPr>
            <a:lvl1pPr algn="l">
              <a:defRPr lang="en-US" sz="1725" b="0">
                <a:solidFill>
                  <a:srgbClr val="656B73"/>
                </a:solidFill>
                <a:latin typeface="Roboto"/>
                <a:ea typeface="Roboto"/>
                <a:cs typeface="Roboto"/>
              </a:defRPr>
            </a:lvl1pPr>
            <a:lvl2pPr algn="l">
              <a:defRPr lang="en-US" sz="1725" b="0">
                <a:solidFill>
                  <a:srgbClr val="656B73"/>
                </a:solidFill>
                <a:latin typeface="Roboto"/>
                <a:ea typeface="Roboto"/>
                <a:cs typeface="Roboto"/>
              </a:defRPr>
            </a:lvl2pPr>
            <a:lvl3pPr algn="l">
              <a:defRPr lang="en-US" sz="1725" b="0">
                <a:solidFill>
                  <a:srgbClr val="656B73"/>
                </a:solidFill>
                <a:latin typeface="Roboto"/>
                <a:ea typeface="Roboto"/>
                <a:cs typeface="Roboto"/>
              </a:defRPr>
            </a:lvl3pPr>
            <a:lvl4pPr algn="l">
              <a:defRPr lang="en-US" sz="1725" b="0">
                <a:solidFill>
                  <a:srgbClr val="656B73"/>
                </a:solidFill>
                <a:latin typeface="Roboto"/>
                <a:ea typeface="Roboto"/>
                <a:cs typeface="Roboto"/>
              </a:defRPr>
            </a:lvl4pPr>
            <a:lvl5pPr algn="l">
              <a:defRPr lang="en-US" sz="1725" b="0">
                <a:solidFill>
                  <a:srgbClr val="656B73"/>
                </a:solidFill>
                <a:latin typeface="Roboto"/>
                <a:ea typeface="Roboto"/>
                <a:cs typeface="Roboto"/>
              </a:defRPr>
            </a:lvl5pPr>
            <a:lvl6pPr algn="l">
              <a:defRPr lang="en-US" sz="1725" b="0">
                <a:solidFill>
                  <a:srgbClr val="656B73"/>
                </a:solidFill>
                <a:latin typeface="Roboto"/>
                <a:ea typeface="Roboto"/>
                <a:cs typeface="Roboto"/>
              </a:defRPr>
            </a:lvl6pPr>
            <a:lvl7pPr algn="l">
              <a:defRPr lang="en-US" sz="1725" b="0">
                <a:solidFill>
                  <a:srgbClr val="656B73"/>
                </a:solidFill>
                <a:latin typeface="Roboto"/>
                <a:ea typeface="Roboto"/>
                <a:cs typeface="Roboto"/>
              </a:defRPr>
            </a:lvl7pPr>
            <a:lvl8pPr algn="l">
              <a:defRPr lang="en-US" sz="1725" b="0">
                <a:solidFill>
                  <a:srgbClr val="656B73"/>
                </a:solidFill>
                <a:latin typeface="Roboto"/>
                <a:ea typeface="Roboto"/>
                <a:cs typeface="Roboto"/>
              </a:defRPr>
            </a:lvl8pPr>
            <a:lvl9pPr algn="l">
              <a:defRPr lang="en-US" sz="1725" b="0">
                <a:solidFill>
                  <a:srgbClr val="656B73"/>
                </a:solidFill>
                <a:latin typeface="Roboto"/>
                <a:ea typeface="Roboto"/>
                <a:cs typeface="Roboto"/>
              </a:defRPr>
            </a:lvl9pPr>
          </a:lstStyle>
          <a:p>
            <a:pPr algn="l">
              <a:defRPr lang="en-US" sz="1725" b="0">
                <a:solidFill>
                  <a:srgbClr val="656B73"/>
                </a:solidFill>
                <a:latin typeface="Roboto"/>
                <a:ea typeface="Roboto"/>
                <a:cs typeface="Roboto"/>
              </a:defRPr>
            </a:pPr>
            <a:r>
              <a:rPr lang="en-US" sz="1725" b="0" dirty="0">
                <a:solidFill>
                  <a:srgbClr val="656B73"/>
                </a:solidFill>
                <a:latin typeface="Roboto"/>
                <a:ea typeface="Roboto"/>
                <a:cs typeface="Roboto"/>
              </a:rPr>
              <a:t>Flips and 90° rotations, training only. Oversampling based on class frequency in the dataset.</a:t>
            </a:r>
          </a:p>
        </p:txBody>
      </p:sp>
    </p:spTree>
    <p:extLst>
      <p:ext uri="{BB962C8B-B14F-4D97-AF65-F5344CB8AC3E}">
        <p14:creationId xmlns:p14="http://schemas.microsoft.com/office/powerpoint/2010/main" val="2391350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4D8585C-6547-3DF2-5F9C-75F0EB87C360}"/>
              </a:ext>
            </a:extLst>
          </p:cNvPr>
          <p:cNvSpPr>
            <a:spLocks noGrp="1"/>
          </p:cNvSpPr>
          <p:nvPr>
            <p:ph type="title"/>
          </p:nvPr>
        </p:nvSpPr>
        <p:spPr>
          <a:xfrm>
            <a:off x="838200" y="365125"/>
            <a:ext cx="8384177" cy="835787"/>
          </a:xfrm>
        </p:spPr>
        <p:txBody>
          <a:bodyPr/>
          <a:lstStyle/>
          <a:p>
            <a:r>
              <a:rPr>
                <a:solidFill>
                  <a:srgbClr val="822433"/>
                </a:solidFill>
              </a:rPr>
              <a:t>Extra: SegFormer IoU per class</a:t>
            </a:r>
          </a:p>
        </p:txBody>
      </p:sp>
      <p:sp>
        <p:nvSpPr>
          <p:cNvPr id="5" name="Google Shape;103;p14">
            <a:extLst>
              <a:ext uri="{FF2B5EF4-FFF2-40B4-BE49-F238E27FC236}">
                <a16:creationId xmlns:a16="http://schemas.microsoft.com/office/drawing/2014/main" id="{9729A674-1148-4E3C-8155-19C360C96032}"/>
              </a:ext>
            </a:extLst>
          </p:cNvPr>
          <p:cNvSpPr>
            <a:spLocks noGrp="1"/>
          </p:cNvSpPr>
          <p:nvPr>
            <p:ph type="ftr" idx="11"/>
          </p:nvPr>
        </p:nvSpPr>
        <p:spPr>
          <a:xfrm>
            <a:off x="59537" y="6489369"/>
            <a:ext cx="11353800" cy="396240"/>
          </a:xfrm>
          <a:prstGeom prst="rect">
            <a:avLst/>
          </a:prstGeom>
          <a:noFill/>
          <a:ln>
            <a:noFill/>
          </a:ln>
        </p:spPr>
        <p:txBody>
          <a:bodyPr spcFirstLastPara="1" wrap="square" lIns="91425" tIns="45700" rIns="91425" bIns="45700" anchor="ctr">
            <a:noAutofit/>
          </a:bodyPr>
          <a:lstStyle/>
          <a:p>
            <a:pPr lvl="0" algn="l">
              <a:buClr>
                <a:schemeClr val="dk1"/>
              </a:buClr>
              <a:buNone/>
            </a:pPr>
            <a:r>
              <a:rPr sz="1000">
                <a:solidFill>
                  <a:srgbClr val="822433"/>
                </a:solidFill>
                <a:latin typeface="Roboto"/>
                <a:ea typeface="Roboto"/>
                <a:cs typeface="Roboto"/>
              </a:rPr>
              <a:t>               Lightweight Scene Understanding and Synthetic Data-Driven Damage Inspection for Martian Rovers                                                                     27/10/2026</a:t>
            </a:r>
          </a:p>
        </p:txBody>
      </p:sp>
      <p:sp>
        <p:nvSpPr>
          <p:cNvPr id="6" name="test-context">
            <a:extLst>
              <a:ext uri="{FF2B5EF4-FFF2-40B4-BE49-F238E27FC236}">
                <a16:creationId xmlns:a16="http://schemas.microsoft.com/office/drawing/2014/main" id="{5A9B8C7C-09F5-4585-948B-7C9EE4BFCDBE}"/>
              </a:ext>
            </a:extLst>
          </p:cNvPr>
          <p:cNvSpPr>
            <a:spLocks noGrp="1"/>
          </p:cNvSpPr>
          <p:nvPr/>
        </p:nvSpPr>
        <p:spPr>
          <a:xfrm>
            <a:off x="952500" y="5733111"/>
            <a:ext cx="10287000" cy="323850"/>
          </a:xfrm>
          <a:prstGeom prst="rect">
            <a:avLst/>
          </a:prstGeom>
          <a:noFill/>
          <a:ln w="0">
            <a:noFill/>
          </a:ln>
        </p:spPr>
        <p:txBody>
          <a:bodyPr wrap="square" lIns="0" tIns="0" rIns="0" bIns="0" anchor="t">
            <a:noAutofit/>
          </a:bodyPr>
          <a:lstStyle>
            <a:defPPr algn="l">
              <a:defRPr sz="1700" b="0">
                <a:solidFill>
                  <a:srgbClr val="646464"/>
                </a:solidFill>
                <a:latin typeface="Roboto"/>
                <a:ea typeface="Roboto"/>
                <a:cs typeface="Roboto"/>
              </a:defRPr>
            </a:defPPr>
            <a:lvl1pPr algn="l">
              <a:defRPr sz="1700" b="0">
                <a:solidFill>
                  <a:srgbClr val="646464"/>
                </a:solidFill>
                <a:latin typeface="Roboto"/>
                <a:ea typeface="Roboto"/>
                <a:cs typeface="Roboto"/>
              </a:defRPr>
            </a:lvl1pPr>
            <a:lvl2pPr algn="l">
              <a:defRPr sz="1700" b="0">
                <a:solidFill>
                  <a:srgbClr val="646464"/>
                </a:solidFill>
                <a:latin typeface="Roboto"/>
                <a:ea typeface="Roboto"/>
                <a:cs typeface="Roboto"/>
              </a:defRPr>
            </a:lvl2pPr>
            <a:lvl3pPr algn="l">
              <a:defRPr sz="1700" b="0">
                <a:solidFill>
                  <a:srgbClr val="646464"/>
                </a:solidFill>
                <a:latin typeface="Roboto"/>
                <a:ea typeface="Roboto"/>
                <a:cs typeface="Roboto"/>
              </a:defRPr>
            </a:lvl3pPr>
            <a:lvl4pPr algn="l">
              <a:defRPr sz="1700" b="0">
                <a:solidFill>
                  <a:srgbClr val="646464"/>
                </a:solidFill>
                <a:latin typeface="Roboto"/>
                <a:ea typeface="Roboto"/>
                <a:cs typeface="Roboto"/>
              </a:defRPr>
            </a:lvl4pPr>
            <a:lvl5pPr algn="l">
              <a:defRPr sz="1700" b="0">
                <a:solidFill>
                  <a:srgbClr val="646464"/>
                </a:solidFill>
                <a:latin typeface="Roboto"/>
                <a:ea typeface="Roboto"/>
                <a:cs typeface="Roboto"/>
              </a:defRPr>
            </a:lvl5pPr>
            <a:lvl6pPr algn="l">
              <a:defRPr sz="1700" b="0">
                <a:solidFill>
                  <a:srgbClr val="646464"/>
                </a:solidFill>
                <a:latin typeface="Roboto"/>
                <a:ea typeface="Roboto"/>
                <a:cs typeface="Roboto"/>
              </a:defRPr>
            </a:lvl6pPr>
            <a:lvl7pPr algn="l">
              <a:defRPr sz="1700" b="0">
                <a:solidFill>
                  <a:srgbClr val="646464"/>
                </a:solidFill>
                <a:latin typeface="Roboto"/>
                <a:ea typeface="Roboto"/>
                <a:cs typeface="Roboto"/>
              </a:defRPr>
            </a:lvl7pPr>
            <a:lvl8pPr algn="l">
              <a:defRPr sz="1700" b="0">
                <a:solidFill>
                  <a:srgbClr val="646464"/>
                </a:solidFill>
                <a:latin typeface="Roboto"/>
                <a:ea typeface="Roboto"/>
                <a:cs typeface="Roboto"/>
              </a:defRPr>
            </a:lvl8pPr>
            <a:lvl9pPr algn="l">
              <a:defRPr sz="1700" b="0">
                <a:solidFill>
                  <a:srgbClr val="646464"/>
                </a:solidFill>
                <a:latin typeface="Roboto"/>
                <a:ea typeface="Roboto"/>
                <a:cs typeface="Roboto"/>
              </a:defRPr>
            </a:lvl9pPr>
          </a:lstStyle>
          <a:p>
            <a:pPr algn="l">
              <a:defRPr sz="1700" b="0">
                <a:solidFill>
                  <a:srgbClr val="646464"/>
                </a:solidFill>
                <a:latin typeface="Roboto"/>
                <a:ea typeface="Roboto"/>
                <a:cs typeface="Roboto"/>
              </a:defRPr>
            </a:pPr>
            <a:r>
              <a:rPr sz="1400" b="0" dirty="0">
                <a:solidFill>
                  <a:srgbClr val="646464"/>
                </a:solidFill>
                <a:latin typeface="Roboto"/>
                <a:ea typeface="Roboto"/>
                <a:cs typeface="Roboto"/>
              </a:rPr>
              <a:t>S5Mars test</a:t>
            </a:r>
            <a:r>
              <a:rPr lang="it-IT" sz="1400" dirty="0"/>
              <a:t> </a:t>
            </a:r>
            <a:r>
              <a:rPr lang="it-IT" sz="1400" b="0" dirty="0">
                <a:solidFill>
                  <a:srgbClr val="646464"/>
                </a:solidFill>
                <a:latin typeface="Roboto"/>
                <a:ea typeface="Roboto"/>
                <a:cs typeface="Roboto"/>
              </a:rPr>
              <a:t>m</a:t>
            </a:r>
            <a:r>
              <a:rPr sz="1400" b="0" dirty="0" err="1">
                <a:solidFill>
                  <a:srgbClr val="646464"/>
                </a:solidFill>
                <a:latin typeface="Roboto"/>
                <a:ea typeface="Roboto"/>
                <a:cs typeface="Roboto"/>
              </a:rPr>
              <a:t>IoU</a:t>
            </a:r>
            <a:r>
              <a:rPr sz="1400" b="0" dirty="0">
                <a:solidFill>
                  <a:srgbClr val="646464"/>
                </a:solidFill>
                <a:latin typeface="Roboto"/>
                <a:ea typeface="Roboto"/>
                <a:cs typeface="Roboto"/>
              </a:rPr>
              <a:t> (%)</a:t>
            </a:r>
          </a:p>
        </p:txBody>
      </p:sp>
      <p:graphicFrame>
        <p:nvGraphicFramePr>
          <p:cNvPr id="7" name="Tabella 6">
            <a:extLst>
              <a:ext uri="{FF2B5EF4-FFF2-40B4-BE49-F238E27FC236}">
                <a16:creationId xmlns:a16="http://schemas.microsoft.com/office/drawing/2014/main" id="{43798053-638C-40A1-9875-4BFB6FE8F975}"/>
              </a:ext>
            </a:extLst>
          </p:cNvPr>
          <p:cNvGraphicFramePr/>
          <p:nvPr>
            <p:extLst>
              <p:ext uri="{D42A27DB-BD31-4B8C-83A1-F6EECF244321}">
                <p14:modId xmlns:p14="http://schemas.microsoft.com/office/powerpoint/2010/main" val="3034805815"/>
              </p:ext>
            </p:extLst>
          </p:nvPr>
        </p:nvGraphicFramePr>
        <p:xfrm>
          <a:off x="952500" y="1857375"/>
          <a:ext cx="10287000" cy="3783330"/>
        </p:xfrm>
        <a:graphic>
          <a:graphicData uri="http://schemas.openxmlformats.org/drawingml/2006/table">
            <a:tbl>
              <a:tblPr/>
              <a:tblGrid>
                <a:gridCol w="3238500">
                  <a:extLst>
                    <a:ext uri="{9D8B030D-6E8A-4147-A177-3AD203B41FA5}">
                      <a16:colId xmlns:a16="http://schemas.microsoft.com/office/drawing/2014/main" val="20000"/>
                    </a:ext>
                  </a:extLst>
                </a:gridCol>
                <a:gridCol w="1666875">
                  <a:extLst>
                    <a:ext uri="{9D8B030D-6E8A-4147-A177-3AD203B41FA5}">
                      <a16:colId xmlns:a16="http://schemas.microsoft.com/office/drawing/2014/main" val="20001"/>
                    </a:ext>
                  </a:extLst>
                </a:gridCol>
                <a:gridCol w="1666875">
                  <a:extLst>
                    <a:ext uri="{9D8B030D-6E8A-4147-A177-3AD203B41FA5}">
                      <a16:colId xmlns:a16="http://schemas.microsoft.com/office/drawing/2014/main" val="20002"/>
                    </a:ext>
                  </a:extLst>
                </a:gridCol>
                <a:gridCol w="1857375">
                  <a:extLst>
                    <a:ext uri="{9D8B030D-6E8A-4147-A177-3AD203B41FA5}">
                      <a16:colId xmlns:a16="http://schemas.microsoft.com/office/drawing/2014/main" val="20003"/>
                    </a:ext>
                  </a:extLst>
                </a:gridCol>
                <a:gridCol w="1857375">
                  <a:extLst>
                    <a:ext uri="{9D8B030D-6E8A-4147-A177-3AD203B41FA5}">
                      <a16:colId xmlns:a16="http://schemas.microsoft.com/office/drawing/2014/main" val="20004"/>
                    </a:ext>
                  </a:extLst>
                </a:gridCol>
              </a:tblGrid>
              <a:tr h="438150">
                <a:tc>
                  <a:txBody>
                    <a:bodyPr/>
                    <a:lstStyle/>
                    <a:p>
                      <a:pPr algn="l"/>
                      <a:r>
                        <a:rPr sz="1800" b="1" dirty="0">
                          <a:solidFill>
                            <a:schemeClr val="bg1"/>
                          </a:solidFill>
                          <a:latin typeface="Roboto"/>
                          <a:ea typeface="Roboto"/>
                          <a:cs typeface="Roboto"/>
                        </a:rPr>
                        <a:t>Class</a:t>
                      </a:r>
                    </a:p>
                  </a:txBody>
                  <a:tcPr marL="114300" marR="114300" marT="38100" marB="38100" anchor="ctr">
                    <a:lnL w="953">
                      <a:solidFill>
                        <a:srgbClr val="FFFFFF"/>
                      </a:solidFill>
                      <a:prstDash val="solid"/>
                    </a:lnL>
                    <a:lnR w="953">
                      <a:solidFill>
                        <a:srgbClr val="FFFFFF"/>
                      </a:solidFill>
                      <a:prstDash val="solid"/>
                    </a:lnR>
                    <a:lnT w="953">
                      <a:solidFill>
                        <a:srgbClr val="FFFFFF"/>
                      </a:solidFill>
                      <a:prstDash val="solid"/>
                    </a:lnT>
                    <a:lnB w="12700" cap="flat" cmpd="sng" algn="ctr">
                      <a:solidFill>
                        <a:schemeClr val="tx1"/>
                      </a:solidFill>
                      <a:prstDash val="solid"/>
                      <a:round/>
                      <a:headEnd type="none" w="med" len="med"/>
                      <a:tailEnd type="none" w="med" len="med"/>
                    </a:lnB>
                    <a:solidFill>
                      <a:srgbClr val="822433"/>
                    </a:solidFill>
                  </a:tcPr>
                </a:tc>
                <a:tc>
                  <a:txBody>
                    <a:bodyPr/>
                    <a:lstStyle/>
                    <a:p>
                      <a:pPr algn="ctr"/>
                      <a:r>
                        <a:rPr sz="1800" b="1" dirty="0">
                          <a:solidFill>
                            <a:schemeClr val="bg1"/>
                          </a:solidFill>
                          <a:latin typeface="Roboto"/>
                          <a:ea typeface="Roboto"/>
                          <a:cs typeface="Roboto"/>
                        </a:rPr>
                        <a:t>FP32</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12700" cap="flat" cmpd="sng" algn="ctr">
                      <a:solidFill>
                        <a:schemeClr val="tx1"/>
                      </a:solidFill>
                      <a:prstDash val="solid"/>
                      <a:round/>
                      <a:headEnd type="none" w="med" len="med"/>
                      <a:tailEnd type="none" w="med" len="med"/>
                    </a:lnB>
                    <a:solidFill>
                      <a:srgbClr val="822433"/>
                    </a:solidFill>
                  </a:tcPr>
                </a:tc>
                <a:tc>
                  <a:txBody>
                    <a:bodyPr/>
                    <a:lstStyle/>
                    <a:p>
                      <a:pPr algn="ctr"/>
                      <a:r>
                        <a:rPr sz="1800" b="1" dirty="0">
                          <a:solidFill>
                            <a:schemeClr val="bg1"/>
                          </a:solidFill>
                          <a:latin typeface="Roboto"/>
                          <a:ea typeface="Roboto"/>
                          <a:cs typeface="Roboto"/>
                        </a:rPr>
                        <a:t>FP16</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12700" cap="flat" cmpd="sng" algn="ctr">
                      <a:solidFill>
                        <a:schemeClr val="tx1"/>
                      </a:solidFill>
                      <a:prstDash val="solid"/>
                      <a:round/>
                      <a:headEnd type="none" w="med" len="med"/>
                      <a:tailEnd type="none" w="med" len="med"/>
                    </a:lnB>
                    <a:solidFill>
                      <a:srgbClr val="822433"/>
                    </a:solidFill>
                  </a:tcPr>
                </a:tc>
                <a:tc>
                  <a:txBody>
                    <a:bodyPr/>
                    <a:lstStyle/>
                    <a:p>
                      <a:pPr algn="ctr"/>
                      <a:r>
                        <a:rPr sz="1800" b="1" dirty="0">
                          <a:solidFill>
                            <a:schemeClr val="bg1"/>
                          </a:solidFill>
                          <a:latin typeface="Roboto"/>
                          <a:ea typeface="Roboto"/>
                          <a:cs typeface="Roboto"/>
                        </a:rPr>
                        <a:t>INT8 PTQ</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12700" cap="flat" cmpd="sng" algn="ctr">
                      <a:solidFill>
                        <a:schemeClr val="tx1"/>
                      </a:solidFill>
                      <a:prstDash val="solid"/>
                      <a:round/>
                      <a:headEnd type="none" w="med" len="med"/>
                      <a:tailEnd type="none" w="med" len="med"/>
                    </a:lnB>
                    <a:solidFill>
                      <a:srgbClr val="822433"/>
                    </a:solidFill>
                  </a:tcPr>
                </a:tc>
                <a:tc>
                  <a:txBody>
                    <a:bodyPr/>
                    <a:lstStyle/>
                    <a:p>
                      <a:pPr algn="ctr"/>
                      <a:r>
                        <a:rPr sz="1800" b="1" dirty="0">
                          <a:solidFill>
                            <a:schemeClr val="bg1"/>
                          </a:solidFill>
                          <a:latin typeface="Roboto"/>
                          <a:ea typeface="Roboto"/>
                          <a:cs typeface="Roboto"/>
                        </a:rPr>
                        <a:t>INT8 QAT</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12700" cap="flat" cmpd="sng" algn="ctr">
                      <a:solidFill>
                        <a:schemeClr val="tx1"/>
                      </a:solidFill>
                      <a:prstDash val="solid"/>
                      <a:round/>
                      <a:headEnd type="none" w="med" len="med"/>
                      <a:tailEnd type="none" w="med" len="med"/>
                    </a:lnB>
                    <a:solidFill>
                      <a:srgbClr val="822433"/>
                    </a:solidFill>
                  </a:tcPr>
                </a:tc>
                <a:extLst>
                  <a:ext uri="{0D108BD9-81ED-4DB2-BD59-A6C34878D82A}">
                    <a16:rowId xmlns:a16="http://schemas.microsoft.com/office/drawing/2014/main" val="10000"/>
                  </a:ext>
                </a:extLst>
              </a:tr>
              <a:tr h="342900">
                <a:tc>
                  <a:txBody>
                    <a:bodyPr/>
                    <a:lstStyle/>
                    <a:p>
                      <a:pPr algn="l"/>
                      <a:r>
                        <a:rPr sz="1900">
                          <a:solidFill>
                            <a:srgbClr val="252525"/>
                          </a:solidFill>
                          <a:latin typeface="Roboto"/>
                          <a:ea typeface="Roboto"/>
                          <a:cs typeface="Roboto"/>
                        </a:rPr>
                        <a:t>Bedrock</a:t>
                      </a:r>
                    </a:p>
                  </a:txBody>
                  <a:tcPr marL="114300" marR="114300" marT="38100" marB="38100" anchor="ctr">
                    <a:lnL w="953">
                      <a:solidFill>
                        <a:srgbClr val="FFFFFF"/>
                      </a:solidFill>
                      <a:prstDash val="solid"/>
                    </a:lnL>
                    <a:lnR w="953">
                      <a:solidFill>
                        <a:srgbClr val="FFFFFF"/>
                      </a:solidFill>
                      <a:prstDash val="solid"/>
                    </a:lnR>
                    <a:lnT w="12700" cap="flat" cmpd="sng" algn="ctr">
                      <a:solidFill>
                        <a:schemeClr val="tx1"/>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71.85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12700" cap="flat" cmpd="sng" algn="ctr">
                      <a:solidFill>
                        <a:schemeClr val="tx1"/>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71.85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12700" cap="flat" cmpd="sng" algn="ctr">
                      <a:solidFill>
                        <a:schemeClr val="tx1"/>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71.75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12700" cap="flat" cmpd="sng" algn="ctr">
                      <a:solidFill>
                        <a:schemeClr val="tx1"/>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b="1">
                          <a:solidFill>
                            <a:srgbClr val="822433"/>
                          </a:solidFill>
                          <a:latin typeface="Roboto"/>
                          <a:ea typeface="Roboto"/>
                          <a:cs typeface="Roboto"/>
                        </a:rPr>
                        <a:t>72.70</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12700" cap="flat" cmpd="sng" algn="ctr">
                      <a:solidFill>
                        <a:schemeClr val="tx1"/>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1"/>
                  </a:ext>
                </a:extLst>
              </a:tr>
              <a:tr h="342900">
                <a:tc>
                  <a:txBody>
                    <a:bodyPr/>
                    <a:lstStyle/>
                    <a:p>
                      <a:pPr algn="l"/>
                      <a:r>
                        <a:rPr sz="1900">
                          <a:solidFill>
                            <a:srgbClr val="252525"/>
                          </a:solidFill>
                          <a:latin typeface="Roboto"/>
                          <a:ea typeface="Roboto"/>
                          <a:cs typeface="Roboto"/>
                        </a:rPr>
                        <a:t>Hole</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78.11</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78.12</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78.86</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b="1">
                          <a:solidFill>
                            <a:srgbClr val="822433"/>
                          </a:solidFill>
                          <a:latin typeface="Roboto"/>
                          <a:ea typeface="Roboto"/>
                          <a:cs typeface="Roboto"/>
                        </a:rPr>
                        <a:t>79.92</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2"/>
                  </a:ext>
                </a:extLst>
              </a:tr>
              <a:tr h="342900">
                <a:tc>
                  <a:txBody>
                    <a:bodyPr/>
                    <a:lstStyle/>
                    <a:p>
                      <a:pPr algn="l"/>
                      <a:r>
                        <a:rPr sz="1900">
                          <a:solidFill>
                            <a:srgbClr val="252525"/>
                          </a:solidFill>
                          <a:latin typeface="Roboto"/>
                          <a:ea typeface="Roboto"/>
                          <a:cs typeface="Roboto"/>
                        </a:rPr>
                        <a:t>Ridge</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90.20</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90.20</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89.94</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b="1">
                          <a:solidFill>
                            <a:srgbClr val="822433"/>
                          </a:solidFill>
                          <a:latin typeface="Roboto"/>
                          <a:ea typeface="Roboto"/>
                          <a:cs typeface="Roboto"/>
                        </a:rPr>
                        <a:t>90.96</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3"/>
                  </a:ext>
                </a:extLst>
              </a:tr>
              <a:tr h="342900">
                <a:tc>
                  <a:txBody>
                    <a:bodyPr/>
                    <a:lstStyle/>
                    <a:p>
                      <a:pPr algn="l"/>
                      <a:r>
                        <a:rPr sz="1900" dirty="0">
                          <a:solidFill>
                            <a:srgbClr val="252525"/>
                          </a:solidFill>
                          <a:latin typeface="Roboto"/>
                          <a:ea typeface="Roboto"/>
                          <a:cs typeface="Roboto"/>
                        </a:rPr>
                        <a:t>Rock</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21.77</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21.75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21.67</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b="1">
                          <a:solidFill>
                            <a:srgbClr val="822433"/>
                          </a:solidFill>
                          <a:latin typeface="Roboto"/>
                          <a:ea typeface="Roboto"/>
                          <a:cs typeface="Roboto"/>
                        </a:rPr>
                        <a:t>26.15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4"/>
                  </a:ext>
                </a:extLst>
              </a:tr>
              <a:tr h="342900">
                <a:tc>
                  <a:txBody>
                    <a:bodyPr/>
                    <a:lstStyle/>
                    <a:p>
                      <a:pPr algn="l"/>
                      <a:r>
                        <a:rPr sz="1900">
                          <a:solidFill>
                            <a:srgbClr val="252525"/>
                          </a:solidFill>
                          <a:latin typeface="Roboto"/>
                          <a:ea typeface="Roboto"/>
                          <a:cs typeface="Roboto"/>
                        </a:rPr>
                        <a:t>Rover</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83.03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83.03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83.33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b="1">
                          <a:solidFill>
                            <a:srgbClr val="822433"/>
                          </a:solidFill>
                          <a:latin typeface="Roboto"/>
                          <a:ea typeface="Roboto"/>
                          <a:cs typeface="Roboto"/>
                        </a:rPr>
                        <a:t>84.60</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5"/>
                  </a:ext>
                </a:extLst>
              </a:tr>
              <a:tr h="342900">
                <a:tc>
                  <a:txBody>
                    <a:bodyPr/>
                    <a:lstStyle/>
                    <a:p>
                      <a:pPr algn="l"/>
                      <a:r>
                        <a:rPr sz="1900">
                          <a:solidFill>
                            <a:srgbClr val="252525"/>
                          </a:solidFill>
                          <a:latin typeface="Roboto"/>
                          <a:ea typeface="Roboto"/>
                          <a:cs typeface="Roboto"/>
                        </a:rPr>
                        <a:t>Sand / Soil</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89.48</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89.48</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89.43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b="1">
                          <a:solidFill>
                            <a:srgbClr val="822433"/>
                          </a:solidFill>
                          <a:latin typeface="Roboto"/>
                          <a:ea typeface="Roboto"/>
                          <a:cs typeface="Roboto"/>
                        </a:rPr>
                        <a:t>89.78</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6"/>
                  </a:ext>
                </a:extLst>
              </a:tr>
              <a:tr h="342900">
                <a:tc>
                  <a:txBody>
                    <a:bodyPr/>
                    <a:lstStyle/>
                    <a:p>
                      <a:pPr algn="l"/>
                      <a:r>
                        <a:rPr sz="1900">
                          <a:solidFill>
                            <a:srgbClr val="252525"/>
                          </a:solidFill>
                          <a:latin typeface="Roboto"/>
                          <a:ea typeface="Roboto"/>
                          <a:cs typeface="Roboto"/>
                        </a:rPr>
                        <a:t>Sky</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94.02</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94.03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93.85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b="1">
                          <a:solidFill>
                            <a:srgbClr val="822433"/>
                          </a:solidFill>
                          <a:latin typeface="Roboto"/>
                          <a:ea typeface="Roboto"/>
                          <a:cs typeface="Roboto"/>
                        </a:rPr>
                        <a:t>95.13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7"/>
                  </a:ext>
                </a:extLst>
              </a:tr>
              <a:tr h="342900">
                <a:tc>
                  <a:txBody>
                    <a:bodyPr/>
                    <a:lstStyle/>
                    <a:p>
                      <a:pPr algn="l"/>
                      <a:r>
                        <a:rPr sz="1900">
                          <a:solidFill>
                            <a:srgbClr val="252525"/>
                          </a:solidFill>
                          <a:latin typeface="Roboto"/>
                          <a:ea typeface="Roboto"/>
                          <a:cs typeface="Roboto"/>
                        </a:rPr>
                        <a:t>Track</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75.96</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75.97</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76.01</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b="1">
                          <a:solidFill>
                            <a:srgbClr val="822433"/>
                          </a:solidFill>
                          <a:latin typeface="Roboto"/>
                          <a:ea typeface="Roboto"/>
                          <a:cs typeface="Roboto"/>
                        </a:rPr>
                        <a:t>76.19</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8"/>
                  </a:ext>
                </a:extLst>
              </a:tr>
              <a:tr h="419100">
                <a:tc>
                  <a:txBody>
                    <a:bodyPr/>
                    <a:lstStyle/>
                    <a:p>
                      <a:pPr algn="l"/>
                      <a:r>
                        <a:rPr sz="2000" b="1">
                          <a:solidFill>
                            <a:srgbClr val="822433"/>
                          </a:solidFill>
                          <a:latin typeface="Roboto"/>
                          <a:ea typeface="Roboto"/>
                          <a:cs typeface="Roboto"/>
                        </a:rPr>
                        <a:t>mIoU</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EFE5E7"/>
                    </a:solidFill>
                  </a:tcPr>
                </a:tc>
                <a:tc>
                  <a:txBody>
                    <a:bodyPr/>
                    <a:lstStyle/>
                    <a:p>
                      <a:pPr algn="ctr"/>
                      <a:r>
                        <a:rPr sz="2000" b="1" dirty="0">
                          <a:solidFill>
                            <a:srgbClr val="822433"/>
                          </a:solidFill>
                          <a:latin typeface="Roboto"/>
                          <a:ea typeface="Roboto"/>
                          <a:cs typeface="Roboto"/>
                        </a:rPr>
                        <a:t>75.55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EFE5E7"/>
                    </a:solidFill>
                  </a:tcPr>
                </a:tc>
                <a:tc>
                  <a:txBody>
                    <a:bodyPr/>
                    <a:lstStyle/>
                    <a:p>
                      <a:pPr algn="ctr"/>
                      <a:r>
                        <a:rPr sz="2000" b="1">
                          <a:solidFill>
                            <a:srgbClr val="822433"/>
                          </a:solidFill>
                          <a:latin typeface="Roboto"/>
                          <a:ea typeface="Roboto"/>
                          <a:cs typeface="Roboto"/>
                        </a:rPr>
                        <a:t>75.55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EFE5E7"/>
                    </a:solidFill>
                  </a:tcPr>
                </a:tc>
                <a:tc>
                  <a:txBody>
                    <a:bodyPr/>
                    <a:lstStyle/>
                    <a:p>
                      <a:pPr algn="ctr"/>
                      <a:r>
                        <a:rPr sz="2000" b="1">
                          <a:solidFill>
                            <a:srgbClr val="822433"/>
                          </a:solidFill>
                          <a:latin typeface="Roboto"/>
                          <a:ea typeface="Roboto"/>
                          <a:cs typeface="Roboto"/>
                        </a:rPr>
                        <a:t>75.60</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EFE5E7"/>
                    </a:solidFill>
                  </a:tcPr>
                </a:tc>
                <a:tc>
                  <a:txBody>
                    <a:bodyPr/>
                    <a:lstStyle/>
                    <a:p>
                      <a:pPr algn="ctr"/>
                      <a:r>
                        <a:rPr sz="2000" b="1" dirty="0">
                          <a:solidFill>
                            <a:srgbClr val="822433"/>
                          </a:solidFill>
                          <a:latin typeface="Roboto"/>
                          <a:ea typeface="Roboto"/>
                          <a:cs typeface="Roboto"/>
                        </a:rPr>
                        <a:t>76.93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EFE5E7"/>
                    </a:solidFill>
                  </a:tcPr>
                </a:tc>
                <a:extLst>
                  <a:ext uri="{0D108BD9-81ED-4DB2-BD59-A6C34878D82A}">
                    <a16:rowId xmlns:a16="http://schemas.microsoft.com/office/drawing/2014/main" val="10009"/>
                  </a:ext>
                </a:extLst>
              </a:tr>
            </a:tbl>
          </a:graphicData>
        </a:graphic>
      </p:graphicFrame>
      <p:sp>
        <p:nvSpPr>
          <p:cNvPr id="10" name="extra-footer">
            <a:extLst>
              <a:ext uri="{FF2B5EF4-FFF2-40B4-BE49-F238E27FC236}">
                <a16:creationId xmlns:a16="http://schemas.microsoft.com/office/drawing/2014/main" id="{8DF6B8C2-EE4D-4F84-8853-D2989DEE6FEB}"/>
              </a:ext>
            </a:extLst>
          </p:cNvPr>
          <p:cNvSpPr>
            <a:spLocks noGrp="1"/>
          </p:cNvSpPr>
          <p:nvPr/>
        </p:nvSpPr>
        <p:spPr>
          <a:xfrm>
            <a:off x="10810875" y="6581775"/>
            <a:ext cx="914400" cy="219075"/>
          </a:xfrm>
          <a:prstGeom prst="rect">
            <a:avLst/>
          </a:prstGeom>
          <a:noFill/>
          <a:ln w="0">
            <a:noFill/>
          </a:ln>
        </p:spPr>
        <p:txBody>
          <a:bodyPr wrap="square" lIns="0" tIns="0" rIns="0" bIns="0" anchor="t">
            <a:noAutofit/>
          </a:bodyPr>
          <a:lstStyle>
            <a:defPPr algn="r">
              <a:defRPr sz="1000" b="0">
                <a:solidFill>
                  <a:srgbClr val="822433"/>
                </a:solidFill>
                <a:latin typeface="Roboto"/>
                <a:ea typeface="Roboto"/>
                <a:cs typeface="Roboto"/>
              </a:defRPr>
            </a:defPPr>
            <a:lvl1pPr algn="r">
              <a:defRPr sz="1000" b="0">
                <a:solidFill>
                  <a:srgbClr val="822433"/>
                </a:solidFill>
                <a:latin typeface="Roboto"/>
                <a:ea typeface="Roboto"/>
                <a:cs typeface="Roboto"/>
              </a:defRPr>
            </a:lvl1pPr>
            <a:lvl2pPr algn="r">
              <a:defRPr sz="1000" b="0">
                <a:solidFill>
                  <a:srgbClr val="822433"/>
                </a:solidFill>
                <a:latin typeface="Roboto"/>
                <a:ea typeface="Roboto"/>
                <a:cs typeface="Roboto"/>
              </a:defRPr>
            </a:lvl2pPr>
            <a:lvl3pPr algn="r">
              <a:defRPr sz="1000" b="0">
                <a:solidFill>
                  <a:srgbClr val="822433"/>
                </a:solidFill>
                <a:latin typeface="Roboto"/>
                <a:ea typeface="Roboto"/>
                <a:cs typeface="Roboto"/>
              </a:defRPr>
            </a:lvl3pPr>
            <a:lvl4pPr algn="r">
              <a:defRPr sz="1000" b="0">
                <a:solidFill>
                  <a:srgbClr val="822433"/>
                </a:solidFill>
                <a:latin typeface="Roboto"/>
                <a:ea typeface="Roboto"/>
                <a:cs typeface="Roboto"/>
              </a:defRPr>
            </a:lvl4pPr>
            <a:lvl5pPr algn="r">
              <a:defRPr sz="1000" b="0">
                <a:solidFill>
                  <a:srgbClr val="822433"/>
                </a:solidFill>
                <a:latin typeface="Roboto"/>
                <a:ea typeface="Roboto"/>
                <a:cs typeface="Roboto"/>
              </a:defRPr>
            </a:lvl5pPr>
            <a:lvl6pPr algn="r">
              <a:defRPr sz="1000" b="0">
                <a:solidFill>
                  <a:srgbClr val="822433"/>
                </a:solidFill>
                <a:latin typeface="Roboto"/>
                <a:ea typeface="Roboto"/>
                <a:cs typeface="Roboto"/>
              </a:defRPr>
            </a:lvl6pPr>
            <a:lvl7pPr algn="r">
              <a:defRPr sz="1000" b="0">
                <a:solidFill>
                  <a:srgbClr val="822433"/>
                </a:solidFill>
                <a:latin typeface="Roboto"/>
                <a:ea typeface="Roboto"/>
                <a:cs typeface="Roboto"/>
              </a:defRPr>
            </a:lvl7pPr>
            <a:lvl8pPr algn="r">
              <a:defRPr sz="1000" b="0">
                <a:solidFill>
                  <a:srgbClr val="822433"/>
                </a:solidFill>
                <a:latin typeface="Roboto"/>
                <a:ea typeface="Roboto"/>
                <a:cs typeface="Roboto"/>
              </a:defRPr>
            </a:lvl8pPr>
            <a:lvl9pPr algn="r">
              <a:defRPr sz="1000" b="0">
                <a:solidFill>
                  <a:srgbClr val="822433"/>
                </a:solidFill>
                <a:latin typeface="Roboto"/>
                <a:ea typeface="Roboto"/>
                <a:cs typeface="Roboto"/>
              </a:defRPr>
            </a:lvl9pPr>
          </a:lstStyle>
          <a:p>
            <a:pPr algn="r">
              <a:defRPr sz="1000" b="0">
                <a:solidFill>
                  <a:srgbClr val="822433"/>
                </a:solidFill>
                <a:latin typeface="Roboto"/>
                <a:ea typeface="Roboto"/>
                <a:cs typeface="Roboto"/>
              </a:defRPr>
            </a:pPr>
            <a:r>
              <a:rPr sz="1000" b="0">
                <a:solidFill>
                  <a:srgbClr val="822433"/>
                </a:solidFill>
                <a:latin typeface="Roboto"/>
                <a:ea typeface="Roboto"/>
                <a:cs typeface="Roboto"/>
              </a:rPr>
              <a:t>Extra</a:t>
            </a:r>
          </a:p>
        </p:txBody>
      </p:sp>
    </p:spTree>
    <p:extLst>
      <p:ext uri="{BB962C8B-B14F-4D97-AF65-F5344CB8AC3E}">
        <p14:creationId xmlns:p14="http://schemas.microsoft.com/office/powerpoint/2010/main" val="28596615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E713CB4-D484-5AC4-B62D-7D85E1523F04}"/>
              </a:ext>
            </a:extLst>
          </p:cNvPr>
          <p:cNvSpPr>
            <a:spLocks noGrp="1"/>
          </p:cNvSpPr>
          <p:nvPr>
            <p:ph type="title"/>
          </p:nvPr>
        </p:nvSpPr>
        <p:spPr>
          <a:xfrm>
            <a:off x="838200" y="365125"/>
            <a:ext cx="8384177" cy="835787"/>
          </a:xfrm>
        </p:spPr>
        <p:txBody>
          <a:bodyPr/>
          <a:lstStyle/>
          <a:p>
            <a:r>
              <a:rPr>
                <a:solidFill>
                  <a:srgbClr val="822433"/>
                </a:solidFill>
              </a:rPr>
              <a:t>Extra: Mars-Bench</a:t>
            </a:r>
          </a:p>
        </p:txBody>
      </p:sp>
      <p:sp>
        <p:nvSpPr>
          <p:cNvPr id="5" name="Google Shape;103;p14">
            <a:extLst>
              <a:ext uri="{FF2B5EF4-FFF2-40B4-BE49-F238E27FC236}">
                <a16:creationId xmlns:a16="http://schemas.microsoft.com/office/drawing/2014/main" id="{504A17F8-E2ED-6EF8-07F5-9ABB93526B54}"/>
              </a:ext>
            </a:extLst>
          </p:cNvPr>
          <p:cNvSpPr>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oAutofit/>
          </a:bodyPr>
          <a:lstStyle/>
          <a:p>
            <a:pPr lvl="0" algn="l">
              <a:buClr>
                <a:schemeClr val="dk1"/>
              </a:buClr>
              <a:buNone/>
            </a:pPr>
            <a:r>
              <a:rPr sz="1000">
                <a:solidFill>
                  <a:srgbClr val="822433"/>
                </a:solidFill>
                <a:latin typeface="Roboto"/>
                <a:ea typeface="Roboto"/>
                <a:cs typeface="Roboto"/>
              </a:rPr>
              <a:t>               Lightweight Scene Understanding and Synthetic Data-Driven Damage Inspection for Martian Rovers                                                                     27/10/2026</a:t>
            </a:r>
          </a:p>
        </p:txBody>
      </p:sp>
      <p:graphicFrame>
        <p:nvGraphicFramePr>
          <p:cNvPr id="7" name="Tabella 6">
            <a:extLst>
              <a:ext uri="{FF2B5EF4-FFF2-40B4-BE49-F238E27FC236}">
                <a16:creationId xmlns:a16="http://schemas.microsoft.com/office/drawing/2014/main" id="{07A263A2-2D32-4627-BA96-49465B84C7A6}"/>
              </a:ext>
            </a:extLst>
          </p:cNvPr>
          <p:cNvGraphicFramePr/>
          <p:nvPr>
            <p:extLst>
              <p:ext uri="{D42A27DB-BD31-4B8C-83A1-F6EECF244321}">
                <p14:modId xmlns:p14="http://schemas.microsoft.com/office/powerpoint/2010/main" val="3962991662"/>
              </p:ext>
            </p:extLst>
          </p:nvPr>
        </p:nvGraphicFramePr>
        <p:xfrm>
          <a:off x="952500" y="1866900"/>
          <a:ext cx="10287000" cy="3356610"/>
        </p:xfrm>
        <a:graphic>
          <a:graphicData uri="http://schemas.openxmlformats.org/drawingml/2006/table">
            <a:tbl>
              <a:tblPr/>
              <a:tblGrid>
                <a:gridCol w="5905500">
                  <a:extLst>
                    <a:ext uri="{9D8B030D-6E8A-4147-A177-3AD203B41FA5}">
                      <a16:colId xmlns:a16="http://schemas.microsoft.com/office/drawing/2014/main" val="20000"/>
                    </a:ext>
                  </a:extLst>
                </a:gridCol>
                <a:gridCol w="20955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571500">
                <a:tc>
                  <a:txBody>
                    <a:bodyPr/>
                    <a:lstStyle/>
                    <a:p>
                      <a:pPr algn="l"/>
                      <a:r>
                        <a:rPr sz="1700" b="1">
                          <a:solidFill>
                            <a:srgbClr val="FFFFFF"/>
                          </a:solidFill>
                          <a:latin typeface="Roboto"/>
                          <a:ea typeface="Roboto"/>
                          <a:cs typeface="Roboto"/>
                        </a:rPr>
                        <a:t>Model</a:t>
                      </a:r>
                    </a:p>
                  </a:txBody>
                  <a:tcPr marL="152400" marR="152400" marT="76200" marB="76200" anchor="ctr">
                    <a:lnL w="6191">
                      <a:solidFill>
                        <a:srgbClr val="DADADA"/>
                      </a:solidFill>
                      <a:prstDash val="solid"/>
                    </a:lnL>
                    <a:lnR w="6191">
                      <a:solidFill>
                        <a:srgbClr val="DADADA"/>
                      </a:solidFill>
                      <a:prstDash val="solid"/>
                    </a:lnR>
                    <a:lnT w="6191">
                      <a:solidFill>
                        <a:srgbClr val="DADADA"/>
                      </a:solidFill>
                      <a:prstDash val="solid"/>
                    </a:lnT>
                    <a:lnB w="6191">
                      <a:solidFill>
                        <a:srgbClr val="DADADA"/>
                      </a:solidFill>
                      <a:prstDash val="solid"/>
                    </a:lnB>
                    <a:solidFill>
                      <a:srgbClr val="822433"/>
                    </a:solidFill>
                  </a:tcPr>
                </a:tc>
                <a:tc>
                  <a:txBody>
                    <a:bodyPr/>
                    <a:lstStyle/>
                    <a:p>
                      <a:pPr algn="ctr"/>
                      <a:r>
                        <a:rPr sz="1700" b="1">
                          <a:solidFill>
                            <a:srgbClr val="FFFFFF"/>
                          </a:solidFill>
                          <a:latin typeface="Roboto"/>
                          <a:ea typeface="Roboto"/>
                          <a:cs typeface="Roboto"/>
                        </a:rPr>
                        <a:t>S5Mars mIoU</a:t>
                      </a:r>
                    </a:p>
                    <a:p>
                      <a:pPr algn="ctr"/>
                      <a:r>
                        <a:rPr sz="1700" b="1">
                          <a:solidFill>
                            <a:srgbClr val="FFFFFF"/>
                          </a:solidFill>
                          <a:latin typeface="Roboto"/>
                          <a:ea typeface="Roboto"/>
                          <a:cs typeface="Roboto"/>
                        </a:rPr>
                        <a:t>(%)</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a:solidFill>
                        <a:srgbClr val="DADADA"/>
                      </a:solidFill>
                      <a:prstDash val="solid"/>
                    </a:lnT>
                    <a:lnB w="6191">
                      <a:solidFill>
                        <a:srgbClr val="DADADA"/>
                      </a:solidFill>
                      <a:prstDash val="solid"/>
                    </a:lnB>
                    <a:solidFill>
                      <a:srgbClr val="822433"/>
                    </a:solidFill>
                  </a:tcPr>
                </a:tc>
                <a:tc>
                  <a:txBody>
                    <a:bodyPr/>
                    <a:lstStyle/>
                    <a:p>
                      <a:pPr algn="ctr"/>
                      <a:r>
                        <a:rPr sz="1700" b="1">
                          <a:solidFill>
                            <a:srgbClr val="FFFFFF"/>
                          </a:solidFill>
                          <a:latin typeface="Roboto"/>
                          <a:ea typeface="Roboto"/>
                          <a:cs typeface="Roboto"/>
                        </a:rPr>
                        <a:t>Total parameters</a:t>
                      </a:r>
                    </a:p>
                    <a:p>
                      <a:pPr algn="ctr"/>
                      <a:r>
                        <a:rPr sz="1700" b="1">
                          <a:solidFill>
                            <a:srgbClr val="FFFFFF"/>
                          </a:solidFill>
                          <a:latin typeface="Roboto"/>
                          <a:ea typeface="Roboto"/>
                          <a:cs typeface="Roboto"/>
                        </a:rPr>
                        <a:t>(M)</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a:solidFill>
                        <a:srgbClr val="DADADA"/>
                      </a:solidFill>
                      <a:prstDash val="solid"/>
                    </a:lnT>
                    <a:lnB w="6191">
                      <a:solidFill>
                        <a:srgbClr val="DADADA"/>
                      </a:solidFill>
                      <a:prstDash val="solid"/>
                    </a:lnB>
                    <a:solidFill>
                      <a:srgbClr val="822433"/>
                    </a:solidFill>
                  </a:tcPr>
                </a:tc>
                <a:extLst>
                  <a:ext uri="{0D108BD9-81ED-4DB2-BD59-A6C34878D82A}">
                    <a16:rowId xmlns:a16="http://schemas.microsoft.com/office/drawing/2014/main" val="10000"/>
                  </a:ext>
                </a:extLst>
              </a:tr>
              <a:tr h="447675">
                <a:tc>
                  <a:txBody>
                    <a:bodyPr/>
                    <a:lstStyle/>
                    <a:p>
                      <a:pPr algn="l"/>
                      <a:r>
                        <a:rPr sz="1800" b="1" dirty="0">
                          <a:solidFill>
                            <a:srgbClr val="252525"/>
                          </a:solidFill>
                          <a:latin typeface="Calibri"/>
                          <a:ea typeface="Calibri"/>
                          <a:cs typeface="Calibri"/>
                        </a:rPr>
                        <a:t>SegFormer-B0 (this thesis)</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tc>
                  <a:txBody>
                    <a:bodyPr/>
                    <a:lstStyle/>
                    <a:p>
                      <a:pPr algn="ctr"/>
                      <a:r>
                        <a:rPr sz="1800" b="1" dirty="0">
                          <a:solidFill>
                            <a:srgbClr val="822433"/>
                          </a:solidFill>
                          <a:latin typeface="Calibri"/>
                          <a:ea typeface="Calibri"/>
                          <a:cs typeface="Calibri"/>
                        </a:rPr>
                        <a:t>7</a:t>
                      </a:r>
                      <a:r>
                        <a:rPr lang="it-IT" sz="1800" b="1" dirty="0">
                          <a:solidFill>
                            <a:srgbClr val="822433"/>
                          </a:solidFill>
                          <a:latin typeface="Calibri"/>
                          <a:ea typeface="Calibri"/>
                          <a:cs typeface="Calibri"/>
                        </a:rPr>
                        <a:t>5</a:t>
                      </a:r>
                      <a:r>
                        <a:rPr sz="1800" b="1" dirty="0">
                          <a:solidFill>
                            <a:srgbClr val="822433"/>
                          </a:solidFill>
                          <a:latin typeface="Calibri"/>
                          <a:ea typeface="Calibri"/>
                          <a:cs typeface="Calibri"/>
                        </a:rPr>
                        <a:t>.</a:t>
                      </a:r>
                      <a:r>
                        <a:rPr lang="it-IT" sz="1800" b="1" dirty="0">
                          <a:solidFill>
                            <a:srgbClr val="822433"/>
                          </a:solidFill>
                          <a:latin typeface="Calibri"/>
                          <a:ea typeface="Calibri"/>
                          <a:cs typeface="Calibri"/>
                        </a:rPr>
                        <a:t>55</a:t>
                      </a:r>
                      <a:endParaRPr sz="1800" b="1" dirty="0">
                        <a:solidFill>
                          <a:srgbClr val="822433"/>
                        </a:solidFill>
                        <a:latin typeface="Calibri"/>
                        <a:ea typeface="Calibri"/>
                        <a:cs typeface="Calibri"/>
                      </a:endParaRP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tc>
                  <a:txBody>
                    <a:bodyPr/>
                    <a:lstStyle/>
                    <a:p>
                      <a:pPr algn="ctr"/>
                      <a:r>
                        <a:rPr sz="1800" b="1">
                          <a:solidFill>
                            <a:srgbClr val="822433"/>
                          </a:solidFill>
                          <a:latin typeface="Calibri"/>
                          <a:ea typeface="Calibri"/>
                          <a:cs typeface="Calibri"/>
                        </a:rPr>
                        <a:t>3.72</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extLst>
                  <a:ext uri="{0D108BD9-81ED-4DB2-BD59-A6C34878D82A}">
                    <a16:rowId xmlns:a16="http://schemas.microsoft.com/office/drawing/2014/main" val="10001"/>
                  </a:ext>
                </a:extLst>
              </a:tr>
              <a:tr h="447675">
                <a:tc>
                  <a:txBody>
                    <a:bodyPr/>
                    <a:lstStyle/>
                    <a:p>
                      <a:pPr algn="l"/>
                      <a:r>
                        <a:rPr sz="1800" b="1" dirty="0">
                          <a:solidFill>
                            <a:srgbClr val="252525"/>
                          </a:solidFill>
                          <a:latin typeface="Calibri"/>
                          <a:ea typeface="Calibri"/>
                          <a:cs typeface="Calibri"/>
                        </a:rPr>
                        <a:t>DeepLabV3+ / MobileNetV2 </a:t>
                      </a:r>
                      <a:r>
                        <a:rPr lang="it-IT" sz="1800" b="1" dirty="0">
                          <a:solidFill>
                            <a:srgbClr val="252525"/>
                          </a:solidFill>
                          <a:latin typeface="Calibri"/>
                          <a:ea typeface="Calibri"/>
                          <a:cs typeface="Calibri"/>
                        </a:rPr>
                        <a:t>(</a:t>
                      </a:r>
                      <a:r>
                        <a:rPr sz="1800" b="1" dirty="0">
                          <a:solidFill>
                            <a:srgbClr val="252525"/>
                          </a:solidFill>
                          <a:latin typeface="Calibri"/>
                          <a:ea typeface="Calibri"/>
                          <a:cs typeface="Calibri"/>
                        </a:rPr>
                        <a:t>this thesis)</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tc>
                  <a:txBody>
                    <a:bodyPr/>
                    <a:lstStyle/>
                    <a:p>
                      <a:pPr algn="ctr"/>
                      <a:r>
                        <a:rPr sz="1800" b="1" dirty="0">
                          <a:solidFill>
                            <a:srgbClr val="822433"/>
                          </a:solidFill>
                          <a:latin typeface="Calibri"/>
                          <a:ea typeface="Calibri"/>
                          <a:cs typeface="Calibri"/>
                        </a:rPr>
                        <a:t>6</a:t>
                      </a:r>
                      <a:r>
                        <a:rPr lang="it-IT" sz="1800" b="1" dirty="0">
                          <a:solidFill>
                            <a:srgbClr val="822433"/>
                          </a:solidFill>
                          <a:latin typeface="Calibri"/>
                          <a:ea typeface="Calibri"/>
                          <a:cs typeface="Calibri"/>
                        </a:rPr>
                        <a:t>4</a:t>
                      </a:r>
                      <a:r>
                        <a:rPr sz="1800" b="1" dirty="0">
                          <a:solidFill>
                            <a:srgbClr val="822433"/>
                          </a:solidFill>
                          <a:latin typeface="Calibri"/>
                          <a:ea typeface="Calibri"/>
                          <a:cs typeface="Calibri"/>
                        </a:rPr>
                        <a:t>.</a:t>
                      </a:r>
                      <a:r>
                        <a:rPr lang="it-IT" sz="1800" b="1" dirty="0">
                          <a:solidFill>
                            <a:srgbClr val="822433"/>
                          </a:solidFill>
                          <a:latin typeface="Calibri"/>
                          <a:ea typeface="Calibri"/>
                          <a:cs typeface="Calibri"/>
                        </a:rPr>
                        <a:t>07</a:t>
                      </a:r>
                      <a:endParaRPr sz="1800" b="1" dirty="0">
                        <a:solidFill>
                          <a:srgbClr val="822433"/>
                        </a:solidFill>
                        <a:latin typeface="Calibri"/>
                        <a:ea typeface="Calibri"/>
                        <a:cs typeface="Calibri"/>
                      </a:endParaRP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tc>
                  <a:txBody>
                    <a:bodyPr/>
                    <a:lstStyle/>
                    <a:p>
                      <a:pPr algn="ctr"/>
                      <a:r>
                        <a:rPr sz="1800" b="1">
                          <a:solidFill>
                            <a:srgbClr val="822433"/>
                          </a:solidFill>
                          <a:latin typeface="Calibri"/>
                          <a:ea typeface="Calibri"/>
                          <a:cs typeface="Calibri"/>
                        </a:rPr>
                        <a:t>4.38</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extLst>
                  <a:ext uri="{0D108BD9-81ED-4DB2-BD59-A6C34878D82A}">
                    <a16:rowId xmlns:a16="http://schemas.microsoft.com/office/drawing/2014/main" val="10002"/>
                  </a:ext>
                </a:extLst>
              </a:tr>
              <a:tr h="447675">
                <a:tc>
                  <a:txBody>
                    <a:bodyPr/>
                    <a:lstStyle/>
                    <a:p>
                      <a:pPr algn="l"/>
                      <a:r>
                        <a:rPr sz="1800" b="0">
                          <a:solidFill>
                            <a:srgbClr val="252525"/>
                          </a:solidFill>
                          <a:latin typeface="Calibri"/>
                          <a:ea typeface="Calibri"/>
                          <a:cs typeface="Calibri"/>
                        </a:rPr>
                        <a:t>U-Net / ResNet34 (Mars-Bench)</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tc>
                  <a:txBody>
                    <a:bodyPr/>
                    <a:lstStyle/>
                    <a:p>
                      <a:pPr algn="ctr"/>
                      <a:r>
                        <a:rPr sz="1800">
                          <a:solidFill>
                            <a:srgbClr val="252525"/>
                          </a:solidFill>
                          <a:latin typeface="Calibri"/>
                          <a:ea typeface="Calibri"/>
                          <a:cs typeface="Calibri"/>
                        </a:rPr>
                        <a:t>17.77</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tc>
                  <a:txBody>
                    <a:bodyPr/>
                    <a:lstStyle/>
                    <a:p>
                      <a:pPr algn="ctr"/>
                      <a:r>
                        <a:rPr sz="1800">
                          <a:solidFill>
                            <a:srgbClr val="252525"/>
                          </a:solidFill>
                          <a:latin typeface="Calibri"/>
                          <a:ea typeface="Calibri"/>
                          <a:cs typeface="Calibri"/>
                        </a:rPr>
                        <a:t>≈ 24.4</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extLst>
                  <a:ext uri="{0D108BD9-81ED-4DB2-BD59-A6C34878D82A}">
                    <a16:rowId xmlns:a16="http://schemas.microsoft.com/office/drawing/2014/main" val="10003"/>
                  </a:ext>
                </a:extLst>
              </a:tr>
              <a:tr h="447675">
                <a:tc>
                  <a:txBody>
                    <a:bodyPr/>
                    <a:lstStyle/>
                    <a:p>
                      <a:pPr algn="l"/>
                      <a:r>
                        <a:rPr sz="1800" b="0" dirty="0">
                          <a:solidFill>
                            <a:srgbClr val="252525"/>
                          </a:solidFill>
                          <a:latin typeface="Calibri"/>
                          <a:ea typeface="Calibri"/>
                          <a:cs typeface="Calibri"/>
                        </a:rPr>
                        <a:t>DeepLabV3+ / ResNet34 (Mars-Bench)</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tc>
                  <a:txBody>
                    <a:bodyPr/>
                    <a:lstStyle/>
                    <a:p>
                      <a:pPr algn="ctr"/>
                      <a:r>
                        <a:rPr sz="1800" dirty="0">
                          <a:solidFill>
                            <a:srgbClr val="252525"/>
                          </a:solidFill>
                          <a:latin typeface="Calibri"/>
                          <a:ea typeface="Calibri"/>
                          <a:cs typeface="Calibri"/>
                        </a:rPr>
                        <a:t>16.74</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tc>
                  <a:txBody>
                    <a:bodyPr/>
                    <a:lstStyle/>
                    <a:p>
                      <a:pPr algn="ctr"/>
                      <a:r>
                        <a:rPr sz="1800" dirty="0">
                          <a:solidFill>
                            <a:srgbClr val="252525"/>
                          </a:solidFill>
                          <a:latin typeface="Calibri"/>
                          <a:ea typeface="Calibri"/>
                          <a:cs typeface="Calibri"/>
                        </a:rPr>
                        <a:t>≈ 22.4</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extLst>
                  <a:ext uri="{0D108BD9-81ED-4DB2-BD59-A6C34878D82A}">
                    <a16:rowId xmlns:a16="http://schemas.microsoft.com/office/drawing/2014/main" val="10004"/>
                  </a:ext>
                </a:extLst>
              </a:tr>
              <a:tr h="447675">
                <a:tc>
                  <a:txBody>
                    <a:bodyPr/>
                    <a:lstStyle/>
                    <a:p>
                      <a:pPr algn="l"/>
                      <a:r>
                        <a:rPr sz="1800" b="0">
                          <a:solidFill>
                            <a:srgbClr val="252525"/>
                          </a:solidFill>
                          <a:latin typeface="Calibri"/>
                          <a:ea typeface="Calibri"/>
                          <a:cs typeface="Calibri"/>
                        </a:rPr>
                        <a:t>SegFormer / ResNet34 (Mars-Bench)</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tc>
                  <a:txBody>
                    <a:bodyPr/>
                    <a:lstStyle/>
                    <a:p>
                      <a:pPr algn="ctr"/>
                      <a:r>
                        <a:rPr sz="1800">
                          <a:solidFill>
                            <a:srgbClr val="252525"/>
                          </a:solidFill>
                          <a:latin typeface="Calibri"/>
                          <a:ea typeface="Calibri"/>
                          <a:cs typeface="Calibri"/>
                        </a:rPr>
                        <a:t>16.06</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tc>
                  <a:txBody>
                    <a:bodyPr/>
                    <a:lstStyle/>
                    <a:p>
                      <a:pPr algn="ctr"/>
                      <a:r>
                        <a:rPr sz="1800">
                          <a:solidFill>
                            <a:srgbClr val="252525"/>
                          </a:solidFill>
                          <a:latin typeface="Calibri"/>
                          <a:ea typeface="Calibri"/>
                          <a:cs typeface="Calibri"/>
                        </a:rPr>
                        <a:t>≈ 21.9</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extLst>
                  <a:ext uri="{0D108BD9-81ED-4DB2-BD59-A6C34878D82A}">
                    <a16:rowId xmlns:a16="http://schemas.microsoft.com/office/drawing/2014/main" val="10005"/>
                  </a:ext>
                </a:extLst>
              </a:tr>
              <a:tr h="447675">
                <a:tc>
                  <a:txBody>
                    <a:bodyPr/>
                    <a:lstStyle/>
                    <a:p>
                      <a:pPr algn="l"/>
                      <a:r>
                        <a:rPr sz="1800" b="0" dirty="0">
                          <a:solidFill>
                            <a:srgbClr val="252525"/>
                          </a:solidFill>
                          <a:latin typeface="Calibri"/>
                          <a:ea typeface="Calibri"/>
                          <a:cs typeface="Calibri"/>
                        </a:rPr>
                        <a:t>DPT / </a:t>
                      </a:r>
                      <a:r>
                        <a:rPr sz="1800" b="0" dirty="0" err="1">
                          <a:solidFill>
                            <a:srgbClr val="252525"/>
                          </a:solidFill>
                          <a:latin typeface="Calibri"/>
                          <a:ea typeface="Calibri"/>
                          <a:cs typeface="Calibri"/>
                        </a:rPr>
                        <a:t>ViT</a:t>
                      </a:r>
                      <a:r>
                        <a:rPr sz="1800" b="0" dirty="0">
                          <a:solidFill>
                            <a:srgbClr val="252525"/>
                          </a:solidFill>
                          <a:latin typeface="Calibri"/>
                          <a:ea typeface="Calibri"/>
                          <a:cs typeface="Calibri"/>
                        </a:rPr>
                        <a:t>-Base (Mars-Bench)</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tc>
                  <a:txBody>
                    <a:bodyPr/>
                    <a:lstStyle/>
                    <a:p>
                      <a:pPr algn="ctr"/>
                      <a:r>
                        <a:rPr sz="1800" dirty="0">
                          <a:solidFill>
                            <a:srgbClr val="252525"/>
                          </a:solidFill>
                          <a:latin typeface="Calibri"/>
                          <a:ea typeface="Calibri"/>
                          <a:cs typeface="Calibri"/>
                        </a:rPr>
                        <a:t>18.06</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tc>
                  <a:txBody>
                    <a:bodyPr/>
                    <a:lstStyle/>
                    <a:p>
                      <a:pPr algn="ctr"/>
                      <a:r>
                        <a:rPr sz="1800" dirty="0">
                          <a:solidFill>
                            <a:srgbClr val="252525"/>
                          </a:solidFill>
                          <a:latin typeface="Calibri"/>
                          <a:ea typeface="Calibri"/>
                          <a:cs typeface="Calibri"/>
                        </a:rPr>
                        <a:t>≈ 137.8</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extLst>
                  <a:ext uri="{0D108BD9-81ED-4DB2-BD59-A6C34878D82A}">
                    <a16:rowId xmlns:a16="http://schemas.microsoft.com/office/drawing/2014/main" val="10006"/>
                  </a:ext>
                </a:extLst>
              </a:tr>
            </a:tbl>
          </a:graphicData>
        </a:graphic>
      </p:graphicFrame>
      <p:sp>
        <p:nvSpPr>
          <p:cNvPr id="8" name="parameter-estimate-note">
            <a:extLst>
              <a:ext uri="{FF2B5EF4-FFF2-40B4-BE49-F238E27FC236}">
                <a16:creationId xmlns:a16="http://schemas.microsoft.com/office/drawing/2014/main" id="{AE04627B-048A-4D71-99BD-E3A503E20991}"/>
              </a:ext>
            </a:extLst>
          </p:cNvPr>
          <p:cNvSpPr>
            <a:spLocks noGrp="1"/>
          </p:cNvSpPr>
          <p:nvPr/>
        </p:nvSpPr>
        <p:spPr>
          <a:xfrm>
            <a:off x="952500" y="5362575"/>
            <a:ext cx="10287000" cy="257175"/>
          </a:xfrm>
          <a:prstGeom prst="rect">
            <a:avLst/>
          </a:prstGeom>
          <a:noFill/>
          <a:ln w="0">
            <a:noFill/>
          </a:ln>
        </p:spPr>
        <p:txBody>
          <a:bodyPr wrap="square" lIns="0" tIns="0" rIns="0" bIns="0" anchor="t">
            <a:noAutofit/>
          </a:bodyPr>
          <a:lstStyle>
            <a:defPPr algn="l">
              <a:defRPr sz="1300" b="0">
                <a:solidFill>
                  <a:srgbClr val="656565"/>
                </a:solidFill>
                <a:latin typeface="Calibri"/>
                <a:ea typeface="Calibri"/>
                <a:cs typeface="Calibri"/>
              </a:defRPr>
            </a:defPPr>
            <a:lvl1pPr algn="l">
              <a:defRPr sz="1300" b="0">
                <a:solidFill>
                  <a:srgbClr val="656565"/>
                </a:solidFill>
                <a:latin typeface="Calibri"/>
                <a:ea typeface="Calibri"/>
                <a:cs typeface="Calibri"/>
              </a:defRPr>
            </a:lvl1pPr>
            <a:lvl2pPr algn="l">
              <a:defRPr sz="1300" b="0">
                <a:solidFill>
                  <a:srgbClr val="656565"/>
                </a:solidFill>
                <a:latin typeface="Calibri"/>
                <a:ea typeface="Calibri"/>
                <a:cs typeface="Calibri"/>
              </a:defRPr>
            </a:lvl2pPr>
            <a:lvl3pPr algn="l">
              <a:defRPr sz="1300" b="0">
                <a:solidFill>
                  <a:srgbClr val="656565"/>
                </a:solidFill>
                <a:latin typeface="Calibri"/>
                <a:ea typeface="Calibri"/>
                <a:cs typeface="Calibri"/>
              </a:defRPr>
            </a:lvl3pPr>
            <a:lvl4pPr algn="l">
              <a:defRPr sz="1300" b="0">
                <a:solidFill>
                  <a:srgbClr val="656565"/>
                </a:solidFill>
                <a:latin typeface="Calibri"/>
                <a:ea typeface="Calibri"/>
                <a:cs typeface="Calibri"/>
              </a:defRPr>
            </a:lvl4pPr>
            <a:lvl5pPr algn="l">
              <a:defRPr sz="1300" b="0">
                <a:solidFill>
                  <a:srgbClr val="656565"/>
                </a:solidFill>
                <a:latin typeface="Calibri"/>
                <a:ea typeface="Calibri"/>
                <a:cs typeface="Calibri"/>
              </a:defRPr>
            </a:lvl5pPr>
            <a:lvl6pPr algn="l">
              <a:defRPr sz="1300" b="0">
                <a:solidFill>
                  <a:srgbClr val="656565"/>
                </a:solidFill>
                <a:latin typeface="Calibri"/>
                <a:ea typeface="Calibri"/>
                <a:cs typeface="Calibri"/>
              </a:defRPr>
            </a:lvl6pPr>
            <a:lvl7pPr algn="l">
              <a:defRPr sz="1300" b="0">
                <a:solidFill>
                  <a:srgbClr val="656565"/>
                </a:solidFill>
                <a:latin typeface="Calibri"/>
                <a:ea typeface="Calibri"/>
                <a:cs typeface="Calibri"/>
              </a:defRPr>
            </a:lvl7pPr>
            <a:lvl8pPr algn="l">
              <a:defRPr sz="1300" b="0">
                <a:solidFill>
                  <a:srgbClr val="656565"/>
                </a:solidFill>
                <a:latin typeface="Calibri"/>
                <a:ea typeface="Calibri"/>
                <a:cs typeface="Calibri"/>
              </a:defRPr>
            </a:lvl8pPr>
            <a:lvl9pPr algn="l">
              <a:defRPr sz="1300" b="0">
                <a:solidFill>
                  <a:srgbClr val="656565"/>
                </a:solidFill>
                <a:latin typeface="Calibri"/>
                <a:ea typeface="Calibri"/>
                <a:cs typeface="Calibri"/>
              </a:defRPr>
            </a:lvl9pPr>
          </a:lstStyle>
          <a:p>
            <a:pPr algn="l">
              <a:defRPr sz="1300" b="0">
                <a:solidFill>
                  <a:srgbClr val="656565"/>
                </a:solidFill>
                <a:latin typeface="Calibri"/>
                <a:ea typeface="Calibri"/>
                <a:cs typeface="Calibri"/>
              </a:defRPr>
            </a:pPr>
            <a:r>
              <a:rPr sz="1300" b="0" dirty="0">
                <a:solidFill>
                  <a:srgbClr val="656565"/>
                </a:solidFill>
                <a:latin typeface="Calibri"/>
                <a:ea typeface="Calibri"/>
                <a:cs typeface="Calibri"/>
              </a:rPr>
              <a:t>≈ Total parameter estimates from released configurations.</a:t>
            </a:r>
          </a:p>
        </p:txBody>
      </p:sp>
      <p:sp>
        <p:nvSpPr>
          <p:cNvPr id="10" name="extra-page-number">
            <a:extLst>
              <a:ext uri="{FF2B5EF4-FFF2-40B4-BE49-F238E27FC236}">
                <a16:creationId xmlns:a16="http://schemas.microsoft.com/office/drawing/2014/main" id="{1E1CBBD5-BAD6-4EF3-8BDB-8F2AC971E295}"/>
              </a:ext>
            </a:extLst>
          </p:cNvPr>
          <p:cNvSpPr>
            <a:spLocks noGrp="1"/>
          </p:cNvSpPr>
          <p:nvPr/>
        </p:nvSpPr>
        <p:spPr>
          <a:xfrm>
            <a:off x="10810875" y="6581775"/>
            <a:ext cx="914400" cy="219075"/>
          </a:xfrm>
          <a:prstGeom prst="rect">
            <a:avLst/>
          </a:prstGeom>
          <a:noFill/>
          <a:ln w="0">
            <a:noFill/>
          </a:ln>
        </p:spPr>
        <p:txBody>
          <a:bodyPr wrap="square" lIns="0" tIns="0" rIns="0" bIns="0" anchor="t">
            <a:noAutofit/>
          </a:bodyPr>
          <a:lstStyle>
            <a:defPPr algn="r">
              <a:defRPr sz="1000" b="0">
                <a:solidFill>
                  <a:srgbClr val="822433"/>
                </a:solidFill>
                <a:latin typeface="Roboto"/>
                <a:ea typeface="Roboto"/>
                <a:cs typeface="Roboto"/>
              </a:defRPr>
            </a:defPPr>
            <a:lvl1pPr algn="r">
              <a:defRPr sz="1000" b="0">
                <a:solidFill>
                  <a:srgbClr val="822433"/>
                </a:solidFill>
                <a:latin typeface="Roboto"/>
                <a:ea typeface="Roboto"/>
                <a:cs typeface="Roboto"/>
              </a:defRPr>
            </a:lvl1pPr>
            <a:lvl2pPr algn="r">
              <a:defRPr sz="1000" b="0">
                <a:solidFill>
                  <a:srgbClr val="822433"/>
                </a:solidFill>
                <a:latin typeface="Roboto"/>
                <a:ea typeface="Roboto"/>
                <a:cs typeface="Roboto"/>
              </a:defRPr>
            </a:lvl2pPr>
            <a:lvl3pPr algn="r">
              <a:defRPr sz="1000" b="0">
                <a:solidFill>
                  <a:srgbClr val="822433"/>
                </a:solidFill>
                <a:latin typeface="Roboto"/>
                <a:ea typeface="Roboto"/>
                <a:cs typeface="Roboto"/>
              </a:defRPr>
            </a:lvl3pPr>
            <a:lvl4pPr algn="r">
              <a:defRPr sz="1000" b="0">
                <a:solidFill>
                  <a:srgbClr val="822433"/>
                </a:solidFill>
                <a:latin typeface="Roboto"/>
                <a:ea typeface="Roboto"/>
                <a:cs typeface="Roboto"/>
              </a:defRPr>
            </a:lvl4pPr>
            <a:lvl5pPr algn="r">
              <a:defRPr sz="1000" b="0">
                <a:solidFill>
                  <a:srgbClr val="822433"/>
                </a:solidFill>
                <a:latin typeface="Roboto"/>
                <a:ea typeface="Roboto"/>
                <a:cs typeface="Roboto"/>
              </a:defRPr>
            </a:lvl5pPr>
            <a:lvl6pPr algn="r">
              <a:defRPr sz="1000" b="0">
                <a:solidFill>
                  <a:srgbClr val="822433"/>
                </a:solidFill>
                <a:latin typeface="Roboto"/>
                <a:ea typeface="Roboto"/>
                <a:cs typeface="Roboto"/>
              </a:defRPr>
            </a:lvl6pPr>
            <a:lvl7pPr algn="r">
              <a:defRPr sz="1000" b="0">
                <a:solidFill>
                  <a:srgbClr val="822433"/>
                </a:solidFill>
                <a:latin typeface="Roboto"/>
                <a:ea typeface="Roboto"/>
                <a:cs typeface="Roboto"/>
              </a:defRPr>
            </a:lvl7pPr>
            <a:lvl8pPr algn="r">
              <a:defRPr sz="1000" b="0">
                <a:solidFill>
                  <a:srgbClr val="822433"/>
                </a:solidFill>
                <a:latin typeface="Roboto"/>
                <a:ea typeface="Roboto"/>
                <a:cs typeface="Roboto"/>
              </a:defRPr>
            </a:lvl8pPr>
            <a:lvl9pPr algn="r">
              <a:defRPr sz="1000" b="0">
                <a:solidFill>
                  <a:srgbClr val="822433"/>
                </a:solidFill>
                <a:latin typeface="Roboto"/>
                <a:ea typeface="Roboto"/>
                <a:cs typeface="Roboto"/>
              </a:defRPr>
            </a:lvl9pPr>
          </a:lstStyle>
          <a:p>
            <a:pPr algn="r">
              <a:defRPr sz="1000" b="0">
                <a:solidFill>
                  <a:srgbClr val="822433"/>
                </a:solidFill>
                <a:latin typeface="Roboto"/>
                <a:ea typeface="Roboto"/>
                <a:cs typeface="Roboto"/>
              </a:defRPr>
            </a:pPr>
            <a:r>
              <a:rPr lang="it-IT" sz="1000" b="0">
                <a:solidFill>
                  <a:srgbClr val="822433"/>
                </a:solidFill>
                <a:latin typeface="Roboto"/>
                <a:ea typeface="Roboto"/>
                <a:cs typeface="Roboto"/>
              </a:rPr>
              <a:t>54 / 54</a:t>
            </a:r>
            <a:endParaRPr sz="1000" b="0">
              <a:solidFill>
                <a:srgbClr val="822433"/>
              </a:solidFill>
              <a:latin typeface="Roboto"/>
              <a:ea typeface="Roboto"/>
              <a:cs typeface="Roboto"/>
            </a:endParaRPr>
          </a:p>
        </p:txBody>
      </p:sp>
    </p:spTree>
    <p:extLst>
      <p:ext uri="{BB962C8B-B14F-4D97-AF65-F5344CB8AC3E}">
        <p14:creationId xmlns:p14="http://schemas.microsoft.com/office/powerpoint/2010/main" val="10709934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308B2-58D6-FEE9-4C01-9AA2D12956E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3894003-A9B7-8E92-4D48-270852ADEB05}"/>
              </a:ext>
            </a:extLst>
          </p:cNvPr>
          <p:cNvSpPr>
            <a:spLocks noGrp="1"/>
          </p:cNvSpPr>
          <p:nvPr>
            <p:ph type="title"/>
          </p:nvPr>
        </p:nvSpPr>
        <p:spPr>
          <a:xfrm>
            <a:off x="838200" y="365125"/>
            <a:ext cx="9386455" cy="835787"/>
          </a:xfrm>
        </p:spPr>
        <p:txBody>
          <a:bodyPr>
            <a:normAutofit/>
          </a:bodyPr>
          <a:lstStyle/>
          <a:p>
            <a:r>
              <a:rPr lang="en-US" dirty="0">
                <a:solidFill>
                  <a:srgbClr val="822433"/>
                </a:solidFill>
              </a:rPr>
              <a:t>Extra: Full Quantization results</a:t>
            </a:r>
            <a:endParaRPr lang="en-US" noProof="0" dirty="0">
              <a:solidFill>
                <a:srgbClr val="822433"/>
              </a:solidFill>
            </a:endParaRPr>
          </a:p>
        </p:txBody>
      </p:sp>
      <p:sp>
        <p:nvSpPr>
          <p:cNvPr id="4" name="Google Shape;102;p14">
            <a:extLst>
              <a:ext uri="{FF2B5EF4-FFF2-40B4-BE49-F238E27FC236}">
                <a16:creationId xmlns:a16="http://schemas.microsoft.com/office/drawing/2014/main" id="{7CEC75DA-4BEC-E538-8FC5-C0F3CA89D3CD}"/>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43</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1150DABA-181E-0A37-54AC-D552EFF142B1}"/>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Table 5">
            <a:extLst>
              <a:ext uri="{FF2B5EF4-FFF2-40B4-BE49-F238E27FC236}">
                <a16:creationId xmlns:a16="http://schemas.microsoft.com/office/drawing/2014/main" id="{E1814047-410B-4ECB-A748-0C0643B8EBAC}"/>
              </a:ext>
            </a:extLst>
          </p:cNvPr>
          <p:cNvGraphicFramePr/>
          <p:nvPr>
            <p:extLst>
              <p:ext uri="{D42A27DB-BD31-4B8C-83A1-F6EECF244321}">
                <p14:modId xmlns:p14="http://schemas.microsoft.com/office/powerpoint/2010/main" val="2319314835"/>
              </p:ext>
            </p:extLst>
          </p:nvPr>
        </p:nvGraphicFramePr>
        <p:xfrm>
          <a:off x="762000" y="1381125"/>
          <a:ext cx="5105400" cy="4728210"/>
        </p:xfrm>
        <a:graphic>
          <a:graphicData uri="http://schemas.openxmlformats.org/drawingml/2006/table">
            <a:tbl>
              <a:tblPr>
                <a:effectLst>
                  <a:outerShdw blurRad="50800" dist="38100" dir="2700000" algn="tl" rotWithShape="0">
                    <a:prstClr val="black">
                      <a:alpha val="40000"/>
                    </a:prstClr>
                  </a:outerShdw>
                </a:effectLst>
              </a:tblPr>
              <a:tblGrid>
                <a:gridCol w="1390650">
                  <a:extLst>
                    <a:ext uri="{9D8B030D-6E8A-4147-A177-3AD203B41FA5}">
                      <a16:colId xmlns:a16="http://schemas.microsoft.com/office/drawing/2014/main" val="20000"/>
                    </a:ext>
                  </a:extLst>
                </a:gridCol>
                <a:gridCol w="116205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485900">
                  <a:extLst>
                    <a:ext uri="{9D8B030D-6E8A-4147-A177-3AD203B41FA5}">
                      <a16:colId xmlns:a16="http://schemas.microsoft.com/office/drawing/2014/main" val="20003"/>
                    </a:ext>
                  </a:extLst>
                </a:gridCol>
              </a:tblGrid>
              <a:tr h="419100">
                <a:tc>
                  <a:txBody>
                    <a:bodyPr/>
                    <a:lstStyle/>
                    <a:p>
                      <a:pPr algn="l">
                        <a:buNone/>
                      </a:pPr>
                      <a:r>
                        <a:rPr sz="1450" b="1" dirty="0">
                          <a:solidFill>
                            <a:schemeClr val="bg1"/>
                          </a:solidFill>
                          <a:latin typeface="Roboto"/>
                          <a:ea typeface="Roboto"/>
                          <a:cs typeface="Roboto"/>
                        </a:rPr>
                        <a:t>Precision</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Test </a:t>
                      </a:r>
                      <a:r>
                        <a:rPr sz="1450" b="1" dirty="0" err="1">
                          <a:solidFill>
                            <a:schemeClr val="bg1"/>
                          </a:solidFill>
                          <a:latin typeface="Roboto"/>
                          <a:ea typeface="Roboto"/>
                          <a:cs typeface="Roboto"/>
                        </a:rPr>
                        <a:t>mIoU</a:t>
                      </a:r>
                      <a:endParaRPr sz="1450" b="1" dirty="0">
                        <a:solidFill>
                          <a:schemeClr val="bg1"/>
                        </a:solidFill>
                        <a:latin typeface="Roboto"/>
                        <a:ea typeface="Roboto"/>
                        <a:cs typeface="Roboto"/>
                      </a:endParaRPr>
                    </a:p>
                    <a:p>
                      <a:pPr algn="ctr">
                        <a:buNone/>
                      </a:pPr>
                      <a:r>
                        <a:rPr sz="1450" b="1" dirty="0">
                          <a:solidFill>
                            <a:schemeClr val="bg1"/>
                          </a:solidFill>
                          <a:latin typeface="Roboto"/>
                          <a:ea typeface="Roboto"/>
                          <a:cs typeface="Roboto"/>
                        </a:rPr>
                        <a:t>(%)</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Latency</a:t>
                      </a:r>
                    </a:p>
                    <a:p>
                      <a:pPr algn="ctr">
                        <a:buNone/>
                      </a:pPr>
                      <a:r>
                        <a:rPr sz="1450" b="1" dirty="0">
                          <a:solidFill>
                            <a:schemeClr val="bg1"/>
                          </a:solidFill>
                          <a:latin typeface="Roboto"/>
                          <a:ea typeface="Roboto"/>
                          <a:cs typeface="Roboto"/>
                        </a:rPr>
                        <a:t>(</a:t>
                      </a:r>
                      <a:r>
                        <a:rPr sz="1450" b="1" dirty="0" err="1">
                          <a:solidFill>
                            <a:schemeClr val="bg1"/>
                          </a:solidFill>
                          <a:latin typeface="Roboto"/>
                          <a:ea typeface="Roboto"/>
                          <a:cs typeface="Roboto"/>
                        </a:rPr>
                        <a:t>ms</a:t>
                      </a:r>
                      <a:r>
                        <a:rPr sz="1450" b="1" dirty="0">
                          <a:solidFill>
                            <a:schemeClr val="bg1"/>
                          </a:solidFill>
                          <a:latin typeface="Roboto"/>
                          <a:ea typeface="Roboto"/>
                          <a:cs typeface="Roboto"/>
                        </a:rPr>
                        <a:t>)</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Energy</a:t>
                      </a:r>
                    </a:p>
                    <a:p>
                      <a:pPr algn="ctr">
                        <a:buNone/>
                      </a:pPr>
                      <a:r>
                        <a:rPr sz="1450" b="1" dirty="0">
                          <a:solidFill>
                            <a:schemeClr val="bg1"/>
                          </a:solidFill>
                          <a:latin typeface="Roboto"/>
                          <a:ea typeface="Roboto"/>
                          <a:cs typeface="Roboto"/>
                        </a:rPr>
                        <a:t>(</a:t>
                      </a:r>
                      <a:r>
                        <a:rPr sz="1450" b="1" dirty="0" err="1">
                          <a:solidFill>
                            <a:schemeClr val="bg1"/>
                          </a:solidFill>
                          <a:latin typeface="Roboto"/>
                          <a:ea typeface="Roboto"/>
                          <a:cs typeface="Roboto"/>
                        </a:rPr>
                        <a:t>mJ</a:t>
                      </a:r>
                      <a:r>
                        <a:rPr sz="1450" b="1" dirty="0">
                          <a:solidFill>
                            <a:schemeClr val="bg1"/>
                          </a:solidFill>
                          <a:latin typeface="Roboto"/>
                          <a:ea typeface="Roboto"/>
                          <a:cs typeface="Roboto"/>
                        </a:rPr>
                        <a:t>/image)</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extLst>
                  <a:ext uri="{0D108BD9-81ED-4DB2-BD59-A6C34878D82A}">
                    <a16:rowId xmlns:a16="http://schemas.microsoft.com/office/drawing/2014/main" val="10000"/>
                  </a:ext>
                </a:extLst>
              </a:tr>
              <a:tr h="285750">
                <a:tc gridSpan="4">
                  <a:txBody>
                    <a:bodyPr/>
                    <a:lstStyle/>
                    <a:p>
                      <a:pPr algn="l">
                        <a:buNone/>
                      </a:pPr>
                      <a:r>
                        <a:rPr sz="1725" b="1" dirty="0">
                          <a:solidFill>
                            <a:srgbClr val="822433"/>
                          </a:solidFill>
                          <a:latin typeface="Roboto"/>
                          <a:ea typeface="Roboto"/>
                          <a:cs typeface="Roboto"/>
                        </a:rPr>
                        <a:t>U-Net / ResNet34</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extLst>
                  <a:ext uri="{0D108BD9-81ED-4DB2-BD59-A6C34878D82A}">
                    <a16:rowId xmlns:a16="http://schemas.microsoft.com/office/drawing/2014/main" val="10001"/>
                  </a:ext>
                </a:extLst>
              </a:tr>
              <a:tr h="285750">
                <a:tc>
                  <a:txBody>
                    <a:bodyPr/>
                    <a:lstStyle/>
                    <a:p>
                      <a:pPr algn="l">
                        <a:buNone/>
                      </a:pPr>
                      <a:r>
                        <a:rPr sz="1700" b="0">
                          <a:solidFill>
                            <a:srgbClr val="202124"/>
                          </a:solidFill>
                          <a:latin typeface="Roboto"/>
                          <a:ea typeface="Roboto"/>
                          <a:cs typeface="Roboto"/>
                        </a:rPr>
                        <a:t>FP32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64.55</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16.30</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1213.08</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85750">
                <a:tc>
                  <a:txBody>
                    <a:bodyPr/>
                    <a:lstStyle/>
                    <a:p>
                      <a:pPr algn="l">
                        <a:buNone/>
                      </a:pPr>
                      <a:r>
                        <a:rPr sz="1700" b="0">
                          <a:solidFill>
                            <a:srgbClr val="202124"/>
                          </a:solidFill>
                          <a:latin typeface="Roboto"/>
                          <a:ea typeface="Roboto"/>
                          <a:cs typeface="Roboto"/>
                        </a:rPr>
                        <a:t>FP16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64.55</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9.19</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659.76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3"/>
                  </a:ext>
                </a:extLst>
              </a:tr>
              <a:tr h="285750">
                <a:tc>
                  <a:txBody>
                    <a:bodyPr/>
                    <a:lstStyle/>
                    <a:p>
                      <a:pPr algn="l">
                        <a:buNone/>
                      </a:pPr>
                      <a:r>
                        <a:rPr sz="1700" b="0">
                          <a:solidFill>
                            <a:srgbClr val="202124"/>
                          </a:solidFill>
                          <a:latin typeface="Roboto"/>
                          <a:ea typeface="Roboto"/>
                          <a:cs typeface="Roboto"/>
                        </a:rPr>
                        <a:t>PTQ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64.51</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5.82</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304.10</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85750">
                <a:tc>
                  <a:txBody>
                    <a:bodyPr/>
                    <a:lstStyle/>
                    <a:p>
                      <a:pPr algn="l">
                        <a:buNone/>
                      </a:pPr>
                      <a:r>
                        <a:rPr sz="1700" b="1" dirty="0">
                          <a:solidFill>
                            <a:srgbClr val="822433"/>
                          </a:solidFill>
                          <a:latin typeface="Roboto"/>
                          <a:ea typeface="Roboto"/>
                          <a:cs typeface="Roboto"/>
                        </a:rPr>
                        <a:t>QAT INT8</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65.24</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4.81</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231.42</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extLst>
                  <a:ext uri="{0D108BD9-81ED-4DB2-BD59-A6C34878D82A}">
                    <a16:rowId xmlns:a16="http://schemas.microsoft.com/office/drawing/2014/main" val="10005"/>
                  </a:ext>
                </a:extLst>
              </a:tr>
              <a:tr h="285750">
                <a:tc gridSpan="4">
                  <a:txBody>
                    <a:bodyPr/>
                    <a:lstStyle/>
                    <a:p>
                      <a:pPr algn="l">
                        <a:buNone/>
                      </a:pPr>
                      <a:r>
                        <a:rPr sz="1725" b="1" dirty="0">
                          <a:solidFill>
                            <a:srgbClr val="822433"/>
                          </a:solidFill>
                          <a:latin typeface="Roboto"/>
                          <a:ea typeface="Roboto"/>
                          <a:cs typeface="Roboto"/>
                        </a:rPr>
                        <a:t>U-Net / MobileNetV2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extLst>
                  <a:ext uri="{0D108BD9-81ED-4DB2-BD59-A6C34878D82A}">
                    <a16:rowId xmlns:a16="http://schemas.microsoft.com/office/drawing/2014/main" val="10006"/>
                  </a:ext>
                </a:extLst>
              </a:tr>
              <a:tr h="285750">
                <a:tc>
                  <a:txBody>
                    <a:bodyPr/>
                    <a:lstStyle/>
                    <a:p>
                      <a:pPr algn="l">
                        <a:buNone/>
                      </a:pPr>
                      <a:r>
                        <a:rPr sz="1700" b="0">
                          <a:solidFill>
                            <a:srgbClr val="202124"/>
                          </a:solidFill>
                          <a:latin typeface="Roboto"/>
                          <a:ea typeface="Roboto"/>
                          <a:cs typeface="Roboto"/>
                        </a:rPr>
                        <a:t>FP32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64.57</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11.87</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878.80</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7"/>
                  </a:ext>
                </a:extLst>
              </a:tr>
              <a:tr h="285750">
                <a:tc>
                  <a:txBody>
                    <a:bodyPr/>
                    <a:lstStyle/>
                    <a:p>
                      <a:pPr algn="l">
                        <a:buNone/>
                      </a:pPr>
                      <a:r>
                        <a:rPr sz="1700" b="0">
                          <a:solidFill>
                            <a:srgbClr val="202124"/>
                          </a:solidFill>
                          <a:latin typeface="Roboto"/>
                          <a:ea typeface="Roboto"/>
                          <a:cs typeface="Roboto"/>
                        </a:rPr>
                        <a:t>FP16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64.61</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8.16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dirty="0">
                          <a:solidFill>
                            <a:srgbClr val="202124"/>
                          </a:solidFill>
                          <a:latin typeface="Roboto"/>
                          <a:ea typeface="Roboto"/>
                          <a:cs typeface="Roboto"/>
                        </a:rPr>
                        <a:t>523.07</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8"/>
                  </a:ext>
                </a:extLst>
              </a:tr>
              <a:tr h="285750">
                <a:tc>
                  <a:txBody>
                    <a:bodyPr/>
                    <a:lstStyle/>
                    <a:p>
                      <a:pPr algn="l">
                        <a:buNone/>
                      </a:pPr>
                      <a:r>
                        <a:rPr sz="1700" b="0">
                          <a:solidFill>
                            <a:srgbClr val="202124"/>
                          </a:solidFill>
                          <a:latin typeface="Roboto"/>
                          <a:ea typeface="Roboto"/>
                          <a:cs typeface="Roboto"/>
                        </a:rPr>
                        <a:t>PTQ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61.55</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4.17</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199.96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9"/>
                  </a:ext>
                </a:extLst>
              </a:tr>
              <a:tr h="285750">
                <a:tc>
                  <a:txBody>
                    <a:bodyPr/>
                    <a:lstStyle/>
                    <a:p>
                      <a:pPr algn="l">
                        <a:buNone/>
                      </a:pPr>
                      <a:r>
                        <a:rPr sz="1700" b="1" dirty="0">
                          <a:solidFill>
                            <a:srgbClr val="822433"/>
                          </a:solidFill>
                          <a:latin typeface="Roboto"/>
                          <a:ea typeface="Roboto"/>
                          <a:cs typeface="Roboto"/>
                        </a:rPr>
                        <a:t>QAT INT8</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65.00</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3.57</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162.66</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extLst>
                  <a:ext uri="{0D108BD9-81ED-4DB2-BD59-A6C34878D82A}">
                    <a16:rowId xmlns:a16="http://schemas.microsoft.com/office/drawing/2014/main" val="10010"/>
                  </a:ext>
                </a:extLst>
              </a:tr>
              <a:tr h="285750">
                <a:tc gridSpan="4">
                  <a:txBody>
                    <a:bodyPr/>
                    <a:lstStyle/>
                    <a:p>
                      <a:pPr algn="l">
                        <a:buNone/>
                      </a:pPr>
                      <a:r>
                        <a:rPr sz="1725" b="1" dirty="0">
                          <a:solidFill>
                            <a:srgbClr val="822433"/>
                          </a:solidFill>
                          <a:latin typeface="Roboto"/>
                          <a:ea typeface="Roboto"/>
                          <a:cs typeface="Roboto"/>
                        </a:rPr>
                        <a:t>DeepLabV3 / ResNet34</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extLst>
                  <a:ext uri="{0D108BD9-81ED-4DB2-BD59-A6C34878D82A}">
                    <a16:rowId xmlns:a16="http://schemas.microsoft.com/office/drawing/2014/main" val="10011"/>
                  </a:ext>
                </a:extLst>
              </a:tr>
              <a:tr h="285750">
                <a:tc>
                  <a:txBody>
                    <a:bodyPr/>
                    <a:lstStyle/>
                    <a:p>
                      <a:pPr algn="l">
                        <a:buNone/>
                      </a:pPr>
                      <a:r>
                        <a:rPr sz="1700" b="0">
                          <a:solidFill>
                            <a:srgbClr val="202124"/>
                          </a:solidFill>
                          <a:latin typeface="Roboto"/>
                          <a:ea typeface="Roboto"/>
                          <a:cs typeface="Roboto"/>
                        </a:rPr>
                        <a:t>FP32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73.79</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56.27</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3977.25</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12"/>
                  </a:ext>
                </a:extLst>
              </a:tr>
              <a:tr h="285750">
                <a:tc>
                  <a:txBody>
                    <a:bodyPr/>
                    <a:lstStyle/>
                    <a:p>
                      <a:pPr algn="l">
                        <a:buNone/>
                      </a:pPr>
                      <a:r>
                        <a:rPr sz="1700" b="0">
                          <a:solidFill>
                            <a:srgbClr val="202124"/>
                          </a:solidFill>
                          <a:latin typeface="Roboto"/>
                          <a:ea typeface="Roboto"/>
                          <a:cs typeface="Roboto"/>
                        </a:rPr>
                        <a:t>FP16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73.79</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14.03</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dirty="0">
                          <a:solidFill>
                            <a:srgbClr val="202124"/>
                          </a:solidFill>
                          <a:latin typeface="Roboto"/>
                          <a:ea typeface="Roboto"/>
                          <a:cs typeface="Roboto"/>
                        </a:rPr>
                        <a:t>1016.14</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13"/>
                  </a:ext>
                </a:extLst>
              </a:tr>
              <a:tr h="285750">
                <a:tc>
                  <a:txBody>
                    <a:bodyPr/>
                    <a:lstStyle/>
                    <a:p>
                      <a:pPr algn="l">
                        <a:buNone/>
                      </a:pPr>
                      <a:r>
                        <a:rPr sz="1700" b="0">
                          <a:solidFill>
                            <a:srgbClr val="202124"/>
                          </a:solidFill>
                          <a:latin typeface="Roboto"/>
                          <a:ea typeface="Roboto"/>
                          <a:cs typeface="Roboto"/>
                        </a:rPr>
                        <a:t>PTQ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73.55</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7.19</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455.34</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14"/>
                  </a:ext>
                </a:extLst>
              </a:tr>
              <a:tr h="285750">
                <a:tc>
                  <a:txBody>
                    <a:bodyPr/>
                    <a:lstStyle/>
                    <a:p>
                      <a:pPr algn="l">
                        <a:buNone/>
                      </a:pPr>
                      <a:r>
                        <a:rPr sz="1700" b="1">
                          <a:solidFill>
                            <a:srgbClr val="822433"/>
                          </a:solidFill>
                          <a:latin typeface="Roboto"/>
                          <a:ea typeface="Roboto"/>
                          <a:cs typeface="Roboto"/>
                        </a:rPr>
                        <a:t>QAT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a:solidFill>
                            <a:srgbClr val="822433"/>
                          </a:solidFill>
                          <a:latin typeface="Roboto"/>
                          <a:ea typeface="Roboto"/>
                          <a:cs typeface="Roboto"/>
                        </a:rPr>
                        <a:t>73.62</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a:solidFill>
                            <a:srgbClr val="822433"/>
                          </a:solidFill>
                          <a:latin typeface="Roboto"/>
                          <a:ea typeface="Roboto"/>
                          <a:cs typeface="Roboto"/>
                        </a:rPr>
                        <a:t>8.65</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523.71</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extLst>
                  <a:ext uri="{0D108BD9-81ED-4DB2-BD59-A6C34878D82A}">
                    <a16:rowId xmlns:a16="http://schemas.microsoft.com/office/drawing/2014/main" val="10015"/>
                  </a:ext>
                </a:extLst>
              </a:tr>
            </a:tbl>
          </a:graphicData>
        </a:graphic>
      </p:graphicFrame>
      <p:graphicFrame>
        <p:nvGraphicFramePr>
          <p:cNvPr id="7" name="Table 6">
            <a:extLst>
              <a:ext uri="{FF2B5EF4-FFF2-40B4-BE49-F238E27FC236}">
                <a16:creationId xmlns:a16="http://schemas.microsoft.com/office/drawing/2014/main" id="{08F79596-053E-42BE-94ED-A552A8820A02}"/>
              </a:ext>
            </a:extLst>
          </p:cNvPr>
          <p:cNvGraphicFramePr/>
          <p:nvPr>
            <p:extLst>
              <p:ext uri="{D42A27DB-BD31-4B8C-83A1-F6EECF244321}">
                <p14:modId xmlns:p14="http://schemas.microsoft.com/office/powerpoint/2010/main" val="1858978139"/>
              </p:ext>
            </p:extLst>
          </p:nvPr>
        </p:nvGraphicFramePr>
        <p:xfrm>
          <a:off x="6324600" y="1381125"/>
          <a:ext cx="5105400" cy="3299460"/>
        </p:xfrm>
        <a:graphic>
          <a:graphicData uri="http://schemas.openxmlformats.org/drawingml/2006/table">
            <a:tbl>
              <a:tblPr>
                <a:effectLst>
                  <a:outerShdw blurRad="50800" dist="38100" dir="2700000" algn="tl" rotWithShape="0">
                    <a:prstClr val="black">
                      <a:alpha val="40000"/>
                    </a:prstClr>
                  </a:outerShdw>
                </a:effectLst>
              </a:tblPr>
              <a:tblGrid>
                <a:gridCol w="1390650">
                  <a:extLst>
                    <a:ext uri="{9D8B030D-6E8A-4147-A177-3AD203B41FA5}">
                      <a16:colId xmlns:a16="http://schemas.microsoft.com/office/drawing/2014/main" val="20000"/>
                    </a:ext>
                  </a:extLst>
                </a:gridCol>
                <a:gridCol w="116205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485900">
                  <a:extLst>
                    <a:ext uri="{9D8B030D-6E8A-4147-A177-3AD203B41FA5}">
                      <a16:colId xmlns:a16="http://schemas.microsoft.com/office/drawing/2014/main" val="20003"/>
                    </a:ext>
                  </a:extLst>
                </a:gridCol>
              </a:tblGrid>
              <a:tr h="419100">
                <a:tc>
                  <a:txBody>
                    <a:bodyPr/>
                    <a:lstStyle/>
                    <a:p>
                      <a:pPr algn="l">
                        <a:buNone/>
                      </a:pPr>
                      <a:r>
                        <a:rPr sz="1450" b="1" dirty="0">
                          <a:solidFill>
                            <a:schemeClr val="bg1"/>
                          </a:solidFill>
                          <a:latin typeface="Roboto"/>
                          <a:ea typeface="Roboto"/>
                          <a:cs typeface="Roboto"/>
                        </a:rPr>
                        <a:t>Precision</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Test </a:t>
                      </a:r>
                      <a:r>
                        <a:rPr sz="1450" b="1" dirty="0" err="1">
                          <a:solidFill>
                            <a:schemeClr val="bg1"/>
                          </a:solidFill>
                          <a:latin typeface="Roboto"/>
                          <a:ea typeface="Roboto"/>
                          <a:cs typeface="Roboto"/>
                        </a:rPr>
                        <a:t>mIoU</a:t>
                      </a:r>
                      <a:endParaRPr sz="1450" b="1" dirty="0">
                        <a:solidFill>
                          <a:schemeClr val="bg1"/>
                        </a:solidFill>
                        <a:latin typeface="Roboto"/>
                        <a:ea typeface="Roboto"/>
                        <a:cs typeface="Roboto"/>
                      </a:endParaRPr>
                    </a:p>
                    <a:p>
                      <a:pPr algn="ctr">
                        <a:buNone/>
                      </a:pPr>
                      <a:r>
                        <a:rPr sz="1450" b="1" dirty="0">
                          <a:solidFill>
                            <a:schemeClr val="bg1"/>
                          </a:solidFill>
                          <a:latin typeface="Roboto"/>
                          <a:ea typeface="Roboto"/>
                          <a:cs typeface="Roboto"/>
                        </a:rPr>
                        <a:t>(%)</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Latency</a:t>
                      </a:r>
                    </a:p>
                    <a:p>
                      <a:pPr algn="ctr">
                        <a:buNone/>
                      </a:pPr>
                      <a:r>
                        <a:rPr sz="1450" b="1" dirty="0">
                          <a:solidFill>
                            <a:schemeClr val="bg1"/>
                          </a:solidFill>
                          <a:latin typeface="Roboto"/>
                          <a:ea typeface="Roboto"/>
                          <a:cs typeface="Roboto"/>
                        </a:rPr>
                        <a:t>(</a:t>
                      </a:r>
                      <a:r>
                        <a:rPr sz="1450" b="1" dirty="0" err="1">
                          <a:solidFill>
                            <a:schemeClr val="bg1"/>
                          </a:solidFill>
                          <a:latin typeface="Roboto"/>
                          <a:ea typeface="Roboto"/>
                          <a:cs typeface="Roboto"/>
                        </a:rPr>
                        <a:t>ms</a:t>
                      </a:r>
                      <a:r>
                        <a:rPr sz="1450" b="1" dirty="0">
                          <a:solidFill>
                            <a:schemeClr val="bg1"/>
                          </a:solidFill>
                          <a:latin typeface="Roboto"/>
                          <a:ea typeface="Roboto"/>
                          <a:cs typeface="Roboto"/>
                        </a:rPr>
                        <a:t>)</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Energy</a:t>
                      </a:r>
                    </a:p>
                    <a:p>
                      <a:pPr algn="ctr">
                        <a:buNone/>
                      </a:pPr>
                      <a:r>
                        <a:rPr sz="1450" b="1" dirty="0">
                          <a:solidFill>
                            <a:schemeClr val="bg1"/>
                          </a:solidFill>
                          <a:latin typeface="Roboto"/>
                          <a:ea typeface="Roboto"/>
                          <a:cs typeface="Roboto"/>
                        </a:rPr>
                        <a:t>(</a:t>
                      </a:r>
                      <a:r>
                        <a:rPr sz="1450" b="1" dirty="0" err="1">
                          <a:solidFill>
                            <a:schemeClr val="bg1"/>
                          </a:solidFill>
                          <a:latin typeface="Roboto"/>
                          <a:ea typeface="Roboto"/>
                          <a:cs typeface="Roboto"/>
                        </a:rPr>
                        <a:t>mJ</a:t>
                      </a:r>
                      <a:r>
                        <a:rPr sz="1450" b="1" dirty="0">
                          <a:solidFill>
                            <a:schemeClr val="bg1"/>
                          </a:solidFill>
                          <a:latin typeface="Roboto"/>
                          <a:ea typeface="Roboto"/>
                          <a:cs typeface="Roboto"/>
                        </a:rPr>
                        <a:t>/image)</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extLst>
                  <a:ext uri="{0D108BD9-81ED-4DB2-BD59-A6C34878D82A}">
                    <a16:rowId xmlns:a16="http://schemas.microsoft.com/office/drawing/2014/main" val="10000"/>
                  </a:ext>
                </a:extLst>
              </a:tr>
              <a:tr h="285750">
                <a:tc gridSpan="4">
                  <a:txBody>
                    <a:bodyPr/>
                    <a:lstStyle/>
                    <a:p>
                      <a:pPr algn="l">
                        <a:buNone/>
                      </a:pPr>
                      <a:r>
                        <a:rPr sz="1725" b="1" dirty="0">
                          <a:solidFill>
                            <a:srgbClr val="822433"/>
                          </a:solidFill>
                          <a:latin typeface="Roboto"/>
                          <a:ea typeface="Roboto"/>
                          <a:cs typeface="Roboto"/>
                        </a:rPr>
                        <a:t>DeepLabV3+ / MobileNetV2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extLst>
                  <a:ext uri="{0D108BD9-81ED-4DB2-BD59-A6C34878D82A}">
                    <a16:rowId xmlns:a16="http://schemas.microsoft.com/office/drawing/2014/main" val="10001"/>
                  </a:ext>
                </a:extLst>
              </a:tr>
              <a:tr h="285750">
                <a:tc>
                  <a:txBody>
                    <a:bodyPr/>
                    <a:lstStyle/>
                    <a:p>
                      <a:pPr algn="l">
                        <a:buNone/>
                      </a:pPr>
                      <a:r>
                        <a:rPr sz="1700" b="0">
                          <a:solidFill>
                            <a:srgbClr val="202124"/>
                          </a:solidFill>
                          <a:latin typeface="Roboto"/>
                          <a:ea typeface="Roboto"/>
                          <a:cs typeface="Roboto"/>
                        </a:rPr>
                        <a:t>FP32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64.07</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8.84</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653.72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85750">
                <a:tc>
                  <a:txBody>
                    <a:bodyPr/>
                    <a:lstStyle/>
                    <a:p>
                      <a:pPr algn="l">
                        <a:buNone/>
                      </a:pPr>
                      <a:r>
                        <a:rPr sz="1700" b="0">
                          <a:solidFill>
                            <a:srgbClr val="202124"/>
                          </a:solidFill>
                          <a:latin typeface="Roboto"/>
                          <a:ea typeface="Roboto"/>
                          <a:cs typeface="Roboto"/>
                        </a:rPr>
                        <a:t>FP16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64.07</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6.03</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377.88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3"/>
                  </a:ext>
                </a:extLst>
              </a:tr>
              <a:tr h="285750">
                <a:tc>
                  <a:txBody>
                    <a:bodyPr/>
                    <a:lstStyle/>
                    <a:p>
                      <a:pPr algn="l">
                        <a:buNone/>
                      </a:pPr>
                      <a:r>
                        <a:rPr sz="1700" b="0">
                          <a:solidFill>
                            <a:srgbClr val="202124"/>
                          </a:solidFill>
                          <a:latin typeface="Roboto"/>
                          <a:ea typeface="Roboto"/>
                          <a:cs typeface="Roboto"/>
                        </a:rPr>
                        <a:t>PTQ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59.14</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4.02</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159.19</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85750">
                <a:tc>
                  <a:txBody>
                    <a:bodyPr/>
                    <a:lstStyle/>
                    <a:p>
                      <a:pPr algn="l">
                        <a:buNone/>
                      </a:pPr>
                      <a:r>
                        <a:rPr sz="1700" b="1" dirty="0">
                          <a:solidFill>
                            <a:srgbClr val="822433"/>
                          </a:solidFill>
                          <a:latin typeface="Roboto"/>
                          <a:ea typeface="Roboto"/>
                          <a:cs typeface="Roboto"/>
                        </a:rPr>
                        <a:t>QAT INT8</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65.63</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3.01</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115.34</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extLst>
                  <a:ext uri="{0D108BD9-81ED-4DB2-BD59-A6C34878D82A}">
                    <a16:rowId xmlns:a16="http://schemas.microsoft.com/office/drawing/2014/main" val="10005"/>
                  </a:ext>
                </a:extLst>
              </a:tr>
              <a:tr h="285750">
                <a:tc gridSpan="4">
                  <a:txBody>
                    <a:bodyPr/>
                    <a:lstStyle/>
                    <a:p>
                      <a:pPr algn="l">
                        <a:buNone/>
                      </a:pPr>
                      <a:r>
                        <a:rPr sz="1725" b="1" dirty="0">
                          <a:solidFill>
                            <a:srgbClr val="822433"/>
                          </a:solidFill>
                          <a:latin typeface="Roboto"/>
                          <a:ea typeface="Roboto"/>
                          <a:cs typeface="Roboto"/>
                        </a:rPr>
                        <a:t>SegFormer-B0</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extLst>
                  <a:ext uri="{0D108BD9-81ED-4DB2-BD59-A6C34878D82A}">
                    <a16:rowId xmlns:a16="http://schemas.microsoft.com/office/drawing/2014/main" val="10006"/>
                  </a:ext>
                </a:extLst>
              </a:tr>
              <a:tr h="285750">
                <a:tc>
                  <a:txBody>
                    <a:bodyPr/>
                    <a:lstStyle/>
                    <a:p>
                      <a:pPr algn="l">
                        <a:buNone/>
                      </a:pPr>
                      <a:r>
                        <a:rPr sz="1700" b="0">
                          <a:solidFill>
                            <a:srgbClr val="202124"/>
                          </a:solidFill>
                          <a:latin typeface="Roboto"/>
                          <a:ea typeface="Roboto"/>
                          <a:cs typeface="Roboto"/>
                        </a:rPr>
                        <a:t>FP32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75.55</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11.88</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835.72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7"/>
                  </a:ext>
                </a:extLst>
              </a:tr>
              <a:tr h="285750">
                <a:tc>
                  <a:txBody>
                    <a:bodyPr/>
                    <a:lstStyle/>
                    <a:p>
                      <a:pPr algn="l">
                        <a:buNone/>
                      </a:pPr>
                      <a:r>
                        <a:rPr sz="1700" b="0">
                          <a:solidFill>
                            <a:srgbClr val="202124"/>
                          </a:solidFill>
                          <a:latin typeface="Roboto"/>
                          <a:ea typeface="Roboto"/>
                          <a:cs typeface="Roboto"/>
                        </a:rPr>
                        <a:t>FP16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75.55</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7.17</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dirty="0">
                          <a:solidFill>
                            <a:srgbClr val="202124"/>
                          </a:solidFill>
                          <a:latin typeface="Roboto"/>
                          <a:ea typeface="Roboto"/>
                          <a:cs typeface="Roboto"/>
                        </a:rPr>
                        <a:t>432.07</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8"/>
                  </a:ext>
                </a:extLst>
              </a:tr>
              <a:tr h="285750">
                <a:tc>
                  <a:txBody>
                    <a:bodyPr/>
                    <a:lstStyle/>
                    <a:p>
                      <a:pPr algn="l">
                        <a:buNone/>
                      </a:pPr>
                      <a:r>
                        <a:rPr sz="1700" b="0">
                          <a:solidFill>
                            <a:srgbClr val="202124"/>
                          </a:solidFill>
                          <a:latin typeface="Roboto"/>
                          <a:ea typeface="Roboto"/>
                          <a:cs typeface="Roboto"/>
                        </a:rPr>
                        <a:t>PTQ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75.60</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5.92</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327.99</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9"/>
                  </a:ext>
                </a:extLst>
              </a:tr>
              <a:tr h="285750">
                <a:tc>
                  <a:txBody>
                    <a:bodyPr/>
                    <a:lstStyle/>
                    <a:p>
                      <a:pPr algn="l">
                        <a:buNone/>
                      </a:pPr>
                      <a:r>
                        <a:rPr sz="1700" b="1">
                          <a:solidFill>
                            <a:srgbClr val="822433"/>
                          </a:solidFill>
                          <a:latin typeface="Roboto"/>
                          <a:ea typeface="Roboto"/>
                          <a:cs typeface="Roboto"/>
                        </a:rPr>
                        <a:t>QAT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a:solidFill>
                            <a:srgbClr val="822433"/>
                          </a:solidFill>
                          <a:latin typeface="Roboto"/>
                          <a:ea typeface="Roboto"/>
                          <a:cs typeface="Roboto"/>
                        </a:rPr>
                        <a:t>76.93</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a:solidFill>
                            <a:srgbClr val="822433"/>
                          </a:solidFill>
                          <a:latin typeface="Roboto"/>
                          <a:ea typeface="Roboto"/>
                          <a:cs typeface="Roboto"/>
                        </a:rPr>
                        <a:t>5.66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291.76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extLst>
                  <a:ext uri="{0D108BD9-81ED-4DB2-BD59-A6C34878D82A}">
                    <a16:rowId xmlns:a16="http://schemas.microsoft.com/office/drawing/2014/main" val="10010"/>
                  </a:ext>
                </a:extLst>
              </a:tr>
            </a:tbl>
          </a:graphicData>
        </a:graphic>
      </p:graphicFrame>
      <p:sp>
        <p:nvSpPr>
          <p:cNvPr id="8" name="accuracy-summary-label">
            <a:extLst>
              <a:ext uri="{FF2B5EF4-FFF2-40B4-BE49-F238E27FC236}">
                <a16:creationId xmlns:a16="http://schemas.microsoft.com/office/drawing/2014/main" id="{243EFCED-DB94-4E9E-ABB4-C36D15C79B31}"/>
              </a:ext>
            </a:extLst>
          </p:cNvPr>
          <p:cNvSpPr>
            <a:spLocks noGrp="1"/>
          </p:cNvSpPr>
          <p:nvPr/>
        </p:nvSpPr>
        <p:spPr>
          <a:xfrm>
            <a:off x="6410325" y="4895850"/>
            <a:ext cx="4857750" cy="209550"/>
          </a:xfrm>
          <a:prstGeom prst="rect">
            <a:avLst/>
          </a:prstGeom>
          <a:noFill/>
          <a:ln w="0">
            <a:noFill/>
          </a:ln>
        </p:spPr>
        <p:txBody>
          <a:bodyPr wrap="none" lIns="0" tIns="0" rIns="0" bIns="0" anchor="t">
            <a:noAutofit/>
          </a:bodyPr>
          <a:lstStyle>
            <a:defPPr algn="l">
              <a:defRPr sz="1400" b="0">
                <a:solidFill>
                  <a:srgbClr val="656B73"/>
                </a:solidFill>
                <a:latin typeface="Roboto"/>
                <a:ea typeface="Roboto"/>
                <a:cs typeface="Roboto"/>
              </a:defRPr>
            </a:defPPr>
            <a:lvl1pPr algn="l">
              <a:defRPr sz="1400" b="0">
                <a:solidFill>
                  <a:srgbClr val="656B73"/>
                </a:solidFill>
                <a:latin typeface="Roboto"/>
                <a:ea typeface="Roboto"/>
                <a:cs typeface="Roboto"/>
              </a:defRPr>
            </a:lvl1pPr>
            <a:lvl2pPr algn="l">
              <a:defRPr sz="1400" b="0">
                <a:solidFill>
                  <a:srgbClr val="656B73"/>
                </a:solidFill>
                <a:latin typeface="Roboto"/>
                <a:ea typeface="Roboto"/>
                <a:cs typeface="Roboto"/>
              </a:defRPr>
            </a:lvl2pPr>
            <a:lvl3pPr algn="l">
              <a:defRPr sz="1400" b="0">
                <a:solidFill>
                  <a:srgbClr val="656B73"/>
                </a:solidFill>
                <a:latin typeface="Roboto"/>
                <a:ea typeface="Roboto"/>
                <a:cs typeface="Roboto"/>
              </a:defRPr>
            </a:lvl3pPr>
            <a:lvl4pPr algn="l">
              <a:defRPr sz="1400" b="0">
                <a:solidFill>
                  <a:srgbClr val="656B73"/>
                </a:solidFill>
                <a:latin typeface="Roboto"/>
                <a:ea typeface="Roboto"/>
                <a:cs typeface="Roboto"/>
              </a:defRPr>
            </a:lvl4pPr>
            <a:lvl5pPr algn="l">
              <a:defRPr sz="1400" b="0">
                <a:solidFill>
                  <a:srgbClr val="656B73"/>
                </a:solidFill>
                <a:latin typeface="Roboto"/>
                <a:ea typeface="Roboto"/>
                <a:cs typeface="Roboto"/>
              </a:defRPr>
            </a:lvl5pPr>
            <a:lvl6pPr algn="l">
              <a:defRPr sz="1400" b="0">
                <a:solidFill>
                  <a:srgbClr val="656B73"/>
                </a:solidFill>
                <a:latin typeface="Roboto"/>
                <a:ea typeface="Roboto"/>
                <a:cs typeface="Roboto"/>
              </a:defRPr>
            </a:lvl6pPr>
            <a:lvl7pPr algn="l">
              <a:defRPr sz="1400" b="0">
                <a:solidFill>
                  <a:srgbClr val="656B73"/>
                </a:solidFill>
                <a:latin typeface="Roboto"/>
                <a:ea typeface="Roboto"/>
                <a:cs typeface="Roboto"/>
              </a:defRPr>
            </a:lvl7pPr>
            <a:lvl8pPr algn="l">
              <a:defRPr sz="1400" b="0">
                <a:solidFill>
                  <a:srgbClr val="656B73"/>
                </a:solidFill>
                <a:latin typeface="Roboto"/>
                <a:ea typeface="Roboto"/>
                <a:cs typeface="Roboto"/>
              </a:defRPr>
            </a:lvl8pPr>
            <a:lvl9pPr algn="l">
              <a:defRPr sz="1400" b="0">
                <a:solidFill>
                  <a:srgbClr val="656B73"/>
                </a:solidFill>
                <a:latin typeface="Roboto"/>
                <a:ea typeface="Roboto"/>
                <a:cs typeface="Roboto"/>
              </a:defRPr>
            </a:lvl9pPr>
          </a:lstStyle>
          <a:p>
            <a:pPr algn="l">
              <a:lnSpc>
                <a:spcPct val="100000"/>
              </a:lnSpc>
              <a:buNone/>
              <a:defRPr sz="1400" b="0">
                <a:solidFill>
                  <a:srgbClr val="656B73"/>
                </a:solidFill>
                <a:latin typeface="Roboto"/>
                <a:ea typeface="Roboto"/>
                <a:cs typeface="Roboto"/>
              </a:defRPr>
            </a:pPr>
            <a:r>
              <a:rPr sz="1400" b="0">
                <a:solidFill>
                  <a:srgbClr val="656B73"/>
                </a:solidFill>
                <a:latin typeface="Roboto"/>
                <a:ea typeface="Roboto"/>
                <a:cs typeface="Roboto"/>
              </a:rPr>
              <a:t>Highest test mIoU</a:t>
            </a:r>
          </a:p>
        </p:txBody>
      </p:sp>
      <p:sp>
        <p:nvSpPr>
          <p:cNvPr id="9" name="accuracy-summary">
            <a:extLst>
              <a:ext uri="{FF2B5EF4-FFF2-40B4-BE49-F238E27FC236}">
                <a16:creationId xmlns:a16="http://schemas.microsoft.com/office/drawing/2014/main" id="{19821EED-1E10-4718-BA03-6A68623EF573}"/>
              </a:ext>
            </a:extLst>
          </p:cNvPr>
          <p:cNvSpPr>
            <a:spLocks noGrp="1"/>
          </p:cNvSpPr>
          <p:nvPr/>
        </p:nvSpPr>
        <p:spPr>
          <a:xfrm>
            <a:off x="6410325" y="5124450"/>
            <a:ext cx="4857750" cy="276225"/>
          </a:xfrm>
          <a:prstGeom prst="rect">
            <a:avLst/>
          </a:prstGeom>
          <a:noFill/>
          <a:ln w="0">
            <a:noFill/>
          </a:ln>
        </p:spPr>
        <p:txBody>
          <a:bodyPr wrap="none" lIns="0" tIns="0" rIns="0" bIns="0" anchor="t">
            <a:noAutofit/>
          </a:bodyPr>
          <a:lstStyle>
            <a:defPPr algn="l">
              <a:defRPr sz="1900" b="1">
                <a:solidFill>
                  <a:srgbClr val="822433"/>
                </a:solidFill>
                <a:latin typeface="Roboto"/>
                <a:ea typeface="Roboto"/>
                <a:cs typeface="Roboto"/>
              </a:defRPr>
            </a:defPPr>
            <a:lvl1pPr algn="l">
              <a:defRPr sz="1900" b="1">
                <a:solidFill>
                  <a:srgbClr val="822433"/>
                </a:solidFill>
                <a:latin typeface="Roboto"/>
                <a:ea typeface="Roboto"/>
                <a:cs typeface="Roboto"/>
              </a:defRPr>
            </a:lvl1pPr>
            <a:lvl2pPr algn="l">
              <a:defRPr sz="1900" b="1">
                <a:solidFill>
                  <a:srgbClr val="822433"/>
                </a:solidFill>
                <a:latin typeface="Roboto"/>
                <a:ea typeface="Roboto"/>
                <a:cs typeface="Roboto"/>
              </a:defRPr>
            </a:lvl2pPr>
            <a:lvl3pPr algn="l">
              <a:defRPr sz="1900" b="1">
                <a:solidFill>
                  <a:srgbClr val="822433"/>
                </a:solidFill>
                <a:latin typeface="Roboto"/>
                <a:ea typeface="Roboto"/>
                <a:cs typeface="Roboto"/>
              </a:defRPr>
            </a:lvl3pPr>
            <a:lvl4pPr algn="l">
              <a:defRPr sz="1900" b="1">
                <a:solidFill>
                  <a:srgbClr val="822433"/>
                </a:solidFill>
                <a:latin typeface="Roboto"/>
                <a:ea typeface="Roboto"/>
                <a:cs typeface="Roboto"/>
              </a:defRPr>
            </a:lvl4pPr>
            <a:lvl5pPr algn="l">
              <a:defRPr sz="1900" b="1">
                <a:solidFill>
                  <a:srgbClr val="822433"/>
                </a:solidFill>
                <a:latin typeface="Roboto"/>
                <a:ea typeface="Roboto"/>
                <a:cs typeface="Roboto"/>
              </a:defRPr>
            </a:lvl5pPr>
            <a:lvl6pPr algn="l">
              <a:defRPr sz="1900" b="1">
                <a:solidFill>
                  <a:srgbClr val="822433"/>
                </a:solidFill>
                <a:latin typeface="Roboto"/>
                <a:ea typeface="Roboto"/>
                <a:cs typeface="Roboto"/>
              </a:defRPr>
            </a:lvl6pPr>
            <a:lvl7pPr algn="l">
              <a:defRPr sz="1900" b="1">
                <a:solidFill>
                  <a:srgbClr val="822433"/>
                </a:solidFill>
                <a:latin typeface="Roboto"/>
                <a:ea typeface="Roboto"/>
                <a:cs typeface="Roboto"/>
              </a:defRPr>
            </a:lvl7pPr>
            <a:lvl8pPr algn="l">
              <a:defRPr sz="1900" b="1">
                <a:solidFill>
                  <a:srgbClr val="822433"/>
                </a:solidFill>
                <a:latin typeface="Roboto"/>
                <a:ea typeface="Roboto"/>
                <a:cs typeface="Roboto"/>
              </a:defRPr>
            </a:lvl8pPr>
            <a:lvl9pPr algn="l">
              <a:defRPr sz="1900" b="1">
                <a:solidFill>
                  <a:srgbClr val="822433"/>
                </a:solidFill>
                <a:latin typeface="Roboto"/>
                <a:ea typeface="Roboto"/>
                <a:cs typeface="Roboto"/>
              </a:defRPr>
            </a:lvl9pPr>
          </a:lstStyle>
          <a:p>
            <a:pPr algn="l">
              <a:lnSpc>
                <a:spcPct val="100000"/>
              </a:lnSpc>
              <a:buNone/>
              <a:defRPr sz="1900" b="1">
                <a:solidFill>
                  <a:srgbClr val="822433"/>
                </a:solidFill>
                <a:latin typeface="Roboto"/>
                <a:ea typeface="Roboto"/>
                <a:cs typeface="Roboto"/>
              </a:defRPr>
            </a:pPr>
            <a:r>
              <a:rPr sz="1900" b="1">
                <a:solidFill>
                  <a:srgbClr val="822433"/>
                </a:solidFill>
                <a:latin typeface="Roboto"/>
                <a:ea typeface="Roboto"/>
                <a:cs typeface="Roboto"/>
              </a:rPr>
              <a:t>SegFormer-B0 QAT: 76.93%</a:t>
            </a:r>
          </a:p>
        </p:txBody>
      </p:sp>
      <p:sp>
        <p:nvSpPr>
          <p:cNvPr id="10" name="energy-summary-label">
            <a:extLst>
              <a:ext uri="{FF2B5EF4-FFF2-40B4-BE49-F238E27FC236}">
                <a16:creationId xmlns:a16="http://schemas.microsoft.com/office/drawing/2014/main" id="{2999E3CE-B449-4A09-84BD-C24529650A77}"/>
              </a:ext>
            </a:extLst>
          </p:cNvPr>
          <p:cNvSpPr>
            <a:spLocks noGrp="1"/>
          </p:cNvSpPr>
          <p:nvPr/>
        </p:nvSpPr>
        <p:spPr>
          <a:xfrm>
            <a:off x="6410325" y="5534025"/>
            <a:ext cx="4857750" cy="209550"/>
          </a:xfrm>
          <a:prstGeom prst="rect">
            <a:avLst/>
          </a:prstGeom>
          <a:noFill/>
          <a:ln w="0">
            <a:noFill/>
          </a:ln>
        </p:spPr>
        <p:txBody>
          <a:bodyPr wrap="none" lIns="0" tIns="0" rIns="0" bIns="0" anchor="t">
            <a:noAutofit/>
          </a:bodyPr>
          <a:lstStyle>
            <a:defPPr algn="l">
              <a:defRPr sz="1400" b="0">
                <a:solidFill>
                  <a:srgbClr val="656B73"/>
                </a:solidFill>
                <a:latin typeface="Roboto"/>
                <a:ea typeface="Roboto"/>
                <a:cs typeface="Roboto"/>
              </a:defRPr>
            </a:defPPr>
            <a:lvl1pPr algn="l">
              <a:defRPr sz="1400" b="0">
                <a:solidFill>
                  <a:srgbClr val="656B73"/>
                </a:solidFill>
                <a:latin typeface="Roboto"/>
                <a:ea typeface="Roboto"/>
                <a:cs typeface="Roboto"/>
              </a:defRPr>
            </a:lvl1pPr>
            <a:lvl2pPr algn="l">
              <a:defRPr sz="1400" b="0">
                <a:solidFill>
                  <a:srgbClr val="656B73"/>
                </a:solidFill>
                <a:latin typeface="Roboto"/>
                <a:ea typeface="Roboto"/>
                <a:cs typeface="Roboto"/>
              </a:defRPr>
            </a:lvl2pPr>
            <a:lvl3pPr algn="l">
              <a:defRPr sz="1400" b="0">
                <a:solidFill>
                  <a:srgbClr val="656B73"/>
                </a:solidFill>
                <a:latin typeface="Roboto"/>
                <a:ea typeface="Roboto"/>
                <a:cs typeface="Roboto"/>
              </a:defRPr>
            </a:lvl3pPr>
            <a:lvl4pPr algn="l">
              <a:defRPr sz="1400" b="0">
                <a:solidFill>
                  <a:srgbClr val="656B73"/>
                </a:solidFill>
                <a:latin typeface="Roboto"/>
                <a:ea typeface="Roboto"/>
                <a:cs typeface="Roboto"/>
              </a:defRPr>
            </a:lvl4pPr>
            <a:lvl5pPr algn="l">
              <a:defRPr sz="1400" b="0">
                <a:solidFill>
                  <a:srgbClr val="656B73"/>
                </a:solidFill>
                <a:latin typeface="Roboto"/>
                <a:ea typeface="Roboto"/>
                <a:cs typeface="Roboto"/>
              </a:defRPr>
            </a:lvl5pPr>
            <a:lvl6pPr algn="l">
              <a:defRPr sz="1400" b="0">
                <a:solidFill>
                  <a:srgbClr val="656B73"/>
                </a:solidFill>
                <a:latin typeface="Roboto"/>
                <a:ea typeface="Roboto"/>
                <a:cs typeface="Roboto"/>
              </a:defRPr>
            </a:lvl6pPr>
            <a:lvl7pPr algn="l">
              <a:defRPr sz="1400" b="0">
                <a:solidFill>
                  <a:srgbClr val="656B73"/>
                </a:solidFill>
                <a:latin typeface="Roboto"/>
                <a:ea typeface="Roboto"/>
                <a:cs typeface="Roboto"/>
              </a:defRPr>
            </a:lvl7pPr>
            <a:lvl8pPr algn="l">
              <a:defRPr sz="1400" b="0">
                <a:solidFill>
                  <a:srgbClr val="656B73"/>
                </a:solidFill>
                <a:latin typeface="Roboto"/>
                <a:ea typeface="Roboto"/>
                <a:cs typeface="Roboto"/>
              </a:defRPr>
            </a:lvl8pPr>
            <a:lvl9pPr algn="l">
              <a:defRPr sz="1400" b="0">
                <a:solidFill>
                  <a:srgbClr val="656B73"/>
                </a:solidFill>
                <a:latin typeface="Roboto"/>
                <a:ea typeface="Roboto"/>
                <a:cs typeface="Roboto"/>
              </a:defRPr>
            </a:lvl9pPr>
          </a:lstStyle>
          <a:p>
            <a:pPr algn="l">
              <a:lnSpc>
                <a:spcPct val="100000"/>
              </a:lnSpc>
              <a:buNone/>
              <a:defRPr sz="1400" b="0">
                <a:solidFill>
                  <a:srgbClr val="656B73"/>
                </a:solidFill>
                <a:latin typeface="Roboto"/>
                <a:ea typeface="Roboto"/>
                <a:cs typeface="Roboto"/>
              </a:defRPr>
            </a:pPr>
            <a:r>
              <a:rPr sz="1400" b="0">
                <a:solidFill>
                  <a:srgbClr val="656B73"/>
                </a:solidFill>
                <a:latin typeface="Roboto"/>
                <a:ea typeface="Roboto"/>
                <a:cs typeface="Roboto"/>
              </a:rPr>
              <a:t>Lowest GPU energy per image</a:t>
            </a:r>
          </a:p>
        </p:txBody>
      </p:sp>
      <p:sp>
        <p:nvSpPr>
          <p:cNvPr id="11" name="energy-summary">
            <a:extLst>
              <a:ext uri="{FF2B5EF4-FFF2-40B4-BE49-F238E27FC236}">
                <a16:creationId xmlns:a16="http://schemas.microsoft.com/office/drawing/2014/main" id="{2C79F46B-F2B1-485E-92F4-E820581C6990}"/>
              </a:ext>
            </a:extLst>
          </p:cNvPr>
          <p:cNvSpPr>
            <a:spLocks noGrp="1"/>
          </p:cNvSpPr>
          <p:nvPr/>
        </p:nvSpPr>
        <p:spPr>
          <a:xfrm>
            <a:off x="6410325" y="5762625"/>
            <a:ext cx="4857750" cy="276225"/>
          </a:xfrm>
          <a:prstGeom prst="rect">
            <a:avLst/>
          </a:prstGeom>
          <a:noFill/>
          <a:ln w="0">
            <a:noFill/>
          </a:ln>
        </p:spPr>
        <p:txBody>
          <a:bodyPr wrap="none" lIns="0" tIns="0" rIns="0" bIns="0" anchor="t">
            <a:noAutofit/>
          </a:bodyPr>
          <a:lstStyle>
            <a:defPPr algn="l">
              <a:defRPr sz="1800" b="1">
                <a:solidFill>
                  <a:srgbClr val="822433"/>
                </a:solidFill>
                <a:latin typeface="Roboto"/>
                <a:ea typeface="Roboto"/>
                <a:cs typeface="Roboto"/>
              </a:defRPr>
            </a:defPPr>
            <a:lvl1pPr algn="l">
              <a:defRPr sz="1800" b="1">
                <a:solidFill>
                  <a:srgbClr val="822433"/>
                </a:solidFill>
                <a:latin typeface="Roboto"/>
                <a:ea typeface="Roboto"/>
                <a:cs typeface="Roboto"/>
              </a:defRPr>
            </a:lvl1pPr>
            <a:lvl2pPr algn="l">
              <a:defRPr sz="1800" b="1">
                <a:solidFill>
                  <a:srgbClr val="822433"/>
                </a:solidFill>
                <a:latin typeface="Roboto"/>
                <a:ea typeface="Roboto"/>
                <a:cs typeface="Roboto"/>
              </a:defRPr>
            </a:lvl2pPr>
            <a:lvl3pPr algn="l">
              <a:defRPr sz="1800" b="1">
                <a:solidFill>
                  <a:srgbClr val="822433"/>
                </a:solidFill>
                <a:latin typeface="Roboto"/>
                <a:ea typeface="Roboto"/>
                <a:cs typeface="Roboto"/>
              </a:defRPr>
            </a:lvl3pPr>
            <a:lvl4pPr algn="l">
              <a:defRPr sz="1800" b="1">
                <a:solidFill>
                  <a:srgbClr val="822433"/>
                </a:solidFill>
                <a:latin typeface="Roboto"/>
                <a:ea typeface="Roboto"/>
                <a:cs typeface="Roboto"/>
              </a:defRPr>
            </a:lvl4pPr>
            <a:lvl5pPr algn="l">
              <a:defRPr sz="1800" b="1">
                <a:solidFill>
                  <a:srgbClr val="822433"/>
                </a:solidFill>
                <a:latin typeface="Roboto"/>
                <a:ea typeface="Roboto"/>
                <a:cs typeface="Roboto"/>
              </a:defRPr>
            </a:lvl5pPr>
            <a:lvl6pPr algn="l">
              <a:defRPr sz="1800" b="1">
                <a:solidFill>
                  <a:srgbClr val="822433"/>
                </a:solidFill>
                <a:latin typeface="Roboto"/>
                <a:ea typeface="Roboto"/>
                <a:cs typeface="Roboto"/>
              </a:defRPr>
            </a:lvl6pPr>
            <a:lvl7pPr algn="l">
              <a:defRPr sz="1800" b="1">
                <a:solidFill>
                  <a:srgbClr val="822433"/>
                </a:solidFill>
                <a:latin typeface="Roboto"/>
                <a:ea typeface="Roboto"/>
                <a:cs typeface="Roboto"/>
              </a:defRPr>
            </a:lvl7pPr>
            <a:lvl8pPr algn="l">
              <a:defRPr sz="1800" b="1">
                <a:solidFill>
                  <a:srgbClr val="822433"/>
                </a:solidFill>
                <a:latin typeface="Roboto"/>
                <a:ea typeface="Roboto"/>
                <a:cs typeface="Roboto"/>
              </a:defRPr>
            </a:lvl8pPr>
            <a:lvl9pPr algn="l">
              <a:defRPr sz="1800" b="1">
                <a:solidFill>
                  <a:srgbClr val="822433"/>
                </a:solidFill>
                <a:latin typeface="Roboto"/>
                <a:ea typeface="Roboto"/>
                <a:cs typeface="Roboto"/>
              </a:defRPr>
            </a:lvl9pPr>
          </a:lstStyle>
          <a:p>
            <a:pPr algn="l">
              <a:lnSpc>
                <a:spcPct val="100000"/>
              </a:lnSpc>
              <a:buNone/>
              <a:defRPr sz="1800" b="1">
                <a:solidFill>
                  <a:srgbClr val="822433"/>
                </a:solidFill>
                <a:latin typeface="Roboto"/>
                <a:ea typeface="Roboto"/>
                <a:cs typeface="Roboto"/>
              </a:defRPr>
            </a:pPr>
            <a:r>
              <a:rPr sz="1800" b="1">
                <a:solidFill>
                  <a:srgbClr val="822433"/>
                </a:solidFill>
                <a:latin typeface="Roboto"/>
                <a:ea typeface="Roboto"/>
                <a:cs typeface="Roboto"/>
              </a:rPr>
              <a:t>DeepLabV3+ MV2 QAT: 115.34 mJ</a:t>
            </a:r>
          </a:p>
        </p:txBody>
      </p:sp>
      <p:sp>
        <p:nvSpPr>
          <p:cNvPr id="12" name="benchmark-scope">
            <a:extLst>
              <a:ext uri="{FF2B5EF4-FFF2-40B4-BE49-F238E27FC236}">
                <a16:creationId xmlns:a16="http://schemas.microsoft.com/office/drawing/2014/main" id="{7041C165-033B-44F4-BD89-ADA6924AAD65}"/>
              </a:ext>
            </a:extLst>
          </p:cNvPr>
          <p:cNvSpPr>
            <a:spLocks noGrp="1"/>
          </p:cNvSpPr>
          <p:nvPr/>
        </p:nvSpPr>
        <p:spPr>
          <a:xfrm>
            <a:off x="762000" y="6143625"/>
            <a:ext cx="10668000" cy="171450"/>
          </a:xfrm>
          <a:prstGeom prst="rect">
            <a:avLst/>
          </a:prstGeom>
          <a:noFill/>
          <a:ln w="0">
            <a:noFill/>
          </a:ln>
        </p:spPr>
        <p:txBody>
          <a:bodyPr wrap="none" lIns="0" tIns="0" rIns="0" bIns="0" anchor="t">
            <a:noAutofit/>
          </a:bodyPr>
          <a:lstStyle>
            <a:defPPr algn="l">
              <a:defRPr sz="1200" b="0">
                <a:solidFill>
                  <a:srgbClr val="656B73"/>
                </a:solidFill>
                <a:latin typeface="Roboto"/>
                <a:ea typeface="Roboto"/>
                <a:cs typeface="Roboto"/>
              </a:defRPr>
            </a:defPPr>
            <a:lvl1pPr algn="l">
              <a:defRPr sz="1200" b="0">
                <a:solidFill>
                  <a:srgbClr val="656B73"/>
                </a:solidFill>
                <a:latin typeface="Roboto"/>
                <a:ea typeface="Roboto"/>
                <a:cs typeface="Roboto"/>
              </a:defRPr>
            </a:lvl1pPr>
            <a:lvl2pPr algn="l">
              <a:defRPr sz="1200" b="0">
                <a:solidFill>
                  <a:srgbClr val="656B73"/>
                </a:solidFill>
                <a:latin typeface="Roboto"/>
                <a:ea typeface="Roboto"/>
                <a:cs typeface="Roboto"/>
              </a:defRPr>
            </a:lvl2pPr>
            <a:lvl3pPr algn="l">
              <a:defRPr sz="1200" b="0">
                <a:solidFill>
                  <a:srgbClr val="656B73"/>
                </a:solidFill>
                <a:latin typeface="Roboto"/>
                <a:ea typeface="Roboto"/>
                <a:cs typeface="Roboto"/>
              </a:defRPr>
            </a:lvl3pPr>
            <a:lvl4pPr algn="l">
              <a:defRPr sz="1200" b="0">
                <a:solidFill>
                  <a:srgbClr val="656B73"/>
                </a:solidFill>
                <a:latin typeface="Roboto"/>
                <a:ea typeface="Roboto"/>
                <a:cs typeface="Roboto"/>
              </a:defRPr>
            </a:lvl4pPr>
            <a:lvl5pPr algn="l">
              <a:defRPr sz="1200" b="0">
                <a:solidFill>
                  <a:srgbClr val="656B73"/>
                </a:solidFill>
                <a:latin typeface="Roboto"/>
                <a:ea typeface="Roboto"/>
                <a:cs typeface="Roboto"/>
              </a:defRPr>
            </a:lvl5pPr>
            <a:lvl6pPr algn="l">
              <a:defRPr sz="1200" b="0">
                <a:solidFill>
                  <a:srgbClr val="656B73"/>
                </a:solidFill>
                <a:latin typeface="Roboto"/>
                <a:ea typeface="Roboto"/>
                <a:cs typeface="Roboto"/>
              </a:defRPr>
            </a:lvl6pPr>
            <a:lvl7pPr algn="l">
              <a:defRPr sz="1200" b="0">
                <a:solidFill>
                  <a:srgbClr val="656B73"/>
                </a:solidFill>
                <a:latin typeface="Roboto"/>
                <a:ea typeface="Roboto"/>
                <a:cs typeface="Roboto"/>
              </a:defRPr>
            </a:lvl7pPr>
            <a:lvl8pPr algn="l">
              <a:defRPr sz="1200" b="0">
                <a:solidFill>
                  <a:srgbClr val="656B73"/>
                </a:solidFill>
                <a:latin typeface="Roboto"/>
                <a:ea typeface="Roboto"/>
                <a:cs typeface="Roboto"/>
              </a:defRPr>
            </a:lvl8pPr>
            <a:lvl9pPr algn="l">
              <a:defRPr sz="1200" b="0">
                <a:solidFill>
                  <a:srgbClr val="656B73"/>
                </a:solidFill>
                <a:latin typeface="Roboto"/>
                <a:ea typeface="Roboto"/>
                <a:cs typeface="Roboto"/>
              </a:defRPr>
            </a:lvl9pPr>
          </a:lstStyle>
          <a:p>
            <a:pPr algn="l">
              <a:lnSpc>
                <a:spcPct val="100000"/>
              </a:lnSpc>
              <a:buNone/>
              <a:defRPr sz="1200" b="0">
                <a:solidFill>
                  <a:srgbClr val="656B73"/>
                </a:solidFill>
                <a:latin typeface="Roboto"/>
                <a:ea typeface="Roboto"/>
                <a:cs typeface="Roboto"/>
              </a:defRPr>
            </a:pPr>
            <a:r>
              <a:rPr sz="1200" b="0" dirty="0">
                <a:solidFill>
                  <a:srgbClr val="656B73"/>
                </a:solidFill>
                <a:latin typeface="Roboto"/>
                <a:ea typeface="Roboto"/>
                <a:cs typeface="Roboto"/>
              </a:rPr>
              <a:t>S5Mars test. NVIDIA T4, batch 1.</a:t>
            </a:r>
          </a:p>
        </p:txBody>
      </p:sp>
      <p:sp>
        <p:nvSpPr>
          <p:cNvPr id="13" name="quantization-scope">
            <a:extLst>
              <a:ext uri="{FF2B5EF4-FFF2-40B4-BE49-F238E27FC236}">
                <a16:creationId xmlns:a16="http://schemas.microsoft.com/office/drawing/2014/main" id="{893B8B5D-7633-4E10-B6BA-309CBF6F78DE}"/>
              </a:ext>
            </a:extLst>
          </p:cNvPr>
          <p:cNvSpPr>
            <a:spLocks noGrp="1"/>
          </p:cNvSpPr>
          <p:nvPr/>
        </p:nvSpPr>
        <p:spPr>
          <a:xfrm>
            <a:off x="762000" y="6324600"/>
            <a:ext cx="10668000" cy="161925"/>
          </a:xfrm>
          <a:prstGeom prst="rect">
            <a:avLst/>
          </a:prstGeom>
          <a:noFill/>
          <a:ln w="0">
            <a:noFill/>
          </a:ln>
        </p:spPr>
        <p:txBody>
          <a:bodyPr wrap="none" lIns="0" tIns="0" rIns="0" bIns="0" anchor="t">
            <a:noAutofit/>
          </a:bodyPr>
          <a:lstStyle>
            <a:defPPr algn="l">
              <a:defRPr sz="1200" b="0">
                <a:solidFill>
                  <a:srgbClr val="656B73"/>
                </a:solidFill>
                <a:latin typeface="Roboto"/>
                <a:ea typeface="Roboto"/>
                <a:cs typeface="Roboto"/>
              </a:defRPr>
            </a:defPPr>
            <a:lvl1pPr algn="l">
              <a:defRPr sz="1200" b="0">
                <a:solidFill>
                  <a:srgbClr val="656B73"/>
                </a:solidFill>
                <a:latin typeface="Roboto"/>
                <a:ea typeface="Roboto"/>
                <a:cs typeface="Roboto"/>
              </a:defRPr>
            </a:lvl1pPr>
            <a:lvl2pPr algn="l">
              <a:defRPr sz="1200" b="0">
                <a:solidFill>
                  <a:srgbClr val="656B73"/>
                </a:solidFill>
                <a:latin typeface="Roboto"/>
                <a:ea typeface="Roboto"/>
                <a:cs typeface="Roboto"/>
              </a:defRPr>
            </a:lvl2pPr>
            <a:lvl3pPr algn="l">
              <a:defRPr sz="1200" b="0">
                <a:solidFill>
                  <a:srgbClr val="656B73"/>
                </a:solidFill>
                <a:latin typeface="Roboto"/>
                <a:ea typeface="Roboto"/>
                <a:cs typeface="Roboto"/>
              </a:defRPr>
            </a:lvl3pPr>
            <a:lvl4pPr algn="l">
              <a:defRPr sz="1200" b="0">
                <a:solidFill>
                  <a:srgbClr val="656B73"/>
                </a:solidFill>
                <a:latin typeface="Roboto"/>
                <a:ea typeface="Roboto"/>
                <a:cs typeface="Roboto"/>
              </a:defRPr>
            </a:lvl4pPr>
            <a:lvl5pPr algn="l">
              <a:defRPr sz="1200" b="0">
                <a:solidFill>
                  <a:srgbClr val="656B73"/>
                </a:solidFill>
                <a:latin typeface="Roboto"/>
                <a:ea typeface="Roboto"/>
                <a:cs typeface="Roboto"/>
              </a:defRPr>
            </a:lvl5pPr>
            <a:lvl6pPr algn="l">
              <a:defRPr sz="1200" b="0">
                <a:solidFill>
                  <a:srgbClr val="656B73"/>
                </a:solidFill>
                <a:latin typeface="Roboto"/>
                <a:ea typeface="Roboto"/>
                <a:cs typeface="Roboto"/>
              </a:defRPr>
            </a:lvl6pPr>
            <a:lvl7pPr algn="l">
              <a:defRPr sz="1200" b="0">
                <a:solidFill>
                  <a:srgbClr val="656B73"/>
                </a:solidFill>
                <a:latin typeface="Roboto"/>
                <a:ea typeface="Roboto"/>
                <a:cs typeface="Roboto"/>
              </a:defRPr>
            </a:lvl7pPr>
            <a:lvl8pPr algn="l">
              <a:defRPr sz="1200" b="0">
                <a:solidFill>
                  <a:srgbClr val="656B73"/>
                </a:solidFill>
                <a:latin typeface="Roboto"/>
                <a:ea typeface="Roboto"/>
                <a:cs typeface="Roboto"/>
              </a:defRPr>
            </a:lvl8pPr>
            <a:lvl9pPr algn="l">
              <a:defRPr sz="1200" b="0">
                <a:solidFill>
                  <a:srgbClr val="656B73"/>
                </a:solidFill>
                <a:latin typeface="Roboto"/>
                <a:ea typeface="Roboto"/>
                <a:cs typeface="Roboto"/>
              </a:defRPr>
            </a:lvl9pPr>
          </a:lstStyle>
          <a:p>
            <a:pPr algn="l">
              <a:lnSpc>
                <a:spcPct val="100000"/>
              </a:lnSpc>
              <a:buNone/>
              <a:defRPr sz="1200" b="0">
                <a:solidFill>
                  <a:srgbClr val="656B73"/>
                </a:solidFill>
                <a:latin typeface="Roboto"/>
                <a:ea typeface="Roboto"/>
                <a:cs typeface="Roboto"/>
              </a:defRPr>
            </a:pPr>
            <a:r>
              <a:rPr sz="1200" b="0" dirty="0">
                <a:solidFill>
                  <a:srgbClr val="656B73"/>
                </a:solidFill>
                <a:latin typeface="Roboto"/>
                <a:ea typeface="Roboto"/>
                <a:cs typeface="Roboto"/>
              </a:rPr>
              <a:t>INT8 uses selective mixed precision (</a:t>
            </a:r>
            <a:r>
              <a:rPr sz="1200" b="0" dirty="0" err="1">
                <a:solidFill>
                  <a:srgbClr val="656B73"/>
                </a:solidFill>
                <a:latin typeface="Roboto"/>
                <a:ea typeface="Roboto"/>
                <a:cs typeface="Roboto"/>
              </a:rPr>
              <a:t>SegFormer</a:t>
            </a:r>
            <a:r>
              <a:rPr sz="1200" b="0" dirty="0">
                <a:solidFill>
                  <a:srgbClr val="656B73"/>
                </a:solidFill>
                <a:latin typeface="Roboto"/>
                <a:ea typeface="Roboto"/>
                <a:cs typeface="Roboto"/>
              </a:rPr>
              <a:t>: Conv-only).</a:t>
            </a:r>
          </a:p>
        </p:txBody>
      </p:sp>
    </p:spTree>
    <p:extLst>
      <p:ext uri="{BB962C8B-B14F-4D97-AF65-F5344CB8AC3E}">
        <p14:creationId xmlns:p14="http://schemas.microsoft.com/office/powerpoint/2010/main" val="2117216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D9198-F4A3-DA17-DFEC-5A14495D4A4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473940F-76E2-3D3D-173D-4D0E93D9C989}"/>
              </a:ext>
            </a:extLst>
          </p:cNvPr>
          <p:cNvSpPr>
            <a:spLocks noGrp="1"/>
          </p:cNvSpPr>
          <p:nvPr>
            <p:ph type="title"/>
          </p:nvPr>
        </p:nvSpPr>
        <p:spPr>
          <a:xfrm>
            <a:off x="838200" y="365125"/>
            <a:ext cx="8943109" cy="835787"/>
          </a:xfrm>
        </p:spPr>
        <p:txBody>
          <a:bodyPr>
            <a:normAutofit/>
          </a:bodyPr>
          <a:lstStyle/>
          <a:p>
            <a:r>
              <a:rPr lang="en-US" noProof="0" dirty="0">
                <a:solidFill>
                  <a:srgbClr val="822433"/>
                </a:solidFill>
              </a:rPr>
              <a:t>Extra: Anomaly Detection Results </a:t>
            </a:r>
          </a:p>
        </p:txBody>
      </p:sp>
      <p:sp>
        <p:nvSpPr>
          <p:cNvPr id="4" name="Google Shape;102;p14">
            <a:extLst>
              <a:ext uri="{FF2B5EF4-FFF2-40B4-BE49-F238E27FC236}">
                <a16:creationId xmlns:a16="http://schemas.microsoft.com/office/drawing/2014/main" id="{592AE08C-E482-EC6B-7548-14433CB345D2}"/>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44</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340E6D81-0E0D-AF99-DDA2-50BDC08B6D8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metric-context">
            <a:extLst>
              <a:ext uri="{FF2B5EF4-FFF2-40B4-BE49-F238E27FC236}">
                <a16:creationId xmlns:a16="http://schemas.microsoft.com/office/drawing/2014/main" id="{3F4688D1-1688-88AB-61B3-0C850EFEA790}"/>
              </a:ext>
            </a:extLst>
          </p:cNvPr>
          <p:cNvSpPr>
            <a:spLocks noGrp="1"/>
          </p:cNvSpPr>
          <p:nvPr/>
        </p:nvSpPr>
        <p:spPr>
          <a:xfrm>
            <a:off x="838200" y="5543259"/>
            <a:ext cx="9906000" cy="447675"/>
          </a:xfrm>
          <a:prstGeom prst="rect">
            <a:avLst/>
          </a:prstGeom>
          <a:noFill/>
          <a:ln w="0">
            <a:noFill/>
          </a:ln>
        </p:spPr>
        <p:txBody>
          <a:bodyPr wrap="square" lIns="0" tIns="0" rIns="0" bIns="0" anchor="t">
            <a:noAutofit/>
          </a:bodyPr>
          <a:lstStyle>
            <a:defPPr algn="l">
              <a:defRPr lang="en-US" sz="2025" b="0">
                <a:solidFill>
                  <a:srgbClr val="656B73"/>
                </a:solidFill>
                <a:latin typeface="Roboto"/>
                <a:ea typeface="Roboto"/>
                <a:cs typeface="Roboto"/>
              </a:defRPr>
            </a:defPPr>
            <a:lvl1pPr algn="l">
              <a:defRPr lang="en-US" sz="2025" b="0">
                <a:solidFill>
                  <a:srgbClr val="656B73"/>
                </a:solidFill>
                <a:latin typeface="Roboto"/>
                <a:ea typeface="Roboto"/>
                <a:cs typeface="Roboto"/>
              </a:defRPr>
            </a:lvl1pPr>
            <a:lvl2pPr algn="l">
              <a:defRPr lang="en-US" sz="2025" b="0">
                <a:solidFill>
                  <a:srgbClr val="656B73"/>
                </a:solidFill>
                <a:latin typeface="Roboto"/>
                <a:ea typeface="Roboto"/>
                <a:cs typeface="Roboto"/>
              </a:defRPr>
            </a:lvl2pPr>
            <a:lvl3pPr algn="l">
              <a:defRPr lang="en-US" sz="2025" b="0">
                <a:solidFill>
                  <a:srgbClr val="656B73"/>
                </a:solidFill>
                <a:latin typeface="Roboto"/>
                <a:ea typeface="Roboto"/>
                <a:cs typeface="Roboto"/>
              </a:defRPr>
            </a:lvl3pPr>
            <a:lvl4pPr algn="l">
              <a:defRPr lang="en-US" sz="2025" b="0">
                <a:solidFill>
                  <a:srgbClr val="656B73"/>
                </a:solidFill>
                <a:latin typeface="Roboto"/>
                <a:ea typeface="Roboto"/>
                <a:cs typeface="Roboto"/>
              </a:defRPr>
            </a:lvl4pPr>
            <a:lvl5pPr algn="l">
              <a:defRPr lang="en-US" sz="2025" b="0">
                <a:solidFill>
                  <a:srgbClr val="656B73"/>
                </a:solidFill>
                <a:latin typeface="Roboto"/>
                <a:ea typeface="Roboto"/>
                <a:cs typeface="Roboto"/>
              </a:defRPr>
            </a:lvl5pPr>
            <a:lvl6pPr algn="l">
              <a:defRPr lang="en-US" sz="2025" b="0">
                <a:solidFill>
                  <a:srgbClr val="656B73"/>
                </a:solidFill>
                <a:latin typeface="Roboto"/>
                <a:ea typeface="Roboto"/>
                <a:cs typeface="Roboto"/>
              </a:defRPr>
            </a:lvl6pPr>
            <a:lvl7pPr algn="l">
              <a:defRPr lang="en-US" sz="2025" b="0">
                <a:solidFill>
                  <a:srgbClr val="656B73"/>
                </a:solidFill>
                <a:latin typeface="Roboto"/>
                <a:ea typeface="Roboto"/>
                <a:cs typeface="Roboto"/>
              </a:defRPr>
            </a:lvl7pPr>
            <a:lvl8pPr algn="l">
              <a:defRPr lang="en-US" sz="2025" b="0">
                <a:solidFill>
                  <a:srgbClr val="656B73"/>
                </a:solidFill>
                <a:latin typeface="Roboto"/>
                <a:ea typeface="Roboto"/>
                <a:cs typeface="Roboto"/>
              </a:defRPr>
            </a:lvl8pPr>
            <a:lvl9pPr algn="l">
              <a:defRPr lang="en-US" sz="2025" b="0">
                <a:solidFill>
                  <a:srgbClr val="656B73"/>
                </a:solidFill>
                <a:latin typeface="Roboto"/>
                <a:ea typeface="Roboto"/>
                <a:cs typeface="Roboto"/>
              </a:defRPr>
            </a:lvl9pPr>
          </a:lstStyle>
          <a:p>
            <a:pPr algn="l">
              <a:defRPr lang="en-US" sz="2025" b="0">
                <a:solidFill>
                  <a:srgbClr val="656B73"/>
                </a:solidFill>
                <a:latin typeface="Roboto"/>
                <a:ea typeface="Roboto"/>
                <a:cs typeface="Roboto"/>
              </a:defRPr>
            </a:pPr>
            <a:r>
              <a:rPr lang="en-US" sz="1600" b="0" dirty="0">
                <a:solidFill>
                  <a:srgbClr val="656B73"/>
                </a:solidFill>
                <a:latin typeface="Roboto"/>
                <a:ea typeface="Roboto"/>
                <a:cs typeface="Roboto"/>
              </a:rPr>
              <a:t>Image-level metrics, pose-A test, 808 images</a:t>
            </a:r>
          </a:p>
        </p:txBody>
      </p:sp>
      <p:graphicFrame>
        <p:nvGraphicFramePr>
          <p:cNvPr id="11" name="Tabella 10">
            <a:extLst>
              <a:ext uri="{FF2B5EF4-FFF2-40B4-BE49-F238E27FC236}">
                <a16:creationId xmlns:a16="http://schemas.microsoft.com/office/drawing/2014/main" id="{6F7435D5-EF9E-DA9B-DB57-5A36E9AD425C}"/>
              </a:ext>
            </a:extLst>
          </p:cNvPr>
          <p:cNvGraphicFramePr/>
          <p:nvPr>
            <p:extLst>
              <p:ext uri="{D42A27DB-BD31-4B8C-83A1-F6EECF244321}">
                <p14:modId xmlns:p14="http://schemas.microsoft.com/office/powerpoint/2010/main" val="3911279964"/>
              </p:ext>
            </p:extLst>
          </p:nvPr>
        </p:nvGraphicFramePr>
        <p:xfrm>
          <a:off x="762000" y="2143125"/>
          <a:ext cx="10668000" cy="3379470"/>
        </p:xfrm>
        <a:graphic>
          <a:graphicData uri="http://schemas.openxmlformats.org/drawingml/2006/table">
            <a:tbl>
              <a:tblPr>
                <a:effectLst>
                  <a:outerShdw blurRad="50800" dist="38100" dir="2700000" algn="tl" rotWithShape="0">
                    <a:prstClr val="black">
                      <a:alpha val="40000"/>
                    </a:prstClr>
                  </a:outerShdw>
                </a:effectLst>
              </a:tblPr>
              <a:tblGrid>
                <a:gridCol w="4572000">
                  <a:extLst>
                    <a:ext uri="{9D8B030D-6E8A-4147-A177-3AD203B41FA5}">
                      <a16:colId xmlns:a16="http://schemas.microsoft.com/office/drawing/2014/main" val="20000"/>
                    </a:ext>
                  </a:extLst>
                </a:gridCol>
                <a:gridCol w="3048000">
                  <a:extLst>
                    <a:ext uri="{9D8B030D-6E8A-4147-A177-3AD203B41FA5}">
                      <a16:colId xmlns:a16="http://schemas.microsoft.com/office/drawing/2014/main" val="20001"/>
                    </a:ext>
                  </a:extLst>
                </a:gridCol>
                <a:gridCol w="3048000">
                  <a:extLst>
                    <a:ext uri="{9D8B030D-6E8A-4147-A177-3AD203B41FA5}">
                      <a16:colId xmlns:a16="http://schemas.microsoft.com/office/drawing/2014/main" val="20002"/>
                    </a:ext>
                  </a:extLst>
                </a:gridCol>
              </a:tblGrid>
              <a:tr h="590550">
                <a:tc>
                  <a:txBody>
                    <a:bodyPr/>
                    <a:lstStyle/>
                    <a:p>
                      <a:pPr algn="ctr"/>
                      <a:r>
                        <a:rPr lang="en-US" sz="1875" b="1" dirty="0">
                          <a:solidFill>
                            <a:schemeClr val="bg1"/>
                          </a:solidFill>
                          <a:latin typeface="Roboto"/>
                          <a:ea typeface="Roboto"/>
                          <a:cs typeface="Roboto"/>
                        </a:rPr>
                        <a:t>Model</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Image AUROC (%)</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Image AP (%)</a:t>
                      </a:r>
                    </a:p>
                  </a:txBody>
                  <a:tcPr marL="76200" marR="76200" marT="38100" marB="38100" anchor="ctr">
                    <a:lnL w="0">
                      <a:noFill/>
                    </a:lnL>
                    <a:lnR w="0">
                      <a:noFill/>
                    </a:lnR>
                    <a:lnT w="0">
                      <a:noFill/>
                    </a:lnT>
                    <a:lnB w="0">
                      <a:noFill/>
                    </a:lnB>
                    <a:lnTlToBr w="0">
                      <a:noFill/>
                    </a:lnTlToBr>
                    <a:lnBlToTr w="0">
                      <a:noFill/>
                    </a:lnBlToTr>
                    <a:solidFill>
                      <a:srgbClr val="822433"/>
                    </a:solidFill>
                  </a:tcPr>
                </a:tc>
                <a:extLst>
                  <a:ext uri="{0D108BD9-81ED-4DB2-BD59-A6C34878D82A}">
                    <a16:rowId xmlns:a16="http://schemas.microsoft.com/office/drawing/2014/main" val="10000"/>
                  </a:ext>
                </a:extLst>
              </a:tr>
              <a:tr h="457200">
                <a:tc>
                  <a:txBody>
                    <a:bodyPr/>
                    <a:lstStyle/>
                    <a:p>
                      <a:pPr algn="l"/>
                      <a:r>
                        <a:rPr lang="en-US" sz="2025" dirty="0">
                          <a:solidFill>
                            <a:srgbClr val="202124"/>
                          </a:solidFill>
                          <a:latin typeface="Roboto"/>
                          <a:ea typeface="Roboto"/>
                          <a:cs typeface="Roboto"/>
                        </a:rPr>
                        <a:t>PatchCore-S</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79.28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77.49</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1"/>
                  </a:ext>
                </a:extLst>
              </a:tr>
              <a:tr h="457200">
                <a:tc>
                  <a:txBody>
                    <a:bodyPr/>
                    <a:lstStyle/>
                    <a:p>
                      <a:pPr algn="l"/>
                      <a:r>
                        <a:rPr lang="en-US" sz="2025" b="1">
                          <a:solidFill>
                            <a:srgbClr val="822433"/>
                          </a:solidFill>
                          <a:latin typeface="Roboto"/>
                          <a:ea typeface="Roboto"/>
                          <a:cs typeface="Roboto"/>
                        </a:rPr>
                        <a:t>PatchCore-L</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b="1" dirty="0">
                          <a:solidFill>
                            <a:srgbClr val="822433"/>
                          </a:solidFill>
                          <a:latin typeface="Roboto"/>
                          <a:ea typeface="Roboto"/>
                          <a:cs typeface="Roboto"/>
                        </a:rPr>
                        <a:t>86.43</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b="1">
                          <a:solidFill>
                            <a:srgbClr val="822433"/>
                          </a:solidFill>
                          <a:latin typeface="Roboto"/>
                          <a:ea typeface="Roboto"/>
                          <a:cs typeface="Roboto"/>
                        </a:rPr>
                        <a:t>88.63</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2"/>
                  </a:ext>
                </a:extLst>
              </a:tr>
              <a:tr h="457200">
                <a:tc>
                  <a:txBody>
                    <a:bodyPr/>
                    <a:lstStyle/>
                    <a:p>
                      <a:pPr algn="l"/>
                      <a:r>
                        <a:rPr lang="en-US" sz="2025" dirty="0">
                          <a:solidFill>
                            <a:srgbClr val="202124"/>
                          </a:solidFill>
                          <a:latin typeface="Roboto"/>
                          <a:ea typeface="Roboto"/>
                          <a:cs typeface="Roboto"/>
                        </a:rPr>
                        <a:t>EfficientAD-S</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66.50</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64.74</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3"/>
                  </a:ext>
                </a:extLst>
              </a:tr>
              <a:tr h="457200">
                <a:tc>
                  <a:txBody>
                    <a:bodyPr/>
                    <a:lstStyle/>
                    <a:p>
                      <a:pPr algn="l"/>
                      <a:r>
                        <a:rPr lang="en-US" sz="2025" dirty="0" err="1">
                          <a:solidFill>
                            <a:srgbClr val="202124"/>
                          </a:solidFill>
                          <a:latin typeface="Roboto"/>
                          <a:ea typeface="Roboto"/>
                          <a:cs typeface="Roboto"/>
                        </a:rPr>
                        <a:t>SuperSimpleNet</a:t>
                      </a:r>
                      <a:endParaRPr lang="en-US" sz="2025" dirty="0">
                        <a:solidFill>
                          <a:srgbClr val="202124"/>
                        </a:solidFill>
                        <a:latin typeface="Roboto"/>
                        <a:ea typeface="Roboto"/>
                        <a:cs typeface="Roboto"/>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dirty="0">
                          <a:solidFill>
                            <a:srgbClr val="202124"/>
                          </a:solidFill>
                          <a:latin typeface="Roboto"/>
                          <a:ea typeface="Roboto"/>
                          <a:cs typeface="Roboto"/>
                        </a:rPr>
                        <a:t>82.72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dirty="0">
                          <a:solidFill>
                            <a:srgbClr val="202124"/>
                          </a:solidFill>
                          <a:latin typeface="Roboto"/>
                          <a:ea typeface="Roboto"/>
                          <a:cs typeface="Roboto"/>
                        </a:rPr>
                        <a:t>86.08</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4"/>
                  </a:ext>
                </a:extLst>
              </a:tr>
              <a:tr h="457200">
                <a:tc>
                  <a:txBody>
                    <a:bodyPr/>
                    <a:lstStyle/>
                    <a:p>
                      <a:pPr algn="l"/>
                      <a:r>
                        <a:rPr lang="en-US" sz="2025" dirty="0">
                          <a:solidFill>
                            <a:srgbClr val="202124"/>
                          </a:solidFill>
                          <a:latin typeface="Roboto"/>
                          <a:ea typeface="Roboto"/>
                          <a:cs typeface="Roboto"/>
                        </a:rPr>
                        <a:t>TinyGLASS-384</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77.52</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79.28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5"/>
                  </a:ext>
                </a:extLst>
              </a:tr>
              <a:tr h="457200">
                <a:tc>
                  <a:txBody>
                    <a:bodyPr/>
                    <a:lstStyle/>
                    <a:p>
                      <a:pPr algn="l"/>
                      <a:r>
                        <a:rPr lang="en-US" sz="2025">
                          <a:solidFill>
                            <a:srgbClr val="202124"/>
                          </a:solidFill>
                          <a:latin typeface="Roboto"/>
                          <a:ea typeface="Roboto"/>
                          <a:cs typeface="Roboto"/>
                        </a:rPr>
                        <a:t>TinyGLASS-512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a:solidFill>
                            <a:srgbClr val="202124"/>
                          </a:solidFill>
                          <a:latin typeface="Roboto"/>
                          <a:ea typeface="Roboto"/>
                          <a:cs typeface="Roboto"/>
                        </a:rPr>
                        <a:t>77.33</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dirty="0">
                          <a:solidFill>
                            <a:srgbClr val="202124"/>
                          </a:solidFill>
                          <a:latin typeface="Roboto"/>
                          <a:ea typeface="Roboto"/>
                          <a:cs typeface="Roboto"/>
                        </a:rPr>
                        <a:t>81.12</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41960015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30445D-7C09-D000-8FB3-DEF2E5FB6EB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C67F964E-E6F7-3923-599F-EF74CBA5FC4B}"/>
              </a:ext>
            </a:extLst>
          </p:cNvPr>
          <p:cNvSpPr>
            <a:spLocks noGrp="1"/>
          </p:cNvSpPr>
          <p:nvPr>
            <p:ph type="title"/>
          </p:nvPr>
        </p:nvSpPr>
        <p:spPr>
          <a:xfrm>
            <a:off x="838200" y="365125"/>
            <a:ext cx="8384177" cy="835787"/>
          </a:xfrm>
        </p:spPr>
        <p:txBody>
          <a:bodyPr/>
          <a:lstStyle/>
          <a:p>
            <a:r>
              <a:rPr lang="en-US" noProof="0" dirty="0">
                <a:solidFill>
                  <a:srgbClr val="822433"/>
                </a:solidFill>
              </a:rPr>
              <a:t>Extra: Localization Results</a:t>
            </a:r>
          </a:p>
        </p:txBody>
      </p:sp>
      <p:sp>
        <p:nvSpPr>
          <p:cNvPr id="4" name="Google Shape;102;p14">
            <a:extLst>
              <a:ext uri="{FF2B5EF4-FFF2-40B4-BE49-F238E27FC236}">
                <a16:creationId xmlns:a16="http://schemas.microsoft.com/office/drawing/2014/main" id="{BE1BC039-D2AD-531B-2D9C-57D112B1C3D3}"/>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45</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ABA391CC-934B-73DA-2F66-727D82A6E1DB}"/>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7" name="metric-context">
            <a:extLst>
              <a:ext uri="{FF2B5EF4-FFF2-40B4-BE49-F238E27FC236}">
                <a16:creationId xmlns:a16="http://schemas.microsoft.com/office/drawing/2014/main" id="{D776CE94-E202-0B44-374F-BCC03E644389}"/>
              </a:ext>
            </a:extLst>
          </p:cNvPr>
          <p:cNvSpPr>
            <a:spLocks noGrp="1"/>
          </p:cNvSpPr>
          <p:nvPr/>
        </p:nvSpPr>
        <p:spPr>
          <a:xfrm>
            <a:off x="762000" y="5610225"/>
            <a:ext cx="9906000" cy="447675"/>
          </a:xfrm>
          <a:prstGeom prst="rect">
            <a:avLst/>
          </a:prstGeom>
          <a:noFill/>
          <a:ln w="0">
            <a:noFill/>
          </a:ln>
        </p:spPr>
        <p:txBody>
          <a:bodyPr wrap="square" lIns="0" tIns="0" rIns="0" bIns="0" anchor="t">
            <a:noAutofit/>
          </a:bodyPr>
          <a:lstStyle>
            <a:defPPr algn="l">
              <a:defRPr lang="en-US" sz="2025" b="0">
                <a:solidFill>
                  <a:srgbClr val="656B73"/>
                </a:solidFill>
                <a:latin typeface="Roboto"/>
                <a:ea typeface="Roboto"/>
                <a:cs typeface="Roboto"/>
              </a:defRPr>
            </a:defPPr>
            <a:lvl1pPr algn="l">
              <a:defRPr lang="en-US" sz="2025" b="0">
                <a:solidFill>
                  <a:srgbClr val="656B73"/>
                </a:solidFill>
                <a:latin typeface="Roboto"/>
                <a:ea typeface="Roboto"/>
                <a:cs typeface="Roboto"/>
              </a:defRPr>
            </a:lvl1pPr>
            <a:lvl2pPr algn="l">
              <a:defRPr lang="en-US" sz="2025" b="0">
                <a:solidFill>
                  <a:srgbClr val="656B73"/>
                </a:solidFill>
                <a:latin typeface="Roboto"/>
                <a:ea typeface="Roboto"/>
                <a:cs typeface="Roboto"/>
              </a:defRPr>
            </a:lvl2pPr>
            <a:lvl3pPr algn="l">
              <a:defRPr lang="en-US" sz="2025" b="0">
                <a:solidFill>
                  <a:srgbClr val="656B73"/>
                </a:solidFill>
                <a:latin typeface="Roboto"/>
                <a:ea typeface="Roboto"/>
                <a:cs typeface="Roboto"/>
              </a:defRPr>
            </a:lvl3pPr>
            <a:lvl4pPr algn="l">
              <a:defRPr lang="en-US" sz="2025" b="0">
                <a:solidFill>
                  <a:srgbClr val="656B73"/>
                </a:solidFill>
                <a:latin typeface="Roboto"/>
                <a:ea typeface="Roboto"/>
                <a:cs typeface="Roboto"/>
              </a:defRPr>
            </a:lvl4pPr>
            <a:lvl5pPr algn="l">
              <a:defRPr lang="en-US" sz="2025" b="0">
                <a:solidFill>
                  <a:srgbClr val="656B73"/>
                </a:solidFill>
                <a:latin typeface="Roboto"/>
                <a:ea typeface="Roboto"/>
                <a:cs typeface="Roboto"/>
              </a:defRPr>
            </a:lvl5pPr>
            <a:lvl6pPr algn="l">
              <a:defRPr lang="en-US" sz="2025" b="0">
                <a:solidFill>
                  <a:srgbClr val="656B73"/>
                </a:solidFill>
                <a:latin typeface="Roboto"/>
                <a:ea typeface="Roboto"/>
                <a:cs typeface="Roboto"/>
              </a:defRPr>
            </a:lvl6pPr>
            <a:lvl7pPr algn="l">
              <a:defRPr lang="en-US" sz="2025" b="0">
                <a:solidFill>
                  <a:srgbClr val="656B73"/>
                </a:solidFill>
                <a:latin typeface="Roboto"/>
                <a:ea typeface="Roboto"/>
                <a:cs typeface="Roboto"/>
              </a:defRPr>
            </a:lvl7pPr>
            <a:lvl8pPr algn="l">
              <a:defRPr lang="en-US" sz="2025" b="0">
                <a:solidFill>
                  <a:srgbClr val="656B73"/>
                </a:solidFill>
                <a:latin typeface="Roboto"/>
                <a:ea typeface="Roboto"/>
                <a:cs typeface="Roboto"/>
              </a:defRPr>
            </a:lvl8pPr>
            <a:lvl9pPr algn="l">
              <a:defRPr lang="en-US" sz="2025" b="0">
                <a:solidFill>
                  <a:srgbClr val="656B73"/>
                </a:solidFill>
                <a:latin typeface="Roboto"/>
                <a:ea typeface="Roboto"/>
                <a:cs typeface="Roboto"/>
              </a:defRPr>
            </a:lvl9pPr>
          </a:lstStyle>
          <a:p>
            <a:pPr algn="l">
              <a:defRPr lang="en-US" sz="2025" b="0">
                <a:solidFill>
                  <a:srgbClr val="656B73"/>
                </a:solidFill>
                <a:latin typeface="Roboto"/>
                <a:ea typeface="Roboto"/>
                <a:cs typeface="Roboto"/>
              </a:defRPr>
            </a:pPr>
            <a:r>
              <a:rPr lang="en-US" sz="1400" b="0" dirty="0">
                <a:solidFill>
                  <a:srgbClr val="656B73"/>
                </a:solidFill>
                <a:latin typeface="Roboto"/>
                <a:ea typeface="Roboto"/>
                <a:cs typeface="Roboto"/>
              </a:rPr>
              <a:t>Pixel and region metrics, same pose-A test split</a:t>
            </a:r>
          </a:p>
        </p:txBody>
      </p:sp>
      <p:graphicFrame>
        <p:nvGraphicFramePr>
          <p:cNvPr id="9" name="Tabella 8">
            <a:extLst>
              <a:ext uri="{FF2B5EF4-FFF2-40B4-BE49-F238E27FC236}">
                <a16:creationId xmlns:a16="http://schemas.microsoft.com/office/drawing/2014/main" id="{4B2D504A-AE70-2F5B-21D9-44ED3A3C4D20}"/>
              </a:ext>
            </a:extLst>
          </p:cNvPr>
          <p:cNvGraphicFramePr/>
          <p:nvPr>
            <p:extLst>
              <p:ext uri="{D42A27DB-BD31-4B8C-83A1-F6EECF244321}">
                <p14:modId xmlns:p14="http://schemas.microsoft.com/office/powerpoint/2010/main" val="2507650453"/>
              </p:ext>
            </p:extLst>
          </p:nvPr>
        </p:nvGraphicFramePr>
        <p:xfrm>
          <a:off x="762000" y="2024063"/>
          <a:ext cx="10668000" cy="3390900"/>
        </p:xfrm>
        <a:graphic>
          <a:graphicData uri="http://schemas.openxmlformats.org/drawingml/2006/table">
            <a:tbl>
              <a:tblPr>
                <a:effectLst>
                  <a:outerShdw blurRad="50800" dist="38100" dir="2700000" algn="tl" rotWithShape="0">
                    <a:prstClr val="black">
                      <a:alpha val="40000"/>
                    </a:prstClr>
                  </a:outerShdw>
                </a:effectLst>
              </a:tblPr>
              <a:tblGrid>
                <a:gridCol w="2905125">
                  <a:extLst>
                    <a:ext uri="{9D8B030D-6E8A-4147-A177-3AD203B41FA5}">
                      <a16:colId xmlns:a16="http://schemas.microsoft.com/office/drawing/2014/main" val="20000"/>
                    </a:ext>
                  </a:extLst>
                </a:gridCol>
                <a:gridCol w="1552575">
                  <a:extLst>
                    <a:ext uri="{9D8B030D-6E8A-4147-A177-3AD203B41FA5}">
                      <a16:colId xmlns:a16="http://schemas.microsoft.com/office/drawing/2014/main" val="20001"/>
                    </a:ext>
                  </a:extLst>
                </a:gridCol>
                <a:gridCol w="1552575">
                  <a:extLst>
                    <a:ext uri="{9D8B030D-6E8A-4147-A177-3AD203B41FA5}">
                      <a16:colId xmlns:a16="http://schemas.microsoft.com/office/drawing/2014/main" val="20002"/>
                    </a:ext>
                  </a:extLst>
                </a:gridCol>
                <a:gridCol w="1552575">
                  <a:extLst>
                    <a:ext uri="{9D8B030D-6E8A-4147-A177-3AD203B41FA5}">
                      <a16:colId xmlns:a16="http://schemas.microsoft.com/office/drawing/2014/main" val="20003"/>
                    </a:ext>
                  </a:extLst>
                </a:gridCol>
                <a:gridCol w="1552575">
                  <a:extLst>
                    <a:ext uri="{9D8B030D-6E8A-4147-A177-3AD203B41FA5}">
                      <a16:colId xmlns:a16="http://schemas.microsoft.com/office/drawing/2014/main" val="20004"/>
                    </a:ext>
                  </a:extLst>
                </a:gridCol>
                <a:gridCol w="1552575">
                  <a:extLst>
                    <a:ext uri="{9D8B030D-6E8A-4147-A177-3AD203B41FA5}">
                      <a16:colId xmlns:a16="http://schemas.microsoft.com/office/drawing/2014/main" val="20005"/>
                    </a:ext>
                  </a:extLst>
                </a:gridCol>
              </a:tblGrid>
              <a:tr h="590550">
                <a:tc>
                  <a:txBody>
                    <a:bodyPr/>
                    <a:lstStyle/>
                    <a:p>
                      <a:pPr algn="ctr"/>
                      <a:r>
                        <a:rPr lang="en-US" sz="1875" b="1" dirty="0">
                          <a:solidFill>
                            <a:schemeClr val="bg1"/>
                          </a:solidFill>
                          <a:latin typeface="Roboto"/>
                          <a:ea typeface="Roboto"/>
                          <a:cs typeface="Roboto"/>
                        </a:rPr>
                        <a:t>Model</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Pixel</a:t>
                      </a:r>
                    </a:p>
                    <a:p>
                      <a:pPr algn="ctr"/>
                      <a:r>
                        <a:rPr lang="en-US" sz="1875" b="1" dirty="0">
                          <a:solidFill>
                            <a:schemeClr val="bg1"/>
                          </a:solidFill>
                          <a:latin typeface="Roboto"/>
                          <a:ea typeface="Roboto"/>
                          <a:cs typeface="Roboto"/>
                        </a:rPr>
                        <a:t>AUROC (%)</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Pixel</a:t>
                      </a:r>
                    </a:p>
                    <a:p>
                      <a:pPr algn="ctr"/>
                      <a:r>
                        <a:rPr lang="en-US" sz="1875" b="1" dirty="0">
                          <a:solidFill>
                            <a:schemeClr val="bg1"/>
                          </a:solidFill>
                          <a:latin typeface="Roboto"/>
                          <a:ea typeface="Roboto"/>
                          <a:cs typeface="Roboto"/>
                        </a:rPr>
                        <a:t>AP (%)</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AUPRO</a:t>
                      </a:r>
                    </a:p>
                    <a:p>
                      <a:pPr algn="ctr"/>
                      <a:r>
                        <a:rPr lang="en-US" sz="1875" b="1" dirty="0">
                          <a:solidFill>
                            <a:schemeClr val="bg1"/>
                          </a:solidFill>
                          <a:latin typeface="Roboto"/>
                          <a:ea typeface="Roboto"/>
                          <a:cs typeface="Roboto"/>
                        </a:rPr>
                        <a:t>@0.05 (%)</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AUPRO</a:t>
                      </a:r>
                    </a:p>
                    <a:p>
                      <a:pPr algn="ctr"/>
                      <a:r>
                        <a:rPr lang="en-US" sz="1875" b="1" dirty="0">
                          <a:solidFill>
                            <a:schemeClr val="bg1"/>
                          </a:solidFill>
                          <a:latin typeface="Roboto"/>
                          <a:ea typeface="Roboto"/>
                          <a:cs typeface="Roboto"/>
                        </a:rPr>
                        <a:t>@0.10 (%)</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AUPRO</a:t>
                      </a:r>
                    </a:p>
                    <a:p>
                      <a:pPr algn="ctr"/>
                      <a:r>
                        <a:rPr lang="en-US" sz="1875" b="1" dirty="0">
                          <a:solidFill>
                            <a:schemeClr val="bg1"/>
                          </a:solidFill>
                          <a:latin typeface="Roboto"/>
                          <a:ea typeface="Roboto"/>
                          <a:cs typeface="Roboto"/>
                        </a:rPr>
                        <a:t>@0.30 (%)</a:t>
                      </a:r>
                    </a:p>
                  </a:txBody>
                  <a:tcPr marL="76200" marR="76200" marT="38100" marB="38100" anchor="ctr">
                    <a:lnL w="0">
                      <a:noFill/>
                    </a:lnL>
                    <a:lnR w="0">
                      <a:noFill/>
                    </a:lnR>
                    <a:lnT w="0">
                      <a:noFill/>
                    </a:lnT>
                    <a:lnB w="0">
                      <a:noFill/>
                    </a:lnB>
                    <a:lnTlToBr w="0">
                      <a:noFill/>
                    </a:lnTlToBr>
                    <a:lnBlToTr w="0">
                      <a:noFill/>
                    </a:lnBlToTr>
                    <a:solidFill>
                      <a:srgbClr val="822433"/>
                    </a:solidFill>
                  </a:tcPr>
                </a:tc>
                <a:extLst>
                  <a:ext uri="{0D108BD9-81ED-4DB2-BD59-A6C34878D82A}">
                    <a16:rowId xmlns:a16="http://schemas.microsoft.com/office/drawing/2014/main" val="10000"/>
                  </a:ext>
                </a:extLst>
              </a:tr>
              <a:tr h="457200">
                <a:tc>
                  <a:txBody>
                    <a:bodyPr/>
                    <a:lstStyle/>
                    <a:p>
                      <a:pPr algn="l"/>
                      <a:r>
                        <a:rPr lang="en-US" sz="2025" dirty="0">
                          <a:solidFill>
                            <a:srgbClr val="202124"/>
                          </a:solidFill>
                          <a:latin typeface="Roboto"/>
                          <a:ea typeface="Roboto"/>
                          <a:cs typeface="Roboto"/>
                        </a:rPr>
                        <a:t>PatchCore-S</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b="1" dirty="0">
                          <a:solidFill>
                            <a:srgbClr val="822433"/>
                          </a:solidFill>
                          <a:latin typeface="Roboto"/>
                          <a:ea typeface="Roboto"/>
                          <a:cs typeface="Roboto"/>
                        </a:rPr>
                        <a:t>99.78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41.05</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b="1" dirty="0">
                          <a:solidFill>
                            <a:srgbClr val="822433"/>
                          </a:solidFill>
                          <a:latin typeface="Roboto"/>
                          <a:ea typeface="Roboto"/>
                          <a:cs typeface="Roboto"/>
                        </a:rPr>
                        <a:t>94.93</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b="1" dirty="0">
                          <a:solidFill>
                            <a:srgbClr val="822433"/>
                          </a:solidFill>
                          <a:latin typeface="Roboto"/>
                          <a:ea typeface="Roboto"/>
                          <a:cs typeface="Roboto"/>
                        </a:rPr>
                        <a:t>97.35</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b="1" dirty="0">
                          <a:solidFill>
                            <a:srgbClr val="822433"/>
                          </a:solidFill>
                          <a:latin typeface="Roboto"/>
                          <a:ea typeface="Roboto"/>
                          <a:cs typeface="Roboto"/>
                        </a:rPr>
                        <a:t>99.10</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1"/>
                  </a:ext>
                </a:extLst>
              </a:tr>
              <a:tr h="457200">
                <a:tc>
                  <a:txBody>
                    <a:bodyPr/>
                    <a:lstStyle/>
                    <a:p>
                      <a:pPr algn="l"/>
                      <a:r>
                        <a:rPr lang="en-US" sz="2025">
                          <a:solidFill>
                            <a:srgbClr val="202124"/>
                          </a:solidFill>
                          <a:latin typeface="Roboto"/>
                          <a:ea typeface="Roboto"/>
                          <a:cs typeface="Roboto"/>
                        </a:rPr>
                        <a:t>PatchCore-L</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99.43</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b="1">
                          <a:solidFill>
                            <a:srgbClr val="822433"/>
                          </a:solidFill>
                          <a:latin typeface="Roboto"/>
                          <a:ea typeface="Roboto"/>
                          <a:cs typeface="Roboto"/>
                        </a:rPr>
                        <a:t>42.89</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82.90</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dirty="0">
                          <a:solidFill>
                            <a:srgbClr val="202124"/>
                          </a:solidFill>
                          <a:latin typeface="Roboto"/>
                          <a:ea typeface="Roboto"/>
                          <a:cs typeface="Roboto"/>
                        </a:rPr>
                        <a:t>89.36</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dirty="0">
                          <a:solidFill>
                            <a:srgbClr val="202124"/>
                          </a:solidFill>
                          <a:latin typeface="Roboto"/>
                          <a:ea typeface="Roboto"/>
                          <a:cs typeface="Roboto"/>
                        </a:rPr>
                        <a:t>95.44</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2"/>
                  </a:ext>
                </a:extLst>
              </a:tr>
              <a:tr h="457200">
                <a:tc>
                  <a:txBody>
                    <a:bodyPr/>
                    <a:lstStyle/>
                    <a:p>
                      <a:pPr algn="l"/>
                      <a:r>
                        <a:rPr lang="en-US" sz="2025" dirty="0">
                          <a:solidFill>
                            <a:srgbClr val="202124"/>
                          </a:solidFill>
                          <a:latin typeface="Roboto"/>
                          <a:ea typeface="Roboto"/>
                          <a:cs typeface="Roboto"/>
                        </a:rPr>
                        <a:t>EfficientAD-S</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96.36</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9.00</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58.45</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70.36</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84.98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3"/>
                  </a:ext>
                </a:extLst>
              </a:tr>
              <a:tr h="457200">
                <a:tc>
                  <a:txBody>
                    <a:bodyPr/>
                    <a:lstStyle/>
                    <a:p>
                      <a:pPr algn="l"/>
                      <a:r>
                        <a:rPr lang="en-US" sz="2025">
                          <a:solidFill>
                            <a:srgbClr val="202124"/>
                          </a:solidFill>
                          <a:latin typeface="Roboto"/>
                          <a:ea typeface="Roboto"/>
                          <a:cs typeface="Roboto"/>
                        </a:rPr>
                        <a:t>SuperSimpleNet</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96.97</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19.10</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71.62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78.58</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87.53</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4"/>
                  </a:ext>
                </a:extLst>
              </a:tr>
              <a:tr h="457200">
                <a:tc>
                  <a:txBody>
                    <a:bodyPr/>
                    <a:lstStyle/>
                    <a:p>
                      <a:pPr algn="l"/>
                      <a:r>
                        <a:rPr lang="en-US" sz="2025" dirty="0">
                          <a:solidFill>
                            <a:srgbClr val="202124"/>
                          </a:solidFill>
                          <a:latin typeface="Roboto"/>
                          <a:ea typeface="Roboto"/>
                          <a:cs typeface="Roboto"/>
                        </a:rPr>
                        <a:t>TinyGLASS-384</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97.21</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25.48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73.93</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81.10</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90.24</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5"/>
                  </a:ext>
                </a:extLst>
              </a:tr>
              <a:tr h="457200">
                <a:tc>
                  <a:txBody>
                    <a:bodyPr/>
                    <a:lstStyle/>
                    <a:p>
                      <a:pPr algn="l"/>
                      <a:r>
                        <a:rPr lang="en-US" sz="2025">
                          <a:solidFill>
                            <a:srgbClr val="202124"/>
                          </a:solidFill>
                          <a:latin typeface="Roboto"/>
                          <a:ea typeface="Roboto"/>
                          <a:cs typeface="Roboto"/>
                        </a:rPr>
                        <a:t>TinyGLASS-512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dirty="0">
                          <a:solidFill>
                            <a:srgbClr val="202124"/>
                          </a:solidFill>
                          <a:latin typeface="Roboto"/>
                          <a:ea typeface="Roboto"/>
                          <a:cs typeface="Roboto"/>
                        </a:rPr>
                        <a:t>97.92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27.59</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76.54</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83.56</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dirty="0">
                          <a:solidFill>
                            <a:srgbClr val="202124"/>
                          </a:solidFill>
                          <a:latin typeface="Roboto"/>
                          <a:ea typeface="Roboto"/>
                          <a:cs typeface="Roboto"/>
                        </a:rPr>
                        <a:t>92.01</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6"/>
                  </a:ext>
                </a:extLst>
              </a:tr>
            </a:tbl>
          </a:graphicData>
        </a:graphic>
      </p:graphicFrame>
      <p:sp>
        <p:nvSpPr>
          <p:cNvPr id="11" name="aupro-definition">
            <a:extLst>
              <a:ext uri="{FF2B5EF4-FFF2-40B4-BE49-F238E27FC236}">
                <a16:creationId xmlns:a16="http://schemas.microsoft.com/office/drawing/2014/main" id="{055FB853-8D4A-F143-7DF5-5016746A394B}"/>
              </a:ext>
            </a:extLst>
          </p:cNvPr>
          <p:cNvSpPr>
            <a:spLocks noGrp="1"/>
          </p:cNvSpPr>
          <p:nvPr/>
        </p:nvSpPr>
        <p:spPr>
          <a:xfrm>
            <a:off x="762000" y="5924550"/>
            <a:ext cx="10668000" cy="266700"/>
          </a:xfrm>
          <a:prstGeom prst="rect">
            <a:avLst/>
          </a:prstGeom>
          <a:noFill/>
          <a:ln w="0">
            <a:noFill/>
          </a:ln>
        </p:spPr>
        <p:txBody>
          <a:bodyPr wrap="square" lIns="0" tIns="0" rIns="0" bIns="0" anchor="t">
            <a:noAutofit/>
          </a:bodyPr>
          <a:lstStyle>
            <a:defPPr algn="l">
              <a:defRPr lang="en-US" sz="1575" b="0">
                <a:solidFill>
                  <a:srgbClr val="656B73"/>
                </a:solidFill>
                <a:latin typeface="Roboto"/>
                <a:ea typeface="Roboto"/>
                <a:cs typeface="Roboto"/>
              </a:defRPr>
            </a:defPPr>
            <a:lvl1pPr algn="l">
              <a:defRPr lang="en-US" sz="1575" b="0">
                <a:solidFill>
                  <a:srgbClr val="656B73"/>
                </a:solidFill>
                <a:latin typeface="Roboto"/>
                <a:ea typeface="Roboto"/>
                <a:cs typeface="Roboto"/>
              </a:defRPr>
            </a:lvl1pPr>
            <a:lvl2pPr algn="l">
              <a:defRPr lang="en-US" sz="1575" b="0">
                <a:solidFill>
                  <a:srgbClr val="656B73"/>
                </a:solidFill>
                <a:latin typeface="Roboto"/>
                <a:ea typeface="Roboto"/>
                <a:cs typeface="Roboto"/>
              </a:defRPr>
            </a:lvl2pPr>
            <a:lvl3pPr algn="l">
              <a:defRPr lang="en-US" sz="1575" b="0">
                <a:solidFill>
                  <a:srgbClr val="656B73"/>
                </a:solidFill>
                <a:latin typeface="Roboto"/>
                <a:ea typeface="Roboto"/>
                <a:cs typeface="Roboto"/>
              </a:defRPr>
            </a:lvl3pPr>
            <a:lvl4pPr algn="l">
              <a:defRPr lang="en-US" sz="1575" b="0">
                <a:solidFill>
                  <a:srgbClr val="656B73"/>
                </a:solidFill>
                <a:latin typeface="Roboto"/>
                <a:ea typeface="Roboto"/>
                <a:cs typeface="Roboto"/>
              </a:defRPr>
            </a:lvl4pPr>
            <a:lvl5pPr algn="l">
              <a:defRPr lang="en-US" sz="1575" b="0">
                <a:solidFill>
                  <a:srgbClr val="656B73"/>
                </a:solidFill>
                <a:latin typeface="Roboto"/>
                <a:ea typeface="Roboto"/>
                <a:cs typeface="Roboto"/>
              </a:defRPr>
            </a:lvl5pPr>
            <a:lvl6pPr algn="l">
              <a:defRPr lang="en-US" sz="1575" b="0">
                <a:solidFill>
                  <a:srgbClr val="656B73"/>
                </a:solidFill>
                <a:latin typeface="Roboto"/>
                <a:ea typeface="Roboto"/>
                <a:cs typeface="Roboto"/>
              </a:defRPr>
            </a:lvl6pPr>
            <a:lvl7pPr algn="l">
              <a:defRPr lang="en-US" sz="1575" b="0">
                <a:solidFill>
                  <a:srgbClr val="656B73"/>
                </a:solidFill>
                <a:latin typeface="Roboto"/>
                <a:ea typeface="Roboto"/>
                <a:cs typeface="Roboto"/>
              </a:defRPr>
            </a:lvl7pPr>
            <a:lvl8pPr algn="l">
              <a:defRPr lang="en-US" sz="1575" b="0">
                <a:solidFill>
                  <a:srgbClr val="656B73"/>
                </a:solidFill>
                <a:latin typeface="Roboto"/>
                <a:ea typeface="Roboto"/>
                <a:cs typeface="Roboto"/>
              </a:defRPr>
            </a:lvl8pPr>
            <a:lvl9pPr algn="l">
              <a:defRPr lang="en-US" sz="1575" b="0">
                <a:solidFill>
                  <a:srgbClr val="656B73"/>
                </a:solidFill>
                <a:latin typeface="Roboto"/>
                <a:ea typeface="Roboto"/>
                <a:cs typeface="Roboto"/>
              </a:defRPr>
            </a:lvl9pPr>
          </a:lstStyle>
          <a:p>
            <a:pPr algn="l">
              <a:defRPr lang="en-US" sz="1575" b="0">
                <a:solidFill>
                  <a:srgbClr val="656B73"/>
                </a:solidFill>
                <a:latin typeface="Roboto"/>
                <a:ea typeface="Roboto"/>
                <a:cs typeface="Roboto"/>
              </a:defRPr>
            </a:pPr>
            <a:r>
              <a:rPr lang="en-US" sz="1100" b="0" dirty="0">
                <a:solidFill>
                  <a:srgbClr val="656B73"/>
                </a:solidFill>
                <a:latin typeface="Roboto"/>
                <a:ea typeface="Roboto"/>
                <a:cs typeface="Roboto"/>
              </a:rPr>
              <a:t>AUPRO is normalized up to the false-positive-rate limit stated in each column.</a:t>
            </a:r>
          </a:p>
        </p:txBody>
      </p:sp>
    </p:spTree>
    <p:extLst>
      <p:ext uri="{BB962C8B-B14F-4D97-AF65-F5344CB8AC3E}">
        <p14:creationId xmlns:p14="http://schemas.microsoft.com/office/powerpoint/2010/main" val="20997514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6D02D0-E545-9357-3081-E04B0A19476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E047581-3586-F681-6ADB-77889F4C3203}"/>
              </a:ext>
            </a:extLst>
          </p:cNvPr>
          <p:cNvSpPr>
            <a:spLocks noGrp="1"/>
          </p:cNvSpPr>
          <p:nvPr>
            <p:ph type="title"/>
          </p:nvPr>
        </p:nvSpPr>
        <p:spPr>
          <a:xfrm>
            <a:off x="838200" y="365125"/>
            <a:ext cx="8384177" cy="835787"/>
          </a:xfrm>
        </p:spPr>
        <p:txBody>
          <a:bodyPr/>
          <a:lstStyle/>
          <a:p>
            <a:r>
              <a:rPr lang="en-US" noProof="0" dirty="0">
                <a:solidFill>
                  <a:srgbClr val="822433"/>
                </a:solidFill>
              </a:rPr>
              <a:t>Extra: U-Net </a:t>
            </a:r>
          </a:p>
        </p:txBody>
      </p:sp>
      <p:sp>
        <p:nvSpPr>
          <p:cNvPr id="4" name="Google Shape;102;p14">
            <a:extLst>
              <a:ext uri="{FF2B5EF4-FFF2-40B4-BE49-F238E27FC236}">
                <a16:creationId xmlns:a16="http://schemas.microsoft.com/office/drawing/2014/main" id="{3814E92D-82A6-F7D4-C7A7-940BF86D40D8}"/>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46</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BF563456-0476-12F2-3F61-AAF23C874DE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7" name="Immagine 6">
            <a:extLst>
              <a:ext uri="{FF2B5EF4-FFF2-40B4-BE49-F238E27FC236}">
                <a16:creationId xmlns:a16="http://schemas.microsoft.com/office/drawing/2014/main" id="{BB3AF82F-29C5-2BD8-921E-71DCC5ABC51E}"/>
              </a:ext>
            </a:extLst>
          </p:cNvPr>
          <p:cNvPicPr>
            <a:picLocks noChangeAspect="1"/>
          </p:cNvPicPr>
          <p:nvPr/>
        </p:nvPicPr>
        <p:blipFill>
          <a:blip r:embed="rId3"/>
          <a:stretch/>
        </p:blipFill>
        <p:spPr>
          <a:xfrm>
            <a:off x="2600358" y="1438275"/>
            <a:ext cx="6991283" cy="4762500"/>
          </a:xfrm>
          <a:prstGeom prst="rect">
            <a:avLst/>
          </a:prstGeom>
        </p:spPr>
      </p:pic>
    </p:spTree>
    <p:extLst>
      <p:ext uri="{BB962C8B-B14F-4D97-AF65-F5344CB8AC3E}">
        <p14:creationId xmlns:p14="http://schemas.microsoft.com/office/powerpoint/2010/main" val="31677256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F3511-D1DD-FA0C-C79E-167C3D24631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40AD247-09FE-5ABB-19DA-17F5EF83757F}"/>
              </a:ext>
            </a:extLst>
          </p:cNvPr>
          <p:cNvSpPr>
            <a:spLocks noGrp="1"/>
          </p:cNvSpPr>
          <p:nvPr>
            <p:ph type="title"/>
          </p:nvPr>
        </p:nvSpPr>
        <p:spPr>
          <a:xfrm>
            <a:off x="838200" y="365125"/>
            <a:ext cx="8384177" cy="835787"/>
          </a:xfrm>
        </p:spPr>
        <p:txBody>
          <a:bodyPr/>
          <a:lstStyle/>
          <a:p>
            <a:r>
              <a:rPr lang="en-US" noProof="0" dirty="0" err="1">
                <a:solidFill>
                  <a:srgbClr val="822433"/>
                </a:solidFill>
              </a:rPr>
              <a:t>Extr</a:t>
            </a:r>
            <a:r>
              <a:rPr lang="en-US" dirty="0">
                <a:solidFill>
                  <a:srgbClr val="822433"/>
                </a:solidFill>
              </a:rPr>
              <a:t>a: DeepLabV3</a:t>
            </a:r>
            <a:endParaRPr lang="en-US" noProof="0" dirty="0">
              <a:solidFill>
                <a:srgbClr val="822433"/>
              </a:solidFill>
            </a:endParaRPr>
          </a:p>
        </p:txBody>
      </p:sp>
      <p:sp>
        <p:nvSpPr>
          <p:cNvPr id="4" name="Google Shape;102;p14">
            <a:extLst>
              <a:ext uri="{FF2B5EF4-FFF2-40B4-BE49-F238E27FC236}">
                <a16:creationId xmlns:a16="http://schemas.microsoft.com/office/drawing/2014/main" id="{52E03328-F42E-C9B4-E7AC-E0AB13B4B2E1}"/>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47</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938F5022-DB8F-AEBF-19DB-5D9E5E5F9D96}"/>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7" name="Immagine 6">
            <a:extLst>
              <a:ext uri="{FF2B5EF4-FFF2-40B4-BE49-F238E27FC236}">
                <a16:creationId xmlns:a16="http://schemas.microsoft.com/office/drawing/2014/main" id="{001BB378-BE79-2481-F943-5EDF7710FDE7}"/>
              </a:ext>
            </a:extLst>
          </p:cNvPr>
          <p:cNvPicPr>
            <a:picLocks noChangeAspect="1"/>
          </p:cNvPicPr>
          <p:nvPr/>
        </p:nvPicPr>
        <p:blipFill>
          <a:blip r:embed="rId3"/>
          <a:stretch/>
        </p:blipFill>
        <p:spPr>
          <a:xfrm>
            <a:off x="571500" y="2226296"/>
            <a:ext cx="11049000" cy="3186458"/>
          </a:xfrm>
          <a:prstGeom prst="rect">
            <a:avLst/>
          </a:prstGeom>
        </p:spPr>
      </p:pic>
    </p:spTree>
    <p:extLst>
      <p:ext uri="{BB962C8B-B14F-4D97-AF65-F5344CB8AC3E}">
        <p14:creationId xmlns:p14="http://schemas.microsoft.com/office/powerpoint/2010/main" val="304942864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0F211-7C3F-90C4-1D6B-1C20D724A26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9F5608C-8456-9564-36B5-4F72F60A9EA6}"/>
              </a:ext>
            </a:extLst>
          </p:cNvPr>
          <p:cNvSpPr>
            <a:spLocks noGrp="1"/>
          </p:cNvSpPr>
          <p:nvPr>
            <p:ph type="title"/>
          </p:nvPr>
        </p:nvSpPr>
        <p:spPr>
          <a:xfrm>
            <a:off x="838200" y="365125"/>
            <a:ext cx="8384177" cy="835787"/>
          </a:xfrm>
        </p:spPr>
        <p:txBody>
          <a:bodyPr/>
          <a:lstStyle/>
          <a:p>
            <a:r>
              <a:rPr lang="en-US" noProof="0" dirty="0">
                <a:solidFill>
                  <a:srgbClr val="822433"/>
                </a:solidFill>
              </a:rPr>
              <a:t>Extra: DeepLabV3+</a:t>
            </a:r>
          </a:p>
        </p:txBody>
      </p:sp>
      <p:sp>
        <p:nvSpPr>
          <p:cNvPr id="4" name="Google Shape;102;p14">
            <a:extLst>
              <a:ext uri="{FF2B5EF4-FFF2-40B4-BE49-F238E27FC236}">
                <a16:creationId xmlns:a16="http://schemas.microsoft.com/office/drawing/2014/main" id="{8D4B9581-33BD-7008-C8B2-389412B2F8C0}"/>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48</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843571E9-FD88-1B37-0532-EFA46E485EF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7" name="Immagine 6">
            <a:extLst>
              <a:ext uri="{FF2B5EF4-FFF2-40B4-BE49-F238E27FC236}">
                <a16:creationId xmlns:a16="http://schemas.microsoft.com/office/drawing/2014/main" id="{A3E1238F-D644-8C0A-CE41-6BDE466791B0}"/>
              </a:ext>
            </a:extLst>
          </p:cNvPr>
          <p:cNvPicPr>
            <a:picLocks noChangeAspect="1"/>
          </p:cNvPicPr>
          <p:nvPr/>
        </p:nvPicPr>
        <p:blipFill>
          <a:blip r:embed="rId3"/>
          <a:stretch/>
        </p:blipFill>
        <p:spPr>
          <a:xfrm>
            <a:off x="1589630" y="1438275"/>
            <a:ext cx="9012740" cy="4762500"/>
          </a:xfrm>
          <a:prstGeom prst="rect">
            <a:avLst/>
          </a:prstGeom>
        </p:spPr>
      </p:pic>
    </p:spTree>
    <p:extLst>
      <p:ext uri="{BB962C8B-B14F-4D97-AF65-F5344CB8AC3E}">
        <p14:creationId xmlns:p14="http://schemas.microsoft.com/office/powerpoint/2010/main" val="10093841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D0187-F69B-6665-49D9-A7EDCB180E3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D1C9967-C42C-498E-EAC6-97F91760CF4D}"/>
              </a:ext>
            </a:extLst>
          </p:cNvPr>
          <p:cNvSpPr>
            <a:spLocks noGrp="1"/>
          </p:cNvSpPr>
          <p:nvPr>
            <p:ph type="title"/>
          </p:nvPr>
        </p:nvSpPr>
        <p:spPr>
          <a:xfrm>
            <a:off x="838200" y="365125"/>
            <a:ext cx="8384177" cy="835787"/>
          </a:xfrm>
        </p:spPr>
        <p:txBody>
          <a:bodyPr/>
          <a:lstStyle/>
          <a:p>
            <a:r>
              <a:rPr lang="en-US" noProof="0" dirty="0">
                <a:solidFill>
                  <a:srgbClr val="822433"/>
                </a:solidFill>
              </a:rPr>
              <a:t>Extra: </a:t>
            </a:r>
            <a:r>
              <a:rPr lang="en-US" noProof="0" dirty="0" err="1">
                <a:solidFill>
                  <a:srgbClr val="822433"/>
                </a:solidFill>
              </a:rPr>
              <a:t>SegFormer</a:t>
            </a:r>
            <a:endParaRPr lang="en-US" noProof="0" dirty="0">
              <a:solidFill>
                <a:srgbClr val="822433"/>
              </a:solidFill>
            </a:endParaRPr>
          </a:p>
        </p:txBody>
      </p:sp>
      <p:sp>
        <p:nvSpPr>
          <p:cNvPr id="4" name="Google Shape;102;p14">
            <a:extLst>
              <a:ext uri="{FF2B5EF4-FFF2-40B4-BE49-F238E27FC236}">
                <a16:creationId xmlns:a16="http://schemas.microsoft.com/office/drawing/2014/main" id="{BC8913E2-29FA-675F-9A15-46B860C04EFB}"/>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49</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AD99CB57-9701-A71C-88AF-A2A42CBF04D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7" name="Immagine 6">
            <a:extLst>
              <a:ext uri="{FF2B5EF4-FFF2-40B4-BE49-F238E27FC236}">
                <a16:creationId xmlns:a16="http://schemas.microsoft.com/office/drawing/2014/main" id="{9ED6DC49-0F3E-37EC-0613-49FCC70D3DD4}"/>
              </a:ext>
            </a:extLst>
          </p:cNvPr>
          <p:cNvPicPr>
            <a:picLocks noChangeAspect="1"/>
          </p:cNvPicPr>
          <p:nvPr/>
        </p:nvPicPr>
        <p:blipFill>
          <a:blip r:embed="rId3"/>
          <a:stretch/>
        </p:blipFill>
        <p:spPr>
          <a:xfrm>
            <a:off x="1534184" y="1438275"/>
            <a:ext cx="9123632" cy="4762500"/>
          </a:xfrm>
          <a:prstGeom prst="rect">
            <a:avLst/>
          </a:prstGeom>
        </p:spPr>
      </p:pic>
    </p:spTree>
    <p:extLst>
      <p:ext uri="{BB962C8B-B14F-4D97-AF65-F5344CB8AC3E}">
        <p14:creationId xmlns:p14="http://schemas.microsoft.com/office/powerpoint/2010/main" val="323977518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F2258-6651-17A4-609B-B0D1966426B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E5FD825-66B2-2D5E-16ED-1B56C6A79B6A}"/>
              </a:ext>
            </a:extLst>
          </p:cNvPr>
          <p:cNvSpPr>
            <a:spLocks noGrp="1"/>
          </p:cNvSpPr>
          <p:nvPr>
            <p:ph type="title"/>
          </p:nvPr>
        </p:nvSpPr>
        <p:spPr>
          <a:xfrm>
            <a:off x="838200" y="365125"/>
            <a:ext cx="8384177" cy="835787"/>
          </a:xfrm>
        </p:spPr>
        <p:txBody>
          <a:bodyPr/>
          <a:lstStyle/>
          <a:p>
            <a:r>
              <a:rPr lang="en-US" noProof="0" dirty="0">
                <a:solidFill>
                  <a:srgbClr val="822433"/>
                </a:solidFill>
              </a:rPr>
              <a:t>Extra: </a:t>
            </a:r>
            <a:r>
              <a:rPr lang="en-US" noProof="0" dirty="0" err="1">
                <a:solidFill>
                  <a:srgbClr val="822433"/>
                </a:solidFill>
              </a:rPr>
              <a:t>LCNet</a:t>
            </a:r>
            <a:endParaRPr lang="en-US" noProof="0" dirty="0">
              <a:solidFill>
                <a:srgbClr val="822433"/>
              </a:solidFill>
            </a:endParaRPr>
          </a:p>
        </p:txBody>
      </p:sp>
      <p:sp>
        <p:nvSpPr>
          <p:cNvPr id="4" name="Google Shape;102;p14">
            <a:extLst>
              <a:ext uri="{FF2B5EF4-FFF2-40B4-BE49-F238E27FC236}">
                <a16:creationId xmlns:a16="http://schemas.microsoft.com/office/drawing/2014/main" id="{318151EA-E854-867F-F1B4-052717000335}"/>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50</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A82A961C-854B-6626-255C-ABD10EF893E8}"/>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7" name="Immagine 6">
            <a:extLst>
              <a:ext uri="{FF2B5EF4-FFF2-40B4-BE49-F238E27FC236}">
                <a16:creationId xmlns:a16="http://schemas.microsoft.com/office/drawing/2014/main" id="{6EEE0D7E-32D6-205D-4583-18F9BE6A560B}"/>
              </a:ext>
            </a:extLst>
          </p:cNvPr>
          <p:cNvPicPr>
            <a:picLocks noChangeAspect="1"/>
          </p:cNvPicPr>
          <p:nvPr/>
        </p:nvPicPr>
        <p:blipFill>
          <a:blip r:embed="rId3"/>
          <a:stretch/>
        </p:blipFill>
        <p:spPr>
          <a:xfrm>
            <a:off x="765464" y="2123554"/>
            <a:ext cx="11049000" cy="3225687"/>
          </a:xfrm>
          <a:prstGeom prst="rect">
            <a:avLst/>
          </a:prstGeom>
        </p:spPr>
      </p:pic>
    </p:spTree>
    <p:extLst>
      <p:ext uri="{BB962C8B-B14F-4D97-AF65-F5344CB8AC3E}">
        <p14:creationId xmlns:p14="http://schemas.microsoft.com/office/powerpoint/2010/main" val="140963931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A3F61-D5E0-9079-A302-0EAFF8BD567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25F778F-14F1-7113-DB49-1A60DA3E5092}"/>
              </a:ext>
            </a:extLst>
          </p:cNvPr>
          <p:cNvSpPr>
            <a:spLocks noGrp="1"/>
          </p:cNvSpPr>
          <p:nvPr>
            <p:ph type="title"/>
          </p:nvPr>
        </p:nvSpPr>
        <p:spPr>
          <a:xfrm>
            <a:off x="838200" y="365125"/>
            <a:ext cx="8384177" cy="835787"/>
          </a:xfrm>
        </p:spPr>
        <p:txBody>
          <a:bodyPr/>
          <a:lstStyle/>
          <a:p>
            <a:r>
              <a:rPr lang="en-US" noProof="0" dirty="0">
                <a:solidFill>
                  <a:srgbClr val="822433"/>
                </a:solidFill>
              </a:rPr>
              <a:t>Extra: PatchCore</a:t>
            </a:r>
          </a:p>
        </p:txBody>
      </p:sp>
      <p:sp>
        <p:nvSpPr>
          <p:cNvPr id="4" name="Google Shape;102;p14">
            <a:extLst>
              <a:ext uri="{FF2B5EF4-FFF2-40B4-BE49-F238E27FC236}">
                <a16:creationId xmlns:a16="http://schemas.microsoft.com/office/drawing/2014/main" id="{CAFB0807-BFE8-DE04-9021-52C8600F6519}"/>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51</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F6A1CBD9-C8EB-C657-22D5-73C285D5C65B}"/>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6" name="Immagine 5">
            <a:extLst>
              <a:ext uri="{FF2B5EF4-FFF2-40B4-BE49-F238E27FC236}">
                <a16:creationId xmlns:a16="http://schemas.microsoft.com/office/drawing/2014/main" id="{8525E26E-6AD5-8F35-2E07-127C22FA4D24}"/>
              </a:ext>
            </a:extLst>
          </p:cNvPr>
          <p:cNvPicPr>
            <a:picLocks noChangeAspect="1"/>
          </p:cNvPicPr>
          <p:nvPr/>
        </p:nvPicPr>
        <p:blipFill>
          <a:blip r:embed="rId3"/>
          <a:stretch/>
        </p:blipFill>
        <p:spPr>
          <a:xfrm>
            <a:off x="571500" y="2334739"/>
            <a:ext cx="11049000" cy="2969571"/>
          </a:xfrm>
          <a:prstGeom prst="rect">
            <a:avLst/>
          </a:prstGeom>
        </p:spPr>
      </p:pic>
    </p:spTree>
    <p:extLst>
      <p:ext uri="{BB962C8B-B14F-4D97-AF65-F5344CB8AC3E}">
        <p14:creationId xmlns:p14="http://schemas.microsoft.com/office/powerpoint/2010/main" val="21515754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8D1C2-0E97-2699-60B4-4D177003D78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308978D-0EEB-A747-F315-9E622874267E}"/>
              </a:ext>
            </a:extLst>
          </p:cNvPr>
          <p:cNvSpPr>
            <a:spLocks noGrp="1"/>
          </p:cNvSpPr>
          <p:nvPr>
            <p:ph type="title"/>
          </p:nvPr>
        </p:nvSpPr>
        <p:spPr>
          <a:xfrm>
            <a:off x="838200" y="365125"/>
            <a:ext cx="8384177" cy="835787"/>
          </a:xfrm>
        </p:spPr>
        <p:txBody>
          <a:bodyPr/>
          <a:lstStyle/>
          <a:p>
            <a:r>
              <a:rPr lang="en-US" noProof="0" dirty="0">
                <a:solidFill>
                  <a:srgbClr val="822433"/>
                </a:solidFill>
              </a:rPr>
              <a:t>Extra: EfficientAD</a:t>
            </a:r>
          </a:p>
        </p:txBody>
      </p:sp>
      <p:sp>
        <p:nvSpPr>
          <p:cNvPr id="4" name="Google Shape;102;p14">
            <a:extLst>
              <a:ext uri="{FF2B5EF4-FFF2-40B4-BE49-F238E27FC236}">
                <a16:creationId xmlns:a16="http://schemas.microsoft.com/office/drawing/2014/main" id="{2047AA39-A9A9-2E53-E4C7-E3EFBA0B896E}"/>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52</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09275FAD-8C33-F657-6922-F4D1792B745C}"/>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6" name="Immagine 5">
            <a:extLst>
              <a:ext uri="{FF2B5EF4-FFF2-40B4-BE49-F238E27FC236}">
                <a16:creationId xmlns:a16="http://schemas.microsoft.com/office/drawing/2014/main" id="{D0394FAD-08B2-9BB2-3E21-83B9954E0C21}"/>
              </a:ext>
            </a:extLst>
          </p:cNvPr>
          <p:cNvPicPr>
            <a:picLocks noChangeAspect="1"/>
          </p:cNvPicPr>
          <p:nvPr/>
        </p:nvPicPr>
        <p:blipFill>
          <a:blip r:embed="rId3"/>
          <a:stretch/>
        </p:blipFill>
        <p:spPr>
          <a:xfrm>
            <a:off x="571500" y="2538994"/>
            <a:ext cx="11049000" cy="2561062"/>
          </a:xfrm>
          <a:prstGeom prst="rect">
            <a:avLst/>
          </a:prstGeom>
        </p:spPr>
      </p:pic>
    </p:spTree>
    <p:extLst>
      <p:ext uri="{BB962C8B-B14F-4D97-AF65-F5344CB8AC3E}">
        <p14:creationId xmlns:p14="http://schemas.microsoft.com/office/powerpoint/2010/main" val="207165432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DC7E-EEF5-CAE0-4F52-26D68CF267B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E06BC20-3C48-224A-75B3-F3208992D08E}"/>
              </a:ext>
            </a:extLst>
          </p:cNvPr>
          <p:cNvSpPr>
            <a:spLocks noGrp="1"/>
          </p:cNvSpPr>
          <p:nvPr>
            <p:ph type="title"/>
          </p:nvPr>
        </p:nvSpPr>
        <p:spPr>
          <a:xfrm>
            <a:off x="838200" y="365125"/>
            <a:ext cx="8384177" cy="835787"/>
          </a:xfrm>
        </p:spPr>
        <p:txBody>
          <a:bodyPr/>
          <a:lstStyle/>
          <a:p>
            <a:r>
              <a:rPr lang="en-US" noProof="0" dirty="0">
                <a:solidFill>
                  <a:srgbClr val="822433"/>
                </a:solidFill>
              </a:rPr>
              <a:t>Extra</a:t>
            </a:r>
            <a:r>
              <a:rPr lang="en-US" dirty="0">
                <a:solidFill>
                  <a:srgbClr val="822433"/>
                </a:solidFill>
              </a:rPr>
              <a:t>: </a:t>
            </a:r>
            <a:r>
              <a:rPr lang="en-US" dirty="0" err="1">
                <a:solidFill>
                  <a:srgbClr val="822433"/>
                </a:solidFill>
              </a:rPr>
              <a:t>SuperSimpleNet</a:t>
            </a:r>
            <a:endParaRPr lang="en-US" noProof="0" dirty="0">
              <a:solidFill>
                <a:srgbClr val="822433"/>
              </a:solidFill>
            </a:endParaRPr>
          </a:p>
        </p:txBody>
      </p:sp>
      <p:sp>
        <p:nvSpPr>
          <p:cNvPr id="4" name="Google Shape;102;p14">
            <a:extLst>
              <a:ext uri="{FF2B5EF4-FFF2-40B4-BE49-F238E27FC236}">
                <a16:creationId xmlns:a16="http://schemas.microsoft.com/office/drawing/2014/main" id="{726F33F8-CB1F-F61C-D755-B8E8F0884C1A}"/>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53</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CCD0A07B-88E3-59CC-D1AD-2A5BB948B7CF}"/>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6" name="Immagine 5">
            <a:extLst>
              <a:ext uri="{FF2B5EF4-FFF2-40B4-BE49-F238E27FC236}">
                <a16:creationId xmlns:a16="http://schemas.microsoft.com/office/drawing/2014/main" id="{D61BCDEC-5091-F971-B25C-B47C3255D406}"/>
              </a:ext>
            </a:extLst>
          </p:cNvPr>
          <p:cNvPicPr>
            <a:picLocks noChangeAspect="1"/>
          </p:cNvPicPr>
          <p:nvPr/>
        </p:nvPicPr>
        <p:blipFill>
          <a:blip r:embed="rId3"/>
          <a:stretch/>
        </p:blipFill>
        <p:spPr>
          <a:xfrm>
            <a:off x="1131755" y="1438275"/>
            <a:ext cx="9928490" cy="4762500"/>
          </a:xfrm>
          <a:prstGeom prst="rect">
            <a:avLst/>
          </a:prstGeom>
        </p:spPr>
      </p:pic>
    </p:spTree>
    <p:extLst>
      <p:ext uri="{BB962C8B-B14F-4D97-AF65-F5344CB8AC3E}">
        <p14:creationId xmlns:p14="http://schemas.microsoft.com/office/powerpoint/2010/main" val="180015771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867D8-00B6-6514-E4C1-A54B2AF62B3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E713CB4-D484-5AC4-B62D-7D85E1523F04}"/>
              </a:ext>
            </a:extLst>
          </p:cNvPr>
          <p:cNvSpPr>
            <a:spLocks noGrp="1"/>
          </p:cNvSpPr>
          <p:nvPr>
            <p:ph type="title"/>
          </p:nvPr>
        </p:nvSpPr>
        <p:spPr>
          <a:xfrm>
            <a:off x="838200" y="365125"/>
            <a:ext cx="8384177" cy="835787"/>
          </a:xfrm>
        </p:spPr>
        <p:txBody>
          <a:bodyPr/>
          <a:lstStyle/>
          <a:p>
            <a:r>
              <a:rPr lang="en-US" noProof="0" dirty="0">
                <a:solidFill>
                  <a:srgbClr val="822433"/>
                </a:solidFill>
              </a:rPr>
              <a:t>Extra: TinyGLASS</a:t>
            </a:r>
          </a:p>
        </p:txBody>
      </p:sp>
      <p:sp>
        <p:nvSpPr>
          <p:cNvPr id="4" name="Google Shape;102;p14">
            <a:extLst>
              <a:ext uri="{FF2B5EF4-FFF2-40B4-BE49-F238E27FC236}">
                <a16:creationId xmlns:a16="http://schemas.microsoft.com/office/drawing/2014/main" id="{F4A11181-F7FA-9D84-A215-23FD578CA981}"/>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54</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504A17F8-E2ED-6EF8-07F5-9ABB93526B5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6" name="Immagine 5">
            <a:extLst>
              <a:ext uri="{FF2B5EF4-FFF2-40B4-BE49-F238E27FC236}">
                <a16:creationId xmlns:a16="http://schemas.microsoft.com/office/drawing/2014/main" id="{E6E77152-B182-6BC5-BDF5-7670A09C8496}"/>
              </a:ext>
            </a:extLst>
          </p:cNvPr>
          <p:cNvPicPr>
            <a:picLocks noChangeAspect="1"/>
          </p:cNvPicPr>
          <p:nvPr/>
        </p:nvPicPr>
        <p:blipFill>
          <a:blip r:embed="rId3"/>
          <a:stretch/>
        </p:blipFill>
        <p:spPr>
          <a:xfrm>
            <a:off x="571500" y="2262037"/>
            <a:ext cx="11049000" cy="3114975"/>
          </a:xfrm>
          <a:prstGeom prst="rect">
            <a:avLst/>
          </a:prstGeom>
        </p:spPr>
      </p:pic>
    </p:spTree>
    <p:extLst>
      <p:ext uri="{BB962C8B-B14F-4D97-AF65-F5344CB8AC3E}">
        <p14:creationId xmlns:p14="http://schemas.microsoft.com/office/powerpoint/2010/main" val="4005992787"/>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2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DBA696D-3D8F-4102-B0B0-DDBF0E9F0366}">
  <we:reference id="WA200004052" version="1.0.0.2" store="Omex" storeType="OMEX"/>
  <we:alternateReferences>
    <we:reference id="WA200004052" version="1.0.0.2" store="WA200004052"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2163</TotalTime>
  <Words>9382</Words>
  <Application>Microsoft Office PowerPoint</Application>
  <PresentationFormat>Widescreen</PresentationFormat>
  <Paragraphs>1149</Paragraphs>
  <Slides>54</Slides>
  <Notes>54</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54</vt:i4>
      </vt:variant>
    </vt:vector>
  </HeadingPairs>
  <TitlesOfParts>
    <vt:vector size="59" baseType="lpstr">
      <vt:lpstr>Aptos</vt:lpstr>
      <vt:lpstr>Arial</vt:lpstr>
      <vt:lpstr>Calibri</vt:lpstr>
      <vt:lpstr>Roboto</vt:lpstr>
      <vt:lpstr>Tema di Office</vt:lpstr>
      <vt:lpstr>Lightweight Scene Understanding and Synthetic Data-Driven Damage Inspection for Martian Rovers</vt:lpstr>
      <vt:lpstr>Introduction</vt:lpstr>
      <vt:lpstr>The challenge</vt:lpstr>
      <vt:lpstr>The challenge</vt:lpstr>
      <vt:lpstr>Research objective</vt:lpstr>
      <vt:lpstr>Lightweight Scene Understanding</vt:lpstr>
      <vt:lpstr>Semantic Segmentation</vt:lpstr>
      <vt:lpstr>Datasets</vt:lpstr>
      <vt:lpstr>Model Architectures</vt:lpstr>
      <vt:lpstr>Training procedure</vt:lpstr>
      <vt:lpstr>Synthetic Dataset Generation</vt:lpstr>
      <vt:lpstr>Design Requirements</vt:lpstr>
      <vt:lpstr>Blender Scene</vt:lpstr>
      <vt:lpstr>Synthetic Damage</vt:lpstr>
      <vt:lpstr>Domain Randomization</vt:lpstr>
      <vt:lpstr>Dataset Composition</vt:lpstr>
      <vt:lpstr>Synthetic Damage Inspection</vt:lpstr>
      <vt:lpstr>Anomaly Detection</vt:lpstr>
      <vt:lpstr>Model Architectures</vt:lpstr>
      <vt:lpstr>Model Architectures</vt:lpstr>
      <vt:lpstr>Preprocessing</vt:lpstr>
      <vt:lpstr>Results</vt:lpstr>
      <vt:lpstr>Semantic Segmentation: Quality</vt:lpstr>
      <vt:lpstr>Cross-generalization</vt:lpstr>
      <vt:lpstr>Semantic Segmentation: Efficiency</vt:lpstr>
      <vt:lpstr>Damage Inspection: Detection</vt:lpstr>
      <vt:lpstr>Damage Inspection: Efficiency</vt:lpstr>
      <vt:lpstr>Damage Inspection: Localization</vt:lpstr>
      <vt:lpstr>Conclusions</vt:lpstr>
      <vt:lpstr>Conclusions</vt:lpstr>
      <vt:lpstr>Future Work</vt:lpstr>
      <vt:lpstr>Thank you for your attention</vt:lpstr>
      <vt:lpstr>Presentazione standard di PowerPoint</vt:lpstr>
      <vt:lpstr>Presentazione standard di PowerPoint</vt:lpstr>
      <vt:lpstr>Presentazione standard di PowerPoint</vt:lpstr>
      <vt:lpstr>Presentazione standard di PowerPoint</vt:lpstr>
      <vt:lpstr>Extra: variations</vt:lpstr>
      <vt:lpstr>Extra: variations</vt:lpstr>
      <vt:lpstr>Extra: Loss function ablation</vt:lpstr>
      <vt:lpstr>Extra: Preprocessing</vt:lpstr>
      <vt:lpstr>Extra: SegFormer IoU per class</vt:lpstr>
      <vt:lpstr>Extra: Mars-Bench</vt:lpstr>
      <vt:lpstr>Extra: Full Quantization results</vt:lpstr>
      <vt:lpstr>Extra: Anomaly Detection Results </vt:lpstr>
      <vt:lpstr>Extra: Localization Results</vt:lpstr>
      <vt:lpstr>Extra: U-Net </vt:lpstr>
      <vt:lpstr>Extra: DeepLabV3</vt:lpstr>
      <vt:lpstr>Extra: DeepLabV3+</vt:lpstr>
      <vt:lpstr>Extra: SegFormer</vt:lpstr>
      <vt:lpstr>Extra: LCNet</vt:lpstr>
      <vt:lpstr>Extra: PatchCore</vt:lpstr>
      <vt:lpstr>Extra: EfficientAD</vt:lpstr>
      <vt:lpstr>Extra: SuperSimpleNet</vt:lpstr>
      <vt:lpstr>Extra: TinyGLASS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Marco Raoul Marini</dc:creator>
  <cp:lastModifiedBy>Daniele Venturini</cp:lastModifiedBy>
  <cp:revision>26</cp:revision>
  <dcterms:created xsi:type="dcterms:W3CDTF">2022-06-29T08:38:04Z</dcterms:created>
  <dcterms:modified xsi:type="dcterms:W3CDTF">2026-10-23T15:10:57Z</dcterms:modified>
</cp:coreProperties>
</file>