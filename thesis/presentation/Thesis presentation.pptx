
<file path=[Content_Types].xml><?xml version="1.0" encoding="utf-8"?>
<Types xmlns="http://schemas.openxmlformats.org/package/2006/content-types">
  <Default Extension="jpeg" ContentType="image/jpeg"/>
  <Default Extension="png" ContentType="image/png"/>
  <Default Extension="png&amp;f=1&amp;nofb=1&amp;ipt=1d8b35d30c3c4514a8382011224255d3e91fd46be4d31d385c751fa891630fa4&amp;ipo=images" ContentType="image/png"/>
  <Default Extension="png&amp;f=1&amp;nofb=1&amp;ipt=30001d8961b3b03add39ad967c319e0f168863eedd2c6ba8d6018adb4711fb1d&amp;ipo=images" ContentType="image/png"/>
  <Default Extension="png&amp;f=1&amp;nofb=1&amp;ipt=d99a559a2fe29f1924e30a5219f177b5e9da9d4501e897b9834310b79af4a48b&amp;ipo=images"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2.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rts/chart3.xml" ContentType="application/vnd.openxmlformats-officedocument.drawingml.chart+xml"/>
  <Override PartName="/ppt/notesSlides/notesSlide40.xml" ContentType="application/vnd.openxmlformats-officedocument.presentationml.notesSlide+xml"/>
  <Override PartName="/ppt/charts/chart4.xml" ContentType="application/vnd.openxmlformats-officedocument.drawingml.chart+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9" r:id="rId3"/>
    <p:sldId id="257" r:id="rId4"/>
    <p:sldId id="261" r:id="rId5"/>
    <p:sldId id="258" r:id="rId6"/>
    <p:sldId id="262" r:id="rId7"/>
    <p:sldId id="263" r:id="rId8"/>
    <p:sldId id="282" r:id="rId9"/>
    <p:sldId id="283" r:id="rId10"/>
    <p:sldId id="284" r:id="rId11"/>
    <p:sldId id="293" r:id="rId12"/>
    <p:sldId id="285" r:id="rId13"/>
    <p:sldId id="286" r:id="rId14"/>
    <p:sldId id="287" r:id="rId15"/>
    <p:sldId id="288" r:id="rId16"/>
    <p:sldId id="289" r:id="rId17"/>
    <p:sldId id="294" r:id="rId18"/>
    <p:sldId id="291" r:id="rId19"/>
    <p:sldId id="303" r:id="rId20"/>
    <p:sldId id="304" r:id="rId21"/>
    <p:sldId id="292" r:id="rId22"/>
    <p:sldId id="300" r:id="rId23"/>
    <p:sldId id="309" r:id="rId24"/>
    <p:sldId id="310" r:id="rId25"/>
    <p:sldId id="307" r:id="rId26"/>
    <p:sldId id="312" r:id="rId27"/>
    <p:sldId id="317" r:id="rId28"/>
    <p:sldId id="311" r:id="rId29"/>
    <p:sldId id="302" r:id="rId30"/>
    <p:sldId id="343" r:id="rId31"/>
    <p:sldId id="308" r:id="rId32"/>
    <p:sldId id="260" r:id="rId33"/>
    <p:sldId id="281" r:id="rId34"/>
    <p:sldId id="298" r:id="rId35"/>
    <p:sldId id="299" r:id="rId36"/>
    <p:sldId id="306" r:id="rId37"/>
    <p:sldId id="295" r:id="rId38"/>
    <p:sldId id="290" r:id="rId39"/>
    <p:sldId id="315" r:id="rId40"/>
    <p:sldId id="316" r:id="rId41"/>
    <p:sldId id="342" r:id="rId42"/>
    <p:sldId id="341" r:id="rId43"/>
    <p:sldId id="319" r:id="rId44"/>
    <p:sldId id="329" r:id="rId45"/>
    <p:sldId id="330" r:id="rId46"/>
    <p:sldId id="344" r:id="rId47"/>
    <p:sldId id="331" r:id="rId48"/>
    <p:sldId id="332" r:id="rId49"/>
    <p:sldId id="335" r:id="rId50"/>
    <p:sldId id="333" r:id="rId51"/>
    <p:sldId id="334" r:id="rId52"/>
    <p:sldId id="336" r:id="rId53"/>
    <p:sldId id="337" r:id="rId54"/>
    <p:sldId id="338" r:id="rId55"/>
    <p:sldId id="339" r:id="rId56"/>
    <p:sldId id="345" r:id="rId57"/>
    <p:sldId id="346" r:id="rId58"/>
    <p:sldId id="347" r:id="rId5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4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22" autoAdjust="0"/>
    <p:restoredTop sz="82125" autoAdjust="0"/>
  </p:normalViewPr>
  <p:slideViewPr>
    <p:cSldViewPr snapToGrid="0">
      <p:cViewPr varScale="1">
        <p:scale>
          <a:sx n="130" d="100"/>
          <a:sy n="130" d="100"/>
        </p:scale>
        <p:origin x="119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Test mIoU (%)</c:v>
          </c:tx>
          <c:spPr>
            <a:solidFill>
              <a:srgbClr val="D7DDE2"/>
            </a:solidFill>
          </c:spPr>
          <c:invertIfNegative val="0"/>
          <c:dPt>
            <c:idx val="5"/>
            <c:invertIfNegative val="0"/>
            <c:bubble3D val="0"/>
            <c:spPr>
              <a:solidFill>
                <a:srgbClr val="2C8390"/>
              </a:solidFill>
            </c:spPr>
            <c:extLst>
              <c:ext xmlns:c16="http://schemas.microsoft.com/office/drawing/2014/chart" uri="{C3380CC4-5D6E-409C-BE32-E72D297353CC}">
                <c16:uniqueId val="{00000001-9BA7-495B-BC66-190F257B0CA5}"/>
              </c:ext>
            </c:extLst>
          </c:dPt>
          <c:dPt>
            <c:idx val="6"/>
            <c:invertIfNegative val="0"/>
            <c:bubble3D val="0"/>
            <c:spPr>
              <a:solidFill>
                <a:srgbClr val="822433"/>
              </a:solidFill>
            </c:spPr>
            <c:extLst>
              <c:ext xmlns:c16="http://schemas.microsoft.com/office/drawing/2014/chart" uri="{C3380CC4-5D6E-409C-BE32-E72D297353CC}">
                <c16:uniqueId val="{00000003-9BA7-495B-BC66-190F257B0CA5}"/>
              </c:ext>
            </c:extLst>
          </c:dPt>
          <c:dLbls>
            <c:dLbl>
              <c:idx val="0"/>
              <c:tx>
                <c:rich>
                  <a:bodyPr/>
                  <a:lstStyle/>
                  <a:p>
                    <a:r>
                      <a:rPr lang="en-US" sz="1650" dirty="0">
                        <a:solidFill>
                          <a:srgbClr val="202124"/>
                        </a:solidFill>
                        <a:latin typeface="Roboto"/>
                        <a:ea typeface="Roboto"/>
                        <a:cs typeface="Roboto"/>
                      </a:rPr>
                      <a:t>57.89%</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4-9BA7-495B-BC66-190F257B0CA5}"/>
                </c:ext>
              </c:extLst>
            </c:dLbl>
            <c:dLbl>
              <c:idx val="1"/>
              <c:tx>
                <c:rich>
                  <a:bodyPr/>
                  <a:lstStyle/>
                  <a:p>
                    <a:r>
                      <a:rPr lang="en-US" sz="1650" dirty="0">
                        <a:solidFill>
                          <a:srgbClr val="202124"/>
                        </a:solidFill>
                        <a:latin typeface="Roboto"/>
                        <a:ea typeface="Roboto"/>
                        <a:cs typeface="Roboto"/>
                      </a:rPr>
                      <a:t>59.11%</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9BA7-495B-BC66-190F257B0CA5}"/>
                </c:ext>
              </c:extLst>
            </c:dLbl>
            <c:dLbl>
              <c:idx val="2"/>
              <c:tx>
                <c:rich>
                  <a:bodyPr/>
                  <a:lstStyle/>
                  <a:p>
                    <a:r>
                      <a:rPr lang="en-US" sz="1650" dirty="0">
                        <a:solidFill>
                          <a:srgbClr val="202124"/>
                        </a:solidFill>
                        <a:latin typeface="Roboto"/>
                        <a:ea typeface="Roboto"/>
                        <a:cs typeface="Roboto"/>
                      </a:rPr>
                      <a:t>64.07%</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6-9BA7-495B-BC66-190F257B0CA5}"/>
                </c:ext>
              </c:extLst>
            </c:dLbl>
            <c:dLbl>
              <c:idx val="3"/>
              <c:tx>
                <c:rich>
                  <a:bodyPr/>
                  <a:lstStyle/>
                  <a:p>
                    <a:r>
                      <a:rPr lang="en-US" sz="1650" dirty="0">
                        <a:solidFill>
                          <a:srgbClr val="202124"/>
                        </a:solidFill>
                        <a:latin typeface="Roboto"/>
                        <a:ea typeface="Roboto"/>
                        <a:cs typeface="Roboto"/>
                      </a:rPr>
                      <a:t>64.55%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9BA7-495B-BC66-190F257B0CA5}"/>
                </c:ext>
              </c:extLst>
            </c:dLbl>
            <c:dLbl>
              <c:idx val="4"/>
              <c:tx>
                <c:rich>
                  <a:bodyPr/>
                  <a:lstStyle/>
                  <a:p>
                    <a:r>
                      <a:rPr lang="en-US" sz="1650" dirty="0">
                        <a:solidFill>
                          <a:srgbClr val="202124"/>
                        </a:solidFill>
                        <a:latin typeface="Roboto"/>
                        <a:ea typeface="Roboto"/>
                        <a:cs typeface="Roboto"/>
                      </a:rPr>
                      <a:t>64.57%</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8-9BA7-495B-BC66-190F257B0CA5}"/>
                </c:ext>
              </c:extLst>
            </c:dLbl>
            <c:dLbl>
              <c:idx val="5"/>
              <c:tx>
                <c:rich>
                  <a:bodyPr/>
                  <a:lstStyle/>
                  <a:p>
                    <a:r>
                      <a:rPr lang="en-US" sz="1650" dirty="0">
                        <a:solidFill>
                          <a:srgbClr val="202124"/>
                        </a:solidFill>
                        <a:latin typeface="Roboto"/>
                        <a:ea typeface="Roboto"/>
                        <a:cs typeface="Roboto"/>
                      </a:rPr>
                      <a:t>73.79%</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9BA7-495B-BC66-190F257B0CA5}"/>
                </c:ext>
              </c:extLst>
            </c:dLbl>
            <c:dLbl>
              <c:idx val="6"/>
              <c:tx>
                <c:rich>
                  <a:bodyPr/>
                  <a:lstStyle/>
                  <a:p>
                    <a:r>
                      <a:rPr lang="en-US" sz="1650" dirty="0">
                        <a:solidFill>
                          <a:srgbClr val="202124"/>
                        </a:solidFill>
                        <a:latin typeface="Roboto"/>
                        <a:ea typeface="Roboto"/>
                        <a:cs typeface="Roboto"/>
                      </a:rPr>
                      <a:t>75.55%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9BA7-495B-BC66-190F257B0CA5}"/>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Data'!$A$2:$A$8</c:f>
              <c:strCache>
                <c:ptCount val="7"/>
                <c:pt idx="0">
                  <c:v>LCNet 3,7</c:v>
                </c:pt>
                <c:pt idx="1">
                  <c:v>LCNet 3,11</c:v>
                </c:pt>
                <c:pt idx="2">
                  <c:v>DeepLabV3+ MV2</c:v>
                </c:pt>
                <c:pt idx="3">
                  <c:v>U-Net R34</c:v>
                </c:pt>
                <c:pt idx="4">
                  <c:v>U-Net MV2</c:v>
                </c:pt>
                <c:pt idx="5">
                  <c:v>DeepLabV3 R34</c:v>
                </c:pt>
                <c:pt idx="6">
                  <c:v>SegFormer-B0</c:v>
                </c:pt>
              </c:strCache>
            </c:strRef>
          </c:cat>
          <c:val>
            <c:numRef>
              <c:f>'Chart Data'!$B$2:$B$8</c:f>
              <c:numCache>
                <c:formatCode>General</c:formatCode>
                <c:ptCount val="7"/>
                <c:pt idx="0">
                  <c:v>57.89</c:v>
                </c:pt>
                <c:pt idx="1">
                  <c:v>59.11</c:v>
                </c:pt>
                <c:pt idx="2">
                  <c:v>64.069999999999993</c:v>
                </c:pt>
                <c:pt idx="3">
                  <c:v>64.55</c:v>
                </c:pt>
                <c:pt idx="4">
                  <c:v>64.569999999999993</c:v>
                </c:pt>
                <c:pt idx="5">
                  <c:v>73.790000000000006</c:v>
                </c:pt>
                <c:pt idx="6">
                  <c:v>75.55</c:v>
                </c:pt>
              </c:numCache>
            </c:numRef>
          </c:val>
          <c:extLst>
            <c:ext xmlns:c16="http://schemas.microsoft.com/office/drawing/2014/chart" uri="{C3380CC4-5D6E-409C-BE32-E72D297353CC}">
              <c16:uniqueId val="{00000009-9BA7-495B-BC66-190F257B0CA5}"/>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en-US"/>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725">
                <a:solidFill>
                  <a:srgbClr val="656B73"/>
                </a:solidFill>
                <a:latin typeface="Roboto"/>
                <a:ea typeface="Roboto"/>
                <a:cs typeface="Roboto"/>
              </a:defRPr>
            </a:pPr>
            <a:endParaRPr lang="en-US"/>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Image AUROC (%)</c:v>
          </c:tx>
          <c:spPr>
            <a:solidFill>
              <a:srgbClr val="D7DDE2"/>
            </a:solidFill>
          </c:spPr>
          <c:invertIfNegative val="0"/>
          <c:dPt>
            <c:idx val="4"/>
            <c:invertIfNegative val="0"/>
            <c:bubble3D val="0"/>
            <c:spPr>
              <a:solidFill>
                <a:srgbClr val="2C8390"/>
              </a:solidFill>
            </c:spPr>
            <c:extLst>
              <c:ext xmlns:c16="http://schemas.microsoft.com/office/drawing/2014/chart" uri="{C3380CC4-5D6E-409C-BE32-E72D297353CC}">
                <c16:uniqueId val="{00000001-0F1E-4BEB-BA5C-43D58947F805}"/>
              </c:ext>
            </c:extLst>
          </c:dPt>
          <c:dPt>
            <c:idx val="5"/>
            <c:invertIfNegative val="0"/>
            <c:bubble3D val="0"/>
            <c:spPr>
              <a:solidFill>
                <a:srgbClr val="822433"/>
              </a:solidFill>
            </c:spPr>
            <c:extLst>
              <c:ext xmlns:c16="http://schemas.microsoft.com/office/drawing/2014/chart" uri="{C3380CC4-5D6E-409C-BE32-E72D297353CC}">
                <c16:uniqueId val="{00000003-0F1E-4BEB-BA5C-43D58947F805}"/>
              </c:ext>
            </c:extLst>
          </c:dPt>
          <c:dLbls>
            <c:dLbl>
              <c:idx val="0"/>
              <c:tx>
                <c:rich>
                  <a:bodyPr/>
                  <a:lstStyle/>
                  <a:p>
                    <a:r>
                      <a:rPr lang="en-US" sz="1650" dirty="0">
                        <a:solidFill>
                          <a:srgbClr val="202124"/>
                        </a:solidFill>
                        <a:latin typeface="Roboto"/>
                        <a:ea typeface="Roboto"/>
                        <a:cs typeface="Roboto"/>
                      </a:rPr>
                      <a:t>66.50%</a:t>
                    </a:r>
                  </a:p>
                </c:rich>
              </c:tx>
              <c:spPr/>
              <c:dLblPos val="outEnd"/>
              <c:showLegendKey val="1"/>
              <c:showVal val="0"/>
              <c:showCatName val="1"/>
              <c:showSerName val="1"/>
              <c:showPercent val="1"/>
              <c:showBubbleSize val="1"/>
              <c:extLst>
                <c:ext xmlns:c15="http://schemas.microsoft.com/office/drawing/2012/chart" uri="{CE6537A1-D6FC-4f65-9D91-7224C49458BB}">
                  <c15:layout>
                    <c:manualLayout>
                      <c:w val="0.11122757826003456"/>
                      <c:h val="6.9900503816333295E-2"/>
                    </c:manualLayout>
                  </c15:layout>
                  <c15:showDataLabelsRange val="0"/>
                </c:ext>
                <c:ext xmlns:c16="http://schemas.microsoft.com/office/drawing/2014/chart" uri="{C3380CC4-5D6E-409C-BE32-E72D297353CC}">
                  <c16:uniqueId val="{00000004-0F1E-4BEB-BA5C-43D58947F805}"/>
                </c:ext>
              </c:extLst>
            </c:dLbl>
            <c:dLbl>
              <c:idx val="1"/>
              <c:tx>
                <c:rich>
                  <a:bodyPr/>
                  <a:lstStyle/>
                  <a:p>
                    <a:r>
                      <a:rPr lang="en-US" sz="1650" dirty="0">
                        <a:solidFill>
                          <a:srgbClr val="202124"/>
                        </a:solidFill>
                        <a:latin typeface="Roboto"/>
                        <a:ea typeface="Roboto"/>
                        <a:cs typeface="Roboto"/>
                      </a:rPr>
                      <a:t>77.33%</a:t>
                    </a:r>
                  </a:p>
                </c:rich>
              </c:tx>
              <c:spPr/>
              <c:dLblPos val="outEnd"/>
              <c:showLegendKey val="1"/>
              <c:showVal val="0"/>
              <c:showCatName val="1"/>
              <c:showSerName val="1"/>
              <c:showPercent val="1"/>
              <c:showBubbleSize val="1"/>
              <c:extLst>
                <c:ext xmlns:c15="http://schemas.microsoft.com/office/drawing/2012/chart" uri="{CE6537A1-D6FC-4f65-9D91-7224C49458BB}">
                  <c15:layout>
                    <c:manualLayout>
                      <c:w val="0.10147148069905894"/>
                      <c:h val="6.9900503816333295E-2"/>
                    </c:manualLayout>
                  </c15:layout>
                  <c15:showDataLabelsRange val="0"/>
                </c:ext>
                <c:ext xmlns:c16="http://schemas.microsoft.com/office/drawing/2014/chart" uri="{C3380CC4-5D6E-409C-BE32-E72D297353CC}">
                  <c16:uniqueId val="{00000005-0F1E-4BEB-BA5C-43D58947F805}"/>
                </c:ext>
              </c:extLst>
            </c:dLbl>
            <c:dLbl>
              <c:idx val="2"/>
              <c:tx>
                <c:rich>
                  <a:bodyPr/>
                  <a:lstStyle/>
                  <a:p>
                    <a:r>
                      <a:rPr lang="en-US" sz="1650" dirty="0">
                        <a:solidFill>
                          <a:srgbClr val="202124"/>
                        </a:solidFill>
                        <a:latin typeface="Roboto"/>
                        <a:ea typeface="Roboto"/>
                        <a:cs typeface="Roboto"/>
                      </a:rPr>
                      <a:t>77.52%</a:t>
                    </a:r>
                  </a:p>
                </c:rich>
              </c:tx>
              <c:spPr/>
              <c:dLblPos val="outEnd"/>
              <c:showLegendKey val="1"/>
              <c:showVal val="0"/>
              <c:showCatName val="1"/>
              <c:showSerName val="1"/>
              <c:showPercent val="1"/>
              <c:showBubbleSize val="1"/>
              <c:extLst>
                <c:ext xmlns:c15="http://schemas.microsoft.com/office/drawing/2012/chart" uri="{CE6537A1-D6FC-4f65-9D91-7224C49458BB}">
                  <c15:layout>
                    <c:manualLayout>
                      <c:w val="0.11122757826003456"/>
                      <c:h val="6.9900503816333295E-2"/>
                    </c:manualLayout>
                  </c15:layout>
                  <c15:showDataLabelsRange val="0"/>
                </c:ext>
                <c:ext xmlns:c16="http://schemas.microsoft.com/office/drawing/2014/chart" uri="{C3380CC4-5D6E-409C-BE32-E72D297353CC}">
                  <c16:uniqueId val="{00000006-0F1E-4BEB-BA5C-43D58947F805}"/>
                </c:ext>
              </c:extLst>
            </c:dLbl>
            <c:dLbl>
              <c:idx val="3"/>
              <c:tx>
                <c:rich>
                  <a:bodyPr/>
                  <a:lstStyle/>
                  <a:p>
                    <a:r>
                      <a:rPr lang="en-US" sz="1650" dirty="0">
                        <a:solidFill>
                          <a:srgbClr val="202124"/>
                        </a:solidFill>
                        <a:latin typeface="Roboto"/>
                        <a:ea typeface="Roboto"/>
                        <a:cs typeface="Roboto"/>
                      </a:rPr>
                      <a:t>79.28%</a:t>
                    </a:r>
                  </a:p>
                </c:rich>
              </c:tx>
              <c:spPr/>
              <c:dLblPos val="outEnd"/>
              <c:showLegendKey val="1"/>
              <c:showVal val="0"/>
              <c:showCatName val="1"/>
              <c:showSerName val="1"/>
              <c:showPercent val="1"/>
              <c:showBubbleSize val="1"/>
              <c:extLst>
                <c:ext xmlns:c15="http://schemas.microsoft.com/office/drawing/2012/chart" uri="{CE6537A1-D6FC-4f65-9D91-7224C49458BB}">
                  <c15:layout>
                    <c:manualLayout>
                      <c:w val="0.11447961078035976"/>
                      <c:h val="6.9900503816333295E-2"/>
                    </c:manualLayout>
                  </c15:layout>
                  <c15:showDataLabelsRange val="0"/>
                </c:ext>
                <c:ext xmlns:c16="http://schemas.microsoft.com/office/drawing/2014/chart" uri="{C3380CC4-5D6E-409C-BE32-E72D297353CC}">
                  <c16:uniqueId val="{00000007-0F1E-4BEB-BA5C-43D58947F805}"/>
                </c:ext>
              </c:extLst>
            </c:dLbl>
            <c:dLbl>
              <c:idx val="4"/>
              <c:tx>
                <c:rich>
                  <a:bodyPr/>
                  <a:lstStyle/>
                  <a:p>
                    <a:r>
                      <a:rPr lang="en-US" sz="1650" dirty="0">
                        <a:solidFill>
                          <a:srgbClr val="202124"/>
                        </a:solidFill>
                        <a:latin typeface="Roboto"/>
                        <a:ea typeface="Roboto"/>
                        <a:cs typeface="Roboto"/>
                      </a:rPr>
                      <a:t>82.72%</a:t>
                    </a:r>
                  </a:p>
                </c:rich>
              </c:tx>
              <c:spPr/>
              <c:dLblPos val="outEnd"/>
              <c:showLegendKey val="1"/>
              <c:showVal val="0"/>
              <c:showCatName val="1"/>
              <c:showSerName val="1"/>
              <c:showPercent val="1"/>
              <c:showBubbleSize val="1"/>
              <c:extLst>
                <c:ext xmlns:c15="http://schemas.microsoft.com/office/drawing/2012/chart" uri="{CE6537A1-D6FC-4f65-9D91-7224C49458BB}">
                  <c15:layout>
                    <c:manualLayout>
                      <c:w val="9.8219448178733737E-2"/>
                      <c:h val="6.9900503816333295E-2"/>
                    </c:manualLayout>
                  </c15:layout>
                  <c15:showDataLabelsRange val="0"/>
                </c:ext>
                <c:ext xmlns:c16="http://schemas.microsoft.com/office/drawing/2014/chart" uri="{C3380CC4-5D6E-409C-BE32-E72D297353CC}">
                  <c16:uniqueId val="{00000001-0F1E-4BEB-BA5C-43D58947F805}"/>
                </c:ext>
              </c:extLst>
            </c:dLbl>
            <c:dLbl>
              <c:idx val="5"/>
              <c:tx>
                <c:rich>
                  <a:bodyPr/>
                  <a:lstStyle/>
                  <a:p>
                    <a:r>
                      <a:rPr lang="en-US" sz="1650" dirty="0">
                        <a:solidFill>
                          <a:srgbClr val="202124"/>
                        </a:solidFill>
                        <a:latin typeface="Roboto"/>
                        <a:ea typeface="Roboto"/>
                        <a:cs typeface="Roboto"/>
                      </a:rPr>
                      <a:t>86.43%</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0F1E-4BEB-BA5C-43D58947F805}"/>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EfficientAD-S</c:v>
                </c:pt>
                <c:pt idx="1">
                  <c:v>TinyGLASS-512</c:v>
                </c:pt>
                <c:pt idx="2">
                  <c:v>TinyGLASS-384</c:v>
                </c:pt>
                <c:pt idx="3">
                  <c:v>PatchCore-S</c:v>
                </c:pt>
                <c:pt idx="4">
                  <c:v>SuperSimpleNet</c:v>
                </c:pt>
                <c:pt idx="5">
                  <c:v>PatchCore-L</c:v>
                </c:pt>
              </c:strCache>
            </c:strRef>
          </c:cat>
          <c:val>
            <c:numRef>
              <c:f>'Chart Data'!$B$2:$B$7</c:f>
              <c:numCache>
                <c:formatCode>General</c:formatCode>
                <c:ptCount val="6"/>
                <c:pt idx="0">
                  <c:v>66.5</c:v>
                </c:pt>
                <c:pt idx="1">
                  <c:v>77.33</c:v>
                </c:pt>
                <c:pt idx="2">
                  <c:v>77.52</c:v>
                </c:pt>
                <c:pt idx="3">
                  <c:v>79.28</c:v>
                </c:pt>
                <c:pt idx="4">
                  <c:v>82.72</c:v>
                </c:pt>
                <c:pt idx="5">
                  <c:v>86.43</c:v>
                </c:pt>
              </c:numCache>
            </c:numRef>
          </c:val>
          <c:extLst>
            <c:ext xmlns:c16="http://schemas.microsoft.com/office/drawing/2014/chart" uri="{C3380CC4-5D6E-409C-BE32-E72D297353CC}">
              <c16:uniqueId val="{00000008-0F1E-4BEB-BA5C-43D58947F805}"/>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en-US"/>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725">
                <a:solidFill>
                  <a:srgbClr val="656B73"/>
                </a:solidFill>
                <a:latin typeface="Roboto"/>
                <a:ea typeface="Roboto"/>
                <a:cs typeface="Roboto"/>
              </a:defRPr>
            </a:pPr>
            <a:endParaRPr lang="en-US"/>
          </a:p>
        </c:txPr>
        <c:crossAx val="48650112"/>
        <c:crosses val="autoZero"/>
        <c:crossBetween val="between"/>
        <c:majorUnit val="20"/>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CE</c:v>
          </c:tx>
          <c:spPr>
            <a:solidFill>
              <a:srgbClr val="D7DDE2"/>
            </a:solidFill>
          </c:spPr>
          <c:invertIfNegative val="0"/>
          <c:dLbls>
            <c:dLbl>
              <c:idx val="0"/>
              <c:tx>
                <c:rich>
                  <a:bodyPr/>
                  <a:lstStyle/>
                  <a:p>
                    <a:r>
                      <a:rPr lang="en-US" sz="1650">
                        <a:solidFill>
                          <a:srgbClr val="202124"/>
                        </a:solidFill>
                        <a:latin typeface="Roboto"/>
                        <a:ea typeface="Roboto"/>
                        <a:cs typeface="Roboto"/>
                      </a:rPr>
                      <a:t>59.5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0-C187-41D8-85DC-321ADDCFCAC4}"/>
                </c:ext>
              </c:extLst>
            </c:dLbl>
            <c:dLbl>
              <c:idx val="1"/>
              <c:tx>
                <c:rich>
                  <a:bodyPr/>
                  <a:lstStyle/>
                  <a:p>
                    <a:r>
                      <a:rPr lang="en-US" sz="1650">
                        <a:solidFill>
                          <a:srgbClr val="202124"/>
                        </a:solidFill>
                        <a:latin typeface="Roboto"/>
                        <a:ea typeface="Roboto"/>
                        <a:cs typeface="Roboto"/>
                      </a:rPr>
                      <a:t>69.2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C187-41D8-85DC-321ADDCFCAC4}"/>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Data'!$A$2:$A$3</c:f>
              <c:strCache>
                <c:ptCount val="2"/>
                <c:pt idx="0">
                  <c:v>U-Net R34</c:v>
                </c:pt>
                <c:pt idx="1">
                  <c:v>SegFormer-B0</c:v>
                </c:pt>
              </c:strCache>
            </c:strRef>
          </c:cat>
          <c:val>
            <c:numRef>
              <c:f>'Chart Data'!$B$2:$B$3</c:f>
              <c:numCache>
                <c:formatCode>General</c:formatCode>
                <c:ptCount val="2"/>
                <c:pt idx="0">
                  <c:v>59.5</c:v>
                </c:pt>
                <c:pt idx="1">
                  <c:v>69.2</c:v>
                </c:pt>
              </c:numCache>
            </c:numRef>
          </c:val>
          <c:extLst>
            <c:ext xmlns:c16="http://schemas.microsoft.com/office/drawing/2014/chart" uri="{C3380CC4-5D6E-409C-BE32-E72D297353CC}">
              <c16:uniqueId val="{00000002-C187-41D8-85DC-321ADDCFCAC4}"/>
            </c:ext>
          </c:extLst>
        </c:ser>
        <c:ser>
          <c:idx val="1"/>
          <c:order val="1"/>
          <c:tx>
            <c:v>CE + GDL</c:v>
          </c:tx>
          <c:spPr>
            <a:solidFill>
              <a:srgbClr val="822433"/>
            </a:solidFill>
          </c:spPr>
          <c:invertIfNegative val="0"/>
          <c:dLbls>
            <c:dLbl>
              <c:idx val="0"/>
              <c:tx>
                <c:rich>
                  <a:bodyPr/>
                  <a:lstStyle/>
                  <a:p>
                    <a:r>
                      <a:rPr lang="en-US" sz="1650">
                        <a:solidFill>
                          <a:srgbClr val="202124"/>
                        </a:solidFill>
                        <a:latin typeface="Roboto"/>
                        <a:ea typeface="Roboto"/>
                        <a:cs typeface="Roboto"/>
                      </a:rPr>
                      <a:t>64.5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C187-41D8-85DC-321ADDCFCAC4}"/>
                </c:ext>
              </c:extLst>
            </c:dLbl>
            <c:dLbl>
              <c:idx val="1"/>
              <c:tx>
                <c:rich>
                  <a:bodyPr/>
                  <a:lstStyle/>
                  <a:p>
                    <a:r>
                      <a:rPr lang="en-US" sz="1650">
                        <a:solidFill>
                          <a:srgbClr val="202124"/>
                        </a:solidFill>
                        <a:latin typeface="Roboto"/>
                        <a:ea typeface="Roboto"/>
                        <a:cs typeface="Roboto"/>
                      </a:rPr>
                      <a:t>75.5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4-C187-41D8-85DC-321ADDCFCAC4}"/>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Data'!$C$2:$C$3</c:f>
              <c:strCache>
                <c:ptCount val="2"/>
                <c:pt idx="0">
                  <c:v>U-Net R34</c:v>
                </c:pt>
                <c:pt idx="1">
                  <c:v>SegFormer-B0</c:v>
                </c:pt>
              </c:strCache>
            </c:strRef>
          </c:cat>
          <c:val>
            <c:numRef>
              <c:f>'Chart Data'!$D$2:$D$3</c:f>
              <c:numCache>
                <c:formatCode>General</c:formatCode>
                <c:ptCount val="2"/>
                <c:pt idx="0">
                  <c:v>64.5</c:v>
                </c:pt>
                <c:pt idx="1">
                  <c:v>75.5</c:v>
                </c:pt>
              </c:numCache>
            </c:numRef>
          </c:val>
          <c:extLst>
            <c:ext xmlns:c16="http://schemas.microsoft.com/office/drawing/2014/chart" uri="{C3380CC4-5D6E-409C-BE32-E72D297353CC}">
              <c16:uniqueId val="{00000005-C187-41D8-85DC-321ADDCFCAC4}"/>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en-US"/>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650">
                <a:solidFill>
                  <a:srgbClr val="656B73"/>
                </a:solidFill>
                <a:latin typeface="Roboto"/>
                <a:ea typeface="Roboto"/>
                <a:cs typeface="Roboto"/>
              </a:defRPr>
            </a:pPr>
            <a:endParaRPr lang="en-US"/>
          </a:p>
        </c:txPr>
        <c:crossAx val="48650112"/>
        <c:crosses val="autoZero"/>
        <c:crossBetween val="between"/>
        <c:majorUnit val="20"/>
      </c:valAx>
      <c:spPr>
        <a:solidFill>
          <a:srgbClr val="FFFFFF"/>
        </a:solidFill>
        <a:ln w="0">
          <a:noFill/>
        </a:ln>
      </c:spPr>
    </c:plotArea>
    <c:legend>
      <c:legendPos val="b"/>
      <c:overlay val="0"/>
      <c:txPr>
        <a:bodyPr anchorCtr="1"/>
        <a:lstStyle/>
        <a:p>
          <a:pPr>
            <a:defRPr sz="1650">
              <a:solidFill>
                <a:srgbClr val="656B73"/>
              </a:solidFill>
              <a:latin typeface="Roboto"/>
              <a:ea typeface="Roboto"/>
              <a:cs typeface="Roboto"/>
            </a:defRPr>
          </a:pPr>
          <a:endParaRPr lang="en-US"/>
        </a:p>
      </c:txPr>
    </c:legend>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it-IT"/>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v>Validation</c:v>
          </c:tx>
          <c:spPr>
            <a:solidFill>
              <a:srgbClr val="D7DDE2"/>
            </a:solidFill>
          </c:spPr>
          <c:invertIfNegative val="0"/>
          <c:dLbls>
            <c:dLbl>
              <c:idx val="0"/>
              <c:tx>
                <c:rich>
                  <a:bodyPr/>
                  <a:lstStyle/>
                  <a:p>
                    <a:r>
                      <a:rPr lang="en-US" sz="1650">
                        <a:solidFill>
                          <a:srgbClr val="202124"/>
                        </a:solidFill>
                        <a:latin typeface="Roboto"/>
                        <a:ea typeface="Roboto"/>
                        <a:cs typeface="Roboto"/>
                      </a:rPr>
                      <a:t>79.28</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0-CFBC-419C-B6FD-F97CF0A7E360}"/>
                </c:ext>
              </c:extLst>
            </c:dLbl>
            <c:dLbl>
              <c:idx val="1"/>
              <c:tx>
                <c:rich>
                  <a:bodyPr/>
                  <a:lstStyle/>
                  <a:p>
                    <a:r>
                      <a:rPr lang="en-US" sz="1650">
                        <a:solidFill>
                          <a:srgbClr val="202124"/>
                        </a:solidFill>
                        <a:latin typeface="Roboto"/>
                        <a:ea typeface="Roboto"/>
                        <a:cs typeface="Roboto"/>
                      </a:rPr>
                      <a:t>70.64</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1-CFBC-419C-B6FD-F97CF0A7E360}"/>
                </c:ext>
              </c:extLst>
            </c:dLbl>
            <c:dLbl>
              <c:idx val="2"/>
              <c:tx>
                <c:rich>
                  <a:bodyPr/>
                  <a:lstStyle/>
                  <a:p>
                    <a:r>
                      <a:rPr lang="en-US" sz="1650">
                        <a:solidFill>
                          <a:srgbClr val="202124"/>
                        </a:solidFill>
                        <a:latin typeface="Roboto"/>
                        <a:ea typeface="Roboto"/>
                        <a:cs typeface="Roboto"/>
                      </a:rPr>
                      <a:t>73.99</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2-CFBC-419C-B6FD-F97CF0A7E360}"/>
                </c:ext>
              </c:extLst>
            </c:dLbl>
            <c:dLbl>
              <c:idx val="3"/>
              <c:tx>
                <c:rich>
                  <a:bodyPr/>
                  <a:lstStyle/>
                  <a:p>
                    <a:r>
                      <a:rPr lang="en-US" sz="1650">
                        <a:solidFill>
                          <a:srgbClr val="202124"/>
                        </a:solidFill>
                        <a:latin typeface="Roboto"/>
                        <a:ea typeface="Roboto"/>
                        <a:cs typeface="Roboto"/>
                      </a:rPr>
                      <a:t>80.28</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3-CFBC-419C-B6FD-F97CF0A7E360}"/>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Data'!$A$2:$A$5</c:f>
              <c:strCache>
                <c:ptCount val="4"/>
                <c:pt idx="0">
                  <c:v>Oversampling, uniform</c:v>
                </c:pt>
                <c:pt idx="1">
                  <c:v>Oversampling, square</c:v>
                </c:pt>
                <c:pt idx="2">
                  <c:v>Geometric augmentation</c:v>
                </c:pt>
                <c:pt idx="3">
                  <c:v>Default</c:v>
                </c:pt>
              </c:strCache>
            </c:strRef>
          </c:cat>
          <c:val>
            <c:numRef>
              <c:f>'Chart Data'!$B$2:$B$5</c:f>
              <c:numCache>
                <c:formatCode>General</c:formatCode>
                <c:ptCount val="4"/>
                <c:pt idx="0">
                  <c:v>79.28</c:v>
                </c:pt>
                <c:pt idx="1">
                  <c:v>70.64</c:v>
                </c:pt>
                <c:pt idx="2">
                  <c:v>73.989999999999995</c:v>
                </c:pt>
                <c:pt idx="3">
                  <c:v>80.28</c:v>
                </c:pt>
              </c:numCache>
            </c:numRef>
          </c:val>
          <c:extLst>
            <c:ext xmlns:c16="http://schemas.microsoft.com/office/drawing/2014/chart" uri="{C3380CC4-5D6E-409C-BE32-E72D297353CC}">
              <c16:uniqueId val="{00000004-CFBC-419C-B6FD-F97CF0A7E360}"/>
            </c:ext>
          </c:extLst>
        </c:ser>
        <c:ser>
          <c:idx val="1"/>
          <c:order val="1"/>
          <c:tx>
            <c:v>Test</c:v>
          </c:tx>
          <c:spPr>
            <a:solidFill>
              <a:srgbClr val="822433"/>
            </a:solidFill>
          </c:spPr>
          <c:invertIfNegative val="0"/>
          <c:dLbls>
            <c:dLbl>
              <c:idx val="0"/>
              <c:tx>
                <c:rich>
                  <a:bodyPr/>
                  <a:lstStyle/>
                  <a:p>
                    <a:r>
                      <a:rPr lang="en-US" sz="1650">
                        <a:solidFill>
                          <a:srgbClr val="202124"/>
                        </a:solidFill>
                        <a:latin typeface="Roboto"/>
                        <a:ea typeface="Roboto"/>
                        <a:cs typeface="Roboto"/>
                      </a:rPr>
                      <a:t>72.90</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5-CFBC-419C-B6FD-F97CF0A7E360}"/>
                </c:ext>
              </c:extLst>
            </c:dLbl>
            <c:dLbl>
              <c:idx val="1"/>
              <c:tx>
                <c:rich>
                  <a:bodyPr/>
                  <a:lstStyle/>
                  <a:p>
                    <a:r>
                      <a:rPr lang="en-US" sz="1650">
                        <a:solidFill>
                          <a:srgbClr val="202124"/>
                        </a:solidFill>
                        <a:latin typeface="Roboto"/>
                        <a:ea typeface="Roboto"/>
                        <a:cs typeface="Roboto"/>
                      </a:rPr>
                      <a:t>71.02</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6-CFBC-419C-B6FD-F97CF0A7E360}"/>
                </c:ext>
              </c:extLst>
            </c:dLbl>
            <c:dLbl>
              <c:idx val="2"/>
              <c:tx>
                <c:rich>
                  <a:bodyPr/>
                  <a:lstStyle/>
                  <a:p>
                    <a:r>
                      <a:rPr lang="en-US" sz="1650">
                        <a:solidFill>
                          <a:srgbClr val="202124"/>
                        </a:solidFill>
                        <a:latin typeface="Roboto"/>
                        <a:ea typeface="Roboto"/>
                        <a:cs typeface="Roboto"/>
                      </a:rPr>
                      <a:t>66.86</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7-CFBC-419C-B6FD-F97CF0A7E360}"/>
                </c:ext>
              </c:extLst>
            </c:dLbl>
            <c:dLbl>
              <c:idx val="3"/>
              <c:tx>
                <c:rich>
                  <a:bodyPr/>
                  <a:lstStyle/>
                  <a:p>
                    <a:r>
                      <a:rPr lang="en-US" sz="1650">
                        <a:solidFill>
                          <a:srgbClr val="202124"/>
                        </a:solidFill>
                        <a:latin typeface="Roboto"/>
                        <a:ea typeface="Roboto"/>
                        <a:cs typeface="Roboto"/>
                      </a:rPr>
                      <a:t>75.55</a:t>
                    </a:r>
                  </a:p>
                </c:rich>
              </c:tx>
              <c:spPr/>
              <c:dLblPos val="outEnd"/>
              <c:showLegendKey val="1"/>
              <c:showVal val="0"/>
              <c:showCatName val="1"/>
              <c:showSerName val="1"/>
              <c:showPercent val="1"/>
              <c:showBubbleSize val="1"/>
              <c:extLst>
                <c:ext xmlns:c15="http://schemas.microsoft.com/office/drawing/2012/chart" uri="{CE6537A1-D6FC-4f65-9D91-7224C49458BB}">
                  <c15:showDataLabelsRange val="0"/>
                </c:ext>
                <c:ext xmlns:c16="http://schemas.microsoft.com/office/drawing/2014/chart" uri="{C3380CC4-5D6E-409C-BE32-E72D297353CC}">
                  <c16:uniqueId val="{00000008-CFBC-419C-B6FD-F97CF0A7E360}"/>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Data'!$C$2:$C$5</c:f>
              <c:strCache>
                <c:ptCount val="4"/>
                <c:pt idx="0">
                  <c:v>Oversampling, uniform</c:v>
                </c:pt>
                <c:pt idx="1">
                  <c:v>Oversampling, square</c:v>
                </c:pt>
                <c:pt idx="2">
                  <c:v>Geometric augmentation</c:v>
                </c:pt>
                <c:pt idx="3">
                  <c:v>Default</c:v>
                </c:pt>
              </c:strCache>
            </c:strRef>
          </c:cat>
          <c:val>
            <c:numRef>
              <c:f>'Chart Data'!$D$2:$D$5</c:f>
              <c:numCache>
                <c:formatCode>General</c:formatCode>
                <c:ptCount val="4"/>
                <c:pt idx="0">
                  <c:v>72.900000000000006</c:v>
                </c:pt>
                <c:pt idx="1">
                  <c:v>71.02</c:v>
                </c:pt>
                <c:pt idx="2">
                  <c:v>66.86</c:v>
                </c:pt>
                <c:pt idx="3">
                  <c:v>75.55</c:v>
                </c:pt>
              </c:numCache>
            </c:numRef>
          </c:val>
          <c:extLst>
            <c:ext xmlns:c16="http://schemas.microsoft.com/office/drawing/2014/chart" uri="{C3380CC4-5D6E-409C-BE32-E72D297353CC}">
              <c16:uniqueId val="{00000009-CFBC-419C-B6FD-F97CF0A7E360}"/>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l"/>
        <c:numFmt formatCode="General" sourceLinked="1"/>
        <c:majorTickMark val="none"/>
        <c:minorTickMark val="none"/>
        <c:tickLblPos val="nextTo"/>
        <c:spPr>
          <a:ln w="6668">
            <a:solidFill>
              <a:srgbClr val="C7CDD2"/>
            </a:solidFill>
          </a:ln>
        </c:spPr>
        <c:txPr>
          <a:bodyPr anchorCtr="1"/>
          <a:lstStyle/>
          <a:p>
            <a:pPr>
              <a:defRPr sz="1600">
                <a:solidFill>
                  <a:srgbClr val="656B73"/>
                </a:solidFill>
                <a:latin typeface="Roboto"/>
                <a:ea typeface="Roboto"/>
                <a:cs typeface="Roboto"/>
              </a:defRPr>
            </a:pPr>
            <a:endParaRPr lang="en-US"/>
          </a:p>
        </c:txPr>
        <c:crossAx val="48672768"/>
        <c:crosses val="autoZero"/>
        <c:auto val="1"/>
        <c:lblAlgn val="ctr"/>
        <c:lblOffset val="100"/>
        <c:tickLblSkip val="1"/>
        <c:tickMarkSkip val="1"/>
        <c:noMultiLvlLbl val="1"/>
      </c:catAx>
      <c:valAx>
        <c:axId val="48672768"/>
        <c:scaling>
          <c:orientation val="minMax"/>
          <c:max val="100"/>
          <c:min val="0"/>
        </c:scaling>
        <c:delete val="0"/>
        <c:axPos val="b"/>
        <c:numFmt formatCode="General" sourceLinked="1"/>
        <c:majorTickMark val="none"/>
        <c:minorTickMark val="none"/>
        <c:tickLblPos val="nextTo"/>
        <c:spPr>
          <a:ln w="0">
            <a:noFill/>
          </a:ln>
        </c:spPr>
        <c:txPr>
          <a:bodyPr anchorCtr="1"/>
          <a:lstStyle/>
          <a:p>
            <a:pPr>
              <a:defRPr sz="1650">
                <a:solidFill>
                  <a:srgbClr val="656B73"/>
                </a:solidFill>
                <a:latin typeface="Roboto"/>
                <a:ea typeface="Roboto"/>
                <a:cs typeface="Roboto"/>
              </a:defRPr>
            </a:pPr>
            <a:endParaRPr lang="en-US"/>
          </a:p>
        </c:txPr>
        <c:crossAx val="48650112"/>
        <c:crosses val="autoZero"/>
        <c:crossBetween val="between"/>
        <c:majorUnit val="20"/>
      </c:valAx>
      <c:spPr>
        <a:solidFill>
          <a:srgbClr val="FFFFFF"/>
        </a:solidFill>
        <a:ln w="0">
          <a:noFill/>
        </a:ln>
      </c:spPr>
    </c:plotArea>
    <c:legend>
      <c:legendPos val="b"/>
      <c:overlay val="0"/>
      <c:txPr>
        <a:bodyPr anchorCtr="1"/>
        <a:lstStyle/>
        <a:p>
          <a:pPr>
            <a:defRPr sz="1650">
              <a:solidFill>
                <a:srgbClr val="656B73"/>
              </a:solidFill>
              <a:latin typeface="Roboto"/>
              <a:ea typeface="Roboto"/>
              <a:cs typeface="Roboto"/>
            </a:defRPr>
          </a:pPr>
          <a:endParaRPr lang="en-US"/>
        </a:p>
      </c:txPr>
    </c:legend>
    <c:plotVisOnly val="1"/>
    <c:dispBlanksAs val="zero"/>
    <c:showDLblsOverMax val="1"/>
  </c:chart>
  <c:spPr>
    <a:solidFill>
      <a:srgbClr val="FFFFFF"/>
    </a:solidFill>
    <a:ln w="0">
      <a:noFill/>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0C1239-0725-46DB-A966-8FDB2DE1064C}" type="datetimeFigureOut">
              <a:rPr lang="it-IT" smtClean="0"/>
              <a:t>26/10/2026</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FF6D0F-8D8B-42DD-BAAB-92498700177C}" type="slidenum">
              <a:rPr lang="it-IT" smtClean="0"/>
              <a:t>‹N›</a:t>
            </a:fld>
            <a:endParaRPr lang="it-IT"/>
          </a:p>
        </p:txBody>
      </p:sp>
    </p:spTree>
    <p:extLst>
      <p:ext uri="{BB962C8B-B14F-4D97-AF65-F5344CB8AC3E}">
        <p14:creationId xmlns:p14="http://schemas.microsoft.com/office/powerpoint/2010/main" val="2993477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15–25 seconds.]</a:t>
            </a:r>
          </a:p>
          <a:p>
            <a:endParaRPr lang="en-US" dirty="0"/>
          </a:p>
          <a:p>
            <a:r>
              <a:rPr lang="en-US" dirty="0"/>
              <a:t>Good morning, my name is Daniele Venturini. My thesis focuses on two aspects of visual perception for Mars rovers: understanding the surrounding terrain and identifying possible wheel damage, while taking limited computing resources into account.</a:t>
            </a:r>
          </a:p>
          <a:p>
            <a:endParaRPr lang="en-US" dirty="0"/>
          </a:p>
          <a:p>
            <a:r>
              <a:rPr lang="en-US" dirty="0"/>
              <a:t>Option 1: "Here is how I have organized the presentation."</a:t>
            </a:r>
          </a:p>
          <a:p>
            <a:r>
              <a:rPr lang="en-US" dirty="0"/>
              <a:t>Option 2: "I will begin with a brief overview of the work."</a:t>
            </a:r>
          </a:p>
          <a:p>
            <a:r>
              <a:rPr lang="en-US" dirty="0"/>
              <a:t>Option 3: "Let me first outline the steps of the presentation."</a:t>
            </a:r>
          </a:p>
        </p:txBody>
      </p:sp>
      <p:sp>
        <p:nvSpPr>
          <p:cNvPr id="4" name="Segnaposto numero diapositiva 3"/>
          <p:cNvSpPr>
            <a:spLocks noGrp="1"/>
          </p:cNvSpPr>
          <p:nvPr>
            <p:ph type="sldNum" sz="quarter" idx="5"/>
          </p:nvPr>
        </p:nvSpPr>
        <p:spPr/>
        <p:txBody>
          <a:bodyPr/>
          <a:lstStyle/>
          <a:p>
            <a:fld id="{98FF6D0F-8D8B-42DD-BAAB-92498700177C}" type="slidenum">
              <a:rPr lang="it-IT" smtClean="0"/>
              <a:t>1</a:t>
            </a:fld>
            <a:endParaRPr lang="it-IT" dirty="0"/>
          </a:p>
        </p:txBody>
      </p:sp>
    </p:spTree>
    <p:extLst>
      <p:ext uri="{BB962C8B-B14F-4D97-AF65-F5344CB8AC3E}">
        <p14:creationId xmlns:p14="http://schemas.microsoft.com/office/powerpoint/2010/main" val="4115012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10–20 seconds.]</a:t>
            </a:r>
          </a:p>
          <a:p>
            <a:endParaRPr lang="en-US" dirty="0"/>
          </a:p>
          <a:p>
            <a:r>
              <a:rPr lang="en-US" dirty="0"/>
              <a:t>I will begin with the problem and the objectives. I will then present semantic segmentation, synthetic dataset generation and wheel inspection, followed by the results and conclusions.</a:t>
            </a:r>
          </a:p>
          <a:p>
            <a:endParaRPr lang="en-US" dirty="0"/>
          </a:p>
          <a:p>
            <a:r>
              <a:rPr lang="en-US" dirty="0"/>
              <a:t>Option 1: "Let's begin with the challenge facing Mars rovers."</a:t>
            </a:r>
          </a:p>
          <a:p>
            <a:r>
              <a:rPr lang="en-US" dirty="0"/>
              <a:t>Option 2: "The operational context explains why autonomy matters here."</a:t>
            </a:r>
          </a:p>
          <a:p>
            <a:r>
              <a:rPr lang="en-US" dirty="0"/>
              <a:t>Option 3: "First, I will explain the problem that motivated this work."</a:t>
            </a:r>
          </a:p>
        </p:txBody>
      </p:sp>
      <p:sp>
        <p:nvSpPr>
          <p:cNvPr id="4" name="Segnaposto numero diapositiva 3"/>
          <p:cNvSpPr>
            <a:spLocks noGrp="1"/>
          </p:cNvSpPr>
          <p:nvPr>
            <p:ph type="sldNum" sz="quarter" idx="5"/>
          </p:nvPr>
        </p:nvSpPr>
        <p:spPr/>
        <p:txBody>
          <a:bodyPr/>
          <a:lstStyle/>
          <a:p>
            <a:fld id="{98FF6D0F-8D8B-42DD-BAAB-92498700177C}" type="slidenum">
              <a:rPr lang="it-IT" smtClean="0"/>
              <a:t>2</a:t>
            </a:fld>
            <a:endParaRPr lang="it-IT" dirty="0"/>
          </a:p>
        </p:txBody>
      </p:sp>
    </p:spTree>
    <p:extLst>
      <p:ext uri="{BB962C8B-B14F-4D97-AF65-F5344CB8AC3E}">
        <p14:creationId xmlns:p14="http://schemas.microsoft.com/office/powerpoint/2010/main" val="15938530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25–35 seconds.]</a:t>
            </a:r>
          </a:p>
          <a:p>
            <a:endParaRPr lang="en-US" dirty="0"/>
          </a:p>
          <a:p>
            <a:r>
              <a:rPr lang="en-US" dirty="0"/>
              <a:t>Most rover operations are planned and supervised from Earth. A signal takes approximately four to twenty-two minutes to reach Mars, so real-time intervention is not possible. The rover carries out the plan and reports the outcome, or requests assistance. Improving its ability to interpret images locally could reduce this dependence and support more autonomous decisions.</a:t>
            </a:r>
          </a:p>
          <a:p>
            <a:endParaRPr lang="en-US" dirty="0"/>
          </a:p>
          <a:p>
            <a:r>
              <a:rPr lang="en-US" dirty="0"/>
              <a:t>Option 1: "Wheel condition is another important part of this challenge."</a:t>
            </a:r>
          </a:p>
          <a:p>
            <a:r>
              <a:rPr lang="en-US" dirty="0"/>
              <a:t>Option 2: "Alongside interpreting the environment, the rover needs to monitor its condition."</a:t>
            </a:r>
          </a:p>
          <a:p>
            <a:r>
              <a:rPr lang="en-US" dirty="0"/>
              <a:t>Option 3: "A concrete example of this need is the damage observed on Curiosity's wheels."</a:t>
            </a:r>
          </a:p>
        </p:txBody>
      </p:sp>
      <p:sp>
        <p:nvSpPr>
          <p:cNvPr id="4" name="Segnaposto numero diapositiva 3"/>
          <p:cNvSpPr>
            <a:spLocks noGrp="1"/>
          </p:cNvSpPr>
          <p:nvPr>
            <p:ph type="sldNum" sz="quarter" idx="5"/>
          </p:nvPr>
        </p:nvSpPr>
        <p:spPr/>
        <p:txBody>
          <a:bodyPr/>
          <a:lstStyle/>
          <a:p>
            <a:fld id="{98FF6D0F-8D8B-42DD-BAAB-92498700177C}" type="slidenum">
              <a:rPr lang="it-IT" smtClean="0"/>
              <a:t>3</a:t>
            </a:fld>
            <a:endParaRPr lang="it-IT" dirty="0"/>
          </a:p>
        </p:txBody>
      </p:sp>
    </p:spTree>
    <p:extLst>
      <p:ext uri="{BB962C8B-B14F-4D97-AF65-F5344CB8AC3E}">
        <p14:creationId xmlns:p14="http://schemas.microsoft.com/office/powerpoint/2010/main" val="3814895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20–30 seconds.]</a:t>
            </a:r>
          </a:p>
          <a:p>
            <a:endParaRPr lang="en-US" dirty="0"/>
          </a:p>
          <a:p>
            <a:r>
              <a:rPr lang="en-US" dirty="0"/>
              <a:t>Mobility also depends on the rover's condition. This image shows a real example of perforations in a Curiosity wheel. These conditions are currently monitored through periodic image inspections. An automatic system could flag suspicious observations and highlight areas to examine, helping to track damage over time and plan targeted inspections.</a:t>
            </a:r>
          </a:p>
          <a:p>
            <a:endParaRPr lang="en-US" dirty="0"/>
          </a:p>
          <a:p>
            <a:r>
              <a:rPr lang="en-US" dirty="0"/>
              <a:t>[LINKING OPTIONS: transition to slide 5 (Research objective). Choose one.]</a:t>
            </a:r>
          </a:p>
          <a:p>
            <a:endParaRPr lang="en-US" dirty="0"/>
          </a:p>
          <a:p>
            <a:r>
              <a:rPr lang="en-US" dirty="0"/>
              <a:t>Option 1: "These needs define the two objectives of my thesis."</a:t>
            </a:r>
          </a:p>
          <a:p>
            <a:r>
              <a:rPr lang="en-US" dirty="0"/>
              <a:t>Option 2: "This motivates a study of both scene understanding and wheel inspection."</a:t>
            </a:r>
          </a:p>
          <a:p>
            <a:r>
              <a:rPr lang="en-US" dirty="0"/>
              <a:t>Option 3: "I addressed these challenges through two separate research branches."</a:t>
            </a:r>
          </a:p>
          <a:p>
            <a:endParaRPr lang="en-US" dirty="0"/>
          </a:p>
          <a:p>
            <a:r>
              <a:rPr lang="en-US" dirty="0"/>
              <a:t>[Supporting sources, not to be read aloud: Thesis, Chapter 1; references [2] and [3].]</a:t>
            </a:r>
          </a:p>
        </p:txBody>
      </p:sp>
      <p:sp>
        <p:nvSpPr>
          <p:cNvPr id="4" name="Segnaposto numero diapositiva 3"/>
          <p:cNvSpPr>
            <a:spLocks noGrp="1"/>
          </p:cNvSpPr>
          <p:nvPr>
            <p:ph type="sldNum" sz="quarter" idx="5"/>
          </p:nvPr>
        </p:nvSpPr>
        <p:spPr/>
        <p:txBody>
          <a:bodyPr/>
          <a:lstStyle/>
          <a:p>
            <a:fld id="{98FF6D0F-8D8B-42DD-BAAB-92498700177C}" type="slidenum">
              <a:rPr lang="it-IT" smtClean="0"/>
              <a:t>4</a:t>
            </a:fld>
            <a:endParaRPr lang="it-IT" dirty="0"/>
          </a:p>
        </p:txBody>
      </p:sp>
    </p:spTree>
    <p:extLst>
      <p:ext uri="{BB962C8B-B14F-4D97-AF65-F5344CB8AC3E}">
        <p14:creationId xmlns:p14="http://schemas.microsoft.com/office/powerpoint/2010/main" val="378945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25–35 seconds.]</a:t>
            </a:r>
          </a:p>
          <a:p>
            <a:endParaRPr lang="en-US" dirty="0"/>
          </a:p>
          <a:p>
            <a:r>
              <a:rPr lang="en-US" dirty="0"/>
              <a:t>The objective is to study visual tools that support autonomy, considering both quality and efficiency. I developed two research branches: semantic segmentation of real Mars images to describe the scene, and wheel anomaly detection, for which I built a synthetic dataset. I evaluated the two branches separately. Integrating them is a direction for future work.</a:t>
            </a:r>
          </a:p>
          <a:p>
            <a:endParaRPr lang="en-US" dirty="0"/>
          </a:p>
          <a:p>
            <a:r>
              <a:rPr lang="en-US" dirty="0"/>
              <a:t>[LINKING OPTIONS: transition to slide 6 (Lightweight Scene Understanding). Choose one.]</a:t>
            </a:r>
          </a:p>
          <a:p>
            <a:endParaRPr lang="en-US" dirty="0"/>
          </a:p>
          <a:p>
            <a:r>
              <a:rPr lang="en-US" dirty="0"/>
              <a:t>Option 1: "I will begin with scene understanding."</a:t>
            </a:r>
          </a:p>
          <a:p>
            <a:r>
              <a:rPr lang="en-US" dirty="0"/>
              <a:t>Option 2: "First, I will focus on interpreting the surrounding terrain."</a:t>
            </a:r>
          </a:p>
          <a:p>
            <a:r>
              <a:rPr lang="en-US" dirty="0"/>
              <a:t>Option 3: "Let's look at the segmentation branch of the work."</a:t>
            </a:r>
          </a:p>
          <a:p>
            <a:endParaRPr lang="en-US" dirty="0"/>
          </a:p>
          <a:p>
            <a:r>
              <a:rPr lang="en-US" dirty="0"/>
              <a:t>[Supporting sources, not to be read aloud: Thesis, Chapters 1 and 8.]</a:t>
            </a:r>
          </a:p>
        </p:txBody>
      </p:sp>
      <p:sp>
        <p:nvSpPr>
          <p:cNvPr id="4" name="Segnaposto numero diapositiva 3"/>
          <p:cNvSpPr>
            <a:spLocks noGrp="1"/>
          </p:cNvSpPr>
          <p:nvPr>
            <p:ph type="sldNum" sz="quarter" idx="5"/>
          </p:nvPr>
        </p:nvSpPr>
        <p:spPr/>
        <p:txBody>
          <a:bodyPr/>
          <a:lstStyle/>
          <a:p>
            <a:fld id="{98FF6D0F-8D8B-42DD-BAAB-92498700177C}" type="slidenum">
              <a:rPr lang="it-IT" smtClean="0"/>
              <a:t>5</a:t>
            </a:fld>
            <a:endParaRPr lang="it-IT" dirty="0"/>
          </a:p>
        </p:txBody>
      </p:sp>
    </p:spTree>
    <p:extLst>
      <p:ext uri="{BB962C8B-B14F-4D97-AF65-F5344CB8AC3E}">
        <p14:creationId xmlns:p14="http://schemas.microsoft.com/office/powerpoint/2010/main" val="27559248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5–15 seconds.]</a:t>
            </a:r>
          </a:p>
          <a:p>
            <a:endParaRPr lang="en-US" dirty="0"/>
          </a:p>
          <a:p>
            <a:r>
              <a:rPr lang="en-US" dirty="0"/>
              <a:t>I will start with the first branch: scene understanding using lightweight segmentation models.</a:t>
            </a:r>
          </a:p>
          <a:p>
            <a:endParaRPr lang="en-US" dirty="0"/>
          </a:p>
          <a:p>
            <a:r>
              <a:rPr lang="en-US" dirty="0"/>
              <a:t>[LINKING OPTIONS: transition to slide 7 (Semantic Segmentation). Choose one.]</a:t>
            </a:r>
          </a:p>
          <a:p>
            <a:endParaRPr lang="en-US" dirty="0"/>
          </a:p>
          <a:p>
            <a:r>
              <a:rPr lang="en-US" dirty="0"/>
              <a:t>Option 1: "The starting point is semantic segmentation."</a:t>
            </a:r>
          </a:p>
          <a:p>
            <a:r>
              <a:rPr lang="en-US" dirty="0"/>
              <a:t>Option 2: "I will first explain what the segmentation model produces."</a:t>
            </a:r>
          </a:p>
          <a:p>
            <a:r>
              <a:rPr lang="en-US" dirty="0"/>
              <a:t>Option 3: "Let's make this task concrete with an image and its reference mask."</a:t>
            </a:r>
          </a:p>
          <a:p>
            <a:endParaRPr lang="en-US" dirty="0"/>
          </a:p>
          <a:p>
            <a:r>
              <a:rPr lang="en-US" dirty="0"/>
              <a:t>[Supporting sources, not to be read aloud: Transition slide.]</a:t>
            </a:r>
          </a:p>
        </p:txBody>
      </p:sp>
      <p:sp>
        <p:nvSpPr>
          <p:cNvPr id="4" name="Segnaposto numero diapositiva 3"/>
          <p:cNvSpPr>
            <a:spLocks noGrp="1"/>
          </p:cNvSpPr>
          <p:nvPr>
            <p:ph type="sldNum" sz="quarter" idx="5"/>
          </p:nvPr>
        </p:nvSpPr>
        <p:spPr/>
        <p:txBody>
          <a:bodyPr/>
          <a:lstStyle/>
          <a:p>
            <a:fld id="{98FF6D0F-8D8B-42DD-BAAB-92498700177C}" type="slidenum">
              <a:rPr lang="it-IT" smtClean="0"/>
              <a:t>6</a:t>
            </a:fld>
            <a:endParaRPr lang="it-IT"/>
          </a:p>
        </p:txBody>
      </p:sp>
    </p:spTree>
    <p:extLst>
      <p:ext uri="{BB962C8B-B14F-4D97-AF65-F5344CB8AC3E}">
        <p14:creationId xmlns:p14="http://schemas.microsoft.com/office/powerpoint/2010/main" val="22059536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r>
              <a:rPr lang="en-US" dirty="0"/>
              <a:t>[Main presentation. Approximate time: 25–35 seconds.]</a:t>
            </a:r>
          </a:p>
          <a:p>
            <a:endParaRPr lang="en-US" dirty="0"/>
          </a:p>
          <a:p>
            <a:r>
              <a:rPr lang="en-US" dirty="0"/>
              <a:t>Semantic segmentation assigns a class to every pixel. Starting from an RGB image, we want to distinguish regions such as rocks, sand and bedrock. The reference mask allows us to evaluate the prediction. The main metric is mean Intersection over Union, or </a:t>
            </a:r>
            <a:r>
              <a:rPr lang="en-US" dirty="0" err="1"/>
              <a:t>mIoU</a:t>
            </a:r>
            <a:r>
              <a:rPr lang="en-US" dirty="0"/>
              <a:t>, which measures the average overlap between predicted and annotated regions across the different classes.</a:t>
            </a:r>
          </a:p>
          <a:p>
            <a:endParaRPr lang="en-US" dirty="0"/>
          </a:p>
          <a:p>
            <a:r>
              <a:rPr lang="en-US" dirty="0"/>
              <a:t>[LINKING OPTIONS: transition to slide 8 (Datasets). Choose one.]</a:t>
            </a:r>
          </a:p>
          <a:p>
            <a:endParaRPr lang="en-US" dirty="0"/>
          </a:p>
          <a:p>
            <a:r>
              <a:rPr lang="en-US" dirty="0"/>
              <a:t>Option 1: "Next, I will introduce the datasets."</a:t>
            </a:r>
          </a:p>
          <a:p>
            <a:r>
              <a:rPr lang="en-US" dirty="0"/>
              <a:t>Option 2: "Evaluating these predictions requires annotated Mars images."</a:t>
            </a:r>
          </a:p>
          <a:p>
            <a:r>
              <a:rPr lang="en-US" dirty="0"/>
              <a:t>Option 3: "The following datasets provide the reference images and labels for this task."</a:t>
            </a:r>
          </a:p>
          <a:p>
            <a:endParaRPr lang="en-US" dirty="0"/>
          </a:p>
          <a:p>
            <a:r>
              <a:rPr lang="en-US" dirty="0"/>
              <a:t>[Supporting sources, not to be read aloud: Thesis, Chapter 2, task definition.]</a:t>
            </a:r>
          </a:p>
        </p:txBody>
      </p:sp>
      <p:sp>
        <p:nvSpPr>
          <p:cNvPr id="4" name="Segnaposto numero diapositiva 3"/>
          <p:cNvSpPr>
            <a:spLocks noGrp="1"/>
          </p:cNvSpPr>
          <p:nvPr>
            <p:ph type="sldNum" sz="quarter" idx="5"/>
          </p:nvPr>
        </p:nvSpPr>
        <p:spPr/>
        <p:txBody>
          <a:bodyPr/>
          <a:lstStyle/>
          <a:p>
            <a:fld id="{98FF6D0F-8D8B-42DD-BAAB-92498700177C}" type="slidenum">
              <a:rPr lang="it-IT" smtClean="0"/>
              <a:t>7</a:t>
            </a:fld>
            <a:endParaRPr lang="it-IT"/>
          </a:p>
        </p:txBody>
      </p:sp>
    </p:spTree>
    <p:extLst>
      <p:ext uri="{BB962C8B-B14F-4D97-AF65-F5344CB8AC3E}">
        <p14:creationId xmlns:p14="http://schemas.microsoft.com/office/powerpoint/2010/main" val="489707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txBody>
          <a:bodyPr/>
          <a:lstStyle/>
          <a:p>
            <a:endParaRPr lang="it-IT"/>
          </a:p>
        </p:txBody>
      </p:sp>
      <p:sp>
        <p:nvSpPr>
          <p:cNvPr id="3" name="Segnaposto not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main dataset is the version of S5Mars provided by Mars-Bench: real Curiosity images with nine classes, including Rover. I kept the training, validation and test splits shown here. To study generalization, I also used MarsSeg, which has seven classes and two domains: MSL, meaning Curiosity, and MER, meaning Spirit and Opportunity. Here, the aim is to understand what happens when the mission changes.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9 (Model Architectures).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then compared several segmentation architectures."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"With these datasets defined, I will introduce the models I evaluated."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step was to compare models with different sizes and architectures."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datasets; references [4] and [5].]</a:t>
            </a:r>
          </a:p>
        </p:txBody>
      </p:sp>
      <p:sp>
        <p:nvSpPr>
          <p:cNvPr id="4" name="Segnaposto numero diapositiva 3"/>
          <p:cNvSpPr>
            <a:spLocks noGrp="1"/>
          </p:cNvSpPr>
          <p:nvPr>
            <p:ph type="sldNum" sz="quarter" idx="5"/>
          </p:nvPr>
        </p:nvSpPr>
        <p:spPr/>
        <p:txBody>
          <a:bodyPr/>
          <a:lstStyle/>
          <a:p>
            <a:fld id="{98FF6D0F-8D8B-42DD-BAAB-92498700177C}" type="slidenum">
              <a:rPr lang="it-IT" smtClean="0"/>
              <a:t>8</a:t>
            </a:fld>
            <a:endParaRPr lang="it-IT"/>
          </a:p>
        </p:txBody>
      </p:sp>
    </p:spTree>
    <p:extLst>
      <p:ext uri="{BB962C8B-B14F-4D97-AF65-F5344CB8AC3E}">
        <p14:creationId xmlns:p14="http://schemas.microsoft.com/office/powerpoint/2010/main" val="2626503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5A177D-E449-8957-F5EF-D1DFE5F6490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6246E1C-C04E-3900-A01C-0B44C3A109D2}"/>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1607AB5-E319-4593-B1AF-164B85489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compared seven configurations, ranging from U-Net and </a:t>
            </a:r>
            <a:r>
              <a:rPr lang="en-US" dirty="0" err="1"/>
              <a:t>DeepLab</a:t>
            </a:r>
            <a:r>
              <a:rPr lang="en-US" dirty="0"/>
              <a:t> CNNs to the lightweight </a:t>
            </a:r>
            <a:r>
              <a:rPr lang="en-US" dirty="0" err="1"/>
              <a:t>LCNet</a:t>
            </a:r>
            <a:r>
              <a:rPr lang="en-US" dirty="0"/>
              <a:t> variants and the SegFormer-B0 transformer. Changing the encoder lets us assess the relationship between model capacity and parameter count. </a:t>
            </a:r>
            <a:r>
              <a:rPr lang="en-US" dirty="0" err="1"/>
              <a:t>SegFormer</a:t>
            </a:r>
            <a:r>
              <a:rPr lang="en-US" dirty="0"/>
              <a:t> has about 3.7 million parameters, while </a:t>
            </a:r>
            <a:r>
              <a:rPr lang="en-US" dirty="0" err="1"/>
              <a:t>LCNet</a:t>
            </a:r>
            <a:r>
              <a:rPr lang="en-US" dirty="0"/>
              <a:t> has fewer than one million. Initialization also differs: </a:t>
            </a:r>
            <a:r>
              <a:rPr lang="en-US" dirty="0" err="1"/>
              <a:t>LCNet</a:t>
            </a:r>
            <a:r>
              <a:rPr lang="en-US" dirty="0"/>
              <a:t> starts from scratch, while the other models use pretrained weights.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10 (Training procedure).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"Next, I will describe the training procedure."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"These architectures were evaluated using the training setup shown next."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will now explain how I trained the models and tested reduced precision."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architectures; references [6]–[10].]</a:t>
            </a:r>
          </a:p>
        </p:txBody>
      </p:sp>
      <p:sp>
        <p:nvSpPr>
          <p:cNvPr id="4" name="Segnaposto numero diapositiva 3">
            <a:extLst>
              <a:ext uri="{FF2B5EF4-FFF2-40B4-BE49-F238E27FC236}">
                <a16:creationId xmlns:a16="http://schemas.microsoft.com/office/drawing/2014/main" id="{0E8B3DB5-B3A0-8676-EAC6-941E982A3A0E}"/>
              </a:ext>
            </a:extLst>
          </p:cNvPr>
          <p:cNvSpPr>
            <a:spLocks noGrp="1"/>
          </p:cNvSpPr>
          <p:nvPr>
            <p:ph type="sldNum" sz="quarter" idx="5"/>
          </p:nvPr>
        </p:nvSpPr>
        <p:spPr/>
        <p:txBody>
          <a:bodyPr/>
          <a:lstStyle/>
          <a:p>
            <a:fld id="{98FF6D0F-8D8B-42DD-BAAB-92498700177C}" type="slidenum">
              <a:rPr lang="it-IT" smtClean="0"/>
              <a:t>9</a:t>
            </a:fld>
            <a:endParaRPr lang="it-IT"/>
          </a:p>
        </p:txBody>
      </p:sp>
    </p:spTree>
    <p:extLst>
      <p:ext uri="{BB962C8B-B14F-4D97-AF65-F5344CB8AC3E}">
        <p14:creationId xmlns:p14="http://schemas.microsoft.com/office/powerpoint/2010/main" val="248116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4CDD4-00F9-26CF-C7F0-93CC3C28FC8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85384C7-A7BF-AD93-2819-4C57BB1B8409}"/>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1720E47D-6297-B0AB-7E79-542D06F18B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30–40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Training uses images of 512 by 512 pixels, a batch size of 32 and thirty epochs, extended to sixty for </a:t>
            </a:r>
            <a:r>
              <a:rPr lang="en-US" dirty="0" err="1"/>
              <a:t>LCNet</a:t>
            </a:r>
            <a:r>
              <a:rPr lang="en-US" dirty="0"/>
              <a:t>. The loss combines cross-entropy and Generalized Dice with equal weights, bringing together pixel classification and region overlap. I use </a:t>
            </a:r>
            <a:r>
              <a:rPr lang="en-US" dirty="0" err="1"/>
              <a:t>AdamW</a:t>
            </a:r>
            <a:r>
              <a:rPr lang="en-US" dirty="0"/>
              <a:t> with warm-up and learning-rate decay. After training, I compare FP32, FP16, post-training quantization and quantization-aware training, which adapts the model to the effects of reduced precision.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11 (Synthetic Dataset Generation).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will now turn to synthetic dataset generation."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second research branch required a dataset for wheel inspection."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"With the segmentation setup described, I will introduce the synthetic data used for damage inspection."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training and quantization; reference [11].]</a:t>
            </a:r>
          </a:p>
        </p:txBody>
      </p:sp>
      <p:sp>
        <p:nvSpPr>
          <p:cNvPr id="4" name="Segnaposto numero diapositiva 3">
            <a:extLst>
              <a:ext uri="{FF2B5EF4-FFF2-40B4-BE49-F238E27FC236}">
                <a16:creationId xmlns:a16="http://schemas.microsoft.com/office/drawing/2014/main" id="{72D62289-B215-823E-FEA8-14EAE30D2157}"/>
              </a:ext>
            </a:extLst>
          </p:cNvPr>
          <p:cNvSpPr>
            <a:spLocks noGrp="1"/>
          </p:cNvSpPr>
          <p:nvPr>
            <p:ph type="sldNum" sz="quarter" idx="5"/>
          </p:nvPr>
        </p:nvSpPr>
        <p:spPr/>
        <p:txBody>
          <a:bodyPr/>
          <a:lstStyle/>
          <a:p>
            <a:fld id="{98FF6D0F-8D8B-42DD-BAAB-92498700177C}" type="slidenum">
              <a:rPr lang="it-IT" smtClean="0"/>
              <a:t>10</a:t>
            </a:fld>
            <a:endParaRPr lang="it-IT"/>
          </a:p>
        </p:txBody>
      </p:sp>
    </p:spTree>
    <p:extLst>
      <p:ext uri="{BB962C8B-B14F-4D97-AF65-F5344CB8AC3E}">
        <p14:creationId xmlns:p14="http://schemas.microsoft.com/office/powerpoint/2010/main" val="41081118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5–15 seconds.]</a:t>
            </a:r>
          </a:p>
          <a:p>
            <a:endParaRPr lang="en-US" dirty="0"/>
          </a:p>
          <a:p>
            <a:r>
              <a:rPr lang="en-US" dirty="0"/>
              <a:t>I will now move on to the synthetic dataset, which makes it possible to study the second branch.</a:t>
            </a:r>
          </a:p>
          <a:p>
            <a:endParaRPr lang="en-US" dirty="0"/>
          </a:p>
          <a:p>
            <a:r>
              <a:rPr lang="en-US" dirty="0"/>
              <a:t>[LINKING OPTIONS: transition to slide 12 (Design Requirements). Choose one.]</a:t>
            </a:r>
          </a:p>
          <a:p>
            <a:endParaRPr lang="en-US" dirty="0"/>
          </a:p>
          <a:p>
            <a:r>
              <a:rPr lang="en-US" dirty="0"/>
              <a:t>Option 1: "First, I will explain the dataset requirements."</a:t>
            </a:r>
          </a:p>
          <a:p>
            <a:r>
              <a:rPr lang="en-US" dirty="0"/>
              <a:t>Option 2: "I began by defining the damage type and the data needed for training."</a:t>
            </a:r>
          </a:p>
          <a:p>
            <a:r>
              <a:rPr lang="en-US" dirty="0"/>
              <a:t>Option 3: "The dataset design follows the requirements of normal-only wheel inspection."</a:t>
            </a:r>
          </a:p>
          <a:p>
            <a:endParaRPr lang="en-US" dirty="0"/>
          </a:p>
          <a:p>
            <a:r>
              <a:rPr lang="en-US" dirty="0"/>
              <a:t>[Supporting sources, not to be read aloud: Transition slide.]</a:t>
            </a:r>
          </a:p>
        </p:txBody>
      </p:sp>
      <p:sp>
        <p:nvSpPr>
          <p:cNvPr id="4" name="Segnaposto numero diapositiva 3"/>
          <p:cNvSpPr>
            <a:spLocks noGrp="1"/>
          </p:cNvSpPr>
          <p:nvPr>
            <p:ph type="sldNum" sz="quarter" idx="5"/>
          </p:nvPr>
        </p:nvSpPr>
        <p:spPr/>
        <p:txBody>
          <a:bodyPr/>
          <a:lstStyle/>
          <a:p>
            <a:fld id="{98FF6D0F-8D8B-42DD-BAAB-92498700177C}" type="slidenum">
              <a:rPr lang="it-IT" smtClean="0"/>
              <a:t>11</a:t>
            </a:fld>
            <a:endParaRPr lang="it-IT"/>
          </a:p>
        </p:txBody>
      </p:sp>
    </p:spTree>
    <p:extLst>
      <p:ext uri="{BB962C8B-B14F-4D97-AF65-F5344CB8AC3E}">
        <p14:creationId xmlns:p14="http://schemas.microsoft.com/office/powerpoint/2010/main" val="3230700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7BE01-9E3F-8CD5-321D-7EEF6F13DBEC}"/>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CAD429A-573A-2D25-D24F-5A0ECA53356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FDD6CFBD-F38A-E0A7-2FE5-337CB99ACB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Wheel inspection required data with specific perforation annotations. Among the resources I examined, I did not find a ready-to-use benchmark with these annotations. I therefore built a pilot study on Curiosity, limited to this damage type. Training contains only wheels without perforations. Dust and ordinary surface wear remain part of the normal appearance that the model must learn.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13 (Blender Scene).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implemented these requirements in a Blender scene."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next step was to build a controllable scene around the Curiosity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will now show the scene used to generate the wheel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1 and Chapter 3, requirements.]</a:t>
            </a:r>
          </a:p>
        </p:txBody>
      </p:sp>
      <p:sp>
        <p:nvSpPr>
          <p:cNvPr id="4" name="Segnaposto numero diapositiva 3">
            <a:extLst>
              <a:ext uri="{FF2B5EF4-FFF2-40B4-BE49-F238E27FC236}">
                <a16:creationId xmlns:a16="http://schemas.microsoft.com/office/drawing/2014/main" id="{0CAE6047-DDE8-73BD-A22F-1B745CE4CC28}"/>
              </a:ext>
            </a:extLst>
          </p:cNvPr>
          <p:cNvSpPr>
            <a:spLocks noGrp="1"/>
          </p:cNvSpPr>
          <p:nvPr>
            <p:ph type="sldNum" sz="quarter" idx="5"/>
          </p:nvPr>
        </p:nvSpPr>
        <p:spPr/>
        <p:txBody>
          <a:bodyPr/>
          <a:lstStyle/>
          <a:p>
            <a:fld id="{98FF6D0F-8D8B-42DD-BAAB-92498700177C}" type="slidenum">
              <a:rPr lang="it-IT" smtClean="0"/>
              <a:t>12</a:t>
            </a:fld>
            <a:endParaRPr lang="it-IT"/>
          </a:p>
        </p:txBody>
      </p:sp>
    </p:spTree>
    <p:extLst>
      <p:ext uri="{BB962C8B-B14F-4D97-AF65-F5344CB8AC3E}">
        <p14:creationId xmlns:p14="http://schemas.microsoft.com/office/powerpoint/2010/main" val="1347614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F9091-C758-1612-5521-FCB9CDA0092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3D2B614-0D8C-D648-955B-D8240BD26C3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BF6F856-FD58-4E79-F5B3-0A32C39A4A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built the scene in Blender using NASA's Curiosity model, separating the six wheels so that I could control them individually. The terrain comes from HiRISE data of Gale Crater. For close-up views, I added procedural details such as small surface variations and rocks. Keeping the rest of the rover also preserves shadows and occlusions that are consistent with the scene.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14 (Synthetic Damage).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then introduced controlled synthetic damage."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"With the scene in place, I could generate normal and damaged observations."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step was to create perforations and their reference masks."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3, scene preparation; references [12] and [13].]</a:t>
            </a:r>
          </a:p>
        </p:txBody>
      </p:sp>
      <p:sp>
        <p:nvSpPr>
          <p:cNvPr id="4" name="Segnaposto numero diapositiva 3">
            <a:extLst>
              <a:ext uri="{FF2B5EF4-FFF2-40B4-BE49-F238E27FC236}">
                <a16:creationId xmlns:a16="http://schemas.microsoft.com/office/drawing/2014/main" id="{3449AC4E-DA16-2053-181B-C50E7A03DD78}"/>
              </a:ext>
            </a:extLst>
          </p:cNvPr>
          <p:cNvSpPr>
            <a:spLocks noGrp="1"/>
          </p:cNvSpPr>
          <p:nvPr>
            <p:ph type="sldNum" sz="quarter" idx="5"/>
          </p:nvPr>
        </p:nvSpPr>
        <p:spPr/>
        <p:txBody>
          <a:bodyPr/>
          <a:lstStyle/>
          <a:p>
            <a:fld id="{98FF6D0F-8D8B-42DD-BAAB-92498700177C}" type="slidenum">
              <a:rPr lang="it-IT" smtClean="0"/>
              <a:t>13</a:t>
            </a:fld>
            <a:endParaRPr lang="it-IT"/>
          </a:p>
        </p:txBody>
      </p:sp>
    </p:spTree>
    <p:extLst>
      <p:ext uri="{BB962C8B-B14F-4D97-AF65-F5344CB8AC3E}">
        <p14:creationId xmlns:p14="http://schemas.microsoft.com/office/powerpoint/2010/main" val="31305384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DA3ED-C9AA-E3C1-E69A-67C700C9D5F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F110E46-A6F5-3E70-CD80-4912D1E9F4A1}"/>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709A8E31-2922-E596-1B27-52C5C68F09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each damaged observation, I generate a normal counterpart with the same camera, lighting and surface parameters. The intended difference is the hole. The damage mask is generated automatically. Holes fall into three size ranges: small, medium and large. Both images in a pair always stay in the same split, preventing nearly identical scenes from appearing in both training and test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15 (Domain Randomization).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also varied the normal appearance of the scene."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"To diversify these image pairs, I varied lighting, wear and viewpoint."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examples show how domain randomization changes the appearance of the observations."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3, synthetic damage and data splits.]</a:t>
            </a:r>
          </a:p>
        </p:txBody>
      </p:sp>
      <p:sp>
        <p:nvSpPr>
          <p:cNvPr id="4" name="Segnaposto numero diapositiva 3">
            <a:extLst>
              <a:ext uri="{FF2B5EF4-FFF2-40B4-BE49-F238E27FC236}">
                <a16:creationId xmlns:a16="http://schemas.microsoft.com/office/drawing/2014/main" id="{23ECD19A-F3F3-D498-35E9-9E0FD758089A}"/>
              </a:ext>
            </a:extLst>
          </p:cNvPr>
          <p:cNvSpPr>
            <a:spLocks noGrp="1"/>
          </p:cNvSpPr>
          <p:nvPr>
            <p:ph type="sldNum" sz="quarter" idx="5"/>
          </p:nvPr>
        </p:nvSpPr>
        <p:spPr/>
        <p:txBody>
          <a:bodyPr/>
          <a:lstStyle/>
          <a:p>
            <a:fld id="{98FF6D0F-8D8B-42DD-BAAB-92498700177C}" type="slidenum">
              <a:rPr lang="it-IT" smtClean="0"/>
              <a:t>14</a:t>
            </a:fld>
            <a:endParaRPr lang="it-IT"/>
          </a:p>
        </p:txBody>
      </p:sp>
    </p:spTree>
    <p:extLst>
      <p:ext uri="{BB962C8B-B14F-4D97-AF65-F5344CB8AC3E}">
        <p14:creationId xmlns:p14="http://schemas.microsoft.com/office/powerpoint/2010/main" val="510722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18EE8-8C26-AD1A-11F7-44CBDC26C49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3A629C1-A28D-9DE1-6123-23272702DAC1}"/>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0C0A0750-00D9-C5BD-BEDF-80BF2B0D4C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diversify the appearance of the observations, I vary lighting, dust, wear and viewpoint. The percentages describe the chosen dataset composition: dusty conditions are more frequent, and there are four wheel views. Varying wear is particularly important because the detector must distinguish a perforation from a simple surface change.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"These choices produced the following dataset."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"I will now summarize the image counts and data splits."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"This variation was organized into the training, validation and test sets shown next."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3, domain randomization; reference [14].]</a:t>
            </a:r>
          </a:p>
        </p:txBody>
      </p:sp>
      <p:sp>
        <p:nvSpPr>
          <p:cNvPr id="4" name="Segnaposto numero diapositiva 3">
            <a:extLst>
              <a:ext uri="{FF2B5EF4-FFF2-40B4-BE49-F238E27FC236}">
                <a16:creationId xmlns:a16="http://schemas.microsoft.com/office/drawing/2014/main" id="{F748388F-D16A-B13D-0968-6E460E05D5FC}"/>
              </a:ext>
            </a:extLst>
          </p:cNvPr>
          <p:cNvSpPr>
            <a:spLocks noGrp="1"/>
          </p:cNvSpPr>
          <p:nvPr>
            <p:ph type="sldNum" sz="quarter" idx="5"/>
          </p:nvPr>
        </p:nvSpPr>
        <p:spPr/>
        <p:txBody>
          <a:bodyPr/>
          <a:lstStyle/>
          <a:p>
            <a:fld id="{98FF6D0F-8D8B-42DD-BAAB-92498700177C}" type="slidenum">
              <a:rPr lang="it-IT" smtClean="0"/>
              <a:t>15</a:t>
            </a:fld>
            <a:endParaRPr lang="it-IT"/>
          </a:p>
        </p:txBody>
      </p:sp>
    </p:spTree>
    <p:extLst>
      <p:ext uri="{BB962C8B-B14F-4D97-AF65-F5344CB8AC3E}">
        <p14:creationId xmlns:p14="http://schemas.microsoft.com/office/powerpoint/2010/main" val="3802066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09CEA-4B8A-2ED9-DFF4-BE2AA8FBA068}"/>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BC62F6C-7740-727E-20E4-5593348E01B7}"/>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655DDF8-6B4E-BCB5-0F37-D223306CCD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20–30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result is a dataset of ten thousand images, at 1200 by 900 pixels, covering all six wheels. Seven thousand normal images are reserved for training. Validation contains one thousand images, including 250 damaged images. The test set contains two thousand images, balanced between normal and damaged observations. The dataset is also available on Kaggle.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17 (Synthetic Damage Inspection).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will now move on to wheel inspection."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"With the dataset available, I could evaluate anomaly detection methods."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part explains how these synthetic images were used to detect damage."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3, final dataset composition.]</a:t>
            </a:r>
          </a:p>
        </p:txBody>
      </p:sp>
      <p:sp>
        <p:nvSpPr>
          <p:cNvPr id="4" name="Segnaposto numero diapositiva 3">
            <a:extLst>
              <a:ext uri="{FF2B5EF4-FFF2-40B4-BE49-F238E27FC236}">
                <a16:creationId xmlns:a16="http://schemas.microsoft.com/office/drawing/2014/main" id="{01AE88DD-982D-E08B-03EC-2A050D660996}"/>
              </a:ext>
            </a:extLst>
          </p:cNvPr>
          <p:cNvSpPr>
            <a:spLocks noGrp="1"/>
          </p:cNvSpPr>
          <p:nvPr>
            <p:ph type="sldNum" sz="quarter" idx="5"/>
          </p:nvPr>
        </p:nvSpPr>
        <p:spPr/>
        <p:txBody>
          <a:bodyPr/>
          <a:lstStyle/>
          <a:p>
            <a:fld id="{98FF6D0F-8D8B-42DD-BAAB-92498700177C}" type="slidenum">
              <a:rPr lang="it-IT" smtClean="0"/>
              <a:t>16</a:t>
            </a:fld>
            <a:endParaRPr lang="it-IT"/>
          </a:p>
        </p:txBody>
      </p:sp>
    </p:spTree>
    <p:extLst>
      <p:ext uri="{BB962C8B-B14F-4D97-AF65-F5344CB8AC3E}">
        <p14:creationId xmlns:p14="http://schemas.microsoft.com/office/powerpoint/2010/main" val="3855365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5–15 seconds.]</a:t>
            </a:r>
          </a:p>
          <a:p>
            <a:endParaRPr lang="en-US" dirty="0"/>
          </a:p>
          <a:p>
            <a:r>
              <a:rPr lang="en-US" dirty="0"/>
              <a:t>I will now show how I used these data for automatic wheel inspection.</a:t>
            </a:r>
          </a:p>
          <a:p>
            <a:endParaRPr lang="en-US" dirty="0"/>
          </a:p>
          <a:p>
            <a:r>
              <a:rPr lang="en-US" dirty="0"/>
              <a:t>[LINKING OPTIONS: transition to slide 18 (Anomaly Detection). Choose one.]</a:t>
            </a:r>
          </a:p>
          <a:p>
            <a:endParaRPr lang="en-US" dirty="0"/>
          </a:p>
          <a:p>
            <a:r>
              <a:rPr lang="en-US" dirty="0"/>
              <a:t>Option 1: "The task produces both a score and a map."</a:t>
            </a:r>
          </a:p>
          <a:p>
            <a:r>
              <a:rPr lang="en-US" dirty="0"/>
              <a:t>Option 2: "First, I will distinguish image-level detection from spatial localization."</a:t>
            </a:r>
          </a:p>
          <a:p>
            <a:r>
              <a:rPr lang="en-US" dirty="0"/>
              <a:t>Option 3: "I will begin by explaining what the anomaly detector learns and what it predicts."</a:t>
            </a:r>
          </a:p>
          <a:p>
            <a:endParaRPr lang="en-US" dirty="0"/>
          </a:p>
          <a:p>
            <a:r>
              <a:rPr lang="en-US" dirty="0"/>
              <a:t>[Supporting sources, not to be read aloud: Transition slide.]</a:t>
            </a:r>
          </a:p>
        </p:txBody>
      </p:sp>
      <p:sp>
        <p:nvSpPr>
          <p:cNvPr id="4" name="Segnaposto numero diapositiva 3"/>
          <p:cNvSpPr>
            <a:spLocks noGrp="1"/>
          </p:cNvSpPr>
          <p:nvPr>
            <p:ph type="sldNum" sz="quarter" idx="5"/>
          </p:nvPr>
        </p:nvSpPr>
        <p:spPr/>
        <p:txBody>
          <a:bodyPr/>
          <a:lstStyle/>
          <a:p>
            <a:fld id="{98FF6D0F-8D8B-42DD-BAAB-92498700177C}" type="slidenum">
              <a:rPr lang="it-IT" smtClean="0"/>
              <a:t>17</a:t>
            </a:fld>
            <a:endParaRPr lang="it-IT"/>
          </a:p>
        </p:txBody>
      </p:sp>
    </p:spTree>
    <p:extLst>
      <p:ext uri="{BB962C8B-B14F-4D97-AF65-F5344CB8AC3E}">
        <p14:creationId xmlns:p14="http://schemas.microsoft.com/office/powerpoint/2010/main" val="467226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92DEA-DEFC-DACF-EC21-F5ED0AFAA9A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612349B-F96A-4375-6DF8-B50177510174}"/>
              </a:ext>
            </a:extLst>
          </p:cNvPr>
          <p:cNvSpPr>
            <a:spLocks noGrp="1" noRot="1" noChangeAspect="1"/>
          </p:cNvSpPr>
          <p:nvPr>
            <p:ph type="sldImg"/>
          </p:nvPr>
        </p:nvSpPr>
        <p:spPr/>
        <p:txBody>
          <a:bodyPr/>
          <a:lstStyle/>
          <a:p>
            <a:endParaRPr lang="it-IT" dirty="0"/>
          </a:p>
        </p:txBody>
      </p:sp>
      <p:sp>
        <p:nvSpPr>
          <p:cNvPr id="3" name="Segnaposto note 2">
            <a:extLst>
              <a:ext uri="{FF2B5EF4-FFF2-40B4-BE49-F238E27FC236}">
                <a16:creationId xmlns:a16="http://schemas.microsoft.com/office/drawing/2014/main" id="{85D995D5-9994-260F-5B3C-CC1A5ABF48B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20–30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Anomaly detection starts by learning the normal appearance of the wheel, using only images without perforations during training. At inference, it produces two outputs: a score for the whole image, indicating how suspicious it is, and a spatial map, indicating where to look for possible damage. Detection and localization therefore answer different questions and need to be evaluated separately.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19 (PatchCore and EfficientAD).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will now introduce the first two methods."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"PatchCore and EfficientAD approach normal appearance in different ways."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first pair of models illustrates memory-based matching and teacher-student learning."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task and metrics; reference [15].]</a:t>
            </a:r>
          </a:p>
        </p:txBody>
      </p:sp>
      <p:sp>
        <p:nvSpPr>
          <p:cNvPr id="4" name="Segnaposto numero diapositiva 3">
            <a:extLst>
              <a:ext uri="{FF2B5EF4-FFF2-40B4-BE49-F238E27FC236}">
                <a16:creationId xmlns:a16="http://schemas.microsoft.com/office/drawing/2014/main" id="{F6DA54FC-F320-211B-ED68-5A2027B9AFE0}"/>
              </a:ext>
            </a:extLst>
          </p:cNvPr>
          <p:cNvSpPr>
            <a:spLocks noGrp="1"/>
          </p:cNvSpPr>
          <p:nvPr>
            <p:ph type="sldNum" sz="quarter" idx="5"/>
          </p:nvPr>
        </p:nvSpPr>
        <p:spPr/>
        <p:txBody>
          <a:bodyPr/>
          <a:lstStyle/>
          <a:p>
            <a:fld id="{98FF6D0F-8D8B-42DD-BAAB-92498700177C}" type="slidenum">
              <a:rPr lang="it-IT" smtClean="0"/>
              <a:t>18</a:t>
            </a:fld>
            <a:endParaRPr lang="it-IT" dirty="0"/>
          </a:p>
        </p:txBody>
      </p:sp>
    </p:spTree>
    <p:extLst>
      <p:ext uri="{BB962C8B-B14F-4D97-AF65-F5344CB8AC3E}">
        <p14:creationId xmlns:p14="http://schemas.microsoft.com/office/powerpoint/2010/main" val="38895058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EA165-DEFD-9ECA-8F53-3CBC777A649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C68403F-B0CE-9564-50F7-86A39EE3C8CB}"/>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F62B687-DF61-100D-FDA8-19F91898E40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PatchCore stores local descriptors from normal images and measures how far the descriptors of a new image are from these references. I considered a Small version with ResNet18 and a Large version with WideResNet50. EfficientAD-S instead uses a student network that learns to reproduce the features of a fixed teacher. Their disagreement signals local anomalies, while an autoencoder branch adds global information. The comparison includes both quality and computational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20 (</a:t>
            </a:r>
            <a:r>
              <a:rPr lang="en-US" dirty="0" err="1"/>
              <a:t>SuperSimpleNet</a:t>
            </a:r>
            <a:r>
              <a:rPr lang="en-US" dirty="0"/>
              <a:t> and TinyGLASS).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other two methods use artificial training anomalies."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a:t>
            </a:r>
            <a:r>
              <a:rPr lang="en-US" dirty="0" err="1"/>
              <a:t>SuperSimpleNet</a:t>
            </a:r>
            <a:r>
              <a:rPr lang="en-US" dirty="0"/>
              <a:t> and TinyGLASS introduce synthetic perturbations during training."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will now show the two approaches that learn from artificially altered normal observations."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PatchCore and EfficientAD; references [16] and [17].]</a:t>
            </a:r>
          </a:p>
        </p:txBody>
      </p:sp>
      <p:sp>
        <p:nvSpPr>
          <p:cNvPr id="4" name="Segnaposto numero diapositiva 3">
            <a:extLst>
              <a:ext uri="{FF2B5EF4-FFF2-40B4-BE49-F238E27FC236}">
                <a16:creationId xmlns:a16="http://schemas.microsoft.com/office/drawing/2014/main" id="{F42F8E76-1DBA-5B55-11B2-523AC1E7FE13}"/>
              </a:ext>
            </a:extLst>
          </p:cNvPr>
          <p:cNvSpPr>
            <a:spLocks noGrp="1"/>
          </p:cNvSpPr>
          <p:nvPr>
            <p:ph type="sldNum" sz="quarter" idx="5"/>
          </p:nvPr>
        </p:nvSpPr>
        <p:spPr/>
        <p:txBody>
          <a:bodyPr/>
          <a:lstStyle/>
          <a:p>
            <a:fld id="{98FF6D0F-8D8B-42DD-BAAB-92498700177C}" type="slidenum">
              <a:rPr lang="it-IT" smtClean="0"/>
              <a:t>19</a:t>
            </a:fld>
            <a:endParaRPr lang="it-IT"/>
          </a:p>
        </p:txBody>
      </p:sp>
    </p:spTree>
    <p:extLst>
      <p:ext uri="{BB962C8B-B14F-4D97-AF65-F5344CB8AC3E}">
        <p14:creationId xmlns:p14="http://schemas.microsoft.com/office/powerpoint/2010/main" val="1633753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C1CCE-A2E6-4E08-40B2-AD08E19BD8A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8E167D3-2C15-B8A5-6661-AE1EB7B9C5A6}"/>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177634C2-501B-190E-3CF3-5FE2B5DE8FA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SuperSimpleNet</a:t>
            </a:r>
            <a:r>
              <a:rPr lang="en-US" dirty="0"/>
              <a:t> creates localized perturbations in normal features and learns to distinguish them, with outputs for detection and localization. TinyGLASS uses a compact backbone and combines image alterations with feature perturbations. In our adaptation, some alterations imitate the appearance of holes. These artificial examples are created during training from normal images. The damaged images rendered in Blender remain reserved for evaluation.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21 (Preprocessing).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"All four methods also require suitable preprocessing."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"Before comparing the models, I will explain how the wheel images were prepared."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slide shows the crop and viewpoint used in the main comparison."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SSN and TinyGLASS; references [18]–[20].]</a:t>
            </a:r>
          </a:p>
        </p:txBody>
      </p:sp>
      <p:sp>
        <p:nvSpPr>
          <p:cNvPr id="4" name="Segnaposto numero diapositiva 3">
            <a:extLst>
              <a:ext uri="{FF2B5EF4-FFF2-40B4-BE49-F238E27FC236}">
                <a16:creationId xmlns:a16="http://schemas.microsoft.com/office/drawing/2014/main" id="{D3AB0937-1082-6B13-447F-20F4C59E48F2}"/>
              </a:ext>
            </a:extLst>
          </p:cNvPr>
          <p:cNvSpPr>
            <a:spLocks noGrp="1"/>
          </p:cNvSpPr>
          <p:nvPr>
            <p:ph type="sldNum" sz="quarter" idx="5"/>
          </p:nvPr>
        </p:nvSpPr>
        <p:spPr/>
        <p:txBody>
          <a:bodyPr/>
          <a:lstStyle/>
          <a:p>
            <a:fld id="{98FF6D0F-8D8B-42DD-BAAB-92498700177C}" type="slidenum">
              <a:rPr lang="it-IT" smtClean="0"/>
              <a:t>20</a:t>
            </a:fld>
            <a:endParaRPr lang="it-IT"/>
          </a:p>
        </p:txBody>
      </p:sp>
    </p:spTree>
    <p:extLst>
      <p:ext uri="{BB962C8B-B14F-4D97-AF65-F5344CB8AC3E}">
        <p14:creationId xmlns:p14="http://schemas.microsoft.com/office/powerpoint/2010/main" val="2744900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2E98F-23C0-2A57-6E4E-F86B7BBF55A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08CBC26-F9F5-F491-0ADB-92FAE30EC7AF}"/>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D82F584-9BC8-4ADA-5315-FD8F7DD17FA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preliminary experiments led us to focus the main comparison on pose A and a fixed crop of 720 by 720 pixels. This reduces the background and preserves more wheel detail before resizing to each model's required input. The crop does not use the damage mask. We retain variations in lighting, wear and wheel identity, while controlling the viewpoint.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22 (Results).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"This completes the experimental setup."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"With the datasets and methods defined, I can now present the results."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will now move from the experimental design to the measured outcomes."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preprocessing; Chapter 6, experimental setup.]</a:t>
            </a:r>
          </a:p>
        </p:txBody>
      </p:sp>
      <p:sp>
        <p:nvSpPr>
          <p:cNvPr id="4" name="Segnaposto numero diapositiva 3">
            <a:extLst>
              <a:ext uri="{FF2B5EF4-FFF2-40B4-BE49-F238E27FC236}">
                <a16:creationId xmlns:a16="http://schemas.microsoft.com/office/drawing/2014/main" id="{C4A56992-C101-C68D-5576-1664B875FB32}"/>
              </a:ext>
            </a:extLst>
          </p:cNvPr>
          <p:cNvSpPr>
            <a:spLocks noGrp="1"/>
          </p:cNvSpPr>
          <p:nvPr>
            <p:ph type="sldNum" sz="quarter" idx="5"/>
          </p:nvPr>
        </p:nvSpPr>
        <p:spPr/>
        <p:txBody>
          <a:bodyPr/>
          <a:lstStyle/>
          <a:p>
            <a:fld id="{98FF6D0F-8D8B-42DD-BAAB-92498700177C}" type="slidenum">
              <a:rPr lang="it-IT" smtClean="0"/>
              <a:t>21</a:t>
            </a:fld>
            <a:endParaRPr lang="it-IT"/>
          </a:p>
        </p:txBody>
      </p:sp>
    </p:spTree>
    <p:extLst>
      <p:ext uri="{BB962C8B-B14F-4D97-AF65-F5344CB8AC3E}">
        <p14:creationId xmlns:p14="http://schemas.microsoft.com/office/powerpoint/2010/main" val="3421161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5–15 seconds.]</a:t>
            </a:r>
          </a:p>
          <a:p>
            <a:endParaRPr lang="en-US" dirty="0"/>
          </a:p>
          <a:p>
            <a:r>
              <a:rPr lang="en-US" dirty="0"/>
              <a:t>I will now present the results, starting with segmentation and then moving on to wheel inspection.</a:t>
            </a:r>
          </a:p>
          <a:p>
            <a:endParaRPr lang="en-US" dirty="0"/>
          </a:p>
          <a:p>
            <a:r>
              <a:rPr lang="en-US" dirty="0"/>
              <a:t>[LINKING OPTIONS: transition to slide 23 (Semantic Segmentation: Quality). Choose one.]</a:t>
            </a:r>
          </a:p>
          <a:p>
            <a:endParaRPr lang="en-US" dirty="0"/>
          </a:p>
          <a:p>
            <a:r>
              <a:rPr lang="en-US" dirty="0"/>
              <a:t>Option 1: "I will start with segmentation quality."</a:t>
            </a:r>
          </a:p>
          <a:p>
            <a:r>
              <a:rPr lang="en-US" dirty="0"/>
              <a:t>Option 2: "The first results show how accurately the models segment the scene."</a:t>
            </a:r>
          </a:p>
          <a:p>
            <a:r>
              <a:rPr lang="en-US" dirty="0"/>
              <a:t>Option 3: "Let's begin with the segmentation comparison on the S5Mars test set."</a:t>
            </a:r>
          </a:p>
          <a:p>
            <a:endParaRPr lang="en-US" dirty="0"/>
          </a:p>
          <a:p>
            <a:r>
              <a:rPr lang="en-US" dirty="0"/>
              <a:t>[Supporting sources, not to be read aloud: Transition slide.]</a:t>
            </a:r>
          </a:p>
        </p:txBody>
      </p:sp>
      <p:sp>
        <p:nvSpPr>
          <p:cNvPr id="4" name="Segnaposto numero diapositiva 3"/>
          <p:cNvSpPr>
            <a:spLocks noGrp="1"/>
          </p:cNvSpPr>
          <p:nvPr>
            <p:ph type="sldNum" sz="quarter" idx="5"/>
          </p:nvPr>
        </p:nvSpPr>
        <p:spPr/>
        <p:txBody>
          <a:bodyPr/>
          <a:lstStyle/>
          <a:p>
            <a:fld id="{98FF6D0F-8D8B-42DD-BAAB-92498700177C}" type="slidenum">
              <a:rPr lang="it-IT" smtClean="0"/>
              <a:t>22</a:t>
            </a:fld>
            <a:endParaRPr lang="it-IT"/>
          </a:p>
        </p:txBody>
      </p:sp>
    </p:spTree>
    <p:extLst>
      <p:ext uri="{BB962C8B-B14F-4D97-AF65-F5344CB8AC3E}">
        <p14:creationId xmlns:p14="http://schemas.microsoft.com/office/powerpoint/2010/main" val="14212430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55FCB-D526-92D1-0C3A-3FBD2B0C9FC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3AA0D97-01FB-63D3-7393-4C944F73D6C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C1DF883-31DA-5050-AA98-C52747DE86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FP32, SegFormer-B0 achieves the highest </a:t>
            </a:r>
            <a:r>
              <a:rPr lang="en-US" dirty="0" err="1"/>
              <a:t>mIoU</a:t>
            </a:r>
            <a:r>
              <a:rPr lang="en-US" dirty="0"/>
              <a:t> on the S5Mars test set, at 75.55 percent, with about 3.72 million parameters. It therefore also outperforms DeepLabV3 with ResNet34, which has many more parameters. </a:t>
            </a:r>
            <a:r>
              <a:rPr lang="en-US" dirty="0" err="1"/>
              <a:t>LCNet</a:t>
            </a:r>
            <a:r>
              <a:rPr lang="en-US" dirty="0"/>
              <a:t> is more compact, but its quality is lower. Parameter count is only one aspect of efficiency, however. We also need to measure the actual inference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24 (Cross-generalization).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also tested generalization between missions."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next comparison examines performance when the image domain changes."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"Performance on S5Mars is one reference, so I also evaluated transfer between the MarsSeg domains."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5, segmentation accuracy.]</a:t>
            </a:r>
          </a:p>
        </p:txBody>
      </p:sp>
      <p:sp>
        <p:nvSpPr>
          <p:cNvPr id="4" name="Segnaposto numero diapositiva 3">
            <a:extLst>
              <a:ext uri="{FF2B5EF4-FFF2-40B4-BE49-F238E27FC236}">
                <a16:creationId xmlns:a16="http://schemas.microsoft.com/office/drawing/2014/main" id="{4C6D28DB-15B8-A06A-1680-B1844F1D21B2}"/>
              </a:ext>
            </a:extLst>
          </p:cNvPr>
          <p:cNvSpPr>
            <a:spLocks noGrp="1"/>
          </p:cNvSpPr>
          <p:nvPr>
            <p:ph type="sldNum" sz="quarter" idx="5"/>
          </p:nvPr>
        </p:nvSpPr>
        <p:spPr/>
        <p:txBody>
          <a:bodyPr/>
          <a:lstStyle/>
          <a:p>
            <a:fld id="{98FF6D0F-8D8B-42DD-BAAB-92498700177C}" type="slidenum">
              <a:rPr lang="it-IT" smtClean="0"/>
              <a:t>23</a:t>
            </a:fld>
            <a:endParaRPr lang="it-IT"/>
          </a:p>
        </p:txBody>
      </p:sp>
    </p:spTree>
    <p:extLst>
      <p:ext uri="{BB962C8B-B14F-4D97-AF65-F5344CB8AC3E}">
        <p14:creationId xmlns:p14="http://schemas.microsoft.com/office/powerpoint/2010/main" val="16106008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DA3F6-A6FF-9A8E-49B1-CCF4B2519B3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F7F6DE8D-897F-1585-CD83-DC6920930F4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C4B49934-BD49-5BBA-8DEB-36146F9451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Here I consider separate training runs on MarsSeg, without fine-tuning on the target domain. SegFormer retains about 52 percent mIoU when moving from MSL to MER, and 48 percent in the opposite direction, while the CNNs considered show larger drops. Even SegFormer remains below the reference models trained on the test domain. Transferring models between missions therefore remains an open problem.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[LINKING OPTIONS: transition to slide 25 (Semantic Segmentation: Efficiency).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Option 1: "Next, I will examine inference cost."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Option 2: "Alongside these accuracy results, I also measured computational efficiency."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Option 3: "For deployment, we also need to consider the cost of running these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[Supporting sources, not to be read aloud: Thesis, Chapter 5, cross-mission generalization on MarsSeg.]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[Additional result and source, not to be read aloud.]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DeepLabV3 ResNet34, MarsSeg evaluations supplied by the user on 26 October 2026: MSL in-domain mIoU 71.10%; MSL to MER zero-shot test mIoU 28.11%; MER in-domain mIoU 67.77%; MER to MSL zero-shot test mIoU 9.28%. The cross-dataset records specify the target test split and source-dataset last.ckpt checkpoint, with no target fine-tuning. Full-precision metrics, class IoUs, losses and configuration flags are archived in semantic_segmentation/outputs/cross_mission/2026-10-26/deeplabv3_resnet34_results.json. The original in-domain dictionaries do not explicitly contain a split or checkpoint field.</a:t>
            </a:r>
            <a:endParaRPr lang="en-US" dirty="0"/>
          </a:p>
        </p:txBody>
      </p:sp>
      <p:sp>
        <p:nvSpPr>
          <p:cNvPr id="4" name="Segnaposto numero diapositiva 3">
            <a:extLst>
              <a:ext uri="{FF2B5EF4-FFF2-40B4-BE49-F238E27FC236}">
                <a16:creationId xmlns:a16="http://schemas.microsoft.com/office/drawing/2014/main" id="{6AFDD141-59E8-41CE-642B-090CB46FC1CF}"/>
              </a:ext>
            </a:extLst>
          </p:cNvPr>
          <p:cNvSpPr>
            <a:spLocks noGrp="1"/>
          </p:cNvSpPr>
          <p:nvPr>
            <p:ph type="sldNum" sz="quarter" idx="5"/>
          </p:nvPr>
        </p:nvSpPr>
        <p:spPr/>
        <p:txBody>
          <a:bodyPr/>
          <a:lstStyle/>
          <a:p>
            <a:fld id="{98FF6D0F-8D8B-42DD-BAAB-92498700177C}" type="slidenum">
              <a:rPr lang="it-IT" smtClean="0"/>
              <a:t>24</a:t>
            </a:fld>
            <a:endParaRPr lang="it-IT"/>
          </a:p>
        </p:txBody>
      </p:sp>
    </p:spTree>
    <p:extLst>
      <p:ext uri="{BB962C8B-B14F-4D97-AF65-F5344CB8AC3E}">
        <p14:creationId xmlns:p14="http://schemas.microsoft.com/office/powerpoint/2010/main" val="1886107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40418-822D-56A7-CF06-8142F31A6B6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018E62E-0105-BEF7-01C1-7F23B9F098E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B922D827-6CBD-9441-8112-34502DCC07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30–40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Quantization highlights two trade-offs. </a:t>
            </a:r>
            <a:r>
              <a:rPr lang="en-US" dirty="0" err="1"/>
              <a:t>SegFormer</a:t>
            </a:r>
            <a:r>
              <a:rPr lang="en-US" dirty="0"/>
              <a:t> with QAT reaches 76.93 percent </a:t>
            </a:r>
            <a:r>
              <a:rPr lang="en-US" dirty="0" err="1"/>
              <a:t>mIoU</a:t>
            </a:r>
            <a:r>
              <a:rPr lang="en-US" dirty="0"/>
              <a:t> and reduces latency from 11.88 to 5.66 milliseconds. DeepLabV3+ with MobileNetV2 and QAT instead prioritizes cost: about three milliseconds and 115 millijoules per image, with lower quality. PTQ does not always preserve accuracy. Here, INT8 means selective mixed precision. These measurements cover inference on a T4 and exclude preprocessing. They do not yet represent a complete onboard system.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26 (Damage Inspection: Detection).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will now turn to wheel damage detection."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next results concern the second research branch."</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"Having compared segmentation quality and efficiency, I will move on to wheel inspection."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5, quantization results.]</a:t>
            </a:r>
          </a:p>
        </p:txBody>
      </p:sp>
      <p:sp>
        <p:nvSpPr>
          <p:cNvPr id="4" name="Segnaposto numero diapositiva 3">
            <a:extLst>
              <a:ext uri="{FF2B5EF4-FFF2-40B4-BE49-F238E27FC236}">
                <a16:creationId xmlns:a16="http://schemas.microsoft.com/office/drawing/2014/main" id="{68FD75B6-2DE2-E8B8-A886-B09506C73BC2}"/>
              </a:ext>
            </a:extLst>
          </p:cNvPr>
          <p:cNvSpPr>
            <a:spLocks noGrp="1"/>
          </p:cNvSpPr>
          <p:nvPr>
            <p:ph type="sldNum" sz="quarter" idx="5"/>
          </p:nvPr>
        </p:nvSpPr>
        <p:spPr/>
        <p:txBody>
          <a:bodyPr/>
          <a:lstStyle/>
          <a:p>
            <a:fld id="{98FF6D0F-8D8B-42DD-BAAB-92498700177C}" type="slidenum">
              <a:rPr lang="it-IT" smtClean="0"/>
              <a:t>25</a:t>
            </a:fld>
            <a:endParaRPr lang="it-IT"/>
          </a:p>
        </p:txBody>
      </p:sp>
    </p:spTree>
    <p:extLst>
      <p:ext uri="{BB962C8B-B14F-4D97-AF65-F5344CB8AC3E}">
        <p14:creationId xmlns:p14="http://schemas.microsoft.com/office/powerpoint/2010/main" val="23663904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555EE6-6425-4F9C-8BD6-89DC240D078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08066BAF-5FE8-901B-EDC1-65FD0E7E173A}"/>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658CBD19-F153-5BC6-0165-0539E2BE5E4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detection, PatchCore-L achieves the best result, with an Image AUROC of 86.43 percent, followed by </a:t>
            </a:r>
            <a:r>
              <a:rPr lang="en-US" dirty="0" err="1"/>
              <a:t>SuperSimpleNet</a:t>
            </a:r>
            <a:r>
              <a:rPr lang="en-US" dirty="0"/>
              <a:t>. AUROC measures how well the score separates normal and damaged images across different thresholds. It does not mean that this percentage of images was classified correctly. This result concerns the synthetic test set in pose A and should be considered together with cost and localization quality.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27 (Damage Inspection: Efficiency).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"Detection quality also comes with an inference cost."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"I will now compare the latency and energy required by these inspection models."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"To assess the practical trade-off, the next table adds computational cost to the detection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6, detection on pose A.]</a:t>
            </a:r>
          </a:p>
        </p:txBody>
      </p:sp>
      <p:sp>
        <p:nvSpPr>
          <p:cNvPr id="4" name="Segnaposto numero diapositiva 3">
            <a:extLst>
              <a:ext uri="{FF2B5EF4-FFF2-40B4-BE49-F238E27FC236}">
                <a16:creationId xmlns:a16="http://schemas.microsoft.com/office/drawing/2014/main" id="{E3D277CA-0620-7070-C9E4-A70B9B0C507A}"/>
              </a:ext>
            </a:extLst>
          </p:cNvPr>
          <p:cNvSpPr>
            <a:spLocks noGrp="1"/>
          </p:cNvSpPr>
          <p:nvPr>
            <p:ph type="sldNum" sz="quarter" idx="5"/>
          </p:nvPr>
        </p:nvSpPr>
        <p:spPr/>
        <p:txBody>
          <a:bodyPr/>
          <a:lstStyle/>
          <a:p>
            <a:fld id="{98FF6D0F-8D8B-42DD-BAAB-92498700177C}" type="slidenum">
              <a:rPr lang="it-IT" smtClean="0"/>
              <a:t>26</a:t>
            </a:fld>
            <a:endParaRPr lang="it-IT"/>
          </a:p>
        </p:txBody>
      </p:sp>
    </p:spTree>
    <p:extLst>
      <p:ext uri="{BB962C8B-B14F-4D97-AF65-F5344CB8AC3E}">
        <p14:creationId xmlns:p14="http://schemas.microsoft.com/office/powerpoint/2010/main" val="4191861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6F6C9-29A3-B5EA-27DE-786D4F920C7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D20DD32-7C33-14FA-C124-A713C6A9AD4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567E87F-7839-9400-93CE-EB438377D5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inference cost, TinyGLASS-384 has the advantage: 5.13 milliseconds and 0.239 joules per image. PatchCore-L instead requires about 63 milliseconds and 4.12 joules, although it offers better detection. There is therefore no winner across all objectives. Here too, we measure inference alone on a T4, with the input already on the GPU. Resolution and configuration are part of the trade-off being evaluated.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28 (Damage Inspection: Localization).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maps show where the anomaly responses occur."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remaining question is how precisely the damage is localized."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"Next, I will compare the spatial quality of the predicted anomaly maps."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6, detector efficiency.]</a:t>
            </a:r>
          </a:p>
        </p:txBody>
      </p:sp>
      <p:sp>
        <p:nvSpPr>
          <p:cNvPr id="4" name="Segnaposto numero diapositiva 3">
            <a:extLst>
              <a:ext uri="{FF2B5EF4-FFF2-40B4-BE49-F238E27FC236}">
                <a16:creationId xmlns:a16="http://schemas.microsoft.com/office/drawing/2014/main" id="{B94AA8AB-CFDD-D9F7-4BEA-7D72BD5C24BC}"/>
              </a:ext>
            </a:extLst>
          </p:cNvPr>
          <p:cNvSpPr>
            <a:spLocks noGrp="1"/>
          </p:cNvSpPr>
          <p:nvPr>
            <p:ph type="sldNum" sz="quarter" idx="5"/>
          </p:nvPr>
        </p:nvSpPr>
        <p:spPr/>
        <p:txBody>
          <a:bodyPr/>
          <a:lstStyle/>
          <a:p>
            <a:fld id="{98FF6D0F-8D8B-42DD-BAAB-92498700177C}" type="slidenum">
              <a:rPr lang="it-IT" smtClean="0"/>
              <a:t>27</a:t>
            </a:fld>
            <a:endParaRPr lang="it-IT"/>
          </a:p>
        </p:txBody>
      </p:sp>
    </p:spTree>
    <p:extLst>
      <p:ext uri="{BB962C8B-B14F-4D97-AF65-F5344CB8AC3E}">
        <p14:creationId xmlns:p14="http://schemas.microsoft.com/office/powerpoint/2010/main" val="13541747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95282-0D08-3029-FAA2-79B3252A3070}"/>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359451BB-5D03-E65E-9FFB-6971E89C6033}"/>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53085B16-1906-00C7-F8D0-BDEA9BCEBAD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30–40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Localization shows why the image score alone is not enough. In this example, </a:t>
            </a:r>
            <a:r>
              <a:rPr lang="en-US" dirty="0" err="1"/>
              <a:t>SuperSimpleNet</a:t>
            </a:r>
            <a:r>
              <a:rPr lang="en-US" dirty="0"/>
              <a:t> produces a more diffuse response, while TinyGLASS-512 concentrates its response closer to the hole. The Pixel AP values shown below, 19.10 and 27.59 percent, are measurements over the entire test set, rather than just the image shown. A model with better detection can therefore be less precise at locating damage, especially when the defect occupies only a few pixels.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29 (Conclusions section).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can now summarize the main findings."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"These results bring together the main trade-offs of the two research branches."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"With detection and localization considered separately, I will move on to the conclusions."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6, localization and qualitative example.]</a:t>
            </a:r>
          </a:p>
        </p:txBody>
      </p:sp>
      <p:sp>
        <p:nvSpPr>
          <p:cNvPr id="4" name="Segnaposto numero diapositiva 3">
            <a:extLst>
              <a:ext uri="{FF2B5EF4-FFF2-40B4-BE49-F238E27FC236}">
                <a16:creationId xmlns:a16="http://schemas.microsoft.com/office/drawing/2014/main" id="{9C6E0B49-DCD5-33C7-2A4D-547013D15F5C}"/>
              </a:ext>
            </a:extLst>
          </p:cNvPr>
          <p:cNvSpPr>
            <a:spLocks noGrp="1"/>
          </p:cNvSpPr>
          <p:nvPr>
            <p:ph type="sldNum" sz="quarter" idx="5"/>
          </p:nvPr>
        </p:nvSpPr>
        <p:spPr/>
        <p:txBody>
          <a:bodyPr/>
          <a:lstStyle/>
          <a:p>
            <a:fld id="{98FF6D0F-8D8B-42DD-BAAB-92498700177C}" type="slidenum">
              <a:rPr lang="it-IT" smtClean="0"/>
              <a:t>28</a:t>
            </a:fld>
            <a:endParaRPr lang="it-IT"/>
          </a:p>
        </p:txBody>
      </p:sp>
    </p:spTree>
    <p:extLst>
      <p:ext uri="{BB962C8B-B14F-4D97-AF65-F5344CB8AC3E}">
        <p14:creationId xmlns:p14="http://schemas.microsoft.com/office/powerpoint/2010/main" val="7946911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5–10 seconds.]</a:t>
            </a:r>
          </a:p>
          <a:p>
            <a:endParaRPr lang="en-US" dirty="0"/>
          </a:p>
          <a:p>
            <a:r>
              <a:rPr lang="en-US" dirty="0"/>
              <a:t>I will conclude by summarizing the contributions and the main directions that remain to be explored.</a:t>
            </a:r>
          </a:p>
          <a:p>
            <a:endParaRPr lang="en-US" dirty="0"/>
          </a:p>
          <a:p>
            <a:r>
              <a:rPr lang="en-US" dirty="0"/>
              <a:t>[LINKING OPTIONS: transition to slide 30 (Conclusions). Choose one.]</a:t>
            </a:r>
          </a:p>
          <a:p>
            <a:endParaRPr lang="en-US" dirty="0"/>
          </a:p>
          <a:p>
            <a:r>
              <a:rPr lang="en-US" dirty="0"/>
              <a:t>Option 1: "There are three main contributions to highlight."</a:t>
            </a:r>
          </a:p>
          <a:p>
            <a:r>
              <a:rPr lang="en-US" dirty="0"/>
              <a:t>Option 2: "The conclusions follow the segmentation, dataset and inspection parts of the work."</a:t>
            </a:r>
          </a:p>
          <a:p>
            <a:r>
              <a:rPr lang="en-US" dirty="0"/>
              <a:t>Option 3: "I will briefly summarize what each part of the thesis contributes."</a:t>
            </a:r>
          </a:p>
          <a:p>
            <a:endParaRPr lang="en-US" dirty="0"/>
          </a:p>
          <a:p>
            <a:r>
              <a:rPr lang="en-US" dirty="0"/>
              <a:t>[Supporting sources, not to be read aloud: Transition slide.]</a:t>
            </a:r>
          </a:p>
        </p:txBody>
      </p:sp>
      <p:sp>
        <p:nvSpPr>
          <p:cNvPr id="4" name="Segnaposto numero diapositiva 3"/>
          <p:cNvSpPr>
            <a:spLocks noGrp="1"/>
          </p:cNvSpPr>
          <p:nvPr>
            <p:ph type="sldNum" sz="quarter" idx="5"/>
          </p:nvPr>
        </p:nvSpPr>
        <p:spPr/>
        <p:txBody>
          <a:bodyPr/>
          <a:lstStyle/>
          <a:p>
            <a:fld id="{98FF6D0F-8D8B-42DD-BAAB-92498700177C}" type="slidenum">
              <a:rPr lang="it-IT" smtClean="0"/>
              <a:t>29</a:t>
            </a:fld>
            <a:endParaRPr lang="it-IT"/>
          </a:p>
        </p:txBody>
      </p:sp>
    </p:spTree>
    <p:extLst>
      <p:ext uri="{BB962C8B-B14F-4D97-AF65-F5344CB8AC3E}">
        <p14:creationId xmlns:p14="http://schemas.microsoft.com/office/powerpoint/2010/main" val="376416121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dirty="0"/>
              <a:t>Approximate speaking time: about 40–45 seconds.</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To conclude, this work has produced three main contributions. The first concerns segmentation: lightweight models achieved promising results and, in the selected configurations, quantization reduced inference costs while preserving accuracy.</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The second contribution is a synthetic dataset of ten thousand annotated images for wheel inspection. This is a pilot study: automatic generation provides control over the damage, while the visual realism can be improved further.</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Finally, we compared four model families for anomaly detection and localization, adapting their configurations to the wheel inspection problem. This comparison provides a basis for further developments.</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[LINKING OPTIONS: transition to slide 31 (Future Work). Choose one.]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Option 1: "These contributions also suggest several next steps."</a:t>
            </a:r>
          </a:p>
          <a:p>
            <a:pPr marL="0" marR="0" lvl="0" indent="0" algn="l" defTabSz="914400">
              <a:lnSpc>
                <a:spcPct val="100000"/>
              </a:lnSpc>
              <a:spcBef>
                <a:spcPts val="0"/>
              </a:spcBef>
              <a:spcAft>
                <a:spcPts val="0"/>
              </a:spcAft>
              <a:buClrTx/>
              <a:buSzTx/>
              <a:buFontTx/>
              <a:buNone/>
            </a:pPr>
            <a:r>
              <a:rPr lang="en-US" dirty="0"/>
              <a:t>Option 2: "The results leave a number of questions for future work."</a:t>
            </a:r>
          </a:p>
          <a:p>
            <a:pPr marL="0" marR="0" lvl="0" indent="0" algn="l" defTabSz="914400">
              <a:lnSpc>
                <a:spcPct val="100000"/>
              </a:lnSpc>
              <a:spcBef>
                <a:spcPts val="0"/>
              </a:spcBef>
              <a:spcAft>
                <a:spcPts val="0"/>
              </a:spcAft>
              <a:buClrTx/>
              <a:buSzTx/>
              <a:buFontTx/>
              <a:buNone/>
            </a:pPr>
            <a:r>
              <a:rPr lang="en-US" dirty="0"/>
              <a:t>Option 3: "I will finish by outlining how this work could be extended."</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Scope of the results: the effects of quantization depend on the model and method. INT8 means selective mixed-precision execution. Cost measurements concern T4 inference, excluding preprocessing, CPU operations and data transfers. The anomaly detection comparison concerns the synthetic pose A subset from a single Curiosity asset. Transfer to real images remains to be validated.</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Content source: Daniele Venturini, Lightweight Scene Understanding and Synthetic Data-Driven Damage Inspection for Martian Rovers, thesis, Chapter 8, Conclusions and Future Work, thesis/latex/Chapters/8 Conclusions and Future </a:t>
            </a:r>
            <a:r>
              <a:rPr lang="en-US" dirty="0" err="1"/>
              <a:t>Work.tex</a:t>
            </a:r>
            <a:r>
              <a:rPr lang="en-US" dirty="0"/>
              <a:t>. The results come from the thesis experiments. The </a:t>
            </a:r>
            <a:r>
              <a:rPr lang="en-US" dirty="0" err="1"/>
              <a:t>VisionLab</a:t>
            </a:r>
            <a:r>
              <a:rPr lang="en-US" dirty="0"/>
              <a:t> template and branding come from the presentation supplied by the user.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805B2-D6FA-8208-0C25-0D39CBBB40E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18F12E4A-0F02-1AED-9B52-8A94F93A1EBB}"/>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3D54D219-E8B6-A156-CF36-2C246FA559C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[Main presentation. Approximate time: 25–35 seconds.]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possible development is to connect the two branches: the Rover region could guide a wheel localizer, followed by damage inspection. The semantic mask alone does not identify individual wheels. I would also like to explore lighter models and augmentation methods suited to Mars images. Wheel inspection requires validation on real images, greater synthetic variability and additional damage types, so that we can assess how well these results generalize.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transition to slide 32 (Thank you). Choose 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"This completes the work presented in my thesis."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"With these next steps in mind, I will close the presentation."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"These are the main directions I would like to explore next."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8, future work.]</a:t>
            </a:r>
          </a:p>
        </p:txBody>
      </p:sp>
      <p:sp>
        <p:nvSpPr>
          <p:cNvPr id="4" name="Segnaposto numero diapositiva 3">
            <a:extLst>
              <a:ext uri="{FF2B5EF4-FFF2-40B4-BE49-F238E27FC236}">
                <a16:creationId xmlns:a16="http://schemas.microsoft.com/office/drawing/2014/main" id="{D930044B-4124-FB63-32E2-22BCF67B5507}"/>
              </a:ext>
            </a:extLst>
          </p:cNvPr>
          <p:cNvSpPr>
            <a:spLocks noGrp="1"/>
          </p:cNvSpPr>
          <p:nvPr>
            <p:ph type="sldNum" sz="quarter" idx="5"/>
          </p:nvPr>
        </p:nvSpPr>
        <p:spPr/>
        <p:txBody>
          <a:bodyPr/>
          <a:lstStyle/>
          <a:p>
            <a:fld id="{98FF6D0F-8D8B-42DD-BAAB-92498700177C}" type="slidenum">
              <a:rPr lang="it-IT" smtClean="0"/>
              <a:t>31</a:t>
            </a:fld>
            <a:endParaRPr lang="it-IT"/>
          </a:p>
        </p:txBody>
      </p:sp>
    </p:spTree>
    <p:extLst>
      <p:ext uri="{BB962C8B-B14F-4D97-AF65-F5344CB8AC3E}">
        <p14:creationId xmlns:p14="http://schemas.microsoft.com/office/powerpoint/2010/main" val="9480375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[Main presentation. Approximate time: 5–10 seconds.]</a:t>
            </a:r>
          </a:p>
          <a:p>
            <a:endParaRPr lang="en-US" dirty="0"/>
          </a:p>
          <a:p>
            <a:r>
              <a:rPr lang="en-US" dirty="0"/>
              <a:t>Thank you for your attention. I am happy to take any questions.</a:t>
            </a:r>
          </a:p>
          <a:p>
            <a:endParaRPr lang="en-US" dirty="0"/>
          </a:p>
          <a:p>
            <a:r>
              <a:rPr lang="en-US" dirty="0"/>
              <a:t>[LINKING OPTIONS: closing alternatives. Choose one to replace the closing sentence above.]</a:t>
            </a:r>
          </a:p>
          <a:p>
            <a:endParaRPr lang="en-US" dirty="0"/>
          </a:p>
          <a:p>
            <a:r>
              <a:rPr lang="en-US" dirty="0"/>
              <a:t>Option 1: "Thank you for your attention. I am happy to take your questions."</a:t>
            </a:r>
          </a:p>
          <a:p>
            <a:r>
              <a:rPr lang="en-US" dirty="0"/>
              <a:t>Option 2: "That concludes my presentation. I would be happy to discuss any aspect of the work."</a:t>
            </a:r>
          </a:p>
          <a:p>
            <a:r>
              <a:rPr lang="en-US" dirty="0"/>
              <a:t>Option 3: "Thank you. The project links are on this slide, and I am happy to answer your questions."</a:t>
            </a:r>
          </a:p>
          <a:p>
            <a:endParaRPr lang="en-US" dirty="0"/>
          </a:p>
          <a:p>
            <a:r>
              <a:rPr lang="en-US" dirty="0"/>
              <a:t>[Supporting sources, not to be read aloud: Final slide of the main presentation.]</a:t>
            </a:r>
          </a:p>
        </p:txBody>
      </p:sp>
      <p:sp>
        <p:nvSpPr>
          <p:cNvPr id="4" name="Segnaposto numero diapositiva 3"/>
          <p:cNvSpPr>
            <a:spLocks noGrp="1"/>
          </p:cNvSpPr>
          <p:nvPr>
            <p:ph type="sldNum" sz="quarter" idx="5"/>
          </p:nvPr>
        </p:nvSpPr>
        <p:spPr/>
        <p:txBody>
          <a:bodyPr/>
          <a:lstStyle/>
          <a:p>
            <a:fld id="{98FF6D0F-8D8B-42DD-BAAB-92498700177C}" type="slidenum">
              <a:rPr lang="it-IT" smtClean="0"/>
              <a:t>32</a:t>
            </a:fld>
            <a:endParaRPr lang="it-IT"/>
          </a:p>
        </p:txBody>
      </p:sp>
    </p:spTree>
    <p:extLst>
      <p:ext uri="{BB962C8B-B14F-4D97-AF65-F5344CB8AC3E}">
        <p14:creationId xmlns:p14="http://schemas.microsoft.com/office/powerpoint/2010/main" val="39061531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[References. No remarks are needed during the main presentation. If necessary:]</a:t>
            </a:r>
          </a:p>
          <a:p>
            <a:endParaRPr lang="en-US" dirty="0"/>
          </a:p>
          <a:p>
            <a:r>
              <a:rPr lang="en-US" dirty="0"/>
              <a:t>This page collects the sources on the operational context of rovers, Curiosity wheel inspections and the real segmentation datasets used as references for this work.</a:t>
            </a:r>
          </a:p>
          <a:p>
            <a:endParaRPr lang="en-US" dirty="0"/>
          </a:p>
          <a:p>
            <a:r>
              <a:rPr lang="en-US" dirty="0"/>
              <a:t>[LINKING OPTIONS: optional reference-page transition to slide 34. Choose one if continuing.]</a:t>
            </a:r>
          </a:p>
          <a:p>
            <a:endParaRPr lang="en-US" dirty="0"/>
          </a:p>
          <a:p>
            <a:r>
              <a:rPr lang="en-US" dirty="0"/>
              <a:t>Option 1: "The next page lists the segmentation model references."</a:t>
            </a:r>
          </a:p>
          <a:p>
            <a:r>
              <a:rPr lang="en-US" dirty="0"/>
              <a:t>Option 2: "The architecture papers are collected on the following reference page."</a:t>
            </a:r>
          </a:p>
          <a:p>
            <a:r>
              <a:rPr lang="en-US" dirty="0"/>
              <a:t>Option 3: "If useful, I can also show the original papers behind the segmentation models."</a:t>
            </a:r>
          </a:p>
          <a:p>
            <a:endParaRPr lang="en-US" dirty="0"/>
          </a:p>
          <a:p>
            <a:r>
              <a:rPr lang="en-US" dirty="0"/>
              <a:t>[Supporting sources, not to be read aloud: Presentation bibliography, references [1]–[5].]</a:t>
            </a:r>
          </a:p>
        </p:txBody>
      </p:sp>
      <p:sp>
        <p:nvSpPr>
          <p:cNvPr id="4" name="Segnaposto numero diapositiva 3"/>
          <p:cNvSpPr>
            <a:spLocks noGrp="1"/>
          </p:cNvSpPr>
          <p:nvPr>
            <p:ph type="sldNum" sz="quarter" idx="5"/>
          </p:nvPr>
        </p:nvSpPr>
        <p:spPr/>
        <p:txBody>
          <a:bodyPr/>
          <a:lstStyle/>
          <a:p>
            <a:fld id="{98FF6D0F-8D8B-42DD-BAAB-92498700177C}" type="slidenum">
              <a:rPr lang="it-IT" smtClean="0"/>
              <a:t>33</a:t>
            </a:fld>
            <a:endParaRPr lang="it-IT"/>
          </a:p>
        </p:txBody>
      </p:sp>
    </p:spTree>
    <p:extLst>
      <p:ext uri="{BB962C8B-B14F-4D97-AF65-F5344CB8AC3E}">
        <p14:creationId xmlns:p14="http://schemas.microsoft.com/office/powerpoint/2010/main" val="12057995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[References. No remarks are needed during the main presentation. If necessary:]</a:t>
            </a:r>
          </a:p>
          <a:p>
            <a:endParaRPr lang="en-US" dirty="0"/>
          </a:p>
          <a:p>
            <a:r>
              <a:rPr lang="en-US" dirty="0"/>
              <a:t>This page lists the original papers for the segmentation families compared: U-Net, DeepLabV3, DeepLabV3+, </a:t>
            </a:r>
            <a:r>
              <a:rPr lang="en-US" dirty="0" err="1"/>
              <a:t>SegFormer</a:t>
            </a:r>
            <a:r>
              <a:rPr lang="en-US" dirty="0"/>
              <a:t> and </a:t>
            </a:r>
            <a:r>
              <a:rPr lang="en-US" dirty="0" err="1"/>
              <a:t>LCNet</a:t>
            </a:r>
            <a:r>
              <a:rPr lang="en-US" dirty="0"/>
              <a:t>. The encoder variants used in the experiments are specified on the slide dedicated to the models.</a:t>
            </a:r>
          </a:p>
          <a:p>
            <a:endParaRPr lang="en-US" dirty="0"/>
          </a:p>
          <a:p>
            <a:r>
              <a:rPr lang="en-US" dirty="0"/>
              <a:t>[LINKING OPTIONS: optional reference-page transition to slide 35. Choose one if continuing.]</a:t>
            </a:r>
          </a:p>
          <a:p>
            <a:endParaRPr lang="en-US" dirty="0"/>
          </a:p>
          <a:p>
            <a:r>
              <a:rPr lang="en-US" dirty="0"/>
              <a:t>Option 1: "The following references cover the methods and scene assets."</a:t>
            </a:r>
          </a:p>
          <a:p>
            <a:r>
              <a:rPr lang="en-US" dirty="0"/>
              <a:t>Option 2: "The next page includes the quantization and synthetic-data references."</a:t>
            </a:r>
          </a:p>
          <a:p>
            <a:r>
              <a:rPr lang="en-US" dirty="0"/>
              <a:t>Option 3: "I will continue with the sources for quantization, scene construction and the inspection protocol."</a:t>
            </a:r>
          </a:p>
          <a:p>
            <a:endParaRPr lang="en-US" dirty="0"/>
          </a:p>
          <a:p>
            <a:r>
              <a:rPr lang="en-US" dirty="0"/>
              <a:t>[Supporting sources, not to be read aloud: Presentation bibliography, references [6]–[10].]</a:t>
            </a:r>
          </a:p>
        </p:txBody>
      </p:sp>
      <p:sp>
        <p:nvSpPr>
          <p:cNvPr id="4" name="Segnaposto numero diapositiva 3"/>
          <p:cNvSpPr>
            <a:spLocks noGrp="1"/>
          </p:cNvSpPr>
          <p:nvPr>
            <p:ph type="sldNum" sz="quarter" idx="5"/>
          </p:nvPr>
        </p:nvSpPr>
        <p:spPr/>
        <p:txBody>
          <a:bodyPr/>
          <a:lstStyle/>
          <a:p>
            <a:fld id="{98FF6D0F-8D8B-42DD-BAAB-92498700177C}" type="slidenum">
              <a:rPr lang="it-IT" smtClean="0"/>
              <a:t>34</a:t>
            </a:fld>
            <a:endParaRPr lang="it-IT"/>
          </a:p>
        </p:txBody>
      </p:sp>
    </p:spTree>
    <p:extLst>
      <p:ext uri="{BB962C8B-B14F-4D97-AF65-F5344CB8AC3E}">
        <p14:creationId xmlns:p14="http://schemas.microsoft.com/office/powerpoint/2010/main" val="25757271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[References. No remarks are needed during the main presentation. If necessary:]</a:t>
            </a:r>
          </a:p>
          <a:p>
            <a:endParaRPr lang="en-US" dirty="0"/>
          </a:p>
          <a:p>
            <a:r>
              <a:rPr lang="en-US" dirty="0"/>
              <a:t>These references cover quantization, NASA's three-dimensional model and the HiRISE data used to build the scene, domain randomization and the normal-only anomaly detection protocol.</a:t>
            </a:r>
          </a:p>
          <a:p>
            <a:endParaRPr lang="en-US" dirty="0"/>
          </a:p>
          <a:p>
            <a:r>
              <a:rPr lang="en-US" dirty="0"/>
              <a:t>[LINKING OPTIONS: optional reference-page transition to slide 36. Choose one if continuing.]</a:t>
            </a:r>
          </a:p>
          <a:p>
            <a:endParaRPr lang="en-US" dirty="0"/>
          </a:p>
          <a:p>
            <a:r>
              <a:rPr lang="en-US" dirty="0"/>
              <a:t>Option 1: "The next page lists the anomaly detection papers."</a:t>
            </a:r>
          </a:p>
          <a:p>
            <a:r>
              <a:rPr lang="en-US" dirty="0"/>
              <a:t>Option 2: "The inspection methods have their own reference page."</a:t>
            </a:r>
          </a:p>
          <a:p>
            <a:r>
              <a:rPr lang="en-US" dirty="0"/>
              <a:t>Option 3: "These are followed by the original papers for the four anomaly detection families."</a:t>
            </a:r>
          </a:p>
          <a:p>
            <a:endParaRPr lang="en-US" dirty="0"/>
          </a:p>
          <a:p>
            <a:r>
              <a:rPr lang="en-US" dirty="0"/>
              <a:t>[Supporting sources, not to be read aloud: Presentation bibliography, references [11]–[15].]</a:t>
            </a:r>
          </a:p>
        </p:txBody>
      </p:sp>
      <p:sp>
        <p:nvSpPr>
          <p:cNvPr id="4" name="Segnaposto numero diapositiva 3"/>
          <p:cNvSpPr>
            <a:spLocks noGrp="1"/>
          </p:cNvSpPr>
          <p:nvPr>
            <p:ph type="sldNum" sz="quarter" idx="5"/>
          </p:nvPr>
        </p:nvSpPr>
        <p:spPr/>
        <p:txBody>
          <a:bodyPr/>
          <a:lstStyle/>
          <a:p>
            <a:fld id="{98FF6D0F-8D8B-42DD-BAAB-92498700177C}" type="slidenum">
              <a:rPr lang="it-IT" smtClean="0"/>
              <a:t>35</a:t>
            </a:fld>
            <a:endParaRPr lang="it-IT"/>
          </a:p>
        </p:txBody>
      </p:sp>
    </p:spTree>
    <p:extLst>
      <p:ext uri="{BB962C8B-B14F-4D97-AF65-F5344CB8AC3E}">
        <p14:creationId xmlns:p14="http://schemas.microsoft.com/office/powerpoint/2010/main" val="34116176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r>
              <a:rPr lang="en-US" dirty="0"/>
              <a:t>[References. No remarks are needed during the main presentation. If necessary:]</a:t>
            </a:r>
          </a:p>
          <a:p>
            <a:endParaRPr lang="en-US" dirty="0"/>
          </a:p>
          <a:p>
            <a:r>
              <a:rPr lang="en-US" dirty="0"/>
              <a:t>This page lists the reference papers for PatchCore, EfficientAD, </a:t>
            </a:r>
            <a:r>
              <a:rPr lang="en-US" dirty="0" err="1"/>
              <a:t>SuperSimpleNet</a:t>
            </a:r>
            <a:r>
              <a:rPr lang="en-US" dirty="0"/>
              <a:t> and TinyGLASS. For </a:t>
            </a:r>
            <a:r>
              <a:rPr lang="en-US" dirty="0" err="1"/>
              <a:t>SuperSimpleNet</a:t>
            </a:r>
            <a:r>
              <a:rPr lang="en-US" dirty="0"/>
              <a:t>, it includes both the initial paper and the extended formulation, which also provides the architecture diagram in the extra slides.</a:t>
            </a:r>
          </a:p>
          <a:p>
            <a:endParaRPr lang="en-US" dirty="0"/>
          </a:p>
          <a:p>
            <a:r>
              <a:rPr lang="en-US" dirty="0"/>
              <a:t>[LINKING OPTIONS: optional Q&amp;A transition to slide 37 (Lighting and wear variations). Choose one if relevant.]</a:t>
            </a:r>
          </a:p>
          <a:p>
            <a:endParaRPr lang="en-US" dirty="0"/>
          </a:p>
          <a:p>
            <a:r>
              <a:rPr lang="en-US" dirty="0"/>
              <a:t>Option 1: "I can also show examples of the dataset variations."</a:t>
            </a:r>
          </a:p>
          <a:p>
            <a:r>
              <a:rPr lang="en-US" dirty="0"/>
              <a:t>Option 2: "If useful, the extra slides illustrate the lighting and wear conditions."</a:t>
            </a:r>
          </a:p>
          <a:p>
            <a:r>
              <a:rPr lang="en-US" dirty="0"/>
              <a:t>Option 3: "For more detail on the synthetic data, I can show how normal appearance varies."</a:t>
            </a:r>
          </a:p>
          <a:p>
            <a:endParaRPr lang="en-US" dirty="0"/>
          </a:p>
          <a:p>
            <a:r>
              <a:rPr lang="en-US" dirty="0"/>
              <a:t>[Supporting sources, not to be read aloud: Presentation bibliography, references [16]–[20].]</a:t>
            </a:r>
          </a:p>
        </p:txBody>
      </p:sp>
      <p:sp>
        <p:nvSpPr>
          <p:cNvPr id="4" name="Segnaposto numero diapositiva 3"/>
          <p:cNvSpPr>
            <a:spLocks noGrp="1"/>
          </p:cNvSpPr>
          <p:nvPr>
            <p:ph type="sldNum" sz="quarter" idx="5"/>
          </p:nvPr>
        </p:nvSpPr>
        <p:spPr/>
        <p:txBody>
          <a:bodyPr/>
          <a:lstStyle/>
          <a:p>
            <a:fld id="{98FF6D0F-8D8B-42DD-BAAB-92498700177C}" type="slidenum">
              <a:rPr lang="it-IT" smtClean="0"/>
              <a:t>36</a:t>
            </a:fld>
            <a:endParaRPr lang="it-IT"/>
          </a:p>
        </p:txBody>
      </p:sp>
    </p:spTree>
    <p:extLst>
      <p:ext uri="{BB962C8B-B14F-4D97-AF65-F5344CB8AC3E}">
        <p14:creationId xmlns:p14="http://schemas.microsoft.com/office/powerpoint/2010/main" val="33980163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236119-74F7-323F-A112-07E17F0A7E21}"/>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1EEE92F-AE7A-EADD-5AEB-7F62FBCD38E7}"/>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F9B7FB79-EB9D-70CE-0B66-799CD1C910C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examples show the variations considered normal. Seventy-five percent of the dataset uses the dusty preset and twenty-five percent uses the clear preset. For wear, twenty percent retains the surface without added wear, forty-five percent introduces light wear and thirty-five percent introduces visible wear. An image can therefore be normal even if the wheel looks dirty or scratched. The anomaly being modeled is a perforation.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38 (Viewpoints and hole sizes).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next examples cover viewpoints and hole sizes."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"Lighting and wear are complemented by variations in viewpoint and defect size."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can also show how the camera views and perforation sizes are distributed."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3, domain randomization.]</a:t>
            </a:r>
          </a:p>
        </p:txBody>
      </p:sp>
      <p:sp>
        <p:nvSpPr>
          <p:cNvPr id="4" name="Segnaposto numero diapositiva 3">
            <a:extLst>
              <a:ext uri="{FF2B5EF4-FFF2-40B4-BE49-F238E27FC236}">
                <a16:creationId xmlns:a16="http://schemas.microsoft.com/office/drawing/2014/main" id="{28E65330-8BBE-C00D-394A-E0F3FDA9A774}"/>
              </a:ext>
            </a:extLst>
          </p:cNvPr>
          <p:cNvSpPr>
            <a:spLocks noGrp="1"/>
          </p:cNvSpPr>
          <p:nvPr>
            <p:ph type="sldNum" sz="quarter" idx="5"/>
          </p:nvPr>
        </p:nvSpPr>
        <p:spPr/>
        <p:txBody>
          <a:bodyPr/>
          <a:lstStyle/>
          <a:p>
            <a:fld id="{98FF6D0F-8D8B-42DD-BAAB-92498700177C}" type="slidenum">
              <a:rPr lang="it-IT" smtClean="0"/>
              <a:t>37</a:t>
            </a:fld>
            <a:endParaRPr lang="it-IT"/>
          </a:p>
        </p:txBody>
      </p:sp>
    </p:spTree>
    <p:extLst>
      <p:ext uri="{BB962C8B-B14F-4D97-AF65-F5344CB8AC3E}">
        <p14:creationId xmlns:p14="http://schemas.microsoft.com/office/powerpoint/2010/main" val="52430287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C9785-F828-6665-00FB-6A21C8811F45}"/>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803BCFA-A9BC-E0F2-8ACC-883608ABAD8C}"/>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614706D-FAE3-24EB-3A5C-B88D4E4983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four views have different frequencies: pose A accounts for forty percent, the two oblique views for 27.5 percent each, and the upper detail view for five percent. Among anomalous images only, small holes account for fifty percent, medium holes for forty percent and large holes for ten percent. The ranges in centimeters describe the generated geometry, rather than a classification of mechanical risk. These percentages concern the dataset, rather than the artificial perturbations used to train TinyGLASS.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39 (Loss function ablation).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can next explain the segmentation loss experiments."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"For more detail on model training, I have an ablation of the segmentation loss."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following table shows the experiments that motivated the combined loss."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3, views and geometric hole sizes.]</a:t>
            </a:r>
          </a:p>
        </p:txBody>
      </p:sp>
      <p:sp>
        <p:nvSpPr>
          <p:cNvPr id="4" name="Segnaposto numero diapositiva 3">
            <a:extLst>
              <a:ext uri="{FF2B5EF4-FFF2-40B4-BE49-F238E27FC236}">
                <a16:creationId xmlns:a16="http://schemas.microsoft.com/office/drawing/2014/main" id="{15F89852-7142-6364-CF58-337D42A36682}"/>
              </a:ext>
            </a:extLst>
          </p:cNvPr>
          <p:cNvSpPr>
            <a:spLocks noGrp="1"/>
          </p:cNvSpPr>
          <p:nvPr>
            <p:ph type="sldNum" sz="quarter" idx="5"/>
          </p:nvPr>
        </p:nvSpPr>
        <p:spPr/>
        <p:txBody>
          <a:bodyPr/>
          <a:lstStyle/>
          <a:p>
            <a:fld id="{98FF6D0F-8D8B-42DD-BAAB-92498700177C}" type="slidenum">
              <a:rPr lang="it-IT" smtClean="0"/>
              <a:t>38</a:t>
            </a:fld>
            <a:endParaRPr lang="it-IT"/>
          </a:p>
        </p:txBody>
      </p:sp>
    </p:spTree>
    <p:extLst>
      <p:ext uri="{BB962C8B-B14F-4D97-AF65-F5344CB8AC3E}">
        <p14:creationId xmlns:p14="http://schemas.microsoft.com/office/powerpoint/2010/main" val="9961564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72CFA-204B-EADB-D7F8-185F7FAEB8BB}"/>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DAEE8CCE-FF44-A42D-B25D-72C6D89F62A5}"/>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C76ADEFB-F3F0-0680-6C17-E6BAC88ED01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exploratory experiments motivated the combined loss. Moving from cross-entropy alone to cross-entropy plus Generalized Dice increases </a:t>
            </a:r>
            <a:r>
              <a:rPr lang="en-US" dirty="0" err="1"/>
              <a:t>mIoU</a:t>
            </a:r>
            <a:r>
              <a:rPr lang="en-US" dirty="0"/>
              <a:t> from about 59.5 to 64.5 percent for U-Net ResNet34, and from 69.2 to 75.5 percent for </a:t>
            </a:r>
            <a:r>
              <a:rPr lang="en-US" dirty="0" err="1"/>
              <a:t>SegFormer</a:t>
            </a:r>
            <a:r>
              <a:rPr lang="en-US" dirty="0"/>
              <a:t>. For U-Net, Dice weighting by the inverse squared class volume works better than the alternatives shown. The weights depend on the class pixel counts in the batch and increase the contribution of less represented regions. These results should not be extended automatically to every architecture.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40 (Augmentation and oversampling).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also tested augmentation and oversampling."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loss was one training choice. I also examined data augmentation and sampling."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experiments explain the preprocessing and sampling configuration retained for </a:t>
            </a:r>
            <a:r>
              <a:rPr lang="en-US" dirty="0" err="1"/>
              <a:t>SegFormer</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5, loss and Dice-weight ablations.]</a:t>
            </a:r>
          </a:p>
        </p:txBody>
      </p:sp>
      <p:sp>
        <p:nvSpPr>
          <p:cNvPr id="4" name="Segnaposto numero diapositiva 3">
            <a:extLst>
              <a:ext uri="{FF2B5EF4-FFF2-40B4-BE49-F238E27FC236}">
                <a16:creationId xmlns:a16="http://schemas.microsoft.com/office/drawing/2014/main" id="{22BBFC16-6E93-E335-DC27-53A6610ACF9E}"/>
              </a:ext>
            </a:extLst>
          </p:cNvPr>
          <p:cNvSpPr>
            <a:spLocks noGrp="1"/>
          </p:cNvSpPr>
          <p:nvPr>
            <p:ph type="sldNum" sz="quarter" idx="5"/>
          </p:nvPr>
        </p:nvSpPr>
        <p:spPr/>
        <p:txBody>
          <a:bodyPr/>
          <a:lstStyle/>
          <a:p>
            <a:fld id="{98FF6D0F-8D8B-42DD-BAAB-92498700177C}" type="slidenum">
              <a:rPr lang="it-IT" smtClean="0"/>
              <a:t>39</a:t>
            </a:fld>
            <a:endParaRPr lang="it-IT"/>
          </a:p>
        </p:txBody>
      </p:sp>
    </p:spTree>
    <p:extLst>
      <p:ext uri="{BB962C8B-B14F-4D97-AF65-F5344CB8AC3E}">
        <p14:creationId xmlns:p14="http://schemas.microsoft.com/office/powerpoint/2010/main" val="5430304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657D2F-65D2-BD4F-4A7D-5537091E5F66}"/>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B3A4950-A67B-D5B1-FC12-3198EEFE7A32}"/>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DFA96DD3-8859-3168-7427-0E0C01C0010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a:t>
            </a:r>
            <a:r>
              <a:rPr lang="en-US" dirty="0" err="1"/>
              <a:t>SegFormer</a:t>
            </a:r>
            <a:r>
              <a:rPr lang="en-US" dirty="0"/>
              <a:t>, the geometric transformations tested, namely flips and ninety-degree rotations, reduce test </a:t>
            </a:r>
            <a:r>
              <a:rPr lang="en-US" dirty="0" err="1"/>
              <a:t>mIoU</a:t>
            </a:r>
            <a:r>
              <a:rPr lang="en-US" dirty="0"/>
              <a:t> from 75.55 to 66.86 percent. Oversampling also remains below the reference: it reaches 71.02 with inverse-squared Dice weights and 72.90 with uniform weights. Here, uniform and square refer to the Dice loss weights, rather than the sampling probabilities. These experiments support the baseline configuration adopted, but do not demonstrate that every form of augmentation is harmful.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41 (</a:t>
            </a:r>
            <a:r>
              <a:rPr lang="en-US" dirty="0" err="1"/>
              <a:t>SegFormer</a:t>
            </a:r>
            <a:r>
              <a:rPr lang="en-US" dirty="0"/>
              <a:t> </a:t>
            </a:r>
            <a:r>
              <a:rPr lang="en-US" dirty="0" err="1"/>
              <a:t>IoU</a:t>
            </a:r>
            <a:r>
              <a:rPr lang="en-US" dirty="0"/>
              <a:t> per class).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"Next are the quantization results for each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"I can also break down </a:t>
            </a:r>
            <a:r>
              <a:rPr lang="en-US" dirty="0" err="1"/>
              <a:t>SegFormer's</a:t>
            </a:r>
            <a:r>
              <a:rPr lang="en-US" dirty="0"/>
              <a:t> quantization results by semantic class."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following table shows which classes change when inference precision is reduced."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5, augmentation and oversampling; Chapter 2, sampling definition.]</a:t>
            </a:r>
          </a:p>
        </p:txBody>
      </p:sp>
      <p:sp>
        <p:nvSpPr>
          <p:cNvPr id="4" name="Segnaposto numero diapositiva 3">
            <a:extLst>
              <a:ext uri="{FF2B5EF4-FFF2-40B4-BE49-F238E27FC236}">
                <a16:creationId xmlns:a16="http://schemas.microsoft.com/office/drawing/2014/main" id="{0FCAC24B-268F-2F77-865C-A35E418EED19}"/>
              </a:ext>
            </a:extLst>
          </p:cNvPr>
          <p:cNvSpPr>
            <a:spLocks noGrp="1"/>
          </p:cNvSpPr>
          <p:nvPr>
            <p:ph type="sldNum" sz="quarter" idx="5"/>
          </p:nvPr>
        </p:nvSpPr>
        <p:spPr/>
        <p:txBody>
          <a:bodyPr/>
          <a:lstStyle/>
          <a:p>
            <a:fld id="{98FF6D0F-8D8B-42DD-BAAB-92498700177C}" type="slidenum">
              <a:rPr lang="it-IT" smtClean="0"/>
              <a:t>40</a:t>
            </a:fld>
            <a:endParaRPr lang="it-IT"/>
          </a:p>
        </p:txBody>
      </p:sp>
    </p:spTree>
    <p:extLst>
      <p:ext uri="{BB962C8B-B14F-4D97-AF65-F5344CB8AC3E}">
        <p14:creationId xmlns:p14="http://schemas.microsoft.com/office/powerpoint/2010/main" val="21814317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dirty="0"/>
              <a:t>[Extra slide. Optional explanation, about 40 seconds, outside the 15-minute presentation.]</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This table examines the scene segmentation results in more detail. Moving from FP32 to FP16 leaves quality almost unchanged. PTQ also remains very close to the baseline. With QAT, however, every class improves: the largest gains are for Rock, about 4.38 percentage points, and Hole, about 1.81. Overall </a:t>
            </a:r>
            <a:r>
              <a:rPr lang="en-US" dirty="0" err="1"/>
              <a:t>mIoU</a:t>
            </a:r>
            <a:r>
              <a:rPr lang="en-US" dirty="0"/>
              <a:t> increases from 75.55 to 76.93 percent. Rock nevertheless remains the most difficult class. The improvement includes fine-tuning and distillation, so it should not be attributed to reduced precision alone.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[LINKING OPTIONS: optional Q&amp;A transition to slide 42 (Mars-Bench). Choose one if relevant.]</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Option 1: "For context, I also considered the Mars-Bench baselines."</a:t>
            </a:r>
          </a:p>
          <a:p>
            <a:pPr marL="0" marR="0" lvl="0" indent="0" algn="l" defTabSz="914400">
              <a:lnSpc>
                <a:spcPct val="100000"/>
              </a:lnSpc>
              <a:spcBef>
                <a:spcPts val="0"/>
              </a:spcBef>
              <a:spcAft>
                <a:spcPts val="0"/>
              </a:spcAft>
              <a:buClrTx/>
              <a:buSzTx/>
              <a:buFontTx/>
              <a:buNone/>
            </a:pPr>
            <a:r>
              <a:rPr lang="en-US" dirty="0"/>
              <a:t>Option 2: "The next table places our selected models alongside the published Mars-Bench baselines."</a:t>
            </a:r>
          </a:p>
          <a:p>
            <a:pPr marL="0" marR="0" lvl="0" indent="0" algn="l" defTabSz="914400">
              <a:lnSpc>
                <a:spcPct val="100000"/>
              </a:lnSpc>
              <a:spcBef>
                <a:spcPts val="0"/>
              </a:spcBef>
              <a:spcAft>
                <a:spcPts val="0"/>
              </a:spcAft>
              <a:buClrTx/>
              <a:buSzTx/>
              <a:buFontTx/>
              <a:buNone/>
            </a:pPr>
            <a:r>
              <a:rPr lang="en-US" dirty="0"/>
              <a:t>Option 3: "I can add an external benchmark reference, with the evaluation differences kept in mind."</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[Details and sources, not to be read aloud.]</a:t>
            </a:r>
          </a:p>
          <a:p>
            <a:pPr marL="0" marR="0" lvl="0" indent="0" algn="l" defTabSz="914400">
              <a:lnSpc>
                <a:spcPct val="100000"/>
              </a:lnSpc>
              <a:spcBef>
                <a:spcPts val="0"/>
              </a:spcBef>
              <a:spcAft>
                <a:spcPts val="0"/>
              </a:spcAft>
              <a:buClrTx/>
              <a:buSzTx/>
              <a:buFontTx/>
              <a:buNone/>
            </a:pPr>
            <a:r>
              <a:rPr lang="en-US" dirty="0"/>
              <a:t>All configurations are evaluated on the same 800 S5Mars test images, with 512 x 512 inputs. The eight rows report per-class </a:t>
            </a:r>
            <a:r>
              <a:rPr lang="en-US" dirty="0" err="1"/>
              <a:t>IoU</a:t>
            </a:r>
            <a:r>
              <a:rPr lang="en-US" dirty="0"/>
              <a:t>. </a:t>
            </a:r>
            <a:r>
              <a:rPr lang="en-US" dirty="0" err="1"/>
              <a:t>mIoU</a:t>
            </a:r>
            <a:r>
              <a:rPr lang="en-US" dirty="0"/>
              <a:t> is the mean over the eight annotated categories. Background is excluded from the mean. These are not validation results. INT8 is selective and Conv-only: convolutions are quantized, while other operations remain in floating point. The QAT result reported here is from the final </a:t>
            </a:r>
            <a:r>
              <a:rPr lang="en-US" dirty="0" err="1"/>
              <a:t>TensorRT</a:t>
            </a:r>
            <a:r>
              <a:rPr lang="en-US" dirty="0"/>
              <a:t> engine, rather than the fake-quantization simulation in </a:t>
            </a:r>
            <a:r>
              <a:rPr lang="en-US" dirty="0" err="1"/>
              <a:t>PyTorch</a:t>
            </a:r>
            <a:r>
              <a:rPr lang="en-US" dirty="0"/>
              <a:t>.</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FP32, FP16 and PTQ: git object 10f4b53:semantic_segmentation/docs/quantization/onnx_ptq_results.md, subsection '</a:t>
            </a:r>
            <a:r>
              <a:rPr lang="en-US" dirty="0" err="1"/>
              <a:t>SegFormer</a:t>
            </a:r>
            <a:r>
              <a:rPr lang="en-US" dirty="0"/>
              <a:t> Conv-only </a:t>
            </a:r>
            <a:r>
              <a:rPr lang="en-US" dirty="0" err="1"/>
              <a:t>sul</a:t>
            </a:r>
            <a:r>
              <a:rPr lang="en-US" dirty="0"/>
              <a:t> test set'. The table reports final results on the 800 images, with configurations selected on validation. Original </a:t>
            </a:r>
            <a:r>
              <a:rPr lang="en-US" dirty="0" err="1"/>
              <a:t>mIoU</a:t>
            </a:r>
            <a:r>
              <a:rPr lang="en-US" dirty="0"/>
              <a:t> values: FP32 0.755519684, FP16 0.755540537, PTQ 0.756030374.</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QAT: outputs/drive_audit_20261010/</a:t>
            </a:r>
            <a:r>
              <a:rPr lang="en-US" dirty="0" err="1"/>
              <a:t>report_summaries.json</a:t>
            </a:r>
            <a:r>
              <a:rPr lang="en-US" dirty="0"/>
              <a:t>, entry 1Kq-yIOds3hbGkVQPjJ8wi-uDNuhLpPyE, s5mars_qat_modelopt_segformer_b0_int8_conv_only_qdq/</a:t>
            </a:r>
            <a:r>
              <a:rPr lang="en-US" dirty="0" err="1"/>
              <a:t>results.json</a:t>
            </a:r>
            <a:r>
              <a:rPr lang="en-US" dirty="0"/>
              <a:t>, test_metrics.onnx_modelopt_qat_int8_tensorrt. Original </a:t>
            </a:r>
            <a:r>
              <a:rPr lang="en-US" dirty="0" err="1"/>
              <a:t>mIoU</a:t>
            </a:r>
            <a:r>
              <a:rPr lang="en-US" dirty="0"/>
              <a:t> 0.7692888447846535; split test, samples 800. Original Drive file: https://drive.google.com/file/d/1Kq-yIOds3hbGkVQPjJ8wi-uDNuhLpPyE/view . The local copy was used because the connector did not make that file available at the time.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All table values are percentages with two decimal places. Gains are expressed in percentage points and calculated from the source values before display rounding. The experiments include differences in training and backend, so they do not isolate the effect of bit width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dirty="0"/>
              <a:t>[Extra slide, outside the 15-minute presentation. Optional remarks, about 45–55 seconds.]</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This table places the two selected trade-offs from the thesis alongside the public Mars-Bench baselines. SegFormer-B0 with QAT prioritizes quality, while DeepLabV3+ MobileNetV2 with QAT prioritizes cost. Both have fewer than five million parameters. The Mars-Bench counts are estimates of total parameters, including frozen encoders. The scores come from the authors' leaderboard, but the CSV does not document the corresponding protocol. We therefore cannot attribute the </a:t>
            </a:r>
            <a:r>
              <a:rPr lang="en-US" dirty="0" err="1"/>
              <a:t>mIoU</a:t>
            </a:r>
            <a:r>
              <a:rPr lang="en-US" dirty="0"/>
              <a:t> difference to architecture alone or interpret it as a controlled ranking.</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[LINKING OPTIONS: optional Q&amp;A transition to slide 43 (Full quantization results). Choose one if relevant.]</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Option 1: "Returning to our experiments, here are all precision configurations."</a:t>
            </a:r>
          </a:p>
          <a:p>
            <a:pPr marL="0" marR="0" lvl="0" indent="0" algn="l" defTabSz="914400">
              <a:lnSpc>
                <a:spcPct val="100000"/>
              </a:lnSpc>
              <a:spcBef>
                <a:spcPts val="0"/>
              </a:spcBef>
              <a:spcAft>
                <a:spcPts val="0"/>
              </a:spcAft>
              <a:buClrTx/>
              <a:buSzTx/>
              <a:buFontTx/>
              <a:buNone/>
            </a:pPr>
            <a:r>
              <a:rPr lang="en-US" dirty="0"/>
              <a:t>Option 2: "Within our own protocol, we can compare the full set of deployment configurations."</a:t>
            </a:r>
          </a:p>
          <a:p>
            <a:pPr marL="0" marR="0" lvl="0" indent="0" algn="l" defTabSz="914400">
              <a:lnSpc>
                <a:spcPct val="100000"/>
              </a:lnSpc>
              <a:spcBef>
                <a:spcPts val="0"/>
              </a:spcBef>
              <a:spcAft>
                <a:spcPts val="0"/>
              </a:spcAft>
              <a:buClrTx/>
              <a:buSzTx/>
              <a:buFontTx/>
              <a:buNone/>
            </a:pPr>
            <a:r>
              <a:rPr lang="en-US" dirty="0"/>
              <a:t>Option 3: "The complete quantization table gives more detail on these accuracy and efficiency results."</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[Sources and method, not to be read aloud.]</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Thesis, Chapters 2 and 5: SegFormer-B0 QAT </a:t>
            </a:r>
            <a:r>
              <a:rPr lang="en-US" dirty="0" err="1"/>
              <a:t>mIoU</a:t>
            </a:r>
            <a:r>
              <a:rPr lang="en-US" dirty="0"/>
              <a:t> 76.93%, 3.72M parameters; DeepLabV3+ MobileNetV2 QAT </a:t>
            </a:r>
            <a:r>
              <a:rPr lang="en-US" dirty="0" err="1"/>
              <a:t>mIoU</a:t>
            </a:r>
            <a:r>
              <a:rPr lang="en-US" dirty="0"/>
              <a:t> 65.63%, 4.38M parameters. Quantization changes weight precision, rather than the reference architectural parameter count.</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[5] M. Purohit et al., Mars-Bench: A Benchmark for Evaluating Foundation Models for Mars Science Tasks, </a:t>
            </a:r>
            <a:r>
              <a:rPr lang="en-US" dirty="0" err="1"/>
              <a:t>NeurIPS</a:t>
            </a:r>
            <a:r>
              <a:rPr lang="en-US" dirty="0"/>
              <a:t> Datasets and Benchmarks, 2025. https://arxiv.org/abs/2510.24010 . The numerical values reported here come from the public leaderboard CSV, rather than a visual estimate from the violin plots: https://huggingface.co/spaces/Mirali33/Mars-Bench/blob/main/data/segmentation.csv . S5Mars </a:t>
            </a:r>
            <a:r>
              <a:rPr lang="en-US" dirty="0" err="1"/>
              <a:t>IoU</a:t>
            </a:r>
            <a:r>
              <a:rPr lang="en-US" dirty="0"/>
              <a:t>: U-Net 0.1777; DeepLabV3+ 0.1674; </a:t>
            </a:r>
            <a:r>
              <a:rPr lang="en-US" dirty="0" err="1"/>
              <a:t>SegFormer</a:t>
            </a:r>
            <a:r>
              <a:rPr lang="en-US" dirty="0"/>
              <a:t> 0.1606; DPT 0.1806. The CSV does not specify the training regime, checkpoint selection or seed aggregation. The public code averages per-class </a:t>
            </a:r>
            <a:r>
              <a:rPr lang="en-US" dirty="0" err="1"/>
              <a:t>IoUs</a:t>
            </a:r>
            <a:r>
              <a:rPr lang="en-US" dirty="0"/>
              <a:t>. Before a controlled comparison, training, preprocessing, class encoding and the handling of unannotated pixels must be aligned.</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Parameter estimates: public configurations at commit 8df5c160528d64778a53afaf07a63fba305f65b9, https://github.com/kerner-lab/Mars-Bench/tree/8df5c160528d64778a53afaf07a63fba305f65b9/marsbench/configs/model/segmentation ; implementations https://github.com/kerner-lab/Mars-Bench/tree/8df5c160528d64778a53afaf07a63fba305f65b9/marsbench/models/segmentation . U-Net, DeepLabV3+ and </a:t>
            </a:r>
            <a:r>
              <a:rPr lang="en-US" dirty="0" err="1"/>
              <a:t>SegFormer</a:t>
            </a:r>
            <a:r>
              <a:rPr lang="en-US" dirty="0"/>
              <a:t> use ResNet34 in the released files. Do not assume that the </a:t>
            </a:r>
            <a:r>
              <a:rPr lang="en-US" dirty="0" err="1"/>
              <a:t>SegFormer</a:t>
            </a:r>
            <a:r>
              <a:rPr lang="en-US" dirty="0"/>
              <a:t> in that code is MiT-B0. DPT uses tu-vit_base_patch16_224.augreg_in21k.</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Architectural calculation using SMP v0.5.0 defaults and 9 output channels: https://smp.readthedocs.io/en/v0.5.0/models.html . U-Net approximately 24.438M; DeepLabV3+ approximately 22.440M; </a:t>
            </a:r>
            <a:r>
              <a:rPr lang="en-US" dirty="0" err="1"/>
              <a:t>SegFormer</a:t>
            </a:r>
            <a:r>
              <a:rPr lang="en-US" dirty="0"/>
              <a:t> approximately 21.879M; DPT approximately 137.808M. These are estimates based on the configurations, rather than counts taken from the replica checkpoints. They include frozen weights and affine normalization parameters, and exclude buffers.</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DPT clarification: SMP v0.5.0's </a:t>
            </a:r>
            <a:r>
              <a:rPr lang="en-US" dirty="0" err="1"/>
              <a:t>TimmViTEncoder</a:t>
            </a:r>
            <a:r>
              <a:rPr lang="en-US" dirty="0"/>
              <a:t> retains the ImageNet-21k classification head registered by the </a:t>
            </a:r>
            <a:r>
              <a:rPr lang="en-US" dirty="0" err="1"/>
              <a:t>ViT</a:t>
            </a:r>
            <a:r>
              <a:rPr lang="en-US" dirty="0"/>
              <a:t>. The </a:t>
            </a:r>
            <a:r>
              <a:rPr lang="en-US" dirty="0" err="1"/>
              <a:t>timm</a:t>
            </a:r>
            <a:r>
              <a:rPr lang="en-US" dirty="0"/>
              <a:t> configuration confirms 21,843 classes: https://huggingface.co/timm/vit_base_patch16_224.augreg_in21k/blob/main/config.json . The segmentation path does not use this head, but the registered total includes it. Removing it would reduce the count to about 121.0M. The displayed estimate remains about 137.8M for the model as constructed.</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Sources consulted on 20 October 2026.</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623949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40418-822D-56A7-CF06-8142F31A6B69}"/>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6018E62E-0105-BEF7-01C1-7F23B9F098E4}"/>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B922D827-6CBD-9441-8112-34502DCC07BB}"/>
              </a:ext>
            </a:extLst>
          </p:cNvPr>
          <p:cNvSpPr>
            <a:spLocks noGrp="1"/>
          </p:cNvSpPr>
          <p:nvPr>
            <p:ph type="body" idx="1"/>
          </p:nvPr>
        </p:nvSpPr>
        <p:spPr/>
        <p:txBody>
          <a:bodyPr/>
          <a:lstStyle/>
          <a:p>
            <a:r>
              <a:rPr lang="en-US" dirty="0"/>
              <a:t>[Extra slide. Optional remarks for the Q&amp;A, outside the 15-minute presentation.]</a:t>
            </a:r>
          </a:p>
          <a:p>
            <a:endParaRPr lang="en-US" dirty="0"/>
          </a:p>
          <a:p>
            <a:r>
              <a:rPr lang="en-US" dirty="0"/>
              <a:t>The full table shows that the benefit of reduced precision depends on the configuration. QAT </a:t>
            </a:r>
            <a:r>
              <a:rPr lang="en-US" dirty="0" err="1"/>
              <a:t>SegFormer</a:t>
            </a:r>
            <a:r>
              <a:rPr lang="en-US" dirty="0"/>
              <a:t> achieves the highest </a:t>
            </a:r>
            <a:r>
              <a:rPr lang="en-US" dirty="0" err="1"/>
              <a:t>mIoU</a:t>
            </a:r>
            <a:r>
              <a:rPr lang="en-US" dirty="0"/>
              <a:t>, while QAT DeepLabV3+ MobileNetV2 has the lowest energy consumption. There are exceptions to a general preference for QAT, however: DeepLabV3 ResNet34 with PTQ has lower latency and energy consumption than its QAT version. The execution backends also differ, so we are comparing complete deployment configurations. INT8 is selective and, for </a:t>
            </a:r>
            <a:r>
              <a:rPr lang="en-US" dirty="0" err="1"/>
              <a:t>SegFormer</a:t>
            </a:r>
            <a:r>
              <a:rPr lang="en-US" dirty="0"/>
              <a:t>, limited to convolutions. Energy refers to the GPU during inference and is expressed here in millijoules per image.</a:t>
            </a:r>
          </a:p>
          <a:p>
            <a:endParaRPr lang="en-US" dirty="0"/>
          </a:p>
          <a:p>
            <a:r>
              <a:rPr lang="en-US" dirty="0"/>
              <a:t>[LINKING OPTIONS: optional Q&amp;A transition to slide 44 (Full anomaly detection results). Choose one if relevant.]</a:t>
            </a:r>
          </a:p>
          <a:p>
            <a:endParaRPr lang="en-US" dirty="0"/>
          </a:p>
          <a:p>
            <a:r>
              <a:rPr lang="en-US" dirty="0"/>
              <a:t>Option 1: "I can now expand the wheel inspection results."</a:t>
            </a:r>
          </a:p>
          <a:p>
            <a:r>
              <a:rPr lang="en-US" dirty="0"/>
              <a:t>Option 2: "Let's return to the inspection branch and its image-level metrics."</a:t>
            </a:r>
          </a:p>
          <a:p>
            <a:r>
              <a:rPr lang="en-US" dirty="0"/>
              <a:t>Option 3: "The next table contains the full anomaly detection results."</a:t>
            </a:r>
          </a:p>
          <a:p>
            <a:endParaRPr lang="en-US" dirty="0"/>
          </a:p>
          <a:p>
            <a:r>
              <a:rPr lang="en-US" dirty="0"/>
              <a:t>[Supporting sources, not to be read aloud: Thesis, Chapter 5, full quantization table; Chapter 2, deployment configurations.]</a:t>
            </a:r>
          </a:p>
        </p:txBody>
      </p:sp>
      <p:sp>
        <p:nvSpPr>
          <p:cNvPr id="4" name="Segnaposto numero diapositiva 3">
            <a:extLst>
              <a:ext uri="{FF2B5EF4-FFF2-40B4-BE49-F238E27FC236}">
                <a16:creationId xmlns:a16="http://schemas.microsoft.com/office/drawing/2014/main" id="{68FD75B6-2DE2-E8B8-A886-B09506C73BC2}"/>
              </a:ext>
            </a:extLst>
          </p:cNvPr>
          <p:cNvSpPr>
            <a:spLocks noGrp="1"/>
          </p:cNvSpPr>
          <p:nvPr>
            <p:ph type="sldNum" sz="quarter" idx="5"/>
          </p:nvPr>
        </p:nvSpPr>
        <p:spPr/>
        <p:txBody>
          <a:bodyPr/>
          <a:lstStyle/>
          <a:p>
            <a:fld id="{98FF6D0F-8D8B-42DD-BAAB-92498700177C}" type="slidenum">
              <a:rPr lang="it-IT" smtClean="0"/>
              <a:t>43</a:t>
            </a:fld>
            <a:endParaRPr lang="it-IT"/>
          </a:p>
        </p:txBody>
      </p:sp>
    </p:spTree>
    <p:extLst>
      <p:ext uri="{BB962C8B-B14F-4D97-AF65-F5344CB8AC3E}">
        <p14:creationId xmlns:p14="http://schemas.microsoft.com/office/powerpoint/2010/main" val="23663904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79817-3CA5-FAB7-0378-F8000A35F02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71184B6-8B89-B591-6CF3-E6163F5C56E1}"/>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5EA137F3-05DF-FCB9-8D17-4BE9B32E931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full image-level evaluation on the 808 test observations in pose A, corresponding to 404 normal-damaged pairs. PatchCore-L ranks first for both AUROC, at 86.43 percent, and Average Precision, at 88.63 percent. </a:t>
            </a:r>
            <a:r>
              <a:rPr lang="en-US" dirty="0" err="1"/>
              <a:t>SuperSimpleNet</a:t>
            </a:r>
            <a:r>
              <a:rPr lang="en-US" dirty="0"/>
              <a:t> is second, while the two TinyGLASS variants have very similar AUROC values. These metrics describe the ordering of scores across thresholds. For operational use, thresholds would need to be selected on validation data, with false alarms and missed damage measured on an independent test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45 (Full localization results).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corresponding localization results are shown next."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"I can also show the complete pixel-level and region-level metrics."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"Next, I will examine how precisely these models locate the damage."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6, full detection results table.]</a:t>
            </a:r>
          </a:p>
        </p:txBody>
      </p:sp>
      <p:sp>
        <p:nvSpPr>
          <p:cNvPr id="4" name="Segnaposto numero diapositiva 3">
            <a:extLst>
              <a:ext uri="{FF2B5EF4-FFF2-40B4-BE49-F238E27FC236}">
                <a16:creationId xmlns:a16="http://schemas.microsoft.com/office/drawing/2014/main" id="{6A0BDDAF-C2F7-D60F-21A2-FEBF55243E72}"/>
              </a:ext>
            </a:extLst>
          </p:cNvPr>
          <p:cNvSpPr>
            <a:spLocks noGrp="1"/>
          </p:cNvSpPr>
          <p:nvPr>
            <p:ph type="sldNum" sz="quarter" idx="5"/>
          </p:nvPr>
        </p:nvSpPr>
        <p:spPr/>
        <p:txBody>
          <a:bodyPr/>
          <a:lstStyle/>
          <a:p>
            <a:fld id="{98FF6D0F-8D8B-42DD-BAAB-92498700177C}" type="slidenum">
              <a:rPr lang="it-IT" smtClean="0"/>
              <a:t>44</a:t>
            </a:fld>
            <a:endParaRPr lang="it-IT"/>
          </a:p>
        </p:txBody>
      </p:sp>
    </p:spTree>
    <p:extLst>
      <p:ext uri="{BB962C8B-B14F-4D97-AF65-F5344CB8AC3E}">
        <p14:creationId xmlns:p14="http://schemas.microsoft.com/office/powerpoint/2010/main" val="14615290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D2B15-8604-6B70-FBF1-A4B82C29563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273EAE82-6ACC-99E4-A972-75EC79F538EB}"/>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2CB144E0-84D1-9B00-7968-E9F70B5717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spatial metrics reveal differences from image-level detection alone. PatchCore-L achieves the highest Pixel AP, at 42.89 percent, while PatchCore-S leads in Pixel AUROC and AUPRO. AUPRO measures the coverage of anomalous regions as the false-positive rate varies, and is normalized up to the limit shown in each column. With small defects, even a low false-positive rate can correspond to many incorrectly flagged pixels. This is why very high Pixel AUROC can coexist with limited precision. AP, AUPRO and qualitative maps should therefore be considered together.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46 (Normal vs damaged wheel).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"A matched image pair makes these outputs concrete."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next example shows the outputs for the same wheel with and without a perforation."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can illustrate the image score and anomaly map using a normal and damaged observation."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metrics; Chapter 6, full localization table.]</a:t>
            </a:r>
          </a:p>
        </p:txBody>
      </p:sp>
      <p:sp>
        <p:nvSpPr>
          <p:cNvPr id="4" name="Segnaposto numero diapositiva 3">
            <a:extLst>
              <a:ext uri="{FF2B5EF4-FFF2-40B4-BE49-F238E27FC236}">
                <a16:creationId xmlns:a16="http://schemas.microsoft.com/office/drawing/2014/main" id="{EFA79960-8929-661B-DDE2-2947423ED95E}"/>
              </a:ext>
            </a:extLst>
          </p:cNvPr>
          <p:cNvSpPr>
            <a:spLocks noGrp="1"/>
          </p:cNvSpPr>
          <p:nvPr>
            <p:ph type="sldNum" sz="quarter" idx="5"/>
          </p:nvPr>
        </p:nvSpPr>
        <p:spPr/>
        <p:txBody>
          <a:bodyPr/>
          <a:lstStyle/>
          <a:p>
            <a:fld id="{98FF6D0F-8D8B-42DD-BAAB-92498700177C}" type="slidenum">
              <a:rPr lang="it-IT" smtClean="0"/>
              <a:t>45</a:t>
            </a:fld>
            <a:endParaRPr lang="it-IT"/>
          </a:p>
        </p:txBody>
      </p:sp>
    </p:spTree>
    <p:extLst>
      <p:ext uri="{BB962C8B-B14F-4D97-AF65-F5344CB8AC3E}">
        <p14:creationId xmlns:p14="http://schemas.microsoft.com/office/powerpoint/2010/main" val="345039278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dirty="0"/>
              <a:t>[Extra slide. Optional explanation for the Q&amp;A, about 35–45 seconds, outside the 15-minute presentation.]</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This example compares the same wheel observation with and without a synthetic perforation. The scene, viewpoint and surface appearance are matched. The normal image receives an anomaly score of 0.229, while the damaged image receives 0.848.</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The middle column shows the ground truth: white marks the hole, and cyan outlines the target wheel. The last column shows the model's continuous anomaly map. In the damaged observation, a stronger response appears near the annotated hole. The score describes the entire image, while the map shows the spatial response.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These are normalized anomaly scores, rather than probabilities. This pair illustrates the model's behavior on one example and does not summarize performance across the test set.</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[LINKING OPTIONS: optional Q&amp;A transition to slide 47 (U-Net). Choose one if relevant.]</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Option 1: "I also have the architecture diagrams, beginning with U-Net."</a:t>
            </a:r>
          </a:p>
          <a:p>
            <a:pPr marL="0" marR="0" lvl="0" indent="0" algn="l" defTabSz="914400">
              <a:lnSpc>
                <a:spcPct val="100000"/>
              </a:lnSpc>
              <a:spcBef>
                <a:spcPts val="0"/>
              </a:spcBef>
              <a:spcAft>
                <a:spcPts val="0"/>
              </a:spcAft>
              <a:buClrTx/>
              <a:buSzTx/>
              <a:buFontTx/>
              <a:buNone/>
            </a:pPr>
            <a:r>
              <a:rPr lang="en-US" dirty="0"/>
              <a:t>Option 2: "If architecture details are useful, I can start with U-Net."</a:t>
            </a:r>
          </a:p>
          <a:p>
            <a:pPr marL="0" marR="0" lvl="0" indent="0" algn="l" defTabSz="914400">
              <a:lnSpc>
                <a:spcPct val="100000"/>
              </a:lnSpc>
              <a:spcBef>
                <a:spcPts val="0"/>
              </a:spcBef>
              <a:spcAft>
                <a:spcPts val="0"/>
              </a:spcAft>
              <a:buClrTx/>
              <a:buSzTx/>
              <a:buFontTx/>
              <a:buNone/>
            </a:pPr>
            <a:r>
              <a:rPr lang="en-US" dirty="0"/>
              <a:t>Option 3: "For the segmentation models, the next diagram shows how U-Net works."</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[Configuration and sources, not to be read aloud.]</a:t>
            </a:r>
          </a:p>
          <a:p>
            <a:pPr marL="0" marR="0" lvl="0" indent="0" algn="l" defTabSz="914400">
              <a:lnSpc>
                <a:spcPct val="100000"/>
              </a:lnSpc>
              <a:spcBef>
                <a:spcPts val="0"/>
              </a:spcBef>
              <a:spcAft>
                <a:spcPts val="0"/>
              </a:spcAft>
              <a:buClrTx/>
              <a:buSzTx/>
              <a:buFontTx/>
              <a:buNone/>
            </a:pPr>
            <a:r>
              <a:rPr lang="en-US" dirty="0"/>
              <a:t>Recorded test pair: pair_dr_100082_clean and pair_dr_100082_hole, synthetic pose A test set. Model: TinyGLASS with frozen ResNet18, 512 × 512 input, layer3 feature grid, Gaussian smoothing σ=1. The final TG-512 configuration in the thesis uses σ=4. These maps are from the recorded σ=1 example and must not be presented as the σ=4 maps. The image score is obtained before map smoothing. No classification threshold or predicted binary mask is shown.</a:t>
            </a:r>
          </a:p>
          <a:p>
            <a:pPr marL="0" marR="0" lvl="0" indent="0" algn="l" defTabSz="914400">
              <a:lnSpc>
                <a:spcPct val="100000"/>
              </a:lnSpc>
              <a:spcBef>
                <a:spcPts val="0"/>
              </a:spcBef>
              <a:spcAft>
                <a:spcPts val="0"/>
              </a:spcAft>
              <a:buClrTx/>
              <a:buSzTx/>
              <a:buFontTx/>
              <a:buNone/>
            </a:pPr>
            <a:endParaRPr 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8289505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CB2D9-9399-6B82-B61E-4031BFD809F3}"/>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6D65609-112B-8850-8F8C-A389C393420A}"/>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A3FD0546-55AE-450B-B508-658C32C758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U-Net combines a contracting path, which extracts semantic information, with a decoder that recovers spatial resolution. Connections between corresponding levels help preserve details that are useful at class boundaries. This is the original figure for the model family. In the thesis experiments, ResNet34 or MobileNetV2 replaces the encoding path. The comparison therefore also assesses how much we can reduce the encoder's size while preserving quality.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48 (DeepLabV3).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next architecture is DeepLabV3."</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"I can compare that structure with DeepLabV3's approach to segmentation."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"Another architecture evaluated in the thesis was DeepLabV3."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U-Net; original figure from reference [6].]</a:t>
            </a:r>
          </a:p>
        </p:txBody>
      </p:sp>
      <p:sp>
        <p:nvSpPr>
          <p:cNvPr id="4" name="Segnaposto numero diapositiva 3">
            <a:extLst>
              <a:ext uri="{FF2B5EF4-FFF2-40B4-BE49-F238E27FC236}">
                <a16:creationId xmlns:a16="http://schemas.microsoft.com/office/drawing/2014/main" id="{9D36198E-03B6-028F-4CBB-7615ACB5D21F}"/>
              </a:ext>
            </a:extLst>
          </p:cNvPr>
          <p:cNvSpPr>
            <a:spLocks noGrp="1"/>
          </p:cNvSpPr>
          <p:nvPr>
            <p:ph type="sldNum" sz="quarter" idx="5"/>
          </p:nvPr>
        </p:nvSpPr>
        <p:spPr/>
        <p:txBody>
          <a:bodyPr/>
          <a:lstStyle/>
          <a:p>
            <a:fld id="{98FF6D0F-8D8B-42DD-BAAB-92498700177C}" type="slidenum">
              <a:rPr lang="it-IT" smtClean="0"/>
              <a:t>47</a:t>
            </a:fld>
            <a:endParaRPr lang="it-IT"/>
          </a:p>
        </p:txBody>
      </p:sp>
    </p:spTree>
    <p:extLst>
      <p:ext uri="{BB962C8B-B14F-4D97-AF65-F5344CB8AC3E}">
        <p14:creationId xmlns:p14="http://schemas.microsoft.com/office/powerpoint/2010/main" val="33383992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D36A7-32F8-2BDA-D72C-743E0298D8E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ABD8AB8C-0AB9-C858-38F4-6DA2DA39FCD0}"/>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F25224F5-6BE0-857C-7BFD-F744EDD655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DeepLabV3 uses dilated convolutions to increase the receptive field without further reducing feature resolution. The ASPP module combines branches with different dilation rates and a global context contribution. This helps describe objects and regions at different scales. In the thesis, I evaluated the configuration with ResNet34. Its good segmentation performance needs to be considered alongside its higher inference cost.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49 (DeepLabV3+).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next diagram shows the DeepLabV3+ variant."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"DeepLabV3+ extends this design with a decoder."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can now explain how DeepLabV3+ combines context with higher-resolution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DeepLabV3; original figure from reference [7].]</a:t>
            </a:r>
          </a:p>
        </p:txBody>
      </p:sp>
      <p:sp>
        <p:nvSpPr>
          <p:cNvPr id="4" name="Segnaposto numero diapositiva 3">
            <a:extLst>
              <a:ext uri="{FF2B5EF4-FFF2-40B4-BE49-F238E27FC236}">
                <a16:creationId xmlns:a16="http://schemas.microsoft.com/office/drawing/2014/main" id="{F4C356D1-910D-165B-1017-5F2C0C37A1C3}"/>
              </a:ext>
            </a:extLst>
          </p:cNvPr>
          <p:cNvSpPr>
            <a:spLocks noGrp="1"/>
          </p:cNvSpPr>
          <p:nvPr>
            <p:ph type="sldNum" sz="quarter" idx="5"/>
          </p:nvPr>
        </p:nvSpPr>
        <p:spPr/>
        <p:txBody>
          <a:bodyPr/>
          <a:lstStyle/>
          <a:p>
            <a:fld id="{98FF6D0F-8D8B-42DD-BAAB-92498700177C}" type="slidenum">
              <a:rPr lang="it-IT" smtClean="0"/>
              <a:t>48</a:t>
            </a:fld>
            <a:endParaRPr lang="it-IT"/>
          </a:p>
        </p:txBody>
      </p:sp>
    </p:spTree>
    <p:extLst>
      <p:ext uri="{BB962C8B-B14F-4D97-AF65-F5344CB8AC3E}">
        <p14:creationId xmlns:p14="http://schemas.microsoft.com/office/powerpoint/2010/main" val="237230029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5F938-C1B6-C7F1-901A-1FC381B5F60E}"/>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50EB30F4-35C0-7405-BFE7-6563EF9E961F}"/>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AC439B20-C7F4-3EEF-3BDF-018648537EF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DeepLabV3+ retains </a:t>
            </a:r>
            <a:r>
              <a:rPr lang="en-US" dirty="0" err="1"/>
              <a:t>DeepLab's</a:t>
            </a:r>
            <a:r>
              <a:rPr lang="en-US" dirty="0"/>
              <a:t> multiscale feature extraction and adds a decoder that combines semantic context with higher-resolution features. Separable convolutions help contain the cost. The figure describes the general architecture. In the experiments, I use MobileNetV2 as the backbone. This configuration is particularly interesting for efficiency: with QAT, it has the lowest GPU energy per image among the segmentation models reported.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50 (</a:t>
            </a:r>
            <a:r>
              <a:rPr lang="en-US" dirty="0" err="1"/>
              <a:t>SegFormer</a:t>
            </a:r>
            <a:r>
              <a:rPr lang="en-US" dirty="0"/>
              <a:t>).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"I will now move on to </a:t>
            </a:r>
            <a:r>
              <a:rPr lang="en-US" dirty="0" err="1"/>
              <a:t>SegFormer</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a:t>
            </a:r>
            <a:r>
              <a:rPr lang="en-US" dirty="0" err="1"/>
              <a:t>SegFormer</a:t>
            </a:r>
            <a:r>
              <a:rPr lang="en-US" dirty="0"/>
              <a:t> provides an alternative built around a transformer encoder."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diagram shows </a:t>
            </a:r>
            <a:r>
              <a:rPr lang="en-US" dirty="0" err="1"/>
              <a:t>SegFormer's</a:t>
            </a:r>
            <a:r>
              <a:rPr lang="en-US" dirty="0"/>
              <a:t> encoder and decoder."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DeepLabV3+; original figure from reference [8].]</a:t>
            </a:r>
          </a:p>
        </p:txBody>
      </p:sp>
      <p:sp>
        <p:nvSpPr>
          <p:cNvPr id="4" name="Segnaposto numero diapositiva 3">
            <a:extLst>
              <a:ext uri="{FF2B5EF4-FFF2-40B4-BE49-F238E27FC236}">
                <a16:creationId xmlns:a16="http://schemas.microsoft.com/office/drawing/2014/main" id="{290257FE-1F61-F506-9E0C-7A8AAEDEFABF}"/>
              </a:ext>
            </a:extLst>
          </p:cNvPr>
          <p:cNvSpPr>
            <a:spLocks noGrp="1"/>
          </p:cNvSpPr>
          <p:nvPr>
            <p:ph type="sldNum" sz="quarter" idx="5"/>
          </p:nvPr>
        </p:nvSpPr>
        <p:spPr/>
        <p:txBody>
          <a:bodyPr/>
          <a:lstStyle/>
          <a:p>
            <a:fld id="{98FF6D0F-8D8B-42DD-BAAB-92498700177C}" type="slidenum">
              <a:rPr lang="it-IT" smtClean="0"/>
              <a:t>49</a:t>
            </a:fld>
            <a:endParaRPr lang="it-IT"/>
          </a:p>
        </p:txBody>
      </p:sp>
    </p:spTree>
    <p:extLst>
      <p:ext uri="{BB962C8B-B14F-4D97-AF65-F5344CB8AC3E}">
        <p14:creationId xmlns:p14="http://schemas.microsoft.com/office/powerpoint/2010/main" val="84235949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CB4F1-FF5E-2D6F-510D-0FD008FB845F}"/>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93CCB99E-753F-3E16-CDA9-E40B2C566CBC}"/>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4D1C46F-D949-0C8C-026A-6CD814E4C8E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SegFormer</a:t>
            </a:r>
            <a:r>
              <a:rPr lang="en-US" dirty="0"/>
              <a:t> uses a hierarchical transformer encoder, which produces features at multiple resolutions, and a relatively simple MLP decoder to combine them. The B0 variant keeps the model compact, with about 3.7 million parameters. In our comparison, it offers the highest test </a:t>
            </a:r>
            <a:r>
              <a:rPr lang="en-US" dirty="0" err="1"/>
              <a:t>mIoU</a:t>
            </a:r>
            <a:r>
              <a:rPr lang="en-US" dirty="0"/>
              <a:t> and better generalization between the two MarsSeg domains than the CNNs considered. The quantization tested remains selective, however: attention, linear projections and some other operations do not all become INT8.</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51 (</a:t>
            </a:r>
            <a:r>
              <a:rPr lang="en-US" dirty="0" err="1"/>
              <a:t>LCNet</a:t>
            </a:r>
            <a:r>
              <a:rPr lang="en-US" dirty="0"/>
              <a:t>).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"Another compact architecture in the study is </a:t>
            </a:r>
            <a:r>
              <a:rPr lang="en-US" dirty="0" err="1"/>
              <a:t>LCNet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a:t>
            </a:r>
            <a:r>
              <a:rPr lang="en-US" dirty="0" err="1"/>
              <a:t>LCNet</a:t>
            </a:r>
            <a:r>
              <a:rPr lang="en-US" dirty="0"/>
              <a:t> is the next lightweight model in the comparison."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following diagram shows </a:t>
            </a:r>
            <a:r>
              <a:rPr lang="en-US" dirty="0" err="1"/>
              <a:t>LCNet's</a:t>
            </a:r>
            <a:r>
              <a:rPr lang="en-US" dirty="0"/>
              <a:t> approach to lightweight segmentation."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a:t>
            </a:r>
            <a:r>
              <a:rPr lang="en-US" dirty="0" err="1"/>
              <a:t>SegFormer</a:t>
            </a:r>
            <a:r>
              <a:rPr lang="en-US" dirty="0"/>
              <a:t>; original figure from reference [9].]</a:t>
            </a:r>
          </a:p>
        </p:txBody>
      </p:sp>
      <p:sp>
        <p:nvSpPr>
          <p:cNvPr id="4" name="Segnaposto numero diapositiva 3">
            <a:extLst>
              <a:ext uri="{FF2B5EF4-FFF2-40B4-BE49-F238E27FC236}">
                <a16:creationId xmlns:a16="http://schemas.microsoft.com/office/drawing/2014/main" id="{BC6905F3-DDDC-AE8A-0013-B25212C67F59}"/>
              </a:ext>
            </a:extLst>
          </p:cNvPr>
          <p:cNvSpPr>
            <a:spLocks noGrp="1"/>
          </p:cNvSpPr>
          <p:nvPr>
            <p:ph type="sldNum" sz="quarter" idx="5"/>
          </p:nvPr>
        </p:nvSpPr>
        <p:spPr/>
        <p:txBody>
          <a:bodyPr/>
          <a:lstStyle/>
          <a:p>
            <a:fld id="{98FF6D0F-8D8B-42DD-BAAB-92498700177C}" type="slidenum">
              <a:rPr lang="it-IT" smtClean="0"/>
              <a:t>50</a:t>
            </a:fld>
            <a:endParaRPr lang="it-IT"/>
          </a:p>
        </p:txBody>
      </p:sp>
    </p:spTree>
    <p:extLst>
      <p:ext uri="{BB962C8B-B14F-4D97-AF65-F5344CB8AC3E}">
        <p14:creationId xmlns:p14="http://schemas.microsoft.com/office/powerpoint/2010/main" val="153540719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A4B0B-1BDB-05EA-E7E8-AEB829F1F0CD}"/>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5FC4910-8404-9EAC-B63E-810F8AF0B939}"/>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9E79C577-4AAF-AEE7-4117-7B4415FAE5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LCNet</a:t>
            </a:r>
            <a:r>
              <a:rPr lang="en-US" dirty="0"/>
              <a:t> is designed for lightweight segmentation. It restricts some transformations to selected channels, aiming to preserve contextual information with fewer parameters. I tested configurations (3,7) and (3,11), with about 0.51 and 0.73 million parameters respectively. They are trained from scratch and for more epochs than the other models. The results show that, in the configurations tested, this high degree of compactness comes with lower </a:t>
            </a:r>
            <a:r>
              <a:rPr lang="en-US" dirty="0" err="1"/>
              <a:t>mIoU</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52 (PatchCore).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"Turning to damage inspection, I will start with PatchCore."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"I can now switch to the anomaly detection architectures."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inspection architecture diagrams begin with PatchCore and its memory bank."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2, </a:t>
            </a:r>
            <a:r>
              <a:rPr lang="en-US" dirty="0" err="1"/>
              <a:t>LCNet</a:t>
            </a:r>
            <a:r>
              <a:rPr lang="en-US" dirty="0"/>
              <a:t>; original figure from reference [10].]</a:t>
            </a:r>
          </a:p>
        </p:txBody>
      </p:sp>
      <p:sp>
        <p:nvSpPr>
          <p:cNvPr id="4" name="Segnaposto numero diapositiva 3">
            <a:extLst>
              <a:ext uri="{FF2B5EF4-FFF2-40B4-BE49-F238E27FC236}">
                <a16:creationId xmlns:a16="http://schemas.microsoft.com/office/drawing/2014/main" id="{45A0D0ED-F71B-4905-5E9D-2DFEF45988F5}"/>
              </a:ext>
            </a:extLst>
          </p:cNvPr>
          <p:cNvSpPr>
            <a:spLocks noGrp="1"/>
          </p:cNvSpPr>
          <p:nvPr>
            <p:ph type="sldNum" sz="quarter" idx="5"/>
          </p:nvPr>
        </p:nvSpPr>
        <p:spPr/>
        <p:txBody>
          <a:bodyPr/>
          <a:lstStyle/>
          <a:p>
            <a:fld id="{98FF6D0F-8D8B-42DD-BAAB-92498700177C}" type="slidenum">
              <a:rPr lang="it-IT" smtClean="0"/>
              <a:t>51</a:t>
            </a:fld>
            <a:endParaRPr lang="it-IT"/>
          </a:p>
        </p:txBody>
      </p:sp>
    </p:spTree>
    <p:extLst>
      <p:ext uri="{BB962C8B-B14F-4D97-AF65-F5344CB8AC3E}">
        <p14:creationId xmlns:p14="http://schemas.microsoft.com/office/powerpoint/2010/main" val="39877416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10AAE-E522-D608-A08A-404B8E2E7604}"/>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7DF988BD-A3FB-36EC-F84C-198F7DA9CEC7}"/>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2FA2037-C44E-CF0A-8CBA-25FE625FFE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PatchCore, a fixed pretrained extractor produces descriptors of normal patches. A representative subset forms the memory bank. During inference, the distance to the nearest descriptors generates the local scores and the image score. In the thesis, the bank contains fifty thousand descriptors for both versions. Cost also depends on the number of patches to compare: the Small configuration uses a denser grid and, despite its smaller backbone, is slower than the Large configuration.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53 (EfficientAD).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"Let's now look at EfficientAD."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"EfficientAD offers a different way to learn normal appearance."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"The next architecture uses a teacher and a student to identify anomalous responses."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Chapters 4 and 6, PatchCore; original figure from reference [16].]</a:t>
            </a:r>
          </a:p>
        </p:txBody>
      </p:sp>
      <p:sp>
        <p:nvSpPr>
          <p:cNvPr id="4" name="Segnaposto numero diapositiva 3">
            <a:extLst>
              <a:ext uri="{FF2B5EF4-FFF2-40B4-BE49-F238E27FC236}">
                <a16:creationId xmlns:a16="http://schemas.microsoft.com/office/drawing/2014/main" id="{FBCABB7E-DCC0-E3EA-E16A-CDC46A446EDC}"/>
              </a:ext>
            </a:extLst>
          </p:cNvPr>
          <p:cNvSpPr>
            <a:spLocks noGrp="1"/>
          </p:cNvSpPr>
          <p:nvPr>
            <p:ph type="sldNum" sz="quarter" idx="5"/>
          </p:nvPr>
        </p:nvSpPr>
        <p:spPr/>
        <p:txBody>
          <a:bodyPr/>
          <a:lstStyle/>
          <a:p>
            <a:fld id="{98FF6D0F-8D8B-42DD-BAAB-92498700177C}" type="slidenum">
              <a:rPr lang="it-IT" smtClean="0"/>
              <a:t>52</a:t>
            </a:fld>
            <a:endParaRPr lang="it-IT"/>
          </a:p>
        </p:txBody>
      </p:sp>
    </p:spTree>
    <p:extLst>
      <p:ext uri="{BB962C8B-B14F-4D97-AF65-F5344CB8AC3E}">
        <p14:creationId xmlns:p14="http://schemas.microsoft.com/office/powerpoint/2010/main" val="278885485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3A216-8690-F4CE-4AEF-DE7ED001C457}"/>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41B5BD75-2A03-EB81-5F62-907F3D6BD09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EC4A8DE8-BB2E-B406-6669-67705248D4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EfficientAD combines a fixed teacher with a student trained on normal images. If the student does not reproduce the teacher's features well in a region, that difference contributes to the anomaly map. An autoencoder adds a check on global context, and the contributions are calibrated on normal validation data. The figure illustrates the general method, including structural and logical anomalies. Our application instead concerns perforations and does not reproduce all the scenarios in the original 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54 (</a:t>
            </a:r>
            <a:r>
              <a:rPr lang="en-US" dirty="0" err="1"/>
              <a:t>SuperSimpleNet</a:t>
            </a:r>
            <a:r>
              <a:rPr lang="en-US" dirty="0"/>
              <a:t>).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next model is </a:t>
            </a:r>
            <a:r>
              <a:rPr lang="en-US" dirty="0" err="1"/>
              <a:t>SuperSimpleNet</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a:t>
            </a:r>
            <a:r>
              <a:rPr lang="en-US" dirty="0" err="1"/>
              <a:t>SuperSimpleNet</a:t>
            </a:r>
            <a:r>
              <a:rPr lang="en-US" dirty="0"/>
              <a:t> takes another approach using artificial training anomalies."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can now show </a:t>
            </a:r>
            <a:r>
              <a:rPr lang="en-US" dirty="0" err="1"/>
              <a:t>SuperSimpleNet's</a:t>
            </a:r>
            <a:r>
              <a:rPr lang="en-US" dirty="0"/>
              <a:t> detection and localization branches."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EfficientAD-S; original figure from reference [17].]</a:t>
            </a:r>
          </a:p>
        </p:txBody>
      </p:sp>
      <p:sp>
        <p:nvSpPr>
          <p:cNvPr id="4" name="Segnaposto numero diapositiva 3">
            <a:extLst>
              <a:ext uri="{FF2B5EF4-FFF2-40B4-BE49-F238E27FC236}">
                <a16:creationId xmlns:a16="http://schemas.microsoft.com/office/drawing/2014/main" id="{65B6D6D2-A756-6E0B-A781-73D54E6CED06}"/>
              </a:ext>
            </a:extLst>
          </p:cNvPr>
          <p:cNvSpPr>
            <a:spLocks noGrp="1"/>
          </p:cNvSpPr>
          <p:nvPr>
            <p:ph type="sldNum" sz="quarter" idx="5"/>
          </p:nvPr>
        </p:nvSpPr>
        <p:spPr/>
        <p:txBody>
          <a:bodyPr/>
          <a:lstStyle/>
          <a:p>
            <a:fld id="{98FF6D0F-8D8B-42DD-BAAB-92498700177C}" type="slidenum">
              <a:rPr lang="it-IT" smtClean="0"/>
              <a:t>53</a:t>
            </a:fld>
            <a:endParaRPr lang="it-IT"/>
          </a:p>
        </p:txBody>
      </p:sp>
    </p:spTree>
    <p:extLst>
      <p:ext uri="{BB962C8B-B14F-4D97-AF65-F5344CB8AC3E}">
        <p14:creationId xmlns:p14="http://schemas.microsoft.com/office/powerpoint/2010/main" val="43415232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152DC-140A-6CF8-F70F-6577D63EB36A}"/>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BB2EF72C-F8EB-421D-8A7E-B37BF03B81B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8712F8DB-07A9-1DF5-0AC1-1F429E6970A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diagram shows feature extraction and the creation of artificial anomalies during training. The model jointly learns to produce a map and an image score. The general formulation supports multiple supervision settings, but in the thesis I use only normal data and synthetic feature perturbations. The WideResNet50 backbone is fixed. For the main result, the image score comes from the mean of the highest one percent of values in the raw map, rather than just the classification head's output.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55 (TinyGLASS).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"TinyGLASS is the next compact inspection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"TinyGLASS also uses artificial anomalies, with a compact backbone."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"Let's now look at how TinyGLASS produces its predictions."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 4, </a:t>
            </a:r>
            <a:r>
              <a:rPr lang="en-US" dirty="0" err="1"/>
              <a:t>SuperSimpleNet</a:t>
            </a:r>
            <a:r>
              <a:rPr lang="en-US" dirty="0"/>
              <a:t>; figure from the extended formulation, reference [19].]</a:t>
            </a:r>
          </a:p>
        </p:txBody>
      </p:sp>
      <p:sp>
        <p:nvSpPr>
          <p:cNvPr id="4" name="Segnaposto numero diapositiva 3">
            <a:extLst>
              <a:ext uri="{FF2B5EF4-FFF2-40B4-BE49-F238E27FC236}">
                <a16:creationId xmlns:a16="http://schemas.microsoft.com/office/drawing/2014/main" id="{82315368-2230-6083-DD82-23ED0DAEB30F}"/>
              </a:ext>
            </a:extLst>
          </p:cNvPr>
          <p:cNvSpPr>
            <a:spLocks noGrp="1"/>
          </p:cNvSpPr>
          <p:nvPr>
            <p:ph type="sldNum" sz="quarter" idx="5"/>
          </p:nvPr>
        </p:nvSpPr>
        <p:spPr/>
        <p:txBody>
          <a:bodyPr/>
          <a:lstStyle/>
          <a:p>
            <a:fld id="{98FF6D0F-8D8B-42DD-BAAB-92498700177C}" type="slidenum">
              <a:rPr lang="it-IT" smtClean="0"/>
              <a:t>54</a:t>
            </a:fld>
            <a:endParaRPr lang="it-IT"/>
          </a:p>
        </p:txBody>
      </p:sp>
    </p:spTree>
    <p:extLst>
      <p:ext uri="{BB962C8B-B14F-4D97-AF65-F5344CB8AC3E}">
        <p14:creationId xmlns:p14="http://schemas.microsoft.com/office/powerpoint/2010/main" val="6329884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753AB-0C4C-4158-90DE-A2670C3BDEB2}"/>
            </a:ext>
          </a:extLst>
        </p:cNvPr>
        <p:cNvGrpSpPr/>
        <p:nvPr/>
      </p:nvGrpSpPr>
      <p:grpSpPr>
        <a:xfrm>
          <a:off x="0" y="0"/>
          <a:ext cx="0" cy="0"/>
          <a:chOff x="0" y="0"/>
          <a:chExt cx="0" cy="0"/>
        </a:xfrm>
      </p:grpSpPr>
      <p:sp>
        <p:nvSpPr>
          <p:cNvPr id="2" name="Segnaposto immagine diapositiva 1">
            <a:extLst>
              <a:ext uri="{FF2B5EF4-FFF2-40B4-BE49-F238E27FC236}">
                <a16:creationId xmlns:a16="http://schemas.microsoft.com/office/drawing/2014/main" id="{E5AA9D39-1D13-339D-1A82-631ED0CC3368}"/>
              </a:ext>
            </a:extLst>
          </p:cNvPr>
          <p:cNvSpPr>
            <a:spLocks noGrp="1" noRot="1" noChangeAspect="1"/>
          </p:cNvSpPr>
          <p:nvPr>
            <p:ph type="sldImg"/>
          </p:nvPr>
        </p:nvSpPr>
        <p:spPr/>
        <p:txBody>
          <a:bodyPr/>
          <a:lstStyle/>
          <a:p>
            <a:endParaRPr lang="it-IT"/>
          </a:p>
        </p:txBody>
      </p:sp>
      <p:sp>
        <p:nvSpPr>
          <p:cNvPr id="3" name="Segnaposto note 2">
            <a:extLst>
              <a:ext uri="{FF2B5EF4-FFF2-40B4-BE49-F238E27FC236}">
                <a16:creationId xmlns:a16="http://schemas.microsoft.com/office/drawing/2014/main" id="{40CB0C66-FB26-43BE-9711-2FB4F11802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[Extra slide. Optional remarks for the Q&amp;A, outside the 15-minute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TinyGLASS combines local anomalies synthesized in image space with guided perturbations in feature space. These mechanisms are used during training. Inference retains a direct prediction path. This is the original figure. In our implementation, the ResNet18 backbone is fixed, and I use feature pooling without the separate trainable adapter shown in the diagram. The 384- and 512-pixel variants also differ in their feature grids and smoothing. Their comparison therefore concerns complete configurations, rather than the effect of resolution alone.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[LINKING OPTIONS: optional Q&amp;A transition to slide 56 (TinyGLASS ablation). Choose one if relevant.]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1: "The ablation results explain how these settings were chosen."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2: "The next slide examines </a:t>
            </a:r>
            <a:r>
              <a:rPr lang="en-US" dirty="0" err="1"/>
              <a:t>TinyGLASS's</a:t>
            </a:r>
            <a:r>
              <a:rPr lang="en-US" dirty="0"/>
              <a:t> training and spatial configuration choices."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Option 3: "I can now show how the selected TinyGLASS design choices affect the results."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[Supporting sources, not to be read aloud: Thesis, Chapters 4 and 6, TinyGLASS; original figure from reference [20], CC BY 4.0.]</a:t>
            </a:r>
          </a:p>
        </p:txBody>
      </p:sp>
      <p:sp>
        <p:nvSpPr>
          <p:cNvPr id="4" name="Segnaposto numero diapositiva 3">
            <a:extLst>
              <a:ext uri="{FF2B5EF4-FFF2-40B4-BE49-F238E27FC236}">
                <a16:creationId xmlns:a16="http://schemas.microsoft.com/office/drawing/2014/main" id="{1C0096FB-8A97-C1AF-6F9E-003C48F97828}"/>
              </a:ext>
            </a:extLst>
          </p:cNvPr>
          <p:cNvSpPr>
            <a:spLocks noGrp="1"/>
          </p:cNvSpPr>
          <p:nvPr>
            <p:ph type="sldNum" sz="quarter" idx="5"/>
          </p:nvPr>
        </p:nvSpPr>
        <p:spPr/>
        <p:txBody>
          <a:bodyPr/>
          <a:lstStyle/>
          <a:p>
            <a:fld id="{98FF6D0F-8D8B-42DD-BAAB-92498700177C}" type="slidenum">
              <a:rPr lang="it-IT" smtClean="0"/>
              <a:t>55</a:t>
            </a:fld>
            <a:endParaRPr lang="it-IT"/>
          </a:p>
        </p:txBody>
      </p:sp>
    </p:spTree>
    <p:extLst>
      <p:ext uri="{BB962C8B-B14F-4D97-AF65-F5344CB8AC3E}">
        <p14:creationId xmlns:p14="http://schemas.microsoft.com/office/powerpoint/2010/main" val="14459594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dirty="0"/>
              <a:t>[Extra slide. Optional explanation for the Q&amp;A, about 50–60 seconds, outside the 15-minute presentation.]</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This slide summarizes two groups of TinyGLASS ablations. On the left, the input resolution, feature grid and smoothing are fixed. Replacing texture perturbations with hole-like perturbations increases test Pixel AP from 6.97 to 11.46 percent. Adjusting the hole-size distribution brings it to about 14.7 percent. Giving more weight to small holes slightly improves detection, but does not improve test Pixel AP compared with the 50/40/10 distribution. We kept 70/25/5 based on validation performance.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On the right, increasing the input from 256 to 384 pixels improves both metrics, while simply increasing it to 512 pixels with the dense grid does not. At 512 pixels, pooling to a 32 by 32 grid improves localization. Increasing smoothing from sigma one to sigma four then raises Pixel AP from 27.01 to 27.59 percent, with the same Image AUROC. This is because the image score is computed before map smoothing.</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[LINKING OPTIONS: optional wrap-up for this answer. Choose one.]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Option 1: "These experiments explain the TinyGLASS settings retained in the comparison."</a:t>
            </a:r>
          </a:p>
          <a:p>
            <a:pPr marL="0" marR="0" lvl="0" indent="0" algn="l" defTabSz="914400">
              <a:lnSpc>
                <a:spcPct val="100000"/>
              </a:lnSpc>
              <a:spcBef>
                <a:spcPts val="0"/>
              </a:spcBef>
              <a:spcAft>
                <a:spcPts val="0"/>
              </a:spcAft>
              <a:buClrTx/>
              <a:buSzTx/>
              <a:buFontTx/>
              <a:buNone/>
            </a:pPr>
            <a:r>
              <a:rPr lang="en-US" dirty="0"/>
              <a:t>Option 2: "I hope this clarifies the role of the training and smoothing choices."</a:t>
            </a:r>
          </a:p>
          <a:p>
            <a:pPr marL="0" marR="0" lvl="0" indent="0" algn="l" defTabSz="914400">
              <a:lnSpc>
                <a:spcPct val="100000"/>
              </a:lnSpc>
              <a:spcBef>
                <a:spcPts val="0"/>
              </a:spcBef>
              <a:spcAft>
                <a:spcPts val="0"/>
              </a:spcAft>
              <a:buClrTx/>
              <a:buSzTx/>
              <a:buFontTx/>
              <a:buNone/>
            </a:pPr>
            <a:r>
              <a:rPr lang="en-US" dirty="0"/>
              <a:t>Option 3: "I can return to the main comparison if further detail would be useful."</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[Experimental context and sources, not to be read aloud.]</a:t>
            </a:r>
          </a:p>
          <a:p>
            <a:pPr marL="0" marR="0" lvl="0" indent="0" algn="l" defTabSz="914400">
              <a:lnSpc>
                <a:spcPct val="100000"/>
              </a:lnSpc>
              <a:spcBef>
                <a:spcPts val="0"/>
              </a:spcBef>
              <a:spcAft>
                <a:spcPts val="0"/>
              </a:spcAft>
              <a:buClrTx/>
              <a:buSzTx/>
              <a:buFontTx/>
              <a:buNone/>
            </a:pPr>
            <a:r>
              <a:rPr lang="en-US" dirty="0"/>
              <a:t>All visible results are percentages on the synthetic pose-A test split, using the fixed 720 × 720 crop and the original data splits. They are selected experiments, not a complete factorial ablation or a sequence that isolates every training change. Configuration and checkpoint selection uses validation, rather than choosing the highest test metric.</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Left table: 256 × 256 input, 32 × 32 feature grid, σ=4. Texture/local: test Image AUROC 66.78, Pixel AP 6.97. Hole/initial: 69.72, 11.46. Hole/50-40-10: 72.04, 14.71. Hole/70-25-5: 72.55, 14.67. The probabilities describe small, medium and large LAS training perturbations, not the proportions of damaged Blender images. The 70/25/5 configuration has validation Image AUROC 83.74 and Pixel AP 15.18, compared with 83.35 and 14.40 for 50/40/10. Small-hole test Pixel AP decreases from 7.21 to 6.84, so the frequency change does not resolve the small-defect problem. All visible training variants omit the hypersphere constraint and retain local GAS constraints. In the earlier 900 × 900 crop experiment, removing the hypersphere constraint changes test Image AUROC from 56.33 to 63.81 and Pixel AP from 1.41 to 7.32. This earlier crop comparison is not mixed into the on-slide table.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Right table: fixed LAS hole probabilities 70/25/5. The 256 × 256 and 384 × 384 rows use alignment to the layer2 grid. At 512 × 512, both the layer2 64 × 64 grid and the layer3 32 × 32 grid are shown. Features from both layer2 and layer3 remain in the model; grid size denotes alignment/pooling resolution, rather than excluding an extractor stage. Smoothing variants of a checkpoint share their image score and Image AUROC. The 27.01 to 27.59 change is 0.58 percentage points, using displayed rounded values. The 384 × 384, 48 × 48, σ=1 row is TG-384. The 512 × 512, 32 × 32, σ=4 row is TG-512. Best image and pixel values are emphasized independently within each table.</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The thesis also evaluates image-score aggregation on the initial hole-LAS checkpoint. Maximum aggregation obtains validation Image AUROC 80.60 and Image AP 59.51. The mean of the top three responses gives 80.55 and 58.91; wider averages and the tested quantiles perform worse. The final configuration therefore keeps the maximum.</a:t>
            </a:r>
          </a:p>
          <a:p>
            <a:pPr marL="0" marR="0" lvl="0" indent="0" algn="l" defTabSz="914400">
              <a:lnSpc>
                <a:spcPct val="100000"/>
              </a:lnSpc>
              <a:spcBef>
                <a:spcPts val="0"/>
              </a:spcBef>
              <a:spcAft>
                <a:spcPts val="0"/>
              </a:spcAft>
              <a:buClrTx/>
              <a:buSzTx/>
              <a:buFontTx/>
              <a:buNone/>
            </a:pPr>
            <a:endParaRPr lang="en-US" dirty="0"/>
          </a:p>
          <a:p>
            <a:pPr marL="0" marR="0" lvl="0" indent="0" algn="l" defTabSz="914400">
              <a:lnSpc>
                <a:spcPct val="100000"/>
              </a:lnSpc>
              <a:spcBef>
                <a:spcPts val="0"/>
              </a:spcBef>
              <a:spcAft>
                <a:spcPts val="0"/>
              </a:spcAft>
              <a:buClrTx/>
              <a:buSzTx/>
              <a:buFontTx/>
              <a:buNone/>
            </a:pPr>
            <a:r>
              <a:rPr lang="en-US" dirty="0"/>
              <a:t>Authoritative source: Daniele Venturini, Lightweight Scene Understanding and Synthetic Data-Driven Damage Inspection for Martian Rovers, Chapter 6, thesis/latex/Chapters/6 Evaluation of Synthetic Damage </a:t>
            </a:r>
            <a:r>
              <a:rPr lang="en-US" dirty="0" err="1"/>
              <a:t>Inspection.tex</a:t>
            </a:r>
            <a:r>
              <a:rPr lang="en-US" dirty="0"/>
              <a:t>. Training table: label </a:t>
            </a:r>
            <a:r>
              <a:rPr lang="en-US" dirty="0" err="1"/>
              <a:t>tab:damage-tinyglass-training-ablation</a:t>
            </a:r>
            <a:r>
              <a:rPr lang="en-US" dirty="0"/>
              <a:t>. Spatial table: label </a:t>
            </a:r>
            <a:r>
              <a:rPr lang="en-US" dirty="0" err="1"/>
              <a:t>tab:damage-tinyglass-spatial-ablation</a:t>
            </a:r>
            <a:r>
              <a:rPr lang="en-US" dirty="0"/>
              <a:t>. The complete tables also report validation and additional spatial settings. Method reference: TinyGLASS, reference [20] in the presentation bibliography.</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356956788"/>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a:t>[Extra slide. Optional explanation for the Q&amp;A, about 40–50 seconds, outside the 15-minute presentation.]</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This slide compares the spatial anomaly maps of all six reference configurations on the same damaged wheel image. The RGB image and the ground-truth mask provide the reference, with the white region marking the perforation. Brighter colors in each map indicate a higher normalized anomaly response.</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 maps show differences in how the models distribute their responses. In this example, PatchCore and EfficientAD produce broader responses over the wheel, while TinyGLASS concentrates its response more closely around the hole. SuperSimpleNet also responds near the defect, but more diffusely than the TinyGLASS configurations.</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These are continuous maps. Producing a binary damage mask would require an appropriate threshold for each model. This single example illustrates spatial behavior, while the localization metrics summarize performance over the evaluation set.</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[LINKING OPTIONS: optional wrap-up for this answer. Choose one.]</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Option 1: "That completes the qualitative comparison across the six configurations."</a:t>
            </a:r>
          </a:p>
          <a:p>
            <a:pPr marL="0" marR="0" lvl="0" indent="0" algn="l" defTabSz="914400">
              <a:lnSpc>
                <a:spcPct val="100000"/>
              </a:lnSpc>
              <a:spcBef>
                <a:spcPts val="0"/>
              </a:spcBef>
              <a:spcAft>
                <a:spcPts val="0"/>
              </a:spcAft>
              <a:buClrTx/>
              <a:buSzTx/>
              <a:buFontTx/>
              <a:buNone/>
            </a:pPr>
            <a:r>
              <a:rPr lang="en-US"/>
              <a:t>Option 2: "I can return to the quantitative localization results if useful."</a:t>
            </a:r>
          </a:p>
          <a:p>
            <a:pPr marL="0" marR="0" lvl="0" indent="0" algn="l" defTabSz="914400">
              <a:lnSpc>
                <a:spcPct val="100000"/>
              </a:lnSpc>
              <a:spcBef>
                <a:spcPts val="0"/>
              </a:spcBef>
              <a:spcAft>
                <a:spcPts val="0"/>
              </a:spcAft>
              <a:buClrTx/>
              <a:buSzTx/>
              <a:buFontTx/>
              <a:buNone/>
            </a:pPr>
            <a:r>
              <a:rPr lang="en-US"/>
              <a:t>Option 3: "These maps illustrate the different spatial responses behind the reported metrics."</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[Sources and interpretation, not to be read aloud.]</a:t>
            </a:r>
          </a:p>
          <a:p>
            <a:pPr marL="0" marR="0" lvl="0" indent="0" algn="l" defTabSz="914400">
              <a:lnSpc>
                <a:spcPct val="100000"/>
              </a:lnSpc>
              <a:spcBef>
                <a:spcPts val="0"/>
              </a:spcBef>
              <a:spcAft>
                <a:spcPts val="0"/>
              </a:spcAft>
              <a:buClrTx/>
              <a:buSzTx/>
              <a:buFontTx/>
              <a:buNone/>
            </a:pPr>
            <a:r>
              <a:rPr lang="en-US"/>
              <a:t>Source figure: thesis/latex/Images/damage_model_prediction_comparison.png. Thesis: Daniele Venturini, Lightweight Scene Understanding and Synthetic Data-Driven Damage Inspection for Martian Rovers, Chapter 6, thesis/latex/Chapters/6 Evaluation of Synthetic Damage Inspection.tex, figure label fig:damage-model-map-comparison and adjacent qualitative discussion.</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 six reference configurations are PC-S, PC-L, EAD-S, SSN, TG-384 and TG-512. The labels are expanded on the slide. The ground-truth panel is an annotated binary perforation mask. The model panels are normalized continuous anomaly maps and are not thresholded prediction masks. The displayed scale is [0,1], and map values are not calibrated probabilities. Do not infer a controlled cross-model probability comparison from the brightness alone.</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This qualitative image does not replace the detection or localization results over the complete evaluation set. The broader PatchCore/EfficientAD responses and the more concentrated TinyGLASS responses are observations on this example. No per-image numerical scores or unrecorded thresholds are added.</a:t>
            </a:r>
            <a:endParaRPr 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66712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a:lnSpc>
                <a:spcPct val="100000"/>
              </a:lnSpc>
              <a:spcBef>
                <a:spcPts val="0"/>
              </a:spcBef>
              <a:spcAft>
                <a:spcPts val="0"/>
              </a:spcAft>
              <a:buClrTx/>
              <a:buSzTx/>
              <a:buFontTx/>
              <a:buNone/>
            </a:pPr>
            <a:r>
              <a:rPr lang="en-US"/>
              <a:t>[Extra slide. Optional explanation for the Q&amp;A, about 45–60 seconds, outside the 15-minute presentation.]</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This table compares four SuperSimpleNet acquisition settings at a 256 by 256 input resolution, before changing the image-score formulation. Pose A with cropping achieves the highest validation and test values in this comparison.</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 clearest improvement is in localization: within pose A, cropping raises test Pixel AP from 7.27 to 19.49 percent, a gain of 12.22 percentage points. For all poses, cropping improves test Image AUROC only slightly, from 54.05 to 54.95 percent. This supports the controlled pose A acquisition and cropped input used in subsequent experiments.</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 all-poses and pose-A settings use different image populations, so the pose comparison should be interpreted with that limitation. The crop comparison within each population shows the effect of concentrating the input on the wheel.</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[LINKING OPTIONS: optional wrap-up for this answer. Choose one.]</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Option 1: "These results explain why the main experiments use cropped pose A images."</a:t>
            </a:r>
          </a:p>
          <a:p>
            <a:pPr marL="0" marR="0" lvl="0" indent="0" algn="l" defTabSz="914400">
              <a:lnSpc>
                <a:spcPct val="100000"/>
              </a:lnSpc>
              <a:spcBef>
                <a:spcPts val="0"/>
              </a:spcBef>
              <a:spcAft>
                <a:spcPts val="0"/>
              </a:spcAft>
              <a:buClrTx/>
              <a:buSzTx/>
              <a:buFontTx/>
              <a:buNone/>
            </a:pPr>
            <a:r>
              <a:rPr lang="en-US"/>
              <a:t>Option 2: "I can return to the preprocessing slide to show the selected crop."</a:t>
            </a:r>
          </a:p>
          <a:p>
            <a:pPr marL="0" marR="0" lvl="0" indent="0" algn="l" defTabSz="914400">
              <a:lnSpc>
                <a:spcPct val="100000"/>
              </a:lnSpc>
              <a:spcBef>
                <a:spcPts val="0"/>
              </a:spcBef>
              <a:spcAft>
                <a:spcPts val="0"/>
              </a:spcAft>
              <a:buClrTx/>
              <a:buSzTx/>
              <a:buFontTx/>
              <a:buNone/>
            </a:pPr>
            <a:r>
              <a:rPr lang="en-US"/>
              <a:t>Option 3: "This acquisition comparison comes before the later image-scoring experiments."</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[Experimental context and sources, not to be read aloud.]</a:t>
            </a:r>
          </a:p>
          <a:p>
            <a:pPr marL="0" marR="0" lvl="0" indent="0" algn="l" defTabSz="914400">
              <a:lnSpc>
                <a:spcPct val="100000"/>
              </a:lnSpc>
              <a:spcBef>
                <a:spcPts val="0"/>
              </a:spcBef>
              <a:spcAft>
                <a:spcPts val="0"/>
              </a:spcAft>
              <a:buClrTx/>
              <a:buSzTx/>
              <a:buFontTx/>
              <a:buNone/>
            </a:pPr>
            <a:r>
              <a:rPr lang="en-US"/>
              <a:t>Authoritative table: thesis/latex/Chapters/6 Evaluation of Synthetic Damage Inspection.tex, table label tab:damage-ssn-acquisition-ablation, caption SSN acquisition comparison (%) at 256 × 256, before changing the image score formulation. This is the table supplied in the user's screenshot, shown there as Table 6.9. All 16 percentages and the four metric rows are retained.</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Columns: All poses / No crop; All poses / Crop; Pose A / No crop; Pose A / Crop. Rows: validation Image AUROC, validation Pixel AP, test Image AUROC, test Pixel AP. Validation is abbreviated Val on the slide. AUROC is a ranking metric, not the fraction of images classified correctly. Pixel AP evaluates spatial anomaly scores against the damage masks.</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These are preliminary SSN acquisition results using the original classification-head image score. They must not be confused with the later top-1% aggregation or the final SSN reference configuration. In the subsequent scoring experiment, the same checkpoint's test Image AUROC changes from 69.74 to 81.11 when the image score is changed, while localization metrics stay unchanged; that is a separate experiment and is not added to this table.</a:t>
            </a:r>
          </a:p>
          <a:p>
            <a:pPr marL="0" marR="0" lvl="0" indent="0" algn="l" defTabSz="914400">
              <a:lnSpc>
                <a:spcPct val="100000"/>
              </a:lnSpc>
              <a:spcBef>
                <a:spcPts val="0"/>
              </a:spcBef>
              <a:spcAft>
                <a:spcPts val="0"/>
              </a:spcAft>
              <a:buClrTx/>
              <a:buSzTx/>
              <a:buFontTx/>
              <a:buNone/>
            </a:pPr>
            <a:endParaRPr lang="en-US"/>
          </a:p>
          <a:p>
            <a:pPr marL="0" marR="0" lvl="0" indent="0" algn="l" defTabSz="914400">
              <a:lnSpc>
                <a:spcPct val="100000"/>
              </a:lnSpc>
              <a:spcBef>
                <a:spcPts val="0"/>
              </a:spcBef>
              <a:spcAft>
                <a:spcPts val="0"/>
              </a:spcAft>
              <a:buClrTx/>
              <a:buSzTx/>
              <a:buFontTx/>
              <a:buNone/>
            </a:pPr>
            <a:r>
              <a:rPr lang="en-US"/>
              <a:t>The different pose populations prevent interpreting the pose restriction as an isolated change on identical data. The within-pose crop comparison is the relevant comparison for the 7.27 to 19.49 test Pixel AP result. The derived gain is 12.22 percentage points, rather than a relative percentage increase.</a:t>
            </a:r>
            <a:endParaRPr lang="en-US" dirty="0"/>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291654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F803789-FAE9-AE5F-D149-3256DF9141E0}"/>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BC36B48D-A499-6D9B-42D3-F50BA2FF77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6F88E66-1BB0-C228-8C64-9FEA351E50C1}"/>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5" name="Segnaposto piè di pagina 4">
            <a:extLst>
              <a:ext uri="{FF2B5EF4-FFF2-40B4-BE49-F238E27FC236}">
                <a16:creationId xmlns:a16="http://schemas.microsoft.com/office/drawing/2014/main" id="{2486D332-8FF2-D84A-E2CB-2C81A93D1447}"/>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154B3687-79F3-A13F-A26B-1C87C3B8AFAA}"/>
              </a:ext>
            </a:extLst>
          </p:cNvPr>
          <p:cNvSpPr>
            <a:spLocks noGrp="1"/>
          </p:cNvSpPr>
          <p:nvPr>
            <p:ph type="sldNum" sz="quarter" idx="12"/>
          </p:nvPr>
        </p:nvSpPr>
        <p:spPr/>
        <p:txBody>
          <a:bodyPr/>
          <a:lstStyle/>
          <a:p>
            <a:fld id="{F6BC9DE0-E148-4F27-888A-35D29D0A8254}" type="slidenum">
              <a:rPr lang="it-IT" smtClean="0"/>
              <a:t>‹N›</a:t>
            </a:fld>
            <a:endParaRPr lang="it-IT"/>
          </a:p>
        </p:txBody>
      </p:sp>
      <p:sp>
        <p:nvSpPr>
          <p:cNvPr id="9" name="Rettangolo 8">
            <a:extLst>
              <a:ext uri="{FF2B5EF4-FFF2-40B4-BE49-F238E27FC236}">
                <a16:creationId xmlns:a16="http://schemas.microsoft.com/office/drawing/2014/main" id="{E4DE5787-B0C3-9C56-C213-8B1D226F51A3}"/>
              </a:ext>
            </a:extLst>
          </p:cNvPr>
          <p:cNvSpPr/>
          <p:nvPr userDrawn="1"/>
        </p:nvSpPr>
        <p:spPr>
          <a:xfrm>
            <a:off x="10938617" y="68366"/>
            <a:ext cx="1153682" cy="114513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pic>
        <p:nvPicPr>
          <p:cNvPr id="7" name="Immagine 6">
            <a:extLst>
              <a:ext uri="{FF2B5EF4-FFF2-40B4-BE49-F238E27FC236}">
                <a16:creationId xmlns:a16="http://schemas.microsoft.com/office/drawing/2014/main" id="{6CEC2B1D-479D-0F04-3FAF-302109770D2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1118" y="5322193"/>
            <a:ext cx="969764" cy="969764"/>
          </a:xfrm>
          <a:prstGeom prst="rect">
            <a:avLst/>
          </a:prstGeom>
        </p:spPr>
      </p:pic>
    </p:spTree>
    <p:extLst>
      <p:ext uri="{BB962C8B-B14F-4D97-AF65-F5344CB8AC3E}">
        <p14:creationId xmlns:p14="http://schemas.microsoft.com/office/powerpoint/2010/main" val="201998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816B67F-545E-F2F3-1CFA-1F8C9A68EC59}"/>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D6620FFD-C026-E867-AD63-592D79EC4840}"/>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E1B5E04-C24B-D5D6-3D0A-F62E12A77008}"/>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5" name="Segnaposto piè di pagina 4">
            <a:extLst>
              <a:ext uri="{FF2B5EF4-FFF2-40B4-BE49-F238E27FC236}">
                <a16:creationId xmlns:a16="http://schemas.microsoft.com/office/drawing/2014/main" id="{D7FE94B9-F6E8-7619-0111-44A9CEE12AE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5710BEB-E9FE-213D-7360-C53330E52266}"/>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1029511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B1D697E-21B5-1000-78EF-4B3ACD5CD864}"/>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3812CEF4-17FB-B235-08C1-23524B552A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CC4A0313-0298-1377-47B1-B5F20B24602F}"/>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5" name="Segnaposto piè di pagina 4">
            <a:extLst>
              <a:ext uri="{FF2B5EF4-FFF2-40B4-BE49-F238E27FC236}">
                <a16:creationId xmlns:a16="http://schemas.microsoft.com/office/drawing/2014/main" id="{4A9ABFBA-FFEB-FB63-FB52-7A183CD3312B}"/>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E7B181C-3C54-EFD2-F1F5-95C0D20EEB2F}"/>
              </a:ext>
            </a:extLst>
          </p:cNvPr>
          <p:cNvSpPr>
            <a:spLocks noGrp="1"/>
          </p:cNvSpPr>
          <p:nvPr>
            <p:ph type="sldNum" sz="quarter" idx="12"/>
          </p:nvPr>
        </p:nvSpPr>
        <p:spPr/>
        <p:txBody>
          <a:bodyPr/>
          <a:lstStyle/>
          <a:p>
            <a:fld id="{F6BC9DE0-E148-4F27-888A-35D29D0A8254}" type="slidenum">
              <a:rPr lang="it-IT" smtClean="0"/>
              <a:t>‹N›</a:t>
            </a:fld>
            <a:endParaRPr lang="it-IT"/>
          </a:p>
        </p:txBody>
      </p:sp>
      <p:sp>
        <p:nvSpPr>
          <p:cNvPr id="7" name="Rettangolo 6">
            <a:extLst>
              <a:ext uri="{FF2B5EF4-FFF2-40B4-BE49-F238E27FC236}">
                <a16:creationId xmlns:a16="http://schemas.microsoft.com/office/drawing/2014/main" id="{95B49CF1-81D8-D18F-93BB-B1AB52586C7C}"/>
              </a:ext>
            </a:extLst>
          </p:cNvPr>
          <p:cNvSpPr/>
          <p:nvPr userDrawn="1"/>
        </p:nvSpPr>
        <p:spPr>
          <a:xfrm>
            <a:off x="10938617" y="68366"/>
            <a:ext cx="1153682" cy="1145137"/>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it-IT"/>
          </a:p>
        </p:txBody>
      </p:sp>
      <p:pic>
        <p:nvPicPr>
          <p:cNvPr id="10" name="Immagine 9">
            <a:extLst>
              <a:ext uri="{FF2B5EF4-FFF2-40B4-BE49-F238E27FC236}">
                <a16:creationId xmlns:a16="http://schemas.microsoft.com/office/drawing/2014/main" id="{7740D457-6C56-B3BB-5833-F6AD883A0B5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11118" y="156052"/>
            <a:ext cx="969764" cy="969764"/>
          </a:xfrm>
          <a:prstGeom prst="rect">
            <a:avLst/>
          </a:prstGeom>
        </p:spPr>
      </p:pic>
    </p:spTree>
    <p:extLst>
      <p:ext uri="{BB962C8B-B14F-4D97-AF65-F5344CB8AC3E}">
        <p14:creationId xmlns:p14="http://schemas.microsoft.com/office/powerpoint/2010/main" val="2157897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3A99D72-CA11-3389-C4A3-05808F01F9FC}"/>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D8BE8CD-CFBF-788D-048C-6E627945DA03}"/>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8ECF094A-0AD8-118A-5A5F-2BBBA770C48D}"/>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9096324B-A6ED-6C5C-45F5-F6534A8EDBEA}"/>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6" name="Segnaposto piè di pagina 5">
            <a:extLst>
              <a:ext uri="{FF2B5EF4-FFF2-40B4-BE49-F238E27FC236}">
                <a16:creationId xmlns:a16="http://schemas.microsoft.com/office/drawing/2014/main" id="{EF3AAECC-D6F8-D811-47C2-817A1745C4B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DD2689F-0EF0-256D-67D0-F67F8B2DB49D}"/>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243886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0BF4958-39EE-101C-CCB9-38505F5D46CB}"/>
              </a:ext>
            </a:extLst>
          </p:cNvPr>
          <p:cNvSpPr>
            <a:spLocks noGrp="1"/>
          </p:cNvSpPr>
          <p:nvPr>
            <p:ph type="title"/>
          </p:nvPr>
        </p:nvSpPr>
        <p:spPr>
          <a:xfrm>
            <a:off x="839788" y="365125"/>
            <a:ext cx="8478383"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FF6A501A-F474-9F9A-AD00-6351FF50F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4DF36407-53B3-8A58-720F-D63BD3F3805E}"/>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50CE85B8-DB21-8BE8-3B07-85429916EEA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FDACF0FB-80C3-8913-D169-E7E322010910}"/>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90D540B9-2A9E-CB1D-AB07-1CD8B277A533}"/>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8" name="Segnaposto piè di pagina 7">
            <a:extLst>
              <a:ext uri="{FF2B5EF4-FFF2-40B4-BE49-F238E27FC236}">
                <a16:creationId xmlns:a16="http://schemas.microsoft.com/office/drawing/2014/main" id="{5EB473A4-1A5D-100C-EA7B-D0F10495EC5C}"/>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4CF45C13-8344-AF21-0AB7-1E553E903179}"/>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27927027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8BC0E6F-1AB5-2269-4DB4-F107B259AA89}"/>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EDA4CCE2-C60D-5859-1B94-A3690983CF98}"/>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4" name="Segnaposto piè di pagina 3">
            <a:extLst>
              <a:ext uri="{FF2B5EF4-FFF2-40B4-BE49-F238E27FC236}">
                <a16:creationId xmlns:a16="http://schemas.microsoft.com/office/drawing/2014/main" id="{7770B1B2-CD1D-2504-DF02-2F5F8557C374}"/>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B7879D81-A00C-5E90-ADAE-AF1FD0C13F6A}"/>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2400937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DF40DD6-905A-20F5-B57A-190C04CED086}"/>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3" name="Segnaposto piè di pagina 2">
            <a:extLst>
              <a:ext uri="{FF2B5EF4-FFF2-40B4-BE49-F238E27FC236}">
                <a16:creationId xmlns:a16="http://schemas.microsoft.com/office/drawing/2014/main" id="{35E58C8C-4759-000A-C7C3-3B7E8F622502}"/>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B43FC90F-6229-5816-E211-B7EF3D86A197}"/>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53270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64C02A9-1669-E800-77AA-97376C1DDB3F}"/>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18BEF98-B068-A61E-D5B8-4557933C10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0242C958-5A6C-F3A1-B573-9356F4F01A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1551D153-C103-17AA-3434-4DACDDB383B3}"/>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6" name="Segnaposto piè di pagina 5">
            <a:extLst>
              <a:ext uri="{FF2B5EF4-FFF2-40B4-BE49-F238E27FC236}">
                <a16:creationId xmlns:a16="http://schemas.microsoft.com/office/drawing/2014/main" id="{E48790FD-852A-D077-B247-87F825C8C06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9BE65289-4B7C-6539-7CFF-5E0ED20D11B4}"/>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4134077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4DF4F45-9948-E60D-7EB6-990A66FCEA6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FFC80E67-55C5-5534-23CC-172522A3E7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7C131917-E449-3A79-2FA7-6F05DBABBA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262198FA-7549-8435-0AE1-1D52FC5848D1}"/>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6" name="Segnaposto piè di pagina 5">
            <a:extLst>
              <a:ext uri="{FF2B5EF4-FFF2-40B4-BE49-F238E27FC236}">
                <a16:creationId xmlns:a16="http://schemas.microsoft.com/office/drawing/2014/main" id="{17C7C673-A166-AA42-CDE7-D1159F5081BF}"/>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DA54695C-3ADA-F079-EAAE-295E7403DD1F}"/>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3360272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3D9E4F-171B-27B6-8C6E-A7901D437023}"/>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A935340E-B08B-AB7E-A2B9-50E7CC3497E1}"/>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4E9258E-C845-3A11-BA80-25E3AFF231F8}"/>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5" name="Segnaposto piè di pagina 4">
            <a:extLst>
              <a:ext uri="{FF2B5EF4-FFF2-40B4-BE49-F238E27FC236}">
                <a16:creationId xmlns:a16="http://schemas.microsoft.com/office/drawing/2014/main" id="{E2B94E76-43A8-D6DF-7418-DBD244FC8703}"/>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DF37EAE-02D5-2031-35AB-D79C34BDBF45}"/>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11954006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DB20921E-52EE-B765-0819-45540691F6A9}"/>
              </a:ext>
            </a:extLst>
          </p:cNvPr>
          <p:cNvSpPr>
            <a:spLocks noGrp="1"/>
          </p:cNvSpPr>
          <p:nvPr>
            <p:ph type="title" orient="vert"/>
          </p:nvPr>
        </p:nvSpPr>
        <p:spPr>
          <a:xfrm>
            <a:off x="8724900" y="1053737"/>
            <a:ext cx="2628900" cy="5123226"/>
          </a:xfrm>
        </p:spPr>
        <p:txBody>
          <a:bodyPr vert="eaVert"/>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F41F3A47-FCF9-78D6-41FE-4E9712B013B9}"/>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A47E077-5D91-6763-FB8F-67027502A154}"/>
              </a:ext>
            </a:extLst>
          </p:cNvPr>
          <p:cNvSpPr>
            <a:spLocks noGrp="1"/>
          </p:cNvSpPr>
          <p:nvPr>
            <p:ph type="dt" sz="half" idx="10"/>
          </p:nvPr>
        </p:nvSpPr>
        <p:spPr/>
        <p:txBody>
          <a:bodyPr/>
          <a:lstStyle/>
          <a:p>
            <a:fld id="{79A8DD84-C996-4DFC-A6C4-7C5817C05F19}" type="datetimeFigureOut">
              <a:rPr lang="it-IT" smtClean="0"/>
              <a:t>26/10/2026</a:t>
            </a:fld>
            <a:endParaRPr lang="it-IT"/>
          </a:p>
        </p:txBody>
      </p:sp>
      <p:sp>
        <p:nvSpPr>
          <p:cNvPr id="5" name="Segnaposto piè di pagina 4">
            <a:extLst>
              <a:ext uri="{FF2B5EF4-FFF2-40B4-BE49-F238E27FC236}">
                <a16:creationId xmlns:a16="http://schemas.microsoft.com/office/drawing/2014/main" id="{03F9C29B-1A24-82CD-09FB-A9CDF8EC80A7}"/>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6C09C3D8-828F-5F53-C9A0-6361273FDDDD}"/>
              </a:ext>
            </a:extLst>
          </p:cNvPr>
          <p:cNvSpPr>
            <a:spLocks noGrp="1"/>
          </p:cNvSpPr>
          <p:nvPr>
            <p:ph type="sldNum" sz="quarter" idx="12"/>
          </p:nvPr>
        </p:nvSpPr>
        <p:spPr/>
        <p:txBody>
          <a:bodyPr/>
          <a:lstStyle/>
          <a:p>
            <a:fld id="{F6BC9DE0-E148-4F27-888A-35D29D0A8254}" type="slidenum">
              <a:rPr lang="it-IT" smtClean="0"/>
              <a:t>‹N›</a:t>
            </a:fld>
            <a:endParaRPr lang="it-IT"/>
          </a:p>
        </p:txBody>
      </p:sp>
    </p:spTree>
    <p:extLst>
      <p:ext uri="{BB962C8B-B14F-4D97-AF65-F5344CB8AC3E}">
        <p14:creationId xmlns:p14="http://schemas.microsoft.com/office/powerpoint/2010/main" val="1484303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28F9C211-565C-7446-42B4-063F1DDD44B1}"/>
              </a:ext>
            </a:extLst>
          </p:cNvPr>
          <p:cNvSpPr>
            <a:spLocks noGrp="1"/>
          </p:cNvSpPr>
          <p:nvPr>
            <p:ph type="title"/>
          </p:nvPr>
        </p:nvSpPr>
        <p:spPr>
          <a:xfrm>
            <a:off x="838200" y="365125"/>
            <a:ext cx="8384177" cy="1325563"/>
          </a:xfrm>
          <a:prstGeom prst="rect">
            <a:avLst/>
          </a:prstGeom>
        </p:spPr>
        <p:txBody>
          <a:bodyPr vert="horz" lIns="91440" tIns="45720" rIns="91440" bIns="45720" rtlCol="0" anchor="ctr">
            <a:normAutofit/>
          </a:body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E0FBABD3-A8AF-4F53-2D97-2679239C52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61D962FE-354C-2325-C79F-CC79DE0593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A8DD84-C996-4DFC-A6C4-7C5817C05F19}" type="datetimeFigureOut">
              <a:rPr lang="it-IT" smtClean="0"/>
              <a:t>26/10/2026</a:t>
            </a:fld>
            <a:endParaRPr lang="it-IT" dirty="0"/>
          </a:p>
        </p:txBody>
      </p:sp>
      <p:sp>
        <p:nvSpPr>
          <p:cNvPr id="5" name="Segnaposto piè di pagina 4">
            <a:extLst>
              <a:ext uri="{FF2B5EF4-FFF2-40B4-BE49-F238E27FC236}">
                <a16:creationId xmlns:a16="http://schemas.microsoft.com/office/drawing/2014/main" id="{706614F3-3B6C-86DA-A785-ECCA30B6D4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it-IT" dirty="0" err="1"/>
              <a:t>Visionlab</a:t>
            </a:r>
            <a:r>
              <a:rPr lang="it-IT" dirty="0"/>
              <a:t> – Computer Vision </a:t>
            </a:r>
            <a:r>
              <a:rPr lang="it-IT" dirty="0" err="1"/>
              <a:t>Laboratory</a:t>
            </a:r>
            <a:r>
              <a:rPr lang="it-IT" dirty="0"/>
              <a:t> – Sapienza</a:t>
            </a:r>
          </a:p>
          <a:p>
            <a:r>
              <a:rPr lang="it-IT" dirty="0"/>
              <a:t>Via Salaria 113, 00198, Rome – Third </a:t>
            </a:r>
            <a:r>
              <a:rPr lang="it-IT" dirty="0" err="1"/>
              <a:t>Floor</a:t>
            </a:r>
            <a:r>
              <a:rPr lang="it-IT" dirty="0"/>
              <a:t>, Room 309</a:t>
            </a:r>
          </a:p>
        </p:txBody>
      </p:sp>
      <p:sp>
        <p:nvSpPr>
          <p:cNvPr id="6" name="Segnaposto numero diapositiva 5">
            <a:extLst>
              <a:ext uri="{FF2B5EF4-FFF2-40B4-BE49-F238E27FC236}">
                <a16:creationId xmlns:a16="http://schemas.microsoft.com/office/drawing/2014/main" id="{DFAD2367-DA27-BF1C-D722-5F0C6250B7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BC9DE0-E148-4F27-888A-35D29D0A8254}" type="slidenum">
              <a:rPr lang="it-IT" smtClean="0"/>
              <a:t>‹N›</a:t>
            </a:fld>
            <a:endParaRPr lang="it-IT"/>
          </a:p>
        </p:txBody>
      </p:sp>
      <p:pic>
        <p:nvPicPr>
          <p:cNvPr id="10" name="Immagine 9">
            <a:extLst>
              <a:ext uri="{FF2B5EF4-FFF2-40B4-BE49-F238E27FC236}">
                <a16:creationId xmlns:a16="http://schemas.microsoft.com/office/drawing/2014/main" id="{60374C98-E13C-8AA6-64A0-C1F1BC6DF9B7}"/>
              </a:ext>
            </a:extLst>
          </p:cNvPr>
          <p:cNvPicPr>
            <a:picLocks noChangeAspect="1"/>
          </p:cNvPicPr>
          <p:nvPr userDrawn="1"/>
        </p:nvPicPr>
        <p:blipFill>
          <a:blip r:embed="rId13">
            <a:alphaModFix amt="10000"/>
            <a:extLst>
              <a:ext uri="{28A0092B-C50C-407E-A947-70E740481C1C}">
                <a14:useLocalDpi xmlns:a14="http://schemas.microsoft.com/office/drawing/2010/main" val="0"/>
              </a:ext>
            </a:extLst>
          </a:blip>
          <a:stretch>
            <a:fillRect/>
          </a:stretch>
        </p:blipFill>
        <p:spPr>
          <a:xfrm flipH="1">
            <a:off x="9091749" y="1233082"/>
            <a:ext cx="3100251" cy="4769711"/>
          </a:xfrm>
          <a:prstGeom prst="rect">
            <a:avLst/>
          </a:prstGeom>
        </p:spPr>
      </p:pic>
      <p:sp>
        <p:nvSpPr>
          <p:cNvPr id="12" name="Striscia diagonale 11">
            <a:extLst>
              <a:ext uri="{FF2B5EF4-FFF2-40B4-BE49-F238E27FC236}">
                <a16:creationId xmlns:a16="http://schemas.microsoft.com/office/drawing/2014/main" id="{36E41B77-6243-9A06-B22D-1DDE56864FB1}"/>
              </a:ext>
            </a:extLst>
          </p:cNvPr>
          <p:cNvSpPr/>
          <p:nvPr userDrawn="1"/>
        </p:nvSpPr>
        <p:spPr>
          <a:xfrm>
            <a:off x="0" y="0"/>
            <a:ext cx="360000" cy="360000"/>
          </a:xfrm>
          <a:prstGeom prst="diagStripe">
            <a:avLst>
              <a:gd name="adj" fmla="val 75796"/>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3" name="Striscia diagonale 12">
            <a:extLst>
              <a:ext uri="{FF2B5EF4-FFF2-40B4-BE49-F238E27FC236}">
                <a16:creationId xmlns:a16="http://schemas.microsoft.com/office/drawing/2014/main" id="{3906131B-CD34-FC06-2AE0-D5BFFB41216D}"/>
              </a:ext>
            </a:extLst>
          </p:cNvPr>
          <p:cNvSpPr/>
          <p:nvPr userDrawn="1"/>
        </p:nvSpPr>
        <p:spPr>
          <a:xfrm>
            <a:off x="0" y="0"/>
            <a:ext cx="540000" cy="540000"/>
          </a:xfrm>
          <a:prstGeom prst="diagStripe">
            <a:avLst>
              <a:gd name="adj" fmla="val 83292"/>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4" name="Rettangolo 13">
            <a:extLst>
              <a:ext uri="{FF2B5EF4-FFF2-40B4-BE49-F238E27FC236}">
                <a16:creationId xmlns:a16="http://schemas.microsoft.com/office/drawing/2014/main" id="{05CFF721-6631-1D68-8373-4422D99FEEB4}"/>
              </a:ext>
            </a:extLst>
          </p:cNvPr>
          <p:cNvSpPr/>
          <p:nvPr userDrawn="1"/>
        </p:nvSpPr>
        <p:spPr>
          <a:xfrm>
            <a:off x="401888" y="1943100"/>
            <a:ext cx="79200" cy="4914900"/>
          </a:xfrm>
          <a:prstGeom prst="rect">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5" name="Rettangolo 14">
            <a:extLst>
              <a:ext uri="{FF2B5EF4-FFF2-40B4-BE49-F238E27FC236}">
                <a16:creationId xmlns:a16="http://schemas.microsoft.com/office/drawing/2014/main" id="{9947DF62-9937-FE90-1BB1-1C9C31A8ACCD}"/>
              </a:ext>
            </a:extLst>
          </p:cNvPr>
          <p:cNvSpPr/>
          <p:nvPr userDrawn="1"/>
        </p:nvSpPr>
        <p:spPr>
          <a:xfrm>
            <a:off x="241253" y="1441450"/>
            <a:ext cx="79200" cy="5416550"/>
          </a:xfrm>
          <a:prstGeom prst="rect">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6" name="Arco a tutto sesto 15">
            <a:extLst>
              <a:ext uri="{FF2B5EF4-FFF2-40B4-BE49-F238E27FC236}">
                <a16:creationId xmlns:a16="http://schemas.microsoft.com/office/drawing/2014/main" id="{4684E799-00FD-E481-86E2-1EE57BBF0997}"/>
              </a:ext>
            </a:extLst>
          </p:cNvPr>
          <p:cNvSpPr/>
          <p:nvPr userDrawn="1"/>
        </p:nvSpPr>
        <p:spPr>
          <a:xfrm>
            <a:off x="11922000" y="6590359"/>
            <a:ext cx="540000" cy="540000"/>
          </a:xfrm>
          <a:prstGeom prst="blockArc">
            <a:avLst>
              <a:gd name="adj1" fmla="val 10825804"/>
              <a:gd name="adj2" fmla="val 16232134"/>
              <a:gd name="adj3" fmla="val 13566"/>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7" name="Arco a tutto sesto 16">
            <a:extLst>
              <a:ext uri="{FF2B5EF4-FFF2-40B4-BE49-F238E27FC236}">
                <a16:creationId xmlns:a16="http://schemas.microsoft.com/office/drawing/2014/main" id="{C7F59C59-6D08-CAE9-1107-3C400A7AEBBD}"/>
              </a:ext>
            </a:extLst>
          </p:cNvPr>
          <p:cNvSpPr/>
          <p:nvPr userDrawn="1"/>
        </p:nvSpPr>
        <p:spPr>
          <a:xfrm>
            <a:off x="11742000" y="6408000"/>
            <a:ext cx="900000" cy="900000"/>
          </a:xfrm>
          <a:prstGeom prst="blockArc">
            <a:avLst>
              <a:gd name="adj1" fmla="val 10778727"/>
              <a:gd name="adj2" fmla="val 16191509"/>
              <a:gd name="adj3" fmla="val 9334"/>
            </a:avLst>
          </a:prstGeom>
          <a:solidFill>
            <a:srgbClr val="822433">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pic>
        <p:nvPicPr>
          <p:cNvPr id="8" name="Immagine 7">
            <a:extLst>
              <a:ext uri="{FF2B5EF4-FFF2-40B4-BE49-F238E27FC236}">
                <a16:creationId xmlns:a16="http://schemas.microsoft.com/office/drawing/2014/main" id="{C6CFC2AB-66E6-4288-9ECC-C88FAA0EDFD3}"/>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054714" y="136525"/>
            <a:ext cx="969764" cy="969764"/>
          </a:xfrm>
          <a:prstGeom prst="rect">
            <a:avLst/>
          </a:prstGeom>
        </p:spPr>
      </p:pic>
    </p:spTree>
    <p:extLst>
      <p:ext uri="{BB962C8B-B14F-4D97-AF65-F5344CB8AC3E}">
        <p14:creationId xmlns:p14="http://schemas.microsoft.com/office/powerpoint/2010/main" val="4941491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100000"/>
        </a:lnSpc>
        <a:spcBef>
          <a:spcPct val="0"/>
        </a:spcBef>
        <a:buNone/>
        <a:defRPr sz="4400" kern="1200">
          <a:solidFill>
            <a:schemeClr val="tx1"/>
          </a:solidFill>
          <a:latin typeface="Roboto" panose="02000000000000000000" pitchFamily="2" charset="0"/>
          <a:ea typeface="Roboto" panose="02000000000000000000" pitchFamily="2" charset="0"/>
          <a:cs typeface="Roboto" panose="02000000000000000000" pitchFamily="2"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amp;f=1&amp;nofb=1&amp;ipt=30001d8961b3b03add39ad967c319e0f168863eedd2c6ba8d6018adb4711fb1d&amp;ipo=images"/><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8.png&amp;f=1&amp;nofb=1&amp;ipt=1d8b35d30c3c4514a8382011224255d3e91fd46be4d31d385c751fa891630fa4&amp;ipo=images"/><Relationship Id="rId4" Type="http://schemas.openxmlformats.org/officeDocument/2006/relationships/image" Target="../media/image17.png&amp;f=1&amp;nofb=1&amp;ipt=d99a559a2fe29f1924e30a5219f177b5e9da9d4501e897b9834310b79af4a48b&amp;ipo=images"/></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hyperlink" Target="https://www.kaggle.com/datasets/dalphan01/curiosity-wheel-anomaly-detection/settings"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hyperlink" Target="https://www.jpl.nasa.gov/podcasts/on-a-mission-season-1/season-4-mars-rovers/episode-8-how-to-drive-a-mars-rover/" TargetMode="External"/><Relationship Id="rId7" Type="http://schemas.openxmlformats.org/officeDocument/2006/relationships/hyperlink" Target="https://doi.org/10.52202/085713-4098" TargetMode="Externa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hyperlink" Target="https://doi.org/10.1109/TGRS.2024.3386756" TargetMode="External"/><Relationship Id="rId5" Type="http://schemas.openxmlformats.org/officeDocument/2006/relationships/hyperlink" Target="https://science.nasa.gov/resource/routine-inspection-of-rover-wheel-wear-and-tear/" TargetMode="External"/><Relationship Id="rId4" Type="http://schemas.openxmlformats.org/officeDocument/2006/relationships/hyperlink" Target="https://robotics.jpl.nasa.gov/media/documents/fmwi-rankin-2022-0225-final.pdf" TargetMode="External"/></Relationships>
</file>

<file path=ppt/slides/_rels/slide34.xml.rels><?xml version="1.0" encoding="UTF-8" standalone="yes"?>
<Relationships xmlns="http://schemas.openxmlformats.org/package/2006/relationships"><Relationship Id="rId3" Type="http://schemas.openxmlformats.org/officeDocument/2006/relationships/hyperlink" Target="https://doi.org/10.1007/978-3-319-24574-4_28" TargetMode="External"/><Relationship Id="rId7" Type="http://schemas.openxmlformats.org/officeDocument/2006/relationships/hyperlink" Target="https://doi.org/10.1109/TITS.2023.3348631" TargetMode="Externa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hyperlink" Target="https://arxiv.org/abs/2105.15203" TargetMode="External"/><Relationship Id="rId5" Type="http://schemas.openxmlformats.org/officeDocument/2006/relationships/hyperlink" Target="https://doi.org/10.1007/978-3-030-01234-2_49" TargetMode="External"/><Relationship Id="rId4" Type="http://schemas.openxmlformats.org/officeDocument/2006/relationships/hyperlink" Target="https://arxiv.org/abs/1706.05587"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arxiv.org/abs/1712.05877" TargetMode="External"/><Relationship Id="rId7" Type="http://schemas.openxmlformats.org/officeDocument/2006/relationships/hyperlink" Target="https://doi.org/10.1109/CVPR.2019.00982"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hyperlink" Target="https://doi.org/10.1109/IROS.2017.8202133" TargetMode="External"/><Relationship Id="rId5" Type="http://schemas.openxmlformats.org/officeDocument/2006/relationships/hyperlink" Target="https://hirise.lpl.arizona.edu/dtm/dtm.php?ID=PSP_010573_1755" TargetMode="External"/><Relationship Id="rId4" Type="http://schemas.openxmlformats.org/officeDocument/2006/relationships/hyperlink" Target="https://science.nasa.gov/resource/curiosity-3d-model/"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arxiv.org/abs/2106.08265" TargetMode="External"/><Relationship Id="rId7" Type="http://schemas.openxmlformats.org/officeDocument/2006/relationships/hyperlink" Target="https://arxiv.org/abs/2603.16451v3"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hyperlink" Target="https://doi.org/10.1007/s10845-025-02680-8" TargetMode="External"/><Relationship Id="rId5" Type="http://schemas.openxmlformats.org/officeDocument/2006/relationships/hyperlink" Target="https://doi.org/10.1007/978-3-031-78192-6_4" TargetMode="External"/><Relationship Id="rId4" Type="http://schemas.openxmlformats.org/officeDocument/2006/relationships/hyperlink" Target="https://arxiv.org/abs/2303.14535"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34.png"/><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26.png"/><Relationship Id="rId7"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353CAEA-7F71-2F30-10DD-58B9AE8117FA}"/>
              </a:ext>
            </a:extLst>
          </p:cNvPr>
          <p:cNvSpPr>
            <a:spLocks noGrp="1"/>
          </p:cNvSpPr>
          <p:nvPr>
            <p:ph type="ctrTitle"/>
          </p:nvPr>
        </p:nvSpPr>
        <p:spPr>
          <a:xfrm>
            <a:off x="1524000" y="1122363"/>
            <a:ext cx="9144000" cy="1602549"/>
          </a:xfrm>
        </p:spPr>
        <p:txBody>
          <a:bodyPr>
            <a:normAutofit/>
          </a:bodyPr>
          <a:lstStyle/>
          <a:p>
            <a:r>
              <a:rPr lang="en-US" sz="3000" b="1" dirty="0">
                <a:solidFill>
                  <a:srgbClr val="822433"/>
                </a:solidFill>
              </a:rPr>
              <a:t>Lightweight Scene Understanding and Synthetic Data-Driven Damage Inspection for Martian Rovers</a:t>
            </a:r>
            <a:endParaRPr lang="it-IT" sz="3000" b="1" dirty="0">
              <a:solidFill>
                <a:srgbClr val="822433"/>
              </a:solidFill>
            </a:endParaRPr>
          </a:p>
        </p:txBody>
      </p:sp>
      <p:sp>
        <p:nvSpPr>
          <p:cNvPr id="3" name="Sottotitolo 2">
            <a:extLst>
              <a:ext uri="{FF2B5EF4-FFF2-40B4-BE49-F238E27FC236}">
                <a16:creationId xmlns:a16="http://schemas.microsoft.com/office/drawing/2014/main" id="{28D78800-4D63-418C-4E5E-F22E3136D82A}"/>
              </a:ext>
            </a:extLst>
          </p:cNvPr>
          <p:cNvSpPr>
            <a:spLocks noGrp="1"/>
          </p:cNvSpPr>
          <p:nvPr>
            <p:ph type="subTitle" idx="1"/>
          </p:nvPr>
        </p:nvSpPr>
        <p:spPr>
          <a:xfrm>
            <a:off x="2731008" y="2883408"/>
            <a:ext cx="6729984" cy="2374392"/>
          </a:xfrm>
        </p:spPr>
        <p:txBody>
          <a:bodyPr>
            <a:normAutofit/>
          </a:bodyPr>
          <a:lstStyle/>
          <a:p>
            <a:r>
              <a:rPr lang="en-US" sz="1600" dirty="0">
                <a:solidFill>
                  <a:srgbClr val="822433"/>
                </a:solidFill>
              </a:rPr>
              <a:t>Faculty of Information Engineering, Informatics, and Statistics</a:t>
            </a:r>
            <a:br>
              <a:rPr lang="en-US" sz="1600" dirty="0">
                <a:solidFill>
                  <a:srgbClr val="822433"/>
                </a:solidFill>
              </a:rPr>
            </a:br>
            <a:r>
              <a:rPr lang="en-US" sz="1600" dirty="0">
                <a:solidFill>
                  <a:srgbClr val="822433"/>
                </a:solidFill>
              </a:rPr>
              <a:t>Master’s Degree in Computer Science</a:t>
            </a:r>
          </a:p>
          <a:p>
            <a:endParaRPr lang="en-US" sz="1600" dirty="0">
              <a:solidFill>
                <a:srgbClr val="822433"/>
              </a:solidFill>
            </a:endParaRPr>
          </a:p>
          <a:p>
            <a:pPr algn="l"/>
            <a:r>
              <a:rPr lang="en-US" sz="1600" b="1" dirty="0"/>
              <a:t>Venturini Daniele </a:t>
            </a:r>
            <a:r>
              <a:rPr lang="en-US" sz="1600" dirty="0"/>
              <a:t>1991255</a:t>
            </a:r>
          </a:p>
          <a:p>
            <a:pPr algn="l"/>
            <a:endParaRPr lang="en-US" sz="1600" dirty="0"/>
          </a:p>
          <a:p>
            <a:r>
              <a:rPr lang="en-US" sz="1200" dirty="0"/>
              <a:t>Academic Year 2025/2026</a:t>
            </a:r>
          </a:p>
        </p:txBody>
      </p:sp>
      <p:sp>
        <p:nvSpPr>
          <p:cNvPr id="5" name="CasellaDiTesto 4">
            <a:extLst>
              <a:ext uri="{FF2B5EF4-FFF2-40B4-BE49-F238E27FC236}">
                <a16:creationId xmlns:a16="http://schemas.microsoft.com/office/drawing/2014/main" id="{D37F6418-D425-2C7C-A304-D79E057EED07}"/>
              </a:ext>
            </a:extLst>
          </p:cNvPr>
          <p:cNvSpPr txBox="1"/>
          <p:nvPr/>
        </p:nvSpPr>
        <p:spPr>
          <a:xfrm>
            <a:off x="5279136" y="3626453"/>
            <a:ext cx="4181856" cy="584775"/>
          </a:xfrm>
          <a:prstGeom prst="rect">
            <a:avLst/>
          </a:prstGeom>
          <a:noFill/>
        </p:spPr>
        <p:txBody>
          <a:bodyPr wrap="square" rtlCol="0">
            <a:spAutoFit/>
          </a:bodyPr>
          <a:lstStyle/>
          <a:p>
            <a:pPr algn="r"/>
            <a:r>
              <a:rPr lang="it-IT" sz="1600" b="1" dirty="0">
                <a:latin typeface="Roboto" panose="02000000000000000000" pitchFamily="2" charset="0"/>
                <a:ea typeface="Roboto" panose="02000000000000000000" pitchFamily="2" charset="0"/>
              </a:rPr>
              <a:t>Advisor</a:t>
            </a:r>
          </a:p>
          <a:p>
            <a:pPr algn="r"/>
            <a:r>
              <a:rPr lang="it-IT" sz="1600" dirty="0">
                <a:latin typeface="Roboto" panose="02000000000000000000" pitchFamily="2" charset="0"/>
                <a:ea typeface="Roboto" panose="02000000000000000000" pitchFamily="2" charset="0"/>
              </a:rPr>
              <a:t>Prof. Marco Raoul Marini</a:t>
            </a:r>
          </a:p>
        </p:txBody>
      </p:sp>
    </p:spTree>
    <p:extLst>
      <p:ext uri="{BB962C8B-B14F-4D97-AF65-F5344CB8AC3E}">
        <p14:creationId xmlns:p14="http://schemas.microsoft.com/office/powerpoint/2010/main" val="3325099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riosity's First “Selfie” of 2015 – Lights in the Dark">
            <a:extLst>
              <a:ext uri="{FF2B5EF4-FFF2-40B4-BE49-F238E27FC236}">
                <a16:creationId xmlns:a16="http://schemas.microsoft.com/office/drawing/2014/main" id="{9571C0A8-F617-6C03-2A9D-9AD4347A50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01485">
            <a:off x="5621967" y="1860801"/>
            <a:ext cx="6196100" cy="398379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olo 1">
            <a:extLst>
              <a:ext uri="{FF2B5EF4-FFF2-40B4-BE49-F238E27FC236}">
                <a16:creationId xmlns:a16="http://schemas.microsoft.com/office/drawing/2014/main" id="{9B52D358-3BB3-2296-825B-8BBD69653EEF}"/>
              </a:ext>
            </a:extLst>
          </p:cNvPr>
          <p:cNvSpPr>
            <a:spLocks noGrp="1"/>
          </p:cNvSpPr>
          <p:nvPr>
            <p:ph type="title"/>
          </p:nvPr>
        </p:nvSpPr>
        <p:spPr/>
        <p:txBody>
          <a:bodyPr/>
          <a:lstStyle/>
          <a:p>
            <a:r>
              <a:rPr lang="en-US" noProof="0" dirty="0">
                <a:solidFill>
                  <a:srgbClr val="822433"/>
                </a:solidFill>
              </a:rPr>
              <a:t>Introduction</a:t>
            </a:r>
          </a:p>
        </p:txBody>
      </p:sp>
      <p:sp>
        <p:nvSpPr>
          <p:cNvPr id="3" name="Segnaposto testo 2">
            <a:extLst>
              <a:ext uri="{FF2B5EF4-FFF2-40B4-BE49-F238E27FC236}">
                <a16:creationId xmlns:a16="http://schemas.microsoft.com/office/drawing/2014/main" id="{226DA549-BCE0-5CE0-D8D7-C1E9922EA508}"/>
              </a:ext>
            </a:extLst>
          </p:cNvPr>
          <p:cNvSpPr>
            <a:spLocks noGrp="1"/>
          </p:cNvSpPr>
          <p:nvPr>
            <p:ph type="body" idx="1"/>
          </p:nvPr>
        </p:nvSpPr>
        <p:spPr>
          <a:xfrm>
            <a:off x="831850" y="4589463"/>
            <a:ext cx="10515600" cy="1872097"/>
          </a:xfrm>
        </p:spPr>
        <p:txBody>
          <a:bodyPr>
            <a:normAutofit lnSpcReduction="10000"/>
          </a:bodyPr>
          <a:lstStyle/>
          <a:p>
            <a:r>
              <a:rPr lang="en-US" noProof="0" dirty="0"/>
              <a:t>Lightweight Scene Understanding</a:t>
            </a:r>
            <a:br>
              <a:rPr lang="en-US" noProof="0" dirty="0"/>
            </a:br>
            <a:r>
              <a:rPr lang="en-US" noProof="0" dirty="0"/>
              <a:t>Synthetic Dataset Generation</a:t>
            </a:r>
            <a:br>
              <a:rPr lang="en-US" noProof="0" dirty="0"/>
            </a:br>
            <a:r>
              <a:rPr lang="en-US" noProof="0" dirty="0"/>
              <a:t>Synthetic Damage Inspection</a:t>
            </a:r>
            <a:br>
              <a:rPr lang="en-US" noProof="0" dirty="0"/>
            </a:br>
            <a:r>
              <a:rPr lang="en-US" noProof="0" dirty="0"/>
              <a:t>Results</a:t>
            </a:r>
            <a:br>
              <a:rPr lang="en-US" noProof="0" dirty="0"/>
            </a:br>
            <a:r>
              <a:rPr lang="en-US" noProof="0" dirty="0"/>
              <a:t>Conclusions</a:t>
            </a:r>
          </a:p>
        </p:txBody>
      </p:sp>
      <p:sp>
        <p:nvSpPr>
          <p:cNvPr id="4" name="Google Shape;102;p14">
            <a:extLst>
              <a:ext uri="{FF2B5EF4-FFF2-40B4-BE49-F238E27FC236}">
                <a16:creationId xmlns:a16="http://schemas.microsoft.com/office/drawing/2014/main" id="{A5EC5082-5C7A-8132-61EE-2CA078BECC9F}"/>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18D7A1F3-9163-9483-BD49-DAC8669715F2}"/>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764802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Immagine 49">
            <a:extLst>
              <a:ext uri="{FF2B5EF4-FFF2-40B4-BE49-F238E27FC236}">
                <a16:creationId xmlns:a16="http://schemas.microsoft.com/office/drawing/2014/main" id="{2AD18066-4A8C-0450-E897-874B8C247E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4297" y="2239335"/>
            <a:ext cx="2545194" cy="740947"/>
          </a:xfrm>
          <a:prstGeom prst="rect">
            <a:avLst/>
          </a:prstGeom>
        </p:spPr>
      </p:pic>
      <p:sp>
        <p:nvSpPr>
          <p:cNvPr id="2" name="Titolo 1">
            <a:extLst>
              <a:ext uri="{FF2B5EF4-FFF2-40B4-BE49-F238E27FC236}">
                <a16:creationId xmlns:a16="http://schemas.microsoft.com/office/drawing/2014/main" id="{A6740B86-965C-3E84-7583-A05B80D19DBC}"/>
              </a:ext>
            </a:extLst>
          </p:cNvPr>
          <p:cNvSpPr>
            <a:spLocks noGrp="1"/>
          </p:cNvSpPr>
          <p:nvPr>
            <p:ph type="title"/>
          </p:nvPr>
        </p:nvSpPr>
        <p:spPr>
          <a:xfrm>
            <a:off x="838200" y="365125"/>
            <a:ext cx="8384177" cy="835787"/>
          </a:xfrm>
        </p:spPr>
        <p:txBody>
          <a:bodyPr/>
          <a:lstStyle/>
          <a:p>
            <a:r>
              <a:rPr lang="en-US" noProof="0" dirty="0">
                <a:solidFill>
                  <a:srgbClr val="822433"/>
                </a:solidFill>
              </a:rPr>
              <a:t>The challenge</a:t>
            </a:r>
          </a:p>
        </p:txBody>
      </p:sp>
      <p:sp>
        <p:nvSpPr>
          <p:cNvPr id="4" name="Google Shape;102;p14">
            <a:extLst>
              <a:ext uri="{FF2B5EF4-FFF2-40B4-BE49-F238E27FC236}">
                <a16:creationId xmlns:a16="http://schemas.microsoft.com/office/drawing/2014/main" id="{1A639B77-9BDA-EAD0-49CB-91203DA67ED3}"/>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3</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998F8B1C-CA64-FD18-C859-3CA0976F6CDF}"/>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18" name="Segnaposto contenuto 17">
            <a:extLst>
              <a:ext uri="{FF2B5EF4-FFF2-40B4-BE49-F238E27FC236}">
                <a16:creationId xmlns:a16="http://schemas.microsoft.com/office/drawing/2014/main" id="{B72055A5-B844-AB30-1C2C-C55422CCE58C}"/>
              </a:ext>
            </a:extLst>
          </p:cNvPr>
          <p:cNvSpPr>
            <a:spLocks noGrp="1"/>
          </p:cNvSpPr>
          <p:nvPr>
            <p:ph idx="1"/>
          </p:nvPr>
        </p:nvSpPr>
        <p:spPr>
          <a:xfrm>
            <a:off x="795643" y="2668467"/>
            <a:ext cx="4088180" cy="2538853"/>
          </a:xfrm>
        </p:spPr>
        <p:txBody>
          <a:bodyPr/>
          <a:lstStyle/>
          <a:p>
            <a:r>
              <a:rPr lang="en-US" noProof="0" dirty="0"/>
              <a:t>Mars rover operations require </a:t>
            </a:r>
            <a:r>
              <a:rPr lang="en-US" b="1" noProof="0" dirty="0">
                <a:solidFill>
                  <a:srgbClr val="822433"/>
                </a:solidFill>
              </a:rPr>
              <a:t>constant</a:t>
            </a:r>
            <a:r>
              <a:rPr lang="en-US" noProof="0" dirty="0"/>
              <a:t> supervision from Earth</a:t>
            </a:r>
          </a:p>
          <a:p>
            <a:endParaRPr lang="en-US" noProof="0" dirty="0"/>
          </a:p>
        </p:txBody>
      </p:sp>
      <p:pic>
        <p:nvPicPr>
          <p:cNvPr id="20" name="Immagine 19">
            <a:extLst>
              <a:ext uri="{FF2B5EF4-FFF2-40B4-BE49-F238E27FC236}">
                <a16:creationId xmlns:a16="http://schemas.microsoft.com/office/drawing/2014/main" id="{61DFB798-FB46-D3F8-1B0C-9A2600A420BC}"/>
              </a:ext>
            </a:extLst>
          </p:cNvPr>
          <p:cNvPicPr>
            <a:picLocks noChangeAspect="1"/>
          </p:cNvPicPr>
          <p:nvPr/>
        </p:nvPicPr>
        <p:blipFill>
          <a:blip r:embed="rId4"/>
          <a:stretch>
            <a:fillRect/>
          </a:stretch>
        </p:blipFill>
        <p:spPr>
          <a:xfrm>
            <a:off x="10659120" y="4905358"/>
            <a:ext cx="793048" cy="793048"/>
          </a:xfrm>
          <a:prstGeom prst="rect">
            <a:avLst/>
          </a:prstGeom>
          <a:effectLst>
            <a:outerShdw blurRad="50800" dist="38100" dir="2700000" algn="tl" rotWithShape="0">
              <a:prstClr val="black">
                <a:alpha val="40000"/>
              </a:prstClr>
            </a:outerShdw>
          </a:effectLst>
        </p:spPr>
      </p:pic>
      <p:pic>
        <p:nvPicPr>
          <p:cNvPr id="8" name="Immagine 7">
            <a:extLst>
              <a:ext uri="{FF2B5EF4-FFF2-40B4-BE49-F238E27FC236}">
                <a16:creationId xmlns:a16="http://schemas.microsoft.com/office/drawing/2014/main" id="{AE9BEB5E-267F-2203-D48A-25DE09E522C8}"/>
              </a:ext>
            </a:extLst>
          </p:cNvPr>
          <p:cNvPicPr>
            <a:picLocks noChangeAspect="1"/>
          </p:cNvPicPr>
          <p:nvPr/>
        </p:nvPicPr>
        <p:blipFill>
          <a:blip r:embed="rId5"/>
          <a:stretch>
            <a:fillRect/>
          </a:stretch>
        </p:blipFill>
        <p:spPr>
          <a:xfrm>
            <a:off x="10872467" y="4599963"/>
            <a:ext cx="354163" cy="354163"/>
          </a:xfrm>
          <a:prstGeom prst="rect">
            <a:avLst/>
          </a:prstGeom>
        </p:spPr>
      </p:pic>
      <p:cxnSp>
        <p:nvCxnSpPr>
          <p:cNvPr id="22" name="Connettore 2 21">
            <a:extLst>
              <a:ext uri="{FF2B5EF4-FFF2-40B4-BE49-F238E27FC236}">
                <a16:creationId xmlns:a16="http://schemas.microsoft.com/office/drawing/2014/main" id="{9251BC44-4C1D-5D71-C0EE-CA9A3724D910}"/>
              </a:ext>
            </a:extLst>
          </p:cNvPr>
          <p:cNvCxnSpPr/>
          <p:nvPr/>
        </p:nvCxnSpPr>
        <p:spPr>
          <a:xfrm>
            <a:off x="6136829" y="5332578"/>
            <a:ext cx="4315968" cy="0"/>
          </a:xfrm>
          <a:prstGeom prst="straightConnector1">
            <a:avLst/>
          </a:prstGeom>
          <a:ln w="28575" cap="flat" cmpd="sng" algn="ctr">
            <a:solidFill>
              <a:schemeClr val="dk1"/>
            </a:solidFill>
            <a:prstDash val="solid"/>
            <a:round/>
            <a:headEnd type="arrow" w="med" len="med"/>
            <a:tailEnd type="arrow" w="med" len="med"/>
          </a:ln>
          <a:effectLst>
            <a:outerShdw blurRad="50800" dist="38100" dir="2700000" algn="tl" rotWithShape="0">
              <a:prstClr val="black">
                <a:alpha val="40000"/>
              </a:prstClr>
            </a:outerShdw>
          </a:effectLst>
        </p:spPr>
        <p:style>
          <a:lnRef idx="0">
            <a:scrgbClr r="0" g="0" b="0"/>
          </a:lnRef>
          <a:fillRef idx="0">
            <a:scrgbClr r="0" g="0" b="0"/>
          </a:fillRef>
          <a:effectRef idx="0">
            <a:scrgbClr r="0" g="0" b="0"/>
          </a:effectRef>
          <a:fontRef idx="minor">
            <a:schemeClr val="tx1"/>
          </a:fontRef>
        </p:style>
      </p:cxnSp>
      <p:sp>
        <p:nvSpPr>
          <p:cNvPr id="23" name="CasellaDiTesto 22">
            <a:extLst>
              <a:ext uri="{FF2B5EF4-FFF2-40B4-BE49-F238E27FC236}">
                <a16:creationId xmlns:a16="http://schemas.microsoft.com/office/drawing/2014/main" id="{2AFD2FFA-39F9-497B-FE58-1811A084F844}"/>
              </a:ext>
            </a:extLst>
          </p:cNvPr>
          <p:cNvSpPr txBox="1"/>
          <p:nvPr/>
        </p:nvSpPr>
        <p:spPr>
          <a:xfrm>
            <a:off x="7295126" y="5024701"/>
            <a:ext cx="2143536" cy="307777"/>
          </a:xfrm>
          <a:prstGeom prst="rect">
            <a:avLst/>
          </a:prstGeom>
          <a:noFill/>
        </p:spPr>
        <p:txBody>
          <a:bodyPr wrap="none" rtlCol="0">
            <a:spAutoFit/>
          </a:bodyPr>
          <a:lstStyle/>
          <a:p>
            <a:r>
              <a:rPr lang="en-US" sz="1400" noProof="0" dirty="0">
                <a:latin typeface="Roboto" panose="02000000000000000000" pitchFamily="2" charset="0"/>
                <a:ea typeface="Roboto" panose="02000000000000000000" pitchFamily="2" charset="0"/>
              </a:rPr>
              <a:t>~4 - 22 minutes one way</a:t>
            </a:r>
          </a:p>
        </p:txBody>
      </p:sp>
      <p:pic>
        <p:nvPicPr>
          <p:cNvPr id="25" name="Immagine 24">
            <a:extLst>
              <a:ext uri="{FF2B5EF4-FFF2-40B4-BE49-F238E27FC236}">
                <a16:creationId xmlns:a16="http://schemas.microsoft.com/office/drawing/2014/main" id="{44760693-E853-A8A7-7EE4-8FA6B2F806CD}"/>
              </a:ext>
            </a:extLst>
          </p:cNvPr>
          <p:cNvPicPr>
            <a:picLocks noChangeAspect="1"/>
          </p:cNvPicPr>
          <p:nvPr/>
        </p:nvPicPr>
        <p:blipFill>
          <a:blip r:embed="rId6"/>
          <a:stretch>
            <a:fillRect/>
          </a:stretch>
        </p:blipFill>
        <p:spPr>
          <a:xfrm>
            <a:off x="4864478" y="4768868"/>
            <a:ext cx="1066028" cy="1066028"/>
          </a:xfrm>
          <a:prstGeom prst="rect">
            <a:avLst/>
          </a:prstGeom>
        </p:spPr>
      </p:pic>
      <p:sp>
        <p:nvSpPr>
          <p:cNvPr id="30" name="Rettangolo con angoli arrotondati 29">
            <a:extLst>
              <a:ext uri="{FF2B5EF4-FFF2-40B4-BE49-F238E27FC236}">
                <a16:creationId xmlns:a16="http://schemas.microsoft.com/office/drawing/2014/main" id="{428ED2EA-849C-787B-E74B-418ECD6A93DF}"/>
              </a:ext>
            </a:extLst>
          </p:cNvPr>
          <p:cNvSpPr/>
          <p:nvPr/>
        </p:nvSpPr>
        <p:spPr>
          <a:xfrm>
            <a:off x="4788588" y="1929378"/>
            <a:ext cx="1283770" cy="369331"/>
          </a:xfrm>
          <a:prstGeom prst="roundRect">
            <a:avLst/>
          </a:prstGeom>
          <a:effectLst>
            <a:outerShdw blurRad="50800" dist="38100" dir="2700000" algn="tl" rotWithShape="0">
              <a:prstClr val="black">
                <a:alpha val="40000"/>
              </a:prstClr>
            </a:outerShdw>
          </a:effectLst>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r"/>
            <a:r>
              <a:rPr lang="en-US" b="1" noProof="0" dirty="0">
                <a:effectLst>
                  <a:outerShdw blurRad="38100" dist="38100" dir="2700000" algn="tl">
                    <a:srgbClr val="000000">
                      <a:alpha val="43137"/>
                    </a:srgbClr>
                  </a:outerShdw>
                </a:effectLst>
                <a:latin typeface="Roboto" panose="02000000000000000000" pitchFamily="2" charset="0"/>
                <a:ea typeface="Roboto" panose="02000000000000000000" pitchFamily="2" charset="0"/>
              </a:rPr>
              <a:t>Planning</a:t>
            </a:r>
          </a:p>
        </p:txBody>
      </p:sp>
      <p:pic>
        <p:nvPicPr>
          <p:cNvPr id="34" name="Immagine 33">
            <a:extLst>
              <a:ext uri="{FF2B5EF4-FFF2-40B4-BE49-F238E27FC236}">
                <a16:creationId xmlns:a16="http://schemas.microsoft.com/office/drawing/2014/main" id="{BA6BB3D8-8A43-E7B1-E9B9-0F2223B8077C}"/>
              </a:ext>
            </a:extLst>
          </p:cNvPr>
          <p:cNvPicPr>
            <a:picLocks noChangeAspect="1"/>
          </p:cNvPicPr>
          <p:nvPr/>
        </p:nvPicPr>
        <p:blipFill>
          <a:blip r:embed="rId7"/>
          <a:stretch>
            <a:fillRect/>
          </a:stretch>
        </p:blipFill>
        <p:spPr>
          <a:xfrm>
            <a:off x="4614614" y="1887234"/>
            <a:ext cx="453618" cy="453618"/>
          </a:xfrm>
          <a:prstGeom prst="rect">
            <a:avLst/>
          </a:prstGeom>
          <a:effectLst>
            <a:outerShdw blurRad="50800" dist="38100" dir="2700000" algn="tl" rotWithShape="0">
              <a:prstClr val="black">
                <a:alpha val="40000"/>
              </a:prstClr>
            </a:outerShdw>
          </a:effectLst>
        </p:spPr>
      </p:pic>
      <p:pic>
        <p:nvPicPr>
          <p:cNvPr id="38" name="Immagine 37">
            <a:extLst>
              <a:ext uri="{FF2B5EF4-FFF2-40B4-BE49-F238E27FC236}">
                <a16:creationId xmlns:a16="http://schemas.microsoft.com/office/drawing/2014/main" id="{0F62A17F-73DF-7D02-241C-633094ECEF6D}"/>
              </a:ext>
            </a:extLst>
          </p:cNvPr>
          <p:cNvPicPr>
            <a:picLocks noChangeAspect="1"/>
          </p:cNvPicPr>
          <p:nvPr/>
        </p:nvPicPr>
        <p:blipFill>
          <a:blip r:embed="rId8"/>
          <a:stretch>
            <a:fillRect/>
          </a:stretch>
        </p:blipFill>
        <p:spPr>
          <a:xfrm>
            <a:off x="6761528" y="2215962"/>
            <a:ext cx="764320" cy="764320"/>
          </a:xfrm>
          <a:prstGeom prst="rect">
            <a:avLst/>
          </a:prstGeom>
          <a:effectLst>
            <a:outerShdw blurRad="50800" dist="38100" dir="2700000" algn="tl" rotWithShape="0">
              <a:prstClr val="black">
                <a:alpha val="40000"/>
              </a:prstClr>
            </a:outerShdw>
          </a:effectLst>
        </p:spPr>
      </p:pic>
      <p:sp>
        <p:nvSpPr>
          <p:cNvPr id="40" name="Rettangolo con angoli arrotondati 39">
            <a:extLst>
              <a:ext uri="{FF2B5EF4-FFF2-40B4-BE49-F238E27FC236}">
                <a16:creationId xmlns:a16="http://schemas.microsoft.com/office/drawing/2014/main" id="{21ED2DED-3422-378F-5E90-2EC5D1887E79}"/>
              </a:ext>
            </a:extLst>
          </p:cNvPr>
          <p:cNvSpPr/>
          <p:nvPr/>
        </p:nvSpPr>
        <p:spPr>
          <a:xfrm>
            <a:off x="9744430" y="3193656"/>
            <a:ext cx="2359203" cy="369331"/>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r"/>
            <a:r>
              <a:rPr lang="en-US" b="1" dirty="0">
                <a:effectLst>
                  <a:outerShdw blurRad="38100" dist="38100" dir="2700000" algn="tl">
                    <a:srgbClr val="000000">
                      <a:alpha val="43137"/>
                    </a:srgbClr>
                  </a:outerShdw>
                </a:effectLst>
                <a:latin typeface="Roboto" panose="02000000000000000000" pitchFamily="2" charset="0"/>
                <a:ea typeface="Roboto" panose="02000000000000000000" pitchFamily="2" charset="0"/>
              </a:rPr>
              <a:t>On-board execution</a:t>
            </a:r>
            <a:endParaRPr lang="en-US" b="1" noProof="0" dirty="0">
              <a:effectLst>
                <a:outerShdw blurRad="38100" dist="38100" dir="2700000" algn="tl">
                  <a:srgbClr val="000000">
                    <a:alpha val="43137"/>
                  </a:srgbClr>
                </a:outerShdw>
              </a:effectLst>
              <a:latin typeface="Roboto" panose="02000000000000000000" pitchFamily="2" charset="0"/>
              <a:ea typeface="Roboto" panose="02000000000000000000" pitchFamily="2" charset="0"/>
            </a:endParaRPr>
          </a:p>
        </p:txBody>
      </p:sp>
      <p:pic>
        <p:nvPicPr>
          <p:cNvPr id="42" name="Immagine 41">
            <a:extLst>
              <a:ext uri="{FF2B5EF4-FFF2-40B4-BE49-F238E27FC236}">
                <a16:creationId xmlns:a16="http://schemas.microsoft.com/office/drawing/2014/main" id="{A617BEE9-1F4A-4964-2D49-565BC00D5CE7}"/>
              </a:ext>
            </a:extLst>
          </p:cNvPr>
          <p:cNvPicPr>
            <a:picLocks noChangeAspect="1"/>
          </p:cNvPicPr>
          <p:nvPr/>
        </p:nvPicPr>
        <p:blipFill>
          <a:blip r:embed="rId9"/>
          <a:stretch>
            <a:fillRect/>
          </a:stretch>
        </p:blipFill>
        <p:spPr>
          <a:xfrm>
            <a:off x="9502035" y="3048874"/>
            <a:ext cx="637954" cy="637954"/>
          </a:xfrm>
          <a:prstGeom prst="rect">
            <a:avLst/>
          </a:prstGeom>
        </p:spPr>
      </p:pic>
      <p:sp>
        <p:nvSpPr>
          <p:cNvPr id="46" name="Rettangolo con angoli arrotondati 45">
            <a:extLst>
              <a:ext uri="{FF2B5EF4-FFF2-40B4-BE49-F238E27FC236}">
                <a16:creationId xmlns:a16="http://schemas.microsoft.com/office/drawing/2014/main" id="{7C7B2047-877F-A90F-36BA-FA0F72DDAF8F}"/>
              </a:ext>
            </a:extLst>
          </p:cNvPr>
          <p:cNvSpPr/>
          <p:nvPr/>
        </p:nvSpPr>
        <p:spPr>
          <a:xfrm>
            <a:off x="6912248" y="4145904"/>
            <a:ext cx="2756892" cy="659025"/>
          </a:xfrm>
          <a:prstGeom prst="roundRect">
            <a:avLst/>
          </a:prstGeom>
          <a:effectLst>
            <a:outerShdw blurRad="50800" dist="38100" dir="2700000" algn="tl" rotWithShape="0">
              <a:prstClr val="black">
                <a:alpha val="40000"/>
              </a:prstClr>
            </a:outerShdw>
          </a:effectLst>
        </p:spPr>
        <p:style>
          <a:lnRef idx="2">
            <a:schemeClr val="accent3">
              <a:shade val="15000"/>
            </a:schemeClr>
          </a:lnRef>
          <a:fillRef idx="1">
            <a:schemeClr val="accent3"/>
          </a:fillRef>
          <a:effectRef idx="0">
            <a:schemeClr val="accent3"/>
          </a:effectRef>
          <a:fontRef idx="minor">
            <a:schemeClr val="lt1"/>
          </a:fontRef>
        </p:style>
        <p:txBody>
          <a:bodyPr lIns="396000" rtlCol="0" anchor="ctr"/>
          <a:lstStyle/>
          <a:p>
            <a:r>
              <a:rPr lang="en-US" b="1" dirty="0">
                <a:effectLst>
                  <a:outerShdw blurRad="50800" dist="38100" dir="2700000" algn="tl" rotWithShape="0">
                    <a:prstClr val="black">
                      <a:alpha val="40000"/>
                    </a:prstClr>
                  </a:outerShdw>
                </a:effectLst>
                <a:latin typeface="Roboto" panose="02000000000000000000" pitchFamily="2" charset="0"/>
                <a:ea typeface="Roboto" panose="02000000000000000000" pitchFamily="2" charset="0"/>
              </a:rPr>
              <a:t>a Report completion</a:t>
            </a:r>
          </a:p>
          <a:p>
            <a:r>
              <a:rPr lang="en-US" b="1" dirty="0">
                <a:effectLst>
                  <a:outerShdw blurRad="50800" dist="38100" dir="2700000" algn="tl" rotWithShape="0">
                    <a:prstClr val="black">
                      <a:alpha val="40000"/>
                    </a:prstClr>
                  </a:outerShdw>
                </a:effectLst>
                <a:latin typeface="Roboto" panose="02000000000000000000" pitchFamily="2" charset="0"/>
                <a:ea typeface="Roboto" panose="02000000000000000000" pitchFamily="2" charset="0"/>
              </a:rPr>
              <a:t>b Request assistance</a:t>
            </a:r>
          </a:p>
        </p:txBody>
      </p:sp>
      <p:pic>
        <p:nvPicPr>
          <p:cNvPr id="44" name="Immagine 43">
            <a:extLst>
              <a:ext uri="{FF2B5EF4-FFF2-40B4-BE49-F238E27FC236}">
                <a16:creationId xmlns:a16="http://schemas.microsoft.com/office/drawing/2014/main" id="{C8B78D56-50E7-38AE-1DBC-B42E01F686DD}"/>
              </a:ext>
            </a:extLst>
          </p:cNvPr>
          <p:cNvPicPr>
            <a:picLocks noChangeAspect="1"/>
          </p:cNvPicPr>
          <p:nvPr/>
        </p:nvPicPr>
        <p:blipFill>
          <a:blip r:embed="rId10"/>
          <a:stretch>
            <a:fillRect/>
          </a:stretch>
        </p:blipFill>
        <p:spPr>
          <a:xfrm>
            <a:off x="6328622" y="3903139"/>
            <a:ext cx="1167251" cy="1167251"/>
          </a:xfrm>
          <a:prstGeom prst="rect">
            <a:avLst/>
          </a:prstGeom>
        </p:spPr>
      </p:pic>
      <p:sp>
        <p:nvSpPr>
          <p:cNvPr id="54" name="source-citations">
            <a:extLst>
              <a:ext uri="{FF2B5EF4-FFF2-40B4-BE49-F238E27FC236}">
                <a16:creationId xmlns:a16="http://schemas.microsoft.com/office/drawing/2014/main" id="{9951E79D-3029-563E-2F5F-6E43657F1F0F}"/>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a:t>
            </a:r>
            <a:r>
              <a:rPr lang="en-US" dirty="0"/>
              <a:t>1</a:t>
            </a:r>
            <a:r>
              <a:rPr lang="en-US" sz="1125" b="0" dirty="0">
                <a:solidFill>
                  <a:srgbClr val="656B73"/>
                </a:solidFill>
                <a:latin typeface="Roboto"/>
                <a:ea typeface="Roboto"/>
                <a:cs typeface="Roboto"/>
              </a:rPr>
              <a:t>]</a:t>
            </a:r>
          </a:p>
        </p:txBody>
      </p:sp>
    </p:spTree>
    <p:extLst>
      <p:ext uri="{BB962C8B-B14F-4D97-AF65-F5344CB8AC3E}">
        <p14:creationId xmlns:p14="http://schemas.microsoft.com/office/powerpoint/2010/main" val="2950625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2F3DB-B36D-71F2-642D-6A23F399E1A4}"/>
            </a:ext>
          </a:extLst>
        </p:cNvPr>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AB640CF2-E36A-F5AD-8E25-93D0FA59F2C2}"/>
              </a:ext>
            </a:extLst>
          </p:cNvPr>
          <p:cNvSpPr>
            <a:spLocks noGrp="1"/>
          </p:cNvSpPr>
          <p:nvPr>
            <p:ph idx="1"/>
          </p:nvPr>
        </p:nvSpPr>
        <p:spPr>
          <a:xfrm>
            <a:off x="914400" y="2153285"/>
            <a:ext cx="4602480" cy="3912235"/>
          </a:xfrm>
        </p:spPr>
        <p:txBody>
          <a:bodyPr>
            <a:normAutofit/>
          </a:bodyPr>
          <a:lstStyle/>
          <a:p>
            <a:r>
              <a:rPr lang="en-US" sz="2400" noProof="0" dirty="0"/>
              <a:t>Its </a:t>
            </a:r>
            <a:r>
              <a:rPr lang="en-US" sz="2400" b="1" noProof="0" dirty="0">
                <a:solidFill>
                  <a:srgbClr val="822433"/>
                </a:solidFill>
              </a:rPr>
              <a:t>mobility</a:t>
            </a:r>
            <a:r>
              <a:rPr lang="en-US" sz="2400" noProof="0" dirty="0"/>
              <a:t> depends also on its </a:t>
            </a:r>
            <a:r>
              <a:rPr lang="en-US" sz="2400" b="1" noProof="0" dirty="0">
                <a:solidFill>
                  <a:srgbClr val="822433"/>
                </a:solidFill>
              </a:rPr>
              <a:t>conditions</a:t>
            </a:r>
          </a:p>
          <a:p>
            <a:endParaRPr lang="en-US" sz="2400" noProof="0" dirty="0"/>
          </a:p>
          <a:p>
            <a:r>
              <a:rPr lang="en-US" sz="2400" noProof="0" dirty="0"/>
              <a:t>Periodic </a:t>
            </a:r>
            <a:r>
              <a:rPr lang="en-US" sz="2400" b="1" noProof="0" dirty="0">
                <a:solidFill>
                  <a:srgbClr val="822433"/>
                </a:solidFill>
              </a:rPr>
              <a:t>manual</a:t>
            </a:r>
            <a:r>
              <a:rPr lang="en-US" sz="2400" noProof="0" dirty="0"/>
              <a:t> inspection are performed, with large </a:t>
            </a:r>
            <a:r>
              <a:rPr lang="en-US" sz="2400" b="1" noProof="0" dirty="0">
                <a:solidFill>
                  <a:srgbClr val="822433"/>
                </a:solidFill>
              </a:rPr>
              <a:t>perforations</a:t>
            </a:r>
            <a:r>
              <a:rPr lang="en-US" sz="2400" noProof="0" dirty="0"/>
              <a:t> already detected</a:t>
            </a:r>
          </a:p>
        </p:txBody>
      </p:sp>
      <p:sp>
        <p:nvSpPr>
          <p:cNvPr id="4" name="Google Shape;102;p14">
            <a:extLst>
              <a:ext uri="{FF2B5EF4-FFF2-40B4-BE49-F238E27FC236}">
                <a16:creationId xmlns:a16="http://schemas.microsoft.com/office/drawing/2014/main" id="{E2BE8079-4E8F-9609-C6F4-0B05A66D0984}"/>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DB01F4C4-041D-4899-9D83-3B148618486D}"/>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6" name="Titolo 1">
            <a:extLst>
              <a:ext uri="{FF2B5EF4-FFF2-40B4-BE49-F238E27FC236}">
                <a16:creationId xmlns:a16="http://schemas.microsoft.com/office/drawing/2014/main" id="{EDDF8B73-D22E-B220-A76C-AE9C753B54BA}"/>
              </a:ext>
            </a:extLst>
          </p:cNvPr>
          <p:cNvSpPr>
            <a:spLocks noGrp="1"/>
          </p:cNvSpPr>
          <p:nvPr>
            <p:ph type="title"/>
          </p:nvPr>
        </p:nvSpPr>
        <p:spPr>
          <a:xfrm>
            <a:off x="838200" y="365125"/>
            <a:ext cx="8384177" cy="835787"/>
          </a:xfrm>
        </p:spPr>
        <p:txBody>
          <a:bodyPr/>
          <a:lstStyle/>
          <a:p>
            <a:r>
              <a:rPr lang="en-US" noProof="0" dirty="0">
                <a:solidFill>
                  <a:srgbClr val="822433"/>
                </a:solidFill>
              </a:rPr>
              <a:t>The challenge</a:t>
            </a:r>
          </a:p>
        </p:txBody>
      </p:sp>
      <p:pic>
        <p:nvPicPr>
          <p:cNvPr id="8" name="Immagine 7">
            <a:extLst>
              <a:ext uri="{FF2B5EF4-FFF2-40B4-BE49-F238E27FC236}">
                <a16:creationId xmlns:a16="http://schemas.microsoft.com/office/drawing/2014/main" id="{3C460DA3-1734-BF4B-7776-5558C594A522}"/>
              </a:ext>
            </a:extLst>
          </p:cNvPr>
          <p:cNvPicPr>
            <a:picLocks noChangeAspect="1"/>
          </p:cNvPicPr>
          <p:nvPr/>
        </p:nvPicPr>
        <p:blipFill>
          <a:blip r:embed="rId3"/>
          <a:stretch/>
        </p:blipFill>
        <p:spPr>
          <a:xfrm>
            <a:off x="5629521" y="1522095"/>
            <a:ext cx="6129798" cy="4286250"/>
          </a:xfrm>
          <a:prstGeom prst="rect">
            <a:avLst/>
          </a:prstGeom>
        </p:spPr>
      </p:pic>
      <p:sp>
        <p:nvSpPr>
          <p:cNvPr id="10" name="image-credit">
            <a:extLst>
              <a:ext uri="{FF2B5EF4-FFF2-40B4-BE49-F238E27FC236}">
                <a16:creationId xmlns:a16="http://schemas.microsoft.com/office/drawing/2014/main" id="{81AA6C63-374D-166A-5A5F-0C3346B8CA40}"/>
              </a:ext>
            </a:extLst>
          </p:cNvPr>
          <p:cNvSpPr>
            <a:spLocks noGrp="1"/>
          </p:cNvSpPr>
          <p:nvPr/>
        </p:nvSpPr>
        <p:spPr>
          <a:xfrm>
            <a:off x="6055995" y="5817870"/>
            <a:ext cx="5476875" cy="247650"/>
          </a:xfrm>
          <a:prstGeom prst="rect">
            <a:avLst/>
          </a:prstGeom>
          <a:noFill/>
          <a:ln w="0">
            <a:noFill/>
          </a:ln>
        </p:spPr>
        <p:txBody>
          <a:bodyPr wrap="square" lIns="0" tIns="0" rIns="0" bIns="0" anchor="t">
            <a:noAutofit/>
          </a:bodyPr>
          <a:lstStyle>
            <a:defPPr algn="ctr">
              <a:defRPr sz="1275" b="0">
                <a:solidFill>
                  <a:srgbClr val="62666B"/>
                </a:solidFill>
                <a:latin typeface="Roboto"/>
                <a:ea typeface="Roboto"/>
                <a:cs typeface="Roboto"/>
              </a:defRPr>
            </a:defPPr>
            <a:lvl1pPr algn="ctr">
              <a:defRPr sz="1275" b="0">
                <a:solidFill>
                  <a:srgbClr val="62666B"/>
                </a:solidFill>
                <a:latin typeface="Roboto"/>
                <a:ea typeface="Roboto"/>
                <a:cs typeface="Roboto"/>
              </a:defRPr>
            </a:lvl1pPr>
            <a:lvl2pPr algn="ctr">
              <a:defRPr sz="1275" b="0">
                <a:solidFill>
                  <a:srgbClr val="62666B"/>
                </a:solidFill>
                <a:latin typeface="Roboto"/>
                <a:ea typeface="Roboto"/>
                <a:cs typeface="Roboto"/>
              </a:defRPr>
            </a:lvl2pPr>
            <a:lvl3pPr algn="ctr">
              <a:defRPr sz="1275" b="0">
                <a:solidFill>
                  <a:srgbClr val="62666B"/>
                </a:solidFill>
                <a:latin typeface="Roboto"/>
                <a:ea typeface="Roboto"/>
                <a:cs typeface="Roboto"/>
              </a:defRPr>
            </a:lvl3pPr>
            <a:lvl4pPr algn="ctr">
              <a:defRPr sz="1275" b="0">
                <a:solidFill>
                  <a:srgbClr val="62666B"/>
                </a:solidFill>
                <a:latin typeface="Roboto"/>
                <a:ea typeface="Roboto"/>
                <a:cs typeface="Roboto"/>
              </a:defRPr>
            </a:lvl4pPr>
            <a:lvl5pPr algn="ctr">
              <a:defRPr sz="1275" b="0">
                <a:solidFill>
                  <a:srgbClr val="62666B"/>
                </a:solidFill>
                <a:latin typeface="Roboto"/>
                <a:ea typeface="Roboto"/>
                <a:cs typeface="Roboto"/>
              </a:defRPr>
            </a:lvl5pPr>
            <a:lvl6pPr algn="ctr">
              <a:defRPr sz="1275" b="0">
                <a:solidFill>
                  <a:srgbClr val="62666B"/>
                </a:solidFill>
                <a:latin typeface="Roboto"/>
                <a:ea typeface="Roboto"/>
                <a:cs typeface="Roboto"/>
              </a:defRPr>
            </a:lvl6pPr>
            <a:lvl7pPr algn="ctr">
              <a:defRPr sz="1275" b="0">
                <a:solidFill>
                  <a:srgbClr val="62666B"/>
                </a:solidFill>
                <a:latin typeface="Roboto"/>
                <a:ea typeface="Roboto"/>
                <a:cs typeface="Roboto"/>
              </a:defRPr>
            </a:lvl7pPr>
            <a:lvl8pPr algn="ctr">
              <a:defRPr sz="1275" b="0">
                <a:solidFill>
                  <a:srgbClr val="62666B"/>
                </a:solidFill>
                <a:latin typeface="Roboto"/>
                <a:ea typeface="Roboto"/>
                <a:cs typeface="Roboto"/>
              </a:defRPr>
            </a:lvl8pPr>
            <a:lvl9pPr algn="ctr">
              <a:defRPr sz="1275" b="0">
                <a:solidFill>
                  <a:srgbClr val="62666B"/>
                </a:solidFill>
                <a:latin typeface="Roboto"/>
                <a:ea typeface="Roboto"/>
                <a:cs typeface="Roboto"/>
              </a:defRPr>
            </a:lvl9pPr>
          </a:lstStyle>
          <a:p>
            <a:pPr algn="ctr">
              <a:defRPr sz="1275" b="0">
                <a:solidFill>
                  <a:srgbClr val="62666B"/>
                </a:solidFill>
                <a:latin typeface="Roboto"/>
                <a:ea typeface="Roboto"/>
                <a:cs typeface="Roboto"/>
              </a:defRPr>
            </a:pPr>
            <a:r>
              <a:rPr sz="1275" b="0" dirty="0">
                <a:solidFill>
                  <a:srgbClr val="62666B"/>
                </a:solidFill>
                <a:latin typeface="Roboto"/>
                <a:ea typeface="Roboto"/>
                <a:cs typeface="Roboto"/>
              </a:rPr>
              <a:t>NASA/JPL-Caltech/MSSS, sol 1315</a:t>
            </a:r>
          </a:p>
        </p:txBody>
      </p:sp>
      <p:sp>
        <p:nvSpPr>
          <p:cNvPr id="7" name="source-citations">
            <a:extLst>
              <a:ext uri="{FF2B5EF4-FFF2-40B4-BE49-F238E27FC236}">
                <a16:creationId xmlns:a16="http://schemas.microsoft.com/office/drawing/2014/main" id="{F403CAFB-45FE-3346-D51B-044908DE6ACA}"/>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[2] [3]</a:t>
            </a:r>
          </a:p>
        </p:txBody>
      </p:sp>
    </p:spTree>
    <p:extLst>
      <p:ext uri="{BB962C8B-B14F-4D97-AF65-F5344CB8AC3E}">
        <p14:creationId xmlns:p14="http://schemas.microsoft.com/office/powerpoint/2010/main" val="2221271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634BA60C-D53C-33C1-F026-069C0579B451}"/>
              </a:ext>
            </a:extLst>
          </p:cNvPr>
          <p:cNvSpPr>
            <a:spLocks noGrp="1"/>
          </p:cNvSpPr>
          <p:nvPr>
            <p:ph idx="1"/>
          </p:nvPr>
        </p:nvSpPr>
        <p:spPr>
          <a:xfrm>
            <a:off x="1611938" y="3059768"/>
            <a:ext cx="4008121" cy="3058995"/>
          </a:xfrm>
        </p:spPr>
        <p:txBody>
          <a:bodyPr/>
          <a:lstStyle/>
          <a:p>
            <a:pPr marL="0" indent="0">
              <a:buNone/>
            </a:pPr>
            <a:r>
              <a:rPr lang="en-US" b="1" u="sng" noProof="0" dirty="0">
                <a:solidFill>
                  <a:srgbClr val="822433"/>
                </a:solidFill>
              </a:rPr>
              <a:t>1 Sce</a:t>
            </a:r>
            <a:r>
              <a:rPr lang="en-US" b="1" u="sng" dirty="0">
                <a:solidFill>
                  <a:srgbClr val="822433"/>
                </a:solidFill>
              </a:rPr>
              <a:t>ne Understanding</a:t>
            </a:r>
          </a:p>
          <a:p>
            <a:pPr marL="0" indent="0">
              <a:buNone/>
            </a:pPr>
            <a:endParaRPr lang="en-US" noProof="0" dirty="0"/>
          </a:p>
          <a:p>
            <a:pPr marL="0" indent="0">
              <a:buNone/>
            </a:pPr>
            <a:r>
              <a:rPr lang="en-US" sz="2200" dirty="0"/>
              <a:t>Semantic segmentation of real Mars rover images</a:t>
            </a:r>
          </a:p>
          <a:p>
            <a:pPr marL="0" indent="0">
              <a:buNone/>
            </a:pPr>
            <a:r>
              <a:rPr lang="en-US" sz="2200" noProof="0" dirty="0"/>
              <a:t>To support navigation</a:t>
            </a:r>
          </a:p>
        </p:txBody>
      </p:sp>
      <p:sp>
        <p:nvSpPr>
          <p:cNvPr id="4" name="Google Shape;102;p14">
            <a:extLst>
              <a:ext uri="{FF2B5EF4-FFF2-40B4-BE49-F238E27FC236}">
                <a16:creationId xmlns:a16="http://schemas.microsoft.com/office/drawing/2014/main" id="{289212E4-ADA7-A6A4-054D-7A25F5585AC7}"/>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6751F937-567F-6642-FDCE-3DFED7334C68}"/>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6" name="Titolo 1">
            <a:extLst>
              <a:ext uri="{FF2B5EF4-FFF2-40B4-BE49-F238E27FC236}">
                <a16:creationId xmlns:a16="http://schemas.microsoft.com/office/drawing/2014/main" id="{0E23B25A-177E-3C6C-A6B9-E17838168E67}"/>
              </a:ext>
            </a:extLst>
          </p:cNvPr>
          <p:cNvSpPr>
            <a:spLocks noGrp="1"/>
          </p:cNvSpPr>
          <p:nvPr>
            <p:ph type="title"/>
          </p:nvPr>
        </p:nvSpPr>
        <p:spPr>
          <a:xfrm>
            <a:off x="838200" y="365125"/>
            <a:ext cx="8384177" cy="835787"/>
          </a:xfrm>
        </p:spPr>
        <p:txBody>
          <a:bodyPr/>
          <a:lstStyle/>
          <a:p>
            <a:r>
              <a:rPr lang="en-US" dirty="0">
                <a:solidFill>
                  <a:srgbClr val="822433"/>
                </a:solidFill>
              </a:rPr>
              <a:t>Research objective</a:t>
            </a:r>
            <a:endParaRPr lang="en-US" noProof="0" dirty="0">
              <a:solidFill>
                <a:srgbClr val="822433"/>
              </a:solidFill>
            </a:endParaRPr>
          </a:p>
        </p:txBody>
      </p:sp>
      <p:sp>
        <p:nvSpPr>
          <p:cNvPr id="11" name="Segnaposto contenuto 2">
            <a:extLst>
              <a:ext uri="{FF2B5EF4-FFF2-40B4-BE49-F238E27FC236}">
                <a16:creationId xmlns:a16="http://schemas.microsoft.com/office/drawing/2014/main" id="{97E7D6F9-E995-40A1-F543-8EC613B4C195}"/>
              </a:ext>
            </a:extLst>
          </p:cNvPr>
          <p:cNvSpPr txBox="1">
            <a:spLocks/>
          </p:cNvSpPr>
          <p:nvPr/>
        </p:nvSpPr>
        <p:spPr>
          <a:xfrm>
            <a:off x="6675119" y="3070122"/>
            <a:ext cx="4248913" cy="318904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u="sng" dirty="0">
                <a:solidFill>
                  <a:srgbClr val="822433"/>
                </a:solidFill>
              </a:rPr>
              <a:t>2 Wheel Inspection</a:t>
            </a:r>
          </a:p>
          <a:p>
            <a:pPr marL="0" indent="0">
              <a:buNone/>
            </a:pPr>
            <a:endParaRPr lang="en-US" sz="2200" b="1" u="sng" dirty="0">
              <a:solidFill>
                <a:srgbClr val="822433"/>
              </a:solidFill>
            </a:endParaRPr>
          </a:p>
          <a:p>
            <a:pPr marL="0" indent="0">
              <a:buNone/>
            </a:pPr>
            <a:r>
              <a:rPr lang="en-US" sz="2200" dirty="0"/>
              <a:t>Anomaly Detection using a synthetically generated dataset</a:t>
            </a:r>
          </a:p>
          <a:p>
            <a:pPr marL="0" indent="0">
              <a:buNone/>
            </a:pPr>
            <a:r>
              <a:rPr lang="en-US" sz="2200" noProof="0" dirty="0"/>
              <a:t>To prevent further damage</a:t>
            </a:r>
          </a:p>
        </p:txBody>
      </p:sp>
      <p:grpSp>
        <p:nvGrpSpPr>
          <p:cNvPr id="16" name="Gruppo 15">
            <a:extLst>
              <a:ext uri="{FF2B5EF4-FFF2-40B4-BE49-F238E27FC236}">
                <a16:creationId xmlns:a16="http://schemas.microsoft.com/office/drawing/2014/main" id="{9DC70907-1725-B8AC-9511-304555C4CF88}"/>
              </a:ext>
            </a:extLst>
          </p:cNvPr>
          <p:cNvGrpSpPr/>
          <p:nvPr/>
        </p:nvGrpSpPr>
        <p:grpSpPr>
          <a:xfrm>
            <a:off x="1051560" y="1592054"/>
            <a:ext cx="9356815" cy="829997"/>
            <a:chOff x="1051560" y="1592054"/>
            <a:chExt cx="9356815" cy="829997"/>
          </a:xfrm>
        </p:grpSpPr>
        <p:sp>
          <p:nvSpPr>
            <p:cNvPr id="12" name="Segnaposto contenuto 2">
              <a:extLst>
                <a:ext uri="{FF2B5EF4-FFF2-40B4-BE49-F238E27FC236}">
                  <a16:creationId xmlns:a16="http://schemas.microsoft.com/office/drawing/2014/main" id="{BE704A8C-B264-41F2-916E-C29042E0E019}"/>
                </a:ext>
              </a:extLst>
            </p:cNvPr>
            <p:cNvSpPr txBox="1">
              <a:spLocks/>
            </p:cNvSpPr>
            <p:nvPr/>
          </p:nvSpPr>
          <p:spPr>
            <a:xfrm>
              <a:off x="3307623" y="1592054"/>
              <a:ext cx="7100752" cy="82999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noProof="0" dirty="0"/>
                <a:t>Support autonomous operations</a:t>
              </a:r>
              <a:r>
                <a:rPr lang="en-US" sz="2400" dirty="0"/>
                <a:t> while </a:t>
              </a:r>
              <a:r>
                <a:rPr lang="en-US" sz="2400" noProof="0" dirty="0"/>
                <a:t>evaluating the trade-off between accuracy and efficiency</a:t>
              </a:r>
            </a:p>
          </p:txBody>
        </p:sp>
        <p:sp>
          <p:nvSpPr>
            <p:cNvPr id="13" name="Rettangolo con angoli arrotondati 12">
              <a:extLst>
                <a:ext uri="{FF2B5EF4-FFF2-40B4-BE49-F238E27FC236}">
                  <a16:creationId xmlns:a16="http://schemas.microsoft.com/office/drawing/2014/main" id="{71EDF741-FD85-D6EE-C4DB-AF84B65AD4BD}"/>
                </a:ext>
              </a:extLst>
            </p:cNvPr>
            <p:cNvSpPr/>
            <p:nvPr/>
          </p:nvSpPr>
          <p:spPr>
            <a:xfrm>
              <a:off x="1051560" y="1798869"/>
              <a:ext cx="2545080" cy="426720"/>
            </a:xfrm>
            <a:prstGeom prst="round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algn="ctr"/>
              <a:r>
                <a:rPr lang="en-US" sz="2400" b="1" u="sng" noProof="0" dirty="0">
                  <a:solidFill>
                    <a:srgbClr val="822433"/>
                  </a:solidFill>
                  <a:latin typeface="Roboto" panose="02000000000000000000" pitchFamily="2" charset="0"/>
                  <a:ea typeface="Roboto" panose="02000000000000000000" pitchFamily="2" charset="0"/>
                </a:rPr>
                <a:t>Main Objective:</a:t>
              </a:r>
            </a:p>
          </p:txBody>
        </p:sp>
      </p:grpSp>
      <p:cxnSp>
        <p:nvCxnSpPr>
          <p:cNvPr id="15" name="Connettore diritto 14">
            <a:extLst>
              <a:ext uri="{FF2B5EF4-FFF2-40B4-BE49-F238E27FC236}">
                <a16:creationId xmlns:a16="http://schemas.microsoft.com/office/drawing/2014/main" id="{77D9676C-38F9-2A8D-7609-719A38AE19C4}"/>
              </a:ext>
            </a:extLst>
          </p:cNvPr>
          <p:cNvCxnSpPr>
            <a:cxnSpLocks/>
          </p:cNvCxnSpPr>
          <p:nvPr/>
        </p:nvCxnSpPr>
        <p:spPr>
          <a:xfrm>
            <a:off x="952500" y="2746086"/>
            <a:ext cx="10287000" cy="0"/>
          </a:xfrm>
          <a:prstGeom prst="line">
            <a:avLst/>
          </a:prstGeom>
          <a:ln w="28575">
            <a:solidFill>
              <a:srgbClr val="822433"/>
            </a:solidFill>
          </a:ln>
        </p:spPr>
        <p:style>
          <a:lnRef idx="1">
            <a:schemeClr val="accent1"/>
          </a:lnRef>
          <a:fillRef idx="0">
            <a:schemeClr val="accent1"/>
          </a:fillRef>
          <a:effectRef idx="0">
            <a:schemeClr val="accent1"/>
          </a:effectRef>
          <a:fontRef idx="minor">
            <a:schemeClr val="tx1"/>
          </a:fontRef>
        </p:style>
      </p:cxnSp>
      <p:cxnSp>
        <p:nvCxnSpPr>
          <p:cNvPr id="2" name="Connettore diritto 14">
            <a:extLst>
              <a:ext uri="{FF2B5EF4-FFF2-40B4-BE49-F238E27FC236}">
                <a16:creationId xmlns:a16="http://schemas.microsoft.com/office/drawing/2014/main" id="{FD9376E7-C567-B4D5-DC36-24C9BF0A5E63}"/>
              </a:ext>
            </a:extLst>
          </p:cNvPr>
          <p:cNvCxnSpPr>
            <a:cxnSpLocks/>
          </p:cNvCxnSpPr>
          <p:nvPr/>
        </p:nvCxnSpPr>
        <p:spPr>
          <a:xfrm>
            <a:off x="6096000" y="2952750"/>
            <a:ext cx="0" cy="2714625"/>
          </a:xfrm>
          <a:prstGeom prst="line">
            <a:avLst/>
          </a:prstGeom>
          <a:ln w="28575">
            <a:solidFill>
              <a:srgbClr val="8224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343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D9DC1-FC24-E459-7A5E-590238C9909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3398E57-68D8-3449-9EA5-E189F2610AA4}"/>
              </a:ext>
            </a:extLst>
          </p:cNvPr>
          <p:cNvSpPr>
            <a:spLocks noGrp="1"/>
          </p:cNvSpPr>
          <p:nvPr>
            <p:ph type="title"/>
          </p:nvPr>
        </p:nvSpPr>
        <p:spPr/>
        <p:txBody>
          <a:bodyPr>
            <a:normAutofit/>
          </a:bodyPr>
          <a:lstStyle/>
          <a:p>
            <a:r>
              <a:rPr lang="it-IT" sz="5400" dirty="0" err="1">
                <a:solidFill>
                  <a:srgbClr val="822433"/>
                </a:solidFill>
              </a:rPr>
              <a:t>Lightweight</a:t>
            </a:r>
            <a:r>
              <a:rPr lang="it-IT" sz="5400" dirty="0">
                <a:solidFill>
                  <a:srgbClr val="822433"/>
                </a:solidFill>
              </a:rPr>
              <a:t> Scene </a:t>
            </a:r>
            <a:r>
              <a:rPr lang="it-IT" sz="5400" dirty="0" err="1">
                <a:solidFill>
                  <a:srgbClr val="822433"/>
                </a:solidFill>
              </a:rPr>
              <a:t>Understanding</a:t>
            </a:r>
            <a:endParaRPr lang="it-IT" sz="5400" dirty="0">
              <a:solidFill>
                <a:srgbClr val="822433"/>
              </a:solidFill>
            </a:endParaRPr>
          </a:p>
        </p:txBody>
      </p:sp>
      <p:sp>
        <p:nvSpPr>
          <p:cNvPr id="3" name="Segnaposto testo 2">
            <a:extLst>
              <a:ext uri="{FF2B5EF4-FFF2-40B4-BE49-F238E27FC236}">
                <a16:creationId xmlns:a16="http://schemas.microsoft.com/office/drawing/2014/main" id="{9FF8C077-08F7-ABFC-1C23-781287469965}"/>
              </a:ext>
            </a:extLst>
          </p:cNvPr>
          <p:cNvSpPr>
            <a:spLocks noGrp="1"/>
          </p:cNvSpPr>
          <p:nvPr>
            <p:ph type="body" idx="1"/>
          </p:nvPr>
        </p:nvSpPr>
        <p:spPr>
          <a:xfrm>
            <a:off x="844550" y="3322320"/>
            <a:ext cx="10515600" cy="466090"/>
          </a:xfrm>
        </p:spPr>
        <p:txBody>
          <a:bodyPr/>
          <a:lstStyle/>
          <a:p>
            <a:r>
              <a:rPr lang="it-IT" dirty="0" err="1"/>
              <a:t>Introduction</a:t>
            </a:r>
            <a:endParaRPr lang="it-IT" dirty="0"/>
          </a:p>
        </p:txBody>
      </p:sp>
      <p:sp>
        <p:nvSpPr>
          <p:cNvPr id="4" name="Google Shape;102;p14">
            <a:extLst>
              <a:ext uri="{FF2B5EF4-FFF2-40B4-BE49-F238E27FC236}">
                <a16:creationId xmlns:a16="http://schemas.microsoft.com/office/drawing/2014/main" id="{0DA9B12F-F05D-2B3C-CF9A-C423929A0C99}"/>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6</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B652D18F-50DB-3CB9-74C4-FB954482CB28}"/>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8" name="Segnaposto testo 2">
            <a:extLst>
              <a:ext uri="{FF2B5EF4-FFF2-40B4-BE49-F238E27FC236}">
                <a16:creationId xmlns:a16="http://schemas.microsoft.com/office/drawing/2014/main" id="{1643E970-55F9-1B32-2F4A-03CB791398BC}"/>
              </a:ext>
            </a:extLst>
          </p:cNvPr>
          <p:cNvSpPr txBox="1">
            <a:spLocks/>
          </p:cNvSpPr>
          <p:nvPr/>
        </p:nvSpPr>
        <p:spPr>
          <a:xfrm>
            <a:off x="844550" y="4562475"/>
            <a:ext cx="10515600" cy="1544003"/>
          </a:xfrm>
          <a:prstGeom prst="rect">
            <a:avLst/>
          </a:prstGeom>
        </p:spPr>
        <p:txBody>
          <a:bodyPr vert="horz" lIns="91440" tIns="45720" rIns="91440" bIns="45720" rtlCol="0">
            <a:normAutofit lnSpcReduction="10000"/>
          </a:bodyPr>
          <a:lst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8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dirty="0"/>
              <a:t>Synthetic Dataset Generation</a:t>
            </a:r>
            <a:br>
              <a:rPr lang="en-US" dirty="0"/>
            </a:br>
            <a:r>
              <a:rPr lang="en-US" dirty="0"/>
              <a:t>Synthetic Damage Inspection</a:t>
            </a:r>
            <a:br>
              <a:rPr lang="en-US" dirty="0"/>
            </a:br>
            <a:r>
              <a:rPr lang="en-US" dirty="0"/>
              <a:t>Results</a:t>
            </a:r>
            <a:br>
              <a:rPr lang="en-US" dirty="0"/>
            </a:br>
            <a:r>
              <a:rPr lang="en-US" dirty="0"/>
              <a:t>Conclusions</a:t>
            </a:r>
            <a:endParaRPr lang="it-IT" dirty="0"/>
          </a:p>
        </p:txBody>
      </p:sp>
    </p:spTree>
    <p:extLst>
      <p:ext uri="{BB962C8B-B14F-4D97-AF65-F5344CB8AC3E}">
        <p14:creationId xmlns:p14="http://schemas.microsoft.com/office/powerpoint/2010/main" val="7288278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CBDE15-2EC3-5B81-9131-12F4F356265E}"/>
            </a:ext>
          </a:extLst>
        </p:cNvPr>
        <p:cNvGrpSpPr/>
        <p:nvPr/>
      </p:nvGrpSpPr>
      <p:grpSpPr>
        <a:xfrm>
          <a:off x="0" y="0"/>
          <a:ext cx="0" cy="0"/>
          <a:chOff x="0" y="0"/>
          <a:chExt cx="0" cy="0"/>
        </a:xfrm>
      </p:grpSpPr>
      <p:sp>
        <p:nvSpPr>
          <p:cNvPr id="4" name="Google Shape;102;p14">
            <a:extLst>
              <a:ext uri="{FF2B5EF4-FFF2-40B4-BE49-F238E27FC236}">
                <a16:creationId xmlns:a16="http://schemas.microsoft.com/office/drawing/2014/main" id="{9A02A468-36B8-2AD1-4F16-532FACD2F539}"/>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7</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838F9F36-E922-47DD-82F5-1C0DEF15327F}"/>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6" name="Titolo 1">
            <a:extLst>
              <a:ext uri="{FF2B5EF4-FFF2-40B4-BE49-F238E27FC236}">
                <a16:creationId xmlns:a16="http://schemas.microsoft.com/office/drawing/2014/main" id="{508A5B33-C04C-C1B1-345F-4459DA70F9D7}"/>
              </a:ext>
            </a:extLst>
          </p:cNvPr>
          <p:cNvSpPr>
            <a:spLocks noGrp="1"/>
          </p:cNvSpPr>
          <p:nvPr>
            <p:ph type="title"/>
          </p:nvPr>
        </p:nvSpPr>
        <p:spPr>
          <a:xfrm>
            <a:off x="838200" y="365125"/>
            <a:ext cx="8384177" cy="835787"/>
          </a:xfrm>
        </p:spPr>
        <p:txBody>
          <a:bodyPr/>
          <a:lstStyle/>
          <a:p>
            <a:r>
              <a:rPr lang="en-US" dirty="0">
                <a:solidFill>
                  <a:srgbClr val="822433"/>
                </a:solidFill>
              </a:rPr>
              <a:t>Semantic Segmentation</a:t>
            </a:r>
            <a:endParaRPr lang="en-US" noProof="0" dirty="0">
              <a:solidFill>
                <a:srgbClr val="822433"/>
              </a:solidFill>
            </a:endParaRPr>
          </a:p>
        </p:txBody>
      </p:sp>
      <p:sp>
        <p:nvSpPr>
          <p:cNvPr id="9" name="label-s5mars-rgb.png">
            <a:extLst>
              <a:ext uri="{FF2B5EF4-FFF2-40B4-BE49-F238E27FC236}">
                <a16:creationId xmlns:a16="http://schemas.microsoft.com/office/drawing/2014/main" id="{12BAE005-0076-88ED-9DF3-B48160278A3B}"/>
              </a:ext>
            </a:extLst>
          </p:cNvPr>
          <p:cNvSpPr>
            <a:spLocks noGrp="1"/>
          </p:cNvSpPr>
          <p:nvPr/>
        </p:nvSpPr>
        <p:spPr>
          <a:xfrm>
            <a:off x="1410272" y="1624293"/>
            <a:ext cx="3095625" cy="381000"/>
          </a:xfrm>
          <a:prstGeom prst="rect">
            <a:avLst/>
          </a:prstGeom>
          <a:noFill/>
          <a:ln w="0">
            <a:noFill/>
          </a:ln>
        </p:spPr>
        <p:txBody>
          <a:bodyPr wrap="square" lIns="0" tIns="0" rIns="0" bIns="0" anchor="t">
            <a:noAutofit/>
          </a:bodyPr>
          <a:lstStyle>
            <a:defPPr algn="ctr">
              <a:defRPr lang="en-US" sz="2100" b="1">
                <a:solidFill>
                  <a:srgbClr val="202124"/>
                </a:solidFill>
                <a:latin typeface="Roboto"/>
                <a:ea typeface="Roboto"/>
                <a:cs typeface="Roboto"/>
              </a:defRPr>
            </a:defPPr>
            <a:lvl1pPr algn="ctr">
              <a:defRPr lang="en-US" sz="2100" b="1">
                <a:solidFill>
                  <a:srgbClr val="202124"/>
                </a:solidFill>
                <a:latin typeface="Roboto"/>
                <a:ea typeface="Roboto"/>
                <a:cs typeface="Roboto"/>
              </a:defRPr>
            </a:lvl1pPr>
            <a:lvl2pPr algn="ctr">
              <a:defRPr lang="en-US" sz="2100" b="1">
                <a:solidFill>
                  <a:srgbClr val="202124"/>
                </a:solidFill>
                <a:latin typeface="Roboto"/>
                <a:ea typeface="Roboto"/>
                <a:cs typeface="Roboto"/>
              </a:defRPr>
            </a:lvl2pPr>
            <a:lvl3pPr algn="ctr">
              <a:defRPr lang="en-US" sz="2100" b="1">
                <a:solidFill>
                  <a:srgbClr val="202124"/>
                </a:solidFill>
                <a:latin typeface="Roboto"/>
                <a:ea typeface="Roboto"/>
                <a:cs typeface="Roboto"/>
              </a:defRPr>
            </a:lvl3pPr>
            <a:lvl4pPr algn="ctr">
              <a:defRPr lang="en-US" sz="2100" b="1">
                <a:solidFill>
                  <a:srgbClr val="202124"/>
                </a:solidFill>
                <a:latin typeface="Roboto"/>
                <a:ea typeface="Roboto"/>
                <a:cs typeface="Roboto"/>
              </a:defRPr>
            </a:lvl4pPr>
            <a:lvl5pPr algn="ctr">
              <a:defRPr lang="en-US" sz="2100" b="1">
                <a:solidFill>
                  <a:srgbClr val="202124"/>
                </a:solidFill>
                <a:latin typeface="Roboto"/>
                <a:ea typeface="Roboto"/>
                <a:cs typeface="Roboto"/>
              </a:defRPr>
            </a:lvl5pPr>
            <a:lvl6pPr algn="ctr">
              <a:defRPr lang="en-US" sz="2100" b="1">
                <a:solidFill>
                  <a:srgbClr val="202124"/>
                </a:solidFill>
                <a:latin typeface="Roboto"/>
                <a:ea typeface="Roboto"/>
                <a:cs typeface="Roboto"/>
              </a:defRPr>
            </a:lvl6pPr>
            <a:lvl7pPr algn="ctr">
              <a:defRPr lang="en-US" sz="2100" b="1">
                <a:solidFill>
                  <a:srgbClr val="202124"/>
                </a:solidFill>
                <a:latin typeface="Roboto"/>
                <a:ea typeface="Roboto"/>
                <a:cs typeface="Roboto"/>
              </a:defRPr>
            </a:lvl7pPr>
            <a:lvl8pPr algn="ctr">
              <a:defRPr lang="en-US" sz="2100" b="1">
                <a:solidFill>
                  <a:srgbClr val="202124"/>
                </a:solidFill>
                <a:latin typeface="Roboto"/>
                <a:ea typeface="Roboto"/>
                <a:cs typeface="Roboto"/>
              </a:defRPr>
            </a:lvl8pPr>
            <a:lvl9pPr algn="ctr">
              <a:defRPr lang="en-US" sz="2100" b="1">
                <a:solidFill>
                  <a:srgbClr val="202124"/>
                </a:solidFill>
                <a:latin typeface="Roboto"/>
                <a:ea typeface="Roboto"/>
                <a:cs typeface="Roboto"/>
              </a:defRPr>
            </a:lvl9pPr>
          </a:lstStyle>
          <a:p>
            <a:pPr algn="ctr">
              <a:defRPr lang="en-US" sz="2100" b="1">
                <a:solidFill>
                  <a:srgbClr val="202124"/>
                </a:solidFill>
                <a:latin typeface="Roboto"/>
                <a:ea typeface="Roboto"/>
                <a:cs typeface="Roboto"/>
              </a:defRPr>
            </a:pPr>
            <a:r>
              <a:rPr lang="en-US" sz="2100" b="1">
                <a:solidFill>
                  <a:srgbClr val="202124"/>
                </a:solidFill>
                <a:latin typeface="Roboto"/>
                <a:ea typeface="Roboto"/>
                <a:cs typeface="Roboto"/>
              </a:rPr>
              <a:t>RGB observation</a:t>
            </a:r>
          </a:p>
        </p:txBody>
      </p:sp>
      <p:pic>
        <p:nvPicPr>
          <p:cNvPr id="14" name="Immagine 13">
            <a:extLst>
              <a:ext uri="{FF2B5EF4-FFF2-40B4-BE49-F238E27FC236}">
                <a16:creationId xmlns:a16="http://schemas.microsoft.com/office/drawing/2014/main" id="{51C1090F-2023-3CE3-3D08-16BC58660DDA}"/>
              </a:ext>
            </a:extLst>
          </p:cNvPr>
          <p:cNvPicPr>
            <a:picLocks noChangeAspect="1"/>
          </p:cNvPicPr>
          <p:nvPr/>
        </p:nvPicPr>
        <p:blipFill>
          <a:blip r:embed="rId3"/>
          <a:stretch/>
        </p:blipFill>
        <p:spPr>
          <a:xfrm>
            <a:off x="1410272" y="2195793"/>
            <a:ext cx="3095625" cy="3095625"/>
          </a:xfrm>
          <a:prstGeom prst="rect">
            <a:avLst/>
          </a:prstGeom>
          <a:effectLst>
            <a:outerShdw blurRad="50800" dist="38100" dir="2700000" algn="tl" rotWithShape="0">
              <a:prstClr val="black">
                <a:alpha val="40000"/>
              </a:prstClr>
            </a:outerShdw>
          </a:effectLst>
        </p:spPr>
      </p:pic>
      <p:sp>
        <p:nvSpPr>
          <p:cNvPr id="18" name="label-s5mars-ground-truth.png">
            <a:extLst>
              <a:ext uri="{FF2B5EF4-FFF2-40B4-BE49-F238E27FC236}">
                <a16:creationId xmlns:a16="http://schemas.microsoft.com/office/drawing/2014/main" id="{D046D544-3F35-663A-DCC2-31BC5E9B921D}"/>
              </a:ext>
            </a:extLst>
          </p:cNvPr>
          <p:cNvSpPr>
            <a:spLocks noGrp="1"/>
          </p:cNvSpPr>
          <p:nvPr/>
        </p:nvSpPr>
        <p:spPr>
          <a:xfrm>
            <a:off x="6513195" y="1624293"/>
            <a:ext cx="3095625" cy="381000"/>
          </a:xfrm>
          <a:prstGeom prst="rect">
            <a:avLst/>
          </a:prstGeom>
          <a:noFill/>
          <a:ln w="0">
            <a:noFill/>
          </a:ln>
        </p:spPr>
        <p:txBody>
          <a:bodyPr wrap="square" lIns="0" tIns="0" rIns="0" bIns="0" anchor="t">
            <a:noAutofit/>
          </a:bodyPr>
          <a:lstStyle>
            <a:defPPr algn="ctr">
              <a:defRPr lang="en-US" sz="2100" b="1">
                <a:solidFill>
                  <a:srgbClr val="202124"/>
                </a:solidFill>
                <a:latin typeface="Roboto"/>
                <a:ea typeface="Roboto"/>
                <a:cs typeface="Roboto"/>
              </a:defRPr>
            </a:defPPr>
            <a:lvl1pPr algn="ctr">
              <a:defRPr lang="en-US" sz="2100" b="1">
                <a:solidFill>
                  <a:srgbClr val="202124"/>
                </a:solidFill>
                <a:latin typeface="Roboto"/>
                <a:ea typeface="Roboto"/>
                <a:cs typeface="Roboto"/>
              </a:defRPr>
            </a:lvl1pPr>
            <a:lvl2pPr algn="ctr">
              <a:defRPr lang="en-US" sz="2100" b="1">
                <a:solidFill>
                  <a:srgbClr val="202124"/>
                </a:solidFill>
                <a:latin typeface="Roboto"/>
                <a:ea typeface="Roboto"/>
                <a:cs typeface="Roboto"/>
              </a:defRPr>
            </a:lvl2pPr>
            <a:lvl3pPr algn="ctr">
              <a:defRPr lang="en-US" sz="2100" b="1">
                <a:solidFill>
                  <a:srgbClr val="202124"/>
                </a:solidFill>
                <a:latin typeface="Roboto"/>
                <a:ea typeface="Roboto"/>
                <a:cs typeface="Roboto"/>
              </a:defRPr>
            </a:lvl3pPr>
            <a:lvl4pPr algn="ctr">
              <a:defRPr lang="en-US" sz="2100" b="1">
                <a:solidFill>
                  <a:srgbClr val="202124"/>
                </a:solidFill>
                <a:latin typeface="Roboto"/>
                <a:ea typeface="Roboto"/>
                <a:cs typeface="Roboto"/>
              </a:defRPr>
            </a:lvl4pPr>
            <a:lvl5pPr algn="ctr">
              <a:defRPr lang="en-US" sz="2100" b="1">
                <a:solidFill>
                  <a:srgbClr val="202124"/>
                </a:solidFill>
                <a:latin typeface="Roboto"/>
                <a:ea typeface="Roboto"/>
                <a:cs typeface="Roboto"/>
              </a:defRPr>
            </a:lvl5pPr>
            <a:lvl6pPr algn="ctr">
              <a:defRPr lang="en-US" sz="2100" b="1">
                <a:solidFill>
                  <a:srgbClr val="202124"/>
                </a:solidFill>
                <a:latin typeface="Roboto"/>
                <a:ea typeface="Roboto"/>
                <a:cs typeface="Roboto"/>
              </a:defRPr>
            </a:lvl6pPr>
            <a:lvl7pPr algn="ctr">
              <a:defRPr lang="en-US" sz="2100" b="1">
                <a:solidFill>
                  <a:srgbClr val="202124"/>
                </a:solidFill>
                <a:latin typeface="Roboto"/>
                <a:ea typeface="Roboto"/>
                <a:cs typeface="Roboto"/>
              </a:defRPr>
            </a:lvl7pPr>
            <a:lvl8pPr algn="ctr">
              <a:defRPr lang="en-US" sz="2100" b="1">
                <a:solidFill>
                  <a:srgbClr val="202124"/>
                </a:solidFill>
                <a:latin typeface="Roboto"/>
                <a:ea typeface="Roboto"/>
                <a:cs typeface="Roboto"/>
              </a:defRPr>
            </a:lvl8pPr>
            <a:lvl9pPr algn="ctr">
              <a:defRPr lang="en-US" sz="2100" b="1">
                <a:solidFill>
                  <a:srgbClr val="202124"/>
                </a:solidFill>
                <a:latin typeface="Roboto"/>
                <a:ea typeface="Roboto"/>
                <a:cs typeface="Roboto"/>
              </a:defRPr>
            </a:lvl9pPr>
          </a:lstStyle>
          <a:p>
            <a:pPr algn="ctr">
              <a:defRPr lang="en-US" sz="2100" b="1">
                <a:solidFill>
                  <a:srgbClr val="202124"/>
                </a:solidFill>
                <a:latin typeface="Roboto"/>
                <a:ea typeface="Roboto"/>
                <a:cs typeface="Roboto"/>
              </a:defRPr>
            </a:pPr>
            <a:r>
              <a:rPr lang="en-US" sz="2100" b="1" dirty="0">
                <a:solidFill>
                  <a:srgbClr val="202124"/>
                </a:solidFill>
                <a:latin typeface="Roboto"/>
                <a:ea typeface="Roboto"/>
                <a:cs typeface="Roboto"/>
              </a:rPr>
              <a:t>Ground truth</a:t>
            </a:r>
          </a:p>
        </p:txBody>
      </p:sp>
      <p:pic>
        <p:nvPicPr>
          <p:cNvPr id="20" name="Immagine 19">
            <a:extLst>
              <a:ext uri="{FF2B5EF4-FFF2-40B4-BE49-F238E27FC236}">
                <a16:creationId xmlns:a16="http://schemas.microsoft.com/office/drawing/2014/main" id="{FB42439D-B7EC-B646-B7CA-66FE67A787FB}"/>
              </a:ext>
            </a:extLst>
          </p:cNvPr>
          <p:cNvPicPr>
            <a:picLocks noChangeAspect="1"/>
          </p:cNvPicPr>
          <p:nvPr/>
        </p:nvPicPr>
        <p:blipFill>
          <a:blip r:embed="rId4"/>
          <a:stretch/>
        </p:blipFill>
        <p:spPr>
          <a:xfrm>
            <a:off x="6513195" y="2195793"/>
            <a:ext cx="3095625" cy="3095625"/>
          </a:xfrm>
          <a:prstGeom prst="rect">
            <a:avLst/>
          </a:prstGeom>
          <a:effectLst>
            <a:outerShdw blurRad="50800" dist="38100" dir="2700000" algn="tl" rotWithShape="0">
              <a:prstClr val="black">
                <a:alpha val="40000"/>
              </a:prstClr>
            </a:outerShdw>
          </a:effectLst>
        </p:spPr>
      </p:pic>
      <p:sp>
        <p:nvSpPr>
          <p:cNvPr id="22" name="bedrock-label">
            <a:extLst>
              <a:ext uri="{FF2B5EF4-FFF2-40B4-BE49-F238E27FC236}">
                <a16:creationId xmlns:a16="http://schemas.microsoft.com/office/drawing/2014/main" id="{060BA734-702C-9AB5-4E6D-626385854CDB}"/>
              </a:ext>
            </a:extLst>
          </p:cNvPr>
          <p:cNvSpPr>
            <a:spLocks noGrp="1"/>
          </p:cNvSpPr>
          <p:nvPr/>
        </p:nvSpPr>
        <p:spPr>
          <a:xfrm>
            <a:off x="9982200" y="3270214"/>
            <a:ext cx="1905000" cy="333375"/>
          </a:xfrm>
          <a:prstGeom prst="rect">
            <a:avLst/>
          </a:prstGeom>
          <a:noFill/>
          <a:ln w="0">
            <a:noFill/>
          </a:ln>
        </p:spPr>
        <p:txBody>
          <a:bodyPr wrap="square" lIns="0" tIns="0" rIns="0" bIns="0" anchor="t">
            <a:noAutofit/>
          </a:bodyPr>
          <a:lstStyle>
            <a:defPPr algn="ctr">
              <a:defRPr lang="en-US" sz="1875" b="1">
                <a:solidFill>
                  <a:srgbClr val="A67A1B"/>
                </a:solidFill>
                <a:latin typeface="Roboto"/>
                <a:ea typeface="Roboto"/>
                <a:cs typeface="Roboto"/>
              </a:defRPr>
            </a:defPPr>
            <a:lvl1pPr algn="ctr">
              <a:defRPr lang="en-US" sz="1875" b="1">
                <a:solidFill>
                  <a:srgbClr val="A67A1B"/>
                </a:solidFill>
                <a:latin typeface="Roboto"/>
                <a:ea typeface="Roboto"/>
                <a:cs typeface="Roboto"/>
              </a:defRPr>
            </a:lvl1pPr>
            <a:lvl2pPr algn="ctr">
              <a:defRPr lang="en-US" sz="1875" b="1">
                <a:solidFill>
                  <a:srgbClr val="A67A1B"/>
                </a:solidFill>
                <a:latin typeface="Roboto"/>
                <a:ea typeface="Roboto"/>
                <a:cs typeface="Roboto"/>
              </a:defRPr>
            </a:lvl2pPr>
            <a:lvl3pPr algn="ctr">
              <a:defRPr lang="en-US" sz="1875" b="1">
                <a:solidFill>
                  <a:srgbClr val="A67A1B"/>
                </a:solidFill>
                <a:latin typeface="Roboto"/>
                <a:ea typeface="Roboto"/>
                <a:cs typeface="Roboto"/>
              </a:defRPr>
            </a:lvl3pPr>
            <a:lvl4pPr algn="ctr">
              <a:defRPr lang="en-US" sz="1875" b="1">
                <a:solidFill>
                  <a:srgbClr val="A67A1B"/>
                </a:solidFill>
                <a:latin typeface="Roboto"/>
                <a:ea typeface="Roboto"/>
                <a:cs typeface="Roboto"/>
              </a:defRPr>
            </a:lvl4pPr>
            <a:lvl5pPr algn="ctr">
              <a:defRPr lang="en-US" sz="1875" b="1">
                <a:solidFill>
                  <a:srgbClr val="A67A1B"/>
                </a:solidFill>
                <a:latin typeface="Roboto"/>
                <a:ea typeface="Roboto"/>
                <a:cs typeface="Roboto"/>
              </a:defRPr>
            </a:lvl5pPr>
            <a:lvl6pPr algn="ctr">
              <a:defRPr lang="en-US" sz="1875" b="1">
                <a:solidFill>
                  <a:srgbClr val="A67A1B"/>
                </a:solidFill>
                <a:latin typeface="Roboto"/>
                <a:ea typeface="Roboto"/>
                <a:cs typeface="Roboto"/>
              </a:defRPr>
            </a:lvl6pPr>
            <a:lvl7pPr algn="ctr">
              <a:defRPr lang="en-US" sz="1875" b="1">
                <a:solidFill>
                  <a:srgbClr val="A67A1B"/>
                </a:solidFill>
                <a:latin typeface="Roboto"/>
                <a:ea typeface="Roboto"/>
                <a:cs typeface="Roboto"/>
              </a:defRPr>
            </a:lvl7pPr>
            <a:lvl8pPr algn="ctr">
              <a:defRPr lang="en-US" sz="1875" b="1">
                <a:solidFill>
                  <a:srgbClr val="A67A1B"/>
                </a:solidFill>
                <a:latin typeface="Roboto"/>
                <a:ea typeface="Roboto"/>
                <a:cs typeface="Roboto"/>
              </a:defRPr>
            </a:lvl8pPr>
            <a:lvl9pPr algn="ctr">
              <a:defRPr lang="en-US" sz="1875" b="1">
                <a:solidFill>
                  <a:srgbClr val="A67A1B"/>
                </a:solidFill>
                <a:latin typeface="Roboto"/>
                <a:ea typeface="Roboto"/>
                <a:cs typeface="Roboto"/>
              </a:defRPr>
            </a:lvl9pPr>
          </a:lstStyle>
          <a:p>
            <a:pPr algn="l">
              <a:defRPr lang="en-US" sz="1875" b="1">
                <a:solidFill>
                  <a:srgbClr val="A67A1B"/>
                </a:solidFill>
                <a:latin typeface="Roboto"/>
                <a:ea typeface="Roboto"/>
                <a:cs typeface="Roboto"/>
              </a:defRPr>
            </a:pPr>
            <a:r>
              <a:rPr lang="en-US" sz="1875" b="1" dirty="0">
                <a:solidFill>
                  <a:srgbClr val="A67A1B"/>
                </a:solidFill>
                <a:latin typeface="Roboto"/>
                <a:ea typeface="Roboto"/>
                <a:cs typeface="Roboto"/>
              </a:rPr>
              <a:t>Bedrock</a:t>
            </a:r>
          </a:p>
        </p:txBody>
      </p:sp>
      <p:sp>
        <p:nvSpPr>
          <p:cNvPr id="24" name="sand-label">
            <a:extLst>
              <a:ext uri="{FF2B5EF4-FFF2-40B4-BE49-F238E27FC236}">
                <a16:creationId xmlns:a16="http://schemas.microsoft.com/office/drawing/2014/main" id="{9070F048-44B2-EAFA-32AE-2015D750BBC4}"/>
              </a:ext>
            </a:extLst>
          </p:cNvPr>
          <p:cNvSpPr>
            <a:spLocks noGrp="1"/>
          </p:cNvSpPr>
          <p:nvPr/>
        </p:nvSpPr>
        <p:spPr>
          <a:xfrm>
            <a:off x="9982200" y="3603689"/>
            <a:ext cx="1905000" cy="333375"/>
          </a:xfrm>
          <a:prstGeom prst="rect">
            <a:avLst/>
          </a:prstGeom>
          <a:noFill/>
          <a:ln w="0">
            <a:noFill/>
          </a:ln>
        </p:spPr>
        <p:txBody>
          <a:bodyPr wrap="square" lIns="0" tIns="0" rIns="0" bIns="0" anchor="t">
            <a:noAutofit/>
          </a:bodyPr>
          <a:lstStyle>
            <a:defPPr algn="ctr">
              <a:defRPr lang="en-US" sz="1875" b="1">
                <a:solidFill>
                  <a:srgbClr val="279D96"/>
                </a:solidFill>
                <a:latin typeface="Roboto"/>
                <a:ea typeface="Roboto"/>
                <a:cs typeface="Roboto"/>
              </a:defRPr>
            </a:defPPr>
            <a:lvl1pPr algn="ctr">
              <a:defRPr lang="en-US" sz="1875" b="1">
                <a:solidFill>
                  <a:srgbClr val="279D96"/>
                </a:solidFill>
                <a:latin typeface="Roboto"/>
                <a:ea typeface="Roboto"/>
                <a:cs typeface="Roboto"/>
              </a:defRPr>
            </a:lvl1pPr>
            <a:lvl2pPr algn="ctr">
              <a:defRPr lang="en-US" sz="1875" b="1">
                <a:solidFill>
                  <a:srgbClr val="279D96"/>
                </a:solidFill>
                <a:latin typeface="Roboto"/>
                <a:ea typeface="Roboto"/>
                <a:cs typeface="Roboto"/>
              </a:defRPr>
            </a:lvl2pPr>
            <a:lvl3pPr algn="ctr">
              <a:defRPr lang="en-US" sz="1875" b="1">
                <a:solidFill>
                  <a:srgbClr val="279D96"/>
                </a:solidFill>
                <a:latin typeface="Roboto"/>
                <a:ea typeface="Roboto"/>
                <a:cs typeface="Roboto"/>
              </a:defRPr>
            </a:lvl3pPr>
            <a:lvl4pPr algn="ctr">
              <a:defRPr lang="en-US" sz="1875" b="1">
                <a:solidFill>
                  <a:srgbClr val="279D96"/>
                </a:solidFill>
                <a:latin typeface="Roboto"/>
                <a:ea typeface="Roboto"/>
                <a:cs typeface="Roboto"/>
              </a:defRPr>
            </a:lvl4pPr>
            <a:lvl5pPr algn="ctr">
              <a:defRPr lang="en-US" sz="1875" b="1">
                <a:solidFill>
                  <a:srgbClr val="279D96"/>
                </a:solidFill>
                <a:latin typeface="Roboto"/>
                <a:ea typeface="Roboto"/>
                <a:cs typeface="Roboto"/>
              </a:defRPr>
            </a:lvl5pPr>
            <a:lvl6pPr algn="ctr">
              <a:defRPr lang="en-US" sz="1875" b="1">
                <a:solidFill>
                  <a:srgbClr val="279D96"/>
                </a:solidFill>
                <a:latin typeface="Roboto"/>
                <a:ea typeface="Roboto"/>
                <a:cs typeface="Roboto"/>
              </a:defRPr>
            </a:lvl6pPr>
            <a:lvl7pPr algn="ctr">
              <a:defRPr lang="en-US" sz="1875" b="1">
                <a:solidFill>
                  <a:srgbClr val="279D96"/>
                </a:solidFill>
                <a:latin typeface="Roboto"/>
                <a:ea typeface="Roboto"/>
                <a:cs typeface="Roboto"/>
              </a:defRPr>
            </a:lvl7pPr>
            <a:lvl8pPr algn="ctr">
              <a:defRPr lang="en-US" sz="1875" b="1">
                <a:solidFill>
                  <a:srgbClr val="279D96"/>
                </a:solidFill>
                <a:latin typeface="Roboto"/>
                <a:ea typeface="Roboto"/>
                <a:cs typeface="Roboto"/>
              </a:defRPr>
            </a:lvl8pPr>
            <a:lvl9pPr algn="ctr">
              <a:defRPr lang="en-US" sz="1875" b="1">
                <a:solidFill>
                  <a:srgbClr val="279D96"/>
                </a:solidFill>
                <a:latin typeface="Roboto"/>
                <a:ea typeface="Roboto"/>
                <a:cs typeface="Roboto"/>
              </a:defRPr>
            </a:lvl9pPr>
          </a:lstStyle>
          <a:p>
            <a:pPr algn="l">
              <a:defRPr lang="en-US" sz="1875" b="1">
                <a:solidFill>
                  <a:srgbClr val="279D96"/>
                </a:solidFill>
                <a:latin typeface="Roboto"/>
                <a:ea typeface="Roboto"/>
                <a:cs typeface="Roboto"/>
              </a:defRPr>
            </a:pPr>
            <a:r>
              <a:rPr lang="en-US" sz="1875" b="1" dirty="0">
                <a:solidFill>
                  <a:srgbClr val="279D96"/>
                </a:solidFill>
                <a:latin typeface="Roboto"/>
                <a:ea typeface="Roboto"/>
                <a:cs typeface="Roboto"/>
              </a:rPr>
              <a:t>Sand / Soil</a:t>
            </a:r>
          </a:p>
        </p:txBody>
      </p:sp>
      <p:sp>
        <p:nvSpPr>
          <p:cNvPr id="26" name="rock-label">
            <a:extLst>
              <a:ext uri="{FF2B5EF4-FFF2-40B4-BE49-F238E27FC236}">
                <a16:creationId xmlns:a16="http://schemas.microsoft.com/office/drawing/2014/main" id="{364FCDEC-42F1-DC3B-41A2-EC3294B6F42B}"/>
              </a:ext>
            </a:extLst>
          </p:cNvPr>
          <p:cNvSpPr>
            <a:spLocks noGrp="1"/>
          </p:cNvSpPr>
          <p:nvPr/>
        </p:nvSpPr>
        <p:spPr>
          <a:xfrm>
            <a:off x="9982200" y="3937064"/>
            <a:ext cx="1905000" cy="333375"/>
          </a:xfrm>
          <a:prstGeom prst="rect">
            <a:avLst/>
          </a:prstGeom>
          <a:noFill/>
          <a:ln w="0">
            <a:noFill/>
          </a:ln>
        </p:spPr>
        <p:txBody>
          <a:bodyPr wrap="square" lIns="0" tIns="0" rIns="0" bIns="0" anchor="t">
            <a:noAutofit/>
          </a:bodyPr>
          <a:lstStyle>
            <a:defPPr algn="ctr">
              <a:defRPr lang="en-US" sz="1875" b="1">
                <a:solidFill>
                  <a:srgbClr val="E8324A"/>
                </a:solidFill>
                <a:latin typeface="Roboto"/>
                <a:ea typeface="Roboto"/>
                <a:cs typeface="Roboto"/>
              </a:defRPr>
            </a:defPPr>
            <a:lvl1pPr algn="ctr">
              <a:defRPr lang="en-US" sz="1875" b="1">
                <a:solidFill>
                  <a:srgbClr val="E8324A"/>
                </a:solidFill>
                <a:latin typeface="Roboto"/>
                <a:ea typeface="Roboto"/>
                <a:cs typeface="Roboto"/>
              </a:defRPr>
            </a:lvl1pPr>
            <a:lvl2pPr algn="ctr">
              <a:defRPr lang="en-US" sz="1875" b="1">
                <a:solidFill>
                  <a:srgbClr val="E8324A"/>
                </a:solidFill>
                <a:latin typeface="Roboto"/>
                <a:ea typeface="Roboto"/>
                <a:cs typeface="Roboto"/>
              </a:defRPr>
            </a:lvl2pPr>
            <a:lvl3pPr algn="ctr">
              <a:defRPr lang="en-US" sz="1875" b="1">
                <a:solidFill>
                  <a:srgbClr val="E8324A"/>
                </a:solidFill>
                <a:latin typeface="Roboto"/>
                <a:ea typeface="Roboto"/>
                <a:cs typeface="Roboto"/>
              </a:defRPr>
            </a:lvl3pPr>
            <a:lvl4pPr algn="ctr">
              <a:defRPr lang="en-US" sz="1875" b="1">
                <a:solidFill>
                  <a:srgbClr val="E8324A"/>
                </a:solidFill>
                <a:latin typeface="Roboto"/>
                <a:ea typeface="Roboto"/>
                <a:cs typeface="Roboto"/>
              </a:defRPr>
            </a:lvl4pPr>
            <a:lvl5pPr algn="ctr">
              <a:defRPr lang="en-US" sz="1875" b="1">
                <a:solidFill>
                  <a:srgbClr val="E8324A"/>
                </a:solidFill>
                <a:latin typeface="Roboto"/>
                <a:ea typeface="Roboto"/>
                <a:cs typeface="Roboto"/>
              </a:defRPr>
            </a:lvl5pPr>
            <a:lvl6pPr algn="ctr">
              <a:defRPr lang="en-US" sz="1875" b="1">
                <a:solidFill>
                  <a:srgbClr val="E8324A"/>
                </a:solidFill>
                <a:latin typeface="Roboto"/>
                <a:ea typeface="Roboto"/>
                <a:cs typeface="Roboto"/>
              </a:defRPr>
            </a:lvl6pPr>
            <a:lvl7pPr algn="ctr">
              <a:defRPr lang="en-US" sz="1875" b="1">
                <a:solidFill>
                  <a:srgbClr val="E8324A"/>
                </a:solidFill>
                <a:latin typeface="Roboto"/>
                <a:ea typeface="Roboto"/>
                <a:cs typeface="Roboto"/>
              </a:defRPr>
            </a:lvl7pPr>
            <a:lvl8pPr algn="ctr">
              <a:defRPr lang="en-US" sz="1875" b="1">
                <a:solidFill>
                  <a:srgbClr val="E8324A"/>
                </a:solidFill>
                <a:latin typeface="Roboto"/>
                <a:ea typeface="Roboto"/>
                <a:cs typeface="Roboto"/>
              </a:defRPr>
            </a:lvl8pPr>
            <a:lvl9pPr algn="ctr">
              <a:defRPr lang="en-US" sz="1875" b="1">
                <a:solidFill>
                  <a:srgbClr val="E8324A"/>
                </a:solidFill>
                <a:latin typeface="Roboto"/>
                <a:ea typeface="Roboto"/>
                <a:cs typeface="Roboto"/>
              </a:defRPr>
            </a:lvl9pPr>
          </a:lstStyle>
          <a:p>
            <a:pPr algn="l">
              <a:defRPr lang="en-US" sz="1875" b="1">
                <a:solidFill>
                  <a:srgbClr val="E8324A"/>
                </a:solidFill>
                <a:latin typeface="Roboto"/>
                <a:ea typeface="Roboto"/>
                <a:cs typeface="Roboto"/>
              </a:defRPr>
            </a:pPr>
            <a:r>
              <a:rPr lang="en-US" sz="1875" b="1" dirty="0">
                <a:solidFill>
                  <a:srgbClr val="E8324A"/>
                </a:solidFill>
                <a:latin typeface="Roboto"/>
                <a:ea typeface="Roboto"/>
                <a:cs typeface="Roboto"/>
              </a:rPr>
              <a:t>Rock</a:t>
            </a:r>
          </a:p>
        </p:txBody>
      </p:sp>
      <p:sp>
        <p:nvSpPr>
          <p:cNvPr id="27" name="Freccia destra con strisce 26">
            <a:extLst>
              <a:ext uri="{FF2B5EF4-FFF2-40B4-BE49-F238E27FC236}">
                <a16:creationId xmlns:a16="http://schemas.microsoft.com/office/drawing/2014/main" id="{4BCDD231-02F5-4425-1986-20535CFEC86F}"/>
              </a:ext>
            </a:extLst>
          </p:cNvPr>
          <p:cNvSpPr/>
          <p:nvPr/>
        </p:nvSpPr>
        <p:spPr>
          <a:xfrm>
            <a:off x="4816412" y="3529198"/>
            <a:ext cx="1417320" cy="271844"/>
          </a:xfrm>
          <a:prstGeom prst="stripedRightArrow">
            <a:avLst/>
          </a:prstGeom>
          <a:solidFill>
            <a:srgbClr val="C00000"/>
          </a:solidFill>
          <a:ln>
            <a:solidFill>
              <a:srgbClr val="82243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28887530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71A55-B809-6799-6B7A-E368158953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139C048-34BF-7B5A-6163-91841FF0DC88}"/>
              </a:ext>
            </a:extLst>
          </p:cNvPr>
          <p:cNvSpPr>
            <a:spLocks noGrp="1"/>
          </p:cNvSpPr>
          <p:nvPr>
            <p:ph type="title"/>
          </p:nvPr>
        </p:nvSpPr>
        <p:spPr>
          <a:xfrm>
            <a:off x="838200" y="365125"/>
            <a:ext cx="8384177" cy="835787"/>
          </a:xfrm>
        </p:spPr>
        <p:txBody>
          <a:bodyPr/>
          <a:lstStyle/>
          <a:p>
            <a:r>
              <a:rPr lang="en-US" noProof="0" dirty="0">
                <a:solidFill>
                  <a:srgbClr val="822433"/>
                </a:solidFill>
              </a:rPr>
              <a:t>Datasets</a:t>
            </a:r>
          </a:p>
        </p:txBody>
      </p:sp>
      <p:sp>
        <p:nvSpPr>
          <p:cNvPr id="4" name="Google Shape;102;p14">
            <a:extLst>
              <a:ext uri="{FF2B5EF4-FFF2-40B4-BE49-F238E27FC236}">
                <a16:creationId xmlns:a16="http://schemas.microsoft.com/office/drawing/2014/main" id="{D152C583-A5BE-E053-2769-61991AF40864}"/>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8</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A7866418-312D-42E0-1E6B-9EDDEA88963A}"/>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source-citations">
            <a:extLst>
              <a:ext uri="{FF2B5EF4-FFF2-40B4-BE49-F238E27FC236}">
                <a16:creationId xmlns:a16="http://schemas.microsoft.com/office/drawing/2014/main" id="{74D087B9-A578-27C1-1F1E-846EE9572A21}"/>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[4] [5]</a:t>
            </a:r>
          </a:p>
        </p:txBody>
      </p:sp>
      <p:sp>
        <p:nvSpPr>
          <p:cNvPr id="10" name="codex-datasets-s5-heading">
            <a:extLst>
              <a:ext uri="{FF2B5EF4-FFF2-40B4-BE49-F238E27FC236}">
                <a16:creationId xmlns:a16="http://schemas.microsoft.com/office/drawing/2014/main" id="{BFB28B05-D79A-181D-CD65-AEA1AD1847EF}"/>
              </a:ext>
            </a:extLst>
          </p:cNvPr>
          <p:cNvSpPr>
            <a:spLocks noGrp="1"/>
          </p:cNvSpPr>
          <p:nvPr/>
        </p:nvSpPr>
        <p:spPr>
          <a:xfrm>
            <a:off x="924791" y="2364719"/>
            <a:ext cx="4905375" cy="428625"/>
          </a:xfrm>
          <a:prstGeom prst="rect">
            <a:avLst/>
          </a:prstGeom>
          <a:noFill/>
          <a:ln w="0">
            <a:noFill/>
          </a:ln>
        </p:spPr>
        <p:txBody>
          <a:bodyPr wrap="square" lIns="0" tIns="0" rIns="0" bIns="0" anchor="t">
            <a:noAutofit/>
          </a:bodyPr>
          <a:lstStyle>
            <a:defPPr algn="l">
              <a:defRPr sz="2600" b="1">
                <a:solidFill>
                  <a:srgbClr val="822433"/>
                </a:solidFill>
                <a:latin typeface="Roboto"/>
                <a:ea typeface="Roboto"/>
                <a:cs typeface="Roboto"/>
              </a:defRPr>
            </a:defPPr>
            <a:lvl1pPr algn="l">
              <a:defRPr sz="2600" b="1">
                <a:solidFill>
                  <a:srgbClr val="822433"/>
                </a:solidFill>
                <a:latin typeface="Roboto"/>
                <a:ea typeface="Roboto"/>
                <a:cs typeface="Roboto"/>
              </a:defRPr>
            </a:lvl1pPr>
            <a:lvl2pPr algn="l">
              <a:defRPr sz="2600" b="1">
                <a:solidFill>
                  <a:srgbClr val="822433"/>
                </a:solidFill>
                <a:latin typeface="Roboto"/>
                <a:ea typeface="Roboto"/>
                <a:cs typeface="Roboto"/>
              </a:defRPr>
            </a:lvl2pPr>
            <a:lvl3pPr algn="l">
              <a:defRPr sz="2600" b="1">
                <a:solidFill>
                  <a:srgbClr val="822433"/>
                </a:solidFill>
                <a:latin typeface="Roboto"/>
                <a:ea typeface="Roboto"/>
                <a:cs typeface="Roboto"/>
              </a:defRPr>
            </a:lvl3pPr>
            <a:lvl4pPr algn="l">
              <a:defRPr sz="2600" b="1">
                <a:solidFill>
                  <a:srgbClr val="822433"/>
                </a:solidFill>
                <a:latin typeface="Roboto"/>
                <a:ea typeface="Roboto"/>
                <a:cs typeface="Roboto"/>
              </a:defRPr>
            </a:lvl4pPr>
            <a:lvl5pPr algn="l">
              <a:defRPr sz="2600" b="1">
                <a:solidFill>
                  <a:srgbClr val="822433"/>
                </a:solidFill>
                <a:latin typeface="Roboto"/>
                <a:ea typeface="Roboto"/>
                <a:cs typeface="Roboto"/>
              </a:defRPr>
            </a:lvl5pPr>
            <a:lvl6pPr algn="l">
              <a:defRPr sz="2600" b="1">
                <a:solidFill>
                  <a:srgbClr val="822433"/>
                </a:solidFill>
                <a:latin typeface="Roboto"/>
                <a:ea typeface="Roboto"/>
                <a:cs typeface="Roboto"/>
              </a:defRPr>
            </a:lvl6pPr>
            <a:lvl7pPr algn="l">
              <a:defRPr sz="2600" b="1">
                <a:solidFill>
                  <a:srgbClr val="822433"/>
                </a:solidFill>
                <a:latin typeface="Roboto"/>
                <a:ea typeface="Roboto"/>
                <a:cs typeface="Roboto"/>
              </a:defRPr>
            </a:lvl7pPr>
            <a:lvl8pPr algn="l">
              <a:defRPr sz="2600" b="1">
                <a:solidFill>
                  <a:srgbClr val="822433"/>
                </a:solidFill>
                <a:latin typeface="Roboto"/>
                <a:ea typeface="Roboto"/>
                <a:cs typeface="Roboto"/>
              </a:defRPr>
            </a:lvl8pPr>
            <a:lvl9pPr algn="l">
              <a:defRPr sz="2600" b="1">
                <a:solidFill>
                  <a:srgbClr val="822433"/>
                </a:solidFill>
                <a:latin typeface="Roboto"/>
                <a:ea typeface="Roboto"/>
                <a:cs typeface="Roboto"/>
              </a:defRPr>
            </a:lvl9pPr>
          </a:lstStyle>
          <a:p>
            <a:pPr>
              <a:defRPr sz="2600" b="1">
                <a:solidFill>
                  <a:srgbClr val="822433"/>
                </a:solidFill>
                <a:latin typeface="Roboto"/>
                <a:ea typeface="Roboto"/>
                <a:cs typeface="Roboto"/>
              </a:defRPr>
            </a:pPr>
            <a:r>
              <a:rPr sz="2600" b="1" dirty="0">
                <a:solidFill>
                  <a:srgbClr val="822433"/>
                </a:solidFill>
                <a:latin typeface="Roboto"/>
                <a:ea typeface="Roboto"/>
                <a:cs typeface="Roboto"/>
              </a:rPr>
              <a:t>S</a:t>
            </a:r>
            <a:r>
              <a:rPr lang="en-US" baseline="30000" dirty="0"/>
              <a:t>5</a:t>
            </a:r>
            <a:r>
              <a:rPr sz="2600" b="1" dirty="0">
                <a:solidFill>
                  <a:srgbClr val="822433"/>
                </a:solidFill>
                <a:latin typeface="Roboto"/>
                <a:ea typeface="Roboto"/>
                <a:cs typeface="Roboto"/>
              </a:rPr>
              <a:t>Mars</a:t>
            </a:r>
          </a:p>
        </p:txBody>
      </p:sp>
      <p:sp>
        <p:nvSpPr>
          <p:cNvPr id="12" name="codex-datasets-s5-description">
            <a:extLst>
              <a:ext uri="{FF2B5EF4-FFF2-40B4-BE49-F238E27FC236}">
                <a16:creationId xmlns:a16="http://schemas.microsoft.com/office/drawing/2014/main" id="{4483A951-DE38-64A9-DFED-2EA94E5D4302}"/>
              </a:ext>
            </a:extLst>
          </p:cNvPr>
          <p:cNvSpPr>
            <a:spLocks noGrp="1"/>
          </p:cNvSpPr>
          <p:nvPr/>
        </p:nvSpPr>
        <p:spPr>
          <a:xfrm>
            <a:off x="924791" y="2793344"/>
            <a:ext cx="4905375" cy="1152525"/>
          </a:xfrm>
          <a:prstGeom prst="rect">
            <a:avLst/>
          </a:prstGeom>
          <a:noFill/>
          <a:ln w="0">
            <a:noFill/>
          </a:ln>
        </p:spPr>
        <p:txBody>
          <a:bodyPr wrap="square" lIns="0" tIns="0" rIns="0" bIns="0" anchor="t">
            <a:noAutofit/>
          </a:bodyPr>
          <a:lstStyle>
            <a:defPPr algn="l">
              <a:defRPr sz="2000" b="0">
                <a:solidFill>
                  <a:srgbClr val="202024"/>
                </a:solidFill>
                <a:latin typeface="Roboto"/>
                <a:ea typeface="Roboto"/>
                <a:cs typeface="Roboto"/>
              </a:defRPr>
            </a:defPPr>
            <a:lvl1pPr algn="l">
              <a:defRPr sz="2000" b="0">
                <a:solidFill>
                  <a:srgbClr val="202024"/>
                </a:solidFill>
                <a:latin typeface="Roboto"/>
                <a:ea typeface="Roboto"/>
                <a:cs typeface="Roboto"/>
              </a:defRPr>
            </a:lvl1pPr>
            <a:lvl2pPr algn="l">
              <a:defRPr sz="2000" b="0">
                <a:solidFill>
                  <a:srgbClr val="202024"/>
                </a:solidFill>
                <a:latin typeface="Roboto"/>
                <a:ea typeface="Roboto"/>
                <a:cs typeface="Roboto"/>
              </a:defRPr>
            </a:lvl2pPr>
            <a:lvl3pPr algn="l">
              <a:defRPr sz="2000" b="0">
                <a:solidFill>
                  <a:srgbClr val="202024"/>
                </a:solidFill>
                <a:latin typeface="Roboto"/>
                <a:ea typeface="Roboto"/>
                <a:cs typeface="Roboto"/>
              </a:defRPr>
            </a:lvl3pPr>
            <a:lvl4pPr algn="l">
              <a:defRPr sz="2000" b="0">
                <a:solidFill>
                  <a:srgbClr val="202024"/>
                </a:solidFill>
                <a:latin typeface="Roboto"/>
                <a:ea typeface="Roboto"/>
                <a:cs typeface="Roboto"/>
              </a:defRPr>
            </a:lvl4pPr>
            <a:lvl5pPr algn="l">
              <a:defRPr sz="2000" b="0">
                <a:solidFill>
                  <a:srgbClr val="202024"/>
                </a:solidFill>
                <a:latin typeface="Roboto"/>
                <a:ea typeface="Roboto"/>
                <a:cs typeface="Roboto"/>
              </a:defRPr>
            </a:lvl5pPr>
            <a:lvl6pPr algn="l">
              <a:defRPr sz="2000" b="0">
                <a:solidFill>
                  <a:srgbClr val="202024"/>
                </a:solidFill>
                <a:latin typeface="Roboto"/>
                <a:ea typeface="Roboto"/>
                <a:cs typeface="Roboto"/>
              </a:defRPr>
            </a:lvl6pPr>
            <a:lvl7pPr algn="l">
              <a:defRPr sz="2000" b="0">
                <a:solidFill>
                  <a:srgbClr val="202024"/>
                </a:solidFill>
                <a:latin typeface="Roboto"/>
                <a:ea typeface="Roboto"/>
                <a:cs typeface="Roboto"/>
              </a:defRPr>
            </a:lvl7pPr>
            <a:lvl8pPr algn="l">
              <a:defRPr sz="2000" b="0">
                <a:solidFill>
                  <a:srgbClr val="202024"/>
                </a:solidFill>
                <a:latin typeface="Roboto"/>
                <a:ea typeface="Roboto"/>
                <a:cs typeface="Roboto"/>
              </a:defRPr>
            </a:lvl8pPr>
            <a:lvl9pPr algn="l">
              <a:defRPr sz="2000" b="0">
                <a:solidFill>
                  <a:srgbClr val="202024"/>
                </a:solidFill>
                <a:latin typeface="Roboto"/>
                <a:ea typeface="Roboto"/>
                <a:cs typeface="Roboto"/>
              </a:defRPr>
            </a:lvl9pPr>
          </a:lstStyle>
          <a:p>
            <a:pPr algn="l">
              <a:defRPr sz="2000" b="0">
                <a:solidFill>
                  <a:srgbClr val="202024"/>
                </a:solidFill>
                <a:latin typeface="Roboto"/>
                <a:ea typeface="Roboto"/>
                <a:cs typeface="Roboto"/>
              </a:defRPr>
            </a:pPr>
            <a:r>
              <a:rPr lang="it-IT" sz="2000" b="0" dirty="0">
                <a:solidFill>
                  <a:srgbClr val="202024"/>
                </a:solidFill>
                <a:latin typeface="Roboto"/>
                <a:ea typeface="Roboto"/>
                <a:cs typeface="Roboto"/>
              </a:rPr>
              <a:t>- </a:t>
            </a:r>
            <a:r>
              <a:rPr sz="2000" b="0" dirty="0">
                <a:solidFill>
                  <a:srgbClr val="202024"/>
                </a:solidFill>
                <a:latin typeface="Roboto"/>
                <a:ea typeface="Roboto"/>
                <a:cs typeface="Roboto"/>
              </a:rPr>
              <a:t>Main segmentation dataset</a:t>
            </a:r>
            <a:endParaRPr lang="it-IT" dirty="0"/>
          </a:p>
          <a:p>
            <a:pPr algn="l">
              <a:defRPr sz="2000" b="0">
                <a:solidFill>
                  <a:srgbClr val="202024"/>
                </a:solidFill>
                <a:latin typeface="Roboto"/>
                <a:ea typeface="Roboto"/>
                <a:cs typeface="Roboto"/>
              </a:defRPr>
            </a:pPr>
            <a:r>
              <a:rPr lang="it-IT" sz="2000" b="0" dirty="0">
                <a:solidFill>
                  <a:srgbClr val="202024"/>
                </a:solidFill>
                <a:latin typeface="Roboto"/>
                <a:ea typeface="Roboto"/>
                <a:cs typeface="Roboto"/>
              </a:rPr>
              <a:t>- </a:t>
            </a:r>
            <a:r>
              <a:rPr sz="2000" b="0" dirty="0">
                <a:solidFill>
                  <a:srgbClr val="202024"/>
                </a:solidFill>
                <a:latin typeface="Roboto"/>
                <a:ea typeface="Roboto"/>
                <a:cs typeface="Roboto"/>
              </a:rPr>
              <a:t>Curiosity </a:t>
            </a:r>
            <a:r>
              <a:rPr sz="2000" b="0" dirty="0" err="1">
                <a:solidFill>
                  <a:srgbClr val="202024"/>
                </a:solidFill>
                <a:latin typeface="Roboto"/>
                <a:ea typeface="Roboto"/>
                <a:cs typeface="Roboto"/>
              </a:rPr>
              <a:t>Mastcam</a:t>
            </a:r>
            <a:r>
              <a:rPr sz="2000" b="0" dirty="0">
                <a:solidFill>
                  <a:srgbClr val="202024"/>
                </a:solidFill>
                <a:latin typeface="Roboto"/>
                <a:ea typeface="Roboto"/>
                <a:cs typeface="Roboto"/>
              </a:rPr>
              <a:t> images</a:t>
            </a:r>
            <a:r>
              <a:rPr lang="it-IT" sz="2000" b="0" dirty="0">
                <a:solidFill>
                  <a:srgbClr val="202024"/>
                </a:solidFill>
                <a:latin typeface="Roboto"/>
                <a:ea typeface="Roboto"/>
                <a:cs typeface="Roboto"/>
              </a:rPr>
              <a:t> </a:t>
            </a:r>
            <a:r>
              <a:rPr sz="2000" b="0" dirty="0">
                <a:solidFill>
                  <a:srgbClr val="202024"/>
                </a:solidFill>
                <a:latin typeface="Roboto"/>
                <a:ea typeface="Roboto"/>
                <a:cs typeface="Roboto"/>
              </a:rPr>
              <a:t>9 classes,</a:t>
            </a:r>
            <a:endParaRPr lang="it-IT" dirty="0"/>
          </a:p>
          <a:p>
            <a:pPr algn="l">
              <a:defRPr sz="2000" b="0">
                <a:solidFill>
                  <a:srgbClr val="202024"/>
                </a:solidFill>
                <a:latin typeface="Roboto"/>
                <a:ea typeface="Roboto"/>
                <a:cs typeface="Roboto"/>
              </a:defRPr>
            </a:pPr>
            <a:r>
              <a:rPr sz="2000" b="0" dirty="0">
                <a:solidFill>
                  <a:srgbClr val="202024"/>
                </a:solidFill>
                <a:latin typeface="Roboto"/>
                <a:ea typeface="Roboto"/>
                <a:cs typeface="Roboto"/>
              </a:rPr>
              <a:t>including Rover</a:t>
            </a:r>
          </a:p>
        </p:txBody>
      </p:sp>
      <p:sp>
        <p:nvSpPr>
          <p:cNvPr id="13" name="codex-datasets-marsseg-heading">
            <a:extLst>
              <a:ext uri="{FF2B5EF4-FFF2-40B4-BE49-F238E27FC236}">
                <a16:creationId xmlns:a16="http://schemas.microsoft.com/office/drawing/2014/main" id="{6793C23A-39A0-1658-2B4C-4FAFABD6974C}"/>
              </a:ext>
            </a:extLst>
          </p:cNvPr>
          <p:cNvSpPr>
            <a:spLocks noGrp="1"/>
          </p:cNvSpPr>
          <p:nvPr/>
        </p:nvSpPr>
        <p:spPr>
          <a:xfrm>
            <a:off x="6163541" y="2364719"/>
            <a:ext cx="4857750" cy="428625"/>
          </a:xfrm>
          <a:prstGeom prst="rect">
            <a:avLst/>
          </a:prstGeom>
          <a:noFill/>
          <a:ln w="0">
            <a:noFill/>
          </a:ln>
        </p:spPr>
        <p:txBody>
          <a:bodyPr wrap="square" lIns="0" tIns="0" rIns="0" bIns="0" anchor="t">
            <a:noAutofit/>
          </a:bodyPr>
          <a:lstStyle>
            <a:defPPr algn="l">
              <a:defRPr sz="2600" b="1">
                <a:solidFill>
                  <a:srgbClr val="822433"/>
                </a:solidFill>
                <a:latin typeface="Roboto"/>
                <a:ea typeface="Roboto"/>
                <a:cs typeface="Roboto"/>
              </a:defRPr>
            </a:defPPr>
            <a:lvl1pPr algn="l">
              <a:defRPr sz="2600" b="1">
                <a:solidFill>
                  <a:srgbClr val="822433"/>
                </a:solidFill>
                <a:latin typeface="Roboto"/>
                <a:ea typeface="Roboto"/>
                <a:cs typeface="Roboto"/>
              </a:defRPr>
            </a:lvl1pPr>
            <a:lvl2pPr algn="l">
              <a:defRPr sz="2600" b="1">
                <a:solidFill>
                  <a:srgbClr val="822433"/>
                </a:solidFill>
                <a:latin typeface="Roboto"/>
                <a:ea typeface="Roboto"/>
                <a:cs typeface="Roboto"/>
              </a:defRPr>
            </a:lvl2pPr>
            <a:lvl3pPr algn="l">
              <a:defRPr sz="2600" b="1">
                <a:solidFill>
                  <a:srgbClr val="822433"/>
                </a:solidFill>
                <a:latin typeface="Roboto"/>
                <a:ea typeface="Roboto"/>
                <a:cs typeface="Roboto"/>
              </a:defRPr>
            </a:lvl3pPr>
            <a:lvl4pPr algn="l">
              <a:defRPr sz="2600" b="1">
                <a:solidFill>
                  <a:srgbClr val="822433"/>
                </a:solidFill>
                <a:latin typeface="Roboto"/>
                <a:ea typeface="Roboto"/>
                <a:cs typeface="Roboto"/>
              </a:defRPr>
            </a:lvl4pPr>
            <a:lvl5pPr algn="l">
              <a:defRPr sz="2600" b="1">
                <a:solidFill>
                  <a:srgbClr val="822433"/>
                </a:solidFill>
                <a:latin typeface="Roboto"/>
                <a:ea typeface="Roboto"/>
                <a:cs typeface="Roboto"/>
              </a:defRPr>
            </a:lvl5pPr>
            <a:lvl6pPr algn="l">
              <a:defRPr sz="2600" b="1">
                <a:solidFill>
                  <a:srgbClr val="822433"/>
                </a:solidFill>
                <a:latin typeface="Roboto"/>
                <a:ea typeface="Roboto"/>
                <a:cs typeface="Roboto"/>
              </a:defRPr>
            </a:lvl6pPr>
            <a:lvl7pPr algn="l">
              <a:defRPr sz="2600" b="1">
                <a:solidFill>
                  <a:srgbClr val="822433"/>
                </a:solidFill>
                <a:latin typeface="Roboto"/>
                <a:ea typeface="Roboto"/>
                <a:cs typeface="Roboto"/>
              </a:defRPr>
            </a:lvl7pPr>
            <a:lvl8pPr algn="l">
              <a:defRPr sz="2600" b="1">
                <a:solidFill>
                  <a:srgbClr val="822433"/>
                </a:solidFill>
                <a:latin typeface="Roboto"/>
                <a:ea typeface="Roboto"/>
                <a:cs typeface="Roboto"/>
              </a:defRPr>
            </a:lvl8pPr>
            <a:lvl9pPr algn="l">
              <a:defRPr sz="2600" b="1">
                <a:solidFill>
                  <a:srgbClr val="822433"/>
                </a:solidFill>
                <a:latin typeface="Roboto"/>
                <a:ea typeface="Roboto"/>
                <a:cs typeface="Roboto"/>
              </a:defRPr>
            </a:lvl9pPr>
          </a:lstStyle>
          <a:p>
            <a:pPr algn="l">
              <a:defRPr sz="2600" b="1">
                <a:solidFill>
                  <a:srgbClr val="822433"/>
                </a:solidFill>
                <a:latin typeface="Roboto"/>
                <a:ea typeface="Roboto"/>
                <a:cs typeface="Roboto"/>
              </a:defRPr>
            </a:pPr>
            <a:r>
              <a:rPr sz="2600" b="1" dirty="0">
                <a:solidFill>
                  <a:srgbClr val="822433"/>
                </a:solidFill>
                <a:latin typeface="Roboto"/>
                <a:ea typeface="Roboto"/>
                <a:cs typeface="Roboto"/>
              </a:rPr>
              <a:t>MarsSeg MER / MSL</a:t>
            </a:r>
          </a:p>
        </p:txBody>
      </p:sp>
      <p:sp>
        <p:nvSpPr>
          <p:cNvPr id="16" name="codex-datasets-marsseg-description">
            <a:extLst>
              <a:ext uri="{FF2B5EF4-FFF2-40B4-BE49-F238E27FC236}">
                <a16:creationId xmlns:a16="http://schemas.microsoft.com/office/drawing/2014/main" id="{04A5DD20-67DC-0FC3-2889-12A1CC5E6CDC}"/>
              </a:ext>
            </a:extLst>
          </p:cNvPr>
          <p:cNvSpPr>
            <a:spLocks noGrp="1"/>
          </p:cNvSpPr>
          <p:nvPr/>
        </p:nvSpPr>
        <p:spPr>
          <a:xfrm>
            <a:off x="6163541" y="2793344"/>
            <a:ext cx="4857750" cy="885825"/>
          </a:xfrm>
          <a:prstGeom prst="rect">
            <a:avLst/>
          </a:prstGeom>
          <a:noFill/>
          <a:ln w="0">
            <a:noFill/>
          </a:ln>
        </p:spPr>
        <p:txBody>
          <a:bodyPr wrap="square" lIns="0" tIns="0" rIns="0" bIns="0" anchor="t">
            <a:noAutofit/>
          </a:bodyPr>
          <a:lstStyle>
            <a:defPPr algn="l">
              <a:defRPr sz="2000" b="0">
                <a:solidFill>
                  <a:srgbClr val="202024"/>
                </a:solidFill>
                <a:latin typeface="Roboto"/>
                <a:ea typeface="Roboto"/>
                <a:cs typeface="Roboto"/>
              </a:defRPr>
            </a:defPPr>
            <a:lvl1pPr algn="l">
              <a:defRPr sz="2000" b="0">
                <a:solidFill>
                  <a:srgbClr val="202024"/>
                </a:solidFill>
                <a:latin typeface="Roboto"/>
                <a:ea typeface="Roboto"/>
                <a:cs typeface="Roboto"/>
              </a:defRPr>
            </a:lvl1pPr>
            <a:lvl2pPr algn="l">
              <a:defRPr sz="2000" b="0">
                <a:solidFill>
                  <a:srgbClr val="202024"/>
                </a:solidFill>
                <a:latin typeface="Roboto"/>
                <a:ea typeface="Roboto"/>
                <a:cs typeface="Roboto"/>
              </a:defRPr>
            </a:lvl2pPr>
            <a:lvl3pPr algn="l">
              <a:defRPr sz="2000" b="0">
                <a:solidFill>
                  <a:srgbClr val="202024"/>
                </a:solidFill>
                <a:latin typeface="Roboto"/>
                <a:ea typeface="Roboto"/>
                <a:cs typeface="Roboto"/>
              </a:defRPr>
            </a:lvl3pPr>
            <a:lvl4pPr algn="l">
              <a:defRPr sz="2000" b="0">
                <a:solidFill>
                  <a:srgbClr val="202024"/>
                </a:solidFill>
                <a:latin typeface="Roboto"/>
                <a:ea typeface="Roboto"/>
                <a:cs typeface="Roboto"/>
              </a:defRPr>
            </a:lvl4pPr>
            <a:lvl5pPr algn="l">
              <a:defRPr sz="2000" b="0">
                <a:solidFill>
                  <a:srgbClr val="202024"/>
                </a:solidFill>
                <a:latin typeface="Roboto"/>
                <a:ea typeface="Roboto"/>
                <a:cs typeface="Roboto"/>
              </a:defRPr>
            </a:lvl5pPr>
            <a:lvl6pPr algn="l">
              <a:defRPr sz="2000" b="0">
                <a:solidFill>
                  <a:srgbClr val="202024"/>
                </a:solidFill>
                <a:latin typeface="Roboto"/>
                <a:ea typeface="Roboto"/>
                <a:cs typeface="Roboto"/>
              </a:defRPr>
            </a:lvl6pPr>
            <a:lvl7pPr algn="l">
              <a:defRPr sz="2000" b="0">
                <a:solidFill>
                  <a:srgbClr val="202024"/>
                </a:solidFill>
                <a:latin typeface="Roboto"/>
                <a:ea typeface="Roboto"/>
                <a:cs typeface="Roboto"/>
              </a:defRPr>
            </a:lvl7pPr>
            <a:lvl8pPr algn="l">
              <a:defRPr sz="2000" b="0">
                <a:solidFill>
                  <a:srgbClr val="202024"/>
                </a:solidFill>
                <a:latin typeface="Roboto"/>
                <a:ea typeface="Roboto"/>
                <a:cs typeface="Roboto"/>
              </a:defRPr>
            </a:lvl8pPr>
            <a:lvl9pPr algn="l">
              <a:defRPr sz="2000" b="0">
                <a:solidFill>
                  <a:srgbClr val="202024"/>
                </a:solidFill>
                <a:latin typeface="Roboto"/>
                <a:ea typeface="Roboto"/>
                <a:cs typeface="Roboto"/>
              </a:defRPr>
            </a:lvl9pPr>
          </a:lstStyle>
          <a:p>
            <a:pPr algn="l">
              <a:defRPr sz="2000" b="0">
                <a:solidFill>
                  <a:srgbClr val="202024"/>
                </a:solidFill>
                <a:latin typeface="Roboto"/>
                <a:ea typeface="Roboto"/>
                <a:cs typeface="Roboto"/>
              </a:defRPr>
            </a:pPr>
            <a:r>
              <a:rPr lang="it-IT" sz="2000" b="0" dirty="0">
                <a:solidFill>
                  <a:srgbClr val="202024"/>
                </a:solidFill>
                <a:latin typeface="Roboto"/>
                <a:ea typeface="Roboto"/>
                <a:cs typeface="Roboto"/>
              </a:rPr>
              <a:t>- </a:t>
            </a:r>
            <a:r>
              <a:rPr sz="2000" b="0" dirty="0">
                <a:solidFill>
                  <a:srgbClr val="202024"/>
                </a:solidFill>
                <a:latin typeface="Roboto"/>
                <a:ea typeface="Roboto"/>
                <a:cs typeface="Roboto"/>
              </a:rPr>
              <a:t>Cross-mission generalization</a:t>
            </a:r>
          </a:p>
          <a:p>
            <a:pPr algn="l">
              <a:defRPr sz="2000" b="0">
                <a:solidFill>
                  <a:srgbClr val="202024"/>
                </a:solidFill>
                <a:latin typeface="Roboto"/>
                <a:ea typeface="Roboto"/>
                <a:cs typeface="Roboto"/>
              </a:defRPr>
            </a:pPr>
            <a:r>
              <a:rPr lang="it-IT" sz="2000" b="0" dirty="0">
                <a:solidFill>
                  <a:srgbClr val="202024"/>
                </a:solidFill>
                <a:latin typeface="Roboto"/>
                <a:ea typeface="Roboto"/>
                <a:cs typeface="Roboto"/>
              </a:rPr>
              <a:t>- </a:t>
            </a:r>
            <a:r>
              <a:rPr sz="2000" b="0" dirty="0">
                <a:solidFill>
                  <a:srgbClr val="202024"/>
                </a:solidFill>
                <a:latin typeface="Roboto"/>
                <a:ea typeface="Roboto"/>
                <a:cs typeface="Roboto"/>
              </a:rPr>
              <a:t>7 classes in both domains</a:t>
            </a:r>
          </a:p>
        </p:txBody>
      </p:sp>
      <p:graphicFrame>
        <p:nvGraphicFramePr>
          <p:cNvPr id="18" name="codex-datasets-split-table">
            <a:extLst>
              <a:ext uri="{FF2B5EF4-FFF2-40B4-BE49-F238E27FC236}">
                <a16:creationId xmlns:a16="http://schemas.microsoft.com/office/drawing/2014/main" id="{24DE2C40-1F86-00F6-EEB4-8DA5BA026073}"/>
              </a:ext>
            </a:extLst>
          </p:cNvPr>
          <p:cNvGraphicFramePr/>
          <p:nvPr>
            <p:extLst>
              <p:ext uri="{D42A27DB-BD31-4B8C-83A1-F6EECF244321}">
                <p14:modId xmlns:p14="http://schemas.microsoft.com/office/powerpoint/2010/main" val="4175656818"/>
              </p:ext>
            </p:extLst>
          </p:nvPr>
        </p:nvGraphicFramePr>
        <p:xfrm>
          <a:off x="924791" y="3925087"/>
          <a:ext cx="9810750" cy="2076450"/>
        </p:xfrm>
        <a:graphic>
          <a:graphicData uri="http://schemas.openxmlformats.org/drawingml/2006/table">
            <a:tbl>
              <a:tblPr/>
              <a:tblGrid>
                <a:gridCol w="40005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476250">
                <a:tc>
                  <a:txBody>
                    <a:bodyPr/>
                    <a:lstStyle/>
                    <a:p>
                      <a:pPr algn="l"/>
                      <a:r>
                        <a:rPr sz="2000" b="1" dirty="0">
                          <a:solidFill>
                            <a:schemeClr val="bg1"/>
                          </a:solidFill>
                          <a:latin typeface="Roboto"/>
                          <a:ea typeface="Roboto"/>
                          <a:cs typeface="Roboto"/>
                        </a:rPr>
                        <a:t>Dataset</a:t>
                      </a:r>
                    </a:p>
                  </a:txBody>
                  <a:tcPr marL="152400" marR="152400" marT="63500" marB="63500" anchor="ctr">
                    <a:lnL w="0">
                      <a:solidFill>
                        <a:srgbClr val="FFFFFF"/>
                      </a:solidFill>
                      <a:prstDash val="solid"/>
                    </a:lnL>
                    <a:lnR w="0">
                      <a:solidFill>
                        <a:srgbClr val="FFFFFF"/>
                      </a:solidFill>
                      <a:prstDash val="solid"/>
                    </a:lnR>
                    <a:lnT w="0">
                      <a:solidFill>
                        <a:srgbClr val="FFFFFF"/>
                      </a:solidFill>
                      <a:prstDash val="solid"/>
                    </a:lnT>
                    <a:lnB w="15875">
                      <a:solidFill>
                        <a:srgbClr val="822433"/>
                      </a:solidFill>
                      <a:prstDash val="solid"/>
                    </a:lnB>
                    <a:solidFill>
                      <a:srgbClr val="822433"/>
                    </a:solidFill>
                  </a:tcPr>
                </a:tc>
                <a:tc>
                  <a:txBody>
                    <a:bodyPr/>
                    <a:lstStyle/>
                    <a:p>
                      <a:pPr algn="r"/>
                      <a:r>
                        <a:rPr sz="2000" b="1" dirty="0">
                          <a:solidFill>
                            <a:schemeClr val="bg1"/>
                          </a:solidFill>
                          <a:latin typeface="Roboto"/>
                          <a:ea typeface="Roboto"/>
                          <a:cs typeface="Roboto"/>
                        </a:rPr>
                        <a:t>Training</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15875">
                      <a:solidFill>
                        <a:srgbClr val="822433"/>
                      </a:solidFill>
                      <a:prstDash val="solid"/>
                    </a:lnB>
                    <a:solidFill>
                      <a:srgbClr val="822433"/>
                    </a:solidFill>
                  </a:tcPr>
                </a:tc>
                <a:tc>
                  <a:txBody>
                    <a:bodyPr/>
                    <a:lstStyle/>
                    <a:p>
                      <a:pPr algn="r"/>
                      <a:r>
                        <a:rPr sz="2000" b="1" dirty="0">
                          <a:solidFill>
                            <a:schemeClr val="bg1"/>
                          </a:solidFill>
                          <a:latin typeface="Roboto"/>
                          <a:ea typeface="Roboto"/>
                          <a:cs typeface="Roboto"/>
                        </a:rPr>
                        <a:t>Validation</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15875">
                      <a:solidFill>
                        <a:srgbClr val="822433"/>
                      </a:solidFill>
                      <a:prstDash val="solid"/>
                    </a:lnB>
                    <a:solidFill>
                      <a:srgbClr val="822433"/>
                    </a:solidFill>
                  </a:tcPr>
                </a:tc>
                <a:tc>
                  <a:txBody>
                    <a:bodyPr/>
                    <a:lstStyle/>
                    <a:p>
                      <a:pPr algn="r"/>
                      <a:r>
                        <a:rPr sz="2000" b="1" dirty="0">
                          <a:solidFill>
                            <a:schemeClr val="bg1"/>
                          </a:solidFill>
                          <a:latin typeface="Roboto"/>
                          <a:ea typeface="Roboto"/>
                          <a:cs typeface="Roboto"/>
                        </a:rPr>
                        <a:t>Test</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0">
                      <a:solidFill>
                        <a:srgbClr val="FFFFFF"/>
                      </a:solidFill>
                      <a:prstDash val="solid"/>
                    </a:lnT>
                    <a:lnB w="15875">
                      <a:solidFill>
                        <a:srgbClr val="822433"/>
                      </a:solidFill>
                      <a:prstDash val="solid"/>
                    </a:lnB>
                    <a:solidFill>
                      <a:srgbClr val="822433"/>
                    </a:solidFill>
                  </a:tcPr>
                </a:tc>
                <a:extLst>
                  <a:ext uri="{0D108BD9-81ED-4DB2-BD59-A6C34878D82A}">
                    <a16:rowId xmlns:a16="http://schemas.microsoft.com/office/drawing/2014/main" val="10000"/>
                  </a:ext>
                </a:extLst>
              </a:tr>
              <a:tr h="533400">
                <a:tc>
                  <a:txBody>
                    <a:bodyPr/>
                    <a:lstStyle/>
                    <a:p>
                      <a:pPr algn="l"/>
                      <a:r>
                        <a:rPr sz="2000" b="1" dirty="0">
                          <a:solidFill>
                            <a:srgbClr val="202024"/>
                          </a:solidFill>
                          <a:latin typeface="Roboto"/>
                          <a:ea typeface="Roboto"/>
                          <a:cs typeface="Roboto"/>
                        </a:rPr>
                        <a:t>S5Mars</a:t>
                      </a:r>
                    </a:p>
                  </a:txBody>
                  <a:tcPr marL="152400" marR="152400" marT="63500" marB="63500" anchor="ctr">
                    <a:lnL w="0">
                      <a:solidFill>
                        <a:srgbClr val="FFFFFF"/>
                      </a:solidFill>
                      <a:prstDash val="solid"/>
                    </a:lnL>
                    <a:lnR w="0">
                      <a:solidFill>
                        <a:srgbClr val="FFFFFF"/>
                      </a:solidFill>
                      <a:prstDash val="solid"/>
                    </a:lnR>
                    <a:lnT w="15875" cap="flat" cmpd="sng" algn="ctr">
                      <a:solidFill>
                        <a:srgbClr val="822433"/>
                      </a:solidFill>
                      <a:prstDash val="solid"/>
                      <a:round/>
                      <a:headEnd type="none" w="med" len="med"/>
                      <a:tailEnd type="none" w="med" len="med"/>
                    </a:lnT>
                    <a:lnB w="6350">
                      <a:solidFill>
                        <a:srgbClr val="D9D9D9"/>
                      </a:solidFill>
                      <a:prstDash val="solid"/>
                    </a:lnB>
                    <a:solidFill>
                      <a:srgbClr val="F7EAED"/>
                    </a:solidFill>
                  </a:tcPr>
                </a:tc>
                <a:tc>
                  <a:txBody>
                    <a:bodyPr/>
                    <a:lstStyle/>
                    <a:p>
                      <a:pPr algn="r"/>
                      <a:r>
                        <a:rPr sz="2000" b="0" dirty="0">
                          <a:solidFill>
                            <a:srgbClr val="202024"/>
                          </a:solidFill>
                          <a:latin typeface="Roboto"/>
                          <a:ea typeface="Roboto"/>
                          <a:cs typeface="Roboto"/>
                        </a:rPr>
                        <a:t>4,997</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15875" cap="flat" cmpd="sng" algn="ctr">
                      <a:solidFill>
                        <a:srgbClr val="822433"/>
                      </a:solidFill>
                      <a:prstDash val="solid"/>
                      <a:round/>
                      <a:headEnd type="none" w="med" len="med"/>
                      <a:tailEnd type="none" w="med" len="med"/>
                    </a:lnT>
                    <a:lnB w="6350">
                      <a:solidFill>
                        <a:srgbClr val="D9D9D9"/>
                      </a:solidFill>
                      <a:prstDash val="solid"/>
                    </a:lnB>
                    <a:solidFill>
                      <a:srgbClr val="F7EAED"/>
                    </a:solidFill>
                  </a:tcPr>
                </a:tc>
                <a:tc>
                  <a:txBody>
                    <a:bodyPr/>
                    <a:lstStyle/>
                    <a:p>
                      <a:pPr algn="r"/>
                      <a:r>
                        <a:rPr sz="2000" b="0">
                          <a:solidFill>
                            <a:srgbClr val="202024"/>
                          </a:solidFill>
                          <a:latin typeface="Roboto"/>
                          <a:ea typeface="Roboto"/>
                          <a:cs typeface="Roboto"/>
                        </a:rPr>
                        <a:t>200</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15875" cap="flat" cmpd="sng" algn="ctr">
                      <a:solidFill>
                        <a:srgbClr val="822433"/>
                      </a:solidFill>
                      <a:prstDash val="solid"/>
                      <a:round/>
                      <a:headEnd type="none" w="med" len="med"/>
                      <a:tailEnd type="none" w="med" len="med"/>
                    </a:lnT>
                    <a:lnB w="6350">
                      <a:solidFill>
                        <a:srgbClr val="D9D9D9"/>
                      </a:solidFill>
                      <a:prstDash val="solid"/>
                    </a:lnB>
                    <a:solidFill>
                      <a:srgbClr val="F7EAED"/>
                    </a:solidFill>
                  </a:tcPr>
                </a:tc>
                <a:tc>
                  <a:txBody>
                    <a:bodyPr/>
                    <a:lstStyle/>
                    <a:p>
                      <a:pPr algn="r"/>
                      <a:r>
                        <a:rPr sz="2000" b="0">
                          <a:solidFill>
                            <a:srgbClr val="202024"/>
                          </a:solidFill>
                          <a:latin typeface="Roboto"/>
                          <a:ea typeface="Roboto"/>
                          <a:cs typeface="Roboto"/>
                        </a:rPr>
                        <a:t>800</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15875" cap="flat" cmpd="sng" algn="ctr">
                      <a:solidFill>
                        <a:srgbClr val="822433"/>
                      </a:solidFill>
                      <a:prstDash val="solid"/>
                      <a:round/>
                      <a:headEnd type="none" w="med" len="med"/>
                      <a:tailEnd type="none" w="med" len="med"/>
                    </a:lnT>
                    <a:lnB w="6350">
                      <a:solidFill>
                        <a:srgbClr val="D9D9D9"/>
                      </a:solidFill>
                      <a:prstDash val="solid"/>
                    </a:lnB>
                    <a:solidFill>
                      <a:srgbClr val="F7EAED"/>
                    </a:solidFill>
                  </a:tcPr>
                </a:tc>
                <a:extLst>
                  <a:ext uri="{0D108BD9-81ED-4DB2-BD59-A6C34878D82A}">
                    <a16:rowId xmlns:a16="http://schemas.microsoft.com/office/drawing/2014/main" val="10001"/>
                  </a:ext>
                </a:extLst>
              </a:tr>
              <a:tr h="533400">
                <a:tc>
                  <a:txBody>
                    <a:bodyPr/>
                    <a:lstStyle/>
                    <a:p>
                      <a:pPr algn="l"/>
                      <a:r>
                        <a:rPr sz="2000" b="1" dirty="0">
                          <a:solidFill>
                            <a:srgbClr val="202024"/>
                          </a:solidFill>
                          <a:latin typeface="Roboto"/>
                          <a:ea typeface="Roboto"/>
                          <a:cs typeface="Roboto"/>
                        </a:rPr>
                        <a:t>MarsSeg MER</a:t>
                      </a:r>
                    </a:p>
                  </a:txBody>
                  <a:tcPr marL="152400" marR="152400" marT="63500" marB="63500" anchor="ctr">
                    <a:lnL w="0">
                      <a:solidFill>
                        <a:srgbClr val="FFFFFF"/>
                      </a:solidFill>
                      <a:prstDash val="soli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tc>
                  <a:txBody>
                    <a:bodyPr/>
                    <a:lstStyle/>
                    <a:p>
                      <a:pPr algn="r"/>
                      <a:r>
                        <a:rPr sz="2000" b="0">
                          <a:solidFill>
                            <a:srgbClr val="202024"/>
                          </a:solidFill>
                          <a:latin typeface="Roboto"/>
                          <a:ea typeface="Roboto"/>
                          <a:cs typeface="Roboto"/>
                        </a:rPr>
                        <a:t>2,893</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tc>
                  <a:txBody>
                    <a:bodyPr/>
                    <a:lstStyle/>
                    <a:p>
                      <a:pPr algn="r"/>
                      <a:r>
                        <a:rPr sz="2000" b="0">
                          <a:solidFill>
                            <a:srgbClr val="202024"/>
                          </a:solidFill>
                          <a:latin typeface="Roboto"/>
                          <a:ea typeface="Roboto"/>
                          <a:cs typeface="Roboto"/>
                        </a:rPr>
                        <a:t>413</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tc>
                  <a:txBody>
                    <a:bodyPr/>
                    <a:lstStyle/>
                    <a:p>
                      <a:pPr algn="r"/>
                      <a:r>
                        <a:rPr sz="2000" b="0">
                          <a:solidFill>
                            <a:srgbClr val="202024"/>
                          </a:solidFill>
                          <a:latin typeface="Roboto"/>
                          <a:ea typeface="Roboto"/>
                          <a:cs typeface="Roboto"/>
                        </a:rPr>
                        <a:t>828</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extLst>
                  <a:ext uri="{0D108BD9-81ED-4DB2-BD59-A6C34878D82A}">
                    <a16:rowId xmlns:a16="http://schemas.microsoft.com/office/drawing/2014/main" val="10002"/>
                  </a:ext>
                </a:extLst>
              </a:tr>
              <a:tr h="533400">
                <a:tc>
                  <a:txBody>
                    <a:bodyPr/>
                    <a:lstStyle/>
                    <a:p>
                      <a:pPr algn="l"/>
                      <a:r>
                        <a:rPr sz="2000" b="1" dirty="0">
                          <a:solidFill>
                            <a:srgbClr val="202024"/>
                          </a:solidFill>
                          <a:latin typeface="Roboto"/>
                          <a:ea typeface="Roboto"/>
                          <a:cs typeface="Roboto"/>
                        </a:rPr>
                        <a:t>MarsSeg MSL</a:t>
                      </a:r>
                    </a:p>
                  </a:txBody>
                  <a:tcPr marL="152400" marR="152400" marT="63500" marB="63500" anchor="ctr">
                    <a:lnL w="0">
                      <a:solidFill>
                        <a:srgbClr val="FFFFFF"/>
                      </a:solidFill>
                      <a:prstDash val="soli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tc>
                  <a:txBody>
                    <a:bodyPr/>
                    <a:lstStyle/>
                    <a:p>
                      <a:pPr algn="r"/>
                      <a:r>
                        <a:rPr sz="2000" b="0">
                          <a:solidFill>
                            <a:srgbClr val="202024"/>
                          </a:solidFill>
                          <a:latin typeface="Roboto"/>
                          <a:ea typeface="Roboto"/>
                          <a:cs typeface="Roboto"/>
                        </a:rPr>
                        <a:t>744</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tc>
                  <a:txBody>
                    <a:bodyPr/>
                    <a:lstStyle/>
                    <a:p>
                      <a:pPr algn="r"/>
                      <a:r>
                        <a:rPr sz="2000" b="0">
                          <a:solidFill>
                            <a:srgbClr val="202024"/>
                          </a:solidFill>
                          <a:latin typeface="Roboto"/>
                          <a:ea typeface="Roboto"/>
                          <a:cs typeface="Roboto"/>
                        </a:rPr>
                        <a:t>106</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tc>
                  <a:txBody>
                    <a:bodyPr/>
                    <a:lstStyle/>
                    <a:p>
                      <a:pPr algn="r"/>
                      <a:r>
                        <a:rPr sz="2000" b="0" dirty="0">
                          <a:solidFill>
                            <a:srgbClr val="202024"/>
                          </a:solidFill>
                          <a:latin typeface="Roboto"/>
                          <a:ea typeface="Roboto"/>
                          <a:cs typeface="Roboto"/>
                        </a:rPr>
                        <a:t>214</a:t>
                      </a:r>
                    </a:p>
                  </a:txBody>
                  <a:tcPr marL="152400" marR="152400" marT="63500" marB="63500" anchor="ctr">
                    <a:lnL w="0" cap="flat" cmpd="sng" algn="ctr">
                      <a:solidFill>
                        <a:srgbClr val="FFFFFF"/>
                      </a:solidFill>
                      <a:prstDash val="solid"/>
                      <a:round/>
                      <a:headEnd type="none" w="med" len="med"/>
                      <a:tailEnd type="none" w="med" len="med"/>
                    </a:lnL>
                    <a:lnR w="0">
                      <a:solidFill>
                        <a:srgbClr val="FFFFFF"/>
                      </a:solidFill>
                      <a:prstDash val="solid"/>
                    </a:lnR>
                    <a:lnT w="6350" cap="flat" cmpd="sng" algn="ctr">
                      <a:solidFill>
                        <a:srgbClr val="D9D9D9"/>
                      </a:solidFill>
                      <a:prstDash val="solid"/>
                      <a:round/>
                      <a:headEnd type="none" w="med" len="med"/>
                      <a:tailEnd type="none" w="med" len="med"/>
                    </a:lnT>
                    <a:lnB w="6350">
                      <a:solidFill>
                        <a:srgbClr val="D9D9D9"/>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6" name="CasellaDiTesto 5">
            <a:extLst>
              <a:ext uri="{FF2B5EF4-FFF2-40B4-BE49-F238E27FC236}">
                <a16:creationId xmlns:a16="http://schemas.microsoft.com/office/drawing/2014/main" id="{AAB01B56-9AAB-24BF-FCE6-541BAFB65003}"/>
              </a:ext>
            </a:extLst>
          </p:cNvPr>
          <p:cNvSpPr txBox="1"/>
          <p:nvPr/>
        </p:nvSpPr>
        <p:spPr>
          <a:xfrm>
            <a:off x="838200" y="1628362"/>
            <a:ext cx="9497291" cy="523220"/>
          </a:xfrm>
          <a:prstGeom prst="rect">
            <a:avLst/>
          </a:prstGeom>
          <a:noFill/>
        </p:spPr>
        <p:txBody>
          <a:bodyPr wrap="square">
            <a:spAutoFit/>
          </a:bodyPr>
          <a:lstStyle/>
          <a:p>
            <a:r>
              <a:rPr lang="en-US" sz="2800" b="1" noProof="0" dirty="0">
                <a:solidFill>
                  <a:srgbClr val="822433"/>
                </a:solidFill>
                <a:latin typeface="Roboto" panose="02000000000000000000" pitchFamily="2" charset="0"/>
                <a:ea typeface="Roboto" panose="02000000000000000000" pitchFamily="2" charset="0"/>
              </a:rPr>
              <a:t>Mars-Bench</a:t>
            </a:r>
            <a:r>
              <a:rPr lang="en-US" sz="2800" noProof="0" dirty="0">
                <a:latin typeface="Roboto" panose="02000000000000000000" pitchFamily="2" charset="0"/>
                <a:ea typeface="Roboto" panose="02000000000000000000" pitchFamily="2" charset="0"/>
              </a:rPr>
              <a:t> is the </a:t>
            </a:r>
            <a:r>
              <a:rPr lang="en-US" sz="2800" noProof="0" dirty="0">
                <a:solidFill>
                  <a:srgbClr val="822433"/>
                </a:solidFill>
                <a:latin typeface="Roboto" panose="02000000000000000000" pitchFamily="2" charset="0"/>
                <a:ea typeface="Roboto" panose="02000000000000000000" pitchFamily="2" charset="0"/>
              </a:rPr>
              <a:t>first</a:t>
            </a:r>
            <a:r>
              <a:rPr lang="en-US" sz="2800" noProof="0" dirty="0">
                <a:latin typeface="Roboto" panose="02000000000000000000" pitchFamily="2" charset="0"/>
                <a:ea typeface="Roboto" panose="02000000000000000000" pitchFamily="2" charset="0"/>
              </a:rPr>
              <a:t> benchmark for Mars-related tasks.</a:t>
            </a:r>
            <a:endParaRPr lang="it-IT" dirty="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20863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1DD1F-8768-17B2-FB9B-19CCF028059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97CDCEC-E3E4-4F48-5467-BB58096DABE4}"/>
              </a:ext>
            </a:extLst>
          </p:cNvPr>
          <p:cNvSpPr>
            <a:spLocks noGrp="1"/>
          </p:cNvSpPr>
          <p:nvPr>
            <p:ph type="title"/>
          </p:nvPr>
        </p:nvSpPr>
        <p:spPr>
          <a:xfrm>
            <a:off x="838200" y="365125"/>
            <a:ext cx="8384177" cy="835787"/>
          </a:xfrm>
        </p:spPr>
        <p:txBody>
          <a:bodyPr/>
          <a:lstStyle/>
          <a:p>
            <a:r>
              <a:rPr lang="en-US" noProof="0" dirty="0">
                <a:solidFill>
                  <a:srgbClr val="822433"/>
                </a:solidFill>
              </a:rPr>
              <a:t>Model Architectures</a:t>
            </a:r>
          </a:p>
        </p:txBody>
      </p:sp>
      <p:sp>
        <p:nvSpPr>
          <p:cNvPr id="4" name="Google Shape;102;p14">
            <a:extLst>
              <a:ext uri="{FF2B5EF4-FFF2-40B4-BE49-F238E27FC236}">
                <a16:creationId xmlns:a16="http://schemas.microsoft.com/office/drawing/2014/main" id="{A415486C-73B6-A808-48E2-C8E26D861B0B}"/>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9</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9D26EAC2-C8C4-E54E-FB2C-7C41DED30C92}"/>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source-citations">
            <a:extLst>
              <a:ext uri="{FF2B5EF4-FFF2-40B4-BE49-F238E27FC236}">
                <a16:creationId xmlns:a16="http://schemas.microsoft.com/office/drawing/2014/main" id="{333B2CA8-9696-5F1E-A9E7-3551C66E469A}"/>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[6] [7]</a:t>
            </a:r>
            <a:r>
              <a:rPr lang="en-US" dirty="0"/>
              <a:t> [8] [9] [10]</a:t>
            </a:r>
            <a:endParaRPr lang="en-US" sz="1125" b="0" dirty="0">
              <a:solidFill>
                <a:srgbClr val="656B73"/>
              </a:solidFill>
              <a:latin typeface="Roboto"/>
              <a:ea typeface="Roboto"/>
              <a:cs typeface="Roboto"/>
            </a:endParaRPr>
          </a:p>
        </p:txBody>
      </p:sp>
      <p:pic>
        <p:nvPicPr>
          <p:cNvPr id="10" name="Immagine 9">
            <a:extLst>
              <a:ext uri="{FF2B5EF4-FFF2-40B4-BE49-F238E27FC236}">
                <a16:creationId xmlns:a16="http://schemas.microsoft.com/office/drawing/2014/main" id="{226E4830-E866-D7E3-6457-3D28EB7CBD77}"/>
              </a:ext>
            </a:extLst>
          </p:cNvPr>
          <p:cNvPicPr>
            <a:picLocks noChangeAspect="1"/>
          </p:cNvPicPr>
          <p:nvPr/>
        </p:nvPicPr>
        <p:blipFill>
          <a:blip r:embed="rId3"/>
          <a:stretch>
            <a:fillRect/>
          </a:stretch>
        </p:blipFill>
        <p:spPr>
          <a:xfrm>
            <a:off x="1953491" y="2049811"/>
            <a:ext cx="8667328" cy="3254586"/>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60885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D0B5E-FD6C-96CB-384F-BEF7C2B5500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363AF57-0B7F-AF05-A35B-ECE71E8E26A8}"/>
              </a:ext>
            </a:extLst>
          </p:cNvPr>
          <p:cNvSpPr>
            <a:spLocks noGrp="1"/>
          </p:cNvSpPr>
          <p:nvPr>
            <p:ph type="title"/>
          </p:nvPr>
        </p:nvSpPr>
        <p:spPr>
          <a:xfrm>
            <a:off x="838200" y="365125"/>
            <a:ext cx="8384177" cy="835787"/>
          </a:xfrm>
        </p:spPr>
        <p:txBody>
          <a:bodyPr/>
          <a:lstStyle/>
          <a:p>
            <a:r>
              <a:rPr lang="en-US" noProof="0" dirty="0">
                <a:solidFill>
                  <a:srgbClr val="822433"/>
                </a:solidFill>
              </a:rPr>
              <a:t>Training procedure</a:t>
            </a:r>
          </a:p>
        </p:txBody>
      </p:sp>
      <p:sp>
        <p:nvSpPr>
          <p:cNvPr id="4" name="Google Shape;102;p14">
            <a:extLst>
              <a:ext uri="{FF2B5EF4-FFF2-40B4-BE49-F238E27FC236}">
                <a16:creationId xmlns:a16="http://schemas.microsoft.com/office/drawing/2014/main" id="{1C1878B4-6C3D-E18B-961D-071A041F8122}"/>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10</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CC75C1E4-7668-9E8F-8052-F1A06FED99BF}"/>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103" name="training10-setup-heading">
            <a:extLst>
              <a:ext uri="{FF2B5EF4-FFF2-40B4-BE49-F238E27FC236}">
                <a16:creationId xmlns:a16="http://schemas.microsoft.com/office/drawing/2014/main" id="{976272DE-AE14-4A90-AA99-B977F68CA0A8}"/>
              </a:ext>
            </a:extLst>
          </p:cNvPr>
          <p:cNvSpPr>
            <a:spLocks noGrp="1"/>
          </p:cNvSpPr>
          <p:nvPr/>
        </p:nvSpPr>
        <p:spPr>
          <a:xfrm>
            <a:off x="1073727" y="2191615"/>
            <a:ext cx="2952750" cy="466725"/>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l">
              <a:defRPr lang="en-US" sz="2400" b="1">
                <a:solidFill>
                  <a:srgbClr val="822433"/>
                </a:solidFill>
                <a:latin typeface="Roboto"/>
                <a:ea typeface="Roboto"/>
                <a:cs typeface="Roboto"/>
              </a:defRPr>
            </a:pPr>
            <a:r>
              <a:rPr lang="en-US" sz="2400" b="1" dirty="0">
                <a:solidFill>
                  <a:srgbClr val="822433"/>
                </a:solidFill>
                <a:latin typeface="Roboto"/>
                <a:ea typeface="Roboto"/>
                <a:cs typeface="Roboto"/>
              </a:rPr>
              <a:t>Training setup</a:t>
            </a:r>
          </a:p>
        </p:txBody>
      </p:sp>
      <p:sp>
        <p:nvSpPr>
          <p:cNvPr id="104" name="training10-loss-heading">
            <a:extLst>
              <a:ext uri="{FF2B5EF4-FFF2-40B4-BE49-F238E27FC236}">
                <a16:creationId xmlns:a16="http://schemas.microsoft.com/office/drawing/2014/main" id="{5410843E-6112-4025-83DC-325457FC1D5A}"/>
              </a:ext>
            </a:extLst>
          </p:cNvPr>
          <p:cNvSpPr>
            <a:spLocks noGrp="1"/>
          </p:cNvSpPr>
          <p:nvPr/>
        </p:nvSpPr>
        <p:spPr>
          <a:xfrm>
            <a:off x="4236027" y="2192480"/>
            <a:ext cx="3676650" cy="466725"/>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l">
              <a:defRPr lang="en-US" sz="2400" b="1">
                <a:solidFill>
                  <a:srgbClr val="822433"/>
                </a:solidFill>
                <a:latin typeface="Roboto"/>
                <a:ea typeface="Roboto"/>
                <a:cs typeface="Roboto"/>
              </a:defRPr>
            </a:pPr>
            <a:r>
              <a:rPr lang="en-US" sz="2400" b="1" dirty="0">
                <a:solidFill>
                  <a:srgbClr val="822433"/>
                </a:solidFill>
                <a:latin typeface="Roboto"/>
                <a:ea typeface="Roboto"/>
                <a:cs typeface="Roboto"/>
              </a:rPr>
              <a:t>Loss and optimization</a:t>
            </a:r>
          </a:p>
        </p:txBody>
      </p:sp>
      <p:sp>
        <p:nvSpPr>
          <p:cNvPr id="105" name="training10-selection-heading">
            <a:extLst>
              <a:ext uri="{FF2B5EF4-FFF2-40B4-BE49-F238E27FC236}">
                <a16:creationId xmlns:a16="http://schemas.microsoft.com/office/drawing/2014/main" id="{CD4A2BA6-9C72-42D9-81DB-10C04175DCFC}"/>
              </a:ext>
            </a:extLst>
          </p:cNvPr>
          <p:cNvSpPr>
            <a:spLocks noGrp="1"/>
          </p:cNvSpPr>
          <p:nvPr/>
        </p:nvSpPr>
        <p:spPr>
          <a:xfrm>
            <a:off x="8322252" y="2191615"/>
            <a:ext cx="3209925" cy="466725"/>
          </a:xfrm>
          <a:prstGeom prst="rect">
            <a:avLst/>
          </a:prstGeom>
          <a:noFill/>
          <a:ln w="0">
            <a:noFill/>
          </a:ln>
        </p:spPr>
        <p:txBody>
          <a:bodyPr wrap="square" lIns="0" tIns="0" rIns="0" bIns="0" anchor="t">
            <a:noAutofit/>
          </a:bodyPr>
          <a:lstStyle>
            <a:defPPr algn="ctr">
              <a:defRPr lang="en-US" sz="2400" b="1">
                <a:solidFill>
                  <a:srgbClr val="822433"/>
                </a:solidFill>
                <a:latin typeface="Roboto"/>
                <a:ea typeface="Roboto"/>
                <a:cs typeface="Roboto"/>
              </a:defRPr>
            </a:defPPr>
            <a:lvl1pPr algn="ctr">
              <a:defRPr lang="en-US" sz="2400" b="1">
                <a:solidFill>
                  <a:srgbClr val="822433"/>
                </a:solidFill>
                <a:latin typeface="Roboto"/>
                <a:ea typeface="Roboto"/>
                <a:cs typeface="Roboto"/>
              </a:defRPr>
            </a:lvl1pPr>
            <a:lvl2pPr algn="ctr">
              <a:defRPr lang="en-US" sz="2400" b="1">
                <a:solidFill>
                  <a:srgbClr val="822433"/>
                </a:solidFill>
                <a:latin typeface="Roboto"/>
                <a:ea typeface="Roboto"/>
                <a:cs typeface="Roboto"/>
              </a:defRPr>
            </a:lvl2pPr>
            <a:lvl3pPr algn="ctr">
              <a:defRPr lang="en-US" sz="2400" b="1">
                <a:solidFill>
                  <a:srgbClr val="822433"/>
                </a:solidFill>
                <a:latin typeface="Roboto"/>
                <a:ea typeface="Roboto"/>
                <a:cs typeface="Roboto"/>
              </a:defRPr>
            </a:lvl3pPr>
            <a:lvl4pPr algn="ctr">
              <a:defRPr lang="en-US" sz="2400" b="1">
                <a:solidFill>
                  <a:srgbClr val="822433"/>
                </a:solidFill>
                <a:latin typeface="Roboto"/>
                <a:ea typeface="Roboto"/>
                <a:cs typeface="Roboto"/>
              </a:defRPr>
            </a:lvl4pPr>
            <a:lvl5pPr algn="ctr">
              <a:defRPr lang="en-US" sz="2400" b="1">
                <a:solidFill>
                  <a:srgbClr val="822433"/>
                </a:solidFill>
                <a:latin typeface="Roboto"/>
                <a:ea typeface="Roboto"/>
                <a:cs typeface="Roboto"/>
              </a:defRPr>
            </a:lvl5pPr>
            <a:lvl6pPr algn="ctr">
              <a:defRPr lang="en-US" sz="2400" b="1">
                <a:solidFill>
                  <a:srgbClr val="822433"/>
                </a:solidFill>
                <a:latin typeface="Roboto"/>
                <a:ea typeface="Roboto"/>
                <a:cs typeface="Roboto"/>
              </a:defRPr>
            </a:lvl6pPr>
            <a:lvl7pPr algn="ctr">
              <a:defRPr lang="en-US" sz="2400" b="1">
                <a:solidFill>
                  <a:srgbClr val="822433"/>
                </a:solidFill>
                <a:latin typeface="Roboto"/>
                <a:ea typeface="Roboto"/>
                <a:cs typeface="Roboto"/>
              </a:defRPr>
            </a:lvl7pPr>
            <a:lvl8pPr algn="ctr">
              <a:defRPr lang="en-US" sz="2400" b="1">
                <a:solidFill>
                  <a:srgbClr val="822433"/>
                </a:solidFill>
                <a:latin typeface="Roboto"/>
                <a:ea typeface="Roboto"/>
                <a:cs typeface="Roboto"/>
              </a:defRPr>
            </a:lvl8pPr>
            <a:lvl9pPr algn="ctr">
              <a:defRPr lang="en-US" sz="2400" b="1">
                <a:solidFill>
                  <a:srgbClr val="822433"/>
                </a:solidFill>
                <a:latin typeface="Roboto"/>
                <a:ea typeface="Roboto"/>
                <a:cs typeface="Roboto"/>
              </a:defRPr>
            </a:lvl9pPr>
          </a:lstStyle>
          <a:p>
            <a:pPr algn="l">
              <a:defRPr lang="en-US" sz="2400" b="1">
                <a:solidFill>
                  <a:srgbClr val="822433"/>
                </a:solidFill>
                <a:latin typeface="Roboto"/>
                <a:ea typeface="Roboto"/>
                <a:cs typeface="Roboto"/>
              </a:defRPr>
            </a:pPr>
            <a:r>
              <a:rPr lang="en-US" sz="2400" b="1" dirty="0">
                <a:solidFill>
                  <a:srgbClr val="822433"/>
                </a:solidFill>
                <a:latin typeface="Roboto"/>
                <a:ea typeface="Roboto"/>
                <a:cs typeface="Roboto"/>
              </a:rPr>
              <a:t>Quantization</a:t>
            </a:r>
          </a:p>
        </p:txBody>
      </p:sp>
      <p:sp>
        <p:nvSpPr>
          <p:cNvPr id="106" name="training10-resolution">
            <a:extLst>
              <a:ext uri="{FF2B5EF4-FFF2-40B4-BE49-F238E27FC236}">
                <a16:creationId xmlns:a16="http://schemas.microsoft.com/office/drawing/2014/main" id="{20BB474D-270B-4C37-8C56-EB8A6702C5D2}"/>
              </a:ext>
            </a:extLst>
          </p:cNvPr>
          <p:cNvSpPr>
            <a:spLocks noGrp="1"/>
          </p:cNvSpPr>
          <p:nvPr/>
        </p:nvSpPr>
        <p:spPr>
          <a:xfrm>
            <a:off x="1130877" y="2925040"/>
            <a:ext cx="3105150" cy="400050"/>
          </a:xfrm>
          <a:prstGeom prst="rect">
            <a:avLst/>
          </a:prstGeom>
          <a:noFill/>
          <a:ln w="0">
            <a:noFill/>
          </a:ln>
        </p:spPr>
        <p:txBody>
          <a:bodyPr wrap="square" lIns="0" tIns="0" rIns="0" bIns="0" anchor="t">
            <a:noAutofit/>
          </a:bodyPr>
          <a:lstStyle>
            <a:defPPr algn="l">
              <a:defRPr lang="en-US" sz="2000" b="0">
                <a:solidFill>
                  <a:srgbClr val="202124"/>
                </a:solidFill>
                <a:latin typeface="Roboto"/>
                <a:ea typeface="Roboto"/>
                <a:cs typeface="Roboto"/>
              </a:defRPr>
            </a:defPPr>
            <a:lvl1pPr algn="l">
              <a:defRPr lang="en-US" sz="2000" b="0">
                <a:solidFill>
                  <a:srgbClr val="202124"/>
                </a:solidFill>
                <a:latin typeface="Roboto"/>
                <a:ea typeface="Roboto"/>
                <a:cs typeface="Roboto"/>
              </a:defRPr>
            </a:lvl1pPr>
            <a:lvl2pPr algn="l">
              <a:defRPr lang="en-US" sz="2000" b="0">
                <a:solidFill>
                  <a:srgbClr val="202124"/>
                </a:solidFill>
                <a:latin typeface="Roboto"/>
                <a:ea typeface="Roboto"/>
                <a:cs typeface="Roboto"/>
              </a:defRPr>
            </a:lvl2pPr>
            <a:lvl3pPr algn="l">
              <a:defRPr lang="en-US" sz="2000" b="0">
                <a:solidFill>
                  <a:srgbClr val="202124"/>
                </a:solidFill>
                <a:latin typeface="Roboto"/>
                <a:ea typeface="Roboto"/>
                <a:cs typeface="Roboto"/>
              </a:defRPr>
            </a:lvl3pPr>
            <a:lvl4pPr algn="l">
              <a:defRPr lang="en-US" sz="2000" b="0">
                <a:solidFill>
                  <a:srgbClr val="202124"/>
                </a:solidFill>
                <a:latin typeface="Roboto"/>
                <a:ea typeface="Roboto"/>
                <a:cs typeface="Roboto"/>
              </a:defRPr>
            </a:lvl4pPr>
            <a:lvl5pPr algn="l">
              <a:defRPr lang="en-US" sz="2000" b="0">
                <a:solidFill>
                  <a:srgbClr val="202124"/>
                </a:solidFill>
                <a:latin typeface="Roboto"/>
                <a:ea typeface="Roboto"/>
                <a:cs typeface="Roboto"/>
              </a:defRPr>
            </a:lvl5pPr>
            <a:lvl6pPr algn="l">
              <a:defRPr lang="en-US" sz="2000" b="0">
                <a:solidFill>
                  <a:srgbClr val="202124"/>
                </a:solidFill>
                <a:latin typeface="Roboto"/>
                <a:ea typeface="Roboto"/>
                <a:cs typeface="Roboto"/>
              </a:defRPr>
            </a:lvl6pPr>
            <a:lvl7pPr algn="l">
              <a:defRPr lang="en-US" sz="2000" b="0">
                <a:solidFill>
                  <a:srgbClr val="202124"/>
                </a:solidFill>
                <a:latin typeface="Roboto"/>
                <a:ea typeface="Roboto"/>
                <a:cs typeface="Roboto"/>
              </a:defRPr>
            </a:lvl7pPr>
            <a:lvl8pPr algn="l">
              <a:defRPr lang="en-US" sz="2000" b="0">
                <a:solidFill>
                  <a:srgbClr val="202124"/>
                </a:solidFill>
                <a:latin typeface="Roboto"/>
                <a:ea typeface="Roboto"/>
                <a:cs typeface="Roboto"/>
              </a:defRPr>
            </a:lvl8pPr>
            <a:lvl9pPr algn="l">
              <a:defRPr lang="en-US" sz="2000" b="0">
                <a:solidFill>
                  <a:srgbClr val="202124"/>
                </a:solidFill>
                <a:latin typeface="Roboto"/>
                <a:ea typeface="Roboto"/>
                <a:cs typeface="Roboto"/>
              </a:defRPr>
            </a:lvl9pPr>
          </a:lstStyle>
          <a:p>
            <a:pPr algn="l">
              <a:defRPr lang="en-US" sz="2000" b="0">
                <a:solidFill>
                  <a:srgbClr val="202124"/>
                </a:solidFill>
                <a:latin typeface="Roboto"/>
                <a:ea typeface="Roboto"/>
                <a:cs typeface="Roboto"/>
              </a:defRPr>
            </a:pPr>
            <a:r>
              <a:rPr lang="en-US" sz="2000" b="0" dirty="0">
                <a:solidFill>
                  <a:srgbClr val="202124"/>
                </a:solidFill>
                <a:latin typeface="Roboto"/>
                <a:ea typeface="Roboto"/>
                <a:cs typeface="Roboto"/>
              </a:rPr>
              <a:t>512 × 512 input</a:t>
            </a:r>
          </a:p>
        </p:txBody>
      </p:sp>
      <p:sp>
        <p:nvSpPr>
          <p:cNvPr id="107" name="training10-batch">
            <a:extLst>
              <a:ext uri="{FF2B5EF4-FFF2-40B4-BE49-F238E27FC236}">
                <a16:creationId xmlns:a16="http://schemas.microsoft.com/office/drawing/2014/main" id="{6575BD82-DA6F-4837-9764-096BECF3EABB}"/>
              </a:ext>
            </a:extLst>
          </p:cNvPr>
          <p:cNvSpPr>
            <a:spLocks noGrp="1"/>
          </p:cNvSpPr>
          <p:nvPr/>
        </p:nvSpPr>
        <p:spPr>
          <a:xfrm>
            <a:off x="1130877" y="3391765"/>
            <a:ext cx="3105150" cy="400050"/>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dirty="0">
                <a:solidFill>
                  <a:srgbClr val="202124"/>
                </a:solidFill>
                <a:latin typeface="Roboto"/>
                <a:ea typeface="Roboto"/>
                <a:cs typeface="Roboto"/>
              </a:rPr>
              <a:t>Batch size: 32</a:t>
            </a:r>
          </a:p>
        </p:txBody>
      </p:sp>
      <p:sp>
        <p:nvSpPr>
          <p:cNvPr id="108" name="training10-epochs">
            <a:extLst>
              <a:ext uri="{FF2B5EF4-FFF2-40B4-BE49-F238E27FC236}">
                <a16:creationId xmlns:a16="http://schemas.microsoft.com/office/drawing/2014/main" id="{C92598D6-B88F-4A79-AC45-9C0A87B1A8B3}"/>
              </a:ext>
            </a:extLst>
          </p:cNvPr>
          <p:cNvSpPr>
            <a:spLocks noGrp="1"/>
          </p:cNvSpPr>
          <p:nvPr/>
        </p:nvSpPr>
        <p:spPr>
          <a:xfrm>
            <a:off x="1130877" y="3868015"/>
            <a:ext cx="3105150" cy="571500"/>
          </a:xfrm>
          <a:prstGeom prst="rect">
            <a:avLst/>
          </a:prstGeom>
          <a:noFill/>
          <a:ln w="0">
            <a:noFill/>
          </a:ln>
        </p:spPr>
        <p:txBody>
          <a:bodyPr wrap="square" lIns="0" tIns="0" rIns="0" bIns="0" anchor="t">
            <a:noAutofit/>
          </a:bodyPr>
          <a:lstStyle>
            <a:defPPr algn="l">
              <a:defRPr lang="en-US" sz="3000" b="1">
                <a:solidFill>
                  <a:srgbClr val="822433"/>
                </a:solidFill>
                <a:latin typeface="Roboto"/>
                <a:ea typeface="Roboto"/>
                <a:cs typeface="Roboto"/>
              </a:defRPr>
            </a:defPPr>
            <a:lvl1pPr algn="l">
              <a:defRPr lang="en-US" sz="3000" b="1">
                <a:solidFill>
                  <a:srgbClr val="822433"/>
                </a:solidFill>
                <a:latin typeface="Roboto"/>
                <a:ea typeface="Roboto"/>
                <a:cs typeface="Roboto"/>
              </a:defRPr>
            </a:lvl1pPr>
            <a:lvl2pPr algn="l">
              <a:defRPr lang="en-US" sz="3000" b="1">
                <a:solidFill>
                  <a:srgbClr val="822433"/>
                </a:solidFill>
                <a:latin typeface="Roboto"/>
                <a:ea typeface="Roboto"/>
                <a:cs typeface="Roboto"/>
              </a:defRPr>
            </a:lvl2pPr>
            <a:lvl3pPr algn="l">
              <a:defRPr lang="en-US" sz="3000" b="1">
                <a:solidFill>
                  <a:srgbClr val="822433"/>
                </a:solidFill>
                <a:latin typeface="Roboto"/>
                <a:ea typeface="Roboto"/>
                <a:cs typeface="Roboto"/>
              </a:defRPr>
            </a:lvl3pPr>
            <a:lvl4pPr algn="l">
              <a:defRPr lang="en-US" sz="3000" b="1">
                <a:solidFill>
                  <a:srgbClr val="822433"/>
                </a:solidFill>
                <a:latin typeface="Roboto"/>
                <a:ea typeface="Roboto"/>
                <a:cs typeface="Roboto"/>
              </a:defRPr>
            </a:lvl4pPr>
            <a:lvl5pPr algn="l">
              <a:defRPr lang="en-US" sz="3000" b="1">
                <a:solidFill>
                  <a:srgbClr val="822433"/>
                </a:solidFill>
                <a:latin typeface="Roboto"/>
                <a:ea typeface="Roboto"/>
                <a:cs typeface="Roboto"/>
              </a:defRPr>
            </a:lvl5pPr>
            <a:lvl6pPr algn="l">
              <a:defRPr lang="en-US" sz="3000" b="1">
                <a:solidFill>
                  <a:srgbClr val="822433"/>
                </a:solidFill>
                <a:latin typeface="Roboto"/>
                <a:ea typeface="Roboto"/>
                <a:cs typeface="Roboto"/>
              </a:defRPr>
            </a:lvl6pPr>
            <a:lvl7pPr algn="l">
              <a:defRPr lang="en-US" sz="3000" b="1">
                <a:solidFill>
                  <a:srgbClr val="822433"/>
                </a:solidFill>
                <a:latin typeface="Roboto"/>
                <a:ea typeface="Roboto"/>
                <a:cs typeface="Roboto"/>
              </a:defRPr>
            </a:lvl7pPr>
            <a:lvl8pPr algn="l">
              <a:defRPr lang="en-US" sz="3000" b="1">
                <a:solidFill>
                  <a:srgbClr val="822433"/>
                </a:solidFill>
                <a:latin typeface="Roboto"/>
                <a:ea typeface="Roboto"/>
                <a:cs typeface="Roboto"/>
              </a:defRPr>
            </a:lvl8pPr>
            <a:lvl9pPr algn="l">
              <a:defRPr lang="en-US" sz="3000" b="1">
                <a:solidFill>
                  <a:srgbClr val="822433"/>
                </a:solidFill>
                <a:latin typeface="Roboto"/>
                <a:ea typeface="Roboto"/>
                <a:cs typeface="Roboto"/>
              </a:defRPr>
            </a:lvl9pPr>
          </a:lstStyle>
          <a:p>
            <a:pPr algn="l">
              <a:defRPr lang="en-US" sz="3000" b="1">
                <a:solidFill>
                  <a:srgbClr val="822433"/>
                </a:solidFill>
                <a:latin typeface="Roboto"/>
                <a:ea typeface="Roboto"/>
                <a:cs typeface="Roboto"/>
              </a:defRPr>
            </a:pPr>
            <a:r>
              <a:rPr lang="en-US" sz="2400" b="1" dirty="0">
                <a:solidFill>
                  <a:srgbClr val="822433"/>
                </a:solidFill>
                <a:latin typeface="Roboto"/>
                <a:ea typeface="Roboto"/>
                <a:cs typeface="Roboto"/>
              </a:rPr>
              <a:t>30 epochs</a:t>
            </a:r>
          </a:p>
        </p:txBody>
      </p:sp>
      <p:sp>
        <p:nvSpPr>
          <p:cNvPr id="109" name="training10-lcnet-epochs">
            <a:extLst>
              <a:ext uri="{FF2B5EF4-FFF2-40B4-BE49-F238E27FC236}">
                <a16:creationId xmlns:a16="http://schemas.microsoft.com/office/drawing/2014/main" id="{B021DAA4-4C67-464E-8D47-15C450274ABF}"/>
              </a:ext>
            </a:extLst>
          </p:cNvPr>
          <p:cNvSpPr>
            <a:spLocks noGrp="1"/>
          </p:cNvSpPr>
          <p:nvPr/>
        </p:nvSpPr>
        <p:spPr>
          <a:xfrm>
            <a:off x="1130877" y="4249015"/>
            <a:ext cx="3105150" cy="400050"/>
          </a:xfrm>
          <a:prstGeom prst="rect">
            <a:avLst/>
          </a:prstGeom>
          <a:noFill/>
          <a:ln w="0">
            <a:noFill/>
          </a:ln>
        </p:spPr>
        <p:txBody>
          <a:bodyPr wrap="square" lIns="0" tIns="0" rIns="0" bIns="0" anchor="t">
            <a:noAutofit/>
          </a:bodyPr>
          <a:lstStyle>
            <a:defPPr algn="l">
              <a:defRPr lang="en-US" sz="2000" b="0">
                <a:solidFill>
                  <a:srgbClr val="656B73"/>
                </a:solidFill>
                <a:latin typeface="Roboto"/>
                <a:ea typeface="Roboto"/>
                <a:cs typeface="Roboto"/>
              </a:defRPr>
            </a:defPPr>
            <a:lvl1pPr algn="l">
              <a:defRPr lang="en-US" sz="2000" b="0">
                <a:solidFill>
                  <a:srgbClr val="656B73"/>
                </a:solidFill>
                <a:latin typeface="Roboto"/>
                <a:ea typeface="Roboto"/>
                <a:cs typeface="Roboto"/>
              </a:defRPr>
            </a:lvl1pPr>
            <a:lvl2pPr algn="l">
              <a:defRPr lang="en-US" sz="2000" b="0">
                <a:solidFill>
                  <a:srgbClr val="656B73"/>
                </a:solidFill>
                <a:latin typeface="Roboto"/>
                <a:ea typeface="Roboto"/>
                <a:cs typeface="Roboto"/>
              </a:defRPr>
            </a:lvl2pPr>
            <a:lvl3pPr algn="l">
              <a:defRPr lang="en-US" sz="2000" b="0">
                <a:solidFill>
                  <a:srgbClr val="656B73"/>
                </a:solidFill>
                <a:latin typeface="Roboto"/>
                <a:ea typeface="Roboto"/>
                <a:cs typeface="Roboto"/>
              </a:defRPr>
            </a:lvl3pPr>
            <a:lvl4pPr algn="l">
              <a:defRPr lang="en-US" sz="2000" b="0">
                <a:solidFill>
                  <a:srgbClr val="656B73"/>
                </a:solidFill>
                <a:latin typeface="Roboto"/>
                <a:ea typeface="Roboto"/>
                <a:cs typeface="Roboto"/>
              </a:defRPr>
            </a:lvl4pPr>
            <a:lvl5pPr algn="l">
              <a:defRPr lang="en-US" sz="2000" b="0">
                <a:solidFill>
                  <a:srgbClr val="656B73"/>
                </a:solidFill>
                <a:latin typeface="Roboto"/>
                <a:ea typeface="Roboto"/>
                <a:cs typeface="Roboto"/>
              </a:defRPr>
            </a:lvl5pPr>
            <a:lvl6pPr algn="l">
              <a:defRPr lang="en-US" sz="2000" b="0">
                <a:solidFill>
                  <a:srgbClr val="656B73"/>
                </a:solidFill>
                <a:latin typeface="Roboto"/>
                <a:ea typeface="Roboto"/>
                <a:cs typeface="Roboto"/>
              </a:defRPr>
            </a:lvl6pPr>
            <a:lvl7pPr algn="l">
              <a:defRPr lang="en-US" sz="2000" b="0">
                <a:solidFill>
                  <a:srgbClr val="656B73"/>
                </a:solidFill>
                <a:latin typeface="Roboto"/>
                <a:ea typeface="Roboto"/>
                <a:cs typeface="Roboto"/>
              </a:defRPr>
            </a:lvl7pPr>
            <a:lvl8pPr algn="l">
              <a:defRPr lang="en-US" sz="2000" b="0">
                <a:solidFill>
                  <a:srgbClr val="656B73"/>
                </a:solidFill>
                <a:latin typeface="Roboto"/>
                <a:ea typeface="Roboto"/>
                <a:cs typeface="Roboto"/>
              </a:defRPr>
            </a:lvl8pPr>
            <a:lvl9pPr algn="l">
              <a:defRPr lang="en-US" sz="2000" b="0">
                <a:solidFill>
                  <a:srgbClr val="656B73"/>
                </a:solidFill>
                <a:latin typeface="Roboto"/>
                <a:ea typeface="Roboto"/>
                <a:cs typeface="Roboto"/>
              </a:defRPr>
            </a:lvl9pPr>
          </a:lstStyle>
          <a:p>
            <a:pPr algn="l">
              <a:defRPr lang="en-US" sz="2000" b="0">
                <a:solidFill>
                  <a:srgbClr val="656B73"/>
                </a:solidFill>
                <a:latin typeface="Roboto"/>
                <a:ea typeface="Roboto"/>
                <a:cs typeface="Roboto"/>
              </a:defRPr>
            </a:pPr>
            <a:r>
              <a:rPr lang="en-US" sz="1800" b="0" dirty="0">
                <a:solidFill>
                  <a:srgbClr val="656B73"/>
                </a:solidFill>
                <a:latin typeface="Roboto"/>
                <a:ea typeface="Roboto"/>
                <a:cs typeface="Roboto"/>
              </a:rPr>
              <a:t>(60 for </a:t>
            </a:r>
            <a:r>
              <a:rPr lang="en-US" sz="1800" b="0" dirty="0" err="1">
                <a:solidFill>
                  <a:srgbClr val="656B73"/>
                </a:solidFill>
                <a:latin typeface="Roboto"/>
                <a:ea typeface="Roboto"/>
                <a:cs typeface="Roboto"/>
              </a:rPr>
              <a:t>LCNet</a:t>
            </a:r>
            <a:r>
              <a:rPr lang="en-US" sz="1800" b="0" dirty="0">
                <a:solidFill>
                  <a:srgbClr val="656B73"/>
                </a:solidFill>
                <a:latin typeface="Roboto"/>
                <a:ea typeface="Roboto"/>
                <a:cs typeface="Roboto"/>
              </a:rPr>
              <a:t>)</a:t>
            </a:r>
          </a:p>
        </p:txBody>
      </p:sp>
      <p:sp>
        <p:nvSpPr>
          <p:cNvPr id="110" name="training10-end-to-end">
            <a:extLst>
              <a:ext uri="{FF2B5EF4-FFF2-40B4-BE49-F238E27FC236}">
                <a16:creationId xmlns:a16="http://schemas.microsoft.com/office/drawing/2014/main" id="{660EDAE0-A2AC-4201-B112-4AB80EA83907}"/>
              </a:ext>
            </a:extLst>
          </p:cNvPr>
          <p:cNvSpPr>
            <a:spLocks noGrp="1"/>
          </p:cNvSpPr>
          <p:nvPr/>
        </p:nvSpPr>
        <p:spPr>
          <a:xfrm>
            <a:off x="1130877" y="4717162"/>
            <a:ext cx="3105150" cy="409575"/>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dirty="0">
                <a:solidFill>
                  <a:srgbClr val="202124"/>
                </a:solidFill>
                <a:latin typeface="Roboto"/>
                <a:ea typeface="Roboto"/>
                <a:cs typeface="Roboto"/>
              </a:rPr>
              <a:t>End-to-end training</a:t>
            </a:r>
          </a:p>
        </p:txBody>
      </p:sp>
      <p:sp>
        <p:nvSpPr>
          <p:cNvPr id="111" name="training10-loss-formula">
            <a:extLst>
              <a:ext uri="{FF2B5EF4-FFF2-40B4-BE49-F238E27FC236}">
                <a16:creationId xmlns:a16="http://schemas.microsoft.com/office/drawing/2014/main" id="{6F878C80-3805-42F8-8B85-7B57C77764F4}"/>
              </a:ext>
            </a:extLst>
          </p:cNvPr>
          <p:cNvSpPr>
            <a:spLocks noGrp="1"/>
          </p:cNvSpPr>
          <p:nvPr/>
        </p:nvSpPr>
        <p:spPr>
          <a:xfrm>
            <a:off x="4236027" y="2897330"/>
            <a:ext cx="3562350" cy="571500"/>
          </a:xfrm>
          <a:prstGeom prst="rect">
            <a:avLst/>
          </a:prstGeom>
          <a:noFill/>
          <a:ln w="0">
            <a:noFill/>
          </a:ln>
        </p:spPr>
        <p:txBody>
          <a:bodyPr wrap="square" lIns="0" tIns="0" rIns="0" bIns="0" anchor="t">
            <a:noAutofit/>
          </a:bodyPr>
          <a:lstStyle>
            <a:defPPr algn="l">
              <a:defRPr lang="en-US" sz="2400" b="0">
                <a:solidFill>
                  <a:srgbClr val="202124"/>
                </a:solidFill>
                <a:latin typeface="Roboto"/>
                <a:ea typeface="Roboto"/>
                <a:cs typeface="Roboto"/>
              </a:defRPr>
            </a:defPPr>
            <a:lvl1pPr algn="l">
              <a:defRPr lang="en-US" sz="2400" b="0">
                <a:solidFill>
                  <a:srgbClr val="202124"/>
                </a:solidFill>
                <a:latin typeface="Roboto"/>
                <a:ea typeface="Roboto"/>
                <a:cs typeface="Roboto"/>
              </a:defRPr>
            </a:lvl1pPr>
            <a:lvl2pPr algn="l">
              <a:defRPr lang="en-US" sz="2400" b="0">
                <a:solidFill>
                  <a:srgbClr val="202124"/>
                </a:solidFill>
                <a:latin typeface="Roboto"/>
                <a:ea typeface="Roboto"/>
                <a:cs typeface="Roboto"/>
              </a:defRPr>
            </a:lvl2pPr>
            <a:lvl3pPr algn="l">
              <a:defRPr lang="en-US" sz="2400" b="0">
                <a:solidFill>
                  <a:srgbClr val="202124"/>
                </a:solidFill>
                <a:latin typeface="Roboto"/>
                <a:ea typeface="Roboto"/>
                <a:cs typeface="Roboto"/>
              </a:defRPr>
            </a:lvl3pPr>
            <a:lvl4pPr algn="l">
              <a:defRPr lang="en-US" sz="2400" b="0">
                <a:solidFill>
                  <a:srgbClr val="202124"/>
                </a:solidFill>
                <a:latin typeface="Roboto"/>
                <a:ea typeface="Roboto"/>
                <a:cs typeface="Roboto"/>
              </a:defRPr>
            </a:lvl4pPr>
            <a:lvl5pPr algn="l">
              <a:defRPr lang="en-US" sz="2400" b="0">
                <a:solidFill>
                  <a:srgbClr val="202124"/>
                </a:solidFill>
                <a:latin typeface="Roboto"/>
                <a:ea typeface="Roboto"/>
                <a:cs typeface="Roboto"/>
              </a:defRPr>
            </a:lvl5pPr>
            <a:lvl6pPr algn="l">
              <a:defRPr lang="en-US" sz="2400" b="0">
                <a:solidFill>
                  <a:srgbClr val="202124"/>
                </a:solidFill>
                <a:latin typeface="Roboto"/>
                <a:ea typeface="Roboto"/>
                <a:cs typeface="Roboto"/>
              </a:defRPr>
            </a:lvl6pPr>
            <a:lvl7pPr algn="l">
              <a:defRPr lang="en-US" sz="2400" b="0">
                <a:solidFill>
                  <a:srgbClr val="202124"/>
                </a:solidFill>
                <a:latin typeface="Roboto"/>
                <a:ea typeface="Roboto"/>
                <a:cs typeface="Roboto"/>
              </a:defRPr>
            </a:lvl7pPr>
            <a:lvl8pPr algn="l">
              <a:defRPr lang="en-US" sz="2400" b="0">
                <a:solidFill>
                  <a:srgbClr val="202124"/>
                </a:solidFill>
                <a:latin typeface="Roboto"/>
                <a:ea typeface="Roboto"/>
                <a:cs typeface="Roboto"/>
              </a:defRPr>
            </a:lvl8pPr>
            <a:lvl9pPr algn="l">
              <a:defRPr lang="en-US" sz="2400" b="0">
                <a:solidFill>
                  <a:srgbClr val="202124"/>
                </a:solidFill>
                <a:latin typeface="Roboto"/>
                <a:ea typeface="Roboto"/>
                <a:cs typeface="Roboto"/>
              </a:defRPr>
            </a:lvl9pPr>
          </a:lstStyle>
          <a:p>
            <a:pPr algn="l">
              <a:defRPr lang="en-US" sz="2400" b="0">
                <a:solidFill>
                  <a:srgbClr val="202124"/>
                </a:solidFill>
                <a:latin typeface="Roboto"/>
                <a:ea typeface="Roboto"/>
                <a:cs typeface="Roboto"/>
              </a:defRPr>
            </a:pPr>
            <a:r>
              <a:rPr lang="en-US" sz="2400" b="0" dirty="0">
                <a:solidFill>
                  <a:srgbClr val="202124"/>
                </a:solidFill>
                <a:latin typeface="Roboto"/>
                <a:ea typeface="Roboto"/>
                <a:cs typeface="Roboto"/>
              </a:rPr>
              <a:t>ℒ = 0.5ℒ</a:t>
            </a:r>
            <a:r>
              <a:rPr lang="en-US" sz="1600" b="0" baseline="-25000" dirty="0">
                <a:solidFill>
                  <a:srgbClr val="202124"/>
                </a:solidFill>
                <a:latin typeface="Roboto"/>
                <a:ea typeface="Roboto"/>
                <a:cs typeface="Roboto"/>
              </a:rPr>
              <a:t>CE</a:t>
            </a:r>
            <a:r>
              <a:rPr lang="en-US" sz="2400" b="0" dirty="0">
                <a:solidFill>
                  <a:srgbClr val="202124"/>
                </a:solidFill>
                <a:latin typeface="Roboto"/>
                <a:ea typeface="Roboto"/>
                <a:cs typeface="Roboto"/>
              </a:rPr>
              <a:t> + 0.5ℒ</a:t>
            </a:r>
            <a:r>
              <a:rPr lang="en-US" sz="1600" b="0" baseline="-25000" dirty="0">
                <a:solidFill>
                  <a:srgbClr val="202124"/>
                </a:solidFill>
                <a:latin typeface="Roboto"/>
                <a:ea typeface="Roboto"/>
                <a:cs typeface="Roboto"/>
              </a:rPr>
              <a:t>GDL</a:t>
            </a:r>
          </a:p>
        </p:txBody>
      </p:sp>
      <p:sp>
        <p:nvSpPr>
          <p:cNvPr id="112" name="training10-optimizer">
            <a:extLst>
              <a:ext uri="{FF2B5EF4-FFF2-40B4-BE49-F238E27FC236}">
                <a16:creationId xmlns:a16="http://schemas.microsoft.com/office/drawing/2014/main" id="{EEF7085D-EA8E-4624-9154-B29D565C3AEA}"/>
              </a:ext>
            </a:extLst>
          </p:cNvPr>
          <p:cNvSpPr>
            <a:spLocks noGrp="1"/>
          </p:cNvSpPr>
          <p:nvPr/>
        </p:nvSpPr>
        <p:spPr>
          <a:xfrm>
            <a:off x="4236027" y="3324636"/>
            <a:ext cx="3667125" cy="669492"/>
          </a:xfrm>
          <a:prstGeom prst="rect">
            <a:avLst/>
          </a:prstGeom>
          <a:noFill/>
          <a:ln w="0">
            <a:noFill/>
          </a:ln>
        </p:spPr>
        <p:txBody>
          <a:bodyPr wrap="square" lIns="0" tIns="0" rIns="0" bIns="0" anchor="t">
            <a:noAutofit/>
          </a:bodyPr>
          <a:lstStyle>
            <a:defPPr algn="l">
              <a:defRPr lang="en-US" sz="2000" b="0">
                <a:solidFill>
                  <a:srgbClr val="202124"/>
                </a:solidFill>
                <a:latin typeface="Roboto"/>
                <a:ea typeface="Roboto"/>
                <a:cs typeface="Roboto"/>
              </a:defRPr>
            </a:defPPr>
            <a:lvl1pPr algn="l">
              <a:defRPr lang="en-US" sz="2000" b="0">
                <a:solidFill>
                  <a:srgbClr val="202124"/>
                </a:solidFill>
                <a:latin typeface="Roboto"/>
                <a:ea typeface="Roboto"/>
                <a:cs typeface="Roboto"/>
              </a:defRPr>
            </a:lvl1pPr>
            <a:lvl2pPr algn="l">
              <a:defRPr lang="en-US" sz="2000" b="0">
                <a:solidFill>
                  <a:srgbClr val="202124"/>
                </a:solidFill>
                <a:latin typeface="Roboto"/>
                <a:ea typeface="Roboto"/>
                <a:cs typeface="Roboto"/>
              </a:defRPr>
            </a:lvl2pPr>
            <a:lvl3pPr algn="l">
              <a:defRPr lang="en-US" sz="2000" b="0">
                <a:solidFill>
                  <a:srgbClr val="202124"/>
                </a:solidFill>
                <a:latin typeface="Roboto"/>
                <a:ea typeface="Roboto"/>
                <a:cs typeface="Roboto"/>
              </a:defRPr>
            </a:lvl3pPr>
            <a:lvl4pPr algn="l">
              <a:defRPr lang="en-US" sz="2000" b="0">
                <a:solidFill>
                  <a:srgbClr val="202124"/>
                </a:solidFill>
                <a:latin typeface="Roboto"/>
                <a:ea typeface="Roboto"/>
                <a:cs typeface="Roboto"/>
              </a:defRPr>
            </a:lvl4pPr>
            <a:lvl5pPr algn="l">
              <a:defRPr lang="en-US" sz="2000" b="0">
                <a:solidFill>
                  <a:srgbClr val="202124"/>
                </a:solidFill>
                <a:latin typeface="Roboto"/>
                <a:ea typeface="Roboto"/>
                <a:cs typeface="Roboto"/>
              </a:defRPr>
            </a:lvl5pPr>
            <a:lvl6pPr algn="l">
              <a:defRPr lang="en-US" sz="2000" b="0">
                <a:solidFill>
                  <a:srgbClr val="202124"/>
                </a:solidFill>
                <a:latin typeface="Roboto"/>
                <a:ea typeface="Roboto"/>
                <a:cs typeface="Roboto"/>
              </a:defRPr>
            </a:lvl6pPr>
            <a:lvl7pPr algn="l">
              <a:defRPr lang="en-US" sz="2000" b="0">
                <a:solidFill>
                  <a:srgbClr val="202124"/>
                </a:solidFill>
                <a:latin typeface="Roboto"/>
                <a:ea typeface="Roboto"/>
                <a:cs typeface="Roboto"/>
              </a:defRPr>
            </a:lvl7pPr>
            <a:lvl8pPr algn="l">
              <a:defRPr lang="en-US" sz="2000" b="0">
                <a:solidFill>
                  <a:srgbClr val="202124"/>
                </a:solidFill>
                <a:latin typeface="Roboto"/>
                <a:ea typeface="Roboto"/>
                <a:cs typeface="Roboto"/>
              </a:defRPr>
            </a:lvl8pPr>
            <a:lvl9pPr algn="l">
              <a:defRPr lang="en-US" sz="2000" b="0">
                <a:solidFill>
                  <a:srgbClr val="202124"/>
                </a:solidFill>
                <a:latin typeface="Roboto"/>
                <a:ea typeface="Roboto"/>
                <a:cs typeface="Roboto"/>
              </a:defRPr>
            </a:lvl9pPr>
          </a:lstStyle>
          <a:p>
            <a:pPr algn="l">
              <a:lnSpc>
                <a:spcPct val="150000"/>
              </a:lnSpc>
              <a:defRPr lang="en-US" sz="2000" b="0">
                <a:solidFill>
                  <a:srgbClr val="202124"/>
                </a:solidFill>
                <a:latin typeface="Roboto"/>
                <a:ea typeface="Roboto"/>
                <a:cs typeface="Roboto"/>
              </a:defRPr>
            </a:pPr>
            <a:r>
              <a:rPr lang="en-US" sz="2000" b="0" dirty="0" err="1">
                <a:solidFill>
                  <a:srgbClr val="202124"/>
                </a:solidFill>
                <a:latin typeface="Roboto"/>
                <a:ea typeface="Roboto"/>
                <a:cs typeface="Roboto"/>
              </a:rPr>
              <a:t>AdamW</a:t>
            </a:r>
            <a:endParaRPr lang="en-US" dirty="0"/>
          </a:p>
          <a:p>
            <a:pPr algn="l">
              <a:lnSpc>
                <a:spcPct val="150000"/>
              </a:lnSpc>
              <a:defRPr lang="en-US" sz="2000" b="0">
                <a:solidFill>
                  <a:srgbClr val="202124"/>
                </a:solidFill>
                <a:latin typeface="Roboto"/>
                <a:ea typeface="Roboto"/>
                <a:cs typeface="Roboto"/>
              </a:defRPr>
            </a:pPr>
            <a:r>
              <a:rPr lang="en-US" sz="2000" b="0" dirty="0">
                <a:solidFill>
                  <a:srgbClr val="202124"/>
                </a:solidFill>
                <a:latin typeface="Roboto"/>
                <a:ea typeface="Roboto"/>
                <a:cs typeface="Roboto"/>
              </a:rPr>
              <a:t>LR: 10⁻⁴</a:t>
            </a:r>
          </a:p>
        </p:txBody>
      </p:sp>
      <p:sp>
        <p:nvSpPr>
          <p:cNvPr id="113" name="training10-warmup">
            <a:extLst>
              <a:ext uri="{FF2B5EF4-FFF2-40B4-BE49-F238E27FC236}">
                <a16:creationId xmlns:a16="http://schemas.microsoft.com/office/drawing/2014/main" id="{50E3D12E-20BD-489A-9B1B-F87BAB3289D4}"/>
              </a:ext>
            </a:extLst>
          </p:cNvPr>
          <p:cNvSpPr>
            <a:spLocks noGrp="1"/>
          </p:cNvSpPr>
          <p:nvPr/>
        </p:nvSpPr>
        <p:spPr>
          <a:xfrm>
            <a:off x="4236027" y="4262250"/>
            <a:ext cx="3667125" cy="419100"/>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dirty="0"/>
              <a:t>3</a:t>
            </a:r>
            <a:r>
              <a:rPr lang="en-US" sz="2100" b="0" dirty="0">
                <a:solidFill>
                  <a:srgbClr val="202124"/>
                </a:solidFill>
                <a:latin typeface="Roboto"/>
                <a:ea typeface="Roboto"/>
                <a:cs typeface="Roboto"/>
              </a:rPr>
              <a:t>-epoch warm-up</a:t>
            </a:r>
          </a:p>
        </p:txBody>
      </p:sp>
      <p:sp>
        <p:nvSpPr>
          <p:cNvPr id="114" name="training10-cosine">
            <a:extLst>
              <a:ext uri="{FF2B5EF4-FFF2-40B4-BE49-F238E27FC236}">
                <a16:creationId xmlns:a16="http://schemas.microsoft.com/office/drawing/2014/main" id="{6D276118-4CED-4B6C-82AB-4B6771E8FE83}"/>
              </a:ext>
            </a:extLst>
          </p:cNvPr>
          <p:cNvSpPr>
            <a:spLocks noGrp="1"/>
          </p:cNvSpPr>
          <p:nvPr/>
        </p:nvSpPr>
        <p:spPr>
          <a:xfrm>
            <a:off x="4236027" y="4738500"/>
            <a:ext cx="3667125" cy="419100"/>
          </a:xfrm>
          <a:prstGeom prst="rect">
            <a:avLst/>
          </a:prstGeom>
          <a:noFill/>
          <a:ln w="0">
            <a:noFill/>
          </a:ln>
        </p:spPr>
        <p:txBody>
          <a:bodyPr wrap="square" lIns="0" tIns="0" rIns="0" bIns="0" anchor="t">
            <a:noAutofit/>
          </a:bodyPr>
          <a:lstStyle>
            <a:defPPr algn="l">
              <a:defRPr lang="en-US" sz="2000" b="0">
                <a:solidFill>
                  <a:srgbClr val="202124"/>
                </a:solidFill>
                <a:latin typeface="Roboto"/>
                <a:ea typeface="Roboto"/>
                <a:cs typeface="Roboto"/>
              </a:defRPr>
            </a:defPPr>
            <a:lvl1pPr algn="l">
              <a:defRPr lang="en-US" sz="2000" b="0">
                <a:solidFill>
                  <a:srgbClr val="202124"/>
                </a:solidFill>
                <a:latin typeface="Roboto"/>
                <a:ea typeface="Roboto"/>
                <a:cs typeface="Roboto"/>
              </a:defRPr>
            </a:lvl1pPr>
            <a:lvl2pPr algn="l">
              <a:defRPr lang="en-US" sz="2000" b="0">
                <a:solidFill>
                  <a:srgbClr val="202124"/>
                </a:solidFill>
                <a:latin typeface="Roboto"/>
                <a:ea typeface="Roboto"/>
                <a:cs typeface="Roboto"/>
              </a:defRPr>
            </a:lvl2pPr>
            <a:lvl3pPr algn="l">
              <a:defRPr lang="en-US" sz="2000" b="0">
                <a:solidFill>
                  <a:srgbClr val="202124"/>
                </a:solidFill>
                <a:latin typeface="Roboto"/>
                <a:ea typeface="Roboto"/>
                <a:cs typeface="Roboto"/>
              </a:defRPr>
            </a:lvl3pPr>
            <a:lvl4pPr algn="l">
              <a:defRPr lang="en-US" sz="2000" b="0">
                <a:solidFill>
                  <a:srgbClr val="202124"/>
                </a:solidFill>
                <a:latin typeface="Roboto"/>
                <a:ea typeface="Roboto"/>
                <a:cs typeface="Roboto"/>
              </a:defRPr>
            </a:lvl4pPr>
            <a:lvl5pPr algn="l">
              <a:defRPr lang="en-US" sz="2000" b="0">
                <a:solidFill>
                  <a:srgbClr val="202124"/>
                </a:solidFill>
                <a:latin typeface="Roboto"/>
                <a:ea typeface="Roboto"/>
                <a:cs typeface="Roboto"/>
              </a:defRPr>
            </a:lvl5pPr>
            <a:lvl6pPr algn="l">
              <a:defRPr lang="en-US" sz="2000" b="0">
                <a:solidFill>
                  <a:srgbClr val="202124"/>
                </a:solidFill>
                <a:latin typeface="Roboto"/>
                <a:ea typeface="Roboto"/>
                <a:cs typeface="Roboto"/>
              </a:defRPr>
            </a:lvl6pPr>
            <a:lvl7pPr algn="l">
              <a:defRPr lang="en-US" sz="2000" b="0">
                <a:solidFill>
                  <a:srgbClr val="202124"/>
                </a:solidFill>
                <a:latin typeface="Roboto"/>
                <a:ea typeface="Roboto"/>
                <a:cs typeface="Roboto"/>
              </a:defRPr>
            </a:lvl7pPr>
            <a:lvl8pPr algn="l">
              <a:defRPr lang="en-US" sz="2000" b="0">
                <a:solidFill>
                  <a:srgbClr val="202124"/>
                </a:solidFill>
                <a:latin typeface="Roboto"/>
                <a:ea typeface="Roboto"/>
                <a:cs typeface="Roboto"/>
              </a:defRPr>
            </a:lvl8pPr>
            <a:lvl9pPr algn="l">
              <a:defRPr lang="en-US" sz="2000" b="0">
                <a:solidFill>
                  <a:srgbClr val="202124"/>
                </a:solidFill>
                <a:latin typeface="Roboto"/>
                <a:ea typeface="Roboto"/>
                <a:cs typeface="Roboto"/>
              </a:defRPr>
            </a:lvl9pPr>
          </a:lstStyle>
          <a:p>
            <a:pPr algn="l">
              <a:defRPr lang="en-US" sz="2000" b="0">
                <a:solidFill>
                  <a:srgbClr val="202124"/>
                </a:solidFill>
                <a:latin typeface="Roboto"/>
                <a:ea typeface="Roboto"/>
                <a:cs typeface="Roboto"/>
              </a:defRPr>
            </a:pPr>
            <a:r>
              <a:rPr lang="en-US" sz="2000" b="0" dirty="0">
                <a:solidFill>
                  <a:srgbClr val="202124"/>
                </a:solidFill>
                <a:latin typeface="Roboto"/>
                <a:ea typeface="Roboto"/>
                <a:cs typeface="Roboto"/>
              </a:rPr>
              <a:t>Cosine LR decay</a:t>
            </a:r>
          </a:p>
        </p:txBody>
      </p:sp>
      <p:sp>
        <p:nvSpPr>
          <p:cNvPr id="115" name="training10-best-metric">
            <a:extLst>
              <a:ext uri="{FF2B5EF4-FFF2-40B4-BE49-F238E27FC236}">
                <a16:creationId xmlns:a16="http://schemas.microsoft.com/office/drawing/2014/main" id="{DBA40154-5503-45ED-9670-4C3E6B9CE8E3}"/>
              </a:ext>
            </a:extLst>
          </p:cNvPr>
          <p:cNvSpPr>
            <a:spLocks noGrp="1"/>
          </p:cNvSpPr>
          <p:nvPr/>
        </p:nvSpPr>
        <p:spPr>
          <a:xfrm>
            <a:off x="8341302" y="2888259"/>
            <a:ext cx="3228975" cy="428625"/>
          </a:xfrm>
          <a:prstGeom prst="rect">
            <a:avLst/>
          </a:prstGeom>
          <a:noFill/>
          <a:ln w="0">
            <a:noFill/>
          </a:ln>
        </p:spPr>
        <p:txBody>
          <a:bodyPr wrap="square" lIns="0" tIns="0" rIns="0" bIns="0" anchor="t">
            <a:noAutofit/>
          </a:bodyPr>
          <a:lstStyle>
            <a:defPPr algn="l">
              <a:defRPr lang="en-US" sz="2100" b="1">
                <a:solidFill>
                  <a:srgbClr val="822433"/>
                </a:solidFill>
                <a:latin typeface="Roboto"/>
                <a:ea typeface="Roboto"/>
                <a:cs typeface="Roboto"/>
              </a:defRPr>
            </a:defPPr>
            <a:lvl1pPr algn="l">
              <a:defRPr lang="en-US" sz="2100" b="1">
                <a:solidFill>
                  <a:srgbClr val="822433"/>
                </a:solidFill>
                <a:latin typeface="Roboto"/>
                <a:ea typeface="Roboto"/>
                <a:cs typeface="Roboto"/>
              </a:defRPr>
            </a:lvl1pPr>
            <a:lvl2pPr algn="l">
              <a:defRPr lang="en-US" sz="2100" b="1">
                <a:solidFill>
                  <a:srgbClr val="822433"/>
                </a:solidFill>
                <a:latin typeface="Roboto"/>
                <a:ea typeface="Roboto"/>
                <a:cs typeface="Roboto"/>
              </a:defRPr>
            </a:lvl2pPr>
            <a:lvl3pPr algn="l">
              <a:defRPr lang="en-US" sz="2100" b="1">
                <a:solidFill>
                  <a:srgbClr val="822433"/>
                </a:solidFill>
                <a:latin typeface="Roboto"/>
                <a:ea typeface="Roboto"/>
                <a:cs typeface="Roboto"/>
              </a:defRPr>
            </a:lvl3pPr>
            <a:lvl4pPr algn="l">
              <a:defRPr lang="en-US" sz="2100" b="1">
                <a:solidFill>
                  <a:srgbClr val="822433"/>
                </a:solidFill>
                <a:latin typeface="Roboto"/>
                <a:ea typeface="Roboto"/>
                <a:cs typeface="Roboto"/>
              </a:defRPr>
            </a:lvl4pPr>
            <a:lvl5pPr algn="l">
              <a:defRPr lang="en-US" sz="2100" b="1">
                <a:solidFill>
                  <a:srgbClr val="822433"/>
                </a:solidFill>
                <a:latin typeface="Roboto"/>
                <a:ea typeface="Roboto"/>
                <a:cs typeface="Roboto"/>
              </a:defRPr>
            </a:lvl5pPr>
            <a:lvl6pPr algn="l">
              <a:defRPr lang="en-US" sz="2100" b="1">
                <a:solidFill>
                  <a:srgbClr val="822433"/>
                </a:solidFill>
                <a:latin typeface="Roboto"/>
                <a:ea typeface="Roboto"/>
                <a:cs typeface="Roboto"/>
              </a:defRPr>
            </a:lvl6pPr>
            <a:lvl7pPr algn="l">
              <a:defRPr lang="en-US" sz="2100" b="1">
                <a:solidFill>
                  <a:srgbClr val="822433"/>
                </a:solidFill>
                <a:latin typeface="Roboto"/>
                <a:ea typeface="Roboto"/>
                <a:cs typeface="Roboto"/>
              </a:defRPr>
            </a:lvl7pPr>
            <a:lvl8pPr algn="l">
              <a:defRPr lang="en-US" sz="2100" b="1">
                <a:solidFill>
                  <a:srgbClr val="822433"/>
                </a:solidFill>
                <a:latin typeface="Roboto"/>
                <a:ea typeface="Roboto"/>
                <a:cs typeface="Roboto"/>
              </a:defRPr>
            </a:lvl8pPr>
            <a:lvl9pPr algn="l">
              <a:defRPr lang="en-US" sz="2100" b="1">
                <a:solidFill>
                  <a:srgbClr val="822433"/>
                </a:solidFill>
                <a:latin typeface="Roboto"/>
                <a:ea typeface="Roboto"/>
                <a:cs typeface="Roboto"/>
              </a:defRPr>
            </a:lvl9pPr>
          </a:lstStyle>
          <a:p>
            <a:pPr algn="l">
              <a:defRPr lang="en-US" sz="2100" b="1">
                <a:solidFill>
                  <a:srgbClr val="822433"/>
                </a:solidFill>
                <a:latin typeface="Roboto"/>
                <a:ea typeface="Roboto"/>
                <a:cs typeface="Roboto"/>
              </a:defRPr>
            </a:pPr>
            <a:r>
              <a:rPr lang="en-US" sz="2100" b="0" dirty="0">
                <a:solidFill>
                  <a:schemeClr val="tx1"/>
                </a:solidFill>
                <a:latin typeface="Roboto"/>
                <a:ea typeface="Roboto"/>
                <a:cs typeface="Roboto"/>
              </a:rPr>
              <a:t>Base models are in FP32</a:t>
            </a:r>
          </a:p>
        </p:txBody>
      </p:sp>
      <p:sp>
        <p:nvSpPr>
          <p:cNvPr id="6" name="training10-best-metric">
            <a:extLst>
              <a:ext uri="{FF2B5EF4-FFF2-40B4-BE49-F238E27FC236}">
                <a16:creationId xmlns:a16="http://schemas.microsoft.com/office/drawing/2014/main" id="{D614CF7F-78B2-B829-DDDC-2A1EC47B7F5B}"/>
              </a:ext>
            </a:extLst>
          </p:cNvPr>
          <p:cNvSpPr>
            <a:spLocks noGrp="1"/>
          </p:cNvSpPr>
          <p:nvPr/>
        </p:nvSpPr>
        <p:spPr>
          <a:xfrm>
            <a:off x="8341302" y="3429000"/>
            <a:ext cx="3228975" cy="428625"/>
          </a:xfrm>
          <a:prstGeom prst="rect">
            <a:avLst/>
          </a:prstGeom>
          <a:noFill/>
          <a:ln w="0">
            <a:noFill/>
          </a:ln>
        </p:spPr>
        <p:txBody>
          <a:bodyPr wrap="square" lIns="0" tIns="0" rIns="0" bIns="0" anchor="t">
            <a:noAutofit/>
          </a:bodyPr>
          <a:lstStyle>
            <a:defPPr algn="l">
              <a:defRPr lang="en-US" sz="2100" b="1">
                <a:solidFill>
                  <a:srgbClr val="822433"/>
                </a:solidFill>
                <a:latin typeface="Roboto"/>
                <a:ea typeface="Roboto"/>
                <a:cs typeface="Roboto"/>
              </a:defRPr>
            </a:defPPr>
            <a:lvl1pPr algn="l">
              <a:defRPr lang="en-US" sz="2100" b="1">
                <a:solidFill>
                  <a:srgbClr val="822433"/>
                </a:solidFill>
                <a:latin typeface="Roboto"/>
                <a:ea typeface="Roboto"/>
                <a:cs typeface="Roboto"/>
              </a:defRPr>
            </a:lvl1pPr>
            <a:lvl2pPr algn="l">
              <a:defRPr lang="en-US" sz="2100" b="1">
                <a:solidFill>
                  <a:srgbClr val="822433"/>
                </a:solidFill>
                <a:latin typeface="Roboto"/>
                <a:ea typeface="Roboto"/>
                <a:cs typeface="Roboto"/>
              </a:defRPr>
            </a:lvl2pPr>
            <a:lvl3pPr algn="l">
              <a:defRPr lang="en-US" sz="2100" b="1">
                <a:solidFill>
                  <a:srgbClr val="822433"/>
                </a:solidFill>
                <a:latin typeface="Roboto"/>
                <a:ea typeface="Roboto"/>
                <a:cs typeface="Roboto"/>
              </a:defRPr>
            </a:lvl3pPr>
            <a:lvl4pPr algn="l">
              <a:defRPr lang="en-US" sz="2100" b="1">
                <a:solidFill>
                  <a:srgbClr val="822433"/>
                </a:solidFill>
                <a:latin typeface="Roboto"/>
                <a:ea typeface="Roboto"/>
                <a:cs typeface="Roboto"/>
              </a:defRPr>
            </a:lvl4pPr>
            <a:lvl5pPr algn="l">
              <a:defRPr lang="en-US" sz="2100" b="1">
                <a:solidFill>
                  <a:srgbClr val="822433"/>
                </a:solidFill>
                <a:latin typeface="Roboto"/>
                <a:ea typeface="Roboto"/>
                <a:cs typeface="Roboto"/>
              </a:defRPr>
            </a:lvl5pPr>
            <a:lvl6pPr algn="l">
              <a:defRPr lang="en-US" sz="2100" b="1">
                <a:solidFill>
                  <a:srgbClr val="822433"/>
                </a:solidFill>
                <a:latin typeface="Roboto"/>
                <a:ea typeface="Roboto"/>
                <a:cs typeface="Roboto"/>
              </a:defRPr>
            </a:lvl6pPr>
            <a:lvl7pPr algn="l">
              <a:defRPr lang="en-US" sz="2100" b="1">
                <a:solidFill>
                  <a:srgbClr val="822433"/>
                </a:solidFill>
                <a:latin typeface="Roboto"/>
                <a:ea typeface="Roboto"/>
                <a:cs typeface="Roboto"/>
              </a:defRPr>
            </a:lvl7pPr>
            <a:lvl8pPr algn="l">
              <a:defRPr lang="en-US" sz="2100" b="1">
                <a:solidFill>
                  <a:srgbClr val="822433"/>
                </a:solidFill>
                <a:latin typeface="Roboto"/>
                <a:ea typeface="Roboto"/>
                <a:cs typeface="Roboto"/>
              </a:defRPr>
            </a:lvl8pPr>
            <a:lvl9pPr algn="l">
              <a:defRPr lang="en-US" sz="2100" b="1">
                <a:solidFill>
                  <a:srgbClr val="822433"/>
                </a:solidFill>
                <a:latin typeface="Roboto"/>
                <a:ea typeface="Roboto"/>
                <a:cs typeface="Roboto"/>
              </a:defRPr>
            </a:lvl9pPr>
          </a:lstStyle>
          <a:p>
            <a:pPr marL="342900" indent="-342900" algn="l">
              <a:buFont typeface="Arial" panose="020B0604020202020204" pitchFamily="34" charset="0"/>
              <a:buChar char="•"/>
              <a:defRPr lang="en-US" sz="2100" b="1">
                <a:solidFill>
                  <a:srgbClr val="822433"/>
                </a:solidFill>
                <a:latin typeface="Roboto"/>
                <a:ea typeface="Roboto"/>
                <a:cs typeface="Roboto"/>
              </a:defRPr>
            </a:pPr>
            <a:r>
              <a:rPr lang="en-US" sz="2100" b="0" dirty="0">
                <a:solidFill>
                  <a:schemeClr val="tx1"/>
                </a:solidFill>
                <a:latin typeface="Roboto"/>
                <a:ea typeface="Roboto"/>
                <a:cs typeface="Roboto"/>
              </a:rPr>
              <a:t>FP16</a:t>
            </a:r>
          </a:p>
          <a:p>
            <a:pPr marL="342900" indent="-342900" algn="l">
              <a:buFont typeface="Arial" panose="020B0604020202020204" pitchFamily="34" charset="0"/>
              <a:buChar char="•"/>
              <a:defRPr lang="en-US" sz="2100" b="1">
                <a:solidFill>
                  <a:srgbClr val="822433"/>
                </a:solidFill>
                <a:latin typeface="Roboto"/>
                <a:ea typeface="Roboto"/>
                <a:cs typeface="Roboto"/>
              </a:defRPr>
            </a:pPr>
            <a:endParaRPr lang="en-US" b="0" dirty="0">
              <a:solidFill>
                <a:schemeClr val="tx1"/>
              </a:solidFill>
            </a:endParaRPr>
          </a:p>
          <a:p>
            <a:pPr marL="342900" indent="-342900" algn="l">
              <a:buFont typeface="Arial" panose="020B0604020202020204" pitchFamily="34" charset="0"/>
              <a:buChar char="•"/>
              <a:defRPr lang="en-US" sz="2100" b="1">
                <a:solidFill>
                  <a:srgbClr val="822433"/>
                </a:solidFill>
                <a:latin typeface="Roboto"/>
                <a:ea typeface="Roboto"/>
                <a:cs typeface="Roboto"/>
              </a:defRPr>
            </a:pPr>
            <a:r>
              <a:rPr lang="en-US" sz="2100" b="0" dirty="0">
                <a:solidFill>
                  <a:schemeClr val="tx1"/>
                </a:solidFill>
                <a:latin typeface="Roboto"/>
                <a:ea typeface="Roboto"/>
                <a:cs typeface="Roboto"/>
              </a:rPr>
              <a:t>PTQ INT8</a:t>
            </a:r>
          </a:p>
          <a:p>
            <a:pPr marL="342900" indent="-342900" algn="l">
              <a:buFont typeface="Arial" panose="020B0604020202020204" pitchFamily="34" charset="0"/>
              <a:buChar char="•"/>
              <a:defRPr lang="en-US" sz="2100" b="1">
                <a:solidFill>
                  <a:srgbClr val="822433"/>
                </a:solidFill>
                <a:latin typeface="Roboto"/>
                <a:ea typeface="Roboto"/>
                <a:cs typeface="Roboto"/>
              </a:defRPr>
            </a:pPr>
            <a:endParaRPr lang="en-US" b="0" dirty="0">
              <a:solidFill>
                <a:schemeClr val="tx1"/>
              </a:solidFill>
            </a:endParaRPr>
          </a:p>
          <a:p>
            <a:pPr marL="342900" indent="-342900" algn="l">
              <a:buFont typeface="Arial" panose="020B0604020202020204" pitchFamily="34" charset="0"/>
              <a:buChar char="•"/>
              <a:defRPr lang="en-US" sz="2100" b="1">
                <a:solidFill>
                  <a:srgbClr val="822433"/>
                </a:solidFill>
                <a:latin typeface="Roboto"/>
                <a:ea typeface="Roboto"/>
                <a:cs typeface="Roboto"/>
              </a:defRPr>
            </a:pPr>
            <a:r>
              <a:rPr lang="en-US" sz="2100" b="0" dirty="0">
                <a:solidFill>
                  <a:schemeClr val="tx1"/>
                </a:solidFill>
                <a:latin typeface="Roboto"/>
                <a:ea typeface="Roboto"/>
                <a:cs typeface="Roboto"/>
              </a:rPr>
              <a:t>QAT INT8</a:t>
            </a:r>
          </a:p>
        </p:txBody>
      </p:sp>
      <p:cxnSp>
        <p:nvCxnSpPr>
          <p:cNvPr id="8" name="Connettore diritto 7">
            <a:extLst>
              <a:ext uri="{FF2B5EF4-FFF2-40B4-BE49-F238E27FC236}">
                <a16:creationId xmlns:a16="http://schemas.microsoft.com/office/drawing/2014/main" id="{860C4971-2384-C68F-618B-07B452E1EEA1}"/>
              </a:ext>
            </a:extLst>
          </p:cNvPr>
          <p:cNvCxnSpPr>
            <a:cxnSpLocks/>
          </p:cNvCxnSpPr>
          <p:nvPr/>
        </p:nvCxnSpPr>
        <p:spPr>
          <a:xfrm flipV="1">
            <a:off x="3733800" y="2286000"/>
            <a:ext cx="0" cy="2770909"/>
          </a:xfrm>
          <a:prstGeom prst="line">
            <a:avLst/>
          </a:prstGeom>
          <a:ln w="19050">
            <a:solidFill>
              <a:srgbClr val="822433"/>
            </a:solidFill>
          </a:ln>
        </p:spPr>
        <p:style>
          <a:lnRef idx="1">
            <a:schemeClr val="accent1"/>
          </a:lnRef>
          <a:fillRef idx="0">
            <a:schemeClr val="accent1"/>
          </a:fillRef>
          <a:effectRef idx="0">
            <a:schemeClr val="accent1"/>
          </a:effectRef>
          <a:fontRef idx="minor">
            <a:schemeClr val="tx1"/>
          </a:fontRef>
        </p:style>
      </p:cxnSp>
      <p:cxnSp>
        <p:nvCxnSpPr>
          <p:cNvPr id="12" name="Connettore diritto 11">
            <a:extLst>
              <a:ext uri="{FF2B5EF4-FFF2-40B4-BE49-F238E27FC236}">
                <a16:creationId xmlns:a16="http://schemas.microsoft.com/office/drawing/2014/main" id="{0FB6FBB0-091D-00D3-A59D-82B189730255}"/>
              </a:ext>
            </a:extLst>
          </p:cNvPr>
          <p:cNvCxnSpPr>
            <a:cxnSpLocks/>
          </p:cNvCxnSpPr>
          <p:nvPr/>
        </p:nvCxnSpPr>
        <p:spPr>
          <a:xfrm flipV="1">
            <a:off x="7798377" y="2286000"/>
            <a:ext cx="0" cy="2770909"/>
          </a:xfrm>
          <a:prstGeom prst="line">
            <a:avLst/>
          </a:prstGeom>
          <a:ln w="19050">
            <a:solidFill>
              <a:srgbClr val="82243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72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CF514-51FB-0831-F607-CB0746B6F3C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764EB2A-DB37-5AF4-8B49-A070B465FCF2}"/>
              </a:ext>
            </a:extLst>
          </p:cNvPr>
          <p:cNvSpPr>
            <a:spLocks noGrp="1"/>
          </p:cNvSpPr>
          <p:nvPr>
            <p:ph type="title"/>
          </p:nvPr>
        </p:nvSpPr>
        <p:spPr/>
        <p:txBody>
          <a:bodyPr>
            <a:normAutofit/>
          </a:bodyPr>
          <a:lstStyle/>
          <a:p>
            <a:r>
              <a:rPr lang="it-IT" sz="5400" dirty="0" err="1">
                <a:solidFill>
                  <a:srgbClr val="822433"/>
                </a:solidFill>
              </a:rPr>
              <a:t>Synthetic</a:t>
            </a:r>
            <a:r>
              <a:rPr lang="it-IT" sz="5400" dirty="0">
                <a:solidFill>
                  <a:srgbClr val="822433"/>
                </a:solidFill>
              </a:rPr>
              <a:t> Dataset Generation</a:t>
            </a:r>
          </a:p>
        </p:txBody>
      </p:sp>
      <p:sp>
        <p:nvSpPr>
          <p:cNvPr id="3" name="Segnaposto testo 2">
            <a:extLst>
              <a:ext uri="{FF2B5EF4-FFF2-40B4-BE49-F238E27FC236}">
                <a16:creationId xmlns:a16="http://schemas.microsoft.com/office/drawing/2014/main" id="{1F097CE2-62C2-7482-DA69-541CE1388B8A}"/>
              </a:ext>
            </a:extLst>
          </p:cNvPr>
          <p:cNvSpPr>
            <a:spLocks noGrp="1"/>
          </p:cNvSpPr>
          <p:nvPr>
            <p:ph type="body" idx="1"/>
          </p:nvPr>
        </p:nvSpPr>
        <p:spPr>
          <a:xfrm>
            <a:off x="844550" y="2968740"/>
            <a:ext cx="10515600" cy="920520"/>
          </a:xfrm>
        </p:spPr>
        <p:txBody>
          <a:bodyPr/>
          <a:lstStyle/>
          <a:p>
            <a:r>
              <a:rPr lang="it-IT" dirty="0" err="1"/>
              <a:t>Introduction</a:t>
            </a:r>
            <a:br>
              <a:rPr lang="it-IT" dirty="0"/>
            </a:br>
            <a:r>
              <a:rPr lang="it-IT" dirty="0" err="1">
                <a:solidFill>
                  <a:schemeClr val="bg1">
                    <a:lumMod val="50000"/>
                  </a:schemeClr>
                </a:solidFill>
              </a:rPr>
              <a:t>Lightweight</a:t>
            </a:r>
            <a:r>
              <a:rPr lang="it-IT" dirty="0">
                <a:solidFill>
                  <a:schemeClr val="bg1">
                    <a:lumMod val="50000"/>
                  </a:schemeClr>
                </a:solidFill>
              </a:rPr>
              <a:t> Scene </a:t>
            </a:r>
            <a:r>
              <a:rPr lang="it-IT" dirty="0" err="1">
                <a:solidFill>
                  <a:schemeClr val="bg1">
                    <a:lumMod val="50000"/>
                  </a:schemeClr>
                </a:solidFill>
              </a:rPr>
              <a:t>Understanding</a:t>
            </a:r>
            <a:endParaRPr lang="it-IT" dirty="0">
              <a:solidFill>
                <a:schemeClr val="bg1">
                  <a:lumMod val="50000"/>
                </a:schemeClr>
              </a:solidFill>
            </a:endParaRPr>
          </a:p>
        </p:txBody>
      </p:sp>
      <p:sp>
        <p:nvSpPr>
          <p:cNvPr id="4" name="Google Shape;102;p14">
            <a:extLst>
              <a:ext uri="{FF2B5EF4-FFF2-40B4-BE49-F238E27FC236}">
                <a16:creationId xmlns:a16="http://schemas.microsoft.com/office/drawing/2014/main" id="{FE8401AB-8BDF-C7D0-201F-A40255D162A4}"/>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11</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9BD8D4ED-5213-8DBD-F4D2-272CBA1006BA}"/>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8" name="Segnaposto testo 2">
            <a:extLst>
              <a:ext uri="{FF2B5EF4-FFF2-40B4-BE49-F238E27FC236}">
                <a16:creationId xmlns:a16="http://schemas.microsoft.com/office/drawing/2014/main" id="{724A29BA-4CB0-A2B7-BD16-921F2DB6D402}"/>
              </a:ext>
            </a:extLst>
          </p:cNvPr>
          <p:cNvSpPr txBox="1">
            <a:spLocks/>
          </p:cNvSpPr>
          <p:nvPr/>
        </p:nvSpPr>
        <p:spPr>
          <a:xfrm>
            <a:off x="844550" y="4562475"/>
            <a:ext cx="10515600" cy="154400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8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dirty="0"/>
              <a:t>Synthetic Damage Inspection</a:t>
            </a:r>
            <a:br>
              <a:rPr lang="en-US" dirty="0"/>
            </a:br>
            <a:r>
              <a:rPr lang="en-US" dirty="0"/>
              <a:t>Results</a:t>
            </a:r>
            <a:br>
              <a:rPr lang="en-US" dirty="0"/>
            </a:br>
            <a:r>
              <a:rPr lang="en-US" dirty="0"/>
              <a:t>Conclusions</a:t>
            </a:r>
            <a:endParaRPr lang="it-IT" dirty="0"/>
          </a:p>
        </p:txBody>
      </p:sp>
    </p:spTree>
    <p:extLst>
      <p:ext uri="{BB962C8B-B14F-4D97-AF65-F5344CB8AC3E}">
        <p14:creationId xmlns:p14="http://schemas.microsoft.com/office/powerpoint/2010/main" val="3276510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C9132F-3D6A-E774-458D-4DF1F3BFF3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3BDF087-0FFC-462A-2244-85E7C89FEDAB}"/>
              </a:ext>
            </a:extLst>
          </p:cNvPr>
          <p:cNvSpPr>
            <a:spLocks noGrp="1"/>
          </p:cNvSpPr>
          <p:nvPr>
            <p:ph type="title"/>
          </p:nvPr>
        </p:nvSpPr>
        <p:spPr>
          <a:xfrm>
            <a:off x="838200" y="365125"/>
            <a:ext cx="8384177" cy="835787"/>
          </a:xfrm>
        </p:spPr>
        <p:txBody>
          <a:bodyPr/>
          <a:lstStyle/>
          <a:p>
            <a:r>
              <a:rPr lang="en-US" noProof="0" dirty="0">
                <a:solidFill>
                  <a:srgbClr val="822433"/>
                </a:solidFill>
              </a:rPr>
              <a:t>Design Requirements</a:t>
            </a:r>
          </a:p>
        </p:txBody>
      </p:sp>
      <p:sp>
        <p:nvSpPr>
          <p:cNvPr id="4" name="Google Shape;102;p14">
            <a:extLst>
              <a:ext uri="{FF2B5EF4-FFF2-40B4-BE49-F238E27FC236}">
                <a16:creationId xmlns:a16="http://schemas.microsoft.com/office/drawing/2014/main" id="{35F5CFE7-CBCB-E20C-A36B-49AB1798BD2F}"/>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12</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1FF09CC6-77B6-F436-740B-C1A896A41566}"/>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6" name="Segnaposto contenuto 5">
            <a:extLst>
              <a:ext uri="{FF2B5EF4-FFF2-40B4-BE49-F238E27FC236}">
                <a16:creationId xmlns:a16="http://schemas.microsoft.com/office/drawing/2014/main" id="{7D764894-6FF9-6CDB-0D56-C02EFB4D66D5}"/>
              </a:ext>
            </a:extLst>
          </p:cNvPr>
          <p:cNvSpPr>
            <a:spLocks noGrp="1"/>
          </p:cNvSpPr>
          <p:nvPr>
            <p:ph idx="1"/>
          </p:nvPr>
        </p:nvSpPr>
        <p:spPr>
          <a:xfrm>
            <a:off x="838200" y="2053122"/>
            <a:ext cx="10515600" cy="4351338"/>
          </a:xfrm>
        </p:spPr>
        <p:txBody>
          <a:bodyPr/>
          <a:lstStyle/>
          <a:p>
            <a:r>
              <a:rPr lang="it-IT" dirty="0"/>
              <a:t>Target Rover: </a:t>
            </a:r>
            <a:r>
              <a:rPr lang="it-IT" dirty="0">
                <a:solidFill>
                  <a:srgbClr val="822433"/>
                </a:solidFill>
              </a:rPr>
              <a:t>Curiosity</a:t>
            </a:r>
          </a:p>
          <a:p>
            <a:r>
              <a:rPr lang="it-IT" b="1" u="sng" dirty="0">
                <a:solidFill>
                  <a:srgbClr val="822433"/>
                </a:solidFill>
              </a:rPr>
              <a:t>1</a:t>
            </a:r>
            <a:r>
              <a:rPr lang="it-IT" sz="3600" b="1" dirty="0">
                <a:solidFill>
                  <a:srgbClr val="822433"/>
                </a:solidFill>
              </a:rPr>
              <a:t> </a:t>
            </a:r>
            <a:r>
              <a:rPr lang="it-IT" dirty="0" err="1"/>
              <a:t>anomaly</a:t>
            </a:r>
            <a:r>
              <a:rPr lang="it-IT" dirty="0"/>
              <a:t> class: </a:t>
            </a:r>
            <a:r>
              <a:rPr lang="it-IT" dirty="0" err="1"/>
              <a:t>wheel</a:t>
            </a:r>
            <a:r>
              <a:rPr lang="it-IT" dirty="0"/>
              <a:t> </a:t>
            </a:r>
            <a:r>
              <a:rPr lang="it-IT" dirty="0" err="1"/>
              <a:t>perforations</a:t>
            </a:r>
            <a:endParaRPr lang="it-IT" dirty="0"/>
          </a:p>
          <a:p>
            <a:r>
              <a:rPr lang="it-IT" dirty="0"/>
              <a:t>Training </a:t>
            </a:r>
            <a:r>
              <a:rPr lang="it-IT" dirty="0" err="1">
                <a:solidFill>
                  <a:srgbClr val="822433"/>
                </a:solidFill>
              </a:rPr>
              <a:t>normal-only</a:t>
            </a:r>
            <a:endParaRPr lang="it-IT" dirty="0">
              <a:solidFill>
                <a:srgbClr val="822433"/>
              </a:solidFill>
            </a:endParaRPr>
          </a:p>
          <a:p>
            <a:r>
              <a:rPr lang="it-IT" dirty="0">
                <a:solidFill>
                  <a:srgbClr val="822433"/>
                </a:solidFill>
              </a:rPr>
              <a:t>Domain </a:t>
            </a:r>
            <a:r>
              <a:rPr lang="it-IT" dirty="0" err="1">
                <a:solidFill>
                  <a:srgbClr val="822433"/>
                </a:solidFill>
              </a:rPr>
              <a:t>randomization</a:t>
            </a:r>
            <a:r>
              <a:rPr lang="it-IT" dirty="0">
                <a:solidFill>
                  <a:srgbClr val="822433"/>
                </a:solidFill>
              </a:rPr>
              <a:t> </a:t>
            </a:r>
            <a:r>
              <a:rPr lang="it-IT" dirty="0"/>
              <a:t>to </a:t>
            </a:r>
            <a:r>
              <a:rPr lang="it-IT" dirty="0" err="1"/>
              <a:t>prevent</a:t>
            </a:r>
            <a:r>
              <a:rPr lang="it-IT" dirty="0"/>
              <a:t> </a:t>
            </a:r>
            <a:r>
              <a:rPr lang="it-IT" dirty="0" err="1"/>
              <a:t>overfitting</a:t>
            </a:r>
            <a:endParaRPr lang="it-IT" dirty="0"/>
          </a:p>
          <a:p>
            <a:r>
              <a:rPr lang="it-IT" dirty="0">
                <a:solidFill>
                  <a:srgbClr val="822433"/>
                </a:solidFill>
              </a:rPr>
              <a:t>Pilot</a:t>
            </a:r>
            <a:r>
              <a:rPr lang="it-IT" dirty="0"/>
              <a:t> study</a:t>
            </a:r>
          </a:p>
        </p:txBody>
      </p:sp>
      <p:pic>
        <p:nvPicPr>
          <p:cNvPr id="8" name="Immagine 7" descr="NASA PNG Image">
            <a:extLst>
              <a:ext uri="{FF2B5EF4-FFF2-40B4-BE49-F238E27FC236}">
                <a16:creationId xmlns:a16="http://schemas.microsoft.com/office/drawing/2014/main" id="{2A6F564C-90FC-5442-BB5F-F87BCF43EE8A}"/>
              </a:ext>
            </a:extLst>
          </p:cNvPr>
          <p:cNvPicPr>
            <a:picLocks noChangeAspect="1"/>
          </p:cNvPicPr>
          <p:nvPr/>
        </p:nvPicPr>
        <p:blipFill>
          <a:blip r:embed="rId3"/>
          <a:stretch>
            <a:fillRect/>
          </a:stretch>
        </p:blipFill>
        <p:spPr>
          <a:xfrm rot="21050343">
            <a:off x="8783271" y="3128055"/>
            <a:ext cx="1067616" cy="907473"/>
          </a:xfrm>
          <a:prstGeom prst="rect">
            <a:avLst/>
          </a:prstGeom>
        </p:spPr>
      </p:pic>
      <p:pic>
        <p:nvPicPr>
          <p:cNvPr id="10" name="Immagine 9" descr="Blender Logo PNG Images Transparent Free Download">
            <a:extLst>
              <a:ext uri="{FF2B5EF4-FFF2-40B4-BE49-F238E27FC236}">
                <a16:creationId xmlns:a16="http://schemas.microsoft.com/office/drawing/2014/main" id="{9AAA2D60-D946-F0AC-4FA1-3E44811C04E9}"/>
              </a:ext>
            </a:extLst>
          </p:cNvPr>
          <p:cNvPicPr>
            <a:picLocks noChangeAspect="1"/>
          </p:cNvPicPr>
          <p:nvPr/>
        </p:nvPicPr>
        <p:blipFill>
          <a:blip r:embed="rId4"/>
          <a:stretch>
            <a:fillRect/>
          </a:stretch>
        </p:blipFill>
        <p:spPr>
          <a:xfrm rot="944221">
            <a:off x="9957495" y="3236881"/>
            <a:ext cx="1087584" cy="889100"/>
          </a:xfrm>
          <a:prstGeom prst="rect">
            <a:avLst/>
          </a:prstGeom>
        </p:spPr>
      </p:pic>
      <p:pic>
        <p:nvPicPr>
          <p:cNvPr id="11" name="Immagine 10" descr="Download Mars 2020 Rover - Mars Curiosity Rover Transparent - Full Size ...">
            <a:extLst>
              <a:ext uri="{FF2B5EF4-FFF2-40B4-BE49-F238E27FC236}">
                <a16:creationId xmlns:a16="http://schemas.microsoft.com/office/drawing/2014/main" id="{8E83AFDA-685F-DCF9-090A-CE79E623900B}"/>
              </a:ext>
            </a:extLst>
          </p:cNvPr>
          <p:cNvPicPr>
            <a:picLocks noChangeAspect="1"/>
          </p:cNvPicPr>
          <p:nvPr/>
        </p:nvPicPr>
        <p:blipFill>
          <a:blip r:embed="rId5"/>
          <a:stretch>
            <a:fillRect/>
          </a:stretch>
        </p:blipFill>
        <p:spPr>
          <a:xfrm>
            <a:off x="8776854" y="3818175"/>
            <a:ext cx="2043546" cy="1076446"/>
          </a:xfrm>
          <a:prstGeom prst="rect">
            <a:avLst/>
          </a:prstGeom>
        </p:spPr>
      </p:pic>
    </p:spTree>
    <p:extLst>
      <p:ext uri="{BB962C8B-B14F-4D97-AF65-F5344CB8AC3E}">
        <p14:creationId xmlns:p14="http://schemas.microsoft.com/office/powerpoint/2010/main" val="2887545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47C44-8558-93D8-2F7C-66168671E90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DBEF219-9FB1-D74B-788C-EDAE6421A376}"/>
              </a:ext>
            </a:extLst>
          </p:cNvPr>
          <p:cNvSpPr>
            <a:spLocks noGrp="1"/>
          </p:cNvSpPr>
          <p:nvPr>
            <p:ph type="title"/>
          </p:nvPr>
        </p:nvSpPr>
        <p:spPr>
          <a:xfrm>
            <a:off x="838200" y="365125"/>
            <a:ext cx="8384177" cy="835787"/>
          </a:xfrm>
        </p:spPr>
        <p:txBody>
          <a:bodyPr/>
          <a:lstStyle/>
          <a:p>
            <a:r>
              <a:rPr lang="en-US" noProof="0" dirty="0">
                <a:solidFill>
                  <a:srgbClr val="822433"/>
                </a:solidFill>
              </a:rPr>
              <a:t>Blender Scene</a:t>
            </a:r>
          </a:p>
        </p:txBody>
      </p:sp>
      <p:sp>
        <p:nvSpPr>
          <p:cNvPr id="4" name="Google Shape;102;p14">
            <a:extLst>
              <a:ext uri="{FF2B5EF4-FFF2-40B4-BE49-F238E27FC236}">
                <a16:creationId xmlns:a16="http://schemas.microsoft.com/office/drawing/2014/main" id="{A1F79FAC-68C4-89F7-07F1-EFD308CEC47E}"/>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13</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80ABAD18-070C-BCA4-1F33-EB2F21F76922}"/>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source-citations">
            <a:extLst>
              <a:ext uri="{FF2B5EF4-FFF2-40B4-BE49-F238E27FC236}">
                <a16:creationId xmlns:a16="http://schemas.microsoft.com/office/drawing/2014/main" id="{09837E98-4A42-EA03-9AD8-58309A1247B7}"/>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[12] [13]</a:t>
            </a:r>
          </a:p>
        </p:txBody>
      </p:sp>
      <p:pic>
        <p:nvPicPr>
          <p:cNvPr id="10" name="Immagine 9">
            <a:extLst>
              <a:ext uri="{FF2B5EF4-FFF2-40B4-BE49-F238E27FC236}">
                <a16:creationId xmlns:a16="http://schemas.microsoft.com/office/drawing/2014/main" id="{8EDCBB45-C010-1E14-DABB-34F69BE94EC6}"/>
              </a:ext>
            </a:extLst>
          </p:cNvPr>
          <p:cNvPicPr>
            <a:picLocks noChangeAspect="1"/>
          </p:cNvPicPr>
          <p:nvPr/>
        </p:nvPicPr>
        <p:blipFill>
          <a:blip r:embed="rId3"/>
          <a:stretch/>
        </p:blipFill>
        <p:spPr>
          <a:xfrm>
            <a:off x="1390650" y="1476375"/>
            <a:ext cx="5791200" cy="4343400"/>
          </a:xfrm>
          <a:prstGeom prst="rect">
            <a:avLst/>
          </a:prstGeom>
          <a:effectLst>
            <a:outerShdw blurRad="50800" dist="38100" dir="2700000" algn="tl" rotWithShape="0">
              <a:prstClr val="black">
                <a:alpha val="40000"/>
              </a:prstClr>
            </a:outerShdw>
          </a:effectLst>
        </p:spPr>
      </p:pic>
      <p:sp>
        <p:nvSpPr>
          <p:cNvPr id="12" name="nasa-asset">
            <a:extLst>
              <a:ext uri="{FF2B5EF4-FFF2-40B4-BE49-F238E27FC236}">
                <a16:creationId xmlns:a16="http://schemas.microsoft.com/office/drawing/2014/main" id="{A3FE5B3F-4BB9-8B59-7340-0D1D3A088244}"/>
              </a:ext>
            </a:extLst>
          </p:cNvPr>
          <p:cNvSpPr>
            <a:spLocks noGrp="1"/>
          </p:cNvSpPr>
          <p:nvPr/>
        </p:nvSpPr>
        <p:spPr>
          <a:xfrm>
            <a:off x="7787987" y="2282536"/>
            <a:ext cx="3333750" cy="396240"/>
          </a:xfrm>
          <a:prstGeom prst="rect">
            <a:avLst/>
          </a:prstGeom>
          <a:noFill/>
          <a:ln w="0">
            <a:noFill/>
          </a:ln>
          <a:effectLst/>
        </p:spPr>
        <p:txBody>
          <a:bodyPr wrap="square" lIns="0" tIns="0" rIns="0" bIns="0" anchor="t">
            <a:noAutofit/>
          </a:bodyPr>
          <a:lstStyle>
            <a:defPPr algn="ctr">
              <a:defRPr lang="en-US" sz="2175" b="1">
                <a:solidFill>
                  <a:srgbClr val="822433"/>
                </a:solidFill>
                <a:latin typeface="Roboto"/>
                <a:ea typeface="Roboto"/>
                <a:cs typeface="Roboto"/>
              </a:defRPr>
            </a:defPPr>
            <a:lvl1pPr algn="ctr">
              <a:defRPr lang="en-US" sz="2175" b="1">
                <a:solidFill>
                  <a:srgbClr val="822433"/>
                </a:solidFill>
                <a:latin typeface="Roboto"/>
                <a:ea typeface="Roboto"/>
                <a:cs typeface="Roboto"/>
              </a:defRPr>
            </a:lvl1pPr>
            <a:lvl2pPr algn="ctr">
              <a:defRPr lang="en-US" sz="2175" b="1">
                <a:solidFill>
                  <a:srgbClr val="822433"/>
                </a:solidFill>
                <a:latin typeface="Roboto"/>
                <a:ea typeface="Roboto"/>
                <a:cs typeface="Roboto"/>
              </a:defRPr>
            </a:lvl2pPr>
            <a:lvl3pPr algn="ctr">
              <a:defRPr lang="en-US" sz="2175" b="1">
                <a:solidFill>
                  <a:srgbClr val="822433"/>
                </a:solidFill>
                <a:latin typeface="Roboto"/>
                <a:ea typeface="Roboto"/>
                <a:cs typeface="Roboto"/>
              </a:defRPr>
            </a:lvl3pPr>
            <a:lvl4pPr algn="ctr">
              <a:defRPr lang="en-US" sz="2175" b="1">
                <a:solidFill>
                  <a:srgbClr val="822433"/>
                </a:solidFill>
                <a:latin typeface="Roboto"/>
                <a:ea typeface="Roboto"/>
                <a:cs typeface="Roboto"/>
              </a:defRPr>
            </a:lvl4pPr>
            <a:lvl5pPr algn="ctr">
              <a:defRPr lang="en-US" sz="2175" b="1">
                <a:solidFill>
                  <a:srgbClr val="822433"/>
                </a:solidFill>
                <a:latin typeface="Roboto"/>
                <a:ea typeface="Roboto"/>
                <a:cs typeface="Roboto"/>
              </a:defRPr>
            </a:lvl5pPr>
            <a:lvl6pPr algn="ctr">
              <a:defRPr lang="en-US" sz="2175" b="1">
                <a:solidFill>
                  <a:srgbClr val="822433"/>
                </a:solidFill>
                <a:latin typeface="Roboto"/>
                <a:ea typeface="Roboto"/>
                <a:cs typeface="Roboto"/>
              </a:defRPr>
            </a:lvl6pPr>
            <a:lvl7pPr algn="ctr">
              <a:defRPr lang="en-US" sz="2175" b="1">
                <a:solidFill>
                  <a:srgbClr val="822433"/>
                </a:solidFill>
                <a:latin typeface="Roboto"/>
                <a:ea typeface="Roboto"/>
                <a:cs typeface="Roboto"/>
              </a:defRPr>
            </a:lvl7pPr>
            <a:lvl8pPr algn="ctr">
              <a:defRPr lang="en-US" sz="2175" b="1">
                <a:solidFill>
                  <a:srgbClr val="822433"/>
                </a:solidFill>
                <a:latin typeface="Roboto"/>
                <a:ea typeface="Roboto"/>
                <a:cs typeface="Roboto"/>
              </a:defRPr>
            </a:lvl8pPr>
            <a:lvl9pPr algn="ctr">
              <a:defRPr lang="en-US" sz="2175" b="1">
                <a:solidFill>
                  <a:srgbClr val="822433"/>
                </a:solidFill>
                <a:latin typeface="Roboto"/>
                <a:ea typeface="Roboto"/>
                <a:cs typeface="Roboto"/>
              </a:defRPr>
            </a:lvl9pPr>
          </a:lstStyle>
          <a:p>
            <a:pPr algn="ctr">
              <a:defRPr lang="en-US" sz="2175" b="1">
                <a:solidFill>
                  <a:srgbClr val="822433"/>
                </a:solidFill>
                <a:latin typeface="Roboto"/>
                <a:ea typeface="Roboto"/>
                <a:cs typeface="Roboto"/>
              </a:defRPr>
            </a:pPr>
            <a:r>
              <a:rPr lang="en-US" sz="2175" b="1" dirty="0">
                <a:solidFill>
                  <a:srgbClr val="822433"/>
                </a:solidFill>
                <a:latin typeface="Roboto"/>
                <a:ea typeface="Roboto"/>
                <a:cs typeface="Roboto"/>
              </a:rPr>
              <a:t>NASA </a:t>
            </a:r>
            <a:r>
              <a:rPr lang="en-US" sz="2175" b="1" dirty="0">
                <a:solidFill>
                  <a:schemeClr val="tx1"/>
                </a:solidFill>
                <a:latin typeface="Roboto"/>
                <a:ea typeface="Roboto"/>
                <a:cs typeface="Roboto"/>
              </a:rPr>
              <a:t>Curiosity asset</a:t>
            </a:r>
          </a:p>
        </p:txBody>
      </p:sp>
      <p:sp>
        <p:nvSpPr>
          <p:cNvPr id="14" name="nasa-asset">
            <a:extLst>
              <a:ext uri="{FF2B5EF4-FFF2-40B4-BE49-F238E27FC236}">
                <a16:creationId xmlns:a16="http://schemas.microsoft.com/office/drawing/2014/main" id="{A88FC7D0-0AB6-E6B2-655D-717732940BF3}"/>
              </a:ext>
            </a:extLst>
          </p:cNvPr>
          <p:cNvSpPr>
            <a:spLocks noGrp="1"/>
          </p:cNvSpPr>
          <p:nvPr/>
        </p:nvSpPr>
        <p:spPr>
          <a:xfrm>
            <a:off x="7787987" y="3179726"/>
            <a:ext cx="3333750" cy="396240"/>
          </a:xfrm>
          <a:prstGeom prst="rect">
            <a:avLst/>
          </a:prstGeom>
          <a:noFill/>
          <a:ln w="0">
            <a:noFill/>
          </a:ln>
          <a:effectLst/>
        </p:spPr>
        <p:txBody>
          <a:bodyPr wrap="square" lIns="0" tIns="0" rIns="0" bIns="0" anchor="t">
            <a:noAutofit/>
          </a:bodyPr>
          <a:lstStyle>
            <a:defPPr algn="ctr">
              <a:defRPr lang="en-US" sz="2175" b="1">
                <a:solidFill>
                  <a:srgbClr val="822433"/>
                </a:solidFill>
                <a:latin typeface="Roboto"/>
                <a:ea typeface="Roboto"/>
                <a:cs typeface="Roboto"/>
              </a:defRPr>
            </a:defPPr>
            <a:lvl1pPr algn="ctr">
              <a:defRPr lang="en-US" sz="2175" b="1">
                <a:solidFill>
                  <a:srgbClr val="822433"/>
                </a:solidFill>
                <a:latin typeface="Roboto"/>
                <a:ea typeface="Roboto"/>
                <a:cs typeface="Roboto"/>
              </a:defRPr>
            </a:lvl1pPr>
            <a:lvl2pPr algn="ctr">
              <a:defRPr lang="en-US" sz="2175" b="1">
                <a:solidFill>
                  <a:srgbClr val="822433"/>
                </a:solidFill>
                <a:latin typeface="Roboto"/>
                <a:ea typeface="Roboto"/>
                <a:cs typeface="Roboto"/>
              </a:defRPr>
            </a:lvl2pPr>
            <a:lvl3pPr algn="ctr">
              <a:defRPr lang="en-US" sz="2175" b="1">
                <a:solidFill>
                  <a:srgbClr val="822433"/>
                </a:solidFill>
                <a:latin typeface="Roboto"/>
                <a:ea typeface="Roboto"/>
                <a:cs typeface="Roboto"/>
              </a:defRPr>
            </a:lvl3pPr>
            <a:lvl4pPr algn="ctr">
              <a:defRPr lang="en-US" sz="2175" b="1">
                <a:solidFill>
                  <a:srgbClr val="822433"/>
                </a:solidFill>
                <a:latin typeface="Roboto"/>
                <a:ea typeface="Roboto"/>
                <a:cs typeface="Roboto"/>
              </a:defRPr>
            </a:lvl4pPr>
            <a:lvl5pPr algn="ctr">
              <a:defRPr lang="en-US" sz="2175" b="1">
                <a:solidFill>
                  <a:srgbClr val="822433"/>
                </a:solidFill>
                <a:latin typeface="Roboto"/>
                <a:ea typeface="Roboto"/>
                <a:cs typeface="Roboto"/>
              </a:defRPr>
            </a:lvl5pPr>
            <a:lvl6pPr algn="ctr">
              <a:defRPr lang="en-US" sz="2175" b="1">
                <a:solidFill>
                  <a:srgbClr val="822433"/>
                </a:solidFill>
                <a:latin typeface="Roboto"/>
                <a:ea typeface="Roboto"/>
                <a:cs typeface="Roboto"/>
              </a:defRPr>
            </a:lvl6pPr>
            <a:lvl7pPr algn="ctr">
              <a:defRPr lang="en-US" sz="2175" b="1">
                <a:solidFill>
                  <a:srgbClr val="822433"/>
                </a:solidFill>
                <a:latin typeface="Roboto"/>
                <a:ea typeface="Roboto"/>
                <a:cs typeface="Roboto"/>
              </a:defRPr>
            </a:lvl7pPr>
            <a:lvl8pPr algn="ctr">
              <a:defRPr lang="en-US" sz="2175" b="1">
                <a:solidFill>
                  <a:srgbClr val="822433"/>
                </a:solidFill>
                <a:latin typeface="Roboto"/>
                <a:ea typeface="Roboto"/>
                <a:cs typeface="Roboto"/>
              </a:defRPr>
            </a:lvl8pPr>
            <a:lvl9pPr algn="ctr">
              <a:defRPr lang="en-US" sz="2175" b="1">
                <a:solidFill>
                  <a:srgbClr val="822433"/>
                </a:solidFill>
                <a:latin typeface="Roboto"/>
                <a:ea typeface="Roboto"/>
                <a:cs typeface="Roboto"/>
              </a:defRPr>
            </a:lvl9pPr>
          </a:lstStyle>
          <a:p>
            <a:pPr algn="ctr">
              <a:defRPr lang="en-US" sz="2175" b="1">
                <a:solidFill>
                  <a:srgbClr val="822433"/>
                </a:solidFill>
                <a:latin typeface="Roboto"/>
                <a:ea typeface="Roboto"/>
                <a:cs typeface="Roboto"/>
              </a:defRPr>
            </a:pPr>
            <a:r>
              <a:rPr lang="en-US" sz="2175" b="1" dirty="0">
                <a:solidFill>
                  <a:srgbClr val="822433"/>
                </a:solidFill>
                <a:latin typeface="Roboto"/>
                <a:ea typeface="Roboto"/>
                <a:cs typeface="Roboto"/>
              </a:rPr>
              <a:t>Gale Crater </a:t>
            </a:r>
            <a:r>
              <a:rPr lang="en-US" sz="2175" b="1" dirty="0">
                <a:solidFill>
                  <a:schemeClr val="tx1"/>
                </a:solidFill>
                <a:latin typeface="Roboto"/>
                <a:ea typeface="Roboto"/>
                <a:cs typeface="Roboto"/>
              </a:rPr>
              <a:t>terrain (HiRISE)</a:t>
            </a:r>
          </a:p>
        </p:txBody>
      </p:sp>
      <p:sp>
        <p:nvSpPr>
          <p:cNvPr id="16" name="nasa-asset">
            <a:extLst>
              <a:ext uri="{FF2B5EF4-FFF2-40B4-BE49-F238E27FC236}">
                <a16:creationId xmlns:a16="http://schemas.microsoft.com/office/drawing/2014/main" id="{62823DE0-D3AD-66FA-7C79-475E9C6ABA82}"/>
              </a:ext>
            </a:extLst>
          </p:cNvPr>
          <p:cNvSpPr>
            <a:spLocks noGrp="1"/>
          </p:cNvSpPr>
          <p:nvPr/>
        </p:nvSpPr>
        <p:spPr>
          <a:xfrm>
            <a:off x="7787987" y="4076916"/>
            <a:ext cx="3333750" cy="668266"/>
          </a:xfrm>
          <a:prstGeom prst="rect">
            <a:avLst/>
          </a:prstGeom>
          <a:noFill/>
          <a:ln w="0">
            <a:noFill/>
          </a:ln>
          <a:effectLst/>
        </p:spPr>
        <p:txBody>
          <a:bodyPr wrap="square" lIns="0" tIns="0" rIns="0" bIns="0" anchor="t">
            <a:noAutofit/>
          </a:bodyPr>
          <a:lstStyle>
            <a:defPPr algn="ctr">
              <a:defRPr lang="en-US" sz="2175" b="1">
                <a:solidFill>
                  <a:srgbClr val="822433"/>
                </a:solidFill>
                <a:latin typeface="Roboto"/>
                <a:ea typeface="Roboto"/>
                <a:cs typeface="Roboto"/>
              </a:defRPr>
            </a:defPPr>
            <a:lvl1pPr algn="ctr">
              <a:defRPr lang="en-US" sz="2175" b="1">
                <a:solidFill>
                  <a:srgbClr val="822433"/>
                </a:solidFill>
                <a:latin typeface="Roboto"/>
                <a:ea typeface="Roboto"/>
                <a:cs typeface="Roboto"/>
              </a:defRPr>
            </a:lvl1pPr>
            <a:lvl2pPr algn="ctr">
              <a:defRPr lang="en-US" sz="2175" b="1">
                <a:solidFill>
                  <a:srgbClr val="822433"/>
                </a:solidFill>
                <a:latin typeface="Roboto"/>
                <a:ea typeface="Roboto"/>
                <a:cs typeface="Roboto"/>
              </a:defRPr>
            </a:lvl2pPr>
            <a:lvl3pPr algn="ctr">
              <a:defRPr lang="en-US" sz="2175" b="1">
                <a:solidFill>
                  <a:srgbClr val="822433"/>
                </a:solidFill>
                <a:latin typeface="Roboto"/>
                <a:ea typeface="Roboto"/>
                <a:cs typeface="Roboto"/>
              </a:defRPr>
            </a:lvl3pPr>
            <a:lvl4pPr algn="ctr">
              <a:defRPr lang="en-US" sz="2175" b="1">
                <a:solidFill>
                  <a:srgbClr val="822433"/>
                </a:solidFill>
                <a:latin typeface="Roboto"/>
                <a:ea typeface="Roboto"/>
                <a:cs typeface="Roboto"/>
              </a:defRPr>
            </a:lvl4pPr>
            <a:lvl5pPr algn="ctr">
              <a:defRPr lang="en-US" sz="2175" b="1">
                <a:solidFill>
                  <a:srgbClr val="822433"/>
                </a:solidFill>
                <a:latin typeface="Roboto"/>
                <a:ea typeface="Roboto"/>
                <a:cs typeface="Roboto"/>
              </a:defRPr>
            </a:lvl5pPr>
            <a:lvl6pPr algn="ctr">
              <a:defRPr lang="en-US" sz="2175" b="1">
                <a:solidFill>
                  <a:srgbClr val="822433"/>
                </a:solidFill>
                <a:latin typeface="Roboto"/>
                <a:ea typeface="Roboto"/>
                <a:cs typeface="Roboto"/>
              </a:defRPr>
            </a:lvl6pPr>
            <a:lvl7pPr algn="ctr">
              <a:defRPr lang="en-US" sz="2175" b="1">
                <a:solidFill>
                  <a:srgbClr val="822433"/>
                </a:solidFill>
                <a:latin typeface="Roboto"/>
                <a:ea typeface="Roboto"/>
                <a:cs typeface="Roboto"/>
              </a:defRPr>
            </a:lvl7pPr>
            <a:lvl8pPr algn="ctr">
              <a:defRPr lang="en-US" sz="2175" b="1">
                <a:solidFill>
                  <a:srgbClr val="822433"/>
                </a:solidFill>
                <a:latin typeface="Roboto"/>
                <a:ea typeface="Roboto"/>
                <a:cs typeface="Roboto"/>
              </a:defRPr>
            </a:lvl8pPr>
            <a:lvl9pPr algn="ctr">
              <a:defRPr lang="en-US" sz="2175" b="1">
                <a:solidFill>
                  <a:srgbClr val="822433"/>
                </a:solidFill>
                <a:latin typeface="Roboto"/>
                <a:ea typeface="Roboto"/>
                <a:cs typeface="Roboto"/>
              </a:defRPr>
            </a:lvl9pPr>
          </a:lstStyle>
          <a:p>
            <a:pPr algn="ctr">
              <a:defRPr lang="en-US" sz="2175" b="1">
                <a:solidFill>
                  <a:srgbClr val="822433"/>
                </a:solidFill>
                <a:latin typeface="Roboto"/>
                <a:ea typeface="Roboto"/>
                <a:cs typeface="Roboto"/>
              </a:defRPr>
            </a:pPr>
            <a:r>
              <a:rPr lang="en-US" sz="2175" b="1" dirty="0">
                <a:solidFill>
                  <a:srgbClr val="822433"/>
                </a:solidFill>
                <a:latin typeface="Roboto"/>
                <a:ea typeface="Roboto"/>
                <a:cs typeface="Roboto"/>
              </a:rPr>
              <a:t>Procedurally generated </a:t>
            </a:r>
            <a:r>
              <a:rPr lang="en-US" sz="2175" b="1" dirty="0">
                <a:solidFill>
                  <a:schemeClr val="tx1"/>
                </a:solidFill>
                <a:latin typeface="Roboto"/>
                <a:ea typeface="Roboto"/>
                <a:cs typeface="Roboto"/>
              </a:rPr>
              <a:t>local terrain details</a:t>
            </a:r>
          </a:p>
        </p:txBody>
      </p:sp>
    </p:spTree>
    <p:extLst>
      <p:ext uri="{BB962C8B-B14F-4D97-AF65-F5344CB8AC3E}">
        <p14:creationId xmlns:p14="http://schemas.microsoft.com/office/powerpoint/2010/main" val="3593933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2EA06-8DED-AFB0-ADDE-C8EF7A6309C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C1BE008-05A5-9AFB-03FE-DB68BF358F21}"/>
              </a:ext>
            </a:extLst>
          </p:cNvPr>
          <p:cNvSpPr>
            <a:spLocks noGrp="1"/>
          </p:cNvSpPr>
          <p:nvPr>
            <p:ph type="title"/>
          </p:nvPr>
        </p:nvSpPr>
        <p:spPr>
          <a:xfrm>
            <a:off x="838200" y="365125"/>
            <a:ext cx="8384177" cy="835787"/>
          </a:xfrm>
        </p:spPr>
        <p:txBody>
          <a:bodyPr/>
          <a:lstStyle/>
          <a:p>
            <a:r>
              <a:rPr lang="en-US" noProof="0" dirty="0">
                <a:solidFill>
                  <a:srgbClr val="822433"/>
                </a:solidFill>
              </a:rPr>
              <a:t>Synthetic Damage</a:t>
            </a:r>
          </a:p>
        </p:txBody>
      </p:sp>
      <p:sp>
        <p:nvSpPr>
          <p:cNvPr id="4" name="Google Shape;102;p14">
            <a:extLst>
              <a:ext uri="{FF2B5EF4-FFF2-40B4-BE49-F238E27FC236}">
                <a16:creationId xmlns:a16="http://schemas.microsoft.com/office/drawing/2014/main" id="{87C39705-A017-E958-C58F-1F8E8151E158}"/>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14</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C268C275-1E3A-6C00-E5E1-DEE86E15F978}"/>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10" name="label-paired-normal.png">
            <a:extLst>
              <a:ext uri="{FF2B5EF4-FFF2-40B4-BE49-F238E27FC236}">
                <a16:creationId xmlns:a16="http://schemas.microsoft.com/office/drawing/2014/main" id="{2B329D36-DA00-AEE9-463E-CD0C89C92564}"/>
              </a:ext>
            </a:extLst>
          </p:cNvPr>
          <p:cNvSpPr>
            <a:spLocks noGrp="1"/>
          </p:cNvSpPr>
          <p:nvPr/>
        </p:nvSpPr>
        <p:spPr>
          <a:xfrm>
            <a:off x="904875" y="1581150"/>
            <a:ext cx="3190875"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lang="it-IT" sz="2025" b="1" dirty="0">
                <a:solidFill>
                  <a:srgbClr val="822433"/>
                </a:solidFill>
                <a:latin typeface="Roboto"/>
                <a:ea typeface="Roboto"/>
                <a:cs typeface="Roboto"/>
              </a:rPr>
              <a:t>Normal</a:t>
            </a:r>
            <a:endParaRPr sz="2025" b="1" dirty="0">
              <a:solidFill>
                <a:srgbClr val="822433"/>
              </a:solidFill>
              <a:latin typeface="Roboto"/>
              <a:ea typeface="Roboto"/>
              <a:cs typeface="Roboto"/>
            </a:endParaRPr>
          </a:p>
        </p:txBody>
      </p:sp>
      <p:pic>
        <p:nvPicPr>
          <p:cNvPr id="12" name="Immagine 11">
            <a:extLst>
              <a:ext uri="{FF2B5EF4-FFF2-40B4-BE49-F238E27FC236}">
                <a16:creationId xmlns:a16="http://schemas.microsoft.com/office/drawing/2014/main" id="{7002725D-0B8E-AD71-78F7-BA71D85E114D}"/>
              </a:ext>
            </a:extLst>
          </p:cNvPr>
          <p:cNvPicPr>
            <a:picLocks noChangeAspect="1"/>
          </p:cNvPicPr>
          <p:nvPr/>
        </p:nvPicPr>
        <p:blipFill>
          <a:blip r:embed="rId3"/>
          <a:stretch/>
        </p:blipFill>
        <p:spPr>
          <a:xfrm>
            <a:off x="904875" y="2270522"/>
            <a:ext cx="3190875" cy="2393156"/>
          </a:xfrm>
          <a:prstGeom prst="rect">
            <a:avLst/>
          </a:prstGeom>
          <a:effectLst>
            <a:outerShdw blurRad="50800" dist="38100" dir="2700000" algn="tl" rotWithShape="0">
              <a:prstClr val="black">
                <a:alpha val="40000"/>
              </a:prstClr>
            </a:outerShdw>
          </a:effectLst>
        </p:spPr>
      </p:pic>
      <p:sp>
        <p:nvSpPr>
          <p:cNvPr id="14" name="label-paired-hole.png">
            <a:extLst>
              <a:ext uri="{FF2B5EF4-FFF2-40B4-BE49-F238E27FC236}">
                <a16:creationId xmlns:a16="http://schemas.microsoft.com/office/drawing/2014/main" id="{D1094802-5BD2-ED2B-253A-A6C22BEBF8EA}"/>
              </a:ext>
            </a:extLst>
          </p:cNvPr>
          <p:cNvSpPr>
            <a:spLocks noGrp="1"/>
          </p:cNvSpPr>
          <p:nvPr/>
        </p:nvSpPr>
        <p:spPr>
          <a:xfrm>
            <a:off x="4362450" y="1581150"/>
            <a:ext cx="3190875"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lang="it-IT" dirty="0" err="1"/>
              <a:t>Damaged</a:t>
            </a:r>
            <a:endParaRPr sz="2025" b="1" dirty="0">
              <a:solidFill>
                <a:srgbClr val="822433"/>
              </a:solidFill>
              <a:latin typeface="Roboto"/>
              <a:ea typeface="Roboto"/>
              <a:cs typeface="Roboto"/>
            </a:endParaRPr>
          </a:p>
        </p:txBody>
      </p:sp>
      <p:pic>
        <p:nvPicPr>
          <p:cNvPr id="16" name="Immagine 15">
            <a:extLst>
              <a:ext uri="{FF2B5EF4-FFF2-40B4-BE49-F238E27FC236}">
                <a16:creationId xmlns:a16="http://schemas.microsoft.com/office/drawing/2014/main" id="{0EC45F1E-5397-0AFB-B887-A4229FDAEFDC}"/>
              </a:ext>
            </a:extLst>
          </p:cNvPr>
          <p:cNvPicPr>
            <a:picLocks noChangeAspect="1"/>
          </p:cNvPicPr>
          <p:nvPr/>
        </p:nvPicPr>
        <p:blipFill>
          <a:blip r:embed="rId4"/>
          <a:stretch/>
        </p:blipFill>
        <p:spPr>
          <a:xfrm>
            <a:off x="4362450" y="2270522"/>
            <a:ext cx="3190875" cy="2393156"/>
          </a:xfrm>
          <a:prstGeom prst="rect">
            <a:avLst/>
          </a:prstGeom>
          <a:effectLst>
            <a:outerShdw blurRad="50800" dist="38100" dir="2700000" algn="tl" rotWithShape="0">
              <a:prstClr val="black">
                <a:alpha val="40000"/>
              </a:prstClr>
            </a:outerShdw>
          </a:effectLst>
        </p:spPr>
      </p:pic>
      <p:sp>
        <p:nvSpPr>
          <p:cNvPr id="18" name="label-paired-hole-mask.png">
            <a:extLst>
              <a:ext uri="{FF2B5EF4-FFF2-40B4-BE49-F238E27FC236}">
                <a16:creationId xmlns:a16="http://schemas.microsoft.com/office/drawing/2014/main" id="{35D45323-43D2-78B7-F103-C1DBBF71D7CF}"/>
              </a:ext>
            </a:extLst>
          </p:cNvPr>
          <p:cNvSpPr>
            <a:spLocks noGrp="1"/>
          </p:cNvSpPr>
          <p:nvPr/>
        </p:nvSpPr>
        <p:spPr>
          <a:xfrm>
            <a:off x="7820025" y="1581150"/>
            <a:ext cx="3190875" cy="381000"/>
          </a:xfrm>
          <a:prstGeom prst="rect">
            <a:avLst/>
          </a:prstGeom>
          <a:noFill/>
          <a:ln w="0">
            <a:noFill/>
          </a:ln>
        </p:spPr>
        <p:txBody>
          <a:bodyPr wrap="square" lIns="0" tIns="0" rIns="0" bIns="0" anchor="t">
            <a:noAutofit/>
          </a:bodyPr>
          <a:lstStyle>
            <a:defPPr algn="ctr">
              <a:defRPr sz="2025" b="1">
                <a:solidFill>
                  <a:srgbClr val="822433"/>
                </a:solidFill>
                <a:latin typeface="Roboto"/>
                <a:ea typeface="Roboto"/>
                <a:cs typeface="Roboto"/>
              </a:defRPr>
            </a:defPPr>
            <a:lvl1pPr algn="ctr">
              <a:defRPr sz="2025" b="1">
                <a:solidFill>
                  <a:srgbClr val="822433"/>
                </a:solidFill>
                <a:latin typeface="Roboto"/>
                <a:ea typeface="Roboto"/>
                <a:cs typeface="Roboto"/>
              </a:defRPr>
            </a:lvl1pPr>
            <a:lvl2pPr algn="ctr">
              <a:defRPr sz="2025" b="1">
                <a:solidFill>
                  <a:srgbClr val="822433"/>
                </a:solidFill>
                <a:latin typeface="Roboto"/>
                <a:ea typeface="Roboto"/>
                <a:cs typeface="Roboto"/>
              </a:defRPr>
            </a:lvl2pPr>
            <a:lvl3pPr algn="ctr">
              <a:defRPr sz="2025" b="1">
                <a:solidFill>
                  <a:srgbClr val="822433"/>
                </a:solidFill>
                <a:latin typeface="Roboto"/>
                <a:ea typeface="Roboto"/>
                <a:cs typeface="Roboto"/>
              </a:defRPr>
            </a:lvl3pPr>
            <a:lvl4pPr algn="ctr">
              <a:defRPr sz="2025" b="1">
                <a:solidFill>
                  <a:srgbClr val="822433"/>
                </a:solidFill>
                <a:latin typeface="Roboto"/>
                <a:ea typeface="Roboto"/>
                <a:cs typeface="Roboto"/>
              </a:defRPr>
            </a:lvl4pPr>
            <a:lvl5pPr algn="ctr">
              <a:defRPr sz="2025" b="1">
                <a:solidFill>
                  <a:srgbClr val="822433"/>
                </a:solidFill>
                <a:latin typeface="Roboto"/>
                <a:ea typeface="Roboto"/>
                <a:cs typeface="Roboto"/>
              </a:defRPr>
            </a:lvl5pPr>
            <a:lvl6pPr algn="ctr">
              <a:defRPr sz="2025" b="1">
                <a:solidFill>
                  <a:srgbClr val="822433"/>
                </a:solidFill>
                <a:latin typeface="Roboto"/>
                <a:ea typeface="Roboto"/>
                <a:cs typeface="Roboto"/>
              </a:defRPr>
            </a:lvl6pPr>
            <a:lvl7pPr algn="ctr">
              <a:defRPr sz="2025" b="1">
                <a:solidFill>
                  <a:srgbClr val="822433"/>
                </a:solidFill>
                <a:latin typeface="Roboto"/>
                <a:ea typeface="Roboto"/>
                <a:cs typeface="Roboto"/>
              </a:defRPr>
            </a:lvl7pPr>
            <a:lvl8pPr algn="ctr">
              <a:defRPr sz="2025" b="1">
                <a:solidFill>
                  <a:srgbClr val="822433"/>
                </a:solidFill>
                <a:latin typeface="Roboto"/>
                <a:ea typeface="Roboto"/>
                <a:cs typeface="Roboto"/>
              </a:defRPr>
            </a:lvl8pPr>
            <a:lvl9pPr algn="ctr">
              <a:defRPr sz="2025" b="1">
                <a:solidFill>
                  <a:srgbClr val="822433"/>
                </a:solidFill>
                <a:latin typeface="Roboto"/>
                <a:ea typeface="Roboto"/>
                <a:cs typeface="Roboto"/>
              </a:defRPr>
            </a:lvl9pPr>
          </a:lstStyle>
          <a:p>
            <a:pPr algn="ctr">
              <a:defRPr sz="2025" b="1">
                <a:solidFill>
                  <a:srgbClr val="822433"/>
                </a:solidFill>
                <a:latin typeface="Roboto"/>
                <a:ea typeface="Roboto"/>
                <a:cs typeface="Roboto"/>
              </a:defRPr>
            </a:pPr>
            <a:r>
              <a:rPr lang="it-IT" sz="2025" b="1" dirty="0" err="1">
                <a:solidFill>
                  <a:srgbClr val="822433"/>
                </a:solidFill>
                <a:latin typeface="Roboto"/>
                <a:ea typeface="Roboto"/>
                <a:cs typeface="Roboto"/>
              </a:rPr>
              <a:t>Damage</a:t>
            </a:r>
            <a:r>
              <a:rPr lang="it-IT" sz="2025" b="1" dirty="0">
                <a:solidFill>
                  <a:srgbClr val="822433"/>
                </a:solidFill>
                <a:latin typeface="Roboto"/>
                <a:ea typeface="Roboto"/>
                <a:cs typeface="Roboto"/>
              </a:rPr>
              <a:t> mask</a:t>
            </a:r>
            <a:endParaRPr sz="2025" b="1" dirty="0">
              <a:solidFill>
                <a:srgbClr val="822433"/>
              </a:solidFill>
              <a:latin typeface="Roboto"/>
              <a:ea typeface="Roboto"/>
              <a:cs typeface="Roboto"/>
            </a:endParaRPr>
          </a:p>
        </p:txBody>
      </p:sp>
      <p:pic>
        <p:nvPicPr>
          <p:cNvPr id="20" name="Immagine 19">
            <a:extLst>
              <a:ext uri="{FF2B5EF4-FFF2-40B4-BE49-F238E27FC236}">
                <a16:creationId xmlns:a16="http://schemas.microsoft.com/office/drawing/2014/main" id="{08B2B7F6-019F-E2BA-849F-4C0EB751C22E}"/>
              </a:ext>
            </a:extLst>
          </p:cNvPr>
          <p:cNvPicPr>
            <a:picLocks noChangeAspect="1"/>
          </p:cNvPicPr>
          <p:nvPr/>
        </p:nvPicPr>
        <p:blipFill>
          <a:blip r:embed="rId5"/>
          <a:stretch/>
        </p:blipFill>
        <p:spPr>
          <a:xfrm>
            <a:off x="7820025" y="2270522"/>
            <a:ext cx="3190875" cy="2393156"/>
          </a:xfrm>
          <a:prstGeom prst="rect">
            <a:avLst/>
          </a:prstGeom>
          <a:effectLst>
            <a:outerShdw blurRad="50800" dist="38100" dir="2700000" algn="tl" rotWithShape="0">
              <a:prstClr val="black">
                <a:alpha val="40000"/>
              </a:prstClr>
            </a:outerShdw>
          </a:effectLst>
        </p:spPr>
      </p:pic>
      <p:sp>
        <p:nvSpPr>
          <p:cNvPr id="22" name="paired-controls">
            <a:extLst>
              <a:ext uri="{FF2B5EF4-FFF2-40B4-BE49-F238E27FC236}">
                <a16:creationId xmlns:a16="http://schemas.microsoft.com/office/drawing/2014/main" id="{61F9908C-9F76-ACE3-2599-E9BD1BD1DA75}"/>
              </a:ext>
            </a:extLst>
          </p:cNvPr>
          <p:cNvSpPr>
            <a:spLocks noGrp="1"/>
          </p:cNvSpPr>
          <p:nvPr/>
        </p:nvSpPr>
        <p:spPr>
          <a:xfrm>
            <a:off x="652895" y="5471822"/>
            <a:ext cx="10886209" cy="457200"/>
          </a:xfrm>
          <a:prstGeom prst="rect">
            <a:avLst/>
          </a:prstGeom>
          <a:noFill/>
          <a:ln w="0">
            <a:noFill/>
          </a:ln>
        </p:spPr>
        <p:txBody>
          <a:bodyPr wrap="square" lIns="0" tIns="0" rIns="0" bIns="0" anchor="t">
            <a:noAutofit/>
          </a:bodyPr>
          <a:lstStyle>
            <a:defPPr algn="ctr">
              <a:defRPr sz="2250" b="0">
                <a:solidFill>
                  <a:srgbClr val="202124"/>
                </a:solidFill>
                <a:latin typeface="Roboto"/>
                <a:ea typeface="Roboto"/>
                <a:cs typeface="Roboto"/>
              </a:defRPr>
            </a:defPPr>
            <a:lvl1pPr algn="ctr">
              <a:defRPr sz="2250" b="0">
                <a:solidFill>
                  <a:srgbClr val="202124"/>
                </a:solidFill>
                <a:latin typeface="Roboto"/>
                <a:ea typeface="Roboto"/>
                <a:cs typeface="Roboto"/>
              </a:defRPr>
            </a:lvl1pPr>
            <a:lvl2pPr algn="ctr">
              <a:defRPr sz="2250" b="0">
                <a:solidFill>
                  <a:srgbClr val="202124"/>
                </a:solidFill>
                <a:latin typeface="Roboto"/>
                <a:ea typeface="Roboto"/>
                <a:cs typeface="Roboto"/>
              </a:defRPr>
            </a:lvl2pPr>
            <a:lvl3pPr algn="ctr">
              <a:defRPr sz="2250" b="0">
                <a:solidFill>
                  <a:srgbClr val="202124"/>
                </a:solidFill>
                <a:latin typeface="Roboto"/>
                <a:ea typeface="Roboto"/>
                <a:cs typeface="Roboto"/>
              </a:defRPr>
            </a:lvl3pPr>
            <a:lvl4pPr algn="ctr">
              <a:defRPr sz="2250" b="0">
                <a:solidFill>
                  <a:srgbClr val="202124"/>
                </a:solidFill>
                <a:latin typeface="Roboto"/>
                <a:ea typeface="Roboto"/>
                <a:cs typeface="Roboto"/>
              </a:defRPr>
            </a:lvl4pPr>
            <a:lvl5pPr algn="ctr">
              <a:defRPr sz="2250" b="0">
                <a:solidFill>
                  <a:srgbClr val="202124"/>
                </a:solidFill>
                <a:latin typeface="Roboto"/>
                <a:ea typeface="Roboto"/>
                <a:cs typeface="Roboto"/>
              </a:defRPr>
            </a:lvl5pPr>
            <a:lvl6pPr algn="ctr">
              <a:defRPr sz="2250" b="0">
                <a:solidFill>
                  <a:srgbClr val="202124"/>
                </a:solidFill>
                <a:latin typeface="Roboto"/>
                <a:ea typeface="Roboto"/>
                <a:cs typeface="Roboto"/>
              </a:defRPr>
            </a:lvl6pPr>
            <a:lvl7pPr algn="ctr">
              <a:defRPr sz="2250" b="0">
                <a:solidFill>
                  <a:srgbClr val="202124"/>
                </a:solidFill>
                <a:latin typeface="Roboto"/>
                <a:ea typeface="Roboto"/>
                <a:cs typeface="Roboto"/>
              </a:defRPr>
            </a:lvl7pPr>
            <a:lvl8pPr algn="ctr">
              <a:defRPr sz="2250" b="0">
                <a:solidFill>
                  <a:srgbClr val="202124"/>
                </a:solidFill>
                <a:latin typeface="Roboto"/>
                <a:ea typeface="Roboto"/>
                <a:cs typeface="Roboto"/>
              </a:defRPr>
            </a:lvl8pPr>
            <a:lvl9pPr algn="ctr">
              <a:defRPr sz="2250" b="0">
                <a:solidFill>
                  <a:srgbClr val="202124"/>
                </a:solidFill>
                <a:latin typeface="Roboto"/>
                <a:ea typeface="Roboto"/>
                <a:cs typeface="Roboto"/>
              </a:defRPr>
            </a:lvl9pPr>
          </a:lstStyle>
          <a:p>
            <a:pPr algn="ctr">
              <a:defRPr sz="2250" b="0">
                <a:solidFill>
                  <a:srgbClr val="202124"/>
                </a:solidFill>
                <a:latin typeface="Roboto"/>
                <a:ea typeface="Roboto"/>
                <a:cs typeface="Roboto"/>
              </a:defRPr>
            </a:pPr>
            <a:r>
              <a:rPr lang="en-US" sz="2000" b="0" dirty="0">
                <a:solidFill>
                  <a:srgbClr val="202124"/>
                </a:solidFill>
                <a:latin typeface="Roboto"/>
                <a:ea typeface="Roboto"/>
                <a:cs typeface="Roboto"/>
              </a:rPr>
              <a:t>Both images in the </a:t>
            </a:r>
            <a:r>
              <a:rPr lang="en-US" sz="2000" b="0" dirty="0">
                <a:solidFill>
                  <a:srgbClr val="822433"/>
                </a:solidFill>
                <a:latin typeface="Roboto"/>
                <a:ea typeface="Roboto"/>
                <a:cs typeface="Roboto"/>
              </a:rPr>
              <a:t>same split</a:t>
            </a:r>
            <a:r>
              <a:rPr lang="en-US" sz="2000" b="0" dirty="0">
                <a:solidFill>
                  <a:srgbClr val="202124"/>
                </a:solidFill>
                <a:latin typeface="Roboto"/>
                <a:ea typeface="Roboto"/>
                <a:cs typeface="Roboto"/>
              </a:rPr>
              <a:t>                       Comparison of normal and damaged observation</a:t>
            </a:r>
          </a:p>
        </p:txBody>
      </p:sp>
      <p:sp>
        <p:nvSpPr>
          <p:cNvPr id="23" name="Freccia a destra 22">
            <a:extLst>
              <a:ext uri="{FF2B5EF4-FFF2-40B4-BE49-F238E27FC236}">
                <a16:creationId xmlns:a16="http://schemas.microsoft.com/office/drawing/2014/main" id="{CF5D802E-0777-985F-BD16-42AA5214CA43}"/>
              </a:ext>
            </a:extLst>
          </p:cNvPr>
          <p:cNvSpPr/>
          <p:nvPr/>
        </p:nvSpPr>
        <p:spPr>
          <a:xfrm>
            <a:off x="4590183" y="5575731"/>
            <a:ext cx="914400" cy="124691"/>
          </a:xfrm>
          <a:prstGeom prst="rightArrow">
            <a:avLst/>
          </a:prstGeom>
          <a:solidFill>
            <a:srgbClr val="822433"/>
          </a:solidFill>
          <a:ln>
            <a:solidFill>
              <a:srgbClr val="822433"/>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5" name="paired-controls">
            <a:extLst>
              <a:ext uri="{FF2B5EF4-FFF2-40B4-BE49-F238E27FC236}">
                <a16:creationId xmlns:a16="http://schemas.microsoft.com/office/drawing/2014/main" id="{76FC8607-32B3-3203-A211-FAC2449CDB23}"/>
              </a:ext>
            </a:extLst>
          </p:cNvPr>
          <p:cNvSpPr>
            <a:spLocks noGrp="1"/>
          </p:cNvSpPr>
          <p:nvPr/>
        </p:nvSpPr>
        <p:spPr>
          <a:xfrm>
            <a:off x="652894" y="5118431"/>
            <a:ext cx="10886209" cy="457200"/>
          </a:xfrm>
          <a:prstGeom prst="rect">
            <a:avLst/>
          </a:prstGeom>
          <a:noFill/>
          <a:ln w="0">
            <a:noFill/>
          </a:ln>
        </p:spPr>
        <p:txBody>
          <a:bodyPr wrap="square" lIns="0" tIns="0" rIns="0" bIns="0" anchor="t">
            <a:noAutofit/>
          </a:bodyPr>
          <a:lstStyle>
            <a:defPPr algn="ctr">
              <a:defRPr sz="2250" b="0">
                <a:solidFill>
                  <a:srgbClr val="202124"/>
                </a:solidFill>
                <a:latin typeface="Roboto"/>
                <a:ea typeface="Roboto"/>
                <a:cs typeface="Roboto"/>
              </a:defRPr>
            </a:defPPr>
            <a:lvl1pPr algn="ctr">
              <a:defRPr sz="2250" b="0">
                <a:solidFill>
                  <a:srgbClr val="202124"/>
                </a:solidFill>
                <a:latin typeface="Roboto"/>
                <a:ea typeface="Roboto"/>
                <a:cs typeface="Roboto"/>
              </a:defRPr>
            </a:lvl1pPr>
            <a:lvl2pPr algn="ctr">
              <a:defRPr sz="2250" b="0">
                <a:solidFill>
                  <a:srgbClr val="202124"/>
                </a:solidFill>
                <a:latin typeface="Roboto"/>
                <a:ea typeface="Roboto"/>
                <a:cs typeface="Roboto"/>
              </a:defRPr>
            </a:lvl2pPr>
            <a:lvl3pPr algn="ctr">
              <a:defRPr sz="2250" b="0">
                <a:solidFill>
                  <a:srgbClr val="202124"/>
                </a:solidFill>
                <a:latin typeface="Roboto"/>
                <a:ea typeface="Roboto"/>
                <a:cs typeface="Roboto"/>
              </a:defRPr>
            </a:lvl3pPr>
            <a:lvl4pPr algn="ctr">
              <a:defRPr sz="2250" b="0">
                <a:solidFill>
                  <a:srgbClr val="202124"/>
                </a:solidFill>
                <a:latin typeface="Roboto"/>
                <a:ea typeface="Roboto"/>
                <a:cs typeface="Roboto"/>
              </a:defRPr>
            </a:lvl4pPr>
            <a:lvl5pPr algn="ctr">
              <a:defRPr sz="2250" b="0">
                <a:solidFill>
                  <a:srgbClr val="202124"/>
                </a:solidFill>
                <a:latin typeface="Roboto"/>
                <a:ea typeface="Roboto"/>
                <a:cs typeface="Roboto"/>
              </a:defRPr>
            </a:lvl5pPr>
            <a:lvl6pPr algn="ctr">
              <a:defRPr sz="2250" b="0">
                <a:solidFill>
                  <a:srgbClr val="202124"/>
                </a:solidFill>
                <a:latin typeface="Roboto"/>
                <a:ea typeface="Roboto"/>
                <a:cs typeface="Roboto"/>
              </a:defRPr>
            </a:lvl6pPr>
            <a:lvl7pPr algn="ctr">
              <a:defRPr sz="2250" b="0">
                <a:solidFill>
                  <a:srgbClr val="202124"/>
                </a:solidFill>
                <a:latin typeface="Roboto"/>
                <a:ea typeface="Roboto"/>
                <a:cs typeface="Roboto"/>
              </a:defRPr>
            </a:lvl7pPr>
            <a:lvl8pPr algn="ctr">
              <a:defRPr sz="2250" b="0">
                <a:solidFill>
                  <a:srgbClr val="202124"/>
                </a:solidFill>
                <a:latin typeface="Roboto"/>
                <a:ea typeface="Roboto"/>
                <a:cs typeface="Roboto"/>
              </a:defRPr>
            </a:lvl8pPr>
            <a:lvl9pPr algn="ctr">
              <a:defRPr sz="2250" b="0">
                <a:solidFill>
                  <a:srgbClr val="202124"/>
                </a:solidFill>
                <a:latin typeface="Roboto"/>
                <a:ea typeface="Roboto"/>
                <a:cs typeface="Roboto"/>
              </a:defRPr>
            </a:lvl9pPr>
          </a:lstStyle>
          <a:p>
            <a:pPr algn="ctr">
              <a:defRPr sz="2250" b="0">
                <a:solidFill>
                  <a:srgbClr val="202124"/>
                </a:solidFill>
                <a:latin typeface="Roboto"/>
                <a:ea typeface="Roboto"/>
                <a:cs typeface="Roboto"/>
              </a:defRPr>
            </a:pPr>
            <a:r>
              <a:rPr lang="en-US" sz="2000" b="1" u="sng" dirty="0">
                <a:solidFill>
                  <a:srgbClr val="822433"/>
                </a:solidFill>
              </a:rPr>
              <a:t>3</a:t>
            </a:r>
            <a:r>
              <a:rPr lang="en-US" sz="2000" dirty="0"/>
              <a:t> perforation levels by size: </a:t>
            </a:r>
            <a:r>
              <a:rPr lang="en-US" sz="2000" dirty="0">
                <a:solidFill>
                  <a:srgbClr val="822433"/>
                </a:solidFill>
              </a:rPr>
              <a:t>Small</a:t>
            </a:r>
            <a:r>
              <a:rPr lang="en-US" sz="2000" dirty="0"/>
              <a:t>, </a:t>
            </a:r>
            <a:r>
              <a:rPr lang="en-US" sz="2000" dirty="0">
                <a:solidFill>
                  <a:srgbClr val="822433"/>
                </a:solidFill>
              </a:rPr>
              <a:t>Medium</a:t>
            </a:r>
            <a:r>
              <a:rPr lang="en-US" sz="2000" dirty="0"/>
              <a:t> and </a:t>
            </a:r>
            <a:r>
              <a:rPr lang="en-US" sz="2000" dirty="0">
                <a:solidFill>
                  <a:srgbClr val="822433"/>
                </a:solidFill>
              </a:rPr>
              <a:t>Large</a:t>
            </a:r>
            <a:endParaRPr lang="en-US" sz="2000" b="0" dirty="0">
              <a:solidFill>
                <a:srgbClr val="822433"/>
              </a:solidFill>
              <a:latin typeface="Roboto"/>
              <a:ea typeface="Roboto"/>
              <a:cs typeface="Roboto"/>
            </a:endParaRPr>
          </a:p>
        </p:txBody>
      </p:sp>
    </p:spTree>
    <p:extLst>
      <p:ext uri="{BB962C8B-B14F-4D97-AF65-F5344CB8AC3E}">
        <p14:creationId xmlns:p14="http://schemas.microsoft.com/office/powerpoint/2010/main" val="4031241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5F78E-2E75-56B3-AEE6-B0E24FE5647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CEFDBDD-FB58-CA2A-6B23-A3A07E7D7C24}"/>
              </a:ext>
            </a:extLst>
          </p:cNvPr>
          <p:cNvSpPr>
            <a:spLocks noGrp="1"/>
          </p:cNvSpPr>
          <p:nvPr>
            <p:ph type="title"/>
          </p:nvPr>
        </p:nvSpPr>
        <p:spPr>
          <a:xfrm>
            <a:off x="838200" y="365125"/>
            <a:ext cx="8384177" cy="835787"/>
          </a:xfrm>
        </p:spPr>
        <p:txBody>
          <a:bodyPr/>
          <a:lstStyle/>
          <a:p>
            <a:r>
              <a:rPr lang="en-US" noProof="0" dirty="0">
                <a:solidFill>
                  <a:srgbClr val="822433"/>
                </a:solidFill>
              </a:rPr>
              <a:t>Domain Randomization</a:t>
            </a:r>
          </a:p>
        </p:txBody>
      </p:sp>
      <p:sp>
        <p:nvSpPr>
          <p:cNvPr id="4" name="Google Shape;102;p14">
            <a:extLst>
              <a:ext uri="{FF2B5EF4-FFF2-40B4-BE49-F238E27FC236}">
                <a16:creationId xmlns:a16="http://schemas.microsoft.com/office/drawing/2014/main" id="{7C1776EE-3F55-C714-1960-B2BCB8007483}"/>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15</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09D54CB8-9501-AA7C-79CB-3D9A42572BA3}"/>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source-citations">
            <a:extLst>
              <a:ext uri="{FF2B5EF4-FFF2-40B4-BE49-F238E27FC236}">
                <a16:creationId xmlns:a16="http://schemas.microsoft.com/office/drawing/2014/main" id="{088FEC76-8E6B-A884-8112-A7833EBA857C}"/>
              </a:ext>
            </a:extLst>
          </p:cNvPr>
          <p:cNvSpPr>
            <a:spLocks noGrp="1"/>
          </p:cNvSpPr>
          <p:nvPr/>
        </p:nvSpPr>
        <p:spPr>
          <a:xfrm>
            <a:off x="1038225" y="4257171"/>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dirty="0"/>
              <a:t>                               Clear                            			Evident wear                                                                              D: Upper detail</a:t>
            </a:r>
            <a:endParaRPr lang="en-US" sz="1125" b="0" dirty="0">
              <a:solidFill>
                <a:srgbClr val="656B73"/>
              </a:solidFill>
              <a:latin typeface="Roboto"/>
              <a:ea typeface="Roboto"/>
              <a:cs typeface="Roboto"/>
            </a:endParaRPr>
          </a:p>
        </p:txBody>
      </p:sp>
      <p:pic>
        <p:nvPicPr>
          <p:cNvPr id="10" name="Immagine 9">
            <a:extLst>
              <a:ext uri="{FF2B5EF4-FFF2-40B4-BE49-F238E27FC236}">
                <a16:creationId xmlns:a16="http://schemas.microsoft.com/office/drawing/2014/main" id="{A58F344A-DCDD-936D-D98F-983B54CC54EE}"/>
              </a:ext>
            </a:extLst>
          </p:cNvPr>
          <p:cNvPicPr>
            <a:picLocks noChangeAspect="1"/>
          </p:cNvPicPr>
          <p:nvPr/>
        </p:nvPicPr>
        <p:blipFill>
          <a:blip r:embed="rId3"/>
          <a:stretch/>
        </p:blipFill>
        <p:spPr>
          <a:xfrm>
            <a:off x="838200" y="1842697"/>
            <a:ext cx="3158114" cy="2368586"/>
          </a:xfrm>
          <a:prstGeom prst="rect">
            <a:avLst/>
          </a:prstGeom>
          <a:effectLst>
            <a:outerShdw blurRad="50800" dist="38100" dir="2700000" algn="tl" rotWithShape="0">
              <a:prstClr val="black">
                <a:alpha val="40000"/>
              </a:prstClr>
            </a:outerShdw>
          </a:effectLst>
        </p:spPr>
      </p:pic>
      <p:pic>
        <p:nvPicPr>
          <p:cNvPr id="12" name="Immagine 11">
            <a:extLst>
              <a:ext uri="{FF2B5EF4-FFF2-40B4-BE49-F238E27FC236}">
                <a16:creationId xmlns:a16="http://schemas.microsoft.com/office/drawing/2014/main" id="{06C2076E-5370-3A8A-8ABC-6D9793B390EB}"/>
              </a:ext>
            </a:extLst>
          </p:cNvPr>
          <p:cNvPicPr>
            <a:picLocks noChangeAspect="1"/>
          </p:cNvPicPr>
          <p:nvPr/>
        </p:nvPicPr>
        <p:blipFill>
          <a:blip r:embed="rId4"/>
          <a:stretch/>
        </p:blipFill>
        <p:spPr>
          <a:xfrm>
            <a:off x="4438650" y="1842697"/>
            <a:ext cx="3158114" cy="2368586"/>
          </a:xfrm>
          <a:prstGeom prst="rect">
            <a:avLst/>
          </a:prstGeom>
          <a:effectLst>
            <a:outerShdw blurRad="50800" dist="38100" dir="2700000" algn="tl" rotWithShape="0">
              <a:prstClr val="black">
                <a:alpha val="40000"/>
              </a:prstClr>
            </a:outerShdw>
          </a:effectLst>
        </p:spPr>
      </p:pic>
      <p:pic>
        <p:nvPicPr>
          <p:cNvPr id="14" name="Immagine 13">
            <a:extLst>
              <a:ext uri="{FF2B5EF4-FFF2-40B4-BE49-F238E27FC236}">
                <a16:creationId xmlns:a16="http://schemas.microsoft.com/office/drawing/2014/main" id="{6AC8D9D2-1EF9-95F5-CC94-589CD1DC5077}"/>
              </a:ext>
            </a:extLst>
          </p:cNvPr>
          <p:cNvPicPr>
            <a:picLocks noChangeAspect="1"/>
          </p:cNvPicPr>
          <p:nvPr/>
        </p:nvPicPr>
        <p:blipFill>
          <a:blip r:embed="rId5"/>
          <a:stretch/>
        </p:blipFill>
        <p:spPr>
          <a:xfrm>
            <a:off x="8039100" y="1842697"/>
            <a:ext cx="3158114" cy="2368586"/>
          </a:xfrm>
          <a:prstGeom prst="rect">
            <a:avLst/>
          </a:prstGeom>
          <a:effectLst>
            <a:outerShdw blurRad="50800" dist="38100" dir="2700000" algn="tl" rotWithShape="0">
              <a:prstClr val="black">
                <a:alpha val="40000"/>
              </a:prstClr>
            </a:outerShdw>
          </a:effectLst>
        </p:spPr>
      </p:pic>
      <p:sp>
        <p:nvSpPr>
          <p:cNvPr id="16" name="variation12-label-0-0">
            <a:extLst>
              <a:ext uri="{FF2B5EF4-FFF2-40B4-BE49-F238E27FC236}">
                <a16:creationId xmlns:a16="http://schemas.microsoft.com/office/drawing/2014/main" id="{C828AE87-F594-C59C-F2B8-24EE7F9CF067}"/>
              </a:ext>
            </a:extLst>
          </p:cNvPr>
          <p:cNvSpPr>
            <a:spLocks noGrp="1"/>
          </p:cNvSpPr>
          <p:nvPr/>
        </p:nvSpPr>
        <p:spPr>
          <a:xfrm>
            <a:off x="933450" y="4645859"/>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Dusty</a:t>
            </a:r>
          </a:p>
        </p:txBody>
      </p:sp>
      <p:sp>
        <p:nvSpPr>
          <p:cNvPr id="18" name="variation12-share-0-0">
            <a:extLst>
              <a:ext uri="{FF2B5EF4-FFF2-40B4-BE49-F238E27FC236}">
                <a16:creationId xmlns:a16="http://schemas.microsoft.com/office/drawing/2014/main" id="{EBFB5BA4-9CB4-552F-4FE9-88423B188913}"/>
              </a:ext>
            </a:extLst>
          </p:cNvPr>
          <p:cNvSpPr>
            <a:spLocks noGrp="1"/>
          </p:cNvSpPr>
          <p:nvPr/>
        </p:nvSpPr>
        <p:spPr>
          <a:xfrm>
            <a:off x="3124200" y="4645859"/>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dirty="0">
                <a:solidFill>
                  <a:srgbClr val="822433"/>
                </a:solidFill>
                <a:latin typeface="Roboto"/>
                <a:ea typeface="Roboto"/>
                <a:cs typeface="Roboto"/>
              </a:rPr>
              <a:t>75%</a:t>
            </a:r>
          </a:p>
        </p:txBody>
      </p:sp>
      <p:sp>
        <p:nvSpPr>
          <p:cNvPr id="20" name="variation12-label-0-1">
            <a:extLst>
              <a:ext uri="{FF2B5EF4-FFF2-40B4-BE49-F238E27FC236}">
                <a16:creationId xmlns:a16="http://schemas.microsoft.com/office/drawing/2014/main" id="{ACF3ECDA-C4D8-3518-7375-B952321458FA}"/>
              </a:ext>
            </a:extLst>
          </p:cNvPr>
          <p:cNvSpPr>
            <a:spLocks noGrp="1"/>
          </p:cNvSpPr>
          <p:nvPr/>
        </p:nvSpPr>
        <p:spPr>
          <a:xfrm>
            <a:off x="933450" y="4960184"/>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Clear</a:t>
            </a:r>
          </a:p>
        </p:txBody>
      </p:sp>
      <p:sp>
        <p:nvSpPr>
          <p:cNvPr id="22" name="variation12-share-0-1">
            <a:extLst>
              <a:ext uri="{FF2B5EF4-FFF2-40B4-BE49-F238E27FC236}">
                <a16:creationId xmlns:a16="http://schemas.microsoft.com/office/drawing/2014/main" id="{C368179D-6B26-238C-1272-AFB7FAB36A11}"/>
              </a:ext>
            </a:extLst>
          </p:cNvPr>
          <p:cNvSpPr>
            <a:spLocks noGrp="1"/>
          </p:cNvSpPr>
          <p:nvPr/>
        </p:nvSpPr>
        <p:spPr>
          <a:xfrm>
            <a:off x="3124200" y="4960184"/>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dirty="0">
                <a:solidFill>
                  <a:srgbClr val="822433"/>
                </a:solidFill>
                <a:latin typeface="Roboto"/>
                <a:ea typeface="Roboto"/>
                <a:cs typeface="Roboto"/>
              </a:rPr>
              <a:t>25%</a:t>
            </a:r>
          </a:p>
        </p:txBody>
      </p:sp>
      <p:sp>
        <p:nvSpPr>
          <p:cNvPr id="24" name="variation12-label-1-0">
            <a:extLst>
              <a:ext uri="{FF2B5EF4-FFF2-40B4-BE49-F238E27FC236}">
                <a16:creationId xmlns:a16="http://schemas.microsoft.com/office/drawing/2014/main" id="{ED37DD8A-FE8A-B5B1-A743-B051EFB86EC5}"/>
              </a:ext>
            </a:extLst>
          </p:cNvPr>
          <p:cNvSpPr>
            <a:spLocks noGrp="1"/>
          </p:cNvSpPr>
          <p:nvPr/>
        </p:nvSpPr>
        <p:spPr>
          <a:xfrm>
            <a:off x="4533900" y="4645859"/>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No extra wear</a:t>
            </a:r>
          </a:p>
        </p:txBody>
      </p:sp>
      <p:sp>
        <p:nvSpPr>
          <p:cNvPr id="26" name="variation12-share-1-0">
            <a:extLst>
              <a:ext uri="{FF2B5EF4-FFF2-40B4-BE49-F238E27FC236}">
                <a16:creationId xmlns:a16="http://schemas.microsoft.com/office/drawing/2014/main" id="{74C300FF-239B-827A-F1D9-90E653856414}"/>
              </a:ext>
            </a:extLst>
          </p:cNvPr>
          <p:cNvSpPr>
            <a:spLocks noGrp="1"/>
          </p:cNvSpPr>
          <p:nvPr/>
        </p:nvSpPr>
        <p:spPr>
          <a:xfrm>
            <a:off x="6724650" y="4645859"/>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20%</a:t>
            </a:r>
          </a:p>
        </p:txBody>
      </p:sp>
      <p:sp>
        <p:nvSpPr>
          <p:cNvPr id="28" name="variation12-label-1-1">
            <a:extLst>
              <a:ext uri="{FF2B5EF4-FFF2-40B4-BE49-F238E27FC236}">
                <a16:creationId xmlns:a16="http://schemas.microsoft.com/office/drawing/2014/main" id="{4EC5CCDB-A13E-B497-50F7-8840F3748300}"/>
              </a:ext>
            </a:extLst>
          </p:cNvPr>
          <p:cNvSpPr>
            <a:spLocks noGrp="1"/>
          </p:cNvSpPr>
          <p:nvPr/>
        </p:nvSpPr>
        <p:spPr>
          <a:xfrm>
            <a:off x="4533900" y="4960184"/>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Light wear</a:t>
            </a:r>
          </a:p>
        </p:txBody>
      </p:sp>
      <p:sp>
        <p:nvSpPr>
          <p:cNvPr id="30" name="variation12-share-1-1">
            <a:extLst>
              <a:ext uri="{FF2B5EF4-FFF2-40B4-BE49-F238E27FC236}">
                <a16:creationId xmlns:a16="http://schemas.microsoft.com/office/drawing/2014/main" id="{B38AB69A-9FBB-F2DE-0F8A-A8E82F20ADDF}"/>
              </a:ext>
            </a:extLst>
          </p:cNvPr>
          <p:cNvSpPr>
            <a:spLocks noGrp="1"/>
          </p:cNvSpPr>
          <p:nvPr/>
        </p:nvSpPr>
        <p:spPr>
          <a:xfrm>
            <a:off x="6724650" y="4960184"/>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45%</a:t>
            </a:r>
          </a:p>
        </p:txBody>
      </p:sp>
      <p:sp>
        <p:nvSpPr>
          <p:cNvPr id="32" name="variation12-label-1-2">
            <a:extLst>
              <a:ext uri="{FF2B5EF4-FFF2-40B4-BE49-F238E27FC236}">
                <a16:creationId xmlns:a16="http://schemas.microsoft.com/office/drawing/2014/main" id="{2F0304B3-7A68-E53B-99BB-D349F67AE0C7}"/>
              </a:ext>
            </a:extLst>
          </p:cNvPr>
          <p:cNvSpPr>
            <a:spLocks noGrp="1"/>
          </p:cNvSpPr>
          <p:nvPr/>
        </p:nvSpPr>
        <p:spPr>
          <a:xfrm>
            <a:off x="4533900" y="5274509"/>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Evident wear</a:t>
            </a:r>
          </a:p>
        </p:txBody>
      </p:sp>
      <p:sp>
        <p:nvSpPr>
          <p:cNvPr id="34" name="variation12-share-1-2">
            <a:extLst>
              <a:ext uri="{FF2B5EF4-FFF2-40B4-BE49-F238E27FC236}">
                <a16:creationId xmlns:a16="http://schemas.microsoft.com/office/drawing/2014/main" id="{C49F127B-79BB-A0A6-55D4-FA351B9087D7}"/>
              </a:ext>
            </a:extLst>
          </p:cNvPr>
          <p:cNvSpPr>
            <a:spLocks noGrp="1"/>
          </p:cNvSpPr>
          <p:nvPr/>
        </p:nvSpPr>
        <p:spPr>
          <a:xfrm>
            <a:off x="6724650" y="5274509"/>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35%</a:t>
            </a:r>
          </a:p>
        </p:txBody>
      </p:sp>
      <p:sp>
        <p:nvSpPr>
          <p:cNvPr id="36" name="variation12-label-2-0">
            <a:extLst>
              <a:ext uri="{FF2B5EF4-FFF2-40B4-BE49-F238E27FC236}">
                <a16:creationId xmlns:a16="http://schemas.microsoft.com/office/drawing/2014/main" id="{5E05A911-63D5-5D9D-F833-E077225BEDBF}"/>
              </a:ext>
            </a:extLst>
          </p:cNvPr>
          <p:cNvSpPr>
            <a:spLocks noGrp="1"/>
          </p:cNvSpPr>
          <p:nvPr/>
        </p:nvSpPr>
        <p:spPr>
          <a:xfrm>
            <a:off x="8134350" y="4645859"/>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A: Overhead</a:t>
            </a:r>
          </a:p>
        </p:txBody>
      </p:sp>
      <p:sp>
        <p:nvSpPr>
          <p:cNvPr id="38" name="variation12-share-2-0">
            <a:extLst>
              <a:ext uri="{FF2B5EF4-FFF2-40B4-BE49-F238E27FC236}">
                <a16:creationId xmlns:a16="http://schemas.microsoft.com/office/drawing/2014/main" id="{B4E9A15D-758A-4B87-6FA7-9E58209B6E91}"/>
              </a:ext>
            </a:extLst>
          </p:cNvPr>
          <p:cNvSpPr>
            <a:spLocks noGrp="1"/>
          </p:cNvSpPr>
          <p:nvPr/>
        </p:nvSpPr>
        <p:spPr>
          <a:xfrm>
            <a:off x="10325100" y="4645859"/>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40%</a:t>
            </a:r>
          </a:p>
        </p:txBody>
      </p:sp>
      <p:sp>
        <p:nvSpPr>
          <p:cNvPr id="40" name="variation12-label-2-1">
            <a:extLst>
              <a:ext uri="{FF2B5EF4-FFF2-40B4-BE49-F238E27FC236}">
                <a16:creationId xmlns:a16="http://schemas.microsoft.com/office/drawing/2014/main" id="{9DC8C06E-EB5F-A0AD-E291-1F87581F3506}"/>
              </a:ext>
            </a:extLst>
          </p:cNvPr>
          <p:cNvSpPr>
            <a:spLocks noGrp="1"/>
          </p:cNvSpPr>
          <p:nvPr/>
        </p:nvSpPr>
        <p:spPr>
          <a:xfrm>
            <a:off x="8134350" y="4960184"/>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C1: Leading</a:t>
            </a:r>
          </a:p>
        </p:txBody>
      </p:sp>
      <p:sp>
        <p:nvSpPr>
          <p:cNvPr id="42" name="variation12-share-2-1">
            <a:extLst>
              <a:ext uri="{FF2B5EF4-FFF2-40B4-BE49-F238E27FC236}">
                <a16:creationId xmlns:a16="http://schemas.microsoft.com/office/drawing/2014/main" id="{5965B414-5EC6-8E79-9CF8-27DAE16FC60F}"/>
              </a:ext>
            </a:extLst>
          </p:cNvPr>
          <p:cNvSpPr>
            <a:spLocks noGrp="1"/>
          </p:cNvSpPr>
          <p:nvPr/>
        </p:nvSpPr>
        <p:spPr>
          <a:xfrm>
            <a:off x="10325100" y="4960184"/>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27.5%</a:t>
            </a:r>
          </a:p>
        </p:txBody>
      </p:sp>
      <p:sp>
        <p:nvSpPr>
          <p:cNvPr id="44" name="variation12-label-2-2">
            <a:extLst>
              <a:ext uri="{FF2B5EF4-FFF2-40B4-BE49-F238E27FC236}">
                <a16:creationId xmlns:a16="http://schemas.microsoft.com/office/drawing/2014/main" id="{AE57C499-06E0-308C-53AD-D1B7F7EEC148}"/>
              </a:ext>
            </a:extLst>
          </p:cNvPr>
          <p:cNvSpPr>
            <a:spLocks noGrp="1"/>
          </p:cNvSpPr>
          <p:nvPr/>
        </p:nvSpPr>
        <p:spPr>
          <a:xfrm>
            <a:off x="8134350" y="5274509"/>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C2: Trailing</a:t>
            </a:r>
          </a:p>
        </p:txBody>
      </p:sp>
      <p:sp>
        <p:nvSpPr>
          <p:cNvPr id="46" name="variation12-share-2-2">
            <a:extLst>
              <a:ext uri="{FF2B5EF4-FFF2-40B4-BE49-F238E27FC236}">
                <a16:creationId xmlns:a16="http://schemas.microsoft.com/office/drawing/2014/main" id="{35AE90B3-6D18-EEF9-5714-75028E6CBAED}"/>
              </a:ext>
            </a:extLst>
          </p:cNvPr>
          <p:cNvSpPr>
            <a:spLocks noGrp="1"/>
          </p:cNvSpPr>
          <p:nvPr/>
        </p:nvSpPr>
        <p:spPr>
          <a:xfrm>
            <a:off x="10325100" y="5274509"/>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27.5%</a:t>
            </a:r>
          </a:p>
        </p:txBody>
      </p:sp>
      <p:sp>
        <p:nvSpPr>
          <p:cNvPr id="48" name="variation12-label-2-3">
            <a:extLst>
              <a:ext uri="{FF2B5EF4-FFF2-40B4-BE49-F238E27FC236}">
                <a16:creationId xmlns:a16="http://schemas.microsoft.com/office/drawing/2014/main" id="{2F865993-FD2F-8201-7020-4B228EC15C2D}"/>
              </a:ext>
            </a:extLst>
          </p:cNvPr>
          <p:cNvSpPr>
            <a:spLocks noGrp="1"/>
          </p:cNvSpPr>
          <p:nvPr/>
        </p:nvSpPr>
        <p:spPr>
          <a:xfrm>
            <a:off x="8134350" y="5588834"/>
            <a:ext cx="2181225" cy="323850"/>
          </a:xfrm>
          <a:prstGeom prst="rect">
            <a:avLst/>
          </a:prstGeom>
          <a:noFill/>
          <a:ln w="0">
            <a:noFill/>
          </a:ln>
        </p:spPr>
        <p:txBody>
          <a:bodyPr wrap="square" lIns="0" tIns="0" rIns="0" bIns="0" anchor="t">
            <a:noAutofit/>
          </a:bodyPr>
          <a:lstStyle>
            <a:defPPr algn="l">
              <a:defRPr sz="1875" b="0">
                <a:solidFill>
                  <a:srgbClr val="202124"/>
                </a:solidFill>
                <a:latin typeface="Roboto"/>
                <a:ea typeface="Roboto"/>
                <a:cs typeface="Roboto"/>
              </a:defRPr>
            </a:defPPr>
            <a:lvl1pPr algn="l">
              <a:defRPr sz="1875" b="0">
                <a:solidFill>
                  <a:srgbClr val="202124"/>
                </a:solidFill>
                <a:latin typeface="Roboto"/>
                <a:ea typeface="Roboto"/>
                <a:cs typeface="Roboto"/>
              </a:defRPr>
            </a:lvl1pPr>
            <a:lvl2pPr algn="l">
              <a:defRPr sz="1875" b="0">
                <a:solidFill>
                  <a:srgbClr val="202124"/>
                </a:solidFill>
                <a:latin typeface="Roboto"/>
                <a:ea typeface="Roboto"/>
                <a:cs typeface="Roboto"/>
              </a:defRPr>
            </a:lvl2pPr>
            <a:lvl3pPr algn="l">
              <a:defRPr sz="1875" b="0">
                <a:solidFill>
                  <a:srgbClr val="202124"/>
                </a:solidFill>
                <a:latin typeface="Roboto"/>
                <a:ea typeface="Roboto"/>
                <a:cs typeface="Roboto"/>
              </a:defRPr>
            </a:lvl3pPr>
            <a:lvl4pPr algn="l">
              <a:defRPr sz="1875" b="0">
                <a:solidFill>
                  <a:srgbClr val="202124"/>
                </a:solidFill>
                <a:latin typeface="Roboto"/>
                <a:ea typeface="Roboto"/>
                <a:cs typeface="Roboto"/>
              </a:defRPr>
            </a:lvl4pPr>
            <a:lvl5pPr algn="l">
              <a:defRPr sz="1875" b="0">
                <a:solidFill>
                  <a:srgbClr val="202124"/>
                </a:solidFill>
                <a:latin typeface="Roboto"/>
                <a:ea typeface="Roboto"/>
                <a:cs typeface="Roboto"/>
              </a:defRPr>
            </a:lvl5pPr>
            <a:lvl6pPr algn="l">
              <a:defRPr sz="1875" b="0">
                <a:solidFill>
                  <a:srgbClr val="202124"/>
                </a:solidFill>
                <a:latin typeface="Roboto"/>
                <a:ea typeface="Roboto"/>
                <a:cs typeface="Roboto"/>
              </a:defRPr>
            </a:lvl6pPr>
            <a:lvl7pPr algn="l">
              <a:defRPr sz="1875" b="0">
                <a:solidFill>
                  <a:srgbClr val="202124"/>
                </a:solidFill>
                <a:latin typeface="Roboto"/>
                <a:ea typeface="Roboto"/>
                <a:cs typeface="Roboto"/>
              </a:defRPr>
            </a:lvl7pPr>
            <a:lvl8pPr algn="l">
              <a:defRPr sz="1875" b="0">
                <a:solidFill>
                  <a:srgbClr val="202124"/>
                </a:solidFill>
                <a:latin typeface="Roboto"/>
                <a:ea typeface="Roboto"/>
                <a:cs typeface="Roboto"/>
              </a:defRPr>
            </a:lvl8pPr>
            <a:lvl9pPr algn="l">
              <a:defRPr sz="1875" b="0">
                <a:solidFill>
                  <a:srgbClr val="202124"/>
                </a:solidFill>
                <a:latin typeface="Roboto"/>
                <a:ea typeface="Roboto"/>
                <a:cs typeface="Roboto"/>
              </a:defRPr>
            </a:lvl9pPr>
          </a:lstStyle>
          <a:p>
            <a:pPr algn="l">
              <a:defRPr sz="1875" b="0">
                <a:solidFill>
                  <a:srgbClr val="202124"/>
                </a:solidFill>
                <a:latin typeface="Roboto"/>
                <a:ea typeface="Roboto"/>
                <a:cs typeface="Roboto"/>
              </a:defRPr>
            </a:pPr>
            <a:r>
              <a:rPr sz="1875" b="0">
                <a:solidFill>
                  <a:srgbClr val="202124"/>
                </a:solidFill>
                <a:latin typeface="Roboto"/>
                <a:ea typeface="Roboto"/>
                <a:cs typeface="Roboto"/>
              </a:rPr>
              <a:t>D: Upper detail</a:t>
            </a:r>
          </a:p>
        </p:txBody>
      </p:sp>
      <p:sp>
        <p:nvSpPr>
          <p:cNvPr id="50" name="variation12-share-2-3">
            <a:extLst>
              <a:ext uri="{FF2B5EF4-FFF2-40B4-BE49-F238E27FC236}">
                <a16:creationId xmlns:a16="http://schemas.microsoft.com/office/drawing/2014/main" id="{1769C892-7288-7966-FDC5-E338C523FC3C}"/>
              </a:ext>
            </a:extLst>
          </p:cNvPr>
          <p:cNvSpPr>
            <a:spLocks noGrp="1"/>
          </p:cNvSpPr>
          <p:nvPr/>
        </p:nvSpPr>
        <p:spPr>
          <a:xfrm>
            <a:off x="10325100" y="5588834"/>
            <a:ext cx="809625" cy="323850"/>
          </a:xfrm>
          <a:prstGeom prst="rect">
            <a:avLst/>
          </a:prstGeom>
          <a:noFill/>
          <a:ln w="0">
            <a:noFill/>
          </a:ln>
        </p:spPr>
        <p:txBody>
          <a:bodyPr wrap="square" lIns="0" tIns="0" rIns="0" bIns="0" anchor="t">
            <a:noAutofit/>
          </a:bodyPr>
          <a:lstStyle>
            <a:defPPr algn="r">
              <a:defRPr sz="1875" b="1">
                <a:solidFill>
                  <a:srgbClr val="822433"/>
                </a:solidFill>
                <a:latin typeface="Roboto"/>
                <a:ea typeface="Roboto"/>
                <a:cs typeface="Roboto"/>
              </a:defRPr>
            </a:defPPr>
            <a:lvl1pPr algn="r">
              <a:defRPr sz="1875" b="1">
                <a:solidFill>
                  <a:srgbClr val="822433"/>
                </a:solidFill>
                <a:latin typeface="Roboto"/>
                <a:ea typeface="Roboto"/>
                <a:cs typeface="Roboto"/>
              </a:defRPr>
            </a:lvl1pPr>
            <a:lvl2pPr algn="r">
              <a:defRPr sz="1875" b="1">
                <a:solidFill>
                  <a:srgbClr val="822433"/>
                </a:solidFill>
                <a:latin typeface="Roboto"/>
                <a:ea typeface="Roboto"/>
                <a:cs typeface="Roboto"/>
              </a:defRPr>
            </a:lvl2pPr>
            <a:lvl3pPr algn="r">
              <a:defRPr sz="1875" b="1">
                <a:solidFill>
                  <a:srgbClr val="822433"/>
                </a:solidFill>
                <a:latin typeface="Roboto"/>
                <a:ea typeface="Roboto"/>
                <a:cs typeface="Roboto"/>
              </a:defRPr>
            </a:lvl3pPr>
            <a:lvl4pPr algn="r">
              <a:defRPr sz="1875" b="1">
                <a:solidFill>
                  <a:srgbClr val="822433"/>
                </a:solidFill>
                <a:latin typeface="Roboto"/>
                <a:ea typeface="Roboto"/>
                <a:cs typeface="Roboto"/>
              </a:defRPr>
            </a:lvl4pPr>
            <a:lvl5pPr algn="r">
              <a:defRPr sz="1875" b="1">
                <a:solidFill>
                  <a:srgbClr val="822433"/>
                </a:solidFill>
                <a:latin typeface="Roboto"/>
                <a:ea typeface="Roboto"/>
                <a:cs typeface="Roboto"/>
              </a:defRPr>
            </a:lvl5pPr>
            <a:lvl6pPr algn="r">
              <a:defRPr sz="1875" b="1">
                <a:solidFill>
                  <a:srgbClr val="822433"/>
                </a:solidFill>
                <a:latin typeface="Roboto"/>
                <a:ea typeface="Roboto"/>
                <a:cs typeface="Roboto"/>
              </a:defRPr>
            </a:lvl6pPr>
            <a:lvl7pPr algn="r">
              <a:defRPr sz="1875" b="1">
                <a:solidFill>
                  <a:srgbClr val="822433"/>
                </a:solidFill>
                <a:latin typeface="Roboto"/>
                <a:ea typeface="Roboto"/>
                <a:cs typeface="Roboto"/>
              </a:defRPr>
            </a:lvl7pPr>
            <a:lvl8pPr algn="r">
              <a:defRPr sz="1875" b="1">
                <a:solidFill>
                  <a:srgbClr val="822433"/>
                </a:solidFill>
                <a:latin typeface="Roboto"/>
                <a:ea typeface="Roboto"/>
                <a:cs typeface="Roboto"/>
              </a:defRPr>
            </a:lvl8pPr>
            <a:lvl9pPr algn="r">
              <a:defRPr sz="1875" b="1">
                <a:solidFill>
                  <a:srgbClr val="822433"/>
                </a:solidFill>
                <a:latin typeface="Roboto"/>
                <a:ea typeface="Roboto"/>
                <a:cs typeface="Roboto"/>
              </a:defRPr>
            </a:lvl9pPr>
          </a:lstStyle>
          <a:p>
            <a:pPr algn="r">
              <a:defRPr sz="1875" b="1">
                <a:solidFill>
                  <a:srgbClr val="822433"/>
                </a:solidFill>
                <a:latin typeface="Roboto"/>
                <a:ea typeface="Roboto"/>
                <a:cs typeface="Roboto"/>
              </a:defRPr>
            </a:pPr>
            <a:r>
              <a:rPr sz="1875" b="1">
                <a:solidFill>
                  <a:srgbClr val="822433"/>
                </a:solidFill>
                <a:latin typeface="Roboto"/>
                <a:ea typeface="Roboto"/>
                <a:cs typeface="Roboto"/>
              </a:rPr>
              <a:t>5%</a:t>
            </a:r>
          </a:p>
        </p:txBody>
      </p:sp>
      <p:sp>
        <p:nvSpPr>
          <p:cNvPr id="54" name="source-citations">
            <a:extLst>
              <a:ext uri="{FF2B5EF4-FFF2-40B4-BE49-F238E27FC236}">
                <a16:creationId xmlns:a16="http://schemas.microsoft.com/office/drawing/2014/main" id="{002CD51F-28ED-4B5A-E67E-9FFAA44F7DF2}"/>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[14]</a:t>
            </a:r>
          </a:p>
        </p:txBody>
      </p:sp>
    </p:spTree>
    <p:extLst>
      <p:ext uri="{BB962C8B-B14F-4D97-AF65-F5344CB8AC3E}">
        <p14:creationId xmlns:p14="http://schemas.microsoft.com/office/powerpoint/2010/main" val="4053594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E4D9F-3155-055A-38C5-60B758E2E18A}"/>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7D24C4A-5FF0-D8EC-4305-FC8A8B7BEA37}"/>
              </a:ext>
            </a:extLst>
          </p:cNvPr>
          <p:cNvSpPr>
            <a:spLocks noGrp="1"/>
          </p:cNvSpPr>
          <p:nvPr>
            <p:ph type="title"/>
          </p:nvPr>
        </p:nvSpPr>
        <p:spPr>
          <a:xfrm>
            <a:off x="838200" y="365125"/>
            <a:ext cx="8384177" cy="835787"/>
          </a:xfrm>
        </p:spPr>
        <p:txBody>
          <a:bodyPr/>
          <a:lstStyle/>
          <a:p>
            <a:r>
              <a:rPr lang="en-US" noProof="0" dirty="0">
                <a:solidFill>
                  <a:srgbClr val="822433"/>
                </a:solidFill>
              </a:rPr>
              <a:t>Dataset Composition</a:t>
            </a:r>
          </a:p>
        </p:txBody>
      </p:sp>
      <p:sp>
        <p:nvSpPr>
          <p:cNvPr id="4" name="Google Shape;102;p14">
            <a:extLst>
              <a:ext uri="{FF2B5EF4-FFF2-40B4-BE49-F238E27FC236}">
                <a16:creationId xmlns:a16="http://schemas.microsoft.com/office/drawing/2014/main" id="{AE760294-A9ED-6852-FE55-D254453DA5A5}"/>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16</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E6BD4C08-CCAD-C9DB-7D7D-8D6559A81318}"/>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6" name="Segnaposto contenuto 5">
            <a:extLst>
              <a:ext uri="{FF2B5EF4-FFF2-40B4-BE49-F238E27FC236}">
                <a16:creationId xmlns:a16="http://schemas.microsoft.com/office/drawing/2014/main" id="{4D3A9B68-C251-B335-8A60-AC3AAE2A2262}"/>
              </a:ext>
            </a:extLst>
          </p:cNvPr>
          <p:cNvSpPr>
            <a:spLocks noGrp="1"/>
          </p:cNvSpPr>
          <p:nvPr>
            <p:ph idx="1"/>
          </p:nvPr>
        </p:nvSpPr>
        <p:spPr>
          <a:xfrm>
            <a:off x="838200" y="1825625"/>
            <a:ext cx="10515600" cy="3717925"/>
          </a:xfrm>
        </p:spPr>
        <p:txBody>
          <a:bodyPr/>
          <a:lstStyle/>
          <a:p>
            <a:pPr marL="0" indent="0">
              <a:buNone/>
            </a:pPr>
            <a:r>
              <a:rPr lang="en-US" sz="3000" b="1" noProof="0" dirty="0">
                <a:solidFill>
                  <a:srgbClr val="822433"/>
                </a:solidFill>
              </a:rPr>
              <a:t>10,000</a:t>
            </a:r>
            <a:r>
              <a:rPr lang="en-US" noProof="0" dirty="0"/>
              <a:t> RGB images across all 6 wheels</a:t>
            </a:r>
          </a:p>
          <a:p>
            <a:pPr marL="0" indent="0">
              <a:buNone/>
            </a:pPr>
            <a:r>
              <a:rPr lang="en-US" dirty="0"/>
              <a:t>1200 </a:t>
            </a:r>
            <a:r>
              <a:rPr lang="en-US" dirty="0">
                <a:solidFill>
                  <a:srgbClr val="202124"/>
                </a:solidFill>
                <a:latin typeface="Roboto"/>
                <a:ea typeface="Roboto"/>
                <a:cs typeface="Roboto"/>
              </a:rPr>
              <a:t>×</a:t>
            </a:r>
            <a:r>
              <a:rPr lang="en-US" dirty="0"/>
              <a:t> 900 resolution</a:t>
            </a:r>
          </a:p>
          <a:p>
            <a:pPr marL="0" indent="0">
              <a:buNone/>
            </a:pPr>
            <a:endParaRPr lang="en-US" noProof="0" dirty="0"/>
          </a:p>
          <a:p>
            <a:pPr>
              <a:buFontTx/>
              <a:buChar char="-"/>
            </a:pPr>
            <a:r>
              <a:rPr lang="en-US" noProof="0" dirty="0"/>
              <a:t>Training: 		</a:t>
            </a:r>
            <a:r>
              <a:rPr lang="en-US" b="1" noProof="0" dirty="0">
                <a:solidFill>
                  <a:srgbClr val="822433"/>
                </a:solidFill>
              </a:rPr>
              <a:t>7,000</a:t>
            </a:r>
            <a:r>
              <a:rPr lang="en-US" noProof="0" dirty="0"/>
              <a:t> normal </a:t>
            </a:r>
          </a:p>
          <a:p>
            <a:pPr>
              <a:buFontTx/>
              <a:buChar char="-"/>
            </a:pPr>
            <a:r>
              <a:rPr lang="en-US" noProof="0" dirty="0"/>
              <a:t>Validation	:	   </a:t>
            </a:r>
            <a:r>
              <a:rPr lang="en-US" b="1" noProof="0" dirty="0">
                <a:solidFill>
                  <a:srgbClr val="822433"/>
                </a:solidFill>
              </a:rPr>
              <a:t>750</a:t>
            </a:r>
            <a:r>
              <a:rPr lang="en-US" noProof="0" dirty="0"/>
              <a:t> normal       </a:t>
            </a:r>
            <a:r>
              <a:rPr lang="en-US" b="1" noProof="0" dirty="0">
                <a:solidFill>
                  <a:srgbClr val="822433"/>
                </a:solidFill>
              </a:rPr>
              <a:t>250</a:t>
            </a:r>
            <a:r>
              <a:rPr lang="en-US" noProof="0" dirty="0"/>
              <a:t> perforated</a:t>
            </a:r>
          </a:p>
          <a:p>
            <a:pPr>
              <a:buFontTx/>
              <a:buChar char="-"/>
            </a:pPr>
            <a:r>
              <a:rPr lang="en-US" noProof="0" dirty="0"/>
              <a:t>Test:		</a:t>
            </a:r>
            <a:r>
              <a:rPr lang="en-US" b="1" noProof="0" dirty="0">
                <a:solidFill>
                  <a:srgbClr val="822433"/>
                </a:solidFill>
              </a:rPr>
              <a:t>1,000</a:t>
            </a:r>
            <a:r>
              <a:rPr lang="en-US" noProof="0" dirty="0"/>
              <a:t> normal    </a:t>
            </a:r>
            <a:r>
              <a:rPr lang="en-US" b="1" noProof="0" dirty="0">
                <a:solidFill>
                  <a:srgbClr val="822433"/>
                </a:solidFill>
              </a:rPr>
              <a:t>1,000</a:t>
            </a:r>
            <a:r>
              <a:rPr lang="en-US" noProof="0" dirty="0"/>
              <a:t> perforated</a:t>
            </a:r>
          </a:p>
        </p:txBody>
      </p:sp>
      <p:sp>
        <p:nvSpPr>
          <p:cNvPr id="3" name="TextBox 2">
            <a:extLst>
              <a:ext uri="{FF2B5EF4-FFF2-40B4-BE49-F238E27FC236}">
                <a16:creationId xmlns:a16="http://schemas.microsoft.com/office/drawing/2014/main" id="{877139A3-B9A6-CEED-2633-12DF0C656C08}"/>
              </a:ext>
            </a:extLst>
          </p:cNvPr>
          <p:cNvSpPr txBox="1"/>
          <p:nvPr/>
        </p:nvSpPr>
        <p:spPr>
          <a:xfrm>
            <a:off x="838200" y="5915025"/>
            <a:ext cx="2255746" cy="369332"/>
          </a:xfrm>
          <a:prstGeom prst="rect">
            <a:avLst/>
          </a:prstGeom>
          <a:noFill/>
        </p:spPr>
        <p:txBody>
          <a:bodyPr wrap="none" rtlCol="0">
            <a:spAutoFit/>
          </a:bodyPr>
          <a:lstStyle/>
          <a:p>
            <a:r>
              <a:rPr lang="en-GB" dirty="0">
                <a:solidFill>
                  <a:schemeClr val="tx1">
                    <a:lumMod val="50000"/>
                    <a:lumOff val="50000"/>
                  </a:schemeClr>
                </a:solidFill>
                <a:latin typeface="Roboto" panose="02000000000000000000" pitchFamily="2" charset="0"/>
                <a:ea typeface="Roboto" panose="02000000000000000000" pitchFamily="2" charset="0"/>
                <a:cs typeface="Roboto" panose="02000000000000000000" pitchFamily="2" charset="0"/>
              </a:rPr>
              <a:t>Available on </a:t>
            </a:r>
            <a:r>
              <a:rPr lang="en-GB" dirty="0">
                <a:solidFill>
                  <a:srgbClr val="822433"/>
                </a:solidFill>
                <a:latin typeface="Roboto" panose="02000000000000000000" pitchFamily="2" charset="0"/>
                <a:ea typeface="Roboto" panose="02000000000000000000" pitchFamily="2" charset="0"/>
                <a:cs typeface="Roboto" panose="02000000000000000000" pitchFamily="2" charset="0"/>
                <a:hlinkClick r:id="rId3">
                  <a:extLst>
                    <a:ext uri="{A12FA001-AC4F-418D-AE19-62706E023703}">
                      <ahyp:hlinkClr xmlns:ahyp="http://schemas.microsoft.com/office/drawing/2018/hyperlinkcolor" val="tx"/>
                    </a:ext>
                  </a:extLst>
                </a:hlinkClick>
              </a:rPr>
              <a:t>Kaggle</a:t>
            </a:r>
            <a:endParaRPr lang="en-GB" dirty="0">
              <a:solidFill>
                <a:srgbClr val="822433"/>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330868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917CD-A89E-8C54-997C-BA0E00DE8D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0EAFFA2-E325-B7EB-A1DF-65A026D25762}"/>
              </a:ext>
            </a:extLst>
          </p:cNvPr>
          <p:cNvSpPr>
            <a:spLocks noGrp="1"/>
          </p:cNvSpPr>
          <p:nvPr>
            <p:ph type="title"/>
          </p:nvPr>
        </p:nvSpPr>
        <p:spPr/>
        <p:txBody>
          <a:bodyPr>
            <a:normAutofit/>
          </a:bodyPr>
          <a:lstStyle/>
          <a:p>
            <a:r>
              <a:rPr lang="it-IT" sz="5400" dirty="0" err="1">
                <a:solidFill>
                  <a:srgbClr val="822433"/>
                </a:solidFill>
              </a:rPr>
              <a:t>Synthetic</a:t>
            </a:r>
            <a:r>
              <a:rPr lang="it-IT" sz="5400" dirty="0">
                <a:solidFill>
                  <a:srgbClr val="822433"/>
                </a:solidFill>
              </a:rPr>
              <a:t> </a:t>
            </a:r>
            <a:r>
              <a:rPr lang="it-IT" sz="5400" dirty="0" err="1">
                <a:solidFill>
                  <a:srgbClr val="822433"/>
                </a:solidFill>
              </a:rPr>
              <a:t>Damage</a:t>
            </a:r>
            <a:r>
              <a:rPr lang="it-IT" sz="5400" dirty="0">
                <a:solidFill>
                  <a:srgbClr val="822433"/>
                </a:solidFill>
              </a:rPr>
              <a:t> </a:t>
            </a:r>
            <a:r>
              <a:rPr lang="it-IT" sz="5400" dirty="0" err="1">
                <a:solidFill>
                  <a:srgbClr val="822433"/>
                </a:solidFill>
              </a:rPr>
              <a:t>Inspection</a:t>
            </a:r>
            <a:endParaRPr lang="it-IT" sz="5400" dirty="0">
              <a:solidFill>
                <a:srgbClr val="822433"/>
              </a:solidFill>
            </a:endParaRPr>
          </a:p>
        </p:txBody>
      </p:sp>
      <p:sp>
        <p:nvSpPr>
          <p:cNvPr id="3" name="Segnaposto testo 2">
            <a:extLst>
              <a:ext uri="{FF2B5EF4-FFF2-40B4-BE49-F238E27FC236}">
                <a16:creationId xmlns:a16="http://schemas.microsoft.com/office/drawing/2014/main" id="{013F41C7-15DC-0FAD-374D-EE5514064876}"/>
              </a:ext>
            </a:extLst>
          </p:cNvPr>
          <p:cNvSpPr>
            <a:spLocks noGrp="1"/>
          </p:cNvSpPr>
          <p:nvPr>
            <p:ph type="body" idx="1"/>
          </p:nvPr>
        </p:nvSpPr>
        <p:spPr>
          <a:xfrm>
            <a:off x="844550" y="2576945"/>
            <a:ext cx="10515600" cy="1312315"/>
          </a:xfrm>
        </p:spPr>
        <p:txBody>
          <a:bodyPr>
            <a:normAutofit/>
          </a:bodyPr>
          <a:lstStyle/>
          <a:p>
            <a:r>
              <a:rPr lang="it-IT" dirty="0" err="1"/>
              <a:t>Introduction</a:t>
            </a:r>
            <a:br>
              <a:rPr lang="it-IT" dirty="0"/>
            </a:br>
            <a:r>
              <a:rPr lang="it-IT" dirty="0" err="1">
                <a:solidFill>
                  <a:schemeClr val="bg1">
                    <a:lumMod val="50000"/>
                  </a:schemeClr>
                </a:solidFill>
              </a:rPr>
              <a:t>Lightweight</a:t>
            </a:r>
            <a:r>
              <a:rPr lang="it-IT" dirty="0">
                <a:solidFill>
                  <a:schemeClr val="bg1">
                    <a:lumMod val="50000"/>
                  </a:schemeClr>
                </a:solidFill>
              </a:rPr>
              <a:t> Scene </a:t>
            </a:r>
            <a:r>
              <a:rPr lang="it-IT" dirty="0" err="1">
                <a:solidFill>
                  <a:schemeClr val="bg1">
                    <a:lumMod val="50000"/>
                  </a:schemeClr>
                </a:solidFill>
              </a:rPr>
              <a:t>Understanding</a:t>
            </a:r>
            <a:br>
              <a:rPr lang="it-IT" dirty="0">
                <a:solidFill>
                  <a:schemeClr val="bg1">
                    <a:lumMod val="50000"/>
                  </a:schemeClr>
                </a:solidFill>
              </a:rPr>
            </a:br>
            <a:r>
              <a:rPr lang="it-IT" dirty="0" err="1">
                <a:solidFill>
                  <a:schemeClr val="bg1">
                    <a:lumMod val="50000"/>
                  </a:schemeClr>
                </a:solidFill>
              </a:rPr>
              <a:t>Synthetic</a:t>
            </a:r>
            <a:r>
              <a:rPr lang="it-IT" dirty="0">
                <a:solidFill>
                  <a:schemeClr val="bg1">
                    <a:lumMod val="50000"/>
                  </a:schemeClr>
                </a:solidFill>
              </a:rPr>
              <a:t> Dataset Generation</a:t>
            </a:r>
          </a:p>
        </p:txBody>
      </p:sp>
      <p:sp>
        <p:nvSpPr>
          <p:cNvPr id="4" name="Google Shape;102;p14">
            <a:extLst>
              <a:ext uri="{FF2B5EF4-FFF2-40B4-BE49-F238E27FC236}">
                <a16:creationId xmlns:a16="http://schemas.microsoft.com/office/drawing/2014/main" id="{9CB9DC0C-587C-2A06-FF6D-CEE1DE16D590}"/>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17</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BBA62F15-ABE4-D939-594E-7BF8AE0DD10E}"/>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8" name="Segnaposto testo 2">
            <a:extLst>
              <a:ext uri="{FF2B5EF4-FFF2-40B4-BE49-F238E27FC236}">
                <a16:creationId xmlns:a16="http://schemas.microsoft.com/office/drawing/2014/main" id="{87B65971-BB8B-0232-30D8-0A7A53F2F3E4}"/>
              </a:ext>
            </a:extLst>
          </p:cNvPr>
          <p:cNvSpPr txBox="1">
            <a:spLocks/>
          </p:cNvSpPr>
          <p:nvPr/>
        </p:nvSpPr>
        <p:spPr>
          <a:xfrm>
            <a:off x="844550" y="4562475"/>
            <a:ext cx="10515600" cy="154400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8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dirty="0"/>
              <a:t>Results</a:t>
            </a:r>
            <a:br>
              <a:rPr lang="en-US" dirty="0"/>
            </a:br>
            <a:r>
              <a:rPr lang="en-US" dirty="0"/>
              <a:t>Conclusions</a:t>
            </a:r>
            <a:endParaRPr lang="it-IT" dirty="0"/>
          </a:p>
        </p:txBody>
      </p:sp>
    </p:spTree>
    <p:extLst>
      <p:ext uri="{BB962C8B-B14F-4D97-AF65-F5344CB8AC3E}">
        <p14:creationId xmlns:p14="http://schemas.microsoft.com/office/powerpoint/2010/main" val="7700406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16F0C-E1DC-9135-A3BF-202EE79596B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FFF0E92-6318-FF12-9E93-A6E0A7A4DDAF}"/>
              </a:ext>
            </a:extLst>
          </p:cNvPr>
          <p:cNvSpPr>
            <a:spLocks noGrp="1"/>
          </p:cNvSpPr>
          <p:nvPr>
            <p:ph type="title"/>
          </p:nvPr>
        </p:nvSpPr>
        <p:spPr>
          <a:xfrm>
            <a:off x="838200" y="365125"/>
            <a:ext cx="8384177" cy="835787"/>
          </a:xfrm>
        </p:spPr>
        <p:txBody>
          <a:bodyPr/>
          <a:lstStyle/>
          <a:p>
            <a:r>
              <a:rPr lang="en-US" noProof="0" dirty="0">
                <a:solidFill>
                  <a:srgbClr val="822433"/>
                </a:solidFill>
              </a:rPr>
              <a:t>Anomaly Detection</a:t>
            </a:r>
          </a:p>
        </p:txBody>
      </p:sp>
      <p:sp>
        <p:nvSpPr>
          <p:cNvPr id="4" name="Google Shape;102;p14">
            <a:extLst>
              <a:ext uri="{FF2B5EF4-FFF2-40B4-BE49-F238E27FC236}">
                <a16:creationId xmlns:a16="http://schemas.microsoft.com/office/drawing/2014/main" id="{2B2751E7-11E9-9F59-E07F-6E1D66D2EAC5}"/>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18</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2BFF42B6-9D65-E0FA-FC28-94072484696F}"/>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source-citations">
            <a:extLst>
              <a:ext uri="{FF2B5EF4-FFF2-40B4-BE49-F238E27FC236}">
                <a16:creationId xmlns:a16="http://schemas.microsoft.com/office/drawing/2014/main" id="{9EA4E498-8EC1-FA09-BF6A-B2B5235B71C2}"/>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[15]</a:t>
            </a:r>
          </a:p>
        </p:txBody>
      </p:sp>
      <p:pic>
        <p:nvPicPr>
          <p:cNvPr id="10" name="Immagine 9">
            <a:extLst>
              <a:ext uri="{FF2B5EF4-FFF2-40B4-BE49-F238E27FC236}">
                <a16:creationId xmlns:a16="http://schemas.microsoft.com/office/drawing/2014/main" id="{6AADA56E-B9AC-B244-2673-968B448EB2AB}"/>
              </a:ext>
            </a:extLst>
          </p:cNvPr>
          <p:cNvPicPr>
            <a:picLocks noChangeAspect="1"/>
          </p:cNvPicPr>
          <p:nvPr/>
        </p:nvPicPr>
        <p:blipFill>
          <a:blip r:embed="rId3"/>
          <a:stretch/>
        </p:blipFill>
        <p:spPr>
          <a:xfrm>
            <a:off x="1047750" y="1543050"/>
            <a:ext cx="5524500" cy="4143375"/>
          </a:xfrm>
          <a:prstGeom prst="rect">
            <a:avLst/>
          </a:prstGeom>
        </p:spPr>
      </p:pic>
      <p:sp>
        <p:nvSpPr>
          <p:cNvPr id="11" name="CasellaDiTesto 10">
            <a:extLst>
              <a:ext uri="{FF2B5EF4-FFF2-40B4-BE49-F238E27FC236}">
                <a16:creationId xmlns:a16="http://schemas.microsoft.com/office/drawing/2014/main" id="{5CAAC85F-4061-995C-5E1B-6CC36B47291C}"/>
              </a:ext>
            </a:extLst>
          </p:cNvPr>
          <p:cNvSpPr txBox="1"/>
          <p:nvPr/>
        </p:nvSpPr>
        <p:spPr>
          <a:xfrm>
            <a:off x="6890892" y="1835094"/>
            <a:ext cx="3780202" cy="2246769"/>
          </a:xfrm>
          <a:prstGeom prst="rect">
            <a:avLst/>
          </a:prstGeom>
          <a:noFill/>
        </p:spPr>
        <p:txBody>
          <a:bodyPr wrap="none" rtlCol="0">
            <a:spAutoFit/>
          </a:bodyPr>
          <a:lstStyle/>
          <a:p>
            <a:r>
              <a:rPr lang="en-US" sz="2000" noProof="0" dirty="0">
                <a:latin typeface="Roboto" panose="02000000000000000000" pitchFamily="2" charset="0"/>
                <a:ea typeface="Roboto" panose="02000000000000000000" pitchFamily="2" charset="0"/>
              </a:rPr>
              <a:t>Aims to learn the normal </a:t>
            </a:r>
            <a:r>
              <a:rPr lang="en-US" sz="2000" noProof="0" dirty="0">
                <a:solidFill>
                  <a:srgbClr val="822433"/>
                </a:solidFill>
                <a:latin typeface="Roboto" panose="02000000000000000000" pitchFamily="2" charset="0"/>
                <a:ea typeface="Roboto" panose="02000000000000000000" pitchFamily="2" charset="0"/>
              </a:rPr>
              <a:t>wheel</a:t>
            </a:r>
            <a:r>
              <a:rPr lang="en-US" sz="2000" noProof="0" dirty="0">
                <a:latin typeface="Roboto" panose="02000000000000000000" pitchFamily="2" charset="0"/>
                <a:ea typeface="Roboto" panose="02000000000000000000" pitchFamily="2" charset="0"/>
              </a:rPr>
              <a:t> </a:t>
            </a:r>
          </a:p>
          <a:p>
            <a:r>
              <a:rPr lang="en-US" sz="2000" noProof="0" dirty="0">
                <a:solidFill>
                  <a:srgbClr val="822433"/>
                </a:solidFill>
                <a:latin typeface="Roboto" panose="02000000000000000000" pitchFamily="2" charset="0"/>
                <a:ea typeface="Roboto" panose="02000000000000000000" pitchFamily="2" charset="0"/>
              </a:rPr>
              <a:t>appearance</a:t>
            </a:r>
            <a:r>
              <a:rPr lang="en-US" sz="2000" noProof="0" dirty="0">
                <a:latin typeface="Roboto" panose="02000000000000000000" pitchFamily="2" charset="0"/>
                <a:ea typeface="Roboto" panose="02000000000000000000" pitchFamily="2" charset="0"/>
              </a:rPr>
              <a:t> </a:t>
            </a:r>
            <a:r>
              <a:rPr lang="en-US" sz="2000" dirty="0">
                <a:latin typeface="Roboto" panose="02000000000000000000" pitchFamily="2" charset="0"/>
                <a:ea typeface="Roboto" panose="02000000000000000000" pitchFamily="2" charset="0"/>
              </a:rPr>
              <a:t>to detect and</a:t>
            </a:r>
          </a:p>
          <a:p>
            <a:r>
              <a:rPr lang="en-US" sz="2000" dirty="0">
                <a:latin typeface="Roboto" panose="02000000000000000000" pitchFamily="2" charset="0"/>
                <a:ea typeface="Roboto" panose="02000000000000000000" pitchFamily="2" charset="0"/>
              </a:rPr>
              <a:t>localize </a:t>
            </a:r>
            <a:r>
              <a:rPr lang="en-US" sz="2000" dirty="0">
                <a:solidFill>
                  <a:srgbClr val="822433"/>
                </a:solidFill>
                <a:latin typeface="Roboto" panose="02000000000000000000" pitchFamily="2" charset="0"/>
                <a:ea typeface="Roboto" panose="02000000000000000000" pitchFamily="2" charset="0"/>
              </a:rPr>
              <a:t>potential damage</a:t>
            </a:r>
            <a:endParaRPr lang="en-US" sz="2000" noProof="0" dirty="0">
              <a:solidFill>
                <a:srgbClr val="822433"/>
              </a:solidFill>
              <a:latin typeface="Roboto" panose="02000000000000000000" pitchFamily="2" charset="0"/>
              <a:ea typeface="Roboto" panose="02000000000000000000" pitchFamily="2" charset="0"/>
            </a:endParaRPr>
          </a:p>
          <a:p>
            <a:endParaRPr lang="en-US" sz="2000" noProof="0" dirty="0">
              <a:latin typeface="Roboto" panose="02000000000000000000" pitchFamily="2" charset="0"/>
              <a:ea typeface="Roboto" panose="02000000000000000000" pitchFamily="2" charset="0"/>
            </a:endParaRPr>
          </a:p>
          <a:p>
            <a:endParaRPr lang="en-US" sz="2000" noProof="0" dirty="0">
              <a:latin typeface="Roboto" panose="02000000000000000000" pitchFamily="2" charset="0"/>
              <a:ea typeface="Roboto" panose="02000000000000000000" pitchFamily="2" charset="0"/>
            </a:endParaRPr>
          </a:p>
          <a:p>
            <a:endParaRPr lang="en-US" sz="2000" b="1" noProof="0" dirty="0">
              <a:latin typeface="Roboto" panose="02000000000000000000" pitchFamily="2" charset="0"/>
              <a:ea typeface="Roboto" panose="02000000000000000000" pitchFamily="2" charset="0"/>
            </a:endParaRPr>
          </a:p>
          <a:p>
            <a:r>
              <a:rPr lang="en-US" sz="2000" b="1" noProof="0" dirty="0">
                <a:solidFill>
                  <a:srgbClr val="822433"/>
                </a:solidFill>
                <a:latin typeface="Roboto" panose="02000000000000000000" pitchFamily="2" charset="0"/>
                <a:ea typeface="Roboto" panose="02000000000000000000" pitchFamily="2" charset="0"/>
              </a:rPr>
              <a:t>Normal-only training</a:t>
            </a:r>
          </a:p>
        </p:txBody>
      </p:sp>
      <p:sp>
        <p:nvSpPr>
          <p:cNvPr id="24" name="CasellaDiTesto 23">
            <a:extLst>
              <a:ext uri="{FF2B5EF4-FFF2-40B4-BE49-F238E27FC236}">
                <a16:creationId xmlns:a16="http://schemas.microsoft.com/office/drawing/2014/main" id="{0F20E36A-F169-7BCF-59DC-369F250C84F9}"/>
              </a:ext>
            </a:extLst>
          </p:cNvPr>
          <p:cNvSpPr txBox="1"/>
          <p:nvPr/>
        </p:nvSpPr>
        <p:spPr>
          <a:xfrm>
            <a:off x="7334477" y="4090490"/>
            <a:ext cx="3789820" cy="369332"/>
          </a:xfrm>
          <a:prstGeom prst="rect">
            <a:avLst/>
          </a:prstGeom>
          <a:noFill/>
        </p:spPr>
        <p:txBody>
          <a:bodyPr wrap="none" rtlCol="0">
            <a:spAutoFit/>
          </a:bodyPr>
          <a:lstStyle/>
          <a:p>
            <a:r>
              <a:rPr lang="en-US" b="1" noProof="0" dirty="0">
                <a:solidFill>
                  <a:srgbClr val="822433"/>
                </a:solidFill>
                <a:latin typeface="Roboto" panose="02000000000000000000" pitchFamily="2" charset="0"/>
                <a:ea typeface="Roboto" panose="02000000000000000000" pitchFamily="2" charset="0"/>
              </a:rPr>
              <a:t>Detection</a:t>
            </a:r>
            <a:r>
              <a:rPr lang="en-US" noProof="0" dirty="0">
                <a:latin typeface="Roboto" panose="02000000000000000000" pitchFamily="2" charset="0"/>
                <a:ea typeface="Roboto" panose="02000000000000000000" pitchFamily="2" charset="0"/>
              </a:rPr>
              <a:t>:     Image anomaly score</a:t>
            </a:r>
          </a:p>
        </p:txBody>
      </p:sp>
      <p:sp>
        <p:nvSpPr>
          <p:cNvPr id="25" name="CasellaDiTesto 24">
            <a:extLst>
              <a:ext uri="{FF2B5EF4-FFF2-40B4-BE49-F238E27FC236}">
                <a16:creationId xmlns:a16="http://schemas.microsoft.com/office/drawing/2014/main" id="{A357012D-A4A3-3CBD-B604-3126495629FF}"/>
              </a:ext>
            </a:extLst>
          </p:cNvPr>
          <p:cNvSpPr txBox="1"/>
          <p:nvPr/>
        </p:nvSpPr>
        <p:spPr>
          <a:xfrm>
            <a:off x="7334477" y="4603199"/>
            <a:ext cx="3671198" cy="369332"/>
          </a:xfrm>
          <a:prstGeom prst="rect">
            <a:avLst/>
          </a:prstGeom>
          <a:noFill/>
        </p:spPr>
        <p:txBody>
          <a:bodyPr wrap="none" rtlCol="0">
            <a:spAutoFit/>
          </a:bodyPr>
          <a:lstStyle/>
          <a:p>
            <a:r>
              <a:rPr lang="en-US" b="1" noProof="0" dirty="0">
                <a:solidFill>
                  <a:srgbClr val="822433"/>
                </a:solidFill>
                <a:latin typeface="Roboto" panose="02000000000000000000" pitchFamily="2" charset="0"/>
                <a:ea typeface="Roboto" panose="02000000000000000000" pitchFamily="2" charset="0"/>
              </a:rPr>
              <a:t>Localization</a:t>
            </a:r>
            <a:r>
              <a:rPr lang="en-US" noProof="0" dirty="0">
                <a:latin typeface="Roboto" panose="02000000000000000000" pitchFamily="2" charset="0"/>
                <a:ea typeface="Roboto" panose="02000000000000000000" pitchFamily="2" charset="0"/>
              </a:rPr>
              <a:t>: Spatial anomaly map</a:t>
            </a:r>
          </a:p>
        </p:txBody>
      </p:sp>
      <p:pic>
        <p:nvPicPr>
          <p:cNvPr id="27" name="Immagine 26">
            <a:extLst>
              <a:ext uri="{FF2B5EF4-FFF2-40B4-BE49-F238E27FC236}">
                <a16:creationId xmlns:a16="http://schemas.microsoft.com/office/drawing/2014/main" id="{92B89F20-AF53-04D8-798E-7EC7CF633F68}"/>
              </a:ext>
            </a:extLst>
          </p:cNvPr>
          <p:cNvPicPr>
            <a:picLocks noChangeAspect="1"/>
          </p:cNvPicPr>
          <p:nvPr/>
        </p:nvPicPr>
        <p:blipFill>
          <a:blip r:embed="rId4">
            <a:duotone>
              <a:schemeClr val="accent2">
                <a:shade val="45000"/>
                <a:satMod val="135000"/>
              </a:schemeClr>
              <a:prstClr val="white"/>
            </a:duotone>
          </a:blip>
          <a:stretch>
            <a:fillRect/>
          </a:stretch>
        </p:blipFill>
        <p:spPr>
          <a:xfrm>
            <a:off x="7036016" y="4144524"/>
            <a:ext cx="298461" cy="298461"/>
          </a:xfrm>
          <a:prstGeom prst="rect">
            <a:avLst/>
          </a:prstGeom>
          <a:effectLst>
            <a:outerShdw blurRad="50800" dist="38100" dir="2700000" algn="tl" rotWithShape="0">
              <a:prstClr val="black">
                <a:alpha val="40000"/>
              </a:prstClr>
            </a:outerShdw>
          </a:effectLst>
        </p:spPr>
      </p:pic>
      <p:pic>
        <p:nvPicPr>
          <p:cNvPr id="29" name="Immagine 28">
            <a:extLst>
              <a:ext uri="{FF2B5EF4-FFF2-40B4-BE49-F238E27FC236}">
                <a16:creationId xmlns:a16="http://schemas.microsoft.com/office/drawing/2014/main" id="{54E61213-F313-8AE1-BFE9-5D328EBA6F83}"/>
              </a:ext>
            </a:extLst>
          </p:cNvPr>
          <p:cNvPicPr>
            <a:picLocks noChangeAspect="1"/>
          </p:cNvPicPr>
          <p:nvPr/>
        </p:nvPicPr>
        <p:blipFill>
          <a:blip r:embed="rId5">
            <a:duotone>
              <a:schemeClr val="accent2">
                <a:shade val="45000"/>
                <a:satMod val="135000"/>
              </a:schemeClr>
              <a:prstClr val="white"/>
            </a:duotone>
          </a:blip>
          <a:stretch>
            <a:fillRect/>
          </a:stretch>
        </p:blipFill>
        <p:spPr>
          <a:xfrm>
            <a:off x="6926874" y="4527005"/>
            <a:ext cx="502890" cy="502890"/>
          </a:xfrm>
          <a:prstGeom prst="rect">
            <a:avLst/>
          </a:prstGeom>
          <a:effectLst>
            <a:outerShdw blurRad="50800" dist="38100" dir="2700000" algn="tl" rotWithShape="0">
              <a:prstClr val="black">
                <a:alpha val="40000"/>
              </a:prstClr>
            </a:outerShdw>
          </a:effectLst>
        </p:spPr>
      </p:pic>
      <p:sp>
        <p:nvSpPr>
          <p:cNvPr id="30" name="CasellaDiTesto 29">
            <a:extLst>
              <a:ext uri="{FF2B5EF4-FFF2-40B4-BE49-F238E27FC236}">
                <a16:creationId xmlns:a16="http://schemas.microsoft.com/office/drawing/2014/main" id="{27283E1F-1155-CFB6-BE3B-6E7818FC4B55}"/>
              </a:ext>
            </a:extLst>
          </p:cNvPr>
          <p:cNvSpPr txBox="1"/>
          <p:nvPr/>
        </p:nvSpPr>
        <p:spPr>
          <a:xfrm>
            <a:off x="2554468" y="5662325"/>
            <a:ext cx="2327881" cy="276999"/>
          </a:xfrm>
          <a:prstGeom prst="rect">
            <a:avLst/>
          </a:prstGeom>
          <a:noFill/>
        </p:spPr>
        <p:txBody>
          <a:bodyPr wrap="none" rtlCol="0">
            <a:spAutoFit/>
          </a:bodyPr>
          <a:lstStyle/>
          <a:p>
            <a:r>
              <a:rPr lang="it-IT" sz="1200" dirty="0">
                <a:solidFill>
                  <a:schemeClr val="bg1">
                    <a:lumMod val="50000"/>
                  </a:schemeClr>
                </a:solidFill>
                <a:latin typeface="Roboto" panose="02000000000000000000" pitchFamily="2" charset="0"/>
                <a:ea typeface="Roboto" panose="02000000000000000000" pitchFamily="2" charset="0"/>
              </a:rPr>
              <a:t>Normal </a:t>
            </a:r>
            <a:r>
              <a:rPr lang="en-US" sz="1200" dirty="0">
                <a:solidFill>
                  <a:schemeClr val="bg1">
                    <a:lumMod val="50000"/>
                  </a:schemeClr>
                </a:solidFill>
                <a:latin typeface="Roboto" panose="02000000000000000000" pitchFamily="2" charset="0"/>
                <a:ea typeface="Roboto" panose="02000000000000000000" pitchFamily="2" charset="0"/>
              </a:rPr>
              <a:t>synthetic</a:t>
            </a:r>
            <a:r>
              <a:rPr lang="it-IT" sz="1200" dirty="0">
                <a:solidFill>
                  <a:schemeClr val="bg1">
                    <a:lumMod val="50000"/>
                  </a:schemeClr>
                </a:solidFill>
                <a:latin typeface="Roboto" panose="02000000000000000000" pitchFamily="2" charset="0"/>
                <a:ea typeface="Roboto" panose="02000000000000000000" pitchFamily="2" charset="0"/>
              </a:rPr>
              <a:t> wheel sample</a:t>
            </a:r>
          </a:p>
        </p:txBody>
      </p:sp>
    </p:spTree>
    <p:extLst>
      <p:ext uri="{BB962C8B-B14F-4D97-AF65-F5344CB8AC3E}">
        <p14:creationId xmlns:p14="http://schemas.microsoft.com/office/powerpoint/2010/main" val="2290759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529E9-8DAA-19EB-DA9B-9BD50D3B65D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B21507F-6DC3-4D1C-B079-DC6ABD8EC1C1}"/>
              </a:ext>
            </a:extLst>
          </p:cNvPr>
          <p:cNvSpPr>
            <a:spLocks noGrp="1"/>
          </p:cNvSpPr>
          <p:nvPr>
            <p:ph type="title"/>
          </p:nvPr>
        </p:nvSpPr>
        <p:spPr>
          <a:xfrm>
            <a:off x="838200" y="365125"/>
            <a:ext cx="8384177" cy="835787"/>
          </a:xfrm>
        </p:spPr>
        <p:txBody>
          <a:bodyPr/>
          <a:lstStyle/>
          <a:p>
            <a:r>
              <a:rPr lang="en-US" noProof="0" dirty="0">
                <a:solidFill>
                  <a:srgbClr val="822433"/>
                </a:solidFill>
              </a:rPr>
              <a:t>Model Architectures</a:t>
            </a:r>
          </a:p>
        </p:txBody>
      </p:sp>
      <p:sp>
        <p:nvSpPr>
          <p:cNvPr id="4" name="Google Shape;102;p14">
            <a:extLst>
              <a:ext uri="{FF2B5EF4-FFF2-40B4-BE49-F238E27FC236}">
                <a16:creationId xmlns:a16="http://schemas.microsoft.com/office/drawing/2014/main" id="{2676A94E-8046-6200-5EA9-30266E8EEC29}"/>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19</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59FC8543-76DD-1F73-D96A-3CE0E7C051FB}"/>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6" name="Segnaposto contenuto 5">
            <a:extLst>
              <a:ext uri="{FF2B5EF4-FFF2-40B4-BE49-F238E27FC236}">
                <a16:creationId xmlns:a16="http://schemas.microsoft.com/office/drawing/2014/main" id="{DB63DC6A-2AFE-6443-0785-55F1EA05A94B}"/>
              </a:ext>
            </a:extLst>
          </p:cNvPr>
          <p:cNvSpPr>
            <a:spLocks noGrp="1"/>
          </p:cNvSpPr>
          <p:nvPr>
            <p:ph idx="1"/>
          </p:nvPr>
        </p:nvSpPr>
        <p:spPr>
          <a:xfrm>
            <a:off x="1184564" y="2407517"/>
            <a:ext cx="4572000" cy="4351338"/>
          </a:xfrm>
        </p:spPr>
        <p:txBody>
          <a:bodyPr/>
          <a:lstStyle/>
          <a:p>
            <a:pPr marL="0" indent="0">
              <a:buNone/>
            </a:pPr>
            <a:r>
              <a:rPr lang="en-US" noProof="0" dirty="0"/>
              <a:t>1 </a:t>
            </a:r>
            <a:r>
              <a:rPr lang="en-US" b="1" noProof="0" dirty="0">
                <a:solidFill>
                  <a:srgbClr val="822433"/>
                </a:solidFill>
              </a:rPr>
              <a:t>PatchCore</a:t>
            </a:r>
            <a:br>
              <a:rPr lang="en-US" b="1" noProof="0" dirty="0">
                <a:solidFill>
                  <a:srgbClr val="822433"/>
                </a:solidFill>
              </a:rPr>
            </a:br>
            <a:r>
              <a:rPr lang="en-US" sz="2200" b="1" noProof="0" dirty="0">
                <a:solidFill>
                  <a:srgbClr val="822433"/>
                </a:solidFill>
              </a:rPr>
              <a:t>- </a:t>
            </a:r>
            <a:r>
              <a:rPr lang="en-US" sz="2200" noProof="0" dirty="0"/>
              <a:t>Stores normal patch features</a:t>
            </a:r>
            <a:br>
              <a:rPr lang="en-US" sz="2200" noProof="0" dirty="0"/>
            </a:br>
            <a:r>
              <a:rPr lang="en-US" sz="2200" noProof="0" dirty="0"/>
              <a:t>  in a </a:t>
            </a:r>
            <a:r>
              <a:rPr lang="en-US" sz="2200" noProof="0" dirty="0">
                <a:solidFill>
                  <a:srgbClr val="822433"/>
                </a:solidFill>
              </a:rPr>
              <a:t>memory bank</a:t>
            </a:r>
          </a:p>
          <a:p>
            <a:pPr marL="0" indent="0">
              <a:buNone/>
            </a:pPr>
            <a:r>
              <a:rPr lang="en-US" sz="2200" noProof="0" dirty="0">
                <a:solidFill>
                  <a:srgbClr val="822433"/>
                </a:solidFill>
              </a:rPr>
              <a:t>-</a:t>
            </a:r>
            <a:r>
              <a:rPr lang="en-US" sz="2200" noProof="0" dirty="0"/>
              <a:t> Detects anomalies through</a:t>
            </a:r>
            <a:br>
              <a:rPr lang="en-US" sz="2200" noProof="0" dirty="0"/>
            </a:br>
            <a:r>
              <a:rPr lang="en-US" sz="2200" noProof="0" dirty="0"/>
              <a:t>  </a:t>
            </a:r>
            <a:r>
              <a:rPr lang="en-US" sz="2200" noProof="0" dirty="0">
                <a:solidFill>
                  <a:srgbClr val="822433"/>
                </a:solidFill>
              </a:rPr>
              <a:t>nearest-neighbor</a:t>
            </a:r>
            <a:r>
              <a:rPr lang="en-US" sz="2200" noProof="0" dirty="0"/>
              <a:t> feature</a:t>
            </a:r>
            <a:br>
              <a:rPr lang="en-US" sz="2200" noProof="0" dirty="0"/>
            </a:br>
            <a:r>
              <a:rPr lang="en-US" sz="2200" noProof="0" dirty="0"/>
              <a:t>  distances</a:t>
            </a:r>
          </a:p>
          <a:p>
            <a:pPr marL="0" indent="0">
              <a:buNone/>
            </a:pPr>
            <a:r>
              <a:rPr lang="en-US" sz="2200" noProof="0" dirty="0">
                <a:solidFill>
                  <a:srgbClr val="822433"/>
                </a:solidFill>
              </a:rPr>
              <a:t>-</a:t>
            </a:r>
            <a:r>
              <a:rPr lang="en-US" sz="2200" noProof="0" dirty="0"/>
              <a:t> </a:t>
            </a:r>
            <a:r>
              <a:rPr lang="en-US" sz="2200" noProof="0" dirty="0">
                <a:solidFill>
                  <a:schemeClr val="tx1">
                    <a:lumMod val="95000"/>
                    <a:lumOff val="5000"/>
                  </a:schemeClr>
                </a:solidFill>
              </a:rPr>
              <a:t>Two backbones: ResNet18</a:t>
            </a:r>
            <a:br>
              <a:rPr lang="en-US" sz="2200" noProof="0" dirty="0">
                <a:solidFill>
                  <a:schemeClr val="tx1">
                    <a:lumMod val="95000"/>
                    <a:lumOff val="5000"/>
                  </a:schemeClr>
                </a:solidFill>
              </a:rPr>
            </a:br>
            <a:r>
              <a:rPr lang="en-US" sz="2200" noProof="0" dirty="0">
                <a:solidFill>
                  <a:schemeClr val="tx1">
                    <a:lumMod val="95000"/>
                    <a:lumOff val="5000"/>
                  </a:schemeClr>
                </a:solidFill>
              </a:rPr>
              <a:t>  (</a:t>
            </a:r>
            <a:r>
              <a:rPr lang="en-US" sz="2200" noProof="0" dirty="0">
                <a:solidFill>
                  <a:srgbClr val="822433"/>
                </a:solidFill>
              </a:rPr>
              <a:t>PC-S</a:t>
            </a:r>
            <a:r>
              <a:rPr lang="en-US" sz="2200" noProof="0" dirty="0">
                <a:solidFill>
                  <a:schemeClr val="tx1">
                    <a:lumMod val="95000"/>
                    <a:lumOff val="5000"/>
                  </a:schemeClr>
                </a:solidFill>
              </a:rPr>
              <a:t>) or WideResNet50-2 (</a:t>
            </a:r>
            <a:r>
              <a:rPr lang="en-US" sz="2200" noProof="0" dirty="0">
                <a:solidFill>
                  <a:srgbClr val="822433"/>
                </a:solidFill>
              </a:rPr>
              <a:t>PC-L</a:t>
            </a:r>
            <a:r>
              <a:rPr lang="en-US" sz="2200" noProof="0" dirty="0">
                <a:solidFill>
                  <a:schemeClr val="tx1">
                    <a:lumMod val="95000"/>
                    <a:lumOff val="5000"/>
                  </a:schemeClr>
                </a:solidFill>
              </a:rPr>
              <a:t>)</a:t>
            </a:r>
            <a:br>
              <a:rPr lang="en-US" noProof="0" dirty="0"/>
            </a:br>
            <a:endParaRPr lang="en-US" noProof="0" dirty="0"/>
          </a:p>
        </p:txBody>
      </p:sp>
      <p:sp>
        <p:nvSpPr>
          <p:cNvPr id="9" name="source-citations">
            <a:extLst>
              <a:ext uri="{FF2B5EF4-FFF2-40B4-BE49-F238E27FC236}">
                <a16:creationId xmlns:a16="http://schemas.microsoft.com/office/drawing/2014/main" id="{FF0C7D20-FDBE-3097-DEBF-FC6DFE09DA57}"/>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dirty="0">
                <a:solidFill>
                  <a:srgbClr val="656B73"/>
                </a:solidFill>
                <a:latin typeface="Roboto"/>
                <a:ea typeface="Roboto"/>
                <a:cs typeface="Roboto"/>
              </a:rPr>
              <a:t>[16] [17]</a:t>
            </a:r>
          </a:p>
        </p:txBody>
      </p:sp>
      <p:sp>
        <p:nvSpPr>
          <p:cNvPr id="3" name="Segnaposto contenuto 5">
            <a:extLst>
              <a:ext uri="{FF2B5EF4-FFF2-40B4-BE49-F238E27FC236}">
                <a16:creationId xmlns:a16="http://schemas.microsoft.com/office/drawing/2014/main" id="{404C3DFA-4218-8A1C-DD93-995D60F71277}"/>
              </a:ext>
            </a:extLst>
          </p:cNvPr>
          <p:cNvSpPr txBox="1">
            <a:spLocks/>
          </p:cNvSpPr>
          <p:nvPr/>
        </p:nvSpPr>
        <p:spPr>
          <a:xfrm>
            <a:off x="6352032" y="2407517"/>
            <a:ext cx="4572000" cy="435133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2 </a:t>
            </a:r>
            <a:r>
              <a:rPr lang="en-US" b="1" noProof="0" dirty="0">
                <a:solidFill>
                  <a:srgbClr val="822433"/>
                </a:solidFill>
              </a:rPr>
              <a:t>EfficientAD-S</a:t>
            </a:r>
            <a:br>
              <a:rPr lang="en-US" b="1" noProof="0" dirty="0">
                <a:solidFill>
                  <a:srgbClr val="822433"/>
                </a:solidFill>
              </a:rPr>
            </a:br>
            <a:r>
              <a:rPr lang="en-US" sz="2200" b="1" noProof="0" dirty="0">
                <a:solidFill>
                  <a:srgbClr val="822433"/>
                </a:solidFill>
              </a:rPr>
              <a:t>- </a:t>
            </a:r>
            <a:r>
              <a:rPr lang="en-US" sz="2200" noProof="0" dirty="0"/>
              <a:t>A </a:t>
            </a:r>
            <a:r>
              <a:rPr lang="en-US" sz="2200" noProof="0" dirty="0">
                <a:solidFill>
                  <a:srgbClr val="822433"/>
                </a:solidFill>
              </a:rPr>
              <a:t>students</a:t>
            </a:r>
            <a:r>
              <a:rPr lang="en-US" sz="2200" noProof="0" dirty="0"/>
              <a:t> learns to reproduce a</a:t>
            </a:r>
            <a:br>
              <a:rPr lang="en-US" sz="2200" noProof="0" dirty="0"/>
            </a:br>
            <a:r>
              <a:rPr lang="en-US" sz="2200" noProof="0" dirty="0"/>
              <a:t>  </a:t>
            </a:r>
            <a:r>
              <a:rPr lang="en-US" sz="2200" noProof="0" dirty="0">
                <a:solidFill>
                  <a:srgbClr val="822433"/>
                </a:solidFill>
              </a:rPr>
              <a:t>frozen</a:t>
            </a:r>
            <a:r>
              <a:rPr lang="en-US" sz="2200" noProof="0" dirty="0"/>
              <a:t> </a:t>
            </a:r>
            <a:r>
              <a:rPr lang="en-US" sz="2200" noProof="0" dirty="0">
                <a:solidFill>
                  <a:srgbClr val="822433"/>
                </a:solidFill>
              </a:rPr>
              <a:t>teacher</a:t>
            </a:r>
            <a:r>
              <a:rPr lang="en-US" sz="2200" noProof="0" dirty="0"/>
              <a:t>’s normal features</a:t>
            </a:r>
          </a:p>
          <a:p>
            <a:pPr marL="0" indent="0">
              <a:buFont typeface="Arial" panose="020B0604020202020204" pitchFamily="34" charset="0"/>
              <a:buNone/>
            </a:pPr>
            <a:r>
              <a:rPr lang="en-US" sz="2200" noProof="0" dirty="0">
                <a:solidFill>
                  <a:srgbClr val="822433"/>
                </a:solidFill>
              </a:rPr>
              <a:t>-</a:t>
            </a:r>
            <a:r>
              <a:rPr lang="en-US" sz="2200" noProof="0" dirty="0"/>
              <a:t> Teacher-student </a:t>
            </a:r>
            <a:r>
              <a:rPr lang="en-US" sz="2200" noProof="0" dirty="0">
                <a:solidFill>
                  <a:srgbClr val="822433"/>
                </a:solidFill>
              </a:rPr>
              <a:t>disagreement</a:t>
            </a:r>
            <a:br>
              <a:rPr lang="en-US" sz="2200" noProof="0" dirty="0"/>
            </a:br>
            <a:r>
              <a:rPr lang="en-US" sz="2200" noProof="0" dirty="0"/>
              <a:t>  highlights local anomalies</a:t>
            </a:r>
          </a:p>
          <a:p>
            <a:pPr marL="0" indent="0">
              <a:buFont typeface="Arial" panose="020B0604020202020204" pitchFamily="34" charset="0"/>
              <a:buNone/>
            </a:pPr>
            <a:r>
              <a:rPr lang="en-US" sz="2200" noProof="0" dirty="0">
                <a:solidFill>
                  <a:srgbClr val="822433"/>
                </a:solidFill>
              </a:rPr>
              <a:t>-</a:t>
            </a:r>
            <a:r>
              <a:rPr lang="en-US" sz="2200" noProof="0" dirty="0"/>
              <a:t> </a:t>
            </a:r>
            <a:r>
              <a:rPr lang="en-US" sz="2200" noProof="0" dirty="0">
                <a:solidFill>
                  <a:schemeClr val="tx1">
                    <a:lumMod val="95000"/>
                    <a:lumOff val="5000"/>
                  </a:schemeClr>
                </a:solidFill>
              </a:rPr>
              <a:t>An </a:t>
            </a:r>
            <a:r>
              <a:rPr lang="en-US" sz="2200" noProof="0" dirty="0">
                <a:solidFill>
                  <a:srgbClr val="822433"/>
                </a:solidFill>
              </a:rPr>
              <a:t>autoencoder</a:t>
            </a:r>
            <a:r>
              <a:rPr lang="en-US" sz="2200" noProof="0" dirty="0">
                <a:solidFill>
                  <a:schemeClr val="tx1">
                    <a:lumMod val="95000"/>
                    <a:lumOff val="5000"/>
                  </a:schemeClr>
                </a:solidFill>
              </a:rPr>
              <a:t> branch captures</a:t>
            </a:r>
            <a:br>
              <a:rPr lang="en-US" sz="2200" noProof="0" dirty="0">
                <a:solidFill>
                  <a:schemeClr val="tx1">
                    <a:lumMod val="95000"/>
                    <a:lumOff val="5000"/>
                  </a:schemeClr>
                </a:solidFill>
              </a:rPr>
            </a:br>
            <a:r>
              <a:rPr lang="en-US" sz="2200" noProof="0" dirty="0">
                <a:solidFill>
                  <a:schemeClr val="tx1">
                    <a:lumMod val="95000"/>
                    <a:lumOff val="5000"/>
                  </a:schemeClr>
                </a:solidFill>
              </a:rPr>
              <a:t>  global context</a:t>
            </a:r>
            <a:br>
              <a:rPr lang="en-US" noProof="0" dirty="0"/>
            </a:br>
            <a:endParaRPr lang="en-US" noProof="0" dirty="0"/>
          </a:p>
        </p:txBody>
      </p:sp>
      <p:sp>
        <p:nvSpPr>
          <p:cNvPr id="7" name="CasellaDiTesto 6">
            <a:extLst>
              <a:ext uri="{FF2B5EF4-FFF2-40B4-BE49-F238E27FC236}">
                <a16:creationId xmlns:a16="http://schemas.microsoft.com/office/drawing/2014/main" id="{D8518CC0-C9C1-6B3F-78A8-3BE43E7C1EF9}"/>
              </a:ext>
            </a:extLst>
          </p:cNvPr>
          <p:cNvSpPr txBox="1"/>
          <p:nvPr/>
        </p:nvSpPr>
        <p:spPr>
          <a:xfrm>
            <a:off x="1184564" y="1604159"/>
            <a:ext cx="9587345" cy="400110"/>
          </a:xfrm>
          <a:prstGeom prst="rect">
            <a:avLst/>
          </a:prstGeom>
          <a:noFill/>
        </p:spPr>
        <p:txBody>
          <a:bodyPr wrap="square" rtlCol="0">
            <a:spAutoFit/>
          </a:bodyPr>
          <a:lstStyle/>
          <a:p>
            <a:r>
              <a:rPr lang="en-US" sz="2000" b="1">
                <a:solidFill>
                  <a:srgbClr val="822433"/>
                </a:solidFill>
                <a:latin typeface="Roboto" panose="02000000000000000000" pitchFamily="2" charset="0"/>
                <a:ea typeface="Roboto" panose="02000000000000000000" pitchFamily="2" charset="0"/>
              </a:rPr>
              <a:t>Goal: </a:t>
            </a:r>
            <a:r>
              <a:rPr lang="en-US" sz="2000">
                <a:latin typeface="Roboto" panose="02000000000000000000" pitchFamily="2" charset="0"/>
                <a:ea typeface="Roboto" panose="02000000000000000000" pitchFamily="2" charset="0"/>
              </a:rPr>
              <a:t>Compare AD approaches in term of accuracy and computational cost</a:t>
            </a:r>
          </a:p>
        </p:txBody>
      </p:sp>
    </p:spTree>
    <p:extLst>
      <p:ext uri="{BB962C8B-B14F-4D97-AF65-F5344CB8AC3E}">
        <p14:creationId xmlns:p14="http://schemas.microsoft.com/office/powerpoint/2010/main" val="1215721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08974-67DD-D80F-AEA4-3E47C2D06A2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D336D46-549D-8DD1-8542-7F2A5323BA99}"/>
              </a:ext>
            </a:extLst>
          </p:cNvPr>
          <p:cNvSpPr>
            <a:spLocks noGrp="1"/>
          </p:cNvSpPr>
          <p:nvPr>
            <p:ph type="title"/>
          </p:nvPr>
        </p:nvSpPr>
        <p:spPr>
          <a:xfrm>
            <a:off x="838200" y="365125"/>
            <a:ext cx="8384177" cy="835787"/>
          </a:xfrm>
        </p:spPr>
        <p:txBody>
          <a:bodyPr/>
          <a:lstStyle/>
          <a:p>
            <a:r>
              <a:rPr lang="en-US" noProof="0" dirty="0">
                <a:solidFill>
                  <a:srgbClr val="822433"/>
                </a:solidFill>
              </a:rPr>
              <a:t>Model Architectures</a:t>
            </a:r>
          </a:p>
        </p:txBody>
      </p:sp>
      <p:sp>
        <p:nvSpPr>
          <p:cNvPr id="4" name="Google Shape;102;p14">
            <a:extLst>
              <a:ext uri="{FF2B5EF4-FFF2-40B4-BE49-F238E27FC236}">
                <a16:creationId xmlns:a16="http://schemas.microsoft.com/office/drawing/2014/main" id="{79E4DB09-D900-BAC8-007F-DA58DFDBDC23}"/>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20</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5CD0A760-B852-761D-A05F-6D85A9CE939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source-citations">
            <a:extLst>
              <a:ext uri="{FF2B5EF4-FFF2-40B4-BE49-F238E27FC236}">
                <a16:creationId xmlns:a16="http://schemas.microsoft.com/office/drawing/2014/main" id="{20263965-79F1-4ADD-9BD3-17952F655AA7}"/>
              </a:ext>
            </a:extLst>
          </p:cNvPr>
          <p:cNvSpPr>
            <a:spLocks noGrp="1"/>
          </p:cNvSpPr>
          <p:nvPr/>
        </p:nvSpPr>
        <p:spPr>
          <a:xfrm>
            <a:off x="581271" y="6347260"/>
            <a:ext cx="10096500" cy="228600"/>
          </a:xfrm>
          <a:prstGeom prst="rect">
            <a:avLst/>
          </a:prstGeom>
          <a:noFill/>
          <a:ln w="0">
            <a:noFill/>
          </a:ln>
        </p:spPr>
        <p:txBody>
          <a:bodyPr wrap="square" lIns="0" tIns="0" rIns="0" bIns="0" anchor="t">
            <a:noAutofit/>
          </a:bodyPr>
          <a:lstStyle>
            <a:defPPr algn="l">
              <a:defRPr lang="en-US" sz="1125" b="0">
                <a:solidFill>
                  <a:srgbClr val="656B73"/>
                </a:solidFill>
                <a:latin typeface="Roboto"/>
                <a:ea typeface="Roboto"/>
                <a:cs typeface="Roboto"/>
              </a:defRPr>
            </a:defPPr>
            <a:lvl1pPr algn="l">
              <a:defRPr lang="en-US" sz="1125" b="0">
                <a:solidFill>
                  <a:srgbClr val="656B73"/>
                </a:solidFill>
                <a:latin typeface="Roboto"/>
                <a:ea typeface="Roboto"/>
                <a:cs typeface="Roboto"/>
              </a:defRPr>
            </a:lvl1pPr>
            <a:lvl2pPr algn="l">
              <a:defRPr lang="en-US" sz="1125" b="0">
                <a:solidFill>
                  <a:srgbClr val="656B73"/>
                </a:solidFill>
                <a:latin typeface="Roboto"/>
                <a:ea typeface="Roboto"/>
                <a:cs typeface="Roboto"/>
              </a:defRPr>
            </a:lvl2pPr>
            <a:lvl3pPr algn="l">
              <a:defRPr lang="en-US" sz="1125" b="0">
                <a:solidFill>
                  <a:srgbClr val="656B73"/>
                </a:solidFill>
                <a:latin typeface="Roboto"/>
                <a:ea typeface="Roboto"/>
                <a:cs typeface="Roboto"/>
              </a:defRPr>
            </a:lvl3pPr>
            <a:lvl4pPr algn="l">
              <a:defRPr lang="en-US" sz="1125" b="0">
                <a:solidFill>
                  <a:srgbClr val="656B73"/>
                </a:solidFill>
                <a:latin typeface="Roboto"/>
                <a:ea typeface="Roboto"/>
                <a:cs typeface="Roboto"/>
              </a:defRPr>
            </a:lvl4pPr>
            <a:lvl5pPr algn="l">
              <a:defRPr lang="en-US" sz="1125" b="0">
                <a:solidFill>
                  <a:srgbClr val="656B73"/>
                </a:solidFill>
                <a:latin typeface="Roboto"/>
                <a:ea typeface="Roboto"/>
                <a:cs typeface="Roboto"/>
              </a:defRPr>
            </a:lvl5pPr>
            <a:lvl6pPr algn="l">
              <a:defRPr lang="en-US" sz="1125" b="0">
                <a:solidFill>
                  <a:srgbClr val="656B73"/>
                </a:solidFill>
                <a:latin typeface="Roboto"/>
                <a:ea typeface="Roboto"/>
                <a:cs typeface="Roboto"/>
              </a:defRPr>
            </a:lvl6pPr>
            <a:lvl7pPr algn="l">
              <a:defRPr lang="en-US" sz="1125" b="0">
                <a:solidFill>
                  <a:srgbClr val="656B73"/>
                </a:solidFill>
                <a:latin typeface="Roboto"/>
                <a:ea typeface="Roboto"/>
                <a:cs typeface="Roboto"/>
              </a:defRPr>
            </a:lvl7pPr>
            <a:lvl8pPr algn="l">
              <a:defRPr lang="en-US" sz="1125" b="0">
                <a:solidFill>
                  <a:srgbClr val="656B73"/>
                </a:solidFill>
                <a:latin typeface="Roboto"/>
                <a:ea typeface="Roboto"/>
                <a:cs typeface="Roboto"/>
              </a:defRPr>
            </a:lvl8pPr>
            <a:lvl9pPr algn="l">
              <a:defRPr lang="en-US" sz="1125" b="0">
                <a:solidFill>
                  <a:srgbClr val="656B73"/>
                </a:solidFill>
                <a:latin typeface="Roboto"/>
                <a:ea typeface="Roboto"/>
                <a:cs typeface="Roboto"/>
              </a:defRPr>
            </a:lvl9pPr>
          </a:lstStyle>
          <a:p>
            <a:pPr algn="l">
              <a:defRPr lang="en-US" sz="1125" b="0">
                <a:solidFill>
                  <a:srgbClr val="656B73"/>
                </a:solidFill>
                <a:latin typeface="Roboto"/>
                <a:ea typeface="Roboto"/>
                <a:cs typeface="Roboto"/>
              </a:defRPr>
            </a:pPr>
            <a:r>
              <a:rPr lang="en-US" sz="1125" b="0" noProof="0" dirty="0">
                <a:solidFill>
                  <a:srgbClr val="656B73"/>
                </a:solidFill>
                <a:latin typeface="Roboto"/>
                <a:ea typeface="Roboto"/>
                <a:cs typeface="Roboto"/>
              </a:rPr>
              <a:t>[18] [19]</a:t>
            </a:r>
          </a:p>
        </p:txBody>
      </p:sp>
      <p:sp>
        <p:nvSpPr>
          <p:cNvPr id="8" name="Segnaposto contenuto 5">
            <a:extLst>
              <a:ext uri="{FF2B5EF4-FFF2-40B4-BE49-F238E27FC236}">
                <a16:creationId xmlns:a16="http://schemas.microsoft.com/office/drawing/2014/main" id="{643E6AE6-153F-3104-B4C0-67AFFF71905E}"/>
              </a:ext>
            </a:extLst>
          </p:cNvPr>
          <p:cNvSpPr>
            <a:spLocks noGrp="1"/>
          </p:cNvSpPr>
          <p:nvPr>
            <p:ph idx="1"/>
          </p:nvPr>
        </p:nvSpPr>
        <p:spPr>
          <a:xfrm>
            <a:off x="1184564" y="2407516"/>
            <a:ext cx="4572000" cy="4351338"/>
          </a:xfrm>
        </p:spPr>
        <p:txBody>
          <a:bodyPr/>
          <a:lstStyle/>
          <a:p>
            <a:pPr marL="0" indent="0">
              <a:buNone/>
            </a:pPr>
            <a:r>
              <a:rPr lang="en-US" noProof="0" dirty="0"/>
              <a:t>1 </a:t>
            </a:r>
            <a:r>
              <a:rPr lang="en-US" b="1" noProof="0" dirty="0" err="1">
                <a:solidFill>
                  <a:srgbClr val="822433"/>
                </a:solidFill>
              </a:rPr>
              <a:t>SuperSimpleNet</a:t>
            </a:r>
            <a:br>
              <a:rPr lang="en-US" b="1" noProof="0" dirty="0">
                <a:solidFill>
                  <a:srgbClr val="822433"/>
                </a:solidFill>
              </a:rPr>
            </a:br>
            <a:r>
              <a:rPr lang="en-US" sz="2200" b="1" noProof="0" dirty="0">
                <a:solidFill>
                  <a:srgbClr val="822433"/>
                </a:solidFill>
              </a:rPr>
              <a:t>- </a:t>
            </a:r>
            <a:r>
              <a:rPr lang="en-US" sz="2200" noProof="0" dirty="0"/>
              <a:t>Synthetic anomalies created by</a:t>
            </a:r>
            <a:br>
              <a:rPr lang="en-US" sz="2200" noProof="0" dirty="0"/>
            </a:br>
            <a:r>
              <a:rPr lang="en-US" sz="2200" noProof="0" dirty="0"/>
              <a:t>  localized </a:t>
            </a:r>
            <a:r>
              <a:rPr lang="en-US" sz="2200" noProof="0" dirty="0">
                <a:solidFill>
                  <a:srgbClr val="822433"/>
                </a:solidFill>
              </a:rPr>
              <a:t>gaussian noise </a:t>
            </a:r>
            <a:r>
              <a:rPr lang="en-US" sz="2200" noProof="0" dirty="0"/>
              <a:t>to</a:t>
            </a:r>
            <a:br>
              <a:rPr lang="en-US" sz="2200" noProof="0" dirty="0"/>
            </a:br>
            <a:r>
              <a:rPr lang="en-US" sz="2200" noProof="0" dirty="0"/>
              <a:t>  features</a:t>
            </a:r>
          </a:p>
          <a:p>
            <a:pPr marL="0" indent="0">
              <a:buNone/>
            </a:pPr>
            <a:r>
              <a:rPr lang="en-US" sz="2200" noProof="0" dirty="0">
                <a:solidFill>
                  <a:srgbClr val="822433"/>
                </a:solidFill>
              </a:rPr>
              <a:t>-</a:t>
            </a:r>
            <a:r>
              <a:rPr lang="en-US" sz="2200" noProof="0" dirty="0"/>
              <a:t> </a:t>
            </a:r>
            <a:r>
              <a:rPr lang="en-US" sz="2200" noProof="0" dirty="0">
                <a:solidFill>
                  <a:srgbClr val="822433"/>
                </a:solidFill>
              </a:rPr>
              <a:t>Separate heads </a:t>
            </a:r>
            <a:r>
              <a:rPr lang="en-US" sz="2200" noProof="0" dirty="0"/>
              <a:t>for image</a:t>
            </a:r>
            <a:br>
              <a:rPr lang="en-US" sz="2200" noProof="0" dirty="0"/>
            </a:br>
            <a:r>
              <a:rPr lang="en-US" sz="2200" noProof="0" dirty="0"/>
              <a:t>  detection and spatial localization</a:t>
            </a:r>
            <a:br>
              <a:rPr lang="en-US" noProof="0" dirty="0"/>
            </a:br>
            <a:endParaRPr lang="en-US" noProof="0" dirty="0"/>
          </a:p>
        </p:txBody>
      </p:sp>
      <p:sp>
        <p:nvSpPr>
          <p:cNvPr id="10" name="Segnaposto contenuto 5">
            <a:extLst>
              <a:ext uri="{FF2B5EF4-FFF2-40B4-BE49-F238E27FC236}">
                <a16:creationId xmlns:a16="http://schemas.microsoft.com/office/drawing/2014/main" id="{6A12BA27-D799-F0C4-85D4-A2EB79E44B5A}"/>
              </a:ext>
            </a:extLst>
          </p:cNvPr>
          <p:cNvSpPr txBox="1">
            <a:spLocks/>
          </p:cNvSpPr>
          <p:nvPr/>
        </p:nvSpPr>
        <p:spPr>
          <a:xfrm>
            <a:off x="6352032" y="2407516"/>
            <a:ext cx="4572000" cy="435133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noProof="0" dirty="0"/>
              <a:t>2 </a:t>
            </a:r>
            <a:r>
              <a:rPr lang="en-US" b="1" noProof="0" dirty="0">
                <a:solidFill>
                  <a:srgbClr val="822433"/>
                </a:solidFill>
              </a:rPr>
              <a:t>TinyGLASS</a:t>
            </a:r>
            <a:br>
              <a:rPr lang="en-US" b="1" noProof="0" dirty="0">
                <a:solidFill>
                  <a:srgbClr val="822433"/>
                </a:solidFill>
              </a:rPr>
            </a:br>
            <a:r>
              <a:rPr lang="en-US" sz="2200" b="1" noProof="0" dirty="0">
                <a:solidFill>
                  <a:srgbClr val="822433"/>
                </a:solidFill>
              </a:rPr>
              <a:t>- </a:t>
            </a:r>
            <a:r>
              <a:rPr lang="en-US" sz="2200" noProof="0" dirty="0">
                <a:solidFill>
                  <a:srgbClr val="822433"/>
                </a:solidFill>
              </a:rPr>
              <a:t>Compact</a:t>
            </a:r>
            <a:r>
              <a:rPr lang="en-US" sz="2200" noProof="0" dirty="0"/>
              <a:t> ResNet18 backbone</a:t>
            </a:r>
          </a:p>
          <a:p>
            <a:pPr marL="0" indent="0">
              <a:buFont typeface="Arial" panose="020B0604020202020204" pitchFamily="34" charset="0"/>
              <a:buNone/>
            </a:pPr>
            <a:r>
              <a:rPr lang="en-US" sz="2200" noProof="0" dirty="0">
                <a:solidFill>
                  <a:srgbClr val="822433"/>
                </a:solidFill>
              </a:rPr>
              <a:t>-</a:t>
            </a:r>
            <a:r>
              <a:rPr lang="en-US" sz="2200" noProof="0" dirty="0"/>
              <a:t> Combines </a:t>
            </a:r>
            <a:r>
              <a:rPr lang="en-US" sz="2200" noProof="0" dirty="0">
                <a:solidFill>
                  <a:srgbClr val="822433"/>
                </a:solidFill>
              </a:rPr>
              <a:t>image-space</a:t>
            </a:r>
            <a:br>
              <a:rPr lang="en-US" sz="2200" noProof="0" dirty="0"/>
            </a:br>
            <a:r>
              <a:rPr lang="en-US" sz="2200" noProof="0" dirty="0"/>
              <a:t>  alterations with </a:t>
            </a:r>
            <a:r>
              <a:rPr lang="en-US" sz="2200" noProof="0" dirty="0">
                <a:solidFill>
                  <a:srgbClr val="822433"/>
                </a:solidFill>
              </a:rPr>
              <a:t>features-space</a:t>
            </a:r>
            <a:br>
              <a:rPr lang="en-US" sz="2200" noProof="0" dirty="0"/>
            </a:br>
            <a:r>
              <a:rPr lang="en-US" sz="2200" noProof="0" dirty="0"/>
              <a:t>  perturbations</a:t>
            </a:r>
          </a:p>
          <a:p>
            <a:pPr marL="0" indent="0">
              <a:buFont typeface="Arial" panose="020B0604020202020204" pitchFamily="34" charset="0"/>
              <a:buNone/>
            </a:pPr>
            <a:r>
              <a:rPr lang="en-US" sz="2200" noProof="0" dirty="0">
                <a:solidFill>
                  <a:srgbClr val="822433"/>
                </a:solidFill>
              </a:rPr>
              <a:t>-</a:t>
            </a:r>
            <a:r>
              <a:rPr lang="en-US" sz="2200" noProof="0" dirty="0"/>
              <a:t> </a:t>
            </a:r>
            <a:r>
              <a:rPr lang="en-US" sz="2200" noProof="0" dirty="0">
                <a:solidFill>
                  <a:srgbClr val="822433"/>
                </a:solidFill>
              </a:rPr>
              <a:t>Adapted</a:t>
            </a:r>
            <a:r>
              <a:rPr lang="en-US" sz="2200" noProof="0" dirty="0"/>
              <a:t> to create specialized</a:t>
            </a:r>
            <a:br>
              <a:rPr lang="en-US" sz="2200" noProof="0" dirty="0"/>
            </a:br>
            <a:r>
              <a:rPr lang="en-US" sz="2200" noProof="0" dirty="0"/>
              <a:t>  </a:t>
            </a:r>
            <a:r>
              <a:rPr lang="en-US" sz="2200" noProof="0" dirty="0">
                <a:solidFill>
                  <a:srgbClr val="822433"/>
                </a:solidFill>
              </a:rPr>
              <a:t>hole like</a:t>
            </a:r>
            <a:r>
              <a:rPr lang="en-US" sz="2200" noProof="0" dirty="0">
                <a:solidFill>
                  <a:schemeClr val="tx1">
                    <a:lumMod val="95000"/>
                    <a:lumOff val="5000"/>
                  </a:schemeClr>
                </a:solidFill>
              </a:rPr>
              <a:t> alterations</a:t>
            </a:r>
            <a:br>
              <a:rPr lang="en-US" noProof="0" dirty="0"/>
            </a:br>
            <a:endParaRPr lang="en-US" noProof="0" dirty="0"/>
          </a:p>
        </p:txBody>
      </p:sp>
      <p:sp>
        <p:nvSpPr>
          <p:cNvPr id="12" name="CasellaDiTesto 11">
            <a:extLst>
              <a:ext uri="{FF2B5EF4-FFF2-40B4-BE49-F238E27FC236}">
                <a16:creationId xmlns:a16="http://schemas.microsoft.com/office/drawing/2014/main" id="{26C0AD4E-3E56-CD77-9AF5-2B5E0B06CC86}"/>
              </a:ext>
            </a:extLst>
          </p:cNvPr>
          <p:cNvSpPr txBox="1"/>
          <p:nvPr/>
        </p:nvSpPr>
        <p:spPr>
          <a:xfrm>
            <a:off x="1184564" y="1604159"/>
            <a:ext cx="9587345" cy="400110"/>
          </a:xfrm>
          <a:prstGeom prst="rect">
            <a:avLst/>
          </a:prstGeom>
          <a:noFill/>
        </p:spPr>
        <p:txBody>
          <a:bodyPr wrap="square" rtlCol="0">
            <a:spAutoFit/>
          </a:bodyPr>
          <a:lstStyle/>
          <a:p>
            <a:r>
              <a:rPr lang="en-US" sz="2000" b="1" noProof="0" dirty="0">
                <a:solidFill>
                  <a:srgbClr val="822433"/>
                </a:solidFill>
                <a:latin typeface="Roboto" panose="02000000000000000000" pitchFamily="2" charset="0"/>
                <a:ea typeface="Roboto" panose="02000000000000000000" pitchFamily="2" charset="0"/>
              </a:rPr>
              <a:t>Goal: </a:t>
            </a:r>
            <a:r>
              <a:rPr lang="en-US" sz="2000" noProof="0" dirty="0">
                <a:latin typeface="Roboto" panose="02000000000000000000" pitchFamily="2" charset="0"/>
                <a:ea typeface="Roboto" panose="02000000000000000000" pitchFamily="2" charset="0"/>
              </a:rPr>
              <a:t>Compare AD approaches in term of accuracy and computational cost</a:t>
            </a:r>
          </a:p>
        </p:txBody>
      </p:sp>
    </p:spTree>
    <p:extLst>
      <p:ext uri="{BB962C8B-B14F-4D97-AF65-F5344CB8AC3E}">
        <p14:creationId xmlns:p14="http://schemas.microsoft.com/office/powerpoint/2010/main" val="21228924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D974E-45DA-3F68-01D9-7A37586BA78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E1A6707-7D1D-0F74-464D-A1283F66F368}"/>
              </a:ext>
            </a:extLst>
          </p:cNvPr>
          <p:cNvSpPr>
            <a:spLocks noGrp="1"/>
          </p:cNvSpPr>
          <p:nvPr>
            <p:ph type="title"/>
          </p:nvPr>
        </p:nvSpPr>
        <p:spPr>
          <a:xfrm>
            <a:off x="838200" y="365125"/>
            <a:ext cx="8384177" cy="835787"/>
          </a:xfrm>
        </p:spPr>
        <p:txBody>
          <a:bodyPr/>
          <a:lstStyle/>
          <a:p>
            <a:r>
              <a:rPr lang="en-US" dirty="0">
                <a:solidFill>
                  <a:srgbClr val="822433"/>
                </a:solidFill>
              </a:rPr>
              <a:t>P</a:t>
            </a:r>
            <a:r>
              <a:rPr lang="en-US" noProof="0" dirty="0">
                <a:solidFill>
                  <a:srgbClr val="822433"/>
                </a:solidFill>
              </a:rPr>
              <a:t>reprocessing</a:t>
            </a:r>
          </a:p>
        </p:txBody>
      </p:sp>
      <p:sp>
        <p:nvSpPr>
          <p:cNvPr id="4" name="Google Shape;102;p14">
            <a:extLst>
              <a:ext uri="{FF2B5EF4-FFF2-40B4-BE49-F238E27FC236}">
                <a16:creationId xmlns:a16="http://schemas.microsoft.com/office/drawing/2014/main" id="{5172196D-A79E-15D0-59EB-B039391B9539}"/>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21</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7F0CCFBA-1ECA-8AFC-C625-E97B7DA3D08C}"/>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10" name="Immagine 9">
            <a:extLst>
              <a:ext uri="{FF2B5EF4-FFF2-40B4-BE49-F238E27FC236}">
                <a16:creationId xmlns:a16="http://schemas.microsoft.com/office/drawing/2014/main" id="{05C01783-730C-D87E-7BE6-CEE8057363F6}"/>
              </a:ext>
            </a:extLst>
          </p:cNvPr>
          <p:cNvPicPr>
            <a:picLocks noChangeAspect="1"/>
          </p:cNvPicPr>
          <p:nvPr/>
        </p:nvPicPr>
        <p:blipFill>
          <a:blip r:embed="rId3"/>
          <a:stretch/>
        </p:blipFill>
        <p:spPr>
          <a:xfrm>
            <a:off x="1478973" y="2260643"/>
            <a:ext cx="8707582" cy="3990975"/>
          </a:xfrm>
          <a:prstGeom prst="rect">
            <a:avLst/>
          </a:prstGeom>
        </p:spPr>
      </p:pic>
      <p:sp>
        <p:nvSpPr>
          <p:cNvPr id="11" name="CasellaDiTesto 10">
            <a:extLst>
              <a:ext uri="{FF2B5EF4-FFF2-40B4-BE49-F238E27FC236}">
                <a16:creationId xmlns:a16="http://schemas.microsoft.com/office/drawing/2014/main" id="{FD7F7CA6-4CA5-B94E-130A-BDDDEEA5990A}"/>
              </a:ext>
            </a:extLst>
          </p:cNvPr>
          <p:cNvSpPr txBox="1"/>
          <p:nvPr/>
        </p:nvSpPr>
        <p:spPr>
          <a:xfrm>
            <a:off x="1143001" y="1614312"/>
            <a:ext cx="10094430" cy="646331"/>
          </a:xfrm>
          <a:prstGeom prst="rect">
            <a:avLst/>
          </a:prstGeom>
          <a:noFill/>
        </p:spPr>
        <p:txBody>
          <a:bodyPr wrap="none" rtlCol="0">
            <a:spAutoFit/>
          </a:bodyPr>
          <a:lstStyle/>
          <a:p>
            <a:r>
              <a:rPr lang="en-US" noProof="0" dirty="0">
                <a:latin typeface="Roboto" panose="02000000000000000000" pitchFamily="2" charset="0"/>
                <a:ea typeface="Roboto" panose="02000000000000000000" pitchFamily="2" charset="0"/>
                <a:cs typeface="Roboto" panose="02000000000000000000" pitchFamily="2" charset="0"/>
              </a:rPr>
              <a:t>Based on preliminary experiments, a fixed 720 × 720 crop and only one camera pose A was used </a:t>
            </a:r>
            <a:br>
              <a:rPr lang="en-US" noProof="0" dirty="0">
                <a:latin typeface="Roboto" panose="02000000000000000000" pitchFamily="2" charset="0"/>
                <a:ea typeface="Roboto" panose="02000000000000000000" pitchFamily="2" charset="0"/>
                <a:cs typeface="Roboto" panose="02000000000000000000" pitchFamily="2" charset="0"/>
              </a:rPr>
            </a:br>
            <a:r>
              <a:rPr lang="en-US" noProof="0" dirty="0">
                <a:latin typeface="Roboto" panose="02000000000000000000" pitchFamily="2" charset="0"/>
                <a:ea typeface="Roboto" panose="02000000000000000000" pitchFamily="2" charset="0"/>
                <a:cs typeface="Roboto" panose="02000000000000000000" pitchFamily="2" charset="0"/>
              </a:rPr>
              <a:t>for training, because it helped having a single normal reference</a:t>
            </a:r>
          </a:p>
        </p:txBody>
      </p:sp>
    </p:spTree>
    <p:extLst>
      <p:ext uri="{BB962C8B-B14F-4D97-AF65-F5344CB8AC3E}">
        <p14:creationId xmlns:p14="http://schemas.microsoft.com/office/powerpoint/2010/main" val="3371800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3EAF4-FF6C-CAF5-B270-07F0A75C744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705D1C1-A403-9683-648A-F12A013998C7}"/>
              </a:ext>
            </a:extLst>
          </p:cNvPr>
          <p:cNvSpPr>
            <a:spLocks noGrp="1"/>
          </p:cNvSpPr>
          <p:nvPr>
            <p:ph type="title"/>
          </p:nvPr>
        </p:nvSpPr>
        <p:spPr/>
        <p:txBody>
          <a:bodyPr>
            <a:normAutofit/>
          </a:bodyPr>
          <a:lstStyle/>
          <a:p>
            <a:r>
              <a:rPr lang="it-IT" sz="5400" dirty="0" err="1">
                <a:solidFill>
                  <a:srgbClr val="822433"/>
                </a:solidFill>
              </a:rPr>
              <a:t>Results</a:t>
            </a:r>
            <a:endParaRPr lang="it-IT" sz="5400" dirty="0">
              <a:solidFill>
                <a:srgbClr val="822433"/>
              </a:solidFill>
            </a:endParaRPr>
          </a:p>
        </p:txBody>
      </p:sp>
      <p:sp>
        <p:nvSpPr>
          <p:cNvPr id="3" name="Segnaposto testo 2">
            <a:extLst>
              <a:ext uri="{FF2B5EF4-FFF2-40B4-BE49-F238E27FC236}">
                <a16:creationId xmlns:a16="http://schemas.microsoft.com/office/drawing/2014/main" id="{61BFE22E-331F-BA2C-8863-9ED455C5ADA3}"/>
              </a:ext>
            </a:extLst>
          </p:cNvPr>
          <p:cNvSpPr>
            <a:spLocks noGrp="1"/>
          </p:cNvSpPr>
          <p:nvPr>
            <p:ph type="body" idx="1"/>
          </p:nvPr>
        </p:nvSpPr>
        <p:spPr>
          <a:xfrm>
            <a:off x="844550" y="2345259"/>
            <a:ext cx="10515600" cy="1544002"/>
          </a:xfrm>
        </p:spPr>
        <p:txBody>
          <a:bodyPr>
            <a:normAutofit lnSpcReduction="10000"/>
          </a:bodyPr>
          <a:lstStyle/>
          <a:p>
            <a:r>
              <a:rPr lang="it-IT" dirty="0" err="1"/>
              <a:t>Introduction</a:t>
            </a:r>
            <a:br>
              <a:rPr lang="it-IT" dirty="0"/>
            </a:br>
            <a:r>
              <a:rPr lang="it-IT" dirty="0" err="1">
                <a:solidFill>
                  <a:schemeClr val="bg1">
                    <a:lumMod val="50000"/>
                  </a:schemeClr>
                </a:solidFill>
              </a:rPr>
              <a:t>Lightweight</a:t>
            </a:r>
            <a:r>
              <a:rPr lang="it-IT" dirty="0">
                <a:solidFill>
                  <a:schemeClr val="bg1">
                    <a:lumMod val="50000"/>
                  </a:schemeClr>
                </a:solidFill>
              </a:rPr>
              <a:t> Scene </a:t>
            </a:r>
            <a:r>
              <a:rPr lang="it-IT" dirty="0" err="1">
                <a:solidFill>
                  <a:schemeClr val="bg1">
                    <a:lumMod val="50000"/>
                  </a:schemeClr>
                </a:solidFill>
              </a:rPr>
              <a:t>Understanding</a:t>
            </a:r>
            <a:br>
              <a:rPr lang="it-IT" dirty="0">
                <a:solidFill>
                  <a:schemeClr val="bg1">
                    <a:lumMod val="50000"/>
                  </a:schemeClr>
                </a:solidFill>
              </a:rPr>
            </a:br>
            <a:r>
              <a:rPr lang="it-IT" dirty="0" err="1">
                <a:solidFill>
                  <a:schemeClr val="bg1">
                    <a:lumMod val="50000"/>
                  </a:schemeClr>
                </a:solidFill>
              </a:rPr>
              <a:t>Synthetic</a:t>
            </a:r>
            <a:r>
              <a:rPr lang="it-IT" dirty="0">
                <a:solidFill>
                  <a:schemeClr val="bg1">
                    <a:lumMod val="50000"/>
                  </a:schemeClr>
                </a:solidFill>
              </a:rPr>
              <a:t> Dataset Generation</a:t>
            </a:r>
            <a:br>
              <a:rPr lang="it-IT" dirty="0">
                <a:solidFill>
                  <a:schemeClr val="bg1">
                    <a:lumMod val="50000"/>
                  </a:schemeClr>
                </a:solidFill>
              </a:rPr>
            </a:br>
            <a:r>
              <a:rPr lang="it-IT" dirty="0" err="1">
                <a:solidFill>
                  <a:schemeClr val="bg1">
                    <a:lumMod val="50000"/>
                  </a:schemeClr>
                </a:solidFill>
              </a:rPr>
              <a:t>Synthetic</a:t>
            </a:r>
            <a:r>
              <a:rPr lang="it-IT" dirty="0">
                <a:solidFill>
                  <a:schemeClr val="bg1">
                    <a:lumMod val="50000"/>
                  </a:schemeClr>
                </a:solidFill>
              </a:rPr>
              <a:t> </a:t>
            </a:r>
            <a:r>
              <a:rPr lang="it-IT" dirty="0" err="1">
                <a:solidFill>
                  <a:schemeClr val="bg1">
                    <a:lumMod val="50000"/>
                  </a:schemeClr>
                </a:solidFill>
              </a:rPr>
              <a:t>Damage</a:t>
            </a:r>
            <a:r>
              <a:rPr lang="it-IT" dirty="0">
                <a:solidFill>
                  <a:schemeClr val="bg1">
                    <a:lumMod val="50000"/>
                  </a:schemeClr>
                </a:solidFill>
              </a:rPr>
              <a:t> </a:t>
            </a:r>
            <a:r>
              <a:rPr lang="it-IT" dirty="0" err="1">
                <a:solidFill>
                  <a:schemeClr val="bg1">
                    <a:lumMod val="50000"/>
                  </a:schemeClr>
                </a:solidFill>
              </a:rPr>
              <a:t>Inspection</a:t>
            </a:r>
            <a:endParaRPr lang="it-IT" dirty="0">
              <a:solidFill>
                <a:schemeClr val="bg1">
                  <a:lumMod val="50000"/>
                </a:schemeClr>
              </a:solidFill>
            </a:endParaRPr>
          </a:p>
        </p:txBody>
      </p:sp>
      <p:sp>
        <p:nvSpPr>
          <p:cNvPr id="4" name="Google Shape;102;p14">
            <a:extLst>
              <a:ext uri="{FF2B5EF4-FFF2-40B4-BE49-F238E27FC236}">
                <a16:creationId xmlns:a16="http://schemas.microsoft.com/office/drawing/2014/main" id="{1A17498E-FA1D-2807-FFFF-0D4BA57DF4D2}"/>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22</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76173B0E-A155-AF15-A232-F9574D652BC7}"/>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8" name="Segnaposto testo 2">
            <a:extLst>
              <a:ext uri="{FF2B5EF4-FFF2-40B4-BE49-F238E27FC236}">
                <a16:creationId xmlns:a16="http://schemas.microsoft.com/office/drawing/2014/main" id="{D3DC633C-8853-9424-6E25-22C6917DC5B2}"/>
              </a:ext>
            </a:extLst>
          </p:cNvPr>
          <p:cNvSpPr txBox="1">
            <a:spLocks/>
          </p:cNvSpPr>
          <p:nvPr/>
        </p:nvSpPr>
        <p:spPr>
          <a:xfrm>
            <a:off x="844550" y="4562475"/>
            <a:ext cx="10515600" cy="154400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8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r>
              <a:rPr lang="en-US" dirty="0"/>
              <a:t>Conclusions</a:t>
            </a:r>
            <a:endParaRPr lang="it-IT" dirty="0"/>
          </a:p>
        </p:txBody>
      </p:sp>
    </p:spTree>
    <p:extLst>
      <p:ext uri="{BB962C8B-B14F-4D97-AF65-F5344CB8AC3E}">
        <p14:creationId xmlns:p14="http://schemas.microsoft.com/office/powerpoint/2010/main" val="1543832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8D659-1EC5-A9E1-89C0-B2C99E86295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7AB4C88-3498-D11C-BB58-096E1DFC2913}"/>
              </a:ext>
            </a:extLst>
          </p:cNvPr>
          <p:cNvSpPr>
            <a:spLocks noGrp="1"/>
          </p:cNvSpPr>
          <p:nvPr>
            <p:ph type="title"/>
          </p:nvPr>
        </p:nvSpPr>
        <p:spPr>
          <a:xfrm>
            <a:off x="838200" y="365125"/>
            <a:ext cx="8384177" cy="835787"/>
          </a:xfrm>
        </p:spPr>
        <p:txBody>
          <a:bodyPr/>
          <a:lstStyle/>
          <a:p>
            <a:r>
              <a:rPr lang="en-US" dirty="0">
                <a:solidFill>
                  <a:srgbClr val="822433"/>
                </a:solidFill>
              </a:rPr>
              <a:t>Semantic Segmentation: Quality</a:t>
            </a:r>
            <a:endParaRPr lang="en-US" noProof="0" dirty="0">
              <a:solidFill>
                <a:srgbClr val="822433"/>
              </a:solidFill>
            </a:endParaRPr>
          </a:p>
        </p:txBody>
      </p:sp>
      <p:sp>
        <p:nvSpPr>
          <p:cNvPr id="4" name="Google Shape;102;p14">
            <a:extLst>
              <a:ext uri="{FF2B5EF4-FFF2-40B4-BE49-F238E27FC236}">
                <a16:creationId xmlns:a16="http://schemas.microsoft.com/office/drawing/2014/main" id="{828421EA-6AD6-06E7-F9E4-764739558A92}"/>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23</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75859FAA-366C-F762-DB80-430840E54E91}"/>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12" name="Chart">
            <a:extLst>
              <a:ext uri="{FF2B5EF4-FFF2-40B4-BE49-F238E27FC236}">
                <a16:creationId xmlns:a16="http://schemas.microsoft.com/office/drawing/2014/main" id="{140DAC26-A801-17B6-4C89-DCD77DDACB30}"/>
              </a:ext>
            </a:extLst>
          </p:cNvPr>
          <p:cNvGraphicFramePr/>
          <p:nvPr>
            <p:extLst>
              <p:ext uri="{D42A27DB-BD31-4B8C-83A1-F6EECF244321}">
                <p14:modId xmlns:p14="http://schemas.microsoft.com/office/powerpoint/2010/main" val="837873225"/>
              </p:ext>
            </p:extLst>
          </p:nvPr>
        </p:nvGraphicFramePr>
        <p:xfrm>
          <a:off x="958948" y="1556678"/>
          <a:ext cx="7715250" cy="4171950"/>
        </p:xfrm>
        <a:graphic>
          <a:graphicData uri="http://schemas.openxmlformats.org/drawingml/2006/chart">
            <c:chart xmlns:c="http://schemas.openxmlformats.org/drawingml/2006/chart" xmlns:r="http://schemas.openxmlformats.org/officeDocument/2006/relationships" r:id="rId3"/>
          </a:graphicData>
        </a:graphic>
      </p:graphicFrame>
      <p:sp>
        <p:nvSpPr>
          <p:cNvPr id="14" name="segmetric">
            <a:extLst>
              <a:ext uri="{FF2B5EF4-FFF2-40B4-BE49-F238E27FC236}">
                <a16:creationId xmlns:a16="http://schemas.microsoft.com/office/drawing/2014/main" id="{683F8C51-DDD6-899A-A679-32684091905B}"/>
              </a:ext>
            </a:extLst>
          </p:cNvPr>
          <p:cNvSpPr>
            <a:spLocks noGrp="1"/>
          </p:cNvSpPr>
          <p:nvPr/>
        </p:nvSpPr>
        <p:spPr>
          <a:xfrm>
            <a:off x="2761077" y="5684502"/>
            <a:ext cx="10096500" cy="333375"/>
          </a:xfrm>
          <a:prstGeom prst="rect">
            <a:avLst/>
          </a:prstGeom>
          <a:noFill/>
          <a:ln w="0">
            <a:noFill/>
          </a:ln>
        </p:spPr>
        <p:txBody>
          <a:bodyPr wrap="square" lIns="0" tIns="0" rIns="0" bIns="0" anchor="t">
            <a:noAutofit/>
          </a:bodyPr>
          <a:lstStyle>
            <a:defPPr algn="l">
              <a:defRPr lang="en-US" sz="1875" b="0">
                <a:solidFill>
                  <a:srgbClr val="656B73"/>
                </a:solidFill>
                <a:latin typeface="Roboto"/>
                <a:ea typeface="Roboto"/>
                <a:cs typeface="Roboto"/>
              </a:defRPr>
            </a:defPPr>
            <a:lvl1pPr algn="l">
              <a:defRPr lang="en-US" sz="1875" b="0">
                <a:solidFill>
                  <a:srgbClr val="656B73"/>
                </a:solidFill>
                <a:latin typeface="Roboto"/>
                <a:ea typeface="Roboto"/>
                <a:cs typeface="Roboto"/>
              </a:defRPr>
            </a:lvl1pPr>
            <a:lvl2pPr algn="l">
              <a:defRPr lang="en-US" sz="1875" b="0">
                <a:solidFill>
                  <a:srgbClr val="656B73"/>
                </a:solidFill>
                <a:latin typeface="Roboto"/>
                <a:ea typeface="Roboto"/>
                <a:cs typeface="Roboto"/>
              </a:defRPr>
            </a:lvl2pPr>
            <a:lvl3pPr algn="l">
              <a:defRPr lang="en-US" sz="1875" b="0">
                <a:solidFill>
                  <a:srgbClr val="656B73"/>
                </a:solidFill>
                <a:latin typeface="Roboto"/>
                <a:ea typeface="Roboto"/>
                <a:cs typeface="Roboto"/>
              </a:defRPr>
            </a:lvl3pPr>
            <a:lvl4pPr algn="l">
              <a:defRPr lang="en-US" sz="1875" b="0">
                <a:solidFill>
                  <a:srgbClr val="656B73"/>
                </a:solidFill>
                <a:latin typeface="Roboto"/>
                <a:ea typeface="Roboto"/>
                <a:cs typeface="Roboto"/>
              </a:defRPr>
            </a:lvl4pPr>
            <a:lvl5pPr algn="l">
              <a:defRPr lang="en-US" sz="1875" b="0">
                <a:solidFill>
                  <a:srgbClr val="656B73"/>
                </a:solidFill>
                <a:latin typeface="Roboto"/>
                <a:ea typeface="Roboto"/>
                <a:cs typeface="Roboto"/>
              </a:defRPr>
            </a:lvl5pPr>
            <a:lvl6pPr algn="l">
              <a:defRPr lang="en-US" sz="1875" b="0">
                <a:solidFill>
                  <a:srgbClr val="656B73"/>
                </a:solidFill>
                <a:latin typeface="Roboto"/>
                <a:ea typeface="Roboto"/>
                <a:cs typeface="Roboto"/>
              </a:defRPr>
            </a:lvl6pPr>
            <a:lvl7pPr algn="l">
              <a:defRPr lang="en-US" sz="1875" b="0">
                <a:solidFill>
                  <a:srgbClr val="656B73"/>
                </a:solidFill>
                <a:latin typeface="Roboto"/>
                <a:ea typeface="Roboto"/>
                <a:cs typeface="Roboto"/>
              </a:defRPr>
            </a:lvl7pPr>
            <a:lvl8pPr algn="l">
              <a:defRPr lang="en-US" sz="1875" b="0">
                <a:solidFill>
                  <a:srgbClr val="656B73"/>
                </a:solidFill>
                <a:latin typeface="Roboto"/>
                <a:ea typeface="Roboto"/>
                <a:cs typeface="Roboto"/>
              </a:defRPr>
            </a:lvl8pPr>
            <a:lvl9pPr algn="l">
              <a:defRPr lang="en-US" sz="1875" b="0">
                <a:solidFill>
                  <a:srgbClr val="656B73"/>
                </a:solidFill>
                <a:latin typeface="Roboto"/>
                <a:ea typeface="Roboto"/>
                <a:cs typeface="Roboto"/>
              </a:defRPr>
            </a:lvl9pPr>
          </a:lstStyle>
          <a:p>
            <a:pPr algn="l">
              <a:defRPr lang="en-US" sz="1875" b="0">
                <a:solidFill>
                  <a:srgbClr val="656B73"/>
                </a:solidFill>
                <a:latin typeface="Roboto"/>
                <a:ea typeface="Roboto"/>
                <a:cs typeface="Roboto"/>
              </a:defRPr>
            </a:pPr>
            <a:r>
              <a:rPr lang="en-US" sz="1600" b="0" dirty="0" err="1">
                <a:solidFill>
                  <a:srgbClr val="656B73"/>
                </a:solidFill>
                <a:latin typeface="Roboto"/>
                <a:ea typeface="Roboto"/>
                <a:cs typeface="Roboto"/>
              </a:rPr>
              <a:t>S⁵Mars</a:t>
            </a:r>
            <a:r>
              <a:rPr lang="en-US" sz="1600" b="0" dirty="0">
                <a:solidFill>
                  <a:srgbClr val="656B73"/>
                </a:solidFill>
                <a:latin typeface="Roboto"/>
                <a:ea typeface="Roboto"/>
                <a:cs typeface="Roboto"/>
              </a:rPr>
              <a:t> test </a:t>
            </a:r>
            <a:r>
              <a:rPr lang="en-US" sz="1600" b="0" dirty="0" err="1">
                <a:solidFill>
                  <a:srgbClr val="656B73"/>
                </a:solidFill>
                <a:latin typeface="Roboto"/>
                <a:ea typeface="Roboto"/>
                <a:cs typeface="Roboto"/>
              </a:rPr>
              <a:t>mIoU</a:t>
            </a:r>
            <a:r>
              <a:rPr lang="en-US" sz="1600" b="0" dirty="0">
                <a:solidFill>
                  <a:srgbClr val="656B73"/>
                </a:solidFill>
                <a:latin typeface="Roboto"/>
                <a:ea typeface="Roboto"/>
                <a:cs typeface="Roboto"/>
              </a:rPr>
              <a:t>, FP32 configurations</a:t>
            </a:r>
          </a:p>
        </p:txBody>
      </p:sp>
      <p:sp>
        <p:nvSpPr>
          <p:cNvPr id="16" name="best-seg-value">
            <a:extLst>
              <a:ext uri="{FF2B5EF4-FFF2-40B4-BE49-F238E27FC236}">
                <a16:creationId xmlns:a16="http://schemas.microsoft.com/office/drawing/2014/main" id="{D8CD169C-FF17-51E5-43BA-647C1168C841}"/>
              </a:ext>
            </a:extLst>
          </p:cNvPr>
          <p:cNvSpPr>
            <a:spLocks noGrp="1"/>
          </p:cNvSpPr>
          <p:nvPr/>
        </p:nvSpPr>
        <p:spPr>
          <a:xfrm>
            <a:off x="8828796" y="2885263"/>
            <a:ext cx="2905125" cy="895350"/>
          </a:xfrm>
          <a:prstGeom prst="rect">
            <a:avLst/>
          </a:prstGeom>
          <a:noFill/>
          <a:ln w="0">
            <a:noFill/>
          </a:ln>
        </p:spPr>
        <p:txBody>
          <a:bodyPr wrap="square" lIns="0" tIns="0" rIns="0" bIns="0" anchor="t">
            <a:noAutofit/>
          </a:bodyPr>
          <a:lstStyle>
            <a:defPPr algn="ctr">
              <a:defRPr lang="en-US" sz="4800" b="1">
                <a:solidFill>
                  <a:srgbClr val="822433"/>
                </a:solidFill>
                <a:latin typeface="Roboto"/>
                <a:ea typeface="Roboto"/>
                <a:cs typeface="Roboto"/>
              </a:defRPr>
            </a:defPPr>
            <a:lvl1pPr algn="ctr">
              <a:defRPr lang="en-US" sz="4800" b="1">
                <a:solidFill>
                  <a:srgbClr val="822433"/>
                </a:solidFill>
                <a:latin typeface="Roboto"/>
                <a:ea typeface="Roboto"/>
                <a:cs typeface="Roboto"/>
              </a:defRPr>
            </a:lvl1pPr>
            <a:lvl2pPr algn="ctr">
              <a:defRPr lang="en-US" sz="4800" b="1">
                <a:solidFill>
                  <a:srgbClr val="822433"/>
                </a:solidFill>
                <a:latin typeface="Roboto"/>
                <a:ea typeface="Roboto"/>
                <a:cs typeface="Roboto"/>
              </a:defRPr>
            </a:lvl2pPr>
            <a:lvl3pPr algn="ctr">
              <a:defRPr lang="en-US" sz="4800" b="1">
                <a:solidFill>
                  <a:srgbClr val="822433"/>
                </a:solidFill>
                <a:latin typeface="Roboto"/>
                <a:ea typeface="Roboto"/>
                <a:cs typeface="Roboto"/>
              </a:defRPr>
            </a:lvl3pPr>
            <a:lvl4pPr algn="ctr">
              <a:defRPr lang="en-US" sz="4800" b="1">
                <a:solidFill>
                  <a:srgbClr val="822433"/>
                </a:solidFill>
                <a:latin typeface="Roboto"/>
                <a:ea typeface="Roboto"/>
                <a:cs typeface="Roboto"/>
              </a:defRPr>
            </a:lvl4pPr>
            <a:lvl5pPr algn="ctr">
              <a:defRPr lang="en-US" sz="4800" b="1">
                <a:solidFill>
                  <a:srgbClr val="822433"/>
                </a:solidFill>
                <a:latin typeface="Roboto"/>
                <a:ea typeface="Roboto"/>
                <a:cs typeface="Roboto"/>
              </a:defRPr>
            </a:lvl5pPr>
            <a:lvl6pPr algn="ctr">
              <a:defRPr lang="en-US" sz="4800" b="1">
                <a:solidFill>
                  <a:srgbClr val="822433"/>
                </a:solidFill>
                <a:latin typeface="Roboto"/>
                <a:ea typeface="Roboto"/>
                <a:cs typeface="Roboto"/>
              </a:defRPr>
            </a:lvl6pPr>
            <a:lvl7pPr algn="ctr">
              <a:defRPr lang="en-US" sz="4800" b="1">
                <a:solidFill>
                  <a:srgbClr val="822433"/>
                </a:solidFill>
                <a:latin typeface="Roboto"/>
                <a:ea typeface="Roboto"/>
                <a:cs typeface="Roboto"/>
              </a:defRPr>
            </a:lvl7pPr>
            <a:lvl8pPr algn="ctr">
              <a:defRPr lang="en-US" sz="4800" b="1">
                <a:solidFill>
                  <a:srgbClr val="822433"/>
                </a:solidFill>
                <a:latin typeface="Roboto"/>
                <a:ea typeface="Roboto"/>
                <a:cs typeface="Roboto"/>
              </a:defRPr>
            </a:lvl8pPr>
            <a:lvl9pPr algn="ctr">
              <a:defRPr lang="en-US" sz="4800" b="1">
                <a:solidFill>
                  <a:srgbClr val="822433"/>
                </a:solidFill>
                <a:latin typeface="Roboto"/>
                <a:ea typeface="Roboto"/>
                <a:cs typeface="Roboto"/>
              </a:defRPr>
            </a:lvl9pPr>
          </a:lstStyle>
          <a:p>
            <a:pPr algn="ctr">
              <a:defRPr lang="en-US" sz="4800" b="1">
                <a:solidFill>
                  <a:srgbClr val="822433"/>
                </a:solidFill>
                <a:latin typeface="Roboto"/>
                <a:ea typeface="Roboto"/>
                <a:cs typeface="Roboto"/>
              </a:defRPr>
            </a:pPr>
            <a:r>
              <a:rPr lang="en-US" sz="4800" b="1" dirty="0">
                <a:solidFill>
                  <a:srgbClr val="822433"/>
                </a:solidFill>
                <a:latin typeface="Roboto"/>
                <a:ea typeface="Roboto"/>
                <a:cs typeface="Roboto"/>
              </a:rPr>
              <a:t>75.55%</a:t>
            </a:r>
          </a:p>
        </p:txBody>
      </p:sp>
      <p:sp>
        <p:nvSpPr>
          <p:cNvPr id="18" name="best-seg-model">
            <a:extLst>
              <a:ext uri="{FF2B5EF4-FFF2-40B4-BE49-F238E27FC236}">
                <a16:creationId xmlns:a16="http://schemas.microsoft.com/office/drawing/2014/main" id="{B34A71A2-9C61-8B85-A2C8-FDA132BD775D}"/>
              </a:ext>
            </a:extLst>
          </p:cNvPr>
          <p:cNvSpPr>
            <a:spLocks noGrp="1"/>
          </p:cNvSpPr>
          <p:nvPr/>
        </p:nvSpPr>
        <p:spPr>
          <a:xfrm>
            <a:off x="8914521" y="3561538"/>
            <a:ext cx="2762250" cy="438150"/>
          </a:xfrm>
          <a:prstGeom prst="rect">
            <a:avLst/>
          </a:prstGeom>
          <a:noFill/>
          <a:ln w="0">
            <a:noFill/>
          </a:ln>
        </p:spPr>
        <p:txBody>
          <a:bodyPr wrap="square" lIns="0" tIns="0" rIns="0" bIns="0" anchor="t">
            <a:noAutofit/>
          </a:bodyPr>
          <a:lstStyle>
            <a:defPPr algn="ctr">
              <a:defRPr lang="en-US" sz="2175" b="1">
                <a:solidFill>
                  <a:srgbClr val="202124"/>
                </a:solidFill>
                <a:latin typeface="Roboto"/>
                <a:ea typeface="Roboto"/>
                <a:cs typeface="Roboto"/>
              </a:defRPr>
            </a:defPPr>
            <a:lvl1pPr algn="ctr">
              <a:defRPr lang="en-US" sz="2175" b="1">
                <a:solidFill>
                  <a:srgbClr val="202124"/>
                </a:solidFill>
                <a:latin typeface="Roboto"/>
                <a:ea typeface="Roboto"/>
                <a:cs typeface="Roboto"/>
              </a:defRPr>
            </a:lvl1pPr>
            <a:lvl2pPr algn="ctr">
              <a:defRPr lang="en-US" sz="2175" b="1">
                <a:solidFill>
                  <a:srgbClr val="202124"/>
                </a:solidFill>
                <a:latin typeface="Roboto"/>
                <a:ea typeface="Roboto"/>
                <a:cs typeface="Roboto"/>
              </a:defRPr>
            </a:lvl2pPr>
            <a:lvl3pPr algn="ctr">
              <a:defRPr lang="en-US" sz="2175" b="1">
                <a:solidFill>
                  <a:srgbClr val="202124"/>
                </a:solidFill>
                <a:latin typeface="Roboto"/>
                <a:ea typeface="Roboto"/>
                <a:cs typeface="Roboto"/>
              </a:defRPr>
            </a:lvl3pPr>
            <a:lvl4pPr algn="ctr">
              <a:defRPr lang="en-US" sz="2175" b="1">
                <a:solidFill>
                  <a:srgbClr val="202124"/>
                </a:solidFill>
                <a:latin typeface="Roboto"/>
                <a:ea typeface="Roboto"/>
                <a:cs typeface="Roboto"/>
              </a:defRPr>
            </a:lvl4pPr>
            <a:lvl5pPr algn="ctr">
              <a:defRPr lang="en-US" sz="2175" b="1">
                <a:solidFill>
                  <a:srgbClr val="202124"/>
                </a:solidFill>
                <a:latin typeface="Roboto"/>
                <a:ea typeface="Roboto"/>
                <a:cs typeface="Roboto"/>
              </a:defRPr>
            </a:lvl5pPr>
            <a:lvl6pPr algn="ctr">
              <a:defRPr lang="en-US" sz="2175" b="1">
                <a:solidFill>
                  <a:srgbClr val="202124"/>
                </a:solidFill>
                <a:latin typeface="Roboto"/>
                <a:ea typeface="Roboto"/>
                <a:cs typeface="Roboto"/>
              </a:defRPr>
            </a:lvl6pPr>
            <a:lvl7pPr algn="ctr">
              <a:defRPr lang="en-US" sz="2175" b="1">
                <a:solidFill>
                  <a:srgbClr val="202124"/>
                </a:solidFill>
                <a:latin typeface="Roboto"/>
                <a:ea typeface="Roboto"/>
                <a:cs typeface="Roboto"/>
              </a:defRPr>
            </a:lvl7pPr>
            <a:lvl8pPr algn="ctr">
              <a:defRPr lang="en-US" sz="2175" b="1">
                <a:solidFill>
                  <a:srgbClr val="202124"/>
                </a:solidFill>
                <a:latin typeface="Roboto"/>
                <a:ea typeface="Roboto"/>
                <a:cs typeface="Roboto"/>
              </a:defRPr>
            </a:lvl8pPr>
            <a:lvl9pPr algn="ctr">
              <a:defRPr lang="en-US" sz="2175" b="1">
                <a:solidFill>
                  <a:srgbClr val="202124"/>
                </a:solidFill>
                <a:latin typeface="Roboto"/>
                <a:ea typeface="Roboto"/>
                <a:cs typeface="Roboto"/>
              </a:defRPr>
            </a:lvl9pPr>
          </a:lstStyle>
          <a:p>
            <a:pPr algn="ctr">
              <a:defRPr lang="en-US" sz="2175" b="1">
                <a:solidFill>
                  <a:srgbClr val="202124"/>
                </a:solidFill>
                <a:latin typeface="Roboto"/>
                <a:ea typeface="Roboto"/>
                <a:cs typeface="Roboto"/>
              </a:defRPr>
            </a:pPr>
            <a:r>
              <a:rPr lang="en-US" sz="2175" b="1" dirty="0">
                <a:solidFill>
                  <a:srgbClr val="202124"/>
                </a:solidFill>
                <a:latin typeface="Roboto"/>
                <a:ea typeface="Roboto"/>
                <a:cs typeface="Roboto"/>
              </a:rPr>
              <a:t>SegFormer-B0</a:t>
            </a:r>
          </a:p>
        </p:txBody>
      </p:sp>
      <p:sp>
        <p:nvSpPr>
          <p:cNvPr id="20" name="best-seg-params">
            <a:extLst>
              <a:ext uri="{FF2B5EF4-FFF2-40B4-BE49-F238E27FC236}">
                <a16:creationId xmlns:a16="http://schemas.microsoft.com/office/drawing/2014/main" id="{7E44B55A-E98F-B8F2-F6C9-AD2769C124EC}"/>
              </a:ext>
            </a:extLst>
          </p:cNvPr>
          <p:cNvSpPr>
            <a:spLocks noGrp="1"/>
          </p:cNvSpPr>
          <p:nvPr/>
        </p:nvSpPr>
        <p:spPr>
          <a:xfrm>
            <a:off x="8900233" y="4025736"/>
            <a:ext cx="2762250" cy="40957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dirty="0">
                <a:solidFill>
                  <a:srgbClr val="656B73"/>
                </a:solidFill>
                <a:latin typeface="Roboto"/>
                <a:ea typeface="Roboto"/>
                <a:cs typeface="Roboto"/>
              </a:rPr>
              <a:t>3.72M parameters</a:t>
            </a:r>
          </a:p>
        </p:txBody>
      </p:sp>
    </p:spTree>
    <p:extLst>
      <p:ext uri="{BB962C8B-B14F-4D97-AF65-F5344CB8AC3E}">
        <p14:creationId xmlns:p14="http://schemas.microsoft.com/office/powerpoint/2010/main" val="1914548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12A7E0-036F-0FAB-F318-6F34781F658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A753354-8731-0F2D-72DE-450BAAB8D057}"/>
              </a:ext>
            </a:extLst>
          </p:cNvPr>
          <p:cNvSpPr>
            <a:spLocks noGrp="1"/>
          </p:cNvSpPr>
          <p:nvPr>
            <p:ph type="title"/>
          </p:nvPr>
        </p:nvSpPr>
        <p:spPr>
          <a:xfrm>
            <a:off x="838200" y="365125"/>
            <a:ext cx="8384177" cy="835787"/>
          </a:xfrm>
        </p:spPr>
        <p:txBody>
          <a:bodyPr/>
          <a:lstStyle/>
          <a:p>
            <a:r>
              <a:rPr lang="en-US" dirty="0">
                <a:solidFill>
                  <a:srgbClr val="822433"/>
                </a:solidFill>
              </a:rPr>
              <a:t>Cross-generalization</a:t>
            </a:r>
            <a:endParaRPr lang="en-US" noProof="0" dirty="0">
              <a:solidFill>
                <a:srgbClr val="822433"/>
              </a:solidFill>
            </a:endParaRPr>
          </a:p>
        </p:txBody>
      </p:sp>
      <p:sp>
        <p:nvSpPr>
          <p:cNvPr id="4" name="Google Shape;102;p14">
            <a:extLst>
              <a:ext uri="{FF2B5EF4-FFF2-40B4-BE49-F238E27FC236}">
                <a16:creationId xmlns:a16="http://schemas.microsoft.com/office/drawing/2014/main" id="{66AD3EA7-99DC-21B4-74D2-984BAFDF260A}"/>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24</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2AF55B1C-2B8D-F4C6-7953-117E91C8BA8B}"/>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6" name="Tabella 5">
            <a:extLst>
              <a:ext uri="{FF2B5EF4-FFF2-40B4-BE49-F238E27FC236}">
                <a16:creationId xmlns:a16="http://schemas.microsoft.com/office/drawing/2014/main" id="{11FC2143-848E-85BB-337E-A033457A48BC}"/>
              </a:ext>
            </a:extLst>
          </p:cNvPr>
          <p:cNvGraphicFramePr/>
          <p:nvPr>
            <p:extLst>
              <p:ext uri="{D42A27DB-BD31-4B8C-83A1-F6EECF244321}">
                <p14:modId xmlns:p14="http://schemas.microsoft.com/office/powerpoint/2010/main" val="1471896745"/>
              </p:ext>
            </p:extLst>
          </p:nvPr>
        </p:nvGraphicFramePr>
        <p:xfrm>
          <a:off x="838200" y="2155261"/>
          <a:ext cx="10668000" cy="3348990"/>
        </p:xfrm>
        <a:graphic>
          <a:graphicData uri="http://schemas.openxmlformats.org/drawingml/2006/table">
            <a:tbl>
              <a:tblPr>
                <a:effectLst>
                  <a:outerShdw blurRad="50800" dist="38100" dir="2700000" algn="tl" rotWithShape="0">
                    <a:prstClr val="black">
                      <a:alpha val="40000"/>
                    </a:prstClr>
                  </a:outerShdw>
                </a:effectLst>
              </a:tblPr>
              <a:tblGrid>
                <a:gridCol w="3048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558165">
                <a:tc rowSpan="2">
                  <a:txBody>
                    <a:bodyPr/>
                    <a:lstStyle/>
                    <a:p>
                      <a:pPr algn="ctr"/>
                      <a:r>
                        <a:rPr lang="en-US" sz="1950" b="1" dirty="0">
                          <a:solidFill>
                            <a:schemeClr val="bg1"/>
                          </a:solidFill>
                          <a:latin typeface="Roboto"/>
                          <a:ea typeface="Roboto"/>
                          <a:cs typeface="Roboto"/>
                        </a:rPr>
                        <a:t>Model</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822433"/>
                    </a:solidFill>
                  </a:tcPr>
                </a:tc>
                <a:tc gridSpan="2">
                  <a:txBody>
                    <a:bodyPr/>
                    <a:lstStyle/>
                    <a:p>
                      <a:pPr algn="ctr"/>
                      <a:r>
                        <a:rPr lang="en-US" sz="1950" b="1" dirty="0">
                          <a:solidFill>
                            <a:schemeClr val="bg1"/>
                          </a:solidFill>
                          <a:latin typeface="Roboto"/>
                          <a:ea typeface="Roboto"/>
                          <a:cs typeface="Roboto"/>
                        </a:rPr>
                        <a:t>MSL training </a:t>
                      </a:r>
                      <a:r>
                        <a:rPr lang="en-US" sz="1950" b="1" dirty="0" err="1">
                          <a:solidFill>
                            <a:schemeClr val="bg1"/>
                          </a:solidFill>
                          <a:latin typeface="Roboto"/>
                          <a:ea typeface="Roboto"/>
                          <a:cs typeface="Roboto"/>
                        </a:rPr>
                        <a:t>mIoU</a:t>
                      </a:r>
                      <a:endParaRPr lang="en-US" sz="1950" b="1" dirty="0">
                        <a:solidFill>
                          <a:schemeClr val="bg1"/>
                        </a:solidFill>
                        <a:latin typeface="Roboto"/>
                        <a:ea typeface="Roboto"/>
                        <a:cs typeface="Roboto"/>
                      </a:endParaRPr>
                    </a:p>
                  </a:txBody>
                  <a:tcPr marL="76200" marR="76200" marT="47625" marB="476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822433"/>
                    </a:solidFill>
                  </a:tcPr>
                </a:tc>
                <a:tc hMerge="1">
                  <a:txBody>
                    <a:bodyPr/>
                    <a:lstStyle/>
                    <a:p>
                      <a:pPr algn="ctr"/>
                      <a:endParaRPr/>
                    </a:p>
                  </a:txBody>
                  <a:tcPr marL="76200" marR="76200" marT="47625" marB="47625" anchor="ctr">
                    <a:lnL w="0">
                      <a:noFill/>
                    </a:lnL>
                    <a:lnR w="0">
                      <a:noFill/>
                    </a:lnR>
                    <a:lnT w="0">
                      <a:noFill/>
                    </a:lnT>
                    <a:lnB w="0">
                      <a:noFill/>
                    </a:lnB>
                    <a:lnTlToBr w="0">
                      <a:noFill/>
                    </a:lnTlToBr>
                    <a:lnBlToTr w="0">
                      <a:noFill/>
                    </a:lnBlToTr>
                    <a:solidFill>
                      <a:srgbClr val="FFFFFF"/>
                    </a:solidFill>
                  </a:tcPr>
                </a:tc>
                <a:tc gridSpan="2">
                  <a:txBody>
                    <a:bodyPr/>
                    <a:lstStyle/>
                    <a:p>
                      <a:pPr algn="ctr"/>
                      <a:r>
                        <a:rPr lang="en-US" sz="1950" b="1" dirty="0">
                          <a:solidFill>
                            <a:schemeClr val="bg1"/>
                          </a:solidFill>
                          <a:latin typeface="Roboto"/>
                          <a:ea typeface="Roboto"/>
                          <a:cs typeface="Roboto"/>
                        </a:rPr>
                        <a:t>MER training </a:t>
                      </a:r>
                      <a:r>
                        <a:rPr lang="en-US" sz="1950" b="1" dirty="0" err="1">
                          <a:solidFill>
                            <a:schemeClr val="bg1"/>
                          </a:solidFill>
                          <a:latin typeface="Roboto"/>
                          <a:ea typeface="Roboto"/>
                          <a:cs typeface="Roboto"/>
                        </a:rPr>
                        <a:t>mIoU</a:t>
                      </a:r>
                      <a:endParaRPr lang="en-US" sz="1950" b="1" dirty="0">
                        <a:solidFill>
                          <a:schemeClr val="bg1"/>
                        </a:solidFill>
                        <a:latin typeface="Roboto"/>
                        <a:ea typeface="Roboto"/>
                        <a:cs typeface="Roboto"/>
                      </a:endParaRP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822433"/>
                    </a:solidFill>
                  </a:tcPr>
                </a:tc>
                <a:tc hMerge="1">
                  <a:txBody>
                    <a:bodyPr/>
                    <a:lstStyle/>
                    <a:p>
                      <a:pPr algn="ctr"/>
                      <a:endParaRP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0"/>
                  </a:ext>
                </a:extLst>
              </a:tr>
              <a:tr h="558165">
                <a:tc vMerge="1">
                  <a:txBody>
                    <a:bodyPr/>
                    <a:lstStyle/>
                    <a:p>
                      <a:pPr algn="ctr"/>
                      <a:endParaRP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950" b="1" dirty="0">
                          <a:solidFill>
                            <a:srgbClr val="202124"/>
                          </a:solidFill>
                          <a:latin typeface="Roboto"/>
                          <a:ea typeface="Roboto"/>
                          <a:cs typeface="Roboto"/>
                        </a:rPr>
                        <a:t>MSL test</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1950" b="1" dirty="0">
                          <a:solidFill>
                            <a:srgbClr val="822433"/>
                          </a:solidFill>
                          <a:latin typeface="Roboto"/>
                          <a:ea typeface="Roboto"/>
                          <a:cs typeface="Roboto"/>
                        </a:rPr>
                        <a:t>MER test</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FFFFFF"/>
                    </a:solidFill>
                  </a:tcPr>
                </a:tc>
                <a:tc>
                  <a:txBody>
                    <a:bodyPr/>
                    <a:lstStyle/>
                    <a:p>
                      <a:pPr algn="ctr"/>
                      <a:r>
                        <a:rPr lang="en-US" sz="1950" b="1" dirty="0">
                          <a:solidFill>
                            <a:srgbClr val="202124"/>
                          </a:solidFill>
                          <a:latin typeface="Roboto"/>
                          <a:ea typeface="Roboto"/>
                          <a:cs typeface="Roboto"/>
                        </a:rPr>
                        <a:t>MER test</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1950" b="1" dirty="0">
                          <a:solidFill>
                            <a:srgbClr val="822433"/>
                          </a:solidFill>
                          <a:latin typeface="Roboto"/>
                          <a:ea typeface="Roboto"/>
                          <a:cs typeface="Roboto"/>
                        </a:rPr>
                        <a:t>MSL test</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1"/>
                  </a:ext>
                </a:extLst>
              </a:tr>
              <a:tr h="558165">
                <a:tc>
                  <a:txBody>
                    <a:bodyPr/>
                    <a:lstStyle/>
                    <a:p>
                      <a:pPr algn="l"/>
                      <a:r>
                        <a:rPr lang="en-US" sz="2100" dirty="0">
                          <a:solidFill>
                            <a:srgbClr val="202124"/>
                          </a:solidFill>
                          <a:latin typeface="Roboto"/>
                          <a:ea typeface="Roboto"/>
                          <a:cs typeface="Roboto"/>
                        </a:rPr>
                        <a:t>SegFormer-B0</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chemeClr val="bg1">
                        <a:lumMod val="95000"/>
                      </a:schemeClr>
                    </a:solidFill>
                  </a:tcPr>
                </a:tc>
                <a:tc>
                  <a:txBody>
                    <a:bodyPr/>
                    <a:lstStyle/>
                    <a:p>
                      <a:pPr algn="ctr"/>
                      <a:r>
                        <a:rPr lang="en-US" sz="2400" dirty="0">
                          <a:solidFill>
                            <a:srgbClr val="202124"/>
                          </a:solidFill>
                          <a:latin typeface="Roboto"/>
                          <a:ea typeface="Roboto"/>
                          <a:cs typeface="Roboto"/>
                        </a:rPr>
                        <a:t>70.63%</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chemeClr val="bg1">
                        <a:lumMod val="95000"/>
                      </a:schemeClr>
                    </a:solidFill>
                  </a:tcPr>
                </a:tc>
                <a:tc>
                  <a:txBody>
                    <a:bodyPr/>
                    <a:lstStyle/>
                    <a:p>
                      <a:pPr algn="ctr"/>
                      <a:r>
                        <a:rPr lang="en-US" sz="2400" b="1" dirty="0">
                          <a:solidFill>
                            <a:srgbClr val="822433"/>
                          </a:solidFill>
                          <a:latin typeface="Roboto"/>
                          <a:ea typeface="Roboto"/>
                          <a:cs typeface="Roboto"/>
                        </a:rPr>
                        <a:t>52.06%</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chemeClr val="bg1">
                        <a:lumMod val="95000"/>
                      </a:schemeClr>
                    </a:solidFill>
                  </a:tcPr>
                </a:tc>
                <a:tc>
                  <a:txBody>
                    <a:bodyPr/>
                    <a:lstStyle/>
                    <a:p>
                      <a:pPr algn="ctr"/>
                      <a:r>
                        <a:rPr lang="en-US" sz="2400" dirty="0">
                          <a:solidFill>
                            <a:srgbClr val="202124"/>
                          </a:solidFill>
                          <a:latin typeface="Roboto"/>
                          <a:ea typeface="Roboto"/>
                          <a:cs typeface="Roboto"/>
                        </a:rPr>
                        <a:t>66.75%</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chemeClr val="bg1">
                        <a:lumMod val="95000"/>
                      </a:schemeClr>
                    </a:solidFill>
                  </a:tcPr>
                </a:tc>
                <a:tc>
                  <a:txBody>
                    <a:bodyPr/>
                    <a:lstStyle/>
                    <a:p>
                      <a:pPr algn="ctr"/>
                      <a:r>
                        <a:rPr lang="en-US" sz="2400" b="1" dirty="0">
                          <a:solidFill>
                            <a:srgbClr val="822433"/>
                          </a:solidFill>
                          <a:latin typeface="Roboto"/>
                          <a:ea typeface="Roboto"/>
                          <a:cs typeface="Roboto"/>
                        </a:rPr>
                        <a:t>48.11%</a:t>
                      </a:r>
                    </a:p>
                  </a:txBody>
                  <a:tcPr marL="76200" marR="76200" marT="47625" marB="47625"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2"/>
                  </a:ext>
                </a:extLst>
              </a:tr>
              <a:tr h="558165">
                <a:tc>
                  <a:txBody>
                    <a:bodyPr/>
                    <a:lstStyle/>
                    <a:p>
                      <a:pPr algn="l"/>
                      <a:r>
                        <a:rPr lang="en-US" sz="2100" dirty="0">
                          <a:solidFill>
                            <a:srgbClr val="202124"/>
                          </a:solidFill>
                          <a:latin typeface="Roboto"/>
                          <a:ea typeface="Roboto"/>
                          <a:cs typeface="Roboto"/>
                        </a:rPr>
                        <a:t>U-Net R34</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FFFFFF"/>
                    </a:solidFill>
                  </a:tcPr>
                </a:tc>
                <a:tc>
                  <a:txBody>
                    <a:bodyPr/>
                    <a:lstStyle/>
                    <a:p>
                      <a:pPr algn="ctr"/>
                      <a:r>
                        <a:rPr lang="en-US" sz="2400" b="1" dirty="0">
                          <a:solidFill>
                            <a:srgbClr val="202124"/>
                          </a:solidFill>
                          <a:latin typeface="Roboto"/>
                          <a:ea typeface="Roboto"/>
                          <a:cs typeface="Roboto"/>
                        </a:rPr>
                        <a:t>71.80%</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2400" dirty="0">
                          <a:solidFill>
                            <a:srgbClr val="822433"/>
                          </a:solidFill>
                          <a:latin typeface="Roboto"/>
                          <a:ea typeface="Roboto"/>
                          <a:cs typeface="Roboto"/>
                        </a:rPr>
                        <a:t>27.43%</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FFFFFF"/>
                    </a:solidFill>
                  </a:tcPr>
                </a:tc>
                <a:tc>
                  <a:txBody>
                    <a:bodyPr/>
                    <a:lstStyle/>
                    <a:p>
                      <a:pPr algn="ctr"/>
                      <a:r>
                        <a:rPr lang="en-US" sz="2400" b="0" dirty="0">
                          <a:solidFill>
                            <a:srgbClr val="202124"/>
                          </a:solidFill>
                          <a:latin typeface="Roboto"/>
                          <a:ea typeface="Roboto"/>
                          <a:cs typeface="Roboto"/>
                        </a:rPr>
                        <a:t>67.76%</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2400" dirty="0">
                          <a:solidFill>
                            <a:srgbClr val="822433"/>
                          </a:solidFill>
                          <a:latin typeface="Roboto"/>
                          <a:ea typeface="Roboto"/>
                          <a:cs typeface="Roboto"/>
                        </a:rPr>
                        <a:t>13.82%</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3"/>
                  </a:ext>
                </a:extLst>
              </a:tr>
              <a:tr h="558165">
                <a:tc>
                  <a:txBody>
                    <a:bodyPr/>
                    <a:lstStyle/>
                    <a:p>
                      <a:pPr algn="l"/>
                      <a:r>
                        <a:rPr lang="en-US" sz="2100" b="0" i="0" dirty="0">
                          <a:solidFill>
                            <a:srgbClr val="202124"/>
                          </a:solidFill>
                          <a:latin typeface="Roboto" panose="02000000000000000000" pitchFamily="2" charset="0"/>
                          <a:ea typeface="Roboto"/>
                          <a:cs typeface="Roboto"/>
                        </a:rPr>
                        <a:t>DeepLabV3 R34</a:t>
                      </a:r>
                    </a:p>
                  </a:txBody>
                  <a:tcPr marL="76200" marR="76200" marT="47625" marB="47625" anchor="ctr">
                    <a:lnL w="0">
                      <a:noFill/>
                    </a:lnL>
                    <a:lnR w="12700" cap="flat" cmpd="sng" algn="ctr">
                      <a:solidFill>
                        <a:srgbClr val="000000"/>
                      </a:solidFill>
                      <a:prstDash val="solid"/>
                      <a:round/>
                      <a:headEnd type="none" w="med" len="med"/>
                      <a:tailEnd type="none" w="med" len="med"/>
                    </a:lnR>
                    <a:lnT w="0">
                      <a:noFill/>
                    </a:lnT>
                    <a:lnB w="0">
                      <a:noFill/>
                    </a:lnB>
                    <a:lnTlToBr w="0">
                      <a:noFill/>
                    </a:lnTlToBr>
                    <a:lnBlToTr w="0">
                      <a:noFill/>
                    </a:lnBlToTr>
                    <a:solidFill>
                      <a:srgbClr val="F2F2F2"/>
                    </a:solidFill>
                  </a:tcPr>
                </a:tc>
                <a:tc>
                  <a:txBody>
                    <a:bodyPr/>
                    <a:lstStyle/>
                    <a:p>
                      <a:pPr algn="ctr"/>
                      <a:r>
                        <a:rPr lang="en-US" sz="2400" b="0" i="0" dirty="0">
                          <a:solidFill>
                            <a:srgbClr val="202124"/>
                          </a:solidFill>
                          <a:latin typeface="Roboto" panose="02000000000000000000" pitchFamily="2" charset="0"/>
                          <a:ea typeface="Roboto"/>
                          <a:cs typeface="Roboto"/>
                        </a:rPr>
                        <a:t>71.10%</a:t>
                      </a:r>
                    </a:p>
                  </a:txBody>
                  <a:tcPr marL="76200" marR="76200" marT="47625" marB="47625" anchor="ctr">
                    <a:lnL w="12700" cap="flat" cmpd="sng" algn="ctr">
                      <a:solidFill>
                        <a:srgbClr val="000000"/>
                      </a:solidFill>
                      <a:prstDash val="solid"/>
                      <a:round/>
                      <a:headEnd type="none" w="med" len="med"/>
                      <a:tailEnd type="none" w="med" len="med"/>
                    </a:lnL>
                    <a:lnR w="0">
                      <a:noFill/>
                    </a:lnR>
                    <a:lnT w="0">
                      <a:noFill/>
                    </a:lnT>
                    <a:lnB w="0">
                      <a:noFill/>
                    </a:lnB>
                    <a:lnTlToBr w="0">
                      <a:noFill/>
                    </a:lnTlToBr>
                    <a:lnBlToTr w="0">
                      <a:noFill/>
                    </a:lnBlToTr>
                    <a:solidFill>
                      <a:srgbClr val="F2F2F2"/>
                    </a:solidFill>
                  </a:tcPr>
                </a:tc>
                <a:tc>
                  <a:txBody>
                    <a:bodyPr/>
                    <a:lstStyle/>
                    <a:p>
                      <a:pPr algn="ctr"/>
                      <a:r>
                        <a:rPr lang="en-US" sz="2400" b="0" i="0" dirty="0">
                          <a:solidFill>
                            <a:srgbClr val="822433"/>
                          </a:solidFill>
                          <a:latin typeface="Roboto" panose="02000000000000000000" pitchFamily="2" charset="0"/>
                          <a:ea typeface="Roboto"/>
                          <a:cs typeface="Roboto"/>
                        </a:rPr>
                        <a:t>28.11%</a:t>
                      </a:r>
                    </a:p>
                  </a:txBody>
                  <a:tcPr marL="76200" marR="76200" marT="47625" marB="47625" anchor="ctr">
                    <a:lnL w="0">
                      <a:noFill/>
                    </a:lnL>
                    <a:lnR w="12700" cap="flat" cmpd="sng" algn="ctr">
                      <a:solidFill>
                        <a:srgbClr val="000000"/>
                      </a:solidFill>
                      <a:prstDash val="solid"/>
                      <a:round/>
                      <a:headEnd type="none" w="med" len="med"/>
                      <a:tailEnd type="none" w="med" len="med"/>
                    </a:lnR>
                    <a:lnT w="0">
                      <a:noFill/>
                    </a:lnT>
                    <a:lnB w="0">
                      <a:noFill/>
                    </a:lnB>
                    <a:lnTlToBr w="0">
                      <a:noFill/>
                    </a:lnTlToBr>
                    <a:lnBlToTr w="0">
                      <a:noFill/>
                    </a:lnBlToTr>
                    <a:solidFill>
                      <a:srgbClr val="F2F2F2"/>
                    </a:solidFill>
                  </a:tcPr>
                </a:tc>
                <a:tc>
                  <a:txBody>
                    <a:bodyPr/>
                    <a:lstStyle/>
                    <a:p>
                      <a:pPr algn="ctr"/>
                      <a:r>
                        <a:rPr lang="en-US" sz="2400" b="1" i="0" dirty="0">
                          <a:solidFill>
                            <a:srgbClr val="202124"/>
                          </a:solidFill>
                          <a:latin typeface="Roboto" panose="02000000000000000000" pitchFamily="2" charset="0"/>
                          <a:ea typeface="Roboto"/>
                          <a:cs typeface="Roboto"/>
                        </a:rPr>
                        <a:t>67.77%</a:t>
                      </a:r>
                    </a:p>
                  </a:txBody>
                  <a:tcPr marL="76200" marR="76200" marT="47625" marB="47625" anchor="ctr">
                    <a:lnL w="12700" cap="flat" cmpd="sng" algn="ctr">
                      <a:solidFill>
                        <a:srgbClr val="000000"/>
                      </a:solidFill>
                      <a:prstDash val="solid"/>
                      <a:round/>
                      <a:headEnd type="none" w="med" len="med"/>
                      <a:tailEnd type="none" w="med" len="med"/>
                    </a:lnL>
                    <a:lnR w="0">
                      <a:noFill/>
                    </a:lnR>
                    <a:lnT w="0">
                      <a:noFill/>
                    </a:lnT>
                    <a:lnB w="0">
                      <a:noFill/>
                    </a:lnB>
                    <a:lnTlToBr w="0">
                      <a:noFill/>
                    </a:lnTlToBr>
                    <a:lnBlToTr w="0">
                      <a:noFill/>
                    </a:lnBlToTr>
                    <a:solidFill>
                      <a:srgbClr val="F2F2F2"/>
                    </a:solidFill>
                  </a:tcPr>
                </a:tc>
                <a:tc>
                  <a:txBody>
                    <a:bodyPr/>
                    <a:lstStyle/>
                    <a:p>
                      <a:pPr algn="ctr"/>
                      <a:r>
                        <a:rPr lang="en-US" sz="2400" b="0" i="0" dirty="0">
                          <a:solidFill>
                            <a:srgbClr val="822433"/>
                          </a:solidFill>
                          <a:latin typeface="Roboto" panose="02000000000000000000" pitchFamily="2" charset="0"/>
                          <a:ea typeface="Roboto"/>
                          <a:cs typeface="Roboto"/>
                        </a:rPr>
                        <a:t>9.28%</a:t>
                      </a:r>
                    </a:p>
                  </a:txBody>
                  <a:tcPr marL="76200" marR="76200" marT="47625" marB="47625" anchor="ctr">
                    <a:lnL w="0">
                      <a:noFill/>
                    </a:lnL>
                    <a:lnR w="0">
                      <a:noFill/>
                    </a:lnR>
                    <a:lnT w="0">
                      <a:noFill/>
                    </a:lnT>
                    <a:lnB w="0">
                      <a:noFill/>
                    </a:lnB>
                    <a:lnTlToBr w="0">
                      <a:noFill/>
                    </a:lnTlToBr>
                    <a:lnBlToTr w="0">
                      <a:noFill/>
                    </a:lnBlToTr>
                    <a:solidFill>
                      <a:srgbClr val="F2F2F2"/>
                    </a:solidFill>
                  </a:tcPr>
                </a:tc>
                <a:extLst>
                  <a:ext uri="{0D108BD9-81ED-4DB2-BD59-A6C34878D82A}">
                    <a16:rowId xmlns:a16="http://schemas.microsoft.com/office/drawing/2014/main" val="1648915834"/>
                  </a:ext>
                </a:extLst>
              </a:tr>
              <a:tr h="558165">
                <a:tc>
                  <a:txBody>
                    <a:bodyPr/>
                    <a:lstStyle/>
                    <a:p>
                      <a:pPr algn="l"/>
                      <a:r>
                        <a:rPr lang="en-US" sz="2100" dirty="0">
                          <a:solidFill>
                            <a:srgbClr val="202124"/>
                          </a:solidFill>
                          <a:latin typeface="Roboto"/>
                          <a:ea typeface="Roboto"/>
                          <a:cs typeface="Roboto"/>
                        </a:rPr>
                        <a:t>DeepLabV3+ MV2</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FFFFFF"/>
                    </a:solidFill>
                  </a:tcPr>
                </a:tc>
                <a:tc>
                  <a:txBody>
                    <a:bodyPr/>
                    <a:lstStyle/>
                    <a:p>
                      <a:pPr algn="ctr"/>
                      <a:r>
                        <a:rPr lang="en-US" sz="2400" dirty="0">
                          <a:solidFill>
                            <a:srgbClr val="202124"/>
                          </a:solidFill>
                          <a:latin typeface="Roboto"/>
                          <a:ea typeface="Roboto"/>
                          <a:cs typeface="Roboto"/>
                        </a:rPr>
                        <a:t>68.98%</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2400" dirty="0">
                          <a:solidFill>
                            <a:srgbClr val="822433"/>
                          </a:solidFill>
                          <a:latin typeface="Roboto"/>
                          <a:ea typeface="Roboto"/>
                          <a:cs typeface="Roboto"/>
                        </a:rPr>
                        <a:t>38.27%</a:t>
                      </a:r>
                    </a:p>
                  </a:txBody>
                  <a:tcPr marL="76200" marR="76200" marT="47625" marB="47625" anchor="ctr">
                    <a:lnL w="0">
                      <a:noFill/>
                    </a:lnL>
                    <a:lnR w="12700" cap="flat" cmpd="sng" algn="ctr">
                      <a:solidFill>
                        <a:schemeClr val="tx1"/>
                      </a:solidFill>
                      <a:prstDash val="solid"/>
                      <a:round/>
                      <a:headEnd type="none" w="med" len="med"/>
                      <a:tailEnd type="none" w="med" len="med"/>
                    </a:lnR>
                    <a:lnT w="0">
                      <a:noFill/>
                    </a:lnT>
                    <a:lnB w="0">
                      <a:noFill/>
                    </a:lnB>
                    <a:lnTlToBr w="0">
                      <a:noFill/>
                    </a:lnTlToBr>
                    <a:lnBlToTr w="0">
                      <a:noFill/>
                    </a:lnBlToTr>
                    <a:solidFill>
                      <a:srgbClr val="FFFFFF"/>
                    </a:solidFill>
                  </a:tcPr>
                </a:tc>
                <a:tc>
                  <a:txBody>
                    <a:bodyPr/>
                    <a:lstStyle/>
                    <a:p>
                      <a:pPr algn="ctr"/>
                      <a:r>
                        <a:rPr lang="en-US" sz="2400" dirty="0">
                          <a:solidFill>
                            <a:srgbClr val="202124"/>
                          </a:solidFill>
                          <a:latin typeface="Roboto"/>
                          <a:ea typeface="Roboto"/>
                          <a:cs typeface="Roboto"/>
                        </a:rPr>
                        <a:t>65.10%</a:t>
                      </a:r>
                    </a:p>
                  </a:txBody>
                  <a:tcPr marL="76200" marR="76200" marT="47625" marB="47625"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2400" dirty="0">
                          <a:solidFill>
                            <a:srgbClr val="822433"/>
                          </a:solidFill>
                          <a:latin typeface="Roboto"/>
                          <a:ea typeface="Roboto"/>
                          <a:cs typeface="Roboto"/>
                        </a:rPr>
                        <a:t>12.86%</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4"/>
                  </a:ext>
                </a:extLst>
              </a:tr>
            </a:tbl>
          </a:graphicData>
        </a:graphic>
      </p:graphicFrame>
      <p:sp>
        <p:nvSpPr>
          <p:cNvPr id="10" name="cross-scope">
            <a:extLst>
              <a:ext uri="{FF2B5EF4-FFF2-40B4-BE49-F238E27FC236}">
                <a16:creationId xmlns:a16="http://schemas.microsoft.com/office/drawing/2014/main" id="{1FAB7C16-D544-C895-8174-86F62D812A8F}"/>
              </a:ext>
            </a:extLst>
          </p:cNvPr>
          <p:cNvSpPr>
            <a:spLocks noGrp="1"/>
          </p:cNvSpPr>
          <p:nvPr/>
        </p:nvSpPr>
        <p:spPr>
          <a:xfrm>
            <a:off x="838200" y="5631251"/>
            <a:ext cx="10668000" cy="333375"/>
          </a:xfrm>
          <a:prstGeom prst="rect">
            <a:avLst/>
          </a:prstGeom>
          <a:noFill/>
          <a:ln w="0">
            <a:noFill/>
          </a:ln>
        </p:spPr>
        <p:txBody>
          <a:bodyPr wrap="square" lIns="0" tIns="0" rIns="0" bIns="0" anchor="t">
            <a:noAutofit/>
          </a:bodyPr>
          <a:lstStyle>
            <a:defPPr algn="l">
              <a:defRPr lang="en-US" sz="1725" b="0">
                <a:solidFill>
                  <a:srgbClr val="656B73"/>
                </a:solidFill>
                <a:latin typeface="Roboto"/>
                <a:ea typeface="Roboto"/>
                <a:cs typeface="Roboto"/>
              </a:defRPr>
            </a:defPPr>
            <a:lvl1pPr algn="l">
              <a:defRPr lang="en-US" sz="1725" b="0">
                <a:solidFill>
                  <a:srgbClr val="656B73"/>
                </a:solidFill>
                <a:latin typeface="Roboto"/>
                <a:ea typeface="Roboto"/>
                <a:cs typeface="Roboto"/>
              </a:defRPr>
            </a:lvl1pPr>
            <a:lvl2pPr algn="l">
              <a:defRPr lang="en-US" sz="1725" b="0">
                <a:solidFill>
                  <a:srgbClr val="656B73"/>
                </a:solidFill>
                <a:latin typeface="Roboto"/>
                <a:ea typeface="Roboto"/>
                <a:cs typeface="Roboto"/>
              </a:defRPr>
            </a:lvl2pPr>
            <a:lvl3pPr algn="l">
              <a:defRPr lang="en-US" sz="1725" b="0">
                <a:solidFill>
                  <a:srgbClr val="656B73"/>
                </a:solidFill>
                <a:latin typeface="Roboto"/>
                <a:ea typeface="Roboto"/>
                <a:cs typeface="Roboto"/>
              </a:defRPr>
            </a:lvl3pPr>
            <a:lvl4pPr algn="l">
              <a:defRPr lang="en-US" sz="1725" b="0">
                <a:solidFill>
                  <a:srgbClr val="656B73"/>
                </a:solidFill>
                <a:latin typeface="Roboto"/>
                <a:ea typeface="Roboto"/>
                <a:cs typeface="Roboto"/>
              </a:defRPr>
            </a:lvl4pPr>
            <a:lvl5pPr algn="l">
              <a:defRPr lang="en-US" sz="1725" b="0">
                <a:solidFill>
                  <a:srgbClr val="656B73"/>
                </a:solidFill>
                <a:latin typeface="Roboto"/>
                <a:ea typeface="Roboto"/>
                <a:cs typeface="Roboto"/>
              </a:defRPr>
            </a:lvl5pPr>
            <a:lvl6pPr algn="l">
              <a:defRPr lang="en-US" sz="1725" b="0">
                <a:solidFill>
                  <a:srgbClr val="656B73"/>
                </a:solidFill>
                <a:latin typeface="Roboto"/>
                <a:ea typeface="Roboto"/>
                <a:cs typeface="Roboto"/>
              </a:defRPr>
            </a:lvl6pPr>
            <a:lvl7pPr algn="l">
              <a:defRPr lang="en-US" sz="1725" b="0">
                <a:solidFill>
                  <a:srgbClr val="656B73"/>
                </a:solidFill>
                <a:latin typeface="Roboto"/>
                <a:ea typeface="Roboto"/>
                <a:cs typeface="Roboto"/>
              </a:defRPr>
            </a:lvl7pPr>
            <a:lvl8pPr algn="l">
              <a:defRPr lang="en-US" sz="1725" b="0">
                <a:solidFill>
                  <a:srgbClr val="656B73"/>
                </a:solidFill>
                <a:latin typeface="Roboto"/>
                <a:ea typeface="Roboto"/>
                <a:cs typeface="Roboto"/>
              </a:defRPr>
            </a:lvl8pPr>
            <a:lvl9pPr algn="l">
              <a:defRPr lang="en-US" sz="1725" b="0">
                <a:solidFill>
                  <a:srgbClr val="656B73"/>
                </a:solidFill>
                <a:latin typeface="Roboto"/>
                <a:ea typeface="Roboto"/>
                <a:cs typeface="Roboto"/>
              </a:defRPr>
            </a:lvl9pPr>
          </a:lstStyle>
          <a:p>
            <a:pPr algn="l">
              <a:defRPr lang="en-US" sz="1725" b="0">
                <a:solidFill>
                  <a:srgbClr val="656B73"/>
                </a:solidFill>
                <a:latin typeface="Roboto"/>
                <a:ea typeface="Roboto"/>
                <a:cs typeface="Roboto"/>
              </a:defRPr>
            </a:pPr>
            <a:r>
              <a:rPr lang="en-US" sz="1400" b="0" dirty="0">
                <a:solidFill>
                  <a:srgbClr val="656B73"/>
                </a:solidFill>
                <a:latin typeface="Roboto"/>
                <a:ea typeface="Roboto"/>
                <a:cs typeface="Roboto"/>
              </a:rPr>
              <a:t>Separate training runs, no target fine-tuning</a:t>
            </a:r>
          </a:p>
        </p:txBody>
      </p:sp>
    </p:spTree>
    <p:extLst>
      <p:ext uri="{BB962C8B-B14F-4D97-AF65-F5344CB8AC3E}">
        <p14:creationId xmlns:p14="http://schemas.microsoft.com/office/powerpoint/2010/main" val="2793047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308B2-58D6-FEE9-4C01-9AA2D12956E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3894003-A9B7-8E92-4D48-270852ADEB05}"/>
              </a:ext>
            </a:extLst>
          </p:cNvPr>
          <p:cNvSpPr>
            <a:spLocks noGrp="1"/>
          </p:cNvSpPr>
          <p:nvPr>
            <p:ph type="title"/>
          </p:nvPr>
        </p:nvSpPr>
        <p:spPr>
          <a:xfrm>
            <a:off x="838200" y="365125"/>
            <a:ext cx="9386455" cy="835787"/>
          </a:xfrm>
        </p:spPr>
        <p:txBody>
          <a:bodyPr>
            <a:normAutofit/>
          </a:bodyPr>
          <a:lstStyle/>
          <a:p>
            <a:r>
              <a:rPr lang="en-US" u="sng" dirty="0">
                <a:solidFill>
                  <a:srgbClr val="822433"/>
                </a:solidFill>
              </a:rPr>
              <a:t>Semantic Segmentation: Efficiency</a:t>
            </a:r>
            <a:endParaRPr lang="en-US" u="sng" noProof="0" dirty="0">
              <a:solidFill>
                <a:srgbClr val="822433"/>
              </a:solidFill>
            </a:endParaRPr>
          </a:p>
        </p:txBody>
      </p:sp>
      <p:sp>
        <p:nvSpPr>
          <p:cNvPr id="4" name="Google Shape;102;p14">
            <a:extLst>
              <a:ext uri="{FF2B5EF4-FFF2-40B4-BE49-F238E27FC236}">
                <a16:creationId xmlns:a16="http://schemas.microsoft.com/office/drawing/2014/main" id="{7CEC75DA-4BEC-E538-8FC5-C0F3CA89D3CD}"/>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25</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1150DABA-181E-0A37-54AC-D552EFF142B1}"/>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6" name="Tabella 5">
            <a:extLst>
              <a:ext uri="{FF2B5EF4-FFF2-40B4-BE49-F238E27FC236}">
                <a16:creationId xmlns:a16="http://schemas.microsoft.com/office/drawing/2014/main" id="{100EDF0A-48F2-63D9-C838-736981AF5462}"/>
              </a:ext>
            </a:extLst>
          </p:cNvPr>
          <p:cNvGraphicFramePr/>
          <p:nvPr>
            <p:extLst>
              <p:ext uri="{D42A27DB-BD31-4B8C-83A1-F6EECF244321}">
                <p14:modId xmlns:p14="http://schemas.microsoft.com/office/powerpoint/2010/main" val="1085277147"/>
              </p:ext>
            </p:extLst>
          </p:nvPr>
        </p:nvGraphicFramePr>
        <p:xfrm>
          <a:off x="762000" y="1665316"/>
          <a:ext cx="10668000" cy="4053840"/>
        </p:xfrm>
        <a:graphic>
          <a:graphicData uri="http://schemas.openxmlformats.org/drawingml/2006/table">
            <a:tbl>
              <a:tblPr>
                <a:effectLst>
                  <a:outerShdw blurRad="50800" dist="38100" dir="2700000" algn="tl" rotWithShape="0">
                    <a:prstClr val="black">
                      <a:alpha val="40000"/>
                    </a:prstClr>
                  </a:outerShdw>
                </a:effectLst>
              </a:tblPr>
              <a:tblGrid>
                <a:gridCol w="2714625">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tblGrid>
              <a:tr h="609600">
                <a:tc>
                  <a:txBody>
                    <a:bodyPr/>
                    <a:lstStyle/>
                    <a:p>
                      <a:pPr algn="ctr"/>
                      <a:r>
                        <a:rPr lang="en-US" sz="1800" b="1" dirty="0">
                          <a:solidFill>
                            <a:schemeClr val="bg1"/>
                          </a:solidFill>
                          <a:latin typeface="Roboto"/>
                          <a:ea typeface="Roboto"/>
                          <a:cs typeface="Roboto"/>
                        </a:rPr>
                        <a:t>Model</a:t>
                      </a:r>
                    </a:p>
                  </a:txBody>
                  <a:tcPr marL="76200" marR="76200" marT="38100" marB="38100" anchor="ctr">
                    <a:lnL w="0">
                      <a:noFill/>
                    </a:lnL>
                    <a:lnR w="12700" cap="flat" cmpd="sng" algn="ctr">
                      <a:solidFill>
                        <a:schemeClr val="tx1"/>
                      </a:solidFill>
                      <a:prstDash val="solid"/>
                      <a:round/>
                      <a:headEnd type="none" w="med" len="med"/>
                      <a:tailEnd type="none" w="med" len="med"/>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tc>
                  <a:txBody>
                    <a:bodyPr/>
                    <a:lstStyle/>
                    <a:p>
                      <a:pPr algn="ctr"/>
                      <a:r>
                        <a:rPr lang="en-US" sz="1800" b="1" dirty="0">
                          <a:solidFill>
                            <a:schemeClr val="bg1"/>
                          </a:solidFill>
                          <a:latin typeface="Roboto"/>
                          <a:ea typeface="Roboto"/>
                          <a:cs typeface="Roboto"/>
                        </a:rPr>
                        <a:t>Variant</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tc>
                  <a:txBody>
                    <a:bodyPr/>
                    <a:lstStyle/>
                    <a:p>
                      <a:pPr algn="ctr"/>
                      <a:r>
                        <a:rPr lang="en-US" sz="1800" b="1" dirty="0">
                          <a:solidFill>
                            <a:schemeClr val="bg1"/>
                          </a:solidFill>
                          <a:latin typeface="Roboto"/>
                          <a:ea typeface="Roboto"/>
                          <a:cs typeface="Roboto"/>
                        </a:rPr>
                        <a:t>Test </a:t>
                      </a:r>
                      <a:r>
                        <a:rPr lang="en-US" sz="1800" b="1" dirty="0" err="1">
                          <a:solidFill>
                            <a:schemeClr val="bg1"/>
                          </a:solidFill>
                          <a:latin typeface="Roboto"/>
                          <a:ea typeface="Roboto"/>
                          <a:cs typeface="Roboto"/>
                        </a:rPr>
                        <a:t>mIoU</a:t>
                      </a:r>
                      <a:endParaRPr lang="en-US" sz="1800" b="1" dirty="0">
                        <a:solidFill>
                          <a:schemeClr val="bg1"/>
                        </a:solidFill>
                        <a:latin typeface="Roboto"/>
                        <a:ea typeface="Roboto"/>
                        <a:cs typeface="Roboto"/>
                      </a:endParaRPr>
                    </a:p>
                    <a:p>
                      <a:pPr algn="ctr"/>
                      <a:r>
                        <a:rPr lang="en-US" sz="1800" b="1" dirty="0">
                          <a:solidFill>
                            <a:schemeClr val="bg1"/>
                          </a:solidFill>
                          <a:latin typeface="Roboto"/>
                          <a:ea typeface="Roboto"/>
                          <a:cs typeface="Roboto"/>
                        </a:rPr>
                        <a:t>(%)</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tc>
                  <a:txBody>
                    <a:bodyPr/>
                    <a:lstStyle/>
                    <a:p>
                      <a:pPr algn="ctr"/>
                      <a:r>
                        <a:rPr lang="en-US" sz="1800" b="1" dirty="0">
                          <a:solidFill>
                            <a:schemeClr val="bg1"/>
                          </a:solidFill>
                          <a:latin typeface="Roboto"/>
                          <a:ea typeface="Roboto"/>
                          <a:cs typeface="Roboto"/>
                        </a:rPr>
                        <a:t>Latency</a:t>
                      </a:r>
                    </a:p>
                    <a:p>
                      <a:pPr algn="ctr"/>
                      <a:r>
                        <a:rPr lang="en-US" sz="1800" b="1" dirty="0">
                          <a:solidFill>
                            <a:schemeClr val="bg1"/>
                          </a:solidFill>
                          <a:latin typeface="Roboto"/>
                          <a:ea typeface="Roboto"/>
                          <a:cs typeface="Roboto"/>
                        </a:rPr>
                        <a:t>(</a:t>
                      </a:r>
                      <a:r>
                        <a:rPr lang="en-US" sz="1800" b="1" dirty="0" err="1">
                          <a:solidFill>
                            <a:schemeClr val="bg1"/>
                          </a:solidFill>
                          <a:latin typeface="Roboto"/>
                          <a:ea typeface="Roboto"/>
                          <a:cs typeface="Roboto"/>
                        </a:rPr>
                        <a:t>ms</a:t>
                      </a:r>
                      <a:r>
                        <a:rPr lang="en-US" sz="1800" b="1" dirty="0">
                          <a:solidFill>
                            <a:schemeClr val="bg1"/>
                          </a:solidFill>
                          <a:latin typeface="Roboto"/>
                          <a:ea typeface="Roboto"/>
                          <a:cs typeface="Roboto"/>
                        </a:rPr>
                        <a:t>)</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tc>
                  <a:txBody>
                    <a:bodyPr/>
                    <a:lstStyle/>
                    <a:p>
                      <a:pPr algn="ctr"/>
                      <a:r>
                        <a:rPr lang="en-US" sz="1800" b="1" dirty="0">
                          <a:solidFill>
                            <a:schemeClr val="bg1"/>
                          </a:solidFill>
                          <a:latin typeface="Roboto"/>
                          <a:ea typeface="Roboto"/>
                          <a:cs typeface="Roboto"/>
                        </a:rPr>
                        <a:t>Energy</a:t>
                      </a:r>
                    </a:p>
                    <a:p>
                      <a:pPr algn="ctr"/>
                      <a:r>
                        <a:rPr lang="en-US" sz="1800" b="1" dirty="0">
                          <a:solidFill>
                            <a:schemeClr val="bg1"/>
                          </a:solidFill>
                          <a:latin typeface="Roboto"/>
                          <a:ea typeface="Roboto"/>
                          <a:cs typeface="Roboto"/>
                        </a:rPr>
                        <a:t>(</a:t>
                      </a:r>
                      <a:r>
                        <a:rPr lang="en-US" sz="1800" b="1" dirty="0" err="1">
                          <a:solidFill>
                            <a:schemeClr val="bg1"/>
                          </a:solidFill>
                          <a:latin typeface="Roboto"/>
                          <a:ea typeface="Roboto"/>
                          <a:cs typeface="Roboto"/>
                        </a:rPr>
                        <a:t>mJ</a:t>
                      </a:r>
                      <a:r>
                        <a:rPr lang="en-US" sz="1800" b="1" dirty="0">
                          <a:solidFill>
                            <a:schemeClr val="bg1"/>
                          </a:solidFill>
                          <a:latin typeface="Roboto"/>
                          <a:ea typeface="Roboto"/>
                          <a:cs typeface="Roboto"/>
                        </a:rPr>
                        <a:t>/image)</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extLst>
                  <a:ext uri="{0D108BD9-81ED-4DB2-BD59-A6C34878D82A}">
                    <a16:rowId xmlns:a16="http://schemas.microsoft.com/office/drawing/2014/main" val="10000"/>
                  </a:ext>
                </a:extLst>
              </a:tr>
              <a:tr h="428625">
                <a:tc rowSpan="4">
                  <a:txBody>
                    <a:bodyPr/>
                    <a:lstStyle/>
                    <a:p>
                      <a:pPr algn="l"/>
                      <a:r>
                        <a:rPr lang="en-US" sz="2025" b="1" dirty="0">
                          <a:solidFill>
                            <a:srgbClr val="202124"/>
                          </a:solidFill>
                          <a:latin typeface="Roboto"/>
                          <a:ea typeface="Roboto"/>
                          <a:cs typeface="Roboto"/>
                        </a:rPr>
                        <a:t>DeepLabV3+</a:t>
                      </a:r>
                    </a:p>
                    <a:p>
                      <a:pPr algn="l"/>
                      <a:r>
                        <a:rPr lang="en-US" sz="2025" b="1" dirty="0">
                          <a:solidFill>
                            <a:srgbClr val="202124"/>
                          </a:solidFill>
                          <a:latin typeface="Roboto"/>
                          <a:ea typeface="Roboto"/>
                          <a:cs typeface="Roboto"/>
                        </a:rPr>
                        <a:t>MobileNetV2</a:t>
                      </a:r>
                    </a:p>
                  </a:txBody>
                  <a:tcPr marL="76200" marR="76200" marT="38100" marB="3810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FP32</a:t>
                      </a:r>
                    </a:p>
                  </a:txBody>
                  <a:tcPr marL="76200" marR="76200" marT="38100" marB="38100" anchor="ctr">
                    <a:lnL w="12700" cap="flat" cmpd="sng" algn="ctr">
                      <a:solidFill>
                        <a:schemeClr val="tx1"/>
                      </a:solidFill>
                      <a:prstDash val="solid"/>
                      <a:round/>
                      <a:headEnd type="none" w="med" len="med"/>
                      <a:tailEnd type="none" w="med" len="med"/>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64.07</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8.84</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653.72</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extLst>
                  <a:ext uri="{0D108BD9-81ED-4DB2-BD59-A6C34878D82A}">
                    <a16:rowId xmlns:a16="http://schemas.microsoft.com/office/drawing/2014/main" val="10001"/>
                  </a:ext>
                </a:extLst>
              </a:tr>
              <a:tr h="428625">
                <a:tc vMerge="1">
                  <a:txBody>
                    <a:bodyPr/>
                    <a:lstStyle/>
                    <a:p>
                      <a:pPr algn="ctr"/>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FP16</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chemeClr val="bg1">
                        <a:lumMod val="95000"/>
                      </a:schemeClr>
                    </a:solidFill>
                  </a:tcPr>
                </a:tc>
                <a:tc>
                  <a:txBody>
                    <a:bodyPr/>
                    <a:lstStyle/>
                    <a:p>
                      <a:pPr algn="ctr"/>
                      <a:r>
                        <a:rPr lang="en-US" sz="2025" dirty="0">
                          <a:solidFill>
                            <a:srgbClr val="202124"/>
                          </a:solidFill>
                          <a:latin typeface="Roboto"/>
                          <a:ea typeface="Roboto"/>
                          <a:cs typeface="Roboto"/>
                        </a:rPr>
                        <a:t>64.07</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025" dirty="0">
                          <a:solidFill>
                            <a:srgbClr val="202124"/>
                          </a:solidFill>
                          <a:latin typeface="Roboto"/>
                          <a:ea typeface="Roboto"/>
                          <a:cs typeface="Roboto"/>
                        </a:rPr>
                        <a:t>6.03</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025" dirty="0">
                          <a:solidFill>
                            <a:srgbClr val="202124"/>
                          </a:solidFill>
                          <a:latin typeface="Roboto"/>
                          <a:ea typeface="Roboto"/>
                          <a:cs typeface="Roboto"/>
                        </a:rPr>
                        <a:t>377.88</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2"/>
                  </a:ext>
                </a:extLst>
              </a:tr>
              <a:tr h="428625">
                <a:tc vMerge="1">
                  <a:txBody>
                    <a:bodyPr/>
                    <a:lstStyle/>
                    <a:p>
                      <a:pPr algn="ctr"/>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PTQ INT8</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59.14</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4.02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159.19</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3"/>
                  </a:ext>
                </a:extLst>
              </a:tr>
              <a:tr h="428625">
                <a:tc vMerge="1">
                  <a:txBody>
                    <a:bodyPr/>
                    <a:lstStyle/>
                    <a:p>
                      <a:pPr algn="ctr"/>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b="1" dirty="0">
                          <a:solidFill>
                            <a:srgbClr val="822433"/>
                          </a:solidFill>
                          <a:latin typeface="Roboto"/>
                          <a:ea typeface="Roboto"/>
                          <a:cs typeface="Roboto"/>
                        </a:rPr>
                        <a:t>QAT INT8</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chemeClr val="bg1">
                        <a:lumMod val="95000"/>
                      </a:schemeClr>
                    </a:solidFill>
                  </a:tcPr>
                </a:tc>
                <a:tc>
                  <a:txBody>
                    <a:bodyPr/>
                    <a:lstStyle/>
                    <a:p>
                      <a:pPr algn="ctr"/>
                      <a:r>
                        <a:rPr lang="en-US" sz="2025" b="1" dirty="0">
                          <a:solidFill>
                            <a:srgbClr val="822433"/>
                          </a:solidFill>
                          <a:latin typeface="Roboto"/>
                          <a:ea typeface="Roboto"/>
                          <a:cs typeface="Roboto"/>
                        </a:rPr>
                        <a:t>65.63</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chemeClr val="bg1">
                        <a:lumMod val="95000"/>
                      </a:schemeClr>
                    </a:solidFill>
                  </a:tcPr>
                </a:tc>
                <a:tc>
                  <a:txBody>
                    <a:bodyPr/>
                    <a:lstStyle/>
                    <a:p>
                      <a:pPr algn="ctr"/>
                      <a:r>
                        <a:rPr lang="en-US" sz="2025" b="1" dirty="0">
                          <a:solidFill>
                            <a:srgbClr val="822433"/>
                          </a:solidFill>
                          <a:latin typeface="Roboto"/>
                          <a:ea typeface="Roboto"/>
                          <a:cs typeface="Roboto"/>
                        </a:rPr>
                        <a:t>3.01</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chemeClr val="bg1">
                        <a:lumMod val="95000"/>
                      </a:schemeClr>
                    </a:solidFill>
                  </a:tcPr>
                </a:tc>
                <a:tc>
                  <a:txBody>
                    <a:bodyPr/>
                    <a:lstStyle/>
                    <a:p>
                      <a:pPr algn="ctr"/>
                      <a:r>
                        <a:rPr lang="en-US" sz="2025" b="1" dirty="0">
                          <a:solidFill>
                            <a:srgbClr val="822433"/>
                          </a:solidFill>
                          <a:latin typeface="Roboto"/>
                          <a:ea typeface="Roboto"/>
                          <a:cs typeface="Roboto"/>
                        </a:rPr>
                        <a:t>115.34</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chemeClr val="bg1">
                        <a:lumMod val="95000"/>
                      </a:schemeClr>
                    </a:solidFill>
                  </a:tcPr>
                </a:tc>
                <a:extLst>
                  <a:ext uri="{0D108BD9-81ED-4DB2-BD59-A6C34878D82A}">
                    <a16:rowId xmlns:a16="http://schemas.microsoft.com/office/drawing/2014/main" val="10004"/>
                  </a:ext>
                </a:extLst>
              </a:tr>
              <a:tr h="428625">
                <a:tc rowSpan="4">
                  <a:txBody>
                    <a:bodyPr/>
                    <a:lstStyle/>
                    <a:p>
                      <a:pPr algn="l"/>
                      <a:r>
                        <a:rPr lang="en-US" sz="2025" b="1" dirty="0">
                          <a:solidFill>
                            <a:srgbClr val="202124"/>
                          </a:solidFill>
                          <a:latin typeface="Roboto"/>
                          <a:ea typeface="Roboto"/>
                          <a:cs typeface="Roboto"/>
                        </a:rPr>
                        <a:t>SegFormer-B0</a:t>
                      </a:r>
                    </a:p>
                  </a:txBody>
                  <a:tcPr marL="76200" marR="76200" marT="38100" marB="38100" anchor="ctr">
                    <a:lnL w="0">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FP32</a:t>
                      </a:r>
                    </a:p>
                  </a:txBody>
                  <a:tcPr marL="76200" marR="76200" marT="38100" marB="38100" anchor="ctr">
                    <a:lnL w="12700" cap="flat" cmpd="sng" algn="ctr">
                      <a:solidFill>
                        <a:schemeClr val="tx1"/>
                      </a:solidFill>
                      <a:prstDash val="solid"/>
                      <a:round/>
                      <a:headEnd type="none" w="med" len="med"/>
                      <a:tailEnd type="none" w="med" len="med"/>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75.55</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11.88</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tc>
                  <a:txBody>
                    <a:bodyPr/>
                    <a:lstStyle/>
                    <a:p>
                      <a:pPr algn="ctr"/>
                      <a:r>
                        <a:rPr lang="en-US" sz="2025">
                          <a:solidFill>
                            <a:srgbClr val="202124"/>
                          </a:solidFill>
                          <a:latin typeface="Roboto"/>
                          <a:ea typeface="Roboto"/>
                          <a:cs typeface="Roboto"/>
                        </a:rPr>
                        <a:t>835.72</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rgbClr val="FFFFFF"/>
                    </a:solidFill>
                  </a:tcPr>
                </a:tc>
                <a:extLst>
                  <a:ext uri="{0D108BD9-81ED-4DB2-BD59-A6C34878D82A}">
                    <a16:rowId xmlns:a16="http://schemas.microsoft.com/office/drawing/2014/main" val="10005"/>
                  </a:ext>
                </a:extLst>
              </a:tr>
              <a:tr h="428625">
                <a:tc vMerge="1">
                  <a:txBody>
                    <a:bodyPr/>
                    <a:lstStyle/>
                    <a:p>
                      <a:pPr algn="ctr"/>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FP16</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chemeClr val="bg1">
                        <a:lumMod val="95000"/>
                      </a:schemeClr>
                    </a:solidFill>
                  </a:tcPr>
                </a:tc>
                <a:tc>
                  <a:txBody>
                    <a:bodyPr/>
                    <a:lstStyle/>
                    <a:p>
                      <a:pPr algn="ctr"/>
                      <a:r>
                        <a:rPr lang="en-US" sz="2025" dirty="0">
                          <a:solidFill>
                            <a:srgbClr val="202124"/>
                          </a:solidFill>
                          <a:latin typeface="Roboto"/>
                          <a:ea typeface="Roboto"/>
                          <a:cs typeface="Roboto"/>
                        </a:rPr>
                        <a:t>75.55</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025" dirty="0">
                          <a:solidFill>
                            <a:srgbClr val="202124"/>
                          </a:solidFill>
                          <a:latin typeface="Roboto"/>
                          <a:ea typeface="Roboto"/>
                          <a:cs typeface="Roboto"/>
                        </a:rPr>
                        <a:t>7.17</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025" dirty="0">
                          <a:solidFill>
                            <a:srgbClr val="202124"/>
                          </a:solidFill>
                          <a:latin typeface="Roboto"/>
                          <a:ea typeface="Roboto"/>
                          <a:cs typeface="Roboto"/>
                        </a:rPr>
                        <a:t>432.07</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6"/>
                  </a:ext>
                </a:extLst>
              </a:tr>
              <a:tr h="428625">
                <a:tc vMerge="1">
                  <a:txBody>
                    <a:bodyPr/>
                    <a:lstStyle/>
                    <a:p>
                      <a:pPr algn="ctr"/>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PTQ INT8</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75.60</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5.92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dirty="0">
                          <a:solidFill>
                            <a:srgbClr val="202124"/>
                          </a:solidFill>
                          <a:latin typeface="Roboto"/>
                          <a:ea typeface="Roboto"/>
                          <a:cs typeface="Roboto"/>
                        </a:rPr>
                        <a:t>327.99</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7"/>
                  </a:ext>
                </a:extLst>
              </a:tr>
              <a:tr h="428625">
                <a:tc vMerge="1">
                  <a:txBody>
                    <a:bodyPr/>
                    <a:lstStyle/>
                    <a:p>
                      <a:pPr algn="ctr"/>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025" b="1" dirty="0">
                          <a:solidFill>
                            <a:srgbClr val="822433"/>
                          </a:solidFill>
                          <a:latin typeface="Roboto"/>
                          <a:ea typeface="Roboto"/>
                          <a:cs typeface="Roboto"/>
                        </a:rPr>
                        <a:t>QAT INT8</a:t>
                      </a:r>
                    </a:p>
                  </a:txBody>
                  <a:tcPr marL="76200" marR="76200" marT="38100" marB="38100" anchor="ctr">
                    <a:lnL w="12700" cap="flat" cmpd="sng" algn="ctr">
                      <a:solidFill>
                        <a:schemeClr val="tx1"/>
                      </a:solidFill>
                      <a:prstDash val="solid"/>
                      <a:round/>
                      <a:headEnd type="none" w="med" len="med"/>
                      <a:tailEnd type="none" w="med" len="med"/>
                    </a:lnL>
                    <a:lnR w="0">
                      <a:noFill/>
                    </a:lnR>
                    <a:lnT w="0">
                      <a:noFill/>
                    </a:lnT>
                    <a:lnB w="0">
                      <a:noFill/>
                    </a:lnB>
                    <a:lnTlToBr w="0">
                      <a:noFill/>
                    </a:lnTlToBr>
                    <a:lnBlToTr w="0">
                      <a:noFill/>
                    </a:lnBlToTr>
                    <a:solidFill>
                      <a:schemeClr val="bg1">
                        <a:lumMod val="95000"/>
                      </a:schemeClr>
                    </a:solidFill>
                  </a:tcPr>
                </a:tc>
                <a:tc>
                  <a:txBody>
                    <a:bodyPr/>
                    <a:lstStyle/>
                    <a:p>
                      <a:pPr algn="ctr"/>
                      <a:r>
                        <a:rPr lang="en-US" sz="2025" b="1" dirty="0">
                          <a:solidFill>
                            <a:srgbClr val="822433"/>
                          </a:solidFill>
                          <a:latin typeface="Roboto"/>
                          <a:ea typeface="Roboto"/>
                          <a:cs typeface="Roboto"/>
                        </a:rPr>
                        <a:t>76.93</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025" b="1" dirty="0">
                          <a:solidFill>
                            <a:srgbClr val="822433"/>
                          </a:solidFill>
                          <a:latin typeface="Roboto"/>
                          <a:ea typeface="Roboto"/>
                          <a:cs typeface="Roboto"/>
                        </a:rPr>
                        <a:t>5.66</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025" b="1" dirty="0">
                          <a:solidFill>
                            <a:srgbClr val="822433"/>
                          </a:solidFill>
                          <a:latin typeface="Roboto"/>
                          <a:ea typeface="Roboto"/>
                          <a:cs typeface="Roboto"/>
                        </a:rPr>
                        <a:t>291.76</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8"/>
                  </a:ext>
                </a:extLst>
              </a:tr>
            </a:tbl>
          </a:graphicData>
        </a:graphic>
      </p:graphicFrame>
      <p:sp>
        <p:nvSpPr>
          <p:cNvPr id="8" name="benchmark-scope">
            <a:extLst>
              <a:ext uri="{FF2B5EF4-FFF2-40B4-BE49-F238E27FC236}">
                <a16:creationId xmlns:a16="http://schemas.microsoft.com/office/drawing/2014/main" id="{E420B95F-C84B-F185-58E3-DF14E120C93D}"/>
              </a:ext>
            </a:extLst>
          </p:cNvPr>
          <p:cNvSpPr>
            <a:spLocks noGrp="1"/>
          </p:cNvSpPr>
          <p:nvPr/>
        </p:nvSpPr>
        <p:spPr>
          <a:xfrm>
            <a:off x="762000" y="5780696"/>
            <a:ext cx="10763250" cy="304800"/>
          </a:xfrm>
          <a:prstGeom prst="rect">
            <a:avLst/>
          </a:prstGeom>
          <a:noFill/>
          <a:ln w="0">
            <a:noFill/>
          </a:ln>
        </p:spPr>
        <p:txBody>
          <a:bodyPr wrap="square" lIns="0" tIns="0" rIns="0" bIns="0" anchor="t">
            <a:noAutofit/>
          </a:bodyPr>
          <a:lstStyle>
            <a:defPPr algn="l">
              <a:defRPr lang="en-US" sz="1725" b="0">
                <a:solidFill>
                  <a:srgbClr val="656B73"/>
                </a:solidFill>
                <a:latin typeface="Roboto"/>
                <a:ea typeface="Roboto"/>
                <a:cs typeface="Roboto"/>
              </a:defRPr>
            </a:defPPr>
            <a:lvl1pPr algn="l">
              <a:defRPr lang="en-US" sz="1725" b="0">
                <a:solidFill>
                  <a:srgbClr val="656B73"/>
                </a:solidFill>
                <a:latin typeface="Roboto"/>
                <a:ea typeface="Roboto"/>
                <a:cs typeface="Roboto"/>
              </a:defRPr>
            </a:lvl1pPr>
            <a:lvl2pPr algn="l">
              <a:defRPr lang="en-US" sz="1725" b="0">
                <a:solidFill>
                  <a:srgbClr val="656B73"/>
                </a:solidFill>
                <a:latin typeface="Roboto"/>
                <a:ea typeface="Roboto"/>
                <a:cs typeface="Roboto"/>
              </a:defRPr>
            </a:lvl2pPr>
            <a:lvl3pPr algn="l">
              <a:defRPr lang="en-US" sz="1725" b="0">
                <a:solidFill>
                  <a:srgbClr val="656B73"/>
                </a:solidFill>
                <a:latin typeface="Roboto"/>
                <a:ea typeface="Roboto"/>
                <a:cs typeface="Roboto"/>
              </a:defRPr>
            </a:lvl3pPr>
            <a:lvl4pPr algn="l">
              <a:defRPr lang="en-US" sz="1725" b="0">
                <a:solidFill>
                  <a:srgbClr val="656B73"/>
                </a:solidFill>
                <a:latin typeface="Roboto"/>
                <a:ea typeface="Roboto"/>
                <a:cs typeface="Roboto"/>
              </a:defRPr>
            </a:lvl4pPr>
            <a:lvl5pPr algn="l">
              <a:defRPr lang="en-US" sz="1725" b="0">
                <a:solidFill>
                  <a:srgbClr val="656B73"/>
                </a:solidFill>
                <a:latin typeface="Roboto"/>
                <a:ea typeface="Roboto"/>
                <a:cs typeface="Roboto"/>
              </a:defRPr>
            </a:lvl5pPr>
            <a:lvl6pPr algn="l">
              <a:defRPr lang="en-US" sz="1725" b="0">
                <a:solidFill>
                  <a:srgbClr val="656B73"/>
                </a:solidFill>
                <a:latin typeface="Roboto"/>
                <a:ea typeface="Roboto"/>
                <a:cs typeface="Roboto"/>
              </a:defRPr>
            </a:lvl6pPr>
            <a:lvl7pPr algn="l">
              <a:defRPr lang="en-US" sz="1725" b="0">
                <a:solidFill>
                  <a:srgbClr val="656B73"/>
                </a:solidFill>
                <a:latin typeface="Roboto"/>
                <a:ea typeface="Roboto"/>
                <a:cs typeface="Roboto"/>
              </a:defRPr>
            </a:lvl7pPr>
            <a:lvl8pPr algn="l">
              <a:defRPr lang="en-US" sz="1725" b="0">
                <a:solidFill>
                  <a:srgbClr val="656B73"/>
                </a:solidFill>
                <a:latin typeface="Roboto"/>
                <a:ea typeface="Roboto"/>
                <a:cs typeface="Roboto"/>
              </a:defRPr>
            </a:lvl8pPr>
            <a:lvl9pPr algn="l">
              <a:defRPr lang="en-US" sz="1725" b="0">
                <a:solidFill>
                  <a:srgbClr val="656B73"/>
                </a:solidFill>
                <a:latin typeface="Roboto"/>
                <a:ea typeface="Roboto"/>
                <a:cs typeface="Roboto"/>
              </a:defRPr>
            </a:lvl9pPr>
          </a:lstStyle>
          <a:p>
            <a:pPr>
              <a:defRPr lang="en-US" sz="1725" b="0">
                <a:solidFill>
                  <a:srgbClr val="656B73"/>
                </a:solidFill>
                <a:latin typeface="Roboto"/>
                <a:ea typeface="Roboto"/>
                <a:cs typeface="Roboto"/>
              </a:defRPr>
            </a:pPr>
            <a:r>
              <a:rPr lang="en-US" sz="1400" dirty="0"/>
              <a:t>Best two results, </a:t>
            </a:r>
            <a:r>
              <a:rPr lang="en-US" sz="1400" b="0" dirty="0">
                <a:solidFill>
                  <a:srgbClr val="656B73"/>
                </a:solidFill>
                <a:latin typeface="Roboto"/>
                <a:ea typeface="Roboto"/>
                <a:cs typeface="Roboto"/>
              </a:rPr>
              <a:t>NVIDIA T4, batch 1, </a:t>
            </a:r>
            <a:r>
              <a:rPr lang="en-US" sz="1400" dirty="0"/>
              <a:t>f</a:t>
            </a:r>
            <a:r>
              <a:rPr lang="en-US" sz="1400" b="0" dirty="0">
                <a:solidFill>
                  <a:srgbClr val="656B73"/>
                </a:solidFill>
                <a:latin typeface="Roboto"/>
                <a:ea typeface="Roboto"/>
                <a:cs typeface="Roboto"/>
              </a:rPr>
              <a:t>orward pass only, preprocessing excluded</a:t>
            </a:r>
          </a:p>
        </p:txBody>
      </p:sp>
    </p:spTree>
    <p:extLst>
      <p:ext uri="{BB962C8B-B14F-4D97-AF65-F5344CB8AC3E}">
        <p14:creationId xmlns:p14="http://schemas.microsoft.com/office/powerpoint/2010/main" val="36509643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574E0-A803-9799-B3EE-F1EB4BC0D46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8B4D3FC-ADFB-10F4-78F3-E24B2F982387}"/>
              </a:ext>
            </a:extLst>
          </p:cNvPr>
          <p:cNvSpPr>
            <a:spLocks noGrp="1"/>
          </p:cNvSpPr>
          <p:nvPr>
            <p:ph type="title"/>
          </p:nvPr>
        </p:nvSpPr>
        <p:spPr>
          <a:xfrm>
            <a:off x="838200" y="365125"/>
            <a:ext cx="8384177" cy="835787"/>
          </a:xfrm>
        </p:spPr>
        <p:txBody>
          <a:bodyPr/>
          <a:lstStyle/>
          <a:p>
            <a:r>
              <a:rPr lang="en-US" dirty="0">
                <a:solidFill>
                  <a:srgbClr val="822433"/>
                </a:solidFill>
              </a:rPr>
              <a:t>Damage Inspection: Detection</a:t>
            </a:r>
            <a:endParaRPr lang="en-US" noProof="0" dirty="0">
              <a:solidFill>
                <a:srgbClr val="822433"/>
              </a:solidFill>
            </a:endParaRPr>
          </a:p>
        </p:txBody>
      </p:sp>
      <p:sp>
        <p:nvSpPr>
          <p:cNvPr id="4" name="Google Shape;102;p14">
            <a:extLst>
              <a:ext uri="{FF2B5EF4-FFF2-40B4-BE49-F238E27FC236}">
                <a16:creationId xmlns:a16="http://schemas.microsoft.com/office/drawing/2014/main" id="{5CC8E176-C497-BECA-9F7F-0450BF15F75F}"/>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26</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674077C5-673F-DCC8-C8A5-AB973C1711D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6" name="Chart">
            <a:extLst>
              <a:ext uri="{FF2B5EF4-FFF2-40B4-BE49-F238E27FC236}">
                <a16:creationId xmlns:a16="http://schemas.microsoft.com/office/drawing/2014/main" id="{1EF5FD2C-5DFB-2189-1B94-317B10DA47DA}"/>
              </a:ext>
            </a:extLst>
          </p:cNvPr>
          <p:cNvGraphicFramePr/>
          <p:nvPr>
            <p:extLst>
              <p:ext uri="{D42A27DB-BD31-4B8C-83A1-F6EECF244321}">
                <p14:modId xmlns:p14="http://schemas.microsoft.com/office/powerpoint/2010/main" val="2844569967"/>
              </p:ext>
            </p:extLst>
          </p:nvPr>
        </p:nvGraphicFramePr>
        <p:xfrm>
          <a:off x="762000" y="1543050"/>
          <a:ext cx="7810500" cy="4143375"/>
        </p:xfrm>
        <a:graphic>
          <a:graphicData uri="http://schemas.openxmlformats.org/drawingml/2006/chart">
            <c:chart xmlns:c="http://schemas.openxmlformats.org/drawingml/2006/chart" xmlns:r="http://schemas.openxmlformats.org/officeDocument/2006/relationships" r:id="rId3"/>
          </a:graphicData>
        </a:graphic>
      </p:graphicFrame>
      <p:sp>
        <p:nvSpPr>
          <p:cNvPr id="10" name="ad-best-value">
            <a:extLst>
              <a:ext uri="{FF2B5EF4-FFF2-40B4-BE49-F238E27FC236}">
                <a16:creationId xmlns:a16="http://schemas.microsoft.com/office/drawing/2014/main" id="{AF75B76F-6498-5BC1-4F5C-9F494B2B03FE}"/>
              </a:ext>
            </a:extLst>
          </p:cNvPr>
          <p:cNvSpPr>
            <a:spLocks noGrp="1"/>
          </p:cNvSpPr>
          <p:nvPr/>
        </p:nvSpPr>
        <p:spPr>
          <a:xfrm>
            <a:off x="8882061" y="3048381"/>
            <a:ext cx="2819400" cy="895350"/>
          </a:xfrm>
          <a:prstGeom prst="rect">
            <a:avLst/>
          </a:prstGeom>
          <a:noFill/>
          <a:ln w="0">
            <a:noFill/>
          </a:ln>
        </p:spPr>
        <p:txBody>
          <a:bodyPr wrap="square" lIns="0" tIns="0" rIns="0" bIns="0" anchor="t">
            <a:noAutofit/>
          </a:bodyPr>
          <a:lstStyle>
            <a:defPPr algn="ctr">
              <a:defRPr lang="en-US" sz="4800" b="1">
                <a:solidFill>
                  <a:srgbClr val="822433"/>
                </a:solidFill>
                <a:latin typeface="Roboto"/>
                <a:ea typeface="Roboto"/>
                <a:cs typeface="Roboto"/>
              </a:defRPr>
            </a:defPPr>
            <a:lvl1pPr algn="ctr">
              <a:defRPr lang="en-US" sz="4800" b="1">
                <a:solidFill>
                  <a:srgbClr val="822433"/>
                </a:solidFill>
                <a:latin typeface="Roboto"/>
                <a:ea typeface="Roboto"/>
                <a:cs typeface="Roboto"/>
              </a:defRPr>
            </a:lvl1pPr>
            <a:lvl2pPr algn="ctr">
              <a:defRPr lang="en-US" sz="4800" b="1">
                <a:solidFill>
                  <a:srgbClr val="822433"/>
                </a:solidFill>
                <a:latin typeface="Roboto"/>
                <a:ea typeface="Roboto"/>
                <a:cs typeface="Roboto"/>
              </a:defRPr>
            </a:lvl2pPr>
            <a:lvl3pPr algn="ctr">
              <a:defRPr lang="en-US" sz="4800" b="1">
                <a:solidFill>
                  <a:srgbClr val="822433"/>
                </a:solidFill>
                <a:latin typeface="Roboto"/>
                <a:ea typeface="Roboto"/>
                <a:cs typeface="Roboto"/>
              </a:defRPr>
            </a:lvl3pPr>
            <a:lvl4pPr algn="ctr">
              <a:defRPr lang="en-US" sz="4800" b="1">
                <a:solidFill>
                  <a:srgbClr val="822433"/>
                </a:solidFill>
                <a:latin typeface="Roboto"/>
                <a:ea typeface="Roboto"/>
                <a:cs typeface="Roboto"/>
              </a:defRPr>
            </a:lvl4pPr>
            <a:lvl5pPr algn="ctr">
              <a:defRPr lang="en-US" sz="4800" b="1">
                <a:solidFill>
                  <a:srgbClr val="822433"/>
                </a:solidFill>
                <a:latin typeface="Roboto"/>
                <a:ea typeface="Roboto"/>
                <a:cs typeface="Roboto"/>
              </a:defRPr>
            </a:lvl5pPr>
            <a:lvl6pPr algn="ctr">
              <a:defRPr lang="en-US" sz="4800" b="1">
                <a:solidFill>
                  <a:srgbClr val="822433"/>
                </a:solidFill>
                <a:latin typeface="Roboto"/>
                <a:ea typeface="Roboto"/>
                <a:cs typeface="Roboto"/>
              </a:defRPr>
            </a:lvl6pPr>
            <a:lvl7pPr algn="ctr">
              <a:defRPr lang="en-US" sz="4800" b="1">
                <a:solidFill>
                  <a:srgbClr val="822433"/>
                </a:solidFill>
                <a:latin typeface="Roboto"/>
                <a:ea typeface="Roboto"/>
                <a:cs typeface="Roboto"/>
              </a:defRPr>
            </a:lvl7pPr>
            <a:lvl8pPr algn="ctr">
              <a:defRPr lang="en-US" sz="4800" b="1">
                <a:solidFill>
                  <a:srgbClr val="822433"/>
                </a:solidFill>
                <a:latin typeface="Roboto"/>
                <a:ea typeface="Roboto"/>
                <a:cs typeface="Roboto"/>
              </a:defRPr>
            </a:lvl8pPr>
            <a:lvl9pPr algn="ctr">
              <a:defRPr lang="en-US" sz="4800" b="1">
                <a:solidFill>
                  <a:srgbClr val="822433"/>
                </a:solidFill>
                <a:latin typeface="Roboto"/>
                <a:ea typeface="Roboto"/>
                <a:cs typeface="Roboto"/>
              </a:defRPr>
            </a:lvl9pPr>
          </a:lstStyle>
          <a:p>
            <a:pPr algn="ctr">
              <a:defRPr lang="en-US" sz="4800" b="1">
                <a:solidFill>
                  <a:srgbClr val="822433"/>
                </a:solidFill>
                <a:latin typeface="Roboto"/>
                <a:ea typeface="Roboto"/>
                <a:cs typeface="Roboto"/>
              </a:defRPr>
            </a:pPr>
            <a:r>
              <a:rPr lang="en-US" sz="4800" b="1" dirty="0">
                <a:solidFill>
                  <a:srgbClr val="822433"/>
                </a:solidFill>
                <a:latin typeface="Roboto"/>
                <a:ea typeface="Roboto"/>
                <a:cs typeface="Roboto"/>
              </a:rPr>
              <a:t>86.43%</a:t>
            </a:r>
          </a:p>
        </p:txBody>
      </p:sp>
      <p:sp>
        <p:nvSpPr>
          <p:cNvPr id="12" name="ad-best-model">
            <a:extLst>
              <a:ext uri="{FF2B5EF4-FFF2-40B4-BE49-F238E27FC236}">
                <a16:creationId xmlns:a16="http://schemas.microsoft.com/office/drawing/2014/main" id="{ACAE6630-8D59-DAF8-0EEC-01DA46019B8A}"/>
              </a:ext>
            </a:extLst>
          </p:cNvPr>
          <p:cNvSpPr>
            <a:spLocks noGrp="1"/>
          </p:cNvSpPr>
          <p:nvPr/>
        </p:nvSpPr>
        <p:spPr>
          <a:xfrm>
            <a:off x="8958261" y="3695701"/>
            <a:ext cx="2667000" cy="438150"/>
          </a:xfrm>
          <a:prstGeom prst="rect">
            <a:avLst/>
          </a:prstGeom>
          <a:noFill/>
          <a:ln w="0">
            <a:noFill/>
          </a:ln>
        </p:spPr>
        <p:txBody>
          <a:bodyPr wrap="square" lIns="0" tIns="0" rIns="0" bIns="0" anchor="t">
            <a:noAutofit/>
          </a:bodyPr>
          <a:lstStyle>
            <a:defPPr algn="ctr">
              <a:defRPr lang="en-US" sz="2250" b="1">
                <a:solidFill>
                  <a:srgbClr val="202124"/>
                </a:solidFill>
                <a:latin typeface="Roboto"/>
                <a:ea typeface="Roboto"/>
                <a:cs typeface="Roboto"/>
              </a:defRPr>
            </a:defPPr>
            <a:lvl1pPr algn="ctr">
              <a:defRPr lang="en-US" sz="2250" b="1">
                <a:solidFill>
                  <a:srgbClr val="202124"/>
                </a:solidFill>
                <a:latin typeface="Roboto"/>
                <a:ea typeface="Roboto"/>
                <a:cs typeface="Roboto"/>
              </a:defRPr>
            </a:lvl1pPr>
            <a:lvl2pPr algn="ctr">
              <a:defRPr lang="en-US" sz="2250" b="1">
                <a:solidFill>
                  <a:srgbClr val="202124"/>
                </a:solidFill>
                <a:latin typeface="Roboto"/>
                <a:ea typeface="Roboto"/>
                <a:cs typeface="Roboto"/>
              </a:defRPr>
            </a:lvl2pPr>
            <a:lvl3pPr algn="ctr">
              <a:defRPr lang="en-US" sz="2250" b="1">
                <a:solidFill>
                  <a:srgbClr val="202124"/>
                </a:solidFill>
                <a:latin typeface="Roboto"/>
                <a:ea typeface="Roboto"/>
                <a:cs typeface="Roboto"/>
              </a:defRPr>
            </a:lvl3pPr>
            <a:lvl4pPr algn="ctr">
              <a:defRPr lang="en-US" sz="2250" b="1">
                <a:solidFill>
                  <a:srgbClr val="202124"/>
                </a:solidFill>
                <a:latin typeface="Roboto"/>
                <a:ea typeface="Roboto"/>
                <a:cs typeface="Roboto"/>
              </a:defRPr>
            </a:lvl4pPr>
            <a:lvl5pPr algn="ctr">
              <a:defRPr lang="en-US" sz="2250" b="1">
                <a:solidFill>
                  <a:srgbClr val="202124"/>
                </a:solidFill>
                <a:latin typeface="Roboto"/>
                <a:ea typeface="Roboto"/>
                <a:cs typeface="Roboto"/>
              </a:defRPr>
            </a:lvl5pPr>
            <a:lvl6pPr algn="ctr">
              <a:defRPr lang="en-US" sz="2250" b="1">
                <a:solidFill>
                  <a:srgbClr val="202124"/>
                </a:solidFill>
                <a:latin typeface="Roboto"/>
                <a:ea typeface="Roboto"/>
                <a:cs typeface="Roboto"/>
              </a:defRPr>
            </a:lvl6pPr>
            <a:lvl7pPr algn="ctr">
              <a:defRPr lang="en-US" sz="2250" b="1">
                <a:solidFill>
                  <a:srgbClr val="202124"/>
                </a:solidFill>
                <a:latin typeface="Roboto"/>
                <a:ea typeface="Roboto"/>
                <a:cs typeface="Roboto"/>
              </a:defRPr>
            </a:lvl7pPr>
            <a:lvl8pPr algn="ctr">
              <a:defRPr lang="en-US" sz="2250" b="1">
                <a:solidFill>
                  <a:srgbClr val="202124"/>
                </a:solidFill>
                <a:latin typeface="Roboto"/>
                <a:ea typeface="Roboto"/>
                <a:cs typeface="Roboto"/>
              </a:defRPr>
            </a:lvl8pPr>
            <a:lvl9pPr algn="ctr">
              <a:defRPr lang="en-US" sz="2250" b="1">
                <a:solidFill>
                  <a:srgbClr val="202124"/>
                </a:solidFill>
                <a:latin typeface="Roboto"/>
                <a:ea typeface="Roboto"/>
                <a:cs typeface="Roboto"/>
              </a:defRPr>
            </a:lvl9pPr>
          </a:lstStyle>
          <a:p>
            <a:pPr algn="ctr">
              <a:defRPr lang="en-US" sz="2250" b="1">
                <a:solidFill>
                  <a:srgbClr val="202124"/>
                </a:solidFill>
                <a:latin typeface="Roboto"/>
                <a:ea typeface="Roboto"/>
                <a:cs typeface="Roboto"/>
              </a:defRPr>
            </a:pPr>
            <a:r>
              <a:rPr lang="en-US" sz="2250" b="1" dirty="0">
                <a:solidFill>
                  <a:srgbClr val="202124"/>
                </a:solidFill>
                <a:latin typeface="Roboto"/>
                <a:ea typeface="Roboto"/>
                <a:cs typeface="Roboto"/>
              </a:rPr>
              <a:t>PatchCore-L</a:t>
            </a:r>
          </a:p>
        </p:txBody>
      </p:sp>
      <p:sp>
        <p:nvSpPr>
          <p:cNvPr id="14" name="ad-best-scope">
            <a:extLst>
              <a:ext uri="{FF2B5EF4-FFF2-40B4-BE49-F238E27FC236}">
                <a16:creationId xmlns:a16="http://schemas.microsoft.com/office/drawing/2014/main" id="{3BDC17C2-FC1F-08A8-6287-61729627D614}"/>
              </a:ext>
            </a:extLst>
          </p:cNvPr>
          <p:cNvSpPr>
            <a:spLocks noGrp="1"/>
          </p:cNvSpPr>
          <p:nvPr/>
        </p:nvSpPr>
        <p:spPr>
          <a:xfrm>
            <a:off x="8772524" y="4073793"/>
            <a:ext cx="3038475" cy="40957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dirty="0">
                <a:solidFill>
                  <a:srgbClr val="656B73"/>
                </a:solidFill>
                <a:latin typeface="Roboto"/>
                <a:ea typeface="Roboto"/>
                <a:cs typeface="Roboto"/>
              </a:rPr>
              <a:t>Synthetic pose-A test</a:t>
            </a:r>
          </a:p>
        </p:txBody>
      </p:sp>
      <p:sp>
        <p:nvSpPr>
          <p:cNvPr id="16" name="admetric">
            <a:extLst>
              <a:ext uri="{FF2B5EF4-FFF2-40B4-BE49-F238E27FC236}">
                <a16:creationId xmlns:a16="http://schemas.microsoft.com/office/drawing/2014/main" id="{FAC88116-C676-604C-A8F3-7D1F3C96AC64}"/>
              </a:ext>
            </a:extLst>
          </p:cNvPr>
          <p:cNvSpPr>
            <a:spLocks noGrp="1"/>
          </p:cNvSpPr>
          <p:nvPr/>
        </p:nvSpPr>
        <p:spPr>
          <a:xfrm>
            <a:off x="838200" y="5640274"/>
            <a:ext cx="10287000" cy="352425"/>
          </a:xfrm>
          <a:prstGeom prst="rect">
            <a:avLst/>
          </a:prstGeom>
          <a:noFill/>
          <a:ln w="0">
            <a:noFill/>
          </a:ln>
        </p:spPr>
        <p:txBody>
          <a:bodyPr wrap="square" lIns="0" tIns="0" rIns="0" bIns="0" anchor="t">
            <a:noAutofit/>
          </a:bodyPr>
          <a:lstStyle>
            <a:defPPr algn="l">
              <a:defRPr lang="en-US" sz="1800" b="0">
                <a:solidFill>
                  <a:srgbClr val="656B73"/>
                </a:solidFill>
                <a:latin typeface="Roboto"/>
                <a:ea typeface="Roboto"/>
                <a:cs typeface="Roboto"/>
              </a:defRPr>
            </a:defPPr>
            <a:lvl1pPr algn="l">
              <a:defRPr lang="en-US" sz="1800" b="0">
                <a:solidFill>
                  <a:srgbClr val="656B73"/>
                </a:solidFill>
                <a:latin typeface="Roboto"/>
                <a:ea typeface="Roboto"/>
                <a:cs typeface="Roboto"/>
              </a:defRPr>
            </a:lvl1pPr>
            <a:lvl2pPr algn="l">
              <a:defRPr lang="en-US" sz="1800" b="0">
                <a:solidFill>
                  <a:srgbClr val="656B73"/>
                </a:solidFill>
                <a:latin typeface="Roboto"/>
                <a:ea typeface="Roboto"/>
                <a:cs typeface="Roboto"/>
              </a:defRPr>
            </a:lvl2pPr>
            <a:lvl3pPr algn="l">
              <a:defRPr lang="en-US" sz="1800" b="0">
                <a:solidFill>
                  <a:srgbClr val="656B73"/>
                </a:solidFill>
                <a:latin typeface="Roboto"/>
                <a:ea typeface="Roboto"/>
                <a:cs typeface="Roboto"/>
              </a:defRPr>
            </a:lvl3pPr>
            <a:lvl4pPr algn="l">
              <a:defRPr lang="en-US" sz="1800" b="0">
                <a:solidFill>
                  <a:srgbClr val="656B73"/>
                </a:solidFill>
                <a:latin typeface="Roboto"/>
                <a:ea typeface="Roboto"/>
                <a:cs typeface="Roboto"/>
              </a:defRPr>
            </a:lvl4pPr>
            <a:lvl5pPr algn="l">
              <a:defRPr lang="en-US" sz="1800" b="0">
                <a:solidFill>
                  <a:srgbClr val="656B73"/>
                </a:solidFill>
                <a:latin typeface="Roboto"/>
                <a:ea typeface="Roboto"/>
                <a:cs typeface="Roboto"/>
              </a:defRPr>
            </a:lvl5pPr>
            <a:lvl6pPr algn="l">
              <a:defRPr lang="en-US" sz="1800" b="0">
                <a:solidFill>
                  <a:srgbClr val="656B73"/>
                </a:solidFill>
                <a:latin typeface="Roboto"/>
                <a:ea typeface="Roboto"/>
                <a:cs typeface="Roboto"/>
              </a:defRPr>
            </a:lvl6pPr>
            <a:lvl7pPr algn="l">
              <a:defRPr lang="en-US" sz="1800" b="0">
                <a:solidFill>
                  <a:srgbClr val="656B73"/>
                </a:solidFill>
                <a:latin typeface="Roboto"/>
                <a:ea typeface="Roboto"/>
                <a:cs typeface="Roboto"/>
              </a:defRPr>
            </a:lvl7pPr>
            <a:lvl8pPr algn="l">
              <a:defRPr lang="en-US" sz="1800" b="0">
                <a:solidFill>
                  <a:srgbClr val="656B73"/>
                </a:solidFill>
                <a:latin typeface="Roboto"/>
                <a:ea typeface="Roboto"/>
                <a:cs typeface="Roboto"/>
              </a:defRPr>
            </a:lvl8pPr>
            <a:lvl9pPr algn="l">
              <a:defRPr lang="en-US" sz="1800" b="0">
                <a:solidFill>
                  <a:srgbClr val="656B73"/>
                </a:solidFill>
                <a:latin typeface="Roboto"/>
                <a:ea typeface="Roboto"/>
                <a:cs typeface="Roboto"/>
              </a:defRPr>
            </a:lvl9pPr>
          </a:lstStyle>
          <a:p>
            <a:pPr algn="l">
              <a:defRPr lang="en-US" sz="1800" b="0">
                <a:solidFill>
                  <a:srgbClr val="656B73"/>
                </a:solidFill>
                <a:latin typeface="Roboto"/>
                <a:ea typeface="Roboto"/>
                <a:cs typeface="Roboto"/>
              </a:defRPr>
            </a:pPr>
            <a:r>
              <a:rPr lang="en-US" sz="1800" b="0" dirty="0">
                <a:solidFill>
                  <a:srgbClr val="656B73"/>
                </a:solidFill>
                <a:latin typeface="Roboto"/>
                <a:ea typeface="Roboto"/>
                <a:cs typeface="Roboto"/>
              </a:rPr>
              <a:t>Image AUROC on the test split</a:t>
            </a:r>
          </a:p>
        </p:txBody>
      </p:sp>
    </p:spTree>
    <p:extLst>
      <p:ext uri="{BB962C8B-B14F-4D97-AF65-F5344CB8AC3E}">
        <p14:creationId xmlns:p14="http://schemas.microsoft.com/office/powerpoint/2010/main" val="27796411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E62A9-CB18-A19C-A614-05F64918621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C528257-3203-028A-0523-756BB753A6EB}"/>
              </a:ext>
            </a:extLst>
          </p:cNvPr>
          <p:cNvSpPr>
            <a:spLocks noGrp="1"/>
          </p:cNvSpPr>
          <p:nvPr>
            <p:ph type="title"/>
          </p:nvPr>
        </p:nvSpPr>
        <p:spPr>
          <a:xfrm>
            <a:off x="838200" y="365125"/>
            <a:ext cx="8384177" cy="835787"/>
          </a:xfrm>
        </p:spPr>
        <p:txBody>
          <a:bodyPr/>
          <a:lstStyle/>
          <a:p>
            <a:r>
              <a:rPr lang="en-US" dirty="0">
                <a:solidFill>
                  <a:srgbClr val="822433"/>
                </a:solidFill>
              </a:rPr>
              <a:t>Damage Inspection: Efficiency</a:t>
            </a:r>
            <a:endParaRPr lang="en-US" noProof="0" dirty="0">
              <a:solidFill>
                <a:srgbClr val="822433"/>
              </a:solidFill>
            </a:endParaRPr>
          </a:p>
        </p:txBody>
      </p:sp>
      <p:sp>
        <p:nvSpPr>
          <p:cNvPr id="4" name="Google Shape;102;p14">
            <a:extLst>
              <a:ext uri="{FF2B5EF4-FFF2-40B4-BE49-F238E27FC236}">
                <a16:creationId xmlns:a16="http://schemas.microsoft.com/office/drawing/2014/main" id="{8FD17F6C-164E-3587-02F7-1AF0BE1A15A4}"/>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27</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A5161605-37A6-DCB9-4B19-CEC53B5E016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12" name="Tabella 11">
            <a:extLst>
              <a:ext uri="{FF2B5EF4-FFF2-40B4-BE49-F238E27FC236}">
                <a16:creationId xmlns:a16="http://schemas.microsoft.com/office/drawing/2014/main" id="{5D1293E6-A870-FBF8-E38C-E06508BE6B24}"/>
              </a:ext>
            </a:extLst>
          </p:cNvPr>
          <p:cNvGraphicFramePr/>
          <p:nvPr>
            <p:extLst>
              <p:ext uri="{D42A27DB-BD31-4B8C-83A1-F6EECF244321}">
                <p14:modId xmlns:p14="http://schemas.microsoft.com/office/powerpoint/2010/main" val="1727332733"/>
              </p:ext>
            </p:extLst>
          </p:nvPr>
        </p:nvGraphicFramePr>
        <p:xfrm>
          <a:off x="2244436" y="1699922"/>
          <a:ext cx="8096250" cy="3528060"/>
        </p:xfrm>
        <a:graphic>
          <a:graphicData uri="http://schemas.openxmlformats.org/drawingml/2006/table">
            <a:tbl>
              <a:tblPr>
                <a:effectLst>
                  <a:outerShdw blurRad="50800" dist="38100" dir="2700000" algn="tl" rotWithShape="0">
                    <a:prstClr val="black">
                      <a:alpha val="40000"/>
                    </a:prstClr>
                  </a:outerShdw>
                </a:effectLst>
              </a:tblPr>
              <a:tblGrid>
                <a:gridCol w="333375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tblGrid>
              <a:tr h="609600">
                <a:tc>
                  <a:txBody>
                    <a:bodyPr/>
                    <a:lstStyle/>
                    <a:p>
                      <a:pPr algn="ctr"/>
                      <a:r>
                        <a:rPr lang="en-US" sz="1950" b="1" dirty="0">
                          <a:solidFill>
                            <a:schemeClr val="bg1"/>
                          </a:solidFill>
                          <a:latin typeface="Roboto"/>
                          <a:ea typeface="Roboto"/>
                          <a:cs typeface="Roboto"/>
                        </a:rPr>
                        <a:t>Model</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tc>
                  <a:txBody>
                    <a:bodyPr/>
                    <a:lstStyle/>
                    <a:p>
                      <a:pPr algn="ctr"/>
                      <a:r>
                        <a:rPr lang="en-US" sz="1950" b="1" dirty="0">
                          <a:solidFill>
                            <a:schemeClr val="bg1"/>
                          </a:solidFill>
                          <a:latin typeface="Roboto"/>
                          <a:ea typeface="Roboto"/>
                          <a:cs typeface="Roboto"/>
                        </a:rPr>
                        <a:t>Latency</a:t>
                      </a:r>
                    </a:p>
                    <a:p>
                      <a:pPr algn="ctr"/>
                      <a:r>
                        <a:rPr lang="en-US" sz="1950" b="1" dirty="0">
                          <a:solidFill>
                            <a:schemeClr val="bg1"/>
                          </a:solidFill>
                          <a:latin typeface="Roboto"/>
                          <a:ea typeface="Roboto"/>
                          <a:cs typeface="Roboto"/>
                        </a:rPr>
                        <a:t>(</a:t>
                      </a:r>
                      <a:r>
                        <a:rPr lang="en-US" sz="1950" b="1" dirty="0" err="1">
                          <a:solidFill>
                            <a:schemeClr val="bg1"/>
                          </a:solidFill>
                          <a:latin typeface="Roboto"/>
                          <a:ea typeface="Roboto"/>
                          <a:cs typeface="Roboto"/>
                        </a:rPr>
                        <a:t>ms</a:t>
                      </a:r>
                      <a:r>
                        <a:rPr lang="en-US" sz="1950" b="1" dirty="0">
                          <a:solidFill>
                            <a:schemeClr val="bg1"/>
                          </a:solidFill>
                          <a:latin typeface="Roboto"/>
                          <a:ea typeface="Roboto"/>
                          <a:cs typeface="Roboto"/>
                        </a:rPr>
                        <a:t>)</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tc>
                  <a:txBody>
                    <a:bodyPr/>
                    <a:lstStyle/>
                    <a:p>
                      <a:pPr algn="ctr"/>
                      <a:r>
                        <a:rPr lang="en-US" sz="1950" b="1" dirty="0">
                          <a:solidFill>
                            <a:schemeClr val="bg1"/>
                          </a:solidFill>
                          <a:latin typeface="Roboto"/>
                          <a:ea typeface="Roboto"/>
                          <a:cs typeface="Roboto"/>
                        </a:rPr>
                        <a:t>GPU energy</a:t>
                      </a:r>
                    </a:p>
                    <a:p>
                      <a:pPr algn="ctr"/>
                      <a:r>
                        <a:rPr lang="en-US" sz="1950" b="1" dirty="0">
                          <a:solidFill>
                            <a:schemeClr val="bg1"/>
                          </a:solidFill>
                          <a:latin typeface="Roboto"/>
                          <a:ea typeface="Roboto"/>
                          <a:cs typeface="Roboto"/>
                        </a:rPr>
                        <a:t>(J/image)</a:t>
                      </a:r>
                    </a:p>
                  </a:txBody>
                  <a:tcPr marL="76200" marR="76200" marT="38100" marB="38100" anchor="ctr">
                    <a:lnL w="0">
                      <a:noFill/>
                    </a:lnL>
                    <a:lnR w="0">
                      <a:noFill/>
                    </a:lnR>
                    <a:lnT w="0">
                      <a:noFill/>
                    </a:lnT>
                    <a:lnB w="12700" cap="flat" cmpd="sng" algn="ctr">
                      <a:solidFill>
                        <a:schemeClr val="tx1"/>
                      </a:solidFill>
                      <a:prstDash val="solid"/>
                      <a:round/>
                      <a:headEnd type="none" w="med" len="med"/>
                      <a:tailEnd type="none" w="med" len="med"/>
                    </a:lnB>
                    <a:lnTlToBr w="0">
                      <a:noFill/>
                    </a:lnTlToBr>
                    <a:lnBlToTr w="0">
                      <a:noFill/>
                    </a:lnBlToTr>
                    <a:solidFill>
                      <a:srgbClr val="822433"/>
                    </a:solidFill>
                  </a:tcPr>
                </a:tc>
                <a:extLst>
                  <a:ext uri="{0D108BD9-81ED-4DB2-BD59-A6C34878D82A}">
                    <a16:rowId xmlns:a16="http://schemas.microsoft.com/office/drawing/2014/main" val="10000"/>
                  </a:ext>
                </a:extLst>
              </a:tr>
              <a:tr h="476250">
                <a:tc>
                  <a:txBody>
                    <a:bodyPr/>
                    <a:lstStyle/>
                    <a:p>
                      <a:pPr algn="l"/>
                      <a:r>
                        <a:rPr lang="en-US" sz="2100" b="1" dirty="0">
                          <a:solidFill>
                            <a:srgbClr val="822433"/>
                          </a:solidFill>
                          <a:latin typeface="Roboto"/>
                          <a:ea typeface="Roboto"/>
                          <a:cs typeface="Roboto"/>
                        </a:rPr>
                        <a:t>TinyGLASS-384</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chemeClr val="bg1">
                        <a:lumMod val="95000"/>
                      </a:schemeClr>
                    </a:solidFill>
                  </a:tcPr>
                </a:tc>
                <a:tc>
                  <a:txBody>
                    <a:bodyPr/>
                    <a:lstStyle/>
                    <a:p>
                      <a:pPr algn="ctr"/>
                      <a:r>
                        <a:rPr lang="en-US" sz="2250" b="1" dirty="0">
                          <a:solidFill>
                            <a:srgbClr val="822433"/>
                          </a:solidFill>
                          <a:latin typeface="Roboto"/>
                          <a:ea typeface="Roboto"/>
                          <a:cs typeface="Roboto"/>
                        </a:rPr>
                        <a:t>5.13</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chemeClr val="bg1">
                        <a:lumMod val="95000"/>
                      </a:schemeClr>
                    </a:solidFill>
                  </a:tcPr>
                </a:tc>
                <a:tc>
                  <a:txBody>
                    <a:bodyPr/>
                    <a:lstStyle/>
                    <a:p>
                      <a:pPr algn="ctr"/>
                      <a:r>
                        <a:rPr lang="en-US" sz="2250" b="1" dirty="0">
                          <a:solidFill>
                            <a:srgbClr val="822433"/>
                          </a:solidFill>
                          <a:latin typeface="Roboto"/>
                          <a:ea typeface="Roboto"/>
                          <a:cs typeface="Roboto"/>
                        </a:rPr>
                        <a:t>0.239</a:t>
                      </a:r>
                    </a:p>
                  </a:txBody>
                  <a:tcPr marL="76200" marR="76200" marT="38100" marB="38100" anchor="ctr">
                    <a:lnL w="0">
                      <a:noFill/>
                    </a:lnL>
                    <a:lnR w="0">
                      <a:noFill/>
                    </a:lnR>
                    <a:lnT w="12700" cap="flat" cmpd="sng" algn="ctr">
                      <a:solidFill>
                        <a:schemeClr val="tx1"/>
                      </a:solidFill>
                      <a:prstDash val="solid"/>
                      <a:round/>
                      <a:headEnd type="none" w="med" len="med"/>
                      <a:tailEnd type="none" w="med" len="med"/>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1"/>
                  </a:ext>
                </a:extLst>
              </a:tr>
              <a:tr h="476250">
                <a:tc>
                  <a:txBody>
                    <a:bodyPr/>
                    <a:lstStyle/>
                    <a:p>
                      <a:pPr algn="l"/>
                      <a:r>
                        <a:rPr lang="en-US" sz="2100">
                          <a:solidFill>
                            <a:srgbClr val="202124"/>
                          </a:solidFill>
                          <a:latin typeface="Roboto"/>
                          <a:ea typeface="Roboto"/>
                          <a:cs typeface="Roboto"/>
                        </a:rPr>
                        <a:t>TinyGLASS-512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250">
                          <a:solidFill>
                            <a:srgbClr val="202124"/>
                          </a:solidFill>
                          <a:latin typeface="Roboto"/>
                          <a:ea typeface="Roboto"/>
                          <a:cs typeface="Roboto"/>
                        </a:rPr>
                        <a:t>6.29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250">
                          <a:solidFill>
                            <a:srgbClr val="202124"/>
                          </a:solidFill>
                          <a:latin typeface="Roboto"/>
                          <a:ea typeface="Roboto"/>
                          <a:cs typeface="Roboto"/>
                        </a:rPr>
                        <a:t>0.369</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2"/>
                  </a:ext>
                </a:extLst>
              </a:tr>
              <a:tr h="476250">
                <a:tc>
                  <a:txBody>
                    <a:bodyPr/>
                    <a:lstStyle/>
                    <a:p>
                      <a:pPr algn="l"/>
                      <a:r>
                        <a:rPr lang="en-US" sz="2100" dirty="0">
                          <a:solidFill>
                            <a:srgbClr val="202124"/>
                          </a:solidFill>
                          <a:latin typeface="Roboto"/>
                          <a:ea typeface="Roboto"/>
                          <a:cs typeface="Roboto"/>
                        </a:rPr>
                        <a:t>SuperSimpleNet</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250" dirty="0">
                          <a:solidFill>
                            <a:srgbClr val="202124"/>
                          </a:solidFill>
                          <a:latin typeface="Roboto"/>
                          <a:ea typeface="Roboto"/>
                          <a:cs typeface="Roboto"/>
                        </a:rPr>
                        <a:t>27.54</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250" dirty="0">
                          <a:solidFill>
                            <a:srgbClr val="202124"/>
                          </a:solidFill>
                          <a:latin typeface="Roboto"/>
                          <a:ea typeface="Roboto"/>
                          <a:cs typeface="Roboto"/>
                        </a:rPr>
                        <a:t>1.939</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3"/>
                  </a:ext>
                </a:extLst>
              </a:tr>
              <a:tr h="476250">
                <a:tc>
                  <a:txBody>
                    <a:bodyPr/>
                    <a:lstStyle/>
                    <a:p>
                      <a:pPr algn="l"/>
                      <a:r>
                        <a:rPr lang="en-US" sz="2100">
                          <a:solidFill>
                            <a:srgbClr val="202124"/>
                          </a:solidFill>
                          <a:latin typeface="Roboto"/>
                          <a:ea typeface="Roboto"/>
                          <a:cs typeface="Roboto"/>
                        </a:rPr>
                        <a:t>EfficientAD-S</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250">
                          <a:solidFill>
                            <a:srgbClr val="202124"/>
                          </a:solidFill>
                          <a:latin typeface="Roboto"/>
                          <a:ea typeface="Roboto"/>
                          <a:cs typeface="Roboto"/>
                        </a:rPr>
                        <a:t>57.72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250">
                          <a:solidFill>
                            <a:srgbClr val="202124"/>
                          </a:solidFill>
                          <a:latin typeface="Roboto"/>
                          <a:ea typeface="Roboto"/>
                          <a:cs typeface="Roboto"/>
                        </a:rPr>
                        <a:t>4.032</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4"/>
                  </a:ext>
                </a:extLst>
              </a:tr>
              <a:tr h="476250">
                <a:tc>
                  <a:txBody>
                    <a:bodyPr/>
                    <a:lstStyle/>
                    <a:p>
                      <a:pPr algn="l"/>
                      <a:r>
                        <a:rPr lang="en-US" sz="2100" dirty="0">
                          <a:solidFill>
                            <a:srgbClr val="202124"/>
                          </a:solidFill>
                          <a:latin typeface="Roboto"/>
                          <a:ea typeface="Roboto"/>
                          <a:cs typeface="Roboto"/>
                        </a:rPr>
                        <a:t>PatchCore-L</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250" dirty="0">
                          <a:solidFill>
                            <a:srgbClr val="202124"/>
                          </a:solidFill>
                          <a:latin typeface="Roboto"/>
                          <a:ea typeface="Roboto"/>
                          <a:cs typeface="Roboto"/>
                        </a:rPr>
                        <a:t>62.89</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250" dirty="0">
                          <a:solidFill>
                            <a:srgbClr val="202124"/>
                          </a:solidFill>
                          <a:latin typeface="Roboto"/>
                          <a:ea typeface="Roboto"/>
                          <a:cs typeface="Roboto"/>
                        </a:rPr>
                        <a:t>4.116</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5"/>
                  </a:ext>
                </a:extLst>
              </a:tr>
              <a:tr h="476250">
                <a:tc>
                  <a:txBody>
                    <a:bodyPr/>
                    <a:lstStyle/>
                    <a:p>
                      <a:pPr algn="l"/>
                      <a:r>
                        <a:rPr lang="en-US" sz="2100">
                          <a:solidFill>
                            <a:srgbClr val="202124"/>
                          </a:solidFill>
                          <a:latin typeface="Roboto"/>
                          <a:ea typeface="Roboto"/>
                          <a:cs typeface="Roboto"/>
                        </a:rPr>
                        <a:t>PatchCore-S</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250" dirty="0">
                          <a:solidFill>
                            <a:srgbClr val="202124"/>
                          </a:solidFill>
                          <a:latin typeface="Roboto"/>
                          <a:ea typeface="Roboto"/>
                          <a:cs typeface="Roboto"/>
                        </a:rPr>
                        <a:t>101.21</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250" dirty="0">
                          <a:solidFill>
                            <a:srgbClr val="202124"/>
                          </a:solidFill>
                          <a:latin typeface="Roboto"/>
                          <a:ea typeface="Roboto"/>
                          <a:cs typeface="Roboto"/>
                        </a:rPr>
                        <a:t>6.849</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6"/>
                  </a:ext>
                </a:extLst>
              </a:tr>
            </a:tbl>
          </a:graphicData>
        </a:graphic>
      </p:graphicFrame>
      <p:sp>
        <p:nvSpPr>
          <p:cNvPr id="14" name="benchmark-scope">
            <a:extLst>
              <a:ext uri="{FF2B5EF4-FFF2-40B4-BE49-F238E27FC236}">
                <a16:creationId xmlns:a16="http://schemas.microsoft.com/office/drawing/2014/main" id="{6D7A6928-DF49-078F-464E-0E452485A636}"/>
              </a:ext>
            </a:extLst>
          </p:cNvPr>
          <p:cNvSpPr>
            <a:spLocks noGrp="1"/>
          </p:cNvSpPr>
          <p:nvPr/>
        </p:nvSpPr>
        <p:spPr>
          <a:xfrm>
            <a:off x="2244436" y="5297632"/>
            <a:ext cx="7926506" cy="304800"/>
          </a:xfrm>
          <a:prstGeom prst="rect">
            <a:avLst/>
          </a:prstGeom>
          <a:noFill/>
          <a:ln w="0">
            <a:noFill/>
          </a:ln>
        </p:spPr>
        <p:txBody>
          <a:bodyPr wrap="square" lIns="0" tIns="0" rIns="0" bIns="0" anchor="t">
            <a:noAutofit/>
          </a:bodyPr>
          <a:lstStyle>
            <a:defPPr algn="l">
              <a:defRPr lang="en-US" sz="1725" b="0">
                <a:solidFill>
                  <a:srgbClr val="656B73"/>
                </a:solidFill>
                <a:latin typeface="Roboto"/>
                <a:ea typeface="Roboto"/>
                <a:cs typeface="Roboto"/>
              </a:defRPr>
            </a:defPPr>
            <a:lvl1pPr algn="l">
              <a:defRPr lang="en-US" sz="1725" b="0">
                <a:solidFill>
                  <a:srgbClr val="656B73"/>
                </a:solidFill>
                <a:latin typeface="Roboto"/>
                <a:ea typeface="Roboto"/>
                <a:cs typeface="Roboto"/>
              </a:defRPr>
            </a:lvl1pPr>
            <a:lvl2pPr algn="l">
              <a:defRPr lang="en-US" sz="1725" b="0">
                <a:solidFill>
                  <a:srgbClr val="656B73"/>
                </a:solidFill>
                <a:latin typeface="Roboto"/>
                <a:ea typeface="Roboto"/>
                <a:cs typeface="Roboto"/>
              </a:defRPr>
            </a:lvl2pPr>
            <a:lvl3pPr algn="l">
              <a:defRPr lang="en-US" sz="1725" b="0">
                <a:solidFill>
                  <a:srgbClr val="656B73"/>
                </a:solidFill>
                <a:latin typeface="Roboto"/>
                <a:ea typeface="Roboto"/>
                <a:cs typeface="Roboto"/>
              </a:defRPr>
            </a:lvl3pPr>
            <a:lvl4pPr algn="l">
              <a:defRPr lang="en-US" sz="1725" b="0">
                <a:solidFill>
                  <a:srgbClr val="656B73"/>
                </a:solidFill>
                <a:latin typeface="Roboto"/>
                <a:ea typeface="Roboto"/>
                <a:cs typeface="Roboto"/>
              </a:defRPr>
            </a:lvl4pPr>
            <a:lvl5pPr algn="l">
              <a:defRPr lang="en-US" sz="1725" b="0">
                <a:solidFill>
                  <a:srgbClr val="656B73"/>
                </a:solidFill>
                <a:latin typeface="Roboto"/>
                <a:ea typeface="Roboto"/>
                <a:cs typeface="Roboto"/>
              </a:defRPr>
            </a:lvl5pPr>
            <a:lvl6pPr algn="l">
              <a:defRPr lang="en-US" sz="1725" b="0">
                <a:solidFill>
                  <a:srgbClr val="656B73"/>
                </a:solidFill>
                <a:latin typeface="Roboto"/>
                <a:ea typeface="Roboto"/>
                <a:cs typeface="Roboto"/>
              </a:defRPr>
            </a:lvl6pPr>
            <a:lvl7pPr algn="l">
              <a:defRPr lang="en-US" sz="1725" b="0">
                <a:solidFill>
                  <a:srgbClr val="656B73"/>
                </a:solidFill>
                <a:latin typeface="Roboto"/>
                <a:ea typeface="Roboto"/>
                <a:cs typeface="Roboto"/>
              </a:defRPr>
            </a:lvl7pPr>
            <a:lvl8pPr algn="l">
              <a:defRPr lang="en-US" sz="1725" b="0">
                <a:solidFill>
                  <a:srgbClr val="656B73"/>
                </a:solidFill>
                <a:latin typeface="Roboto"/>
                <a:ea typeface="Roboto"/>
                <a:cs typeface="Roboto"/>
              </a:defRPr>
            </a:lvl8pPr>
            <a:lvl9pPr algn="l">
              <a:defRPr lang="en-US" sz="1725" b="0">
                <a:solidFill>
                  <a:srgbClr val="656B73"/>
                </a:solidFill>
                <a:latin typeface="Roboto"/>
                <a:ea typeface="Roboto"/>
                <a:cs typeface="Roboto"/>
              </a:defRPr>
            </a:lvl9pPr>
          </a:lstStyle>
          <a:p>
            <a:pPr algn="l">
              <a:defRPr lang="en-US" sz="1725" b="0">
                <a:solidFill>
                  <a:srgbClr val="656B73"/>
                </a:solidFill>
                <a:latin typeface="Roboto"/>
                <a:ea typeface="Roboto"/>
                <a:cs typeface="Roboto"/>
              </a:defRPr>
            </a:pPr>
            <a:r>
              <a:rPr lang="en-US" sz="1725" b="0" dirty="0">
                <a:solidFill>
                  <a:srgbClr val="656B73"/>
                </a:solidFill>
                <a:latin typeface="Roboto"/>
                <a:ea typeface="Roboto"/>
                <a:cs typeface="Roboto"/>
              </a:rPr>
              <a:t>NVIDIA T4, batch 1, forward pass only, preprocessing excluded</a:t>
            </a:r>
          </a:p>
        </p:txBody>
      </p:sp>
    </p:spTree>
    <p:extLst>
      <p:ext uri="{BB962C8B-B14F-4D97-AF65-F5344CB8AC3E}">
        <p14:creationId xmlns:p14="http://schemas.microsoft.com/office/powerpoint/2010/main" val="36415830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4CF57-C8A4-A657-ABEC-780253A1ADF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978870A-69F8-437B-9A37-7525C89A6C54}"/>
              </a:ext>
            </a:extLst>
          </p:cNvPr>
          <p:cNvSpPr>
            <a:spLocks noGrp="1"/>
          </p:cNvSpPr>
          <p:nvPr>
            <p:ph type="title"/>
          </p:nvPr>
        </p:nvSpPr>
        <p:spPr>
          <a:xfrm>
            <a:off x="838200" y="365125"/>
            <a:ext cx="8384177" cy="835787"/>
          </a:xfrm>
        </p:spPr>
        <p:txBody>
          <a:bodyPr/>
          <a:lstStyle/>
          <a:p>
            <a:r>
              <a:rPr lang="en-US" dirty="0">
                <a:solidFill>
                  <a:srgbClr val="822433"/>
                </a:solidFill>
              </a:rPr>
              <a:t>Damage Inspection: Localization</a:t>
            </a:r>
            <a:endParaRPr lang="en-US" noProof="0" dirty="0">
              <a:solidFill>
                <a:srgbClr val="822433"/>
              </a:solidFill>
            </a:endParaRPr>
          </a:p>
        </p:txBody>
      </p:sp>
      <p:sp>
        <p:nvSpPr>
          <p:cNvPr id="4" name="Google Shape;102;p14">
            <a:extLst>
              <a:ext uri="{FF2B5EF4-FFF2-40B4-BE49-F238E27FC236}">
                <a16:creationId xmlns:a16="http://schemas.microsoft.com/office/drawing/2014/main" id="{256F4F28-1777-39B3-CBB3-A6EC1258A916}"/>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28</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B9BB6370-1573-C10B-BF23-AEC2559855E2}"/>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6" name="label-damage-rgb.png">
            <a:extLst>
              <a:ext uri="{FF2B5EF4-FFF2-40B4-BE49-F238E27FC236}">
                <a16:creationId xmlns:a16="http://schemas.microsoft.com/office/drawing/2014/main" id="{EEA0D960-7396-9D62-3616-03ACBC2F2E0A}"/>
              </a:ext>
            </a:extLst>
          </p:cNvPr>
          <p:cNvSpPr>
            <a:spLocks noGrp="1"/>
          </p:cNvSpPr>
          <p:nvPr/>
        </p:nvSpPr>
        <p:spPr>
          <a:xfrm>
            <a:off x="762000"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Observation</a:t>
            </a:r>
          </a:p>
        </p:txBody>
      </p:sp>
      <p:pic>
        <p:nvPicPr>
          <p:cNvPr id="8" name="Immagine 7">
            <a:extLst>
              <a:ext uri="{FF2B5EF4-FFF2-40B4-BE49-F238E27FC236}">
                <a16:creationId xmlns:a16="http://schemas.microsoft.com/office/drawing/2014/main" id="{A1EB0A69-1EBD-CFCB-4513-4654CBD17C44}"/>
              </a:ext>
            </a:extLst>
          </p:cNvPr>
          <p:cNvPicPr>
            <a:picLocks noChangeAspect="1"/>
          </p:cNvPicPr>
          <p:nvPr/>
        </p:nvPicPr>
        <p:blipFill>
          <a:blip r:embed="rId3"/>
          <a:stretch/>
        </p:blipFill>
        <p:spPr>
          <a:xfrm>
            <a:off x="762000" y="2181225"/>
            <a:ext cx="2381250" cy="2381250"/>
          </a:xfrm>
          <a:prstGeom prst="rect">
            <a:avLst/>
          </a:prstGeom>
        </p:spPr>
      </p:pic>
      <p:sp>
        <p:nvSpPr>
          <p:cNvPr id="10" name="label-damage-ground-truth.png">
            <a:extLst>
              <a:ext uri="{FF2B5EF4-FFF2-40B4-BE49-F238E27FC236}">
                <a16:creationId xmlns:a16="http://schemas.microsoft.com/office/drawing/2014/main" id="{C571C057-ACE2-218F-DB46-DAC3C7541056}"/>
              </a:ext>
            </a:extLst>
          </p:cNvPr>
          <p:cNvSpPr>
            <a:spLocks noGrp="1"/>
          </p:cNvSpPr>
          <p:nvPr/>
        </p:nvSpPr>
        <p:spPr>
          <a:xfrm>
            <a:off x="3495675"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Ground truth</a:t>
            </a:r>
          </a:p>
        </p:txBody>
      </p:sp>
      <p:pic>
        <p:nvPicPr>
          <p:cNvPr id="12" name="Immagine 11">
            <a:extLst>
              <a:ext uri="{FF2B5EF4-FFF2-40B4-BE49-F238E27FC236}">
                <a16:creationId xmlns:a16="http://schemas.microsoft.com/office/drawing/2014/main" id="{42C9BA10-EBFA-86BF-891A-766DA20CABCE}"/>
              </a:ext>
            </a:extLst>
          </p:cNvPr>
          <p:cNvPicPr>
            <a:picLocks noChangeAspect="1"/>
          </p:cNvPicPr>
          <p:nvPr/>
        </p:nvPicPr>
        <p:blipFill>
          <a:blip r:embed="rId4"/>
          <a:stretch/>
        </p:blipFill>
        <p:spPr>
          <a:xfrm>
            <a:off x="3495675" y="2181225"/>
            <a:ext cx="2381250" cy="2381250"/>
          </a:xfrm>
          <a:prstGeom prst="rect">
            <a:avLst/>
          </a:prstGeom>
        </p:spPr>
      </p:pic>
      <p:sp>
        <p:nvSpPr>
          <p:cNvPr id="14" name="label-damage-ssn.png">
            <a:extLst>
              <a:ext uri="{FF2B5EF4-FFF2-40B4-BE49-F238E27FC236}">
                <a16:creationId xmlns:a16="http://schemas.microsoft.com/office/drawing/2014/main" id="{D95D8403-961A-DDB9-A992-8C7DE4CA454A}"/>
              </a:ext>
            </a:extLst>
          </p:cNvPr>
          <p:cNvSpPr>
            <a:spLocks noGrp="1"/>
          </p:cNvSpPr>
          <p:nvPr/>
        </p:nvSpPr>
        <p:spPr>
          <a:xfrm>
            <a:off x="6229350"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SuperSimpleNet</a:t>
            </a:r>
          </a:p>
        </p:txBody>
      </p:sp>
      <p:pic>
        <p:nvPicPr>
          <p:cNvPr id="16" name="Immagine 15">
            <a:extLst>
              <a:ext uri="{FF2B5EF4-FFF2-40B4-BE49-F238E27FC236}">
                <a16:creationId xmlns:a16="http://schemas.microsoft.com/office/drawing/2014/main" id="{513CA2F7-5FEA-FE00-1E0D-A2AA6373A1F0}"/>
              </a:ext>
            </a:extLst>
          </p:cNvPr>
          <p:cNvPicPr>
            <a:picLocks noChangeAspect="1"/>
          </p:cNvPicPr>
          <p:nvPr/>
        </p:nvPicPr>
        <p:blipFill>
          <a:blip r:embed="rId5"/>
          <a:stretch/>
        </p:blipFill>
        <p:spPr>
          <a:xfrm>
            <a:off x="6229350" y="2181225"/>
            <a:ext cx="2381250" cy="2381250"/>
          </a:xfrm>
          <a:prstGeom prst="rect">
            <a:avLst/>
          </a:prstGeom>
        </p:spPr>
      </p:pic>
      <p:sp>
        <p:nvSpPr>
          <p:cNvPr id="18" name="label-damage-tg512.png">
            <a:extLst>
              <a:ext uri="{FF2B5EF4-FFF2-40B4-BE49-F238E27FC236}">
                <a16:creationId xmlns:a16="http://schemas.microsoft.com/office/drawing/2014/main" id="{692F7F91-6D2A-A262-4004-6A1B7EC08070}"/>
              </a:ext>
            </a:extLst>
          </p:cNvPr>
          <p:cNvSpPr>
            <a:spLocks noGrp="1"/>
          </p:cNvSpPr>
          <p:nvPr/>
        </p:nvSpPr>
        <p:spPr>
          <a:xfrm>
            <a:off x="8963025" y="1590675"/>
            <a:ext cx="2381250" cy="361950"/>
          </a:xfrm>
          <a:prstGeom prst="rect">
            <a:avLst/>
          </a:prstGeom>
          <a:noFill/>
          <a:ln w="0">
            <a:noFill/>
          </a:ln>
        </p:spPr>
        <p:txBody>
          <a:bodyPr wrap="square" lIns="0" tIns="0" rIns="0" bIns="0" anchor="t">
            <a:noAutofit/>
          </a:bodyPr>
          <a:lstStyle>
            <a:defPPr algn="ctr">
              <a:defRPr lang="en-US" sz="1950" b="1">
                <a:solidFill>
                  <a:srgbClr val="202124"/>
                </a:solidFill>
                <a:latin typeface="Roboto"/>
                <a:ea typeface="Roboto"/>
                <a:cs typeface="Roboto"/>
              </a:defRPr>
            </a:defPPr>
            <a:lvl1pPr algn="ctr">
              <a:defRPr lang="en-US" sz="1950" b="1">
                <a:solidFill>
                  <a:srgbClr val="202124"/>
                </a:solidFill>
                <a:latin typeface="Roboto"/>
                <a:ea typeface="Roboto"/>
                <a:cs typeface="Roboto"/>
              </a:defRPr>
            </a:lvl1pPr>
            <a:lvl2pPr algn="ctr">
              <a:defRPr lang="en-US" sz="1950" b="1">
                <a:solidFill>
                  <a:srgbClr val="202124"/>
                </a:solidFill>
                <a:latin typeface="Roboto"/>
                <a:ea typeface="Roboto"/>
                <a:cs typeface="Roboto"/>
              </a:defRPr>
            </a:lvl2pPr>
            <a:lvl3pPr algn="ctr">
              <a:defRPr lang="en-US" sz="1950" b="1">
                <a:solidFill>
                  <a:srgbClr val="202124"/>
                </a:solidFill>
                <a:latin typeface="Roboto"/>
                <a:ea typeface="Roboto"/>
                <a:cs typeface="Roboto"/>
              </a:defRPr>
            </a:lvl3pPr>
            <a:lvl4pPr algn="ctr">
              <a:defRPr lang="en-US" sz="1950" b="1">
                <a:solidFill>
                  <a:srgbClr val="202124"/>
                </a:solidFill>
                <a:latin typeface="Roboto"/>
                <a:ea typeface="Roboto"/>
                <a:cs typeface="Roboto"/>
              </a:defRPr>
            </a:lvl4pPr>
            <a:lvl5pPr algn="ctr">
              <a:defRPr lang="en-US" sz="1950" b="1">
                <a:solidFill>
                  <a:srgbClr val="202124"/>
                </a:solidFill>
                <a:latin typeface="Roboto"/>
                <a:ea typeface="Roboto"/>
                <a:cs typeface="Roboto"/>
              </a:defRPr>
            </a:lvl5pPr>
            <a:lvl6pPr algn="ctr">
              <a:defRPr lang="en-US" sz="1950" b="1">
                <a:solidFill>
                  <a:srgbClr val="202124"/>
                </a:solidFill>
                <a:latin typeface="Roboto"/>
                <a:ea typeface="Roboto"/>
                <a:cs typeface="Roboto"/>
              </a:defRPr>
            </a:lvl6pPr>
            <a:lvl7pPr algn="ctr">
              <a:defRPr lang="en-US" sz="1950" b="1">
                <a:solidFill>
                  <a:srgbClr val="202124"/>
                </a:solidFill>
                <a:latin typeface="Roboto"/>
                <a:ea typeface="Roboto"/>
                <a:cs typeface="Roboto"/>
              </a:defRPr>
            </a:lvl7pPr>
            <a:lvl8pPr algn="ctr">
              <a:defRPr lang="en-US" sz="1950" b="1">
                <a:solidFill>
                  <a:srgbClr val="202124"/>
                </a:solidFill>
                <a:latin typeface="Roboto"/>
                <a:ea typeface="Roboto"/>
                <a:cs typeface="Roboto"/>
              </a:defRPr>
            </a:lvl8pPr>
            <a:lvl9pPr algn="ctr">
              <a:defRPr lang="en-US" sz="1950" b="1">
                <a:solidFill>
                  <a:srgbClr val="202124"/>
                </a:solidFill>
                <a:latin typeface="Roboto"/>
                <a:ea typeface="Roboto"/>
                <a:cs typeface="Roboto"/>
              </a:defRPr>
            </a:lvl9pPr>
          </a:lstStyle>
          <a:p>
            <a:pPr algn="ctr">
              <a:defRPr lang="en-US" sz="1950" b="1">
                <a:solidFill>
                  <a:srgbClr val="202124"/>
                </a:solidFill>
                <a:latin typeface="Roboto"/>
                <a:ea typeface="Roboto"/>
                <a:cs typeface="Roboto"/>
              </a:defRPr>
            </a:pPr>
            <a:r>
              <a:rPr lang="en-US" sz="1950" b="1">
                <a:solidFill>
                  <a:srgbClr val="202124"/>
                </a:solidFill>
                <a:latin typeface="Roboto"/>
                <a:ea typeface="Roboto"/>
                <a:cs typeface="Roboto"/>
              </a:rPr>
              <a:t>TinyGLASS-512</a:t>
            </a:r>
          </a:p>
        </p:txBody>
      </p:sp>
      <p:pic>
        <p:nvPicPr>
          <p:cNvPr id="20" name="Immagine 19">
            <a:extLst>
              <a:ext uri="{FF2B5EF4-FFF2-40B4-BE49-F238E27FC236}">
                <a16:creationId xmlns:a16="http://schemas.microsoft.com/office/drawing/2014/main" id="{672271A9-C6B1-C898-99CC-A739BB111654}"/>
              </a:ext>
            </a:extLst>
          </p:cNvPr>
          <p:cNvPicPr>
            <a:picLocks noChangeAspect="1"/>
          </p:cNvPicPr>
          <p:nvPr/>
        </p:nvPicPr>
        <p:blipFill>
          <a:blip r:embed="rId6"/>
          <a:stretch/>
        </p:blipFill>
        <p:spPr>
          <a:xfrm>
            <a:off x="8963025" y="2181225"/>
            <a:ext cx="2381250" cy="2381250"/>
          </a:xfrm>
          <a:prstGeom prst="rect">
            <a:avLst/>
          </a:prstGeom>
        </p:spPr>
      </p:pic>
      <p:sp>
        <p:nvSpPr>
          <p:cNvPr id="22" name="ssn-map-ap">
            <a:extLst>
              <a:ext uri="{FF2B5EF4-FFF2-40B4-BE49-F238E27FC236}">
                <a16:creationId xmlns:a16="http://schemas.microsoft.com/office/drawing/2014/main" id="{3E0E1F39-A802-BB5F-CF2E-48B7F6993070}"/>
              </a:ext>
            </a:extLst>
          </p:cNvPr>
          <p:cNvSpPr>
            <a:spLocks noGrp="1"/>
          </p:cNvSpPr>
          <p:nvPr/>
        </p:nvSpPr>
        <p:spPr>
          <a:xfrm>
            <a:off x="6229350" y="4995862"/>
            <a:ext cx="2381250" cy="542925"/>
          </a:xfrm>
          <a:prstGeom prst="rect">
            <a:avLst/>
          </a:prstGeom>
          <a:noFill/>
          <a:ln w="0">
            <a:noFill/>
          </a:ln>
        </p:spPr>
        <p:txBody>
          <a:bodyPr wrap="square" lIns="0" tIns="0" rIns="0" bIns="0" anchor="t">
            <a:noAutofit/>
          </a:bodyPr>
          <a:lstStyle>
            <a:defPPr algn="ctr">
              <a:defRPr lang="en-US" sz="3000" b="1">
                <a:solidFill>
                  <a:srgbClr val="2C8390"/>
                </a:solidFill>
                <a:latin typeface="Roboto"/>
                <a:ea typeface="Roboto"/>
                <a:cs typeface="Roboto"/>
              </a:defRPr>
            </a:defPPr>
            <a:lvl1pPr algn="ctr">
              <a:defRPr lang="en-US" sz="3000" b="1">
                <a:solidFill>
                  <a:srgbClr val="2C8390"/>
                </a:solidFill>
                <a:latin typeface="Roboto"/>
                <a:ea typeface="Roboto"/>
                <a:cs typeface="Roboto"/>
              </a:defRPr>
            </a:lvl1pPr>
            <a:lvl2pPr algn="ctr">
              <a:defRPr lang="en-US" sz="3000" b="1">
                <a:solidFill>
                  <a:srgbClr val="2C8390"/>
                </a:solidFill>
                <a:latin typeface="Roboto"/>
                <a:ea typeface="Roboto"/>
                <a:cs typeface="Roboto"/>
              </a:defRPr>
            </a:lvl2pPr>
            <a:lvl3pPr algn="ctr">
              <a:defRPr lang="en-US" sz="3000" b="1">
                <a:solidFill>
                  <a:srgbClr val="2C8390"/>
                </a:solidFill>
                <a:latin typeface="Roboto"/>
                <a:ea typeface="Roboto"/>
                <a:cs typeface="Roboto"/>
              </a:defRPr>
            </a:lvl3pPr>
            <a:lvl4pPr algn="ctr">
              <a:defRPr lang="en-US" sz="3000" b="1">
                <a:solidFill>
                  <a:srgbClr val="2C8390"/>
                </a:solidFill>
                <a:latin typeface="Roboto"/>
                <a:ea typeface="Roboto"/>
                <a:cs typeface="Roboto"/>
              </a:defRPr>
            </a:lvl4pPr>
            <a:lvl5pPr algn="ctr">
              <a:defRPr lang="en-US" sz="3000" b="1">
                <a:solidFill>
                  <a:srgbClr val="2C8390"/>
                </a:solidFill>
                <a:latin typeface="Roboto"/>
                <a:ea typeface="Roboto"/>
                <a:cs typeface="Roboto"/>
              </a:defRPr>
            </a:lvl5pPr>
            <a:lvl6pPr algn="ctr">
              <a:defRPr lang="en-US" sz="3000" b="1">
                <a:solidFill>
                  <a:srgbClr val="2C8390"/>
                </a:solidFill>
                <a:latin typeface="Roboto"/>
                <a:ea typeface="Roboto"/>
                <a:cs typeface="Roboto"/>
              </a:defRPr>
            </a:lvl6pPr>
            <a:lvl7pPr algn="ctr">
              <a:defRPr lang="en-US" sz="3000" b="1">
                <a:solidFill>
                  <a:srgbClr val="2C8390"/>
                </a:solidFill>
                <a:latin typeface="Roboto"/>
                <a:ea typeface="Roboto"/>
                <a:cs typeface="Roboto"/>
              </a:defRPr>
            </a:lvl7pPr>
            <a:lvl8pPr algn="ctr">
              <a:defRPr lang="en-US" sz="3000" b="1">
                <a:solidFill>
                  <a:srgbClr val="2C8390"/>
                </a:solidFill>
                <a:latin typeface="Roboto"/>
                <a:ea typeface="Roboto"/>
                <a:cs typeface="Roboto"/>
              </a:defRPr>
            </a:lvl8pPr>
            <a:lvl9pPr algn="ctr">
              <a:defRPr lang="en-US" sz="3000" b="1">
                <a:solidFill>
                  <a:srgbClr val="2C8390"/>
                </a:solidFill>
                <a:latin typeface="Roboto"/>
                <a:ea typeface="Roboto"/>
                <a:cs typeface="Roboto"/>
              </a:defRPr>
            </a:lvl9pPr>
          </a:lstStyle>
          <a:p>
            <a:pPr algn="ctr">
              <a:defRPr lang="en-US" sz="3000" b="1">
                <a:solidFill>
                  <a:srgbClr val="2C8390"/>
                </a:solidFill>
                <a:latin typeface="Roboto"/>
                <a:ea typeface="Roboto"/>
                <a:cs typeface="Roboto"/>
              </a:defRPr>
            </a:pPr>
            <a:r>
              <a:rPr lang="en-US" sz="3000" b="1" dirty="0">
                <a:solidFill>
                  <a:srgbClr val="2C8390"/>
                </a:solidFill>
                <a:latin typeface="Roboto"/>
                <a:ea typeface="Roboto"/>
                <a:cs typeface="Roboto"/>
              </a:rPr>
              <a:t>19.10%</a:t>
            </a:r>
          </a:p>
        </p:txBody>
      </p:sp>
      <p:sp>
        <p:nvSpPr>
          <p:cNvPr id="24" name="tg-map-ap">
            <a:extLst>
              <a:ext uri="{FF2B5EF4-FFF2-40B4-BE49-F238E27FC236}">
                <a16:creationId xmlns:a16="http://schemas.microsoft.com/office/drawing/2014/main" id="{18E1BF7C-1D9A-BE8D-2D38-295F482979CB}"/>
              </a:ext>
            </a:extLst>
          </p:cNvPr>
          <p:cNvSpPr>
            <a:spLocks noGrp="1"/>
          </p:cNvSpPr>
          <p:nvPr/>
        </p:nvSpPr>
        <p:spPr>
          <a:xfrm>
            <a:off x="8963025" y="4995862"/>
            <a:ext cx="2381250" cy="542925"/>
          </a:xfrm>
          <a:prstGeom prst="rect">
            <a:avLst/>
          </a:prstGeom>
          <a:noFill/>
          <a:ln w="0">
            <a:noFill/>
          </a:ln>
        </p:spPr>
        <p:txBody>
          <a:bodyPr wrap="square" lIns="0" tIns="0" rIns="0" bIns="0" anchor="t">
            <a:noAutofit/>
          </a:bodyPr>
          <a:lstStyle>
            <a:defPPr algn="ctr">
              <a:defRPr lang="en-US" sz="3000" b="1">
                <a:solidFill>
                  <a:srgbClr val="822433"/>
                </a:solidFill>
                <a:latin typeface="Roboto"/>
                <a:ea typeface="Roboto"/>
                <a:cs typeface="Roboto"/>
              </a:defRPr>
            </a:defPPr>
            <a:lvl1pPr algn="ctr">
              <a:defRPr lang="en-US" sz="3000" b="1">
                <a:solidFill>
                  <a:srgbClr val="822433"/>
                </a:solidFill>
                <a:latin typeface="Roboto"/>
                <a:ea typeface="Roboto"/>
                <a:cs typeface="Roboto"/>
              </a:defRPr>
            </a:lvl1pPr>
            <a:lvl2pPr algn="ctr">
              <a:defRPr lang="en-US" sz="3000" b="1">
                <a:solidFill>
                  <a:srgbClr val="822433"/>
                </a:solidFill>
                <a:latin typeface="Roboto"/>
                <a:ea typeface="Roboto"/>
                <a:cs typeface="Roboto"/>
              </a:defRPr>
            </a:lvl2pPr>
            <a:lvl3pPr algn="ctr">
              <a:defRPr lang="en-US" sz="3000" b="1">
                <a:solidFill>
                  <a:srgbClr val="822433"/>
                </a:solidFill>
                <a:latin typeface="Roboto"/>
                <a:ea typeface="Roboto"/>
                <a:cs typeface="Roboto"/>
              </a:defRPr>
            </a:lvl3pPr>
            <a:lvl4pPr algn="ctr">
              <a:defRPr lang="en-US" sz="3000" b="1">
                <a:solidFill>
                  <a:srgbClr val="822433"/>
                </a:solidFill>
                <a:latin typeface="Roboto"/>
                <a:ea typeface="Roboto"/>
                <a:cs typeface="Roboto"/>
              </a:defRPr>
            </a:lvl4pPr>
            <a:lvl5pPr algn="ctr">
              <a:defRPr lang="en-US" sz="3000" b="1">
                <a:solidFill>
                  <a:srgbClr val="822433"/>
                </a:solidFill>
                <a:latin typeface="Roboto"/>
                <a:ea typeface="Roboto"/>
                <a:cs typeface="Roboto"/>
              </a:defRPr>
            </a:lvl5pPr>
            <a:lvl6pPr algn="ctr">
              <a:defRPr lang="en-US" sz="3000" b="1">
                <a:solidFill>
                  <a:srgbClr val="822433"/>
                </a:solidFill>
                <a:latin typeface="Roboto"/>
                <a:ea typeface="Roboto"/>
                <a:cs typeface="Roboto"/>
              </a:defRPr>
            </a:lvl6pPr>
            <a:lvl7pPr algn="ctr">
              <a:defRPr lang="en-US" sz="3000" b="1">
                <a:solidFill>
                  <a:srgbClr val="822433"/>
                </a:solidFill>
                <a:latin typeface="Roboto"/>
                <a:ea typeface="Roboto"/>
                <a:cs typeface="Roboto"/>
              </a:defRPr>
            </a:lvl7pPr>
            <a:lvl8pPr algn="ctr">
              <a:defRPr lang="en-US" sz="3000" b="1">
                <a:solidFill>
                  <a:srgbClr val="822433"/>
                </a:solidFill>
                <a:latin typeface="Roboto"/>
                <a:ea typeface="Roboto"/>
                <a:cs typeface="Roboto"/>
              </a:defRPr>
            </a:lvl8pPr>
            <a:lvl9pPr algn="ctr">
              <a:defRPr lang="en-US" sz="3000" b="1">
                <a:solidFill>
                  <a:srgbClr val="822433"/>
                </a:solidFill>
                <a:latin typeface="Roboto"/>
                <a:ea typeface="Roboto"/>
                <a:cs typeface="Roboto"/>
              </a:defRPr>
            </a:lvl9pPr>
          </a:lstStyle>
          <a:p>
            <a:pPr algn="ctr">
              <a:defRPr lang="en-US" sz="3000" b="1">
                <a:solidFill>
                  <a:srgbClr val="822433"/>
                </a:solidFill>
                <a:latin typeface="Roboto"/>
                <a:ea typeface="Roboto"/>
                <a:cs typeface="Roboto"/>
              </a:defRPr>
            </a:pPr>
            <a:r>
              <a:rPr lang="en-US" sz="3000" b="1" dirty="0">
                <a:solidFill>
                  <a:srgbClr val="822433"/>
                </a:solidFill>
                <a:latin typeface="Roboto"/>
                <a:ea typeface="Roboto"/>
                <a:cs typeface="Roboto"/>
              </a:rPr>
              <a:t>27.59%</a:t>
            </a:r>
          </a:p>
        </p:txBody>
      </p:sp>
      <p:sp>
        <p:nvSpPr>
          <p:cNvPr id="26" name="map-precision-label">
            <a:extLst>
              <a:ext uri="{FF2B5EF4-FFF2-40B4-BE49-F238E27FC236}">
                <a16:creationId xmlns:a16="http://schemas.microsoft.com/office/drawing/2014/main" id="{1DE0493D-174C-32D7-0729-C6BAE7EF43CC}"/>
              </a:ext>
            </a:extLst>
          </p:cNvPr>
          <p:cNvSpPr>
            <a:spLocks noGrp="1"/>
          </p:cNvSpPr>
          <p:nvPr/>
        </p:nvSpPr>
        <p:spPr>
          <a:xfrm>
            <a:off x="4840431" y="5072061"/>
            <a:ext cx="1324841" cy="39052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2400" b="0" dirty="0">
                <a:solidFill>
                  <a:sysClr val="windowText" lastClr="000000"/>
                </a:solidFill>
                <a:latin typeface="Roboto"/>
                <a:ea typeface="Roboto"/>
                <a:cs typeface="Roboto"/>
              </a:rPr>
              <a:t>Pixel AP</a:t>
            </a:r>
            <a:r>
              <a:rPr lang="en-US" sz="2400" dirty="0">
                <a:solidFill>
                  <a:sysClr val="windowText" lastClr="000000"/>
                </a:solidFill>
              </a:rPr>
              <a:t>:</a:t>
            </a:r>
            <a:endParaRPr lang="en-US" sz="2400" b="0" dirty="0">
              <a:solidFill>
                <a:sysClr val="windowText" lastClr="000000"/>
              </a:solidFill>
              <a:latin typeface="Roboto"/>
              <a:ea typeface="Roboto"/>
              <a:cs typeface="Roboto"/>
            </a:endParaRPr>
          </a:p>
        </p:txBody>
      </p:sp>
    </p:spTree>
    <p:extLst>
      <p:ext uri="{BB962C8B-B14F-4D97-AF65-F5344CB8AC3E}">
        <p14:creationId xmlns:p14="http://schemas.microsoft.com/office/powerpoint/2010/main" val="173558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3D7AC-1FA9-417F-BDB9-3185684DCBE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A15373B-52F9-2A08-CE83-957040FF5924}"/>
              </a:ext>
            </a:extLst>
          </p:cNvPr>
          <p:cNvSpPr>
            <a:spLocks noGrp="1"/>
          </p:cNvSpPr>
          <p:nvPr>
            <p:ph type="title"/>
          </p:nvPr>
        </p:nvSpPr>
        <p:spPr/>
        <p:txBody>
          <a:bodyPr>
            <a:normAutofit/>
          </a:bodyPr>
          <a:lstStyle/>
          <a:p>
            <a:r>
              <a:rPr lang="it-IT" sz="5400" dirty="0" err="1">
                <a:solidFill>
                  <a:srgbClr val="822433"/>
                </a:solidFill>
              </a:rPr>
              <a:t>Conclusions</a:t>
            </a:r>
            <a:endParaRPr lang="it-IT" sz="5400" dirty="0">
              <a:solidFill>
                <a:srgbClr val="822433"/>
              </a:solidFill>
            </a:endParaRPr>
          </a:p>
        </p:txBody>
      </p:sp>
      <p:sp>
        <p:nvSpPr>
          <p:cNvPr id="3" name="Segnaposto testo 2">
            <a:extLst>
              <a:ext uri="{FF2B5EF4-FFF2-40B4-BE49-F238E27FC236}">
                <a16:creationId xmlns:a16="http://schemas.microsoft.com/office/drawing/2014/main" id="{1FF580B9-178F-76BA-F22D-C1F0D3CE5302}"/>
              </a:ext>
            </a:extLst>
          </p:cNvPr>
          <p:cNvSpPr>
            <a:spLocks noGrp="1"/>
          </p:cNvSpPr>
          <p:nvPr>
            <p:ph type="body" idx="1"/>
          </p:nvPr>
        </p:nvSpPr>
        <p:spPr>
          <a:xfrm>
            <a:off x="844550" y="2085109"/>
            <a:ext cx="10515600" cy="1859570"/>
          </a:xfrm>
        </p:spPr>
        <p:txBody>
          <a:bodyPr>
            <a:normAutofit lnSpcReduction="10000"/>
          </a:bodyPr>
          <a:lstStyle/>
          <a:p>
            <a:r>
              <a:rPr lang="it-IT" dirty="0" err="1"/>
              <a:t>Introduction</a:t>
            </a:r>
            <a:br>
              <a:rPr lang="it-IT" dirty="0"/>
            </a:br>
            <a:r>
              <a:rPr lang="it-IT" dirty="0" err="1">
                <a:solidFill>
                  <a:schemeClr val="bg1">
                    <a:lumMod val="50000"/>
                  </a:schemeClr>
                </a:solidFill>
              </a:rPr>
              <a:t>Lightweight</a:t>
            </a:r>
            <a:r>
              <a:rPr lang="it-IT" dirty="0">
                <a:solidFill>
                  <a:schemeClr val="bg1">
                    <a:lumMod val="50000"/>
                  </a:schemeClr>
                </a:solidFill>
              </a:rPr>
              <a:t> Scene </a:t>
            </a:r>
            <a:r>
              <a:rPr lang="it-IT" dirty="0" err="1">
                <a:solidFill>
                  <a:schemeClr val="bg1">
                    <a:lumMod val="50000"/>
                  </a:schemeClr>
                </a:solidFill>
              </a:rPr>
              <a:t>Understanding</a:t>
            </a:r>
            <a:br>
              <a:rPr lang="it-IT" dirty="0">
                <a:solidFill>
                  <a:schemeClr val="bg1">
                    <a:lumMod val="50000"/>
                  </a:schemeClr>
                </a:solidFill>
              </a:rPr>
            </a:br>
            <a:r>
              <a:rPr lang="it-IT" dirty="0" err="1">
                <a:solidFill>
                  <a:schemeClr val="bg1">
                    <a:lumMod val="50000"/>
                  </a:schemeClr>
                </a:solidFill>
              </a:rPr>
              <a:t>Synthetic</a:t>
            </a:r>
            <a:r>
              <a:rPr lang="it-IT" dirty="0">
                <a:solidFill>
                  <a:schemeClr val="bg1">
                    <a:lumMod val="50000"/>
                  </a:schemeClr>
                </a:solidFill>
              </a:rPr>
              <a:t> Dataset Generation</a:t>
            </a:r>
            <a:br>
              <a:rPr lang="it-IT" dirty="0">
                <a:solidFill>
                  <a:schemeClr val="bg1">
                    <a:lumMod val="50000"/>
                  </a:schemeClr>
                </a:solidFill>
              </a:rPr>
            </a:br>
            <a:r>
              <a:rPr lang="it-IT" dirty="0" err="1">
                <a:solidFill>
                  <a:schemeClr val="bg1">
                    <a:lumMod val="50000"/>
                  </a:schemeClr>
                </a:solidFill>
              </a:rPr>
              <a:t>Synthetic</a:t>
            </a:r>
            <a:r>
              <a:rPr lang="it-IT" dirty="0">
                <a:solidFill>
                  <a:schemeClr val="bg1">
                    <a:lumMod val="50000"/>
                  </a:schemeClr>
                </a:solidFill>
              </a:rPr>
              <a:t> </a:t>
            </a:r>
            <a:r>
              <a:rPr lang="it-IT" dirty="0" err="1">
                <a:solidFill>
                  <a:schemeClr val="bg1">
                    <a:lumMod val="50000"/>
                  </a:schemeClr>
                </a:solidFill>
              </a:rPr>
              <a:t>Damage</a:t>
            </a:r>
            <a:r>
              <a:rPr lang="it-IT" dirty="0">
                <a:solidFill>
                  <a:schemeClr val="bg1">
                    <a:lumMod val="50000"/>
                  </a:schemeClr>
                </a:solidFill>
              </a:rPr>
              <a:t> </a:t>
            </a:r>
            <a:r>
              <a:rPr lang="it-IT" dirty="0" err="1">
                <a:solidFill>
                  <a:schemeClr val="bg1">
                    <a:lumMod val="50000"/>
                  </a:schemeClr>
                </a:solidFill>
              </a:rPr>
              <a:t>Inspection</a:t>
            </a:r>
            <a:br>
              <a:rPr lang="it-IT" dirty="0">
                <a:solidFill>
                  <a:schemeClr val="bg1">
                    <a:lumMod val="50000"/>
                  </a:schemeClr>
                </a:solidFill>
              </a:rPr>
            </a:br>
            <a:r>
              <a:rPr lang="it-IT" dirty="0" err="1">
                <a:solidFill>
                  <a:schemeClr val="bg1">
                    <a:lumMod val="50000"/>
                  </a:schemeClr>
                </a:solidFill>
              </a:rPr>
              <a:t>Results</a:t>
            </a:r>
            <a:endParaRPr lang="it-IT" dirty="0">
              <a:solidFill>
                <a:schemeClr val="bg1">
                  <a:lumMod val="50000"/>
                </a:schemeClr>
              </a:solidFill>
            </a:endParaRPr>
          </a:p>
        </p:txBody>
      </p:sp>
      <p:sp>
        <p:nvSpPr>
          <p:cNvPr id="4" name="Google Shape;102;p14">
            <a:extLst>
              <a:ext uri="{FF2B5EF4-FFF2-40B4-BE49-F238E27FC236}">
                <a16:creationId xmlns:a16="http://schemas.microsoft.com/office/drawing/2014/main" id="{2786C3E9-D1B2-CF4D-3DE5-4C6223359D9F}"/>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it-IT" sz="100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29</a:t>
            </a:fld>
            <a:r>
              <a:rPr lang="it-IT" sz="1000" dirty="0">
                <a:solidFill>
                  <a:srgbClr val="822433"/>
                </a:solidFill>
                <a:latin typeface="Roboto" panose="02000000000000000000" pitchFamily="2" charset="0"/>
                <a:ea typeface="Roboto" panose="02000000000000000000" pitchFamily="2" charset="0"/>
              </a:rPr>
              <a:t>/25</a:t>
            </a:r>
            <a:endParaRPr sz="1000" dirty="0">
              <a:solidFill>
                <a:srgbClr val="822433"/>
              </a:solidFill>
              <a:latin typeface="Roboto" panose="02000000000000000000" pitchFamily="2" charset="0"/>
              <a:ea typeface="Roboto" panose="02000000000000000000" pitchFamily="2" charset="0"/>
            </a:endParaRPr>
          </a:p>
        </p:txBody>
      </p:sp>
      <p:sp>
        <p:nvSpPr>
          <p:cNvPr id="5" name="Google Shape;103;p14">
            <a:extLst>
              <a:ext uri="{FF2B5EF4-FFF2-40B4-BE49-F238E27FC236}">
                <a16:creationId xmlns:a16="http://schemas.microsoft.com/office/drawing/2014/main" id="{1A9A2193-642E-7EE8-6381-A6BC5414C22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endParaRPr lang="it-IT" sz="1000" dirty="0">
              <a:solidFill>
                <a:srgbClr val="822433"/>
              </a:solidFill>
              <a:latin typeface="Roboto" panose="02000000000000000000" pitchFamily="2" charset="0"/>
              <a:ea typeface="Roboto" panose="02000000000000000000" pitchFamily="2" charset="0"/>
            </a:endParaRPr>
          </a:p>
        </p:txBody>
      </p:sp>
      <p:sp>
        <p:nvSpPr>
          <p:cNvPr id="8" name="Segnaposto testo 2">
            <a:extLst>
              <a:ext uri="{FF2B5EF4-FFF2-40B4-BE49-F238E27FC236}">
                <a16:creationId xmlns:a16="http://schemas.microsoft.com/office/drawing/2014/main" id="{60ECD5A8-A0CB-A08A-9347-40A53FDBBC1F}"/>
              </a:ext>
            </a:extLst>
          </p:cNvPr>
          <p:cNvSpPr txBox="1">
            <a:spLocks/>
          </p:cNvSpPr>
          <p:nvPr/>
        </p:nvSpPr>
        <p:spPr>
          <a:xfrm>
            <a:off x="844550" y="4562475"/>
            <a:ext cx="10515600" cy="1544003"/>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1pPr>
            <a:lvl2pPr marL="457200" indent="0" algn="l" defTabSz="914400" rtl="0" eaLnBrk="1" latinLnBrk="0" hangingPunct="1">
              <a:lnSpc>
                <a:spcPct val="100000"/>
              </a:lnSpc>
              <a:spcBef>
                <a:spcPts val="500"/>
              </a:spcBef>
              <a:buFont typeface="Arial" panose="020B0604020202020204" pitchFamily="34" charset="0"/>
              <a:buNone/>
              <a:defRPr sz="20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2pPr>
            <a:lvl3pPr marL="914400" indent="0" algn="l" defTabSz="914400" rtl="0" eaLnBrk="1" latinLnBrk="0" hangingPunct="1">
              <a:lnSpc>
                <a:spcPct val="100000"/>
              </a:lnSpc>
              <a:spcBef>
                <a:spcPts val="500"/>
              </a:spcBef>
              <a:buFont typeface="Arial" panose="020B0604020202020204" pitchFamily="34" charset="0"/>
              <a:buNone/>
              <a:defRPr sz="18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3pPr>
            <a:lvl4pPr marL="13716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4pPr>
            <a:lvl5pPr marL="1828800" indent="0" algn="l" defTabSz="914400" rtl="0" eaLnBrk="1" latinLnBrk="0" hangingPunct="1">
              <a:lnSpc>
                <a:spcPct val="100000"/>
              </a:lnSpc>
              <a:spcBef>
                <a:spcPts val="500"/>
              </a:spcBef>
              <a:buFont typeface="Arial" panose="020B0604020202020204" pitchFamily="34" charset="0"/>
              <a:buNone/>
              <a:defRPr sz="1600" kern="1200">
                <a:solidFill>
                  <a:schemeClr val="tx1">
                    <a:tint val="75000"/>
                  </a:schemeClr>
                </a:solidFill>
                <a:latin typeface="Roboto" panose="02000000000000000000" pitchFamily="2" charset="0"/>
                <a:ea typeface="Roboto" panose="02000000000000000000" pitchFamily="2" charset="0"/>
                <a:cs typeface="Roboto" panose="02000000000000000000" pitchFamily="2" charset="0"/>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endParaRPr lang="it-IT" dirty="0"/>
          </a:p>
        </p:txBody>
      </p:sp>
    </p:spTree>
    <p:extLst>
      <p:ext uri="{BB962C8B-B14F-4D97-AF65-F5344CB8AC3E}">
        <p14:creationId xmlns:p14="http://schemas.microsoft.com/office/powerpoint/2010/main" val="3139092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D8585C-6547-3DF2-5F9C-75F0EB87C360}"/>
              </a:ext>
            </a:extLst>
          </p:cNvPr>
          <p:cNvSpPr>
            <a:spLocks noGrp="1"/>
          </p:cNvSpPr>
          <p:nvPr>
            <p:ph type="title"/>
          </p:nvPr>
        </p:nvSpPr>
        <p:spPr>
          <a:xfrm>
            <a:off x="838200" y="365125"/>
            <a:ext cx="8384177" cy="835787"/>
          </a:xfrm>
        </p:spPr>
        <p:txBody>
          <a:bodyPr/>
          <a:lstStyle/>
          <a:p>
            <a:r>
              <a:rPr>
                <a:solidFill>
                  <a:srgbClr val="822433"/>
                </a:solidFill>
              </a:rPr>
              <a:t>Conclusions</a:t>
            </a:r>
          </a:p>
        </p:txBody>
      </p:sp>
      <p:sp>
        <p:nvSpPr>
          <p:cNvPr id="5" name="Google Shape;103;p14">
            <a:extLst>
              <a:ext uri="{FF2B5EF4-FFF2-40B4-BE49-F238E27FC236}">
                <a16:creationId xmlns:a16="http://schemas.microsoft.com/office/drawing/2014/main" id="{9729A674-1148-4E3C-8155-19C360C96032}"/>
              </a:ext>
            </a:extLst>
          </p:cNvPr>
          <p:cNvSpPr>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dirty="0">
                <a:solidFill>
                  <a:srgbClr val="822433"/>
                </a:solidFill>
                <a:latin typeface="Roboto"/>
                <a:ea typeface="Roboto"/>
                <a:cs typeface="Roboto"/>
              </a:rPr>
              <a:t>               Lightweight Scene Understanding and Synthetic Data-Driven Damage Inspection for Martian Rovers                                                                     27/10/2026</a:t>
            </a:r>
          </a:p>
        </p:txBody>
      </p:sp>
      <p:sp>
        <p:nvSpPr>
          <p:cNvPr id="6" name="segmentation-heading">
            <a:extLst>
              <a:ext uri="{FF2B5EF4-FFF2-40B4-BE49-F238E27FC236}">
                <a16:creationId xmlns:a16="http://schemas.microsoft.com/office/drawing/2014/main" id="{B7325B3D-7F2B-47A3-8C78-382A15EA48F9}"/>
              </a:ext>
            </a:extLst>
          </p:cNvPr>
          <p:cNvSpPr>
            <a:spLocks noGrp="1"/>
          </p:cNvSpPr>
          <p:nvPr/>
        </p:nvSpPr>
        <p:spPr>
          <a:xfrm>
            <a:off x="1453861" y="1616653"/>
            <a:ext cx="8858250" cy="428625"/>
          </a:xfrm>
          <a:prstGeom prst="rect">
            <a:avLst/>
          </a:prstGeom>
          <a:noFill/>
          <a:ln w="0">
            <a:noFill/>
          </a:ln>
        </p:spPr>
        <p:txBody>
          <a:bodyPr wrap="square" lIns="0" tIns="0" rIns="0" bIns="0" anchor="t">
            <a:noAutofit/>
          </a:bodyPr>
          <a:lstStyle>
            <a:defPPr algn="l">
              <a:defRPr sz="2600" b="1">
                <a:solidFill>
                  <a:srgbClr val="822433"/>
                </a:solidFill>
                <a:latin typeface="Roboto"/>
                <a:ea typeface="Roboto"/>
                <a:cs typeface="Roboto"/>
              </a:defRPr>
            </a:defPPr>
            <a:lvl1pPr algn="l">
              <a:defRPr sz="2600" b="1">
                <a:solidFill>
                  <a:srgbClr val="822433"/>
                </a:solidFill>
                <a:latin typeface="Roboto"/>
                <a:ea typeface="Roboto"/>
                <a:cs typeface="Roboto"/>
              </a:defRPr>
            </a:lvl1pPr>
            <a:lvl2pPr algn="l">
              <a:defRPr sz="2600" b="1">
                <a:solidFill>
                  <a:srgbClr val="822433"/>
                </a:solidFill>
                <a:latin typeface="Roboto"/>
                <a:ea typeface="Roboto"/>
                <a:cs typeface="Roboto"/>
              </a:defRPr>
            </a:lvl2pPr>
            <a:lvl3pPr algn="l">
              <a:defRPr sz="2600" b="1">
                <a:solidFill>
                  <a:srgbClr val="822433"/>
                </a:solidFill>
                <a:latin typeface="Roboto"/>
                <a:ea typeface="Roboto"/>
                <a:cs typeface="Roboto"/>
              </a:defRPr>
            </a:lvl3pPr>
            <a:lvl4pPr algn="l">
              <a:defRPr sz="2600" b="1">
                <a:solidFill>
                  <a:srgbClr val="822433"/>
                </a:solidFill>
                <a:latin typeface="Roboto"/>
                <a:ea typeface="Roboto"/>
                <a:cs typeface="Roboto"/>
              </a:defRPr>
            </a:lvl4pPr>
            <a:lvl5pPr algn="l">
              <a:defRPr sz="2600" b="1">
                <a:solidFill>
                  <a:srgbClr val="822433"/>
                </a:solidFill>
                <a:latin typeface="Roboto"/>
                <a:ea typeface="Roboto"/>
                <a:cs typeface="Roboto"/>
              </a:defRPr>
            </a:lvl5pPr>
            <a:lvl6pPr algn="l">
              <a:defRPr sz="2600" b="1">
                <a:solidFill>
                  <a:srgbClr val="822433"/>
                </a:solidFill>
                <a:latin typeface="Roboto"/>
                <a:ea typeface="Roboto"/>
                <a:cs typeface="Roboto"/>
              </a:defRPr>
            </a:lvl6pPr>
            <a:lvl7pPr algn="l">
              <a:defRPr sz="2600" b="1">
                <a:solidFill>
                  <a:srgbClr val="822433"/>
                </a:solidFill>
                <a:latin typeface="Roboto"/>
                <a:ea typeface="Roboto"/>
                <a:cs typeface="Roboto"/>
              </a:defRPr>
            </a:lvl7pPr>
            <a:lvl8pPr algn="l">
              <a:defRPr sz="2600" b="1">
                <a:solidFill>
                  <a:srgbClr val="822433"/>
                </a:solidFill>
                <a:latin typeface="Roboto"/>
                <a:ea typeface="Roboto"/>
                <a:cs typeface="Roboto"/>
              </a:defRPr>
            </a:lvl8pPr>
            <a:lvl9pPr algn="l">
              <a:defRPr sz="2600" b="1">
                <a:solidFill>
                  <a:srgbClr val="822433"/>
                </a:solidFill>
                <a:latin typeface="Roboto"/>
                <a:ea typeface="Roboto"/>
                <a:cs typeface="Roboto"/>
              </a:defRPr>
            </a:lvl9pPr>
          </a:lstStyle>
          <a:p>
            <a:pPr marL="457200" indent="-457200" algn="l">
              <a:buFont typeface="Arial" panose="020B0604020202020204" pitchFamily="34" charset="0"/>
              <a:buChar char="•"/>
              <a:defRPr sz="2600" b="1">
                <a:solidFill>
                  <a:srgbClr val="822433"/>
                </a:solidFill>
                <a:latin typeface="Roboto"/>
                <a:ea typeface="Roboto"/>
                <a:cs typeface="Roboto"/>
              </a:defRPr>
            </a:pPr>
            <a:r>
              <a:rPr sz="2600" b="1" dirty="0">
                <a:solidFill>
                  <a:srgbClr val="822433"/>
                </a:solidFill>
                <a:latin typeface="Roboto"/>
                <a:ea typeface="Roboto"/>
                <a:cs typeface="Roboto"/>
              </a:rPr>
              <a:t>Lightweight segmentation</a:t>
            </a:r>
          </a:p>
        </p:txBody>
      </p:sp>
      <p:sp>
        <p:nvSpPr>
          <p:cNvPr id="7" name="segmentation-conclusion">
            <a:extLst>
              <a:ext uri="{FF2B5EF4-FFF2-40B4-BE49-F238E27FC236}">
                <a16:creationId xmlns:a16="http://schemas.microsoft.com/office/drawing/2014/main" id="{5837311F-4BC9-4BAA-8E99-2BA14664A04F}"/>
              </a:ext>
            </a:extLst>
          </p:cNvPr>
          <p:cNvSpPr>
            <a:spLocks noGrp="1"/>
          </p:cNvSpPr>
          <p:nvPr/>
        </p:nvSpPr>
        <p:spPr>
          <a:xfrm>
            <a:off x="1952625" y="2054803"/>
            <a:ext cx="8858250" cy="714375"/>
          </a:xfrm>
          <a:prstGeom prst="rect">
            <a:avLst/>
          </a:prstGeom>
          <a:noFill/>
          <a:ln w="0">
            <a:noFill/>
          </a:ln>
        </p:spPr>
        <p:txBody>
          <a:bodyPr wrap="square" lIns="0" tIns="0" rIns="0" bIns="0" anchor="t">
            <a:noAutofit/>
          </a:bodyPr>
          <a:lstStyle>
            <a:defPPr algn="l">
              <a:defRPr sz="2000" b="0">
                <a:solidFill>
                  <a:srgbClr val="252525"/>
                </a:solidFill>
                <a:latin typeface="Calibri"/>
                <a:ea typeface="Calibri"/>
                <a:cs typeface="Calibri"/>
              </a:defRPr>
            </a:defPPr>
            <a:lvl1pPr algn="l">
              <a:defRPr sz="2000" b="0">
                <a:solidFill>
                  <a:srgbClr val="252525"/>
                </a:solidFill>
                <a:latin typeface="Calibri"/>
                <a:ea typeface="Calibri"/>
                <a:cs typeface="Calibri"/>
              </a:defRPr>
            </a:lvl1pPr>
            <a:lvl2pPr algn="l">
              <a:defRPr sz="2000" b="0">
                <a:solidFill>
                  <a:srgbClr val="252525"/>
                </a:solidFill>
                <a:latin typeface="Calibri"/>
                <a:ea typeface="Calibri"/>
                <a:cs typeface="Calibri"/>
              </a:defRPr>
            </a:lvl2pPr>
            <a:lvl3pPr algn="l">
              <a:defRPr sz="2000" b="0">
                <a:solidFill>
                  <a:srgbClr val="252525"/>
                </a:solidFill>
                <a:latin typeface="Calibri"/>
                <a:ea typeface="Calibri"/>
                <a:cs typeface="Calibri"/>
              </a:defRPr>
            </a:lvl3pPr>
            <a:lvl4pPr algn="l">
              <a:defRPr sz="2000" b="0">
                <a:solidFill>
                  <a:srgbClr val="252525"/>
                </a:solidFill>
                <a:latin typeface="Calibri"/>
                <a:ea typeface="Calibri"/>
                <a:cs typeface="Calibri"/>
              </a:defRPr>
            </a:lvl4pPr>
            <a:lvl5pPr algn="l">
              <a:defRPr sz="2000" b="0">
                <a:solidFill>
                  <a:srgbClr val="252525"/>
                </a:solidFill>
                <a:latin typeface="Calibri"/>
                <a:ea typeface="Calibri"/>
                <a:cs typeface="Calibri"/>
              </a:defRPr>
            </a:lvl5pPr>
            <a:lvl6pPr algn="l">
              <a:defRPr sz="2000" b="0">
                <a:solidFill>
                  <a:srgbClr val="252525"/>
                </a:solidFill>
                <a:latin typeface="Calibri"/>
                <a:ea typeface="Calibri"/>
                <a:cs typeface="Calibri"/>
              </a:defRPr>
            </a:lvl6pPr>
            <a:lvl7pPr algn="l">
              <a:defRPr sz="2000" b="0">
                <a:solidFill>
                  <a:srgbClr val="252525"/>
                </a:solidFill>
                <a:latin typeface="Calibri"/>
                <a:ea typeface="Calibri"/>
                <a:cs typeface="Calibri"/>
              </a:defRPr>
            </a:lvl7pPr>
            <a:lvl8pPr algn="l">
              <a:defRPr sz="2000" b="0">
                <a:solidFill>
                  <a:srgbClr val="252525"/>
                </a:solidFill>
                <a:latin typeface="Calibri"/>
                <a:ea typeface="Calibri"/>
                <a:cs typeface="Calibri"/>
              </a:defRPr>
            </a:lvl8pPr>
            <a:lvl9pPr algn="l">
              <a:defRPr sz="2000" b="0">
                <a:solidFill>
                  <a:srgbClr val="252525"/>
                </a:solidFill>
                <a:latin typeface="Calibri"/>
                <a:ea typeface="Calibri"/>
                <a:cs typeface="Calibri"/>
              </a:defRPr>
            </a:lvl9pPr>
          </a:lstStyle>
          <a:p>
            <a:pPr algn="l">
              <a:defRPr sz="2000" b="0">
                <a:solidFill>
                  <a:srgbClr val="252525"/>
                </a:solidFill>
                <a:latin typeface="Calibri"/>
                <a:ea typeface="Calibri"/>
                <a:cs typeface="Calibri"/>
              </a:defRPr>
            </a:pPr>
            <a:r>
              <a:rPr sz="2000" b="0" dirty="0">
                <a:solidFill>
                  <a:srgbClr val="252525"/>
                </a:solidFill>
                <a:latin typeface="Calibri"/>
                <a:ea typeface="Calibri"/>
                <a:cs typeface="Calibri"/>
              </a:rPr>
              <a:t>Selective quantization lowers inference costs,</a:t>
            </a:r>
          </a:p>
          <a:p>
            <a:pPr algn="l">
              <a:defRPr sz="2000" b="0">
                <a:solidFill>
                  <a:srgbClr val="252525"/>
                </a:solidFill>
                <a:latin typeface="Calibri"/>
                <a:ea typeface="Calibri"/>
                <a:cs typeface="Calibri"/>
              </a:defRPr>
            </a:pPr>
            <a:r>
              <a:rPr sz="2000" b="0" dirty="0">
                <a:solidFill>
                  <a:srgbClr val="252525"/>
                </a:solidFill>
                <a:latin typeface="Calibri"/>
                <a:ea typeface="Calibri"/>
                <a:cs typeface="Calibri"/>
              </a:rPr>
              <a:t>with accuracy preserved.</a:t>
            </a:r>
          </a:p>
        </p:txBody>
      </p:sp>
      <p:sp>
        <p:nvSpPr>
          <p:cNvPr id="8" name="dataset-heading">
            <a:extLst>
              <a:ext uri="{FF2B5EF4-FFF2-40B4-BE49-F238E27FC236}">
                <a16:creationId xmlns:a16="http://schemas.microsoft.com/office/drawing/2014/main" id="{32875869-91FC-46A7-85B7-79FA341C7C7D}"/>
              </a:ext>
            </a:extLst>
          </p:cNvPr>
          <p:cNvSpPr>
            <a:spLocks noGrp="1"/>
          </p:cNvSpPr>
          <p:nvPr/>
        </p:nvSpPr>
        <p:spPr>
          <a:xfrm>
            <a:off x="1453861" y="3140653"/>
            <a:ext cx="8858250" cy="428625"/>
          </a:xfrm>
          <a:prstGeom prst="rect">
            <a:avLst/>
          </a:prstGeom>
          <a:noFill/>
          <a:ln w="0">
            <a:noFill/>
          </a:ln>
        </p:spPr>
        <p:txBody>
          <a:bodyPr wrap="square" lIns="0" tIns="0" rIns="0" bIns="0" anchor="t">
            <a:noAutofit/>
          </a:bodyPr>
          <a:lstStyle>
            <a:defPPr algn="l">
              <a:defRPr sz="2600" b="1">
                <a:solidFill>
                  <a:srgbClr val="822433"/>
                </a:solidFill>
                <a:latin typeface="Roboto"/>
                <a:ea typeface="Roboto"/>
                <a:cs typeface="Roboto"/>
              </a:defRPr>
            </a:defPPr>
            <a:lvl1pPr algn="l">
              <a:defRPr sz="2600" b="1">
                <a:solidFill>
                  <a:srgbClr val="822433"/>
                </a:solidFill>
                <a:latin typeface="Roboto"/>
                <a:ea typeface="Roboto"/>
                <a:cs typeface="Roboto"/>
              </a:defRPr>
            </a:lvl1pPr>
            <a:lvl2pPr algn="l">
              <a:defRPr sz="2600" b="1">
                <a:solidFill>
                  <a:srgbClr val="822433"/>
                </a:solidFill>
                <a:latin typeface="Roboto"/>
                <a:ea typeface="Roboto"/>
                <a:cs typeface="Roboto"/>
              </a:defRPr>
            </a:lvl2pPr>
            <a:lvl3pPr algn="l">
              <a:defRPr sz="2600" b="1">
                <a:solidFill>
                  <a:srgbClr val="822433"/>
                </a:solidFill>
                <a:latin typeface="Roboto"/>
                <a:ea typeface="Roboto"/>
                <a:cs typeface="Roboto"/>
              </a:defRPr>
            </a:lvl3pPr>
            <a:lvl4pPr algn="l">
              <a:defRPr sz="2600" b="1">
                <a:solidFill>
                  <a:srgbClr val="822433"/>
                </a:solidFill>
                <a:latin typeface="Roboto"/>
                <a:ea typeface="Roboto"/>
                <a:cs typeface="Roboto"/>
              </a:defRPr>
            </a:lvl4pPr>
            <a:lvl5pPr algn="l">
              <a:defRPr sz="2600" b="1">
                <a:solidFill>
                  <a:srgbClr val="822433"/>
                </a:solidFill>
                <a:latin typeface="Roboto"/>
                <a:ea typeface="Roboto"/>
                <a:cs typeface="Roboto"/>
              </a:defRPr>
            </a:lvl5pPr>
            <a:lvl6pPr algn="l">
              <a:defRPr sz="2600" b="1">
                <a:solidFill>
                  <a:srgbClr val="822433"/>
                </a:solidFill>
                <a:latin typeface="Roboto"/>
                <a:ea typeface="Roboto"/>
                <a:cs typeface="Roboto"/>
              </a:defRPr>
            </a:lvl6pPr>
            <a:lvl7pPr algn="l">
              <a:defRPr sz="2600" b="1">
                <a:solidFill>
                  <a:srgbClr val="822433"/>
                </a:solidFill>
                <a:latin typeface="Roboto"/>
                <a:ea typeface="Roboto"/>
                <a:cs typeface="Roboto"/>
              </a:defRPr>
            </a:lvl7pPr>
            <a:lvl8pPr algn="l">
              <a:defRPr sz="2600" b="1">
                <a:solidFill>
                  <a:srgbClr val="822433"/>
                </a:solidFill>
                <a:latin typeface="Roboto"/>
                <a:ea typeface="Roboto"/>
                <a:cs typeface="Roboto"/>
              </a:defRPr>
            </a:lvl8pPr>
            <a:lvl9pPr algn="l">
              <a:defRPr sz="2600" b="1">
                <a:solidFill>
                  <a:srgbClr val="822433"/>
                </a:solidFill>
                <a:latin typeface="Roboto"/>
                <a:ea typeface="Roboto"/>
                <a:cs typeface="Roboto"/>
              </a:defRPr>
            </a:lvl9pPr>
          </a:lstStyle>
          <a:p>
            <a:pPr marL="457200" indent="-457200" algn="l">
              <a:buFont typeface="Arial" panose="020B0604020202020204" pitchFamily="34" charset="0"/>
              <a:buChar char="•"/>
              <a:defRPr sz="2600" b="1">
                <a:solidFill>
                  <a:srgbClr val="822433"/>
                </a:solidFill>
                <a:latin typeface="Roboto"/>
                <a:ea typeface="Roboto"/>
                <a:cs typeface="Roboto"/>
              </a:defRPr>
            </a:pPr>
            <a:r>
              <a:rPr sz="2600" b="1" dirty="0">
                <a:solidFill>
                  <a:srgbClr val="822433"/>
                </a:solidFill>
                <a:latin typeface="Roboto"/>
                <a:ea typeface="Roboto"/>
                <a:cs typeface="Roboto"/>
              </a:rPr>
              <a:t>10,000 annotated synthetic images</a:t>
            </a:r>
          </a:p>
        </p:txBody>
      </p:sp>
      <p:sp>
        <p:nvSpPr>
          <p:cNvPr id="9" name="dataset-conclusion">
            <a:extLst>
              <a:ext uri="{FF2B5EF4-FFF2-40B4-BE49-F238E27FC236}">
                <a16:creationId xmlns:a16="http://schemas.microsoft.com/office/drawing/2014/main" id="{54F99695-6CCE-4730-8A5B-E56780BB4BA1}"/>
              </a:ext>
            </a:extLst>
          </p:cNvPr>
          <p:cNvSpPr>
            <a:spLocks noGrp="1"/>
          </p:cNvSpPr>
          <p:nvPr/>
        </p:nvSpPr>
        <p:spPr>
          <a:xfrm>
            <a:off x="1952625" y="3569278"/>
            <a:ext cx="8858250" cy="714375"/>
          </a:xfrm>
          <a:prstGeom prst="rect">
            <a:avLst/>
          </a:prstGeom>
          <a:noFill/>
          <a:ln w="0">
            <a:noFill/>
          </a:ln>
        </p:spPr>
        <p:txBody>
          <a:bodyPr wrap="square" lIns="0" tIns="0" rIns="0" bIns="0" anchor="t">
            <a:noAutofit/>
          </a:bodyPr>
          <a:lstStyle>
            <a:defPPr algn="l">
              <a:defRPr sz="2000" b="0">
                <a:solidFill>
                  <a:srgbClr val="252525"/>
                </a:solidFill>
                <a:latin typeface="Calibri"/>
                <a:ea typeface="Calibri"/>
                <a:cs typeface="Calibri"/>
              </a:defRPr>
            </a:defPPr>
            <a:lvl1pPr algn="l">
              <a:defRPr sz="2000" b="0">
                <a:solidFill>
                  <a:srgbClr val="252525"/>
                </a:solidFill>
                <a:latin typeface="Calibri"/>
                <a:ea typeface="Calibri"/>
                <a:cs typeface="Calibri"/>
              </a:defRPr>
            </a:lvl1pPr>
            <a:lvl2pPr algn="l">
              <a:defRPr sz="2000" b="0">
                <a:solidFill>
                  <a:srgbClr val="252525"/>
                </a:solidFill>
                <a:latin typeface="Calibri"/>
                <a:ea typeface="Calibri"/>
                <a:cs typeface="Calibri"/>
              </a:defRPr>
            </a:lvl2pPr>
            <a:lvl3pPr algn="l">
              <a:defRPr sz="2000" b="0">
                <a:solidFill>
                  <a:srgbClr val="252525"/>
                </a:solidFill>
                <a:latin typeface="Calibri"/>
                <a:ea typeface="Calibri"/>
                <a:cs typeface="Calibri"/>
              </a:defRPr>
            </a:lvl3pPr>
            <a:lvl4pPr algn="l">
              <a:defRPr sz="2000" b="0">
                <a:solidFill>
                  <a:srgbClr val="252525"/>
                </a:solidFill>
                <a:latin typeface="Calibri"/>
                <a:ea typeface="Calibri"/>
                <a:cs typeface="Calibri"/>
              </a:defRPr>
            </a:lvl4pPr>
            <a:lvl5pPr algn="l">
              <a:defRPr sz="2000" b="0">
                <a:solidFill>
                  <a:srgbClr val="252525"/>
                </a:solidFill>
                <a:latin typeface="Calibri"/>
                <a:ea typeface="Calibri"/>
                <a:cs typeface="Calibri"/>
              </a:defRPr>
            </a:lvl5pPr>
            <a:lvl6pPr algn="l">
              <a:defRPr sz="2000" b="0">
                <a:solidFill>
                  <a:srgbClr val="252525"/>
                </a:solidFill>
                <a:latin typeface="Calibri"/>
                <a:ea typeface="Calibri"/>
                <a:cs typeface="Calibri"/>
              </a:defRPr>
            </a:lvl6pPr>
            <a:lvl7pPr algn="l">
              <a:defRPr sz="2000" b="0">
                <a:solidFill>
                  <a:srgbClr val="252525"/>
                </a:solidFill>
                <a:latin typeface="Calibri"/>
                <a:ea typeface="Calibri"/>
                <a:cs typeface="Calibri"/>
              </a:defRPr>
            </a:lvl7pPr>
            <a:lvl8pPr algn="l">
              <a:defRPr sz="2000" b="0">
                <a:solidFill>
                  <a:srgbClr val="252525"/>
                </a:solidFill>
                <a:latin typeface="Calibri"/>
                <a:ea typeface="Calibri"/>
                <a:cs typeface="Calibri"/>
              </a:defRPr>
            </a:lvl8pPr>
            <a:lvl9pPr algn="l">
              <a:defRPr sz="2000" b="0">
                <a:solidFill>
                  <a:srgbClr val="252525"/>
                </a:solidFill>
                <a:latin typeface="Calibri"/>
                <a:ea typeface="Calibri"/>
                <a:cs typeface="Calibri"/>
              </a:defRPr>
            </a:lvl9pPr>
          </a:lstStyle>
          <a:p>
            <a:pPr algn="l">
              <a:defRPr sz="2000" b="0">
                <a:solidFill>
                  <a:srgbClr val="252525"/>
                </a:solidFill>
                <a:latin typeface="Calibri"/>
                <a:ea typeface="Calibri"/>
                <a:cs typeface="Calibri"/>
              </a:defRPr>
            </a:pPr>
            <a:r>
              <a:rPr sz="2000" b="0" dirty="0">
                <a:solidFill>
                  <a:srgbClr val="252525"/>
                </a:solidFill>
                <a:latin typeface="Calibri"/>
                <a:ea typeface="Calibri"/>
                <a:cs typeface="Calibri"/>
              </a:rPr>
              <a:t>A pilot dataset for rover wheel inspection,</a:t>
            </a:r>
          </a:p>
          <a:p>
            <a:pPr algn="l">
              <a:defRPr sz="2000" b="0">
                <a:solidFill>
                  <a:srgbClr val="252525"/>
                </a:solidFill>
                <a:latin typeface="Calibri"/>
                <a:ea typeface="Calibri"/>
                <a:cs typeface="Calibri"/>
              </a:defRPr>
            </a:pPr>
            <a:r>
              <a:rPr sz="2000" b="0" dirty="0">
                <a:solidFill>
                  <a:srgbClr val="252525"/>
                </a:solidFill>
                <a:latin typeface="Calibri"/>
                <a:ea typeface="Calibri"/>
                <a:cs typeface="Calibri"/>
              </a:rPr>
              <a:t>with scope to improve visual realism.</a:t>
            </a:r>
          </a:p>
        </p:txBody>
      </p:sp>
      <p:sp>
        <p:nvSpPr>
          <p:cNvPr id="10" name="anomaly-heading">
            <a:extLst>
              <a:ext uri="{FF2B5EF4-FFF2-40B4-BE49-F238E27FC236}">
                <a16:creationId xmlns:a16="http://schemas.microsoft.com/office/drawing/2014/main" id="{5E292AE1-D6B0-4716-A763-7657D64C2944}"/>
              </a:ext>
            </a:extLst>
          </p:cNvPr>
          <p:cNvSpPr>
            <a:spLocks noGrp="1"/>
          </p:cNvSpPr>
          <p:nvPr/>
        </p:nvSpPr>
        <p:spPr>
          <a:xfrm>
            <a:off x="1453861" y="4664653"/>
            <a:ext cx="8858250" cy="428625"/>
          </a:xfrm>
          <a:prstGeom prst="rect">
            <a:avLst/>
          </a:prstGeom>
          <a:noFill/>
          <a:ln w="0">
            <a:noFill/>
          </a:ln>
        </p:spPr>
        <p:txBody>
          <a:bodyPr wrap="square" lIns="0" tIns="0" rIns="0" bIns="0" anchor="t">
            <a:noAutofit/>
          </a:bodyPr>
          <a:lstStyle>
            <a:defPPr algn="l">
              <a:defRPr sz="2600" b="1">
                <a:solidFill>
                  <a:srgbClr val="822433"/>
                </a:solidFill>
                <a:latin typeface="Roboto"/>
                <a:ea typeface="Roboto"/>
                <a:cs typeface="Roboto"/>
              </a:defRPr>
            </a:defPPr>
            <a:lvl1pPr algn="l">
              <a:defRPr sz="2600" b="1">
                <a:solidFill>
                  <a:srgbClr val="822433"/>
                </a:solidFill>
                <a:latin typeface="Roboto"/>
                <a:ea typeface="Roboto"/>
                <a:cs typeface="Roboto"/>
              </a:defRPr>
            </a:lvl1pPr>
            <a:lvl2pPr algn="l">
              <a:defRPr sz="2600" b="1">
                <a:solidFill>
                  <a:srgbClr val="822433"/>
                </a:solidFill>
                <a:latin typeface="Roboto"/>
                <a:ea typeface="Roboto"/>
                <a:cs typeface="Roboto"/>
              </a:defRPr>
            </a:lvl2pPr>
            <a:lvl3pPr algn="l">
              <a:defRPr sz="2600" b="1">
                <a:solidFill>
                  <a:srgbClr val="822433"/>
                </a:solidFill>
                <a:latin typeface="Roboto"/>
                <a:ea typeface="Roboto"/>
                <a:cs typeface="Roboto"/>
              </a:defRPr>
            </a:lvl3pPr>
            <a:lvl4pPr algn="l">
              <a:defRPr sz="2600" b="1">
                <a:solidFill>
                  <a:srgbClr val="822433"/>
                </a:solidFill>
                <a:latin typeface="Roboto"/>
                <a:ea typeface="Roboto"/>
                <a:cs typeface="Roboto"/>
              </a:defRPr>
            </a:lvl4pPr>
            <a:lvl5pPr algn="l">
              <a:defRPr sz="2600" b="1">
                <a:solidFill>
                  <a:srgbClr val="822433"/>
                </a:solidFill>
                <a:latin typeface="Roboto"/>
                <a:ea typeface="Roboto"/>
                <a:cs typeface="Roboto"/>
              </a:defRPr>
            </a:lvl5pPr>
            <a:lvl6pPr algn="l">
              <a:defRPr sz="2600" b="1">
                <a:solidFill>
                  <a:srgbClr val="822433"/>
                </a:solidFill>
                <a:latin typeface="Roboto"/>
                <a:ea typeface="Roboto"/>
                <a:cs typeface="Roboto"/>
              </a:defRPr>
            </a:lvl6pPr>
            <a:lvl7pPr algn="l">
              <a:defRPr sz="2600" b="1">
                <a:solidFill>
                  <a:srgbClr val="822433"/>
                </a:solidFill>
                <a:latin typeface="Roboto"/>
                <a:ea typeface="Roboto"/>
                <a:cs typeface="Roboto"/>
              </a:defRPr>
            </a:lvl7pPr>
            <a:lvl8pPr algn="l">
              <a:defRPr sz="2600" b="1">
                <a:solidFill>
                  <a:srgbClr val="822433"/>
                </a:solidFill>
                <a:latin typeface="Roboto"/>
                <a:ea typeface="Roboto"/>
                <a:cs typeface="Roboto"/>
              </a:defRPr>
            </a:lvl8pPr>
            <a:lvl9pPr algn="l">
              <a:defRPr sz="2600" b="1">
                <a:solidFill>
                  <a:srgbClr val="822433"/>
                </a:solidFill>
                <a:latin typeface="Roboto"/>
                <a:ea typeface="Roboto"/>
                <a:cs typeface="Roboto"/>
              </a:defRPr>
            </a:lvl9pPr>
          </a:lstStyle>
          <a:p>
            <a:pPr marL="457200" indent="-457200" algn="l">
              <a:buFont typeface="Arial" panose="020B0604020202020204" pitchFamily="34" charset="0"/>
              <a:buChar char="•"/>
              <a:defRPr sz="2600" b="1">
                <a:solidFill>
                  <a:srgbClr val="822433"/>
                </a:solidFill>
                <a:latin typeface="Roboto"/>
                <a:ea typeface="Roboto"/>
                <a:cs typeface="Roboto"/>
              </a:defRPr>
            </a:pPr>
            <a:r>
              <a:rPr sz="2600" b="1" dirty="0">
                <a:solidFill>
                  <a:srgbClr val="822433"/>
                </a:solidFill>
                <a:latin typeface="Roboto"/>
                <a:ea typeface="Roboto"/>
                <a:cs typeface="Roboto"/>
              </a:rPr>
              <a:t>Anomaly detection and localization</a:t>
            </a:r>
          </a:p>
        </p:txBody>
      </p:sp>
      <p:sp>
        <p:nvSpPr>
          <p:cNvPr id="11" name="anomaly-conclusion">
            <a:extLst>
              <a:ext uri="{FF2B5EF4-FFF2-40B4-BE49-F238E27FC236}">
                <a16:creationId xmlns:a16="http://schemas.microsoft.com/office/drawing/2014/main" id="{F268A950-9C78-4163-BFF3-040D63F9B9CF}"/>
              </a:ext>
            </a:extLst>
          </p:cNvPr>
          <p:cNvSpPr>
            <a:spLocks noGrp="1"/>
          </p:cNvSpPr>
          <p:nvPr/>
        </p:nvSpPr>
        <p:spPr>
          <a:xfrm>
            <a:off x="1952625" y="5102803"/>
            <a:ext cx="8858250" cy="714375"/>
          </a:xfrm>
          <a:prstGeom prst="rect">
            <a:avLst/>
          </a:prstGeom>
          <a:noFill/>
          <a:ln w="0">
            <a:noFill/>
          </a:ln>
        </p:spPr>
        <p:txBody>
          <a:bodyPr wrap="square" lIns="0" tIns="0" rIns="0" bIns="0" anchor="t">
            <a:noAutofit/>
          </a:bodyPr>
          <a:lstStyle>
            <a:defPPr algn="l">
              <a:defRPr sz="2000" b="0">
                <a:solidFill>
                  <a:srgbClr val="252525"/>
                </a:solidFill>
                <a:latin typeface="Calibri"/>
                <a:ea typeface="Calibri"/>
                <a:cs typeface="Calibri"/>
              </a:defRPr>
            </a:defPPr>
            <a:lvl1pPr algn="l">
              <a:defRPr sz="2000" b="0">
                <a:solidFill>
                  <a:srgbClr val="252525"/>
                </a:solidFill>
                <a:latin typeface="Calibri"/>
                <a:ea typeface="Calibri"/>
                <a:cs typeface="Calibri"/>
              </a:defRPr>
            </a:lvl1pPr>
            <a:lvl2pPr algn="l">
              <a:defRPr sz="2000" b="0">
                <a:solidFill>
                  <a:srgbClr val="252525"/>
                </a:solidFill>
                <a:latin typeface="Calibri"/>
                <a:ea typeface="Calibri"/>
                <a:cs typeface="Calibri"/>
              </a:defRPr>
            </a:lvl2pPr>
            <a:lvl3pPr algn="l">
              <a:defRPr sz="2000" b="0">
                <a:solidFill>
                  <a:srgbClr val="252525"/>
                </a:solidFill>
                <a:latin typeface="Calibri"/>
                <a:ea typeface="Calibri"/>
                <a:cs typeface="Calibri"/>
              </a:defRPr>
            </a:lvl3pPr>
            <a:lvl4pPr algn="l">
              <a:defRPr sz="2000" b="0">
                <a:solidFill>
                  <a:srgbClr val="252525"/>
                </a:solidFill>
                <a:latin typeface="Calibri"/>
                <a:ea typeface="Calibri"/>
                <a:cs typeface="Calibri"/>
              </a:defRPr>
            </a:lvl4pPr>
            <a:lvl5pPr algn="l">
              <a:defRPr sz="2000" b="0">
                <a:solidFill>
                  <a:srgbClr val="252525"/>
                </a:solidFill>
                <a:latin typeface="Calibri"/>
                <a:ea typeface="Calibri"/>
                <a:cs typeface="Calibri"/>
              </a:defRPr>
            </a:lvl5pPr>
            <a:lvl6pPr algn="l">
              <a:defRPr sz="2000" b="0">
                <a:solidFill>
                  <a:srgbClr val="252525"/>
                </a:solidFill>
                <a:latin typeface="Calibri"/>
                <a:ea typeface="Calibri"/>
                <a:cs typeface="Calibri"/>
              </a:defRPr>
            </a:lvl6pPr>
            <a:lvl7pPr algn="l">
              <a:defRPr sz="2000" b="0">
                <a:solidFill>
                  <a:srgbClr val="252525"/>
                </a:solidFill>
                <a:latin typeface="Calibri"/>
                <a:ea typeface="Calibri"/>
                <a:cs typeface="Calibri"/>
              </a:defRPr>
            </a:lvl7pPr>
            <a:lvl8pPr algn="l">
              <a:defRPr sz="2000" b="0">
                <a:solidFill>
                  <a:srgbClr val="252525"/>
                </a:solidFill>
                <a:latin typeface="Calibri"/>
                <a:ea typeface="Calibri"/>
                <a:cs typeface="Calibri"/>
              </a:defRPr>
            </a:lvl8pPr>
            <a:lvl9pPr algn="l">
              <a:defRPr sz="2000" b="0">
                <a:solidFill>
                  <a:srgbClr val="252525"/>
                </a:solidFill>
                <a:latin typeface="Calibri"/>
                <a:ea typeface="Calibri"/>
                <a:cs typeface="Calibri"/>
              </a:defRPr>
            </a:lvl9pPr>
          </a:lstStyle>
          <a:p>
            <a:pPr algn="l">
              <a:defRPr sz="2000" b="0">
                <a:solidFill>
                  <a:srgbClr val="252525"/>
                </a:solidFill>
                <a:latin typeface="Calibri"/>
                <a:ea typeface="Calibri"/>
                <a:cs typeface="Calibri"/>
              </a:defRPr>
            </a:pPr>
            <a:r>
              <a:rPr sz="2000" b="0" dirty="0">
                <a:solidFill>
                  <a:srgbClr val="252525"/>
                </a:solidFill>
                <a:latin typeface="Calibri"/>
                <a:ea typeface="Calibri"/>
                <a:cs typeface="Calibri"/>
              </a:rPr>
              <a:t>Four </a:t>
            </a:r>
            <a:r>
              <a:rPr lang="it-IT" sz="2000" b="0" dirty="0">
                <a:solidFill>
                  <a:srgbClr val="252525"/>
                </a:solidFill>
                <a:latin typeface="Calibri"/>
                <a:ea typeface="Calibri"/>
                <a:cs typeface="Calibri"/>
              </a:rPr>
              <a:t>SOTA </a:t>
            </a:r>
            <a:r>
              <a:rPr sz="2000" b="0" dirty="0">
                <a:solidFill>
                  <a:srgbClr val="252525"/>
                </a:solidFill>
                <a:latin typeface="Calibri"/>
                <a:ea typeface="Calibri"/>
                <a:cs typeface="Calibri"/>
              </a:rPr>
              <a:t>model families compared using configurations</a:t>
            </a:r>
          </a:p>
          <a:p>
            <a:pPr algn="l">
              <a:defRPr sz="2000" b="0">
                <a:solidFill>
                  <a:srgbClr val="252525"/>
                </a:solidFill>
                <a:latin typeface="Calibri"/>
                <a:ea typeface="Calibri"/>
                <a:cs typeface="Calibri"/>
              </a:defRPr>
            </a:pPr>
            <a:r>
              <a:rPr sz="2000" b="0" dirty="0">
                <a:solidFill>
                  <a:srgbClr val="252525"/>
                </a:solidFill>
                <a:latin typeface="Calibri"/>
                <a:ea typeface="Calibri"/>
                <a:cs typeface="Calibri"/>
              </a:rPr>
              <a:t>tailored to wheel damage inspection.</a:t>
            </a:r>
          </a:p>
        </p:txBody>
      </p:sp>
      <p:sp>
        <p:nvSpPr>
          <p:cNvPr id="3" name="Google Shape;102;p14">
            <a:extLst>
              <a:ext uri="{FF2B5EF4-FFF2-40B4-BE49-F238E27FC236}">
                <a16:creationId xmlns:a16="http://schemas.microsoft.com/office/drawing/2014/main" id="{795D8C77-C9FA-2C6A-4ED0-7E23FD286AA5}"/>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30</a:t>
            </a:fld>
            <a:r>
              <a:rPr lang="en-US" sz="1000" noProof="0" dirty="0">
                <a:solidFill>
                  <a:srgbClr val="822433"/>
                </a:solidFill>
                <a:latin typeface="Roboto" panose="02000000000000000000" pitchFamily="2" charset="0"/>
                <a:ea typeface="Roboto" panose="02000000000000000000" pitchFamily="2" charset="0"/>
              </a:rPr>
              <a:t>/25</a:t>
            </a:r>
          </a:p>
        </p:txBody>
      </p:sp>
      <p:sp>
        <p:nvSpPr>
          <p:cNvPr id="4" name="CasellaDiTesto 3">
            <a:extLst>
              <a:ext uri="{FF2B5EF4-FFF2-40B4-BE49-F238E27FC236}">
                <a16:creationId xmlns:a16="http://schemas.microsoft.com/office/drawing/2014/main" id="{AA4C893B-FAB3-ED33-1ABB-CF63158F2349}"/>
              </a:ext>
            </a:extLst>
          </p:cNvPr>
          <p:cNvSpPr txBox="1"/>
          <p:nvPr/>
        </p:nvSpPr>
        <p:spPr>
          <a:xfrm>
            <a:off x="838200" y="5912428"/>
            <a:ext cx="10792690" cy="369332"/>
          </a:xfrm>
          <a:prstGeom prst="rect">
            <a:avLst/>
          </a:prstGeom>
          <a:noFill/>
        </p:spPr>
        <p:txBody>
          <a:bodyPr wrap="square" rtlCol="0">
            <a:spAutoFit/>
          </a:bodyPr>
          <a:lstStyle/>
          <a:p>
            <a:r>
              <a:rPr lang="en-US" noProof="0">
                <a:solidFill>
                  <a:schemeClr val="tx1">
                    <a:lumMod val="65000"/>
                    <a:lumOff val="35000"/>
                  </a:schemeClr>
                </a:solidFill>
              </a:rPr>
              <a:t>Manuscript in preparation for submission to </a:t>
            </a:r>
            <a:r>
              <a:rPr lang="en-US" b="1" noProof="0">
                <a:solidFill>
                  <a:srgbClr val="822433"/>
                </a:solidFill>
              </a:rPr>
              <a:t>IEEE Transactions on Industrial Informatics</a:t>
            </a:r>
            <a:endParaRPr lang="en-US" noProof="0">
              <a:solidFill>
                <a:srgbClr val="822433"/>
              </a:solidFill>
            </a:endParaRPr>
          </a:p>
        </p:txBody>
      </p:sp>
    </p:spTree>
    <p:extLst>
      <p:ext uri="{BB962C8B-B14F-4D97-AF65-F5344CB8AC3E}">
        <p14:creationId xmlns:p14="http://schemas.microsoft.com/office/powerpoint/2010/main" val="27317946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1F065-7255-9B3F-381A-AE4514C567E2}"/>
            </a:ext>
          </a:extLst>
        </p:cNvPr>
        <p:cNvGrpSpPr/>
        <p:nvPr/>
      </p:nvGrpSpPr>
      <p:grpSpPr>
        <a:xfrm>
          <a:off x="0" y="0"/>
          <a:ext cx="0" cy="0"/>
          <a:chOff x="0" y="0"/>
          <a:chExt cx="0" cy="0"/>
        </a:xfrm>
      </p:grpSpPr>
      <p:sp>
        <p:nvSpPr>
          <p:cNvPr id="7" name="future-1-heading">
            <a:extLst>
              <a:ext uri="{FF2B5EF4-FFF2-40B4-BE49-F238E27FC236}">
                <a16:creationId xmlns:a16="http://schemas.microsoft.com/office/drawing/2014/main" id="{18C9854F-5529-4B4C-CA48-A412591AD457}"/>
              </a:ext>
            </a:extLst>
          </p:cNvPr>
          <p:cNvSpPr>
            <a:spLocks noGrp="1"/>
          </p:cNvSpPr>
          <p:nvPr/>
        </p:nvSpPr>
        <p:spPr>
          <a:xfrm>
            <a:off x="1422689" y="1631994"/>
            <a:ext cx="8191500" cy="361950"/>
          </a:xfrm>
          <a:prstGeom prst="rect">
            <a:avLst/>
          </a:prstGeom>
          <a:noFill/>
          <a:ln w="0">
            <a:noFill/>
          </a:ln>
        </p:spPr>
        <p:txBody>
          <a:bodyPr wrap="square" lIns="0" tIns="0" rIns="0" bIns="0" anchor="t">
            <a:noAutofit/>
          </a:bodyPr>
          <a:lstStyle>
            <a:defPPr algn="l">
              <a:defRPr sz="2100" b="1">
                <a:solidFill>
                  <a:srgbClr val="822433"/>
                </a:solidFill>
                <a:latin typeface="Roboto"/>
                <a:ea typeface="Roboto"/>
                <a:cs typeface="Roboto"/>
              </a:defRPr>
            </a:defPPr>
            <a:lvl1pPr algn="l">
              <a:defRPr sz="2100" b="1">
                <a:solidFill>
                  <a:srgbClr val="822433"/>
                </a:solidFill>
                <a:latin typeface="Roboto"/>
                <a:ea typeface="Roboto"/>
                <a:cs typeface="Roboto"/>
              </a:defRPr>
            </a:lvl1pPr>
            <a:lvl2pPr algn="l">
              <a:defRPr sz="2100" b="1">
                <a:solidFill>
                  <a:srgbClr val="822433"/>
                </a:solidFill>
                <a:latin typeface="Roboto"/>
                <a:ea typeface="Roboto"/>
                <a:cs typeface="Roboto"/>
              </a:defRPr>
            </a:lvl2pPr>
            <a:lvl3pPr algn="l">
              <a:defRPr sz="2100" b="1">
                <a:solidFill>
                  <a:srgbClr val="822433"/>
                </a:solidFill>
                <a:latin typeface="Roboto"/>
                <a:ea typeface="Roboto"/>
                <a:cs typeface="Roboto"/>
              </a:defRPr>
            </a:lvl3pPr>
            <a:lvl4pPr algn="l">
              <a:defRPr sz="2100" b="1">
                <a:solidFill>
                  <a:srgbClr val="822433"/>
                </a:solidFill>
                <a:latin typeface="Roboto"/>
                <a:ea typeface="Roboto"/>
                <a:cs typeface="Roboto"/>
              </a:defRPr>
            </a:lvl4pPr>
            <a:lvl5pPr algn="l">
              <a:defRPr sz="2100" b="1">
                <a:solidFill>
                  <a:srgbClr val="822433"/>
                </a:solidFill>
                <a:latin typeface="Roboto"/>
                <a:ea typeface="Roboto"/>
                <a:cs typeface="Roboto"/>
              </a:defRPr>
            </a:lvl5pPr>
            <a:lvl6pPr algn="l">
              <a:defRPr sz="2100" b="1">
                <a:solidFill>
                  <a:srgbClr val="822433"/>
                </a:solidFill>
                <a:latin typeface="Roboto"/>
                <a:ea typeface="Roboto"/>
                <a:cs typeface="Roboto"/>
              </a:defRPr>
            </a:lvl6pPr>
            <a:lvl7pPr algn="l">
              <a:defRPr sz="2100" b="1">
                <a:solidFill>
                  <a:srgbClr val="822433"/>
                </a:solidFill>
                <a:latin typeface="Roboto"/>
                <a:ea typeface="Roboto"/>
                <a:cs typeface="Roboto"/>
              </a:defRPr>
            </a:lvl7pPr>
            <a:lvl8pPr algn="l">
              <a:defRPr sz="2100" b="1">
                <a:solidFill>
                  <a:srgbClr val="822433"/>
                </a:solidFill>
                <a:latin typeface="Roboto"/>
                <a:ea typeface="Roboto"/>
                <a:cs typeface="Roboto"/>
              </a:defRPr>
            </a:lvl8pPr>
            <a:lvl9pPr algn="l">
              <a:defRPr sz="2100" b="1">
                <a:solidFill>
                  <a:srgbClr val="822433"/>
                </a:solidFill>
                <a:latin typeface="Roboto"/>
                <a:ea typeface="Roboto"/>
                <a:cs typeface="Roboto"/>
              </a:defRPr>
            </a:lvl9pPr>
          </a:lstStyle>
          <a:p>
            <a:pPr marL="342900" indent="-342900" algn="l">
              <a:buFont typeface="Arial" panose="020B0604020202020204" pitchFamily="34" charset="0"/>
              <a:buChar char="•"/>
              <a:defRPr sz="2100" b="1">
                <a:solidFill>
                  <a:srgbClr val="822433"/>
                </a:solidFill>
                <a:latin typeface="Roboto"/>
                <a:ea typeface="Roboto"/>
                <a:cs typeface="Roboto"/>
              </a:defRPr>
            </a:pPr>
            <a:r>
              <a:rPr lang="en-US" sz="2600" b="1" noProof="0" dirty="0">
                <a:solidFill>
                  <a:srgbClr val="822433"/>
                </a:solidFill>
                <a:latin typeface="Roboto"/>
                <a:ea typeface="Roboto"/>
                <a:cs typeface="Roboto"/>
              </a:rPr>
              <a:t>  Real-image validation</a:t>
            </a:r>
          </a:p>
        </p:txBody>
      </p:sp>
      <p:sp>
        <p:nvSpPr>
          <p:cNvPr id="9" name="future-1-body">
            <a:extLst>
              <a:ext uri="{FF2B5EF4-FFF2-40B4-BE49-F238E27FC236}">
                <a16:creationId xmlns:a16="http://schemas.microsoft.com/office/drawing/2014/main" id="{B1B0549C-34E2-2B43-FB34-208FAF10ED06}"/>
              </a:ext>
            </a:extLst>
          </p:cNvPr>
          <p:cNvSpPr>
            <a:spLocks noGrp="1"/>
          </p:cNvSpPr>
          <p:nvPr/>
        </p:nvSpPr>
        <p:spPr>
          <a:xfrm>
            <a:off x="1952622" y="2050289"/>
            <a:ext cx="8239125" cy="666750"/>
          </a:xfrm>
          <a:prstGeom prst="rect">
            <a:avLst/>
          </a:prstGeom>
          <a:noFill/>
          <a:ln w="0">
            <a:noFill/>
          </a:ln>
        </p:spPr>
        <p:txBody>
          <a:bodyPr wrap="square" lIns="0" tIns="0" rIns="0" bIns="0" anchor="t">
            <a:noAutofit/>
          </a:bodyPr>
          <a:lstStyle>
            <a:defPPr algn="l">
              <a:defRPr sz="1800" b="0">
                <a:solidFill>
                  <a:srgbClr val="252525"/>
                </a:solidFill>
                <a:latin typeface="Calibri"/>
                <a:ea typeface="Calibri"/>
                <a:cs typeface="Calibri"/>
              </a:defRPr>
            </a:defPPr>
            <a:lvl1pPr algn="l">
              <a:defRPr sz="1800" b="0">
                <a:solidFill>
                  <a:srgbClr val="252525"/>
                </a:solidFill>
                <a:latin typeface="Calibri"/>
                <a:ea typeface="Calibri"/>
                <a:cs typeface="Calibri"/>
              </a:defRPr>
            </a:lvl1pPr>
            <a:lvl2pPr algn="l">
              <a:defRPr sz="1800" b="0">
                <a:solidFill>
                  <a:srgbClr val="252525"/>
                </a:solidFill>
                <a:latin typeface="Calibri"/>
                <a:ea typeface="Calibri"/>
                <a:cs typeface="Calibri"/>
              </a:defRPr>
            </a:lvl2pPr>
            <a:lvl3pPr algn="l">
              <a:defRPr sz="1800" b="0">
                <a:solidFill>
                  <a:srgbClr val="252525"/>
                </a:solidFill>
                <a:latin typeface="Calibri"/>
                <a:ea typeface="Calibri"/>
                <a:cs typeface="Calibri"/>
              </a:defRPr>
            </a:lvl3pPr>
            <a:lvl4pPr algn="l">
              <a:defRPr sz="1800" b="0">
                <a:solidFill>
                  <a:srgbClr val="252525"/>
                </a:solidFill>
                <a:latin typeface="Calibri"/>
                <a:ea typeface="Calibri"/>
                <a:cs typeface="Calibri"/>
              </a:defRPr>
            </a:lvl4pPr>
            <a:lvl5pPr algn="l">
              <a:defRPr sz="1800" b="0">
                <a:solidFill>
                  <a:srgbClr val="252525"/>
                </a:solidFill>
                <a:latin typeface="Calibri"/>
                <a:ea typeface="Calibri"/>
                <a:cs typeface="Calibri"/>
              </a:defRPr>
            </a:lvl5pPr>
            <a:lvl6pPr algn="l">
              <a:defRPr sz="1800" b="0">
                <a:solidFill>
                  <a:srgbClr val="252525"/>
                </a:solidFill>
                <a:latin typeface="Calibri"/>
                <a:ea typeface="Calibri"/>
                <a:cs typeface="Calibri"/>
              </a:defRPr>
            </a:lvl6pPr>
            <a:lvl7pPr algn="l">
              <a:defRPr sz="1800" b="0">
                <a:solidFill>
                  <a:srgbClr val="252525"/>
                </a:solidFill>
                <a:latin typeface="Calibri"/>
                <a:ea typeface="Calibri"/>
                <a:cs typeface="Calibri"/>
              </a:defRPr>
            </a:lvl7pPr>
            <a:lvl8pPr algn="l">
              <a:defRPr sz="1800" b="0">
                <a:solidFill>
                  <a:srgbClr val="252525"/>
                </a:solidFill>
                <a:latin typeface="Calibri"/>
                <a:ea typeface="Calibri"/>
                <a:cs typeface="Calibri"/>
              </a:defRPr>
            </a:lvl8pPr>
            <a:lvl9pPr algn="l">
              <a:defRPr sz="1800" b="0">
                <a:solidFill>
                  <a:srgbClr val="252525"/>
                </a:solidFill>
                <a:latin typeface="Calibri"/>
                <a:ea typeface="Calibri"/>
                <a:cs typeface="Calibri"/>
              </a:defRPr>
            </a:lvl9pPr>
          </a:lstStyle>
          <a:p>
            <a:pPr algn="l">
              <a:defRPr sz="1800" b="0">
                <a:solidFill>
                  <a:srgbClr val="252525"/>
                </a:solidFill>
                <a:latin typeface="Calibri"/>
                <a:ea typeface="Calibri"/>
                <a:cs typeface="Calibri"/>
              </a:defRPr>
            </a:pPr>
            <a:r>
              <a:rPr lang="en-US" sz="2000" b="0" noProof="0" dirty="0">
                <a:solidFill>
                  <a:srgbClr val="252525"/>
                </a:solidFill>
                <a:latin typeface="Calibri"/>
                <a:ea typeface="Calibri"/>
                <a:cs typeface="Calibri"/>
              </a:rPr>
              <a:t>Validate synthetic-to-real transfer on rover images.</a:t>
            </a:r>
          </a:p>
          <a:p>
            <a:pPr algn="l">
              <a:defRPr sz="1800" b="0">
                <a:solidFill>
                  <a:srgbClr val="252525"/>
                </a:solidFill>
                <a:latin typeface="Calibri"/>
                <a:ea typeface="Calibri"/>
                <a:cs typeface="Calibri"/>
              </a:defRPr>
            </a:pPr>
            <a:r>
              <a:rPr lang="en-US" sz="2000" b="0" noProof="0" dirty="0">
                <a:solidFill>
                  <a:srgbClr val="252525"/>
                </a:solidFill>
                <a:latin typeface="Calibri"/>
                <a:ea typeface="Calibri"/>
                <a:cs typeface="Calibri"/>
              </a:rPr>
              <a:t>Extend domain variation and damage coverage.</a:t>
            </a:r>
          </a:p>
        </p:txBody>
      </p:sp>
      <p:sp>
        <p:nvSpPr>
          <p:cNvPr id="11" name="future-2-heading">
            <a:extLst>
              <a:ext uri="{FF2B5EF4-FFF2-40B4-BE49-F238E27FC236}">
                <a16:creationId xmlns:a16="http://schemas.microsoft.com/office/drawing/2014/main" id="{32A27B6C-8E24-D478-3006-A19C185DAF9C}"/>
              </a:ext>
            </a:extLst>
          </p:cNvPr>
          <p:cNvSpPr>
            <a:spLocks noGrp="1"/>
          </p:cNvSpPr>
          <p:nvPr/>
        </p:nvSpPr>
        <p:spPr>
          <a:xfrm>
            <a:off x="1450397" y="3133169"/>
            <a:ext cx="8191500" cy="361950"/>
          </a:xfrm>
          <a:prstGeom prst="rect">
            <a:avLst/>
          </a:prstGeom>
          <a:noFill/>
          <a:ln w="0">
            <a:noFill/>
          </a:ln>
        </p:spPr>
        <p:txBody>
          <a:bodyPr wrap="square" lIns="0" tIns="0" rIns="0" bIns="0" anchor="t">
            <a:noAutofit/>
          </a:bodyPr>
          <a:lstStyle>
            <a:defPPr algn="l">
              <a:defRPr sz="2100" b="1">
                <a:solidFill>
                  <a:srgbClr val="822433"/>
                </a:solidFill>
                <a:latin typeface="Roboto"/>
                <a:ea typeface="Roboto"/>
                <a:cs typeface="Roboto"/>
              </a:defRPr>
            </a:defPPr>
            <a:lvl1pPr algn="l">
              <a:defRPr sz="2100" b="1">
                <a:solidFill>
                  <a:srgbClr val="822433"/>
                </a:solidFill>
                <a:latin typeface="Roboto"/>
                <a:ea typeface="Roboto"/>
                <a:cs typeface="Roboto"/>
              </a:defRPr>
            </a:lvl1pPr>
            <a:lvl2pPr algn="l">
              <a:defRPr sz="2100" b="1">
                <a:solidFill>
                  <a:srgbClr val="822433"/>
                </a:solidFill>
                <a:latin typeface="Roboto"/>
                <a:ea typeface="Roboto"/>
                <a:cs typeface="Roboto"/>
              </a:defRPr>
            </a:lvl2pPr>
            <a:lvl3pPr algn="l">
              <a:defRPr sz="2100" b="1">
                <a:solidFill>
                  <a:srgbClr val="822433"/>
                </a:solidFill>
                <a:latin typeface="Roboto"/>
                <a:ea typeface="Roboto"/>
                <a:cs typeface="Roboto"/>
              </a:defRPr>
            </a:lvl3pPr>
            <a:lvl4pPr algn="l">
              <a:defRPr sz="2100" b="1">
                <a:solidFill>
                  <a:srgbClr val="822433"/>
                </a:solidFill>
                <a:latin typeface="Roboto"/>
                <a:ea typeface="Roboto"/>
                <a:cs typeface="Roboto"/>
              </a:defRPr>
            </a:lvl4pPr>
            <a:lvl5pPr algn="l">
              <a:defRPr sz="2100" b="1">
                <a:solidFill>
                  <a:srgbClr val="822433"/>
                </a:solidFill>
                <a:latin typeface="Roboto"/>
                <a:ea typeface="Roboto"/>
                <a:cs typeface="Roboto"/>
              </a:defRPr>
            </a:lvl5pPr>
            <a:lvl6pPr algn="l">
              <a:defRPr sz="2100" b="1">
                <a:solidFill>
                  <a:srgbClr val="822433"/>
                </a:solidFill>
                <a:latin typeface="Roboto"/>
                <a:ea typeface="Roboto"/>
                <a:cs typeface="Roboto"/>
              </a:defRPr>
            </a:lvl6pPr>
            <a:lvl7pPr algn="l">
              <a:defRPr sz="2100" b="1">
                <a:solidFill>
                  <a:srgbClr val="822433"/>
                </a:solidFill>
                <a:latin typeface="Roboto"/>
                <a:ea typeface="Roboto"/>
                <a:cs typeface="Roboto"/>
              </a:defRPr>
            </a:lvl7pPr>
            <a:lvl8pPr algn="l">
              <a:defRPr sz="2100" b="1">
                <a:solidFill>
                  <a:srgbClr val="822433"/>
                </a:solidFill>
                <a:latin typeface="Roboto"/>
                <a:ea typeface="Roboto"/>
                <a:cs typeface="Roboto"/>
              </a:defRPr>
            </a:lvl8pPr>
            <a:lvl9pPr algn="l">
              <a:defRPr sz="2100" b="1">
                <a:solidFill>
                  <a:srgbClr val="822433"/>
                </a:solidFill>
                <a:latin typeface="Roboto"/>
                <a:ea typeface="Roboto"/>
                <a:cs typeface="Roboto"/>
              </a:defRPr>
            </a:lvl9pPr>
          </a:lstStyle>
          <a:p>
            <a:pPr marL="342900" indent="-342900" algn="l">
              <a:buFont typeface="Arial" panose="020B0604020202020204" pitchFamily="34" charset="0"/>
              <a:buChar char="•"/>
              <a:defRPr sz="2100" b="1">
                <a:solidFill>
                  <a:srgbClr val="822433"/>
                </a:solidFill>
                <a:latin typeface="Roboto"/>
                <a:ea typeface="Roboto"/>
                <a:cs typeface="Roboto"/>
              </a:defRPr>
            </a:pPr>
            <a:r>
              <a:rPr lang="en-US" sz="2600" b="1" noProof="0" dirty="0">
                <a:solidFill>
                  <a:srgbClr val="822433"/>
                </a:solidFill>
                <a:latin typeface="Roboto"/>
                <a:ea typeface="Roboto"/>
                <a:cs typeface="Roboto"/>
              </a:rPr>
              <a:t>  Efficiency and deployment</a:t>
            </a:r>
          </a:p>
        </p:txBody>
      </p:sp>
      <p:sp>
        <p:nvSpPr>
          <p:cNvPr id="13" name="future-2-body">
            <a:extLst>
              <a:ext uri="{FF2B5EF4-FFF2-40B4-BE49-F238E27FC236}">
                <a16:creationId xmlns:a16="http://schemas.microsoft.com/office/drawing/2014/main" id="{B3CA27CF-1D66-E02B-A554-05892551C487}"/>
              </a:ext>
            </a:extLst>
          </p:cNvPr>
          <p:cNvSpPr>
            <a:spLocks noGrp="1"/>
          </p:cNvSpPr>
          <p:nvPr/>
        </p:nvSpPr>
        <p:spPr>
          <a:xfrm>
            <a:off x="1952624" y="3568845"/>
            <a:ext cx="8239125" cy="666750"/>
          </a:xfrm>
          <a:prstGeom prst="rect">
            <a:avLst/>
          </a:prstGeom>
          <a:noFill/>
          <a:ln w="0">
            <a:noFill/>
          </a:ln>
        </p:spPr>
        <p:txBody>
          <a:bodyPr wrap="square" lIns="0" tIns="0" rIns="0" bIns="0" anchor="t">
            <a:noAutofit/>
          </a:bodyPr>
          <a:lstStyle>
            <a:defPPr algn="l">
              <a:defRPr sz="1800" b="0">
                <a:solidFill>
                  <a:srgbClr val="252525"/>
                </a:solidFill>
                <a:latin typeface="Calibri"/>
                <a:ea typeface="Calibri"/>
                <a:cs typeface="Calibri"/>
              </a:defRPr>
            </a:defPPr>
            <a:lvl1pPr algn="l">
              <a:defRPr sz="1800" b="0">
                <a:solidFill>
                  <a:srgbClr val="252525"/>
                </a:solidFill>
                <a:latin typeface="Calibri"/>
                <a:ea typeface="Calibri"/>
                <a:cs typeface="Calibri"/>
              </a:defRPr>
            </a:lvl1pPr>
            <a:lvl2pPr algn="l">
              <a:defRPr sz="1800" b="0">
                <a:solidFill>
                  <a:srgbClr val="252525"/>
                </a:solidFill>
                <a:latin typeface="Calibri"/>
                <a:ea typeface="Calibri"/>
                <a:cs typeface="Calibri"/>
              </a:defRPr>
            </a:lvl2pPr>
            <a:lvl3pPr algn="l">
              <a:defRPr sz="1800" b="0">
                <a:solidFill>
                  <a:srgbClr val="252525"/>
                </a:solidFill>
                <a:latin typeface="Calibri"/>
                <a:ea typeface="Calibri"/>
                <a:cs typeface="Calibri"/>
              </a:defRPr>
            </a:lvl3pPr>
            <a:lvl4pPr algn="l">
              <a:defRPr sz="1800" b="0">
                <a:solidFill>
                  <a:srgbClr val="252525"/>
                </a:solidFill>
                <a:latin typeface="Calibri"/>
                <a:ea typeface="Calibri"/>
                <a:cs typeface="Calibri"/>
              </a:defRPr>
            </a:lvl4pPr>
            <a:lvl5pPr algn="l">
              <a:defRPr sz="1800" b="0">
                <a:solidFill>
                  <a:srgbClr val="252525"/>
                </a:solidFill>
                <a:latin typeface="Calibri"/>
                <a:ea typeface="Calibri"/>
                <a:cs typeface="Calibri"/>
              </a:defRPr>
            </a:lvl5pPr>
            <a:lvl6pPr algn="l">
              <a:defRPr sz="1800" b="0">
                <a:solidFill>
                  <a:srgbClr val="252525"/>
                </a:solidFill>
                <a:latin typeface="Calibri"/>
                <a:ea typeface="Calibri"/>
                <a:cs typeface="Calibri"/>
              </a:defRPr>
            </a:lvl6pPr>
            <a:lvl7pPr algn="l">
              <a:defRPr sz="1800" b="0">
                <a:solidFill>
                  <a:srgbClr val="252525"/>
                </a:solidFill>
                <a:latin typeface="Calibri"/>
                <a:ea typeface="Calibri"/>
                <a:cs typeface="Calibri"/>
              </a:defRPr>
            </a:lvl7pPr>
            <a:lvl8pPr algn="l">
              <a:defRPr sz="1800" b="0">
                <a:solidFill>
                  <a:srgbClr val="252525"/>
                </a:solidFill>
                <a:latin typeface="Calibri"/>
                <a:ea typeface="Calibri"/>
                <a:cs typeface="Calibri"/>
              </a:defRPr>
            </a:lvl8pPr>
            <a:lvl9pPr algn="l">
              <a:defRPr sz="1800" b="0">
                <a:solidFill>
                  <a:srgbClr val="252525"/>
                </a:solidFill>
                <a:latin typeface="Calibri"/>
                <a:ea typeface="Calibri"/>
                <a:cs typeface="Calibri"/>
              </a:defRPr>
            </a:lvl9pPr>
          </a:lstStyle>
          <a:p>
            <a:pPr algn="l">
              <a:defRPr sz="1800" b="0">
                <a:solidFill>
                  <a:srgbClr val="252525"/>
                </a:solidFill>
                <a:latin typeface="Calibri"/>
                <a:ea typeface="Calibri"/>
                <a:cs typeface="Calibri"/>
              </a:defRPr>
            </a:pPr>
            <a:r>
              <a:rPr lang="en-US" sz="2000" b="0" noProof="0" dirty="0">
                <a:solidFill>
                  <a:srgbClr val="252525"/>
                </a:solidFill>
                <a:latin typeface="Calibri"/>
                <a:ea typeface="Calibri"/>
                <a:cs typeface="Calibri"/>
              </a:rPr>
              <a:t>Explore lighter models, augmentation and quantization.</a:t>
            </a:r>
          </a:p>
          <a:p>
            <a:pPr algn="l">
              <a:defRPr sz="1800" b="0">
                <a:solidFill>
                  <a:srgbClr val="252525"/>
                </a:solidFill>
                <a:latin typeface="Calibri"/>
                <a:ea typeface="Calibri"/>
                <a:cs typeface="Calibri"/>
              </a:defRPr>
            </a:pPr>
            <a:r>
              <a:rPr lang="en-US" sz="2000" b="0" noProof="0" dirty="0">
                <a:solidFill>
                  <a:srgbClr val="252525"/>
                </a:solidFill>
                <a:latin typeface="Calibri"/>
                <a:ea typeface="Calibri"/>
                <a:cs typeface="Calibri"/>
              </a:rPr>
              <a:t>Benchmark the full pipeline on representative hardware.</a:t>
            </a:r>
          </a:p>
        </p:txBody>
      </p:sp>
      <p:sp>
        <p:nvSpPr>
          <p:cNvPr id="15" name="future-3-heading">
            <a:extLst>
              <a:ext uri="{FF2B5EF4-FFF2-40B4-BE49-F238E27FC236}">
                <a16:creationId xmlns:a16="http://schemas.microsoft.com/office/drawing/2014/main" id="{F67AB9D7-B568-5C84-2FB9-CCD621E4C675}"/>
              </a:ext>
            </a:extLst>
          </p:cNvPr>
          <p:cNvSpPr>
            <a:spLocks noGrp="1"/>
          </p:cNvSpPr>
          <p:nvPr/>
        </p:nvSpPr>
        <p:spPr>
          <a:xfrm>
            <a:off x="1450397" y="4653519"/>
            <a:ext cx="8191500" cy="361950"/>
          </a:xfrm>
          <a:prstGeom prst="rect">
            <a:avLst/>
          </a:prstGeom>
          <a:noFill/>
          <a:ln w="0">
            <a:noFill/>
          </a:ln>
        </p:spPr>
        <p:txBody>
          <a:bodyPr wrap="square" lIns="0" tIns="0" rIns="0" bIns="0" anchor="t">
            <a:noAutofit/>
          </a:bodyPr>
          <a:lstStyle>
            <a:defPPr algn="l">
              <a:defRPr sz="2100" b="1">
                <a:solidFill>
                  <a:srgbClr val="822433"/>
                </a:solidFill>
                <a:latin typeface="Roboto"/>
                <a:ea typeface="Roboto"/>
                <a:cs typeface="Roboto"/>
              </a:defRPr>
            </a:defPPr>
            <a:lvl1pPr algn="l">
              <a:defRPr sz="2100" b="1">
                <a:solidFill>
                  <a:srgbClr val="822433"/>
                </a:solidFill>
                <a:latin typeface="Roboto"/>
                <a:ea typeface="Roboto"/>
                <a:cs typeface="Roboto"/>
              </a:defRPr>
            </a:lvl1pPr>
            <a:lvl2pPr algn="l">
              <a:defRPr sz="2100" b="1">
                <a:solidFill>
                  <a:srgbClr val="822433"/>
                </a:solidFill>
                <a:latin typeface="Roboto"/>
                <a:ea typeface="Roboto"/>
                <a:cs typeface="Roboto"/>
              </a:defRPr>
            </a:lvl2pPr>
            <a:lvl3pPr algn="l">
              <a:defRPr sz="2100" b="1">
                <a:solidFill>
                  <a:srgbClr val="822433"/>
                </a:solidFill>
                <a:latin typeface="Roboto"/>
                <a:ea typeface="Roboto"/>
                <a:cs typeface="Roboto"/>
              </a:defRPr>
            </a:lvl3pPr>
            <a:lvl4pPr algn="l">
              <a:defRPr sz="2100" b="1">
                <a:solidFill>
                  <a:srgbClr val="822433"/>
                </a:solidFill>
                <a:latin typeface="Roboto"/>
                <a:ea typeface="Roboto"/>
                <a:cs typeface="Roboto"/>
              </a:defRPr>
            </a:lvl4pPr>
            <a:lvl5pPr algn="l">
              <a:defRPr sz="2100" b="1">
                <a:solidFill>
                  <a:srgbClr val="822433"/>
                </a:solidFill>
                <a:latin typeface="Roboto"/>
                <a:ea typeface="Roboto"/>
                <a:cs typeface="Roboto"/>
              </a:defRPr>
            </a:lvl5pPr>
            <a:lvl6pPr algn="l">
              <a:defRPr sz="2100" b="1">
                <a:solidFill>
                  <a:srgbClr val="822433"/>
                </a:solidFill>
                <a:latin typeface="Roboto"/>
                <a:ea typeface="Roboto"/>
                <a:cs typeface="Roboto"/>
              </a:defRPr>
            </a:lvl6pPr>
            <a:lvl7pPr algn="l">
              <a:defRPr sz="2100" b="1">
                <a:solidFill>
                  <a:srgbClr val="822433"/>
                </a:solidFill>
                <a:latin typeface="Roboto"/>
                <a:ea typeface="Roboto"/>
                <a:cs typeface="Roboto"/>
              </a:defRPr>
            </a:lvl7pPr>
            <a:lvl8pPr algn="l">
              <a:defRPr sz="2100" b="1">
                <a:solidFill>
                  <a:srgbClr val="822433"/>
                </a:solidFill>
                <a:latin typeface="Roboto"/>
                <a:ea typeface="Roboto"/>
                <a:cs typeface="Roboto"/>
              </a:defRPr>
            </a:lvl8pPr>
            <a:lvl9pPr algn="l">
              <a:defRPr sz="2100" b="1">
                <a:solidFill>
                  <a:srgbClr val="822433"/>
                </a:solidFill>
                <a:latin typeface="Roboto"/>
                <a:ea typeface="Roboto"/>
                <a:cs typeface="Roboto"/>
              </a:defRPr>
            </a:lvl9pPr>
          </a:lstStyle>
          <a:p>
            <a:pPr marL="342900" indent="-342900" algn="l">
              <a:buFont typeface="Arial" panose="020B0604020202020204" pitchFamily="34" charset="0"/>
              <a:buChar char="•"/>
              <a:defRPr sz="2100" b="1">
                <a:solidFill>
                  <a:srgbClr val="822433"/>
                </a:solidFill>
                <a:latin typeface="Roboto"/>
                <a:ea typeface="Roboto"/>
                <a:cs typeface="Roboto"/>
              </a:defRPr>
            </a:pPr>
            <a:r>
              <a:rPr lang="en-US" sz="2600" b="1" noProof="0" dirty="0">
                <a:solidFill>
                  <a:srgbClr val="822433"/>
                </a:solidFill>
                <a:latin typeface="Roboto"/>
                <a:ea typeface="Roboto"/>
                <a:cs typeface="Roboto"/>
              </a:rPr>
              <a:t>  Branch Integration</a:t>
            </a:r>
          </a:p>
        </p:txBody>
      </p:sp>
      <p:sp>
        <p:nvSpPr>
          <p:cNvPr id="17" name="future-3-body">
            <a:extLst>
              <a:ext uri="{FF2B5EF4-FFF2-40B4-BE49-F238E27FC236}">
                <a16:creationId xmlns:a16="http://schemas.microsoft.com/office/drawing/2014/main" id="{5B67EA93-C8C7-DBB3-D4DE-0DFAD38D8EAF}"/>
              </a:ext>
            </a:extLst>
          </p:cNvPr>
          <p:cNvSpPr>
            <a:spLocks noGrp="1"/>
          </p:cNvSpPr>
          <p:nvPr/>
        </p:nvSpPr>
        <p:spPr>
          <a:xfrm>
            <a:off x="1952623" y="5093278"/>
            <a:ext cx="8239125" cy="666750"/>
          </a:xfrm>
          <a:prstGeom prst="rect">
            <a:avLst/>
          </a:prstGeom>
          <a:noFill/>
          <a:ln w="0">
            <a:noFill/>
          </a:ln>
        </p:spPr>
        <p:txBody>
          <a:bodyPr wrap="square" lIns="0" tIns="0" rIns="0" bIns="0" anchor="t">
            <a:noAutofit/>
          </a:bodyPr>
          <a:lstStyle>
            <a:defPPr algn="l">
              <a:defRPr sz="1800" b="0">
                <a:solidFill>
                  <a:srgbClr val="252525"/>
                </a:solidFill>
                <a:latin typeface="Calibri"/>
                <a:ea typeface="Calibri"/>
                <a:cs typeface="Calibri"/>
              </a:defRPr>
            </a:defPPr>
            <a:lvl1pPr algn="l">
              <a:defRPr sz="1800" b="0">
                <a:solidFill>
                  <a:srgbClr val="252525"/>
                </a:solidFill>
                <a:latin typeface="Calibri"/>
                <a:ea typeface="Calibri"/>
                <a:cs typeface="Calibri"/>
              </a:defRPr>
            </a:lvl1pPr>
            <a:lvl2pPr algn="l">
              <a:defRPr sz="1800" b="0">
                <a:solidFill>
                  <a:srgbClr val="252525"/>
                </a:solidFill>
                <a:latin typeface="Calibri"/>
                <a:ea typeface="Calibri"/>
                <a:cs typeface="Calibri"/>
              </a:defRPr>
            </a:lvl2pPr>
            <a:lvl3pPr algn="l">
              <a:defRPr sz="1800" b="0">
                <a:solidFill>
                  <a:srgbClr val="252525"/>
                </a:solidFill>
                <a:latin typeface="Calibri"/>
                <a:ea typeface="Calibri"/>
                <a:cs typeface="Calibri"/>
              </a:defRPr>
            </a:lvl3pPr>
            <a:lvl4pPr algn="l">
              <a:defRPr sz="1800" b="0">
                <a:solidFill>
                  <a:srgbClr val="252525"/>
                </a:solidFill>
                <a:latin typeface="Calibri"/>
                <a:ea typeface="Calibri"/>
                <a:cs typeface="Calibri"/>
              </a:defRPr>
            </a:lvl4pPr>
            <a:lvl5pPr algn="l">
              <a:defRPr sz="1800" b="0">
                <a:solidFill>
                  <a:srgbClr val="252525"/>
                </a:solidFill>
                <a:latin typeface="Calibri"/>
                <a:ea typeface="Calibri"/>
                <a:cs typeface="Calibri"/>
              </a:defRPr>
            </a:lvl5pPr>
            <a:lvl6pPr algn="l">
              <a:defRPr sz="1800" b="0">
                <a:solidFill>
                  <a:srgbClr val="252525"/>
                </a:solidFill>
                <a:latin typeface="Calibri"/>
                <a:ea typeface="Calibri"/>
                <a:cs typeface="Calibri"/>
              </a:defRPr>
            </a:lvl6pPr>
            <a:lvl7pPr algn="l">
              <a:defRPr sz="1800" b="0">
                <a:solidFill>
                  <a:srgbClr val="252525"/>
                </a:solidFill>
                <a:latin typeface="Calibri"/>
                <a:ea typeface="Calibri"/>
                <a:cs typeface="Calibri"/>
              </a:defRPr>
            </a:lvl7pPr>
            <a:lvl8pPr algn="l">
              <a:defRPr sz="1800" b="0">
                <a:solidFill>
                  <a:srgbClr val="252525"/>
                </a:solidFill>
                <a:latin typeface="Calibri"/>
                <a:ea typeface="Calibri"/>
                <a:cs typeface="Calibri"/>
              </a:defRPr>
            </a:lvl8pPr>
            <a:lvl9pPr algn="l">
              <a:defRPr sz="1800" b="0">
                <a:solidFill>
                  <a:srgbClr val="252525"/>
                </a:solidFill>
                <a:latin typeface="Calibri"/>
                <a:ea typeface="Calibri"/>
                <a:cs typeface="Calibri"/>
              </a:defRPr>
            </a:lvl9pPr>
          </a:lstStyle>
          <a:p>
            <a:pPr algn="l">
              <a:defRPr sz="1800" b="0">
                <a:solidFill>
                  <a:srgbClr val="252525"/>
                </a:solidFill>
                <a:latin typeface="Calibri"/>
                <a:ea typeface="Calibri"/>
                <a:cs typeface="Calibri"/>
              </a:defRPr>
            </a:pPr>
            <a:r>
              <a:rPr lang="en-US" sz="2000" b="0" noProof="0" dirty="0">
                <a:solidFill>
                  <a:srgbClr val="252525"/>
                </a:solidFill>
                <a:latin typeface="Calibri"/>
                <a:ea typeface="Calibri"/>
                <a:cs typeface="Calibri"/>
              </a:rPr>
              <a:t>Assess whether Rover semantic masks can help subsequent </a:t>
            </a:r>
          </a:p>
          <a:p>
            <a:pPr algn="l">
              <a:defRPr sz="1800" b="0">
                <a:solidFill>
                  <a:srgbClr val="252525"/>
                </a:solidFill>
                <a:latin typeface="Calibri"/>
                <a:ea typeface="Calibri"/>
                <a:cs typeface="Calibri"/>
              </a:defRPr>
            </a:pPr>
            <a:r>
              <a:rPr lang="en-US" sz="2000" b="0" noProof="0" dirty="0">
                <a:solidFill>
                  <a:srgbClr val="252525"/>
                </a:solidFill>
                <a:latin typeface="Calibri"/>
                <a:ea typeface="Calibri"/>
                <a:cs typeface="Calibri"/>
              </a:rPr>
              <a:t>damage inspection.</a:t>
            </a:r>
          </a:p>
        </p:txBody>
      </p:sp>
      <p:sp>
        <p:nvSpPr>
          <p:cNvPr id="2" name="Titolo 1">
            <a:extLst>
              <a:ext uri="{FF2B5EF4-FFF2-40B4-BE49-F238E27FC236}">
                <a16:creationId xmlns:a16="http://schemas.microsoft.com/office/drawing/2014/main" id="{439C9465-AFA3-A871-3C47-057862547A40}"/>
              </a:ext>
            </a:extLst>
          </p:cNvPr>
          <p:cNvSpPr>
            <a:spLocks noGrp="1"/>
          </p:cNvSpPr>
          <p:nvPr>
            <p:ph type="title"/>
          </p:nvPr>
        </p:nvSpPr>
        <p:spPr>
          <a:xfrm>
            <a:off x="838200" y="365125"/>
            <a:ext cx="8384177" cy="835787"/>
          </a:xfrm>
        </p:spPr>
        <p:txBody>
          <a:bodyPr/>
          <a:lstStyle/>
          <a:p>
            <a:r>
              <a:rPr lang="en-US" noProof="0" dirty="0">
                <a:solidFill>
                  <a:srgbClr val="822433"/>
                </a:solidFill>
              </a:rPr>
              <a:t>Future Work</a:t>
            </a:r>
          </a:p>
        </p:txBody>
      </p:sp>
      <p:sp>
        <p:nvSpPr>
          <p:cNvPr id="4" name="Google Shape;102;p14">
            <a:extLst>
              <a:ext uri="{FF2B5EF4-FFF2-40B4-BE49-F238E27FC236}">
                <a16:creationId xmlns:a16="http://schemas.microsoft.com/office/drawing/2014/main" id="{CABADCA2-FBDC-3F17-EAB3-72BAE5D0CCF4}"/>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31</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9CA17F8C-08C6-2A09-B4C4-4FD5F8D22E6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Tree>
    <p:extLst>
      <p:ext uri="{BB962C8B-B14F-4D97-AF65-F5344CB8AC3E}">
        <p14:creationId xmlns:p14="http://schemas.microsoft.com/office/powerpoint/2010/main" val="35724178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CA24DDDD-3E7D-352D-39CE-05E259100A91}"/>
              </a:ext>
            </a:extLst>
          </p:cNvPr>
          <p:cNvSpPr>
            <a:spLocks noGrp="1"/>
          </p:cNvSpPr>
          <p:nvPr>
            <p:ph type="ctrTitle"/>
          </p:nvPr>
        </p:nvSpPr>
        <p:spPr/>
        <p:txBody>
          <a:bodyPr>
            <a:normAutofit/>
          </a:bodyPr>
          <a:lstStyle/>
          <a:p>
            <a:r>
              <a:rPr lang="en-US" sz="5400" noProof="0" dirty="0">
                <a:solidFill>
                  <a:srgbClr val="822433"/>
                </a:solidFill>
              </a:rPr>
              <a:t>Thank you for your attention</a:t>
            </a:r>
          </a:p>
        </p:txBody>
      </p:sp>
      <p:sp>
        <p:nvSpPr>
          <p:cNvPr id="3" name="Sottotitolo 2">
            <a:extLst>
              <a:ext uri="{FF2B5EF4-FFF2-40B4-BE49-F238E27FC236}">
                <a16:creationId xmlns:a16="http://schemas.microsoft.com/office/drawing/2014/main" id="{0800D48E-7799-4E3F-2241-A8646C7C67DB}"/>
              </a:ext>
            </a:extLst>
          </p:cNvPr>
          <p:cNvSpPr>
            <a:spLocks noGrp="1"/>
          </p:cNvSpPr>
          <p:nvPr>
            <p:ph type="subTitle" idx="1"/>
          </p:nvPr>
        </p:nvSpPr>
        <p:spPr/>
        <p:txBody>
          <a:bodyPr>
            <a:normAutofit/>
          </a:bodyPr>
          <a:lstStyle/>
          <a:p>
            <a:r>
              <a:rPr lang="en-US" sz="2800" noProof="0" dirty="0">
                <a:solidFill>
                  <a:srgbClr val="822433"/>
                </a:solidFill>
              </a:rPr>
              <a:t>Questions?</a:t>
            </a:r>
          </a:p>
        </p:txBody>
      </p:sp>
      <p:sp>
        <p:nvSpPr>
          <p:cNvPr id="4" name="TextBox 3">
            <a:extLst>
              <a:ext uri="{FF2B5EF4-FFF2-40B4-BE49-F238E27FC236}">
                <a16:creationId xmlns:a16="http://schemas.microsoft.com/office/drawing/2014/main" id="{6548035F-B0D3-808A-9245-DAED2703C2E6}"/>
              </a:ext>
            </a:extLst>
          </p:cNvPr>
          <p:cNvSpPr txBox="1"/>
          <p:nvPr/>
        </p:nvSpPr>
        <p:spPr>
          <a:xfrm>
            <a:off x="1524000" y="5550971"/>
            <a:ext cx="1181734" cy="369332"/>
          </a:xfrm>
          <a:prstGeom prst="rect">
            <a:avLst/>
          </a:prstGeom>
          <a:noFill/>
        </p:spPr>
        <p:txBody>
          <a:bodyPr wrap="none" rtlCol="0">
            <a:spAutoFit/>
          </a:bodyPr>
          <a:lstStyle/>
          <a:p>
            <a:r>
              <a:rPr lang="en-US" noProof="0" dirty="0"/>
              <a:t>QR GitHub</a:t>
            </a:r>
          </a:p>
        </p:txBody>
      </p:sp>
      <p:sp>
        <p:nvSpPr>
          <p:cNvPr id="5" name="TextBox 4">
            <a:extLst>
              <a:ext uri="{FF2B5EF4-FFF2-40B4-BE49-F238E27FC236}">
                <a16:creationId xmlns:a16="http://schemas.microsoft.com/office/drawing/2014/main" id="{C731605D-24BE-13B8-BEDF-A2965F41674D}"/>
              </a:ext>
            </a:extLst>
          </p:cNvPr>
          <p:cNvSpPr txBox="1"/>
          <p:nvPr/>
        </p:nvSpPr>
        <p:spPr>
          <a:xfrm>
            <a:off x="9315450" y="5523983"/>
            <a:ext cx="1133515" cy="369332"/>
          </a:xfrm>
          <a:prstGeom prst="rect">
            <a:avLst/>
          </a:prstGeom>
          <a:noFill/>
        </p:spPr>
        <p:txBody>
          <a:bodyPr wrap="none" rtlCol="0">
            <a:spAutoFit/>
          </a:bodyPr>
          <a:lstStyle/>
          <a:p>
            <a:r>
              <a:rPr lang="en-US" noProof="0" dirty="0"/>
              <a:t>QR Kaggle</a:t>
            </a:r>
          </a:p>
        </p:txBody>
      </p:sp>
      <p:pic>
        <p:nvPicPr>
          <p:cNvPr id="7" name="Immagine 6">
            <a:extLst>
              <a:ext uri="{FF2B5EF4-FFF2-40B4-BE49-F238E27FC236}">
                <a16:creationId xmlns:a16="http://schemas.microsoft.com/office/drawing/2014/main" id="{C75ECEB7-2709-5B8E-DBA1-25FB8050EB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37154" y="4248440"/>
            <a:ext cx="2937160" cy="2202870"/>
          </a:xfrm>
          <a:prstGeom prst="rect">
            <a:avLst/>
          </a:prstGeom>
        </p:spPr>
      </p:pic>
      <p:pic>
        <p:nvPicPr>
          <p:cNvPr id="9" name="Immagine 8">
            <a:extLst>
              <a:ext uri="{FF2B5EF4-FFF2-40B4-BE49-F238E27FC236}">
                <a16:creationId xmlns:a16="http://schemas.microsoft.com/office/drawing/2014/main" id="{E618CC33-8C3A-C88B-02C5-420876C2A8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2883" y="4248440"/>
            <a:ext cx="2937160" cy="2202868"/>
          </a:xfrm>
          <a:prstGeom prst="rect">
            <a:avLst/>
          </a:prstGeom>
        </p:spPr>
      </p:pic>
    </p:spTree>
    <p:extLst>
      <p:ext uri="{BB962C8B-B14F-4D97-AF65-F5344CB8AC3E}">
        <p14:creationId xmlns:p14="http://schemas.microsoft.com/office/powerpoint/2010/main" val="13460434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11FAAC68-AECF-CAFA-AC40-DA4762FFC624}"/>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dirty="0">
                <a:solidFill>
                  <a:srgbClr val="202124"/>
                </a:solidFill>
                <a:latin typeface="Roboto"/>
                <a:ea typeface="Roboto"/>
                <a:cs typeface="Roboto"/>
              </a:rPr>
              <a:t>References</a:t>
            </a:r>
          </a:p>
        </p:txBody>
      </p:sp>
      <p:sp>
        <p:nvSpPr>
          <p:cNvPr id="7" name="ref-number-1">
            <a:extLst>
              <a:ext uri="{FF2B5EF4-FFF2-40B4-BE49-F238E27FC236}">
                <a16:creationId xmlns:a16="http://schemas.microsoft.com/office/drawing/2014/main" id="{D50755D4-B4E1-65DD-504A-4F2865A756CA}"/>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a:t>
            </a:r>
          </a:p>
        </p:txBody>
      </p:sp>
      <p:sp>
        <p:nvSpPr>
          <p:cNvPr id="9" name="ref-venue-1">
            <a:extLst>
              <a:ext uri="{FF2B5EF4-FFF2-40B4-BE49-F238E27FC236}">
                <a16:creationId xmlns:a16="http://schemas.microsoft.com/office/drawing/2014/main" id="{9A3DBDDA-9EE5-30F6-6C93-C609B598A47B}"/>
              </a:ext>
            </a:extLst>
          </p:cNvPr>
          <p:cNvSpPr>
            <a:spLocks noGrp="1"/>
          </p:cNvSpPr>
          <p:nvPr/>
        </p:nvSpPr>
        <p:spPr>
          <a:xfrm>
            <a:off x="1409700" y="166116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On a Mission, Season 4, Episode 8, 25 August 2022.</a:t>
            </a:r>
          </a:p>
        </p:txBody>
      </p:sp>
      <p:sp>
        <p:nvSpPr>
          <p:cNvPr id="11" name="ref-link-1">
            <a:extLst>
              <a:ext uri="{FF2B5EF4-FFF2-40B4-BE49-F238E27FC236}">
                <a16:creationId xmlns:a16="http://schemas.microsoft.com/office/drawing/2014/main" id="{24A6E2EC-21AA-1DAF-ED0A-BA3D9031ABD8}"/>
              </a:ext>
            </a:extLst>
          </p:cNvPr>
          <p:cNvSpPr>
            <a:spLocks noGrp="1"/>
          </p:cNvSpPr>
          <p:nvPr/>
        </p:nvSpPr>
        <p:spPr>
          <a:xfrm>
            <a:off x="1409700" y="188023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dirty="0">
                <a:solidFill>
                  <a:srgbClr val="822433"/>
                </a:solidFill>
                <a:latin typeface="Roboto"/>
                <a:ea typeface="Roboto"/>
                <a:cs typeface="Roboto"/>
                <a:hlinkClick r:id="rId3"/>
              </a:rPr>
              <a:t>jpl.nasa.gov, On a Mission, S4 E8</a:t>
            </a:r>
          </a:p>
        </p:txBody>
      </p:sp>
      <p:sp>
        <p:nvSpPr>
          <p:cNvPr id="13" name="ref-number-2">
            <a:extLst>
              <a:ext uri="{FF2B5EF4-FFF2-40B4-BE49-F238E27FC236}">
                <a16:creationId xmlns:a16="http://schemas.microsoft.com/office/drawing/2014/main" id="{D55F48A7-441D-7F69-04A9-72E95C143523}"/>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[2]</a:t>
            </a:r>
          </a:p>
        </p:txBody>
      </p:sp>
      <p:sp>
        <p:nvSpPr>
          <p:cNvPr id="15" name="ref-venue-2">
            <a:extLst>
              <a:ext uri="{FF2B5EF4-FFF2-40B4-BE49-F238E27FC236}">
                <a16:creationId xmlns:a16="http://schemas.microsoft.com/office/drawing/2014/main" id="{4CBED393-95E4-3EB9-C029-02170483DE12}"/>
              </a:ext>
            </a:extLst>
          </p:cNvPr>
          <p:cNvSpPr>
            <a:spLocks noGrp="1"/>
          </p:cNvSpPr>
          <p:nvPr/>
        </p:nvSpPr>
        <p:spPr>
          <a:xfrm>
            <a:off x="1409700" y="2619375"/>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IEEE Aerospace Conference, 2022, pp. 1–19.</a:t>
            </a:r>
          </a:p>
        </p:txBody>
      </p:sp>
      <p:sp>
        <p:nvSpPr>
          <p:cNvPr id="17" name="ref-link-2">
            <a:extLst>
              <a:ext uri="{FF2B5EF4-FFF2-40B4-BE49-F238E27FC236}">
                <a16:creationId xmlns:a16="http://schemas.microsoft.com/office/drawing/2014/main" id="{984AE361-FE62-52A9-BF4D-91C9D8195ABA}"/>
              </a:ext>
            </a:extLst>
          </p:cNvPr>
          <p:cNvSpPr>
            <a:spLocks noGrp="1"/>
          </p:cNvSpPr>
          <p:nvPr/>
        </p:nvSpPr>
        <p:spPr>
          <a:xfrm>
            <a:off x="1409700" y="2838450"/>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robotics.jpl.nasa.gov, fmwi-rankin-2022-0225-final.pdf</a:t>
            </a:r>
          </a:p>
        </p:txBody>
      </p:sp>
      <p:sp>
        <p:nvSpPr>
          <p:cNvPr id="19" name="ref-number-3">
            <a:extLst>
              <a:ext uri="{FF2B5EF4-FFF2-40B4-BE49-F238E27FC236}">
                <a16:creationId xmlns:a16="http://schemas.microsoft.com/office/drawing/2014/main" id="{C611492B-0942-5E6D-A907-E73FF1A2384F}"/>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[3]</a:t>
            </a:r>
          </a:p>
        </p:txBody>
      </p:sp>
      <p:sp>
        <p:nvSpPr>
          <p:cNvPr id="21" name="ref-venue-3">
            <a:extLst>
              <a:ext uri="{FF2B5EF4-FFF2-40B4-BE49-F238E27FC236}">
                <a16:creationId xmlns:a16="http://schemas.microsoft.com/office/drawing/2014/main" id="{0C546CD6-B2A4-5591-2F6C-8AF4F8AF97D0}"/>
              </a:ext>
            </a:extLst>
          </p:cNvPr>
          <p:cNvSpPr>
            <a:spLocks noGrp="1"/>
          </p:cNvSpPr>
          <p:nvPr/>
        </p:nvSpPr>
        <p:spPr>
          <a:xfrm>
            <a:off x="1409700" y="36195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NASA Science, 27 April 2016. Image PIA20334.</a:t>
            </a:r>
          </a:p>
        </p:txBody>
      </p:sp>
      <p:sp>
        <p:nvSpPr>
          <p:cNvPr id="23" name="ref-link-3">
            <a:extLst>
              <a:ext uri="{FF2B5EF4-FFF2-40B4-BE49-F238E27FC236}">
                <a16:creationId xmlns:a16="http://schemas.microsoft.com/office/drawing/2014/main" id="{093EA0D9-A04B-7576-4AE1-663BC3FAB39F}"/>
              </a:ext>
            </a:extLst>
          </p:cNvPr>
          <p:cNvSpPr>
            <a:spLocks noGrp="1"/>
          </p:cNvSpPr>
          <p:nvPr/>
        </p:nvSpPr>
        <p:spPr>
          <a:xfrm>
            <a:off x="1409700" y="38385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dirty="0">
                <a:solidFill>
                  <a:srgbClr val="822433"/>
                </a:solidFill>
                <a:latin typeface="Roboto"/>
                <a:ea typeface="Roboto"/>
                <a:cs typeface="Roboto"/>
                <a:hlinkClick r:id="rId5"/>
              </a:rPr>
              <a:t>science.nasa.gov/resource/routine-inspection-of-rover-wheel-wear-and-tear/</a:t>
            </a:r>
          </a:p>
        </p:txBody>
      </p:sp>
      <p:sp>
        <p:nvSpPr>
          <p:cNvPr id="25" name="ref-number-4">
            <a:extLst>
              <a:ext uri="{FF2B5EF4-FFF2-40B4-BE49-F238E27FC236}">
                <a16:creationId xmlns:a16="http://schemas.microsoft.com/office/drawing/2014/main" id="{2D1FF007-E8BE-C0DA-2CB9-26D4EC5AA1C4}"/>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[4]</a:t>
            </a:r>
          </a:p>
        </p:txBody>
      </p:sp>
      <p:sp>
        <p:nvSpPr>
          <p:cNvPr id="27" name="ref-venue-4">
            <a:extLst>
              <a:ext uri="{FF2B5EF4-FFF2-40B4-BE49-F238E27FC236}">
                <a16:creationId xmlns:a16="http://schemas.microsoft.com/office/drawing/2014/main" id="{C417F74B-C6C3-4725-C3A2-8AADF0C0FCBA}"/>
              </a:ext>
            </a:extLst>
          </p:cNvPr>
          <p:cNvSpPr>
            <a:spLocks noGrp="1"/>
          </p:cNvSpPr>
          <p:nvPr/>
        </p:nvSpPr>
        <p:spPr>
          <a:xfrm>
            <a:off x="1409700" y="45910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IEEE Transactions on Geoscience and Remote Sensing, vol. 62, 2024.</a:t>
            </a:r>
          </a:p>
        </p:txBody>
      </p:sp>
      <p:sp>
        <p:nvSpPr>
          <p:cNvPr id="29" name="ref-link-4">
            <a:extLst>
              <a:ext uri="{FF2B5EF4-FFF2-40B4-BE49-F238E27FC236}">
                <a16:creationId xmlns:a16="http://schemas.microsoft.com/office/drawing/2014/main" id="{7C82B286-6523-E1AD-FFB4-E1AA8D8F75CE}"/>
              </a:ext>
            </a:extLst>
          </p:cNvPr>
          <p:cNvSpPr>
            <a:spLocks noGrp="1"/>
          </p:cNvSpPr>
          <p:nvPr/>
        </p:nvSpPr>
        <p:spPr>
          <a:xfrm>
            <a:off x="1409700" y="48101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doi: 10.1109/TGRS.2024.3386756</a:t>
            </a:r>
          </a:p>
        </p:txBody>
      </p:sp>
      <p:sp>
        <p:nvSpPr>
          <p:cNvPr id="31" name="ref-number-5">
            <a:extLst>
              <a:ext uri="{FF2B5EF4-FFF2-40B4-BE49-F238E27FC236}">
                <a16:creationId xmlns:a16="http://schemas.microsoft.com/office/drawing/2014/main" id="{2EE45169-9D4A-B330-5141-F63ACE6B7E6B}"/>
              </a:ext>
            </a:extLst>
          </p:cNvPr>
          <p:cNvSpPr>
            <a:spLocks noGrp="1"/>
          </p:cNvSpPr>
          <p:nvPr/>
        </p:nvSpPr>
        <p:spPr>
          <a:xfrm>
            <a:off x="762000" y="542353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[5]</a:t>
            </a:r>
          </a:p>
        </p:txBody>
      </p:sp>
      <p:sp>
        <p:nvSpPr>
          <p:cNvPr id="33" name="ref-venue-5">
            <a:extLst>
              <a:ext uri="{FF2B5EF4-FFF2-40B4-BE49-F238E27FC236}">
                <a16:creationId xmlns:a16="http://schemas.microsoft.com/office/drawing/2014/main" id="{B4BD0FC3-3765-F007-8439-2EC257514D41}"/>
              </a:ext>
            </a:extLst>
          </p:cNvPr>
          <p:cNvSpPr>
            <a:spLocks noGrp="1"/>
          </p:cNvSpPr>
          <p:nvPr/>
        </p:nvSpPr>
        <p:spPr>
          <a:xfrm>
            <a:off x="1409700" y="566166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NeurIPS, Datasets and Benchmarks Track, 2025.</a:t>
            </a:r>
          </a:p>
        </p:txBody>
      </p:sp>
      <p:sp>
        <p:nvSpPr>
          <p:cNvPr id="35" name="ref-link-5">
            <a:extLst>
              <a:ext uri="{FF2B5EF4-FFF2-40B4-BE49-F238E27FC236}">
                <a16:creationId xmlns:a16="http://schemas.microsoft.com/office/drawing/2014/main" id="{3C667E7A-1303-5AD7-A76E-CFA7C9ACC0E9}"/>
              </a:ext>
            </a:extLst>
          </p:cNvPr>
          <p:cNvSpPr>
            <a:spLocks noGrp="1"/>
          </p:cNvSpPr>
          <p:nvPr/>
        </p:nvSpPr>
        <p:spPr>
          <a:xfrm>
            <a:off x="1409700" y="588073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doi: 10.52202/085713-4098</a:t>
            </a:r>
          </a:p>
        </p:txBody>
      </p:sp>
      <p:sp>
        <p:nvSpPr>
          <p:cNvPr id="69" name="ref-title-1">
            <a:extLst>
              <a:ext uri="{FF2B5EF4-FFF2-40B4-BE49-F238E27FC236}">
                <a16:creationId xmlns:a16="http://schemas.microsoft.com/office/drawing/2014/main" id="{F7A6C1EC-2256-D2C6-D031-0E00C75D45AE}"/>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NASA Jet Propulsion Laboratory. How to Drive a Mars Rover.</a:t>
            </a:r>
          </a:p>
        </p:txBody>
      </p:sp>
      <p:sp>
        <p:nvSpPr>
          <p:cNvPr id="71" name="ref-title-2">
            <a:extLst>
              <a:ext uri="{FF2B5EF4-FFF2-40B4-BE49-F238E27FC236}">
                <a16:creationId xmlns:a16="http://schemas.microsoft.com/office/drawing/2014/main" id="{C3263381-F1DA-58F3-4F31-DC8C35BB01E8}"/>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A. Rankin et al. Assessing Mars Curiosity Rover Wheel Damage.</a:t>
            </a:r>
          </a:p>
        </p:txBody>
      </p:sp>
      <p:sp>
        <p:nvSpPr>
          <p:cNvPr id="73" name="ref-title-3">
            <a:extLst>
              <a:ext uri="{FF2B5EF4-FFF2-40B4-BE49-F238E27FC236}">
                <a16:creationId xmlns:a16="http://schemas.microsoft.com/office/drawing/2014/main" id="{2656BE13-A19E-D028-2960-41FD285C71E6}"/>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NASA. Routine Inspection of Rover Wheel Wear and Tear.</a:t>
            </a:r>
          </a:p>
        </p:txBody>
      </p:sp>
      <p:sp>
        <p:nvSpPr>
          <p:cNvPr id="75" name="ref-title-4">
            <a:extLst>
              <a:ext uri="{FF2B5EF4-FFF2-40B4-BE49-F238E27FC236}">
                <a16:creationId xmlns:a16="http://schemas.microsoft.com/office/drawing/2014/main" id="{1BAC2FE3-8211-36CF-8850-BF0F83ECD79C}"/>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J. Zhang et al. S⁵Mars: Semi-Supervised Learning for Mars Semantic Segmentation.</a:t>
            </a:r>
          </a:p>
        </p:txBody>
      </p:sp>
      <p:sp>
        <p:nvSpPr>
          <p:cNvPr id="77" name="ref-title-5">
            <a:extLst>
              <a:ext uri="{FF2B5EF4-FFF2-40B4-BE49-F238E27FC236}">
                <a16:creationId xmlns:a16="http://schemas.microsoft.com/office/drawing/2014/main" id="{F9485071-B946-77AC-B470-AE0619F88C79}"/>
              </a:ext>
            </a:extLst>
          </p:cNvPr>
          <p:cNvSpPr>
            <a:spLocks noGrp="1"/>
          </p:cNvSpPr>
          <p:nvPr/>
        </p:nvSpPr>
        <p:spPr>
          <a:xfrm>
            <a:off x="1409700" y="542353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dirty="0">
                <a:solidFill>
                  <a:srgbClr val="202124"/>
                </a:solidFill>
                <a:latin typeface="Roboto"/>
                <a:ea typeface="Roboto"/>
                <a:cs typeface="Roboto"/>
              </a:rPr>
              <a:t>M. Purohit et al. Mars-Bench: A Benchmark for Evaluating Foundation Models for Mars Science Tasks.</a:t>
            </a:r>
          </a:p>
        </p:txBody>
      </p:sp>
    </p:spTree>
    <p:extLst>
      <p:ext uri="{BB962C8B-B14F-4D97-AF65-F5344CB8AC3E}">
        <p14:creationId xmlns:p14="http://schemas.microsoft.com/office/powerpoint/2010/main" val="40585142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FA7A4-2D70-A483-E334-948C47D5A113}"/>
            </a:ext>
          </a:extLst>
        </p:cNvPr>
        <p:cNvGrpSpPr/>
        <p:nvPr/>
      </p:nvGrpSpPr>
      <p:grpSpPr>
        <a:xfrm>
          <a:off x="0" y="0"/>
          <a:ext cx="0" cy="0"/>
          <a:chOff x="0" y="0"/>
          <a:chExt cx="0" cy="0"/>
        </a:xfrm>
      </p:grpSpPr>
      <p:sp>
        <p:nvSpPr>
          <p:cNvPr id="5" name="slide-title">
            <a:extLst>
              <a:ext uri="{FF2B5EF4-FFF2-40B4-BE49-F238E27FC236}">
                <a16:creationId xmlns:a16="http://schemas.microsoft.com/office/drawing/2014/main" id="{E76EB4E8-00F3-F458-0AAD-B82EF38CAF42}"/>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dirty="0">
                <a:solidFill>
                  <a:srgbClr val="202124"/>
                </a:solidFill>
                <a:latin typeface="Roboto"/>
                <a:ea typeface="Roboto"/>
                <a:cs typeface="Roboto"/>
              </a:rPr>
              <a:t>References</a:t>
            </a:r>
          </a:p>
        </p:txBody>
      </p:sp>
      <p:sp>
        <p:nvSpPr>
          <p:cNvPr id="3" name="ref-number-6">
            <a:extLst>
              <a:ext uri="{FF2B5EF4-FFF2-40B4-BE49-F238E27FC236}">
                <a16:creationId xmlns:a16="http://schemas.microsoft.com/office/drawing/2014/main" id="{0821FF25-ECD2-F4D9-F150-CBC60522B100}"/>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[6]</a:t>
            </a:r>
          </a:p>
        </p:txBody>
      </p:sp>
      <p:sp>
        <p:nvSpPr>
          <p:cNvPr id="6" name="ref-title-6">
            <a:extLst>
              <a:ext uri="{FF2B5EF4-FFF2-40B4-BE49-F238E27FC236}">
                <a16:creationId xmlns:a16="http://schemas.microsoft.com/office/drawing/2014/main" id="{297A56C7-9061-098D-3131-FA7C18DC6853}"/>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O. Ronneberger, P. Fischer and T. Brox. U-Net: Convolutional Networks for Biomedical Image Segmentation.</a:t>
            </a:r>
          </a:p>
        </p:txBody>
      </p:sp>
      <p:sp>
        <p:nvSpPr>
          <p:cNvPr id="10" name="ref-venue-6">
            <a:extLst>
              <a:ext uri="{FF2B5EF4-FFF2-40B4-BE49-F238E27FC236}">
                <a16:creationId xmlns:a16="http://schemas.microsoft.com/office/drawing/2014/main" id="{9AAA3DC0-381C-A5F8-8CDC-3A1EA4B4937B}"/>
              </a:ext>
            </a:extLst>
          </p:cNvPr>
          <p:cNvSpPr>
            <a:spLocks noGrp="1"/>
          </p:cNvSpPr>
          <p:nvPr/>
        </p:nvSpPr>
        <p:spPr>
          <a:xfrm>
            <a:off x="1409700" y="164955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MICCAI, 2015, pp. 234–241.</a:t>
            </a:r>
          </a:p>
        </p:txBody>
      </p:sp>
      <p:sp>
        <p:nvSpPr>
          <p:cNvPr id="14" name="ref-link-6">
            <a:extLst>
              <a:ext uri="{FF2B5EF4-FFF2-40B4-BE49-F238E27FC236}">
                <a16:creationId xmlns:a16="http://schemas.microsoft.com/office/drawing/2014/main" id="{53B0F193-568C-EAD1-5CE2-84CA26A8B470}"/>
              </a:ext>
            </a:extLst>
          </p:cNvPr>
          <p:cNvSpPr>
            <a:spLocks noGrp="1"/>
          </p:cNvSpPr>
          <p:nvPr/>
        </p:nvSpPr>
        <p:spPr>
          <a:xfrm>
            <a:off x="1409700" y="186863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dirty="0" err="1">
                <a:solidFill>
                  <a:srgbClr val="822433"/>
                </a:solidFill>
                <a:latin typeface="Roboto"/>
                <a:ea typeface="Roboto"/>
                <a:cs typeface="Roboto"/>
                <a:hlinkClick r:id="rId3"/>
              </a:rPr>
              <a:t>doi</a:t>
            </a:r>
            <a:r>
              <a:rPr lang="en-US" sz="1275" b="0" dirty="0">
                <a:solidFill>
                  <a:srgbClr val="822433"/>
                </a:solidFill>
                <a:latin typeface="Roboto"/>
                <a:ea typeface="Roboto"/>
                <a:cs typeface="Roboto"/>
                <a:hlinkClick r:id="rId3"/>
              </a:rPr>
              <a:t>: 10.1007/978-3-319-24574-4_28</a:t>
            </a:r>
          </a:p>
        </p:txBody>
      </p:sp>
      <p:sp>
        <p:nvSpPr>
          <p:cNvPr id="18" name="ref-number-7">
            <a:extLst>
              <a:ext uri="{FF2B5EF4-FFF2-40B4-BE49-F238E27FC236}">
                <a16:creationId xmlns:a16="http://schemas.microsoft.com/office/drawing/2014/main" id="{D24575B9-18DE-0F01-BC21-49C24CB2777B}"/>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[7]</a:t>
            </a:r>
          </a:p>
        </p:txBody>
      </p:sp>
      <p:sp>
        <p:nvSpPr>
          <p:cNvPr id="22" name="ref-title-7">
            <a:extLst>
              <a:ext uri="{FF2B5EF4-FFF2-40B4-BE49-F238E27FC236}">
                <a16:creationId xmlns:a16="http://schemas.microsoft.com/office/drawing/2014/main" id="{CEF36257-7668-348F-51B1-CD13545A3062}"/>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L.-C. Chen et al. Rethinking Atrous Convolution for Semantic Image Segmentation.</a:t>
            </a:r>
          </a:p>
        </p:txBody>
      </p:sp>
      <p:sp>
        <p:nvSpPr>
          <p:cNvPr id="26" name="ref-venue-7">
            <a:extLst>
              <a:ext uri="{FF2B5EF4-FFF2-40B4-BE49-F238E27FC236}">
                <a16:creationId xmlns:a16="http://schemas.microsoft.com/office/drawing/2014/main" id="{F880F072-8991-F778-8255-43B3C18CBAE5}"/>
              </a:ext>
            </a:extLst>
          </p:cNvPr>
          <p:cNvSpPr>
            <a:spLocks noGrp="1"/>
          </p:cNvSpPr>
          <p:nvPr/>
        </p:nvSpPr>
        <p:spPr>
          <a:xfrm>
            <a:off x="1409700" y="263323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arXiv:1706.05587, 2017.</a:t>
            </a:r>
          </a:p>
        </p:txBody>
      </p:sp>
      <p:sp>
        <p:nvSpPr>
          <p:cNvPr id="30" name="ref-link-7">
            <a:extLst>
              <a:ext uri="{FF2B5EF4-FFF2-40B4-BE49-F238E27FC236}">
                <a16:creationId xmlns:a16="http://schemas.microsoft.com/office/drawing/2014/main" id="{FCB372AD-8AF8-4DCE-37E9-23DE7325BA2F}"/>
              </a:ext>
            </a:extLst>
          </p:cNvPr>
          <p:cNvSpPr>
            <a:spLocks noGrp="1"/>
          </p:cNvSpPr>
          <p:nvPr/>
        </p:nvSpPr>
        <p:spPr>
          <a:xfrm>
            <a:off x="1409700" y="285230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arxiv.org/abs/1706.05587</a:t>
            </a:r>
          </a:p>
        </p:txBody>
      </p:sp>
      <p:sp>
        <p:nvSpPr>
          <p:cNvPr id="34" name="ref-number-8">
            <a:extLst>
              <a:ext uri="{FF2B5EF4-FFF2-40B4-BE49-F238E27FC236}">
                <a16:creationId xmlns:a16="http://schemas.microsoft.com/office/drawing/2014/main" id="{4499402C-6023-07DA-17A8-B73FF0A8C28A}"/>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[8]</a:t>
            </a:r>
          </a:p>
        </p:txBody>
      </p:sp>
      <p:sp>
        <p:nvSpPr>
          <p:cNvPr id="37" name="ref-title-8">
            <a:extLst>
              <a:ext uri="{FF2B5EF4-FFF2-40B4-BE49-F238E27FC236}">
                <a16:creationId xmlns:a16="http://schemas.microsoft.com/office/drawing/2014/main" id="{1FEF7ADE-0A42-982B-8D4E-2DE087A0D36D}"/>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L.-C. Chen et al. Encoder-Decoder with Atrous Separable Convolution for Semantic Image Segmentation.</a:t>
            </a:r>
          </a:p>
        </p:txBody>
      </p:sp>
      <p:sp>
        <p:nvSpPr>
          <p:cNvPr id="39" name="ref-venue-8">
            <a:extLst>
              <a:ext uri="{FF2B5EF4-FFF2-40B4-BE49-F238E27FC236}">
                <a16:creationId xmlns:a16="http://schemas.microsoft.com/office/drawing/2014/main" id="{93F68481-2A7A-CAF7-A9CA-26FAB4A4CF3F}"/>
              </a:ext>
            </a:extLst>
          </p:cNvPr>
          <p:cNvSpPr>
            <a:spLocks noGrp="1"/>
          </p:cNvSpPr>
          <p:nvPr/>
        </p:nvSpPr>
        <p:spPr>
          <a:xfrm>
            <a:off x="1409700" y="359265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ECCV, 2018, pp. 833–851.</a:t>
            </a:r>
          </a:p>
        </p:txBody>
      </p:sp>
      <p:sp>
        <p:nvSpPr>
          <p:cNvPr id="41" name="ref-link-8">
            <a:extLst>
              <a:ext uri="{FF2B5EF4-FFF2-40B4-BE49-F238E27FC236}">
                <a16:creationId xmlns:a16="http://schemas.microsoft.com/office/drawing/2014/main" id="{9544EA9A-86B7-BBF0-E609-160FA64BBAFC}"/>
              </a:ext>
            </a:extLst>
          </p:cNvPr>
          <p:cNvSpPr>
            <a:spLocks noGrp="1"/>
          </p:cNvSpPr>
          <p:nvPr/>
        </p:nvSpPr>
        <p:spPr>
          <a:xfrm>
            <a:off x="1409700" y="381173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5"/>
              </a:rPr>
              <a:t>doi: 10.1007/978-3-030-01234-2_49</a:t>
            </a:r>
          </a:p>
        </p:txBody>
      </p:sp>
      <p:sp>
        <p:nvSpPr>
          <p:cNvPr id="43" name="ref-number-9">
            <a:extLst>
              <a:ext uri="{FF2B5EF4-FFF2-40B4-BE49-F238E27FC236}">
                <a16:creationId xmlns:a16="http://schemas.microsoft.com/office/drawing/2014/main" id="{C730D5B4-0AC9-A910-1955-5B5501ECBEB2}"/>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[9]</a:t>
            </a:r>
          </a:p>
        </p:txBody>
      </p:sp>
      <p:sp>
        <p:nvSpPr>
          <p:cNvPr id="45" name="ref-title-9">
            <a:extLst>
              <a:ext uri="{FF2B5EF4-FFF2-40B4-BE49-F238E27FC236}">
                <a16:creationId xmlns:a16="http://schemas.microsoft.com/office/drawing/2014/main" id="{148C544D-2D22-F2E2-591B-54FB35A1F30E}"/>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E. Xie et al. SegFormer: Simple and Efficient Design for Semantic Segmentation with Transformers.</a:t>
            </a:r>
          </a:p>
        </p:txBody>
      </p:sp>
      <p:sp>
        <p:nvSpPr>
          <p:cNvPr id="47" name="ref-venue-9">
            <a:extLst>
              <a:ext uri="{FF2B5EF4-FFF2-40B4-BE49-F238E27FC236}">
                <a16:creationId xmlns:a16="http://schemas.microsoft.com/office/drawing/2014/main" id="{EECB0CBB-A035-8C10-62C3-3D41A3AA4B1F}"/>
              </a:ext>
            </a:extLst>
          </p:cNvPr>
          <p:cNvSpPr>
            <a:spLocks noGrp="1"/>
          </p:cNvSpPr>
          <p:nvPr/>
        </p:nvSpPr>
        <p:spPr>
          <a:xfrm>
            <a:off x="1409700" y="4579793"/>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err="1">
                <a:solidFill>
                  <a:srgbClr val="656B73"/>
                </a:solidFill>
                <a:latin typeface="Roboto"/>
                <a:ea typeface="Roboto"/>
                <a:cs typeface="Roboto"/>
              </a:rPr>
              <a:t>NeurIPS</a:t>
            </a:r>
            <a:r>
              <a:rPr lang="en-US" sz="1313" b="0" dirty="0">
                <a:solidFill>
                  <a:srgbClr val="656B73"/>
                </a:solidFill>
                <a:latin typeface="Roboto"/>
                <a:ea typeface="Roboto"/>
                <a:cs typeface="Roboto"/>
              </a:rPr>
              <a:t>, vol. 34, 2021, pp. 12077–12090.</a:t>
            </a:r>
          </a:p>
        </p:txBody>
      </p:sp>
      <p:sp>
        <p:nvSpPr>
          <p:cNvPr id="49" name="ref-link-9">
            <a:extLst>
              <a:ext uri="{FF2B5EF4-FFF2-40B4-BE49-F238E27FC236}">
                <a16:creationId xmlns:a16="http://schemas.microsoft.com/office/drawing/2014/main" id="{CC9DC076-C5AB-84BB-6982-441CD70B6F46}"/>
              </a:ext>
            </a:extLst>
          </p:cNvPr>
          <p:cNvSpPr>
            <a:spLocks noGrp="1"/>
          </p:cNvSpPr>
          <p:nvPr/>
        </p:nvSpPr>
        <p:spPr>
          <a:xfrm>
            <a:off x="1409700" y="4798868"/>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arxiv.org/abs/2105.15203</a:t>
            </a:r>
          </a:p>
        </p:txBody>
      </p:sp>
      <p:sp>
        <p:nvSpPr>
          <p:cNvPr id="51" name="ref-number-10">
            <a:extLst>
              <a:ext uri="{FF2B5EF4-FFF2-40B4-BE49-F238E27FC236}">
                <a16:creationId xmlns:a16="http://schemas.microsoft.com/office/drawing/2014/main" id="{F1CF2FC5-9EA2-537B-8DBA-61E73F56DB5F}"/>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[10]</a:t>
            </a:r>
          </a:p>
        </p:txBody>
      </p:sp>
      <p:sp>
        <p:nvSpPr>
          <p:cNvPr id="53" name="ref-title-10">
            <a:extLst>
              <a:ext uri="{FF2B5EF4-FFF2-40B4-BE49-F238E27FC236}">
                <a16:creationId xmlns:a16="http://schemas.microsoft.com/office/drawing/2014/main" id="{84E8B91A-ED19-1731-5EB4-2285CE38C9DC}"/>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M. Shi et al. Lightweight Context-Aware Network Using Partial-Channel Transformation for Real-Time Semantic Segmentation.</a:t>
            </a:r>
          </a:p>
        </p:txBody>
      </p:sp>
      <p:sp>
        <p:nvSpPr>
          <p:cNvPr id="55" name="ref-venue-10">
            <a:extLst>
              <a:ext uri="{FF2B5EF4-FFF2-40B4-BE49-F238E27FC236}">
                <a16:creationId xmlns:a16="http://schemas.microsoft.com/office/drawing/2014/main" id="{B37CCFF1-E1B8-BC42-4E2A-291E470FFA2A}"/>
              </a:ext>
            </a:extLst>
          </p:cNvPr>
          <p:cNvSpPr>
            <a:spLocks noGrp="1"/>
          </p:cNvSpPr>
          <p:nvPr/>
        </p:nvSpPr>
        <p:spPr>
          <a:xfrm>
            <a:off x="1409700" y="57912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IEEE Transactions on Intelligent Transportation Systems, 25(7), 2024.</a:t>
            </a:r>
          </a:p>
        </p:txBody>
      </p:sp>
      <p:sp>
        <p:nvSpPr>
          <p:cNvPr id="57" name="ref-link-10">
            <a:extLst>
              <a:ext uri="{FF2B5EF4-FFF2-40B4-BE49-F238E27FC236}">
                <a16:creationId xmlns:a16="http://schemas.microsoft.com/office/drawing/2014/main" id="{22646CC2-4C05-842B-FEC0-FC9648FA9AA7}"/>
              </a:ext>
            </a:extLst>
          </p:cNvPr>
          <p:cNvSpPr>
            <a:spLocks noGrp="1"/>
          </p:cNvSpPr>
          <p:nvPr/>
        </p:nvSpPr>
        <p:spPr>
          <a:xfrm>
            <a:off x="1409700" y="60102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doi: 10.1109/TITS.2023.3348631</a:t>
            </a:r>
          </a:p>
        </p:txBody>
      </p:sp>
    </p:spTree>
    <p:extLst>
      <p:ext uri="{BB962C8B-B14F-4D97-AF65-F5344CB8AC3E}">
        <p14:creationId xmlns:p14="http://schemas.microsoft.com/office/powerpoint/2010/main" val="740503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7F767-E65D-BD54-9A7B-3974EE4C2CE1}"/>
            </a:ext>
          </a:extLst>
        </p:cNvPr>
        <p:cNvGrpSpPr/>
        <p:nvPr/>
      </p:nvGrpSpPr>
      <p:grpSpPr>
        <a:xfrm>
          <a:off x="0" y="0"/>
          <a:ext cx="0" cy="0"/>
          <a:chOff x="0" y="0"/>
          <a:chExt cx="0" cy="0"/>
        </a:xfrm>
      </p:grpSpPr>
      <p:sp>
        <p:nvSpPr>
          <p:cNvPr id="5" name="slide-title">
            <a:extLst>
              <a:ext uri="{FF2B5EF4-FFF2-40B4-BE49-F238E27FC236}">
                <a16:creationId xmlns:a16="http://schemas.microsoft.com/office/drawing/2014/main" id="{C680000B-601D-6466-9E1B-4D1A19FA2AE6}"/>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dirty="0">
                <a:solidFill>
                  <a:srgbClr val="202124"/>
                </a:solidFill>
                <a:latin typeface="Roboto"/>
                <a:ea typeface="Roboto"/>
                <a:cs typeface="Roboto"/>
              </a:rPr>
              <a:t>References</a:t>
            </a:r>
          </a:p>
        </p:txBody>
      </p:sp>
      <p:sp>
        <p:nvSpPr>
          <p:cNvPr id="3" name="ref-number-11">
            <a:extLst>
              <a:ext uri="{FF2B5EF4-FFF2-40B4-BE49-F238E27FC236}">
                <a16:creationId xmlns:a16="http://schemas.microsoft.com/office/drawing/2014/main" id="{565BEFDF-341E-CDC0-A8F6-3F63D7B75A2B}"/>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[11]</a:t>
            </a:r>
          </a:p>
        </p:txBody>
      </p:sp>
      <p:sp>
        <p:nvSpPr>
          <p:cNvPr id="6" name="ref-title-11">
            <a:extLst>
              <a:ext uri="{FF2B5EF4-FFF2-40B4-BE49-F238E27FC236}">
                <a16:creationId xmlns:a16="http://schemas.microsoft.com/office/drawing/2014/main" id="{325CAD5A-E533-9F40-367A-4B2AF0848C6B}"/>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B. Jacob et al. Quantization and Training of Neural Networks for Efficient Integer-Arithmetic-Only Inference.</a:t>
            </a:r>
          </a:p>
        </p:txBody>
      </p:sp>
      <p:sp>
        <p:nvSpPr>
          <p:cNvPr id="10" name="ref-venue-11">
            <a:extLst>
              <a:ext uri="{FF2B5EF4-FFF2-40B4-BE49-F238E27FC236}">
                <a16:creationId xmlns:a16="http://schemas.microsoft.com/office/drawing/2014/main" id="{89802A4F-8B9F-B632-B6D5-53DE2B93A602}"/>
              </a:ext>
            </a:extLst>
          </p:cNvPr>
          <p:cNvSpPr>
            <a:spLocks noGrp="1"/>
          </p:cNvSpPr>
          <p:nvPr/>
        </p:nvSpPr>
        <p:spPr>
          <a:xfrm>
            <a:off x="1409700" y="163353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dirty="0">
                <a:solidFill>
                  <a:srgbClr val="656B73"/>
                </a:solidFill>
                <a:latin typeface="Roboto"/>
                <a:ea typeface="Roboto"/>
                <a:cs typeface="Roboto"/>
              </a:rPr>
              <a:t>CVPR, 2018, pp. 2704–2713.</a:t>
            </a:r>
          </a:p>
        </p:txBody>
      </p:sp>
      <p:sp>
        <p:nvSpPr>
          <p:cNvPr id="14" name="ref-link-11">
            <a:extLst>
              <a:ext uri="{FF2B5EF4-FFF2-40B4-BE49-F238E27FC236}">
                <a16:creationId xmlns:a16="http://schemas.microsoft.com/office/drawing/2014/main" id="{29F9B77A-7FD7-99DF-C07C-EE8EB59EB011}"/>
              </a:ext>
            </a:extLst>
          </p:cNvPr>
          <p:cNvSpPr>
            <a:spLocks noGrp="1"/>
          </p:cNvSpPr>
          <p:nvPr/>
        </p:nvSpPr>
        <p:spPr>
          <a:xfrm>
            <a:off x="1409700" y="185261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3"/>
              </a:rPr>
              <a:t>arxiv.org/abs/1712.05877</a:t>
            </a:r>
          </a:p>
        </p:txBody>
      </p:sp>
      <p:sp>
        <p:nvSpPr>
          <p:cNvPr id="18" name="ref-number-12">
            <a:extLst>
              <a:ext uri="{FF2B5EF4-FFF2-40B4-BE49-F238E27FC236}">
                <a16:creationId xmlns:a16="http://schemas.microsoft.com/office/drawing/2014/main" id="{DE8B9118-5DF0-9F8A-04E5-641884AE3C53}"/>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[12]</a:t>
            </a:r>
          </a:p>
        </p:txBody>
      </p:sp>
      <p:sp>
        <p:nvSpPr>
          <p:cNvPr id="22" name="ref-title-12">
            <a:extLst>
              <a:ext uri="{FF2B5EF4-FFF2-40B4-BE49-F238E27FC236}">
                <a16:creationId xmlns:a16="http://schemas.microsoft.com/office/drawing/2014/main" id="{F024849A-4BE0-559D-9683-4B0DE8801825}"/>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NASA Visualization Technology Applications and Development. Curiosity 3D Model.</a:t>
            </a:r>
          </a:p>
        </p:txBody>
      </p:sp>
      <p:sp>
        <p:nvSpPr>
          <p:cNvPr id="26" name="ref-venue-12">
            <a:extLst>
              <a:ext uri="{FF2B5EF4-FFF2-40B4-BE49-F238E27FC236}">
                <a16:creationId xmlns:a16="http://schemas.microsoft.com/office/drawing/2014/main" id="{76BE68B3-154F-2175-3927-FE070B2D1F25}"/>
              </a:ext>
            </a:extLst>
          </p:cNvPr>
          <p:cNvSpPr>
            <a:spLocks noGrp="1"/>
          </p:cNvSpPr>
          <p:nvPr/>
        </p:nvSpPr>
        <p:spPr>
          <a:xfrm>
            <a:off x="1409700" y="260508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NASA Science, 22 April 2019.</a:t>
            </a:r>
          </a:p>
        </p:txBody>
      </p:sp>
      <p:sp>
        <p:nvSpPr>
          <p:cNvPr id="30" name="ref-link-12">
            <a:extLst>
              <a:ext uri="{FF2B5EF4-FFF2-40B4-BE49-F238E27FC236}">
                <a16:creationId xmlns:a16="http://schemas.microsoft.com/office/drawing/2014/main" id="{CF711D89-6489-0356-A22E-DDE749EA9523}"/>
              </a:ext>
            </a:extLst>
          </p:cNvPr>
          <p:cNvSpPr>
            <a:spLocks noGrp="1"/>
          </p:cNvSpPr>
          <p:nvPr/>
        </p:nvSpPr>
        <p:spPr>
          <a:xfrm>
            <a:off x="1409700" y="282416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science.nasa.gov/resource/curiosity-3d-model/</a:t>
            </a:r>
          </a:p>
        </p:txBody>
      </p:sp>
      <p:sp>
        <p:nvSpPr>
          <p:cNvPr id="34" name="ref-number-13">
            <a:extLst>
              <a:ext uri="{FF2B5EF4-FFF2-40B4-BE49-F238E27FC236}">
                <a16:creationId xmlns:a16="http://schemas.microsoft.com/office/drawing/2014/main" id="{FE3F6B81-D87E-A447-565F-F8DF8849AD48}"/>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[13]</a:t>
            </a:r>
          </a:p>
        </p:txBody>
      </p:sp>
      <p:sp>
        <p:nvSpPr>
          <p:cNvPr id="37" name="ref-title-13">
            <a:extLst>
              <a:ext uri="{FF2B5EF4-FFF2-40B4-BE49-F238E27FC236}">
                <a16:creationId xmlns:a16="http://schemas.microsoft.com/office/drawing/2014/main" id="{1AC1527C-3165-EB7F-3CAF-05431708A481}"/>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HiRISE. Possible MSL Landing Site in Gale Crater.</a:t>
            </a:r>
          </a:p>
        </p:txBody>
      </p:sp>
      <p:sp>
        <p:nvSpPr>
          <p:cNvPr id="39" name="ref-venue-13">
            <a:extLst>
              <a:ext uri="{FF2B5EF4-FFF2-40B4-BE49-F238E27FC236}">
                <a16:creationId xmlns:a16="http://schemas.microsoft.com/office/drawing/2014/main" id="{87625E2A-1C63-2266-6C91-CD73BFA32D1D}"/>
              </a:ext>
            </a:extLst>
          </p:cNvPr>
          <p:cNvSpPr>
            <a:spLocks noGrp="1"/>
          </p:cNvSpPr>
          <p:nvPr/>
        </p:nvSpPr>
        <p:spPr>
          <a:xfrm>
            <a:off x="1409700" y="357663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DTM and orthoimage, PSP_010573_1755 and PSP_010639_1755.</a:t>
            </a:r>
          </a:p>
        </p:txBody>
      </p:sp>
      <p:sp>
        <p:nvSpPr>
          <p:cNvPr id="41" name="ref-link-13">
            <a:extLst>
              <a:ext uri="{FF2B5EF4-FFF2-40B4-BE49-F238E27FC236}">
                <a16:creationId xmlns:a16="http://schemas.microsoft.com/office/drawing/2014/main" id="{A04981A3-0668-0C7C-DAA6-07681E686CC9}"/>
              </a:ext>
            </a:extLst>
          </p:cNvPr>
          <p:cNvSpPr>
            <a:spLocks noGrp="1"/>
          </p:cNvSpPr>
          <p:nvPr/>
        </p:nvSpPr>
        <p:spPr>
          <a:xfrm>
            <a:off x="1409700" y="379571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dirty="0">
                <a:solidFill>
                  <a:srgbClr val="822433"/>
                </a:solidFill>
                <a:latin typeface="Roboto"/>
                <a:ea typeface="Roboto"/>
                <a:cs typeface="Roboto"/>
                <a:hlinkClick r:id="rId5"/>
              </a:rPr>
              <a:t>hirise.lpl.arizona.edu/</a:t>
            </a:r>
            <a:r>
              <a:rPr lang="en-US" sz="1275" b="0" dirty="0" err="1">
                <a:solidFill>
                  <a:srgbClr val="822433"/>
                </a:solidFill>
                <a:latin typeface="Roboto"/>
                <a:ea typeface="Roboto"/>
                <a:cs typeface="Roboto"/>
                <a:hlinkClick r:id="rId5"/>
              </a:rPr>
              <a:t>dtm</a:t>
            </a:r>
            <a:r>
              <a:rPr lang="en-US" sz="1275" b="0" dirty="0">
                <a:solidFill>
                  <a:srgbClr val="822433"/>
                </a:solidFill>
                <a:latin typeface="Roboto"/>
                <a:ea typeface="Roboto"/>
                <a:cs typeface="Roboto"/>
                <a:hlinkClick r:id="rId5"/>
              </a:rPr>
              <a:t>/</a:t>
            </a:r>
            <a:r>
              <a:rPr lang="en-US" sz="1275" b="0" dirty="0" err="1">
                <a:solidFill>
                  <a:srgbClr val="822433"/>
                </a:solidFill>
                <a:latin typeface="Roboto"/>
                <a:ea typeface="Roboto"/>
                <a:cs typeface="Roboto"/>
                <a:hlinkClick r:id="rId5"/>
              </a:rPr>
              <a:t>dtm.php?ID</a:t>
            </a:r>
            <a:r>
              <a:rPr lang="en-US" sz="1275" b="0" dirty="0">
                <a:solidFill>
                  <a:srgbClr val="822433"/>
                </a:solidFill>
                <a:latin typeface="Roboto"/>
                <a:ea typeface="Roboto"/>
                <a:cs typeface="Roboto"/>
                <a:hlinkClick r:id="rId5"/>
              </a:rPr>
              <a:t>=PSP_010573_1755</a:t>
            </a:r>
          </a:p>
        </p:txBody>
      </p:sp>
      <p:sp>
        <p:nvSpPr>
          <p:cNvPr id="43" name="ref-number-14">
            <a:extLst>
              <a:ext uri="{FF2B5EF4-FFF2-40B4-BE49-F238E27FC236}">
                <a16:creationId xmlns:a16="http://schemas.microsoft.com/office/drawing/2014/main" id="{AC6B1B1E-A916-03C9-0855-DF32E5CC4C9A}"/>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[14]</a:t>
            </a:r>
          </a:p>
        </p:txBody>
      </p:sp>
      <p:sp>
        <p:nvSpPr>
          <p:cNvPr id="45" name="ref-title-14">
            <a:extLst>
              <a:ext uri="{FF2B5EF4-FFF2-40B4-BE49-F238E27FC236}">
                <a16:creationId xmlns:a16="http://schemas.microsoft.com/office/drawing/2014/main" id="{1509D3C1-18E5-F43F-6ABB-92537436C319}"/>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J. Tobin et al. Domain Randomization for Transferring Deep Neural Networks from Simulation to the Real World.</a:t>
            </a:r>
          </a:p>
        </p:txBody>
      </p:sp>
      <p:sp>
        <p:nvSpPr>
          <p:cNvPr id="47" name="ref-venue-14">
            <a:extLst>
              <a:ext uri="{FF2B5EF4-FFF2-40B4-BE49-F238E27FC236}">
                <a16:creationId xmlns:a16="http://schemas.microsoft.com/office/drawing/2014/main" id="{90CA55B2-5AFA-DDBF-83C5-9BCD4AFB0351}"/>
              </a:ext>
            </a:extLst>
          </p:cNvPr>
          <p:cNvSpPr>
            <a:spLocks noGrp="1"/>
          </p:cNvSpPr>
          <p:nvPr/>
        </p:nvSpPr>
        <p:spPr>
          <a:xfrm>
            <a:off x="1409700" y="454818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IEEE/RSJ IROS, 2017, pp. 23–30.</a:t>
            </a:r>
          </a:p>
        </p:txBody>
      </p:sp>
      <p:sp>
        <p:nvSpPr>
          <p:cNvPr id="49" name="ref-link-14">
            <a:extLst>
              <a:ext uri="{FF2B5EF4-FFF2-40B4-BE49-F238E27FC236}">
                <a16:creationId xmlns:a16="http://schemas.microsoft.com/office/drawing/2014/main" id="{A92D3111-7D97-4187-34D5-16CB163567D6}"/>
              </a:ext>
            </a:extLst>
          </p:cNvPr>
          <p:cNvSpPr>
            <a:spLocks noGrp="1"/>
          </p:cNvSpPr>
          <p:nvPr/>
        </p:nvSpPr>
        <p:spPr>
          <a:xfrm>
            <a:off x="1409700" y="476726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doi: 10.1109/IROS.2017.8202133</a:t>
            </a:r>
          </a:p>
        </p:txBody>
      </p:sp>
      <p:sp>
        <p:nvSpPr>
          <p:cNvPr id="51" name="ref-number-15">
            <a:extLst>
              <a:ext uri="{FF2B5EF4-FFF2-40B4-BE49-F238E27FC236}">
                <a16:creationId xmlns:a16="http://schemas.microsoft.com/office/drawing/2014/main" id="{EC736862-BAD5-A7E5-AA8C-B0C385FFCE17}"/>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[15]</a:t>
            </a:r>
          </a:p>
        </p:txBody>
      </p:sp>
      <p:sp>
        <p:nvSpPr>
          <p:cNvPr id="53" name="ref-title-15">
            <a:extLst>
              <a:ext uri="{FF2B5EF4-FFF2-40B4-BE49-F238E27FC236}">
                <a16:creationId xmlns:a16="http://schemas.microsoft.com/office/drawing/2014/main" id="{8188A915-CA54-75A2-D2D0-3F65597B8CC3}"/>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P. Bergmann et al. MVTec AD: A Comprehensive Real-World Dataset for Unsupervised Anomaly Detection.</a:t>
            </a:r>
          </a:p>
        </p:txBody>
      </p:sp>
      <p:sp>
        <p:nvSpPr>
          <p:cNvPr id="55" name="ref-venue-15">
            <a:extLst>
              <a:ext uri="{FF2B5EF4-FFF2-40B4-BE49-F238E27FC236}">
                <a16:creationId xmlns:a16="http://schemas.microsoft.com/office/drawing/2014/main" id="{A39FFE36-0AB7-6B5C-0813-B6F514873DFF}"/>
              </a:ext>
            </a:extLst>
          </p:cNvPr>
          <p:cNvSpPr>
            <a:spLocks noGrp="1"/>
          </p:cNvSpPr>
          <p:nvPr/>
        </p:nvSpPr>
        <p:spPr>
          <a:xfrm>
            <a:off x="1409700" y="551973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CVPR, 2019, pp. 9584–9592.</a:t>
            </a:r>
          </a:p>
        </p:txBody>
      </p:sp>
      <p:sp>
        <p:nvSpPr>
          <p:cNvPr id="57" name="ref-link-15">
            <a:extLst>
              <a:ext uri="{FF2B5EF4-FFF2-40B4-BE49-F238E27FC236}">
                <a16:creationId xmlns:a16="http://schemas.microsoft.com/office/drawing/2014/main" id="{DF69B8D8-422E-7C21-2011-28CC15B6A3AF}"/>
              </a:ext>
            </a:extLst>
          </p:cNvPr>
          <p:cNvSpPr>
            <a:spLocks noGrp="1"/>
          </p:cNvSpPr>
          <p:nvPr/>
        </p:nvSpPr>
        <p:spPr>
          <a:xfrm>
            <a:off x="1409700" y="573881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7"/>
              </a:rPr>
              <a:t>doi: 10.1109/CVPR.2019.00982</a:t>
            </a:r>
          </a:p>
        </p:txBody>
      </p:sp>
    </p:spTree>
    <p:extLst>
      <p:ext uri="{BB962C8B-B14F-4D97-AF65-F5344CB8AC3E}">
        <p14:creationId xmlns:p14="http://schemas.microsoft.com/office/powerpoint/2010/main" val="2405069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8ECB4-4F84-2D53-0116-86C33BF71553}"/>
            </a:ext>
          </a:extLst>
        </p:cNvPr>
        <p:cNvGrpSpPr/>
        <p:nvPr/>
      </p:nvGrpSpPr>
      <p:grpSpPr>
        <a:xfrm>
          <a:off x="0" y="0"/>
          <a:ext cx="0" cy="0"/>
          <a:chOff x="0" y="0"/>
          <a:chExt cx="0" cy="0"/>
        </a:xfrm>
      </p:grpSpPr>
      <p:sp>
        <p:nvSpPr>
          <p:cNvPr id="5" name="slide-title">
            <a:extLst>
              <a:ext uri="{FF2B5EF4-FFF2-40B4-BE49-F238E27FC236}">
                <a16:creationId xmlns:a16="http://schemas.microsoft.com/office/drawing/2014/main" id="{2252B152-DCA6-4692-7EBA-165BDDC6D93A}"/>
              </a:ext>
            </a:extLst>
          </p:cNvPr>
          <p:cNvSpPr>
            <a:spLocks noGrp="1"/>
          </p:cNvSpPr>
          <p:nvPr/>
        </p:nvSpPr>
        <p:spPr>
          <a:xfrm>
            <a:off x="762000" y="485775"/>
            <a:ext cx="9858375" cy="857250"/>
          </a:xfrm>
          <a:prstGeom prst="rect">
            <a:avLst/>
          </a:prstGeom>
          <a:noFill/>
          <a:ln w="0">
            <a:noFill/>
          </a:ln>
        </p:spPr>
        <p:txBody>
          <a:bodyPr wrap="square" lIns="0" tIns="0" rIns="0" bIns="0" anchor="t">
            <a:noAutofit/>
          </a:bodyPr>
          <a:lstStyle>
            <a:defPPr algn="l">
              <a:defRPr lang="en-US" sz="3200" b="0">
                <a:solidFill>
                  <a:srgbClr val="202124"/>
                </a:solidFill>
                <a:latin typeface="Roboto"/>
                <a:ea typeface="Roboto"/>
                <a:cs typeface="Roboto"/>
              </a:defRPr>
            </a:defPPr>
            <a:lvl1pPr algn="l">
              <a:defRPr lang="en-US" sz="3200" b="0">
                <a:solidFill>
                  <a:srgbClr val="202124"/>
                </a:solidFill>
                <a:latin typeface="Roboto"/>
                <a:ea typeface="Roboto"/>
                <a:cs typeface="Roboto"/>
              </a:defRPr>
            </a:lvl1pPr>
            <a:lvl2pPr algn="l">
              <a:defRPr lang="en-US" sz="3200" b="0">
                <a:solidFill>
                  <a:srgbClr val="202124"/>
                </a:solidFill>
                <a:latin typeface="Roboto"/>
                <a:ea typeface="Roboto"/>
                <a:cs typeface="Roboto"/>
              </a:defRPr>
            </a:lvl2pPr>
            <a:lvl3pPr algn="l">
              <a:defRPr lang="en-US" sz="3200" b="0">
                <a:solidFill>
                  <a:srgbClr val="202124"/>
                </a:solidFill>
                <a:latin typeface="Roboto"/>
                <a:ea typeface="Roboto"/>
                <a:cs typeface="Roboto"/>
              </a:defRPr>
            </a:lvl3pPr>
            <a:lvl4pPr algn="l">
              <a:defRPr lang="en-US" sz="3200" b="0">
                <a:solidFill>
                  <a:srgbClr val="202124"/>
                </a:solidFill>
                <a:latin typeface="Roboto"/>
                <a:ea typeface="Roboto"/>
                <a:cs typeface="Roboto"/>
              </a:defRPr>
            </a:lvl4pPr>
            <a:lvl5pPr algn="l">
              <a:defRPr lang="en-US" sz="3200" b="0">
                <a:solidFill>
                  <a:srgbClr val="202124"/>
                </a:solidFill>
                <a:latin typeface="Roboto"/>
                <a:ea typeface="Roboto"/>
                <a:cs typeface="Roboto"/>
              </a:defRPr>
            </a:lvl5pPr>
            <a:lvl6pPr algn="l">
              <a:defRPr lang="en-US" sz="3200" b="0">
                <a:solidFill>
                  <a:srgbClr val="202124"/>
                </a:solidFill>
                <a:latin typeface="Roboto"/>
                <a:ea typeface="Roboto"/>
                <a:cs typeface="Roboto"/>
              </a:defRPr>
            </a:lvl6pPr>
            <a:lvl7pPr algn="l">
              <a:defRPr lang="en-US" sz="3200" b="0">
                <a:solidFill>
                  <a:srgbClr val="202124"/>
                </a:solidFill>
                <a:latin typeface="Roboto"/>
                <a:ea typeface="Roboto"/>
                <a:cs typeface="Roboto"/>
              </a:defRPr>
            </a:lvl7pPr>
            <a:lvl8pPr algn="l">
              <a:defRPr lang="en-US" sz="3200" b="0">
                <a:solidFill>
                  <a:srgbClr val="202124"/>
                </a:solidFill>
                <a:latin typeface="Roboto"/>
                <a:ea typeface="Roboto"/>
                <a:cs typeface="Roboto"/>
              </a:defRPr>
            </a:lvl8pPr>
            <a:lvl9pPr algn="l">
              <a:defRPr lang="en-US" sz="3200" b="0">
                <a:solidFill>
                  <a:srgbClr val="202124"/>
                </a:solidFill>
                <a:latin typeface="Roboto"/>
                <a:ea typeface="Roboto"/>
                <a:cs typeface="Roboto"/>
              </a:defRPr>
            </a:lvl9pPr>
          </a:lstStyle>
          <a:p>
            <a:pPr algn="l">
              <a:defRPr lang="en-US" sz="3200" b="0">
                <a:solidFill>
                  <a:srgbClr val="202124"/>
                </a:solidFill>
                <a:latin typeface="Roboto"/>
                <a:ea typeface="Roboto"/>
                <a:cs typeface="Roboto"/>
              </a:defRPr>
            </a:pPr>
            <a:r>
              <a:rPr lang="en-US" sz="3200" b="0" dirty="0">
                <a:solidFill>
                  <a:srgbClr val="202124"/>
                </a:solidFill>
                <a:latin typeface="Roboto"/>
                <a:ea typeface="Roboto"/>
                <a:cs typeface="Roboto"/>
              </a:rPr>
              <a:t>References</a:t>
            </a:r>
          </a:p>
        </p:txBody>
      </p:sp>
      <p:sp>
        <p:nvSpPr>
          <p:cNvPr id="4" name="ref-number-16">
            <a:extLst>
              <a:ext uri="{FF2B5EF4-FFF2-40B4-BE49-F238E27FC236}">
                <a16:creationId xmlns:a16="http://schemas.microsoft.com/office/drawing/2014/main" id="{4652C0B3-28E8-167F-6EAD-A324C0ADDD66}"/>
              </a:ext>
            </a:extLst>
          </p:cNvPr>
          <p:cNvSpPr>
            <a:spLocks noGrp="1"/>
          </p:cNvSpPr>
          <p:nvPr/>
        </p:nvSpPr>
        <p:spPr>
          <a:xfrm>
            <a:off x="762000" y="14001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[16]</a:t>
            </a:r>
          </a:p>
        </p:txBody>
      </p:sp>
      <p:sp>
        <p:nvSpPr>
          <p:cNvPr id="8" name="ref-title-16">
            <a:extLst>
              <a:ext uri="{FF2B5EF4-FFF2-40B4-BE49-F238E27FC236}">
                <a16:creationId xmlns:a16="http://schemas.microsoft.com/office/drawing/2014/main" id="{F1855BDD-AAB5-498E-326A-E555710F21C9}"/>
              </a:ext>
            </a:extLst>
          </p:cNvPr>
          <p:cNvSpPr>
            <a:spLocks noGrp="1"/>
          </p:cNvSpPr>
          <p:nvPr/>
        </p:nvSpPr>
        <p:spPr>
          <a:xfrm>
            <a:off x="1409700" y="14001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K. Roth et al. Towards Total Recall in Industrial Anomaly Detection.</a:t>
            </a:r>
          </a:p>
        </p:txBody>
      </p:sp>
      <p:sp>
        <p:nvSpPr>
          <p:cNvPr id="11" name="ref-venue-16">
            <a:extLst>
              <a:ext uri="{FF2B5EF4-FFF2-40B4-BE49-F238E27FC236}">
                <a16:creationId xmlns:a16="http://schemas.microsoft.com/office/drawing/2014/main" id="{FBB04C09-D8CA-8FE4-5A33-403390C15BD1}"/>
              </a:ext>
            </a:extLst>
          </p:cNvPr>
          <p:cNvSpPr>
            <a:spLocks noGrp="1"/>
          </p:cNvSpPr>
          <p:nvPr/>
        </p:nvSpPr>
        <p:spPr>
          <a:xfrm>
            <a:off x="1409700" y="163353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CVPR, 2022, pp. 14318–14328.</a:t>
            </a:r>
          </a:p>
        </p:txBody>
      </p:sp>
      <p:sp>
        <p:nvSpPr>
          <p:cNvPr id="13" name="ref-link-16">
            <a:extLst>
              <a:ext uri="{FF2B5EF4-FFF2-40B4-BE49-F238E27FC236}">
                <a16:creationId xmlns:a16="http://schemas.microsoft.com/office/drawing/2014/main" id="{AF67AF79-CB36-89C6-40E3-2A138CA241C7}"/>
              </a:ext>
            </a:extLst>
          </p:cNvPr>
          <p:cNvSpPr>
            <a:spLocks noGrp="1"/>
          </p:cNvSpPr>
          <p:nvPr/>
        </p:nvSpPr>
        <p:spPr>
          <a:xfrm>
            <a:off x="1409700" y="185261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3"/>
              </a:rPr>
              <a:t>arxiv.org/abs/2106.08265</a:t>
            </a:r>
          </a:p>
        </p:txBody>
      </p:sp>
      <p:sp>
        <p:nvSpPr>
          <p:cNvPr id="16" name="ref-number-17">
            <a:extLst>
              <a:ext uri="{FF2B5EF4-FFF2-40B4-BE49-F238E27FC236}">
                <a16:creationId xmlns:a16="http://schemas.microsoft.com/office/drawing/2014/main" id="{79FC4092-FFF5-4B74-D689-0F80DB42B9F5}"/>
              </a:ext>
            </a:extLst>
          </p:cNvPr>
          <p:cNvSpPr>
            <a:spLocks noGrp="1"/>
          </p:cNvSpPr>
          <p:nvPr/>
        </p:nvSpPr>
        <p:spPr>
          <a:xfrm>
            <a:off x="762000" y="23717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[17]</a:t>
            </a:r>
          </a:p>
        </p:txBody>
      </p:sp>
      <p:sp>
        <p:nvSpPr>
          <p:cNvPr id="19" name="ref-title-17">
            <a:extLst>
              <a:ext uri="{FF2B5EF4-FFF2-40B4-BE49-F238E27FC236}">
                <a16:creationId xmlns:a16="http://schemas.microsoft.com/office/drawing/2014/main" id="{65712436-652E-EA09-E670-172794677CFE}"/>
              </a:ext>
            </a:extLst>
          </p:cNvPr>
          <p:cNvSpPr>
            <a:spLocks noGrp="1"/>
          </p:cNvSpPr>
          <p:nvPr/>
        </p:nvSpPr>
        <p:spPr>
          <a:xfrm>
            <a:off x="1409700" y="23717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dirty="0">
                <a:solidFill>
                  <a:srgbClr val="202124"/>
                </a:solidFill>
                <a:latin typeface="Roboto"/>
                <a:ea typeface="Roboto"/>
                <a:cs typeface="Roboto"/>
              </a:rPr>
              <a:t>K. </a:t>
            </a:r>
            <a:r>
              <a:rPr lang="en-US" sz="1538" b="0" dirty="0" err="1">
                <a:solidFill>
                  <a:srgbClr val="202124"/>
                </a:solidFill>
                <a:latin typeface="Roboto"/>
                <a:ea typeface="Roboto"/>
                <a:cs typeface="Roboto"/>
              </a:rPr>
              <a:t>Batzner</a:t>
            </a:r>
            <a:r>
              <a:rPr lang="en-US" sz="1538" b="0" dirty="0">
                <a:solidFill>
                  <a:srgbClr val="202124"/>
                </a:solidFill>
                <a:latin typeface="Roboto"/>
                <a:ea typeface="Roboto"/>
                <a:cs typeface="Roboto"/>
              </a:rPr>
              <a:t>, L. Heckler and R. König. EfficientAD: Accurate Visual Anomaly Detection at Millisecond-Level Latencies.</a:t>
            </a:r>
          </a:p>
        </p:txBody>
      </p:sp>
      <p:sp>
        <p:nvSpPr>
          <p:cNvPr id="21" name="ref-venue-17">
            <a:extLst>
              <a:ext uri="{FF2B5EF4-FFF2-40B4-BE49-F238E27FC236}">
                <a16:creationId xmlns:a16="http://schemas.microsoft.com/office/drawing/2014/main" id="{8DD79526-C41C-CE30-99CA-9E8C49D11EB5}"/>
              </a:ext>
            </a:extLst>
          </p:cNvPr>
          <p:cNvSpPr>
            <a:spLocks noGrp="1"/>
          </p:cNvSpPr>
          <p:nvPr/>
        </p:nvSpPr>
        <p:spPr>
          <a:xfrm>
            <a:off x="1409700" y="260508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WACV, 2024, pp. 128–138.</a:t>
            </a:r>
          </a:p>
        </p:txBody>
      </p:sp>
      <p:sp>
        <p:nvSpPr>
          <p:cNvPr id="24" name="ref-link-17">
            <a:extLst>
              <a:ext uri="{FF2B5EF4-FFF2-40B4-BE49-F238E27FC236}">
                <a16:creationId xmlns:a16="http://schemas.microsoft.com/office/drawing/2014/main" id="{E8A8DBC0-3B69-EA26-2E18-CD4A9B37C047}"/>
              </a:ext>
            </a:extLst>
          </p:cNvPr>
          <p:cNvSpPr>
            <a:spLocks noGrp="1"/>
          </p:cNvSpPr>
          <p:nvPr/>
        </p:nvSpPr>
        <p:spPr>
          <a:xfrm>
            <a:off x="1409700" y="282416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4"/>
              </a:rPr>
              <a:t>arxiv.org/abs/2303.14535</a:t>
            </a:r>
          </a:p>
        </p:txBody>
      </p:sp>
      <p:sp>
        <p:nvSpPr>
          <p:cNvPr id="27" name="ref-number-18">
            <a:extLst>
              <a:ext uri="{FF2B5EF4-FFF2-40B4-BE49-F238E27FC236}">
                <a16:creationId xmlns:a16="http://schemas.microsoft.com/office/drawing/2014/main" id="{0333A43C-4B6F-6F25-ADF8-518AE10E9E5E}"/>
              </a:ext>
            </a:extLst>
          </p:cNvPr>
          <p:cNvSpPr>
            <a:spLocks noGrp="1"/>
          </p:cNvSpPr>
          <p:nvPr/>
        </p:nvSpPr>
        <p:spPr>
          <a:xfrm>
            <a:off x="762000" y="33432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[18]</a:t>
            </a:r>
          </a:p>
        </p:txBody>
      </p:sp>
      <p:sp>
        <p:nvSpPr>
          <p:cNvPr id="29" name="ref-title-18">
            <a:extLst>
              <a:ext uri="{FF2B5EF4-FFF2-40B4-BE49-F238E27FC236}">
                <a16:creationId xmlns:a16="http://schemas.microsoft.com/office/drawing/2014/main" id="{7EE751B4-7402-D159-AC31-041B5EEDE99A}"/>
              </a:ext>
            </a:extLst>
          </p:cNvPr>
          <p:cNvSpPr>
            <a:spLocks noGrp="1"/>
          </p:cNvSpPr>
          <p:nvPr/>
        </p:nvSpPr>
        <p:spPr>
          <a:xfrm>
            <a:off x="1409700" y="33432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dirty="0">
                <a:solidFill>
                  <a:srgbClr val="202124"/>
                </a:solidFill>
                <a:latin typeface="Roboto"/>
                <a:ea typeface="Roboto"/>
                <a:cs typeface="Roboto"/>
              </a:rPr>
              <a:t>B. </a:t>
            </a:r>
            <a:r>
              <a:rPr lang="en-US" sz="1538" b="0" dirty="0" err="1">
                <a:solidFill>
                  <a:srgbClr val="202124"/>
                </a:solidFill>
                <a:latin typeface="Roboto"/>
                <a:ea typeface="Roboto"/>
                <a:cs typeface="Roboto"/>
              </a:rPr>
              <a:t>Rolih</a:t>
            </a:r>
            <a:r>
              <a:rPr lang="en-US" sz="1538" b="0" dirty="0">
                <a:solidFill>
                  <a:srgbClr val="202124"/>
                </a:solidFill>
                <a:latin typeface="Roboto"/>
                <a:ea typeface="Roboto"/>
                <a:cs typeface="Roboto"/>
              </a:rPr>
              <a:t>, M. </a:t>
            </a:r>
            <a:r>
              <a:rPr lang="en-US" sz="1538" b="0" dirty="0" err="1">
                <a:solidFill>
                  <a:srgbClr val="202124"/>
                </a:solidFill>
                <a:latin typeface="Roboto"/>
                <a:ea typeface="Roboto"/>
                <a:cs typeface="Roboto"/>
              </a:rPr>
              <a:t>Fučka</a:t>
            </a:r>
            <a:r>
              <a:rPr lang="en-US" sz="1538" b="0" dirty="0">
                <a:solidFill>
                  <a:srgbClr val="202124"/>
                </a:solidFill>
                <a:latin typeface="Roboto"/>
                <a:ea typeface="Roboto"/>
                <a:cs typeface="Roboto"/>
              </a:rPr>
              <a:t> and D. </a:t>
            </a:r>
            <a:r>
              <a:rPr lang="en-US" sz="1538" b="0" dirty="0" err="1">
                <a:solidFill>
                  <a:srgbClr val="202124"/>
                </a:solidFill>
                <a:latin typeface="Roboto"/>
                <a:ea typeface="Roboto"/>
                <a:cs typeface="Roboto"/>
              </a:rPr>
              <a:t>Skočaj</a:t>
            </a:r>
            <a:r>
              <a:rPr lang="en-US" sz="1538" b="0" dirty="0">
                <a:solidFill>
                  <a:srgbClr val="202124"/>
                </a:solidFill>
                <a:latin typeface="Roboto"/>
                <a:ea typeface="Roboto"/>
                <a:cs typeface="Roboto"/>
              </a:rPr>
              <a:t>. SuperSimpleNet: Unifying Unsupervised and Supervised Learning for Fast and Reliable Surface Defect Detection.</a:t>
            </a:r>
          </a:p>
        </p:txBody>
      </p:sp>
      <p:sp>
        <p:nvSpPr>
          <p:cNvPr id="32" name="ref-venue-18">
            <a:extLst>
              <a:ext uri="{FF2B5EF4-FFF2-40B4-BE49-F238E27FC236}">
                <a16:creationId xmlns:a16="http://schemas.microsoft.com/office/drawing/2014/main" id="{4DD9BEB6-647B-37F1-8610-120CB9AA5547}"/>
              </a:ext>
            </a:extLst>
          </p:cNvPr>
          <p:cNvSpPr>
            <a:spLocks noGrp="1"/>
          </p:cNvSpPr>
          <p:nvPr/>
        </p:nvSpPr>
        <p:spPr>
          <a:xfrm>
            <a:off x="1409700" y="384810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ICPR 2024, LNCS 15310, Springer, 2025, pp. 47–65.</a:t>
            </a:r>
          </a:p>
        </p:txBody>
      </p:sp>
      <p:sp>
        <p:nvSpPr>
          <p:cNvPr id="35" name="ref-link-18">
            <a:extLst>
              <a:ext uri="{FF2B5EF4-FFF2-40B4-BE49-F238E27FC236}">
                <a16:creationId xmlns:a16="http://schemas.microsoft.com/office/drawing/2014/main" id="{01FC4B5F-1686-0ACC-D335-73FD8943F85E}"/>
              </a:ext>
            </a:extLst>
          </p:cNvPr>
          <p:cNvSpPr>
            <a:spLocks noGrp="1"/>
          </p:cNvSpPr>
          <p:nvPr/>
        </p:nvSpPr>
        <p:spPr>
          <a:xfrm>
            <a:off x="1409700" y="406717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5"/>
              </a:rPr>
              <a:t>doi: 10.1007/978-3-031-78192-6_4</a:t>
            </a:r>
          </a:p>
        </p:txBody>
      </p:sp>
      <p:sp>
        <p:nvSpPr>
          <p:cNvPr id="38" name="ref-number-19">
            <a:extLst>
              <a:ext uri="{FF2B5EF4-FFF2-40B4-BE49-F238E27FC236}">
                <a16:creationId xmlns:a16="http://schemas.microsoft.com/office/drawing/2014/main" id="{761407C1-B46B-0893-39FC-5052BFF36BC1}"/>
              </a:ext>
            </a:extLst>
          </p:cNvPr>
          <p:cNvSpPr>
            <a:spLocks noGrp="1"/>
          </p:cNvSpPr>
          <p:nvPr/>
        </p:nvSpPr>
        <p:spPr>
          <a:xfrm>
            <a:off x="762000" y="431482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[19]</a:t>
            </a:r>
          </a:p>
        </p:txBody>
      </p:sp>
      <p:sp>
        <p:nvSpPr>
          <p:cNvPr id="42" name="ref-title-19">
            <a:extLst>
              <a:ext uri="{FF2B5EF4-FFF2-40B4-BE49-F238E27FC236}">
                <a16:creationId xmlns:a16="http://schemas.microsoft.com/office/drawing/2014/main" id="{8A19A991-154E-29CF-1DE8-CCA322112B50}"/>
              </a:ext>
            </a:extLst>
          </p:cNvPr>
          <p:cNvSpPr>
            <a:spLocks noGrp="1"/>
          </p:cNvSpPr>
          <p:nvPr/>
        </p:nvSpPr>
        <p:spPr>
          <a:xfrm>
            <a:off x="1409700" y="431482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a:solidFill>
                  <a:srgbClr val="202124"/>
                </a:solidFill>
                <a:latin typeface="Roboto"/>
                <a:ea typeface="Roboto"/>
                <a:cs typeface="Roboto"/>
              </a:rPr>
              <a:t>B. Rolih, M. Fučka and D. Skočaj. No Label Left Behind: A Unified Surface Defect Detection Model for All Supervision Regimes.</a:t>
            </a:r>
          </a:p>
        </p:txBody>
      </p:sp>
      <p:sp>
        <p:nvSpPr>
          <p:cNvPr id="46" name="ref-venue-19">
            <a:extLst>
              <a:ext uri="{FF2B5EF4-FFF2-40B4-BE49-F238E27FC236}">
                <a16:creationId xmlns:a16="http://schemas.microsoft.com/office/drawing/2014/main" id="{7D90B736-2565-056D-C80B-0864F3CBA0F5}"/>
              </a:ext>
            </a:extLst>
          </p:cNvPr>
          <p:cNvSpPr>
            <a:spLocks noGrp="1"/>
          </p:cNvSpPr>
          <p:nvPr/>
        </p:nvSpPr>
        <p:spPr>
          <a:xfrm>
            <a:off x="1409700" y="4819650"/>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Journal of Intelligent Manufacturing, vol. 37, 2026, pp. 3189–3209.</a:t>
            </a:r>
          </a:p>
        </p:txBody>
      </p:sp>
      <p:sp>
        <p:nvSpPr>
          <p:cNvPr id="50" name="ref-link-19">
            <a:extLst>
              <a:ext uri="{FF2B5EF4-FFF2-40B4-BE49-F238E27FC236}">
                <a16:creationId xmlns:a16="http://schemas.microsoft.com/office/drawing/2014/main" id="{9A371867-7D84-96C5-7F86-84808D67C29B}"/>
              </a:ext>
            </a:extLst>
          </p:cNvPr>
          <p:cNvSpPr>
            <a:spLocks noGrp="1"/>
          </p:cNvSpPr>
          <p:nvPr/>
        </p:nvSpPr>
        <p:spPr>
          <a:xfrm>
            <a:off x="1409700" y="5038725"/>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a:solidFill>
                  <a:srgbClr val="822433"/>
                </a:solidFill>
                <a:latin typeface="Roboto"/>
                <a:ea typeface="Roboto"/>
                <a:cs typeface="Roboto"/>
                <a:hlinkClick r:id="rId6"/>
              </a:rPr>
              <a:t>doi: 10.1007/s10845-025-02680-8</a:t>
            </a:r>
          </a:p>
        </p:txBody>
      </p:sp>
      <p:sp>
        <p:nvSpPr>
          <p:cNvPr id="54" name="ref-number-20">
            <a:extLst>
              <a:ext uri="{FF2B5EF4-FFF2-40B4-BE49-F238E27FC236}">
                <a16:creationId xmlns:a16="http://schemas.microsoft.com/office/drawing/2014/main" id="{ABBF4884-3BAF-05F3-3E6A-A35FC6E52AE4}"/>
              </a:ext>
            </a:extLst>
          </p:cNvPr>
          <p:cNvSpPr>
            <a:spLocks noGrp="1"/>
          </p:cNvSpPr>
          <p:nvPr/>
        </p:nvSpPr>
        <p:spPr>
          <a:xfrm>
            <a:off x="762000" y="5286375"/>
            <a:ext cx="514350" cy="342900"/>
          </a:xfrm>
          <a:prstGeom prst="rect">
            <a:avLst/>
          </a:prstGeom>
          <a:noFill/>
          <a:ln w="0">
            <a:noFill/>
          </a:ln>
        </p:spPr>
        <p:txBody>
          <a:bodyPr wrap="square" lIns="0" tIns="0" rIns="0" bIns="0" anchor="t">
            <a:noAutofit/>
          </a:bodyPr>
          <a:lstStyle>
            <a:defPPr algn="l">
              <a:defRPr lang="en-US" sz="1650" b="1">
                <a:solidFill>
                  <a:srgbClr val="822433"/>
                </a:solidFill>
                <a:latin typeface="Roboto"/>
                <a:ea typeface="Roboto"/>
                <a:cs typeface="Roboto"/>
              </a:defRPr>
            </a:defPPr>
            <a:lvl1pPr algn="l">
              <a:defRPr lang="en-US" sz="1650" b="1">
                <a:solidFill>
                  <a:srgbClr val="822433"/>
                </a:solidFill>
                <a:latin typeface="Roboto"/>
                <a:ea typeface="Roboto"/>
                <a:cs typeface="Roboto"/>
              </a:defRPr>
            </a:lvl1pPr>
            <a:lvl2pPr algn="l">
              <a:defRPr lang="en-US" sz="1650" b="1">
                <a:solidFill>
                  <a:srgbClr val="822433"/>
                </a:solidFill>
                <a:latin typeface="Roboto"/>
                <a:ea typeface="Roboto"/>
                <a:cs typeface="Roboto"/>
              </a:defRPr>
            </a:lvl2pPr>
            <a:lvl3pPr algn="l">
              <a:defRPr lang="en-US" sz="1650" b="1">
                <a:solidFill>
                  <a:srgbClr val="822433"/>
                </a:solidFill>
                <a:latin typeface="Roboto"/>
                <a:ea typeface="Roboto"/>
                <a:cs typeface="Roboto"/>
              </a:defRPr>
            </a:lvl3pPr>
            <a:lvl4pPr algn="l">
              <a:defRPr lang="en-US" sz="1650" b="1">
                <a:solidFill>
                  <a:srgbClr val="822433"/>
                </a:solidFill>
                <a:latin typeface="Roboto"/>
                <a:ea typeface="Roboto"/>
                <a:cs typeface="Roboto"/>
              </a:defRPr>
            </a:lvl4pPr>
            <a:lvl5pPr algn="l">
              <a:defRPr lang="en-US" sz="1650" b="1">
                <a:solidFill>
                  <a:srgbClr val="822433"/>
                </a:solidFill>
                <a:latin typeface="Roboto"/>
                <a:ea typeface="Roboto"/>
                <a:cs typeface="Roboto"/>
              </a:defRPr>
            </a:lvl5pPr>
            <a:lvl6pPr algn="l">
              <a:defRPr lang="en-US" sz="1650" b="1">
                <a:solidFill>
                  <a:srgbClr val="822433"/>
                </a:solidFill>
                <a:latin typeface="Roboto"/>
                <a:ea typeface="Roboto"/>
                <a:cs typeface="Roboto"/>
              </a:defRPr>
            </a:lvl6pPr>
            <a:lvl7pPr algn="l">
              <a:defRPr lang="en-US" sz="1650" b="1">
                <a:solidFill>
                  <a:srgbClr val="822433"/>
                </a:solidFill>
                <a:latin typeface="Roboto"/>
                <a:ea typeface="Roboto"/>
                <a:cs typeface="Roboto"/>
              </a:defRPr>
            </a:lvl7pPr>
            <a:lvl8pPr algn="l">
              <a:defRPr lang="en-US" sz="1650" b="1">
                <a:solidFill>
                  <a:srgbClr val="822433"/>
                </a:solidFill>
                <a:latin typeface="Roboto"/>
                <a:ea typeface="Roboto"/>
                <a:cs typeface="Roboto"/>
              </a:defRPr>
            </a:lvl8pPr>
            <a:lvl9pPr algn="l">
              <a:defRPr lang="en-US" sz="1650" b="1">
                <a:solidFill>
                  <a:srgbClr val="822433"/>
                </a:solidFill>
                <a:latin typeface="Roboto"/>
                <a:ea typeface="Roboto"/>
                <a:cs typeface="Roboto"/>
              </a:defRPr>
            </a:lvl9pPr>
          </a:lstStyle>
          <a:p>
            <a:pPr algn="l">
              <a:defRPr lang="en-US" sz="1650" b="1">
                <a:solidFill>
                  <a:srgbClr val="822433"/>
                </a:solidFill>
                <a:latin typeface="Roboto"/>
                <a:ea typeface="Roboto"/>
                <a:cs typeface="Roboto"/>
              </a:defRPr>
            </a:pPr>
            <a:r>
              <a:rPr lang="en-US" sz="1650" b="1">
                <a:solidFill>
                  <a:srgbClr val="822433"/>
                </a:solidFill>
                <a:latin typeface="Roboto"/>
                <a:ea typeface="Roboto"/>
                <a:cs typeface="Roboto"/>
              </a:rPr>
              <a:t>[20]</a:t>
            </a:r>
          </a:p>
        </p:txBody>
      </p:sp>
      <p:sp>
        <p:nvSpPr>
          <p:cNvPr id="58" name="ref-title-20">
            <a:extLst>
              <a:ext uri="{FF2B5EF4-FFF2-40B4-BE49-F238E27FC236}">
                <a16:creationId xmlns:a16="http://schemas.microsoft.com/office/drawing/2014/main" id="{132BECD1-4465-50E1-1E38-E47521D25CE1}"/>
              </a:ext>
            </a:extLst>
          </p:cNvPr>
          <p:cNvSpPr>
            <a:spLocks noGrp="1"/>
          </p:cNvSpPr>
          <p:nvPr/>
        </p:nvSpPr>
        <p:spPr>
          <a:xfrm>
            <a:off x="1409700" y="5286375"/>
            <a:ext cx="10001250" cy="495300"/>
          </a:xfrm>
          <a:prstGeom prst="rect">
            <a:avLst/>
          </a:prstGeom>
          <a:noFill/>
          <a:ln w="0">
            <a:noFill/>
          </a:ln>
        </p:spPr>
        <p:txBody>
          <a:bodyPr wrap="square" lIns="0" tIns="0" rIns="0" bIns="0" anchor="t">
            <a:noAutofit/>
          </a:bodyPr>
          <a:lstStyle>
            <a:defPPr algn="l">
              <a:defRPr lang="en-US" sz="1538" b="0">
                <a:solidFill>
                  <a:srgbClr val="202124"/>
                </a:solidFill>
                <a:latin typeface="Roboto"/>
                <a:ea typeface="Roboto"/>
                <a:cs typeface="Roboto"/>
              </a:defRPr>
            </a:defPPr>
            <a:lvl1pPr algn="l">
              <a:defRPr lang="en-US" sz="1538" b="0">
                <a:solidFill>
                  <a:srgbClr val="202124"/>
                </a:solidFill>
                <a:latin typeface="Roboto"/>
                <a:ea typeface="Roboto"/>
                <a:cs typeface="Roboto"/>
              </a:defRPr>
            </a:lvl1pPr>
            <a:lvl2pPr algn="l">
              <a:defRPr lang="en-US" sz="1538" b="0">
                <a:solidFill>
                  <a:srgbClr val="202124"/>
                </a:solidFill>
                <a:latin typeface="Roboto"/>
                <a:ea typeface="Roboto"/>
                <a:cs typeface="Roboto"/>
              </a:defRPr>
            </a:lvl2pPr>
            <a:lvl3pPr algn="l">
              <a:defRPr lang="en-US" sz="1538" b="0">
                <a:solidFill>
                  <a:srgbClr val="202124"/>
                </a:solidFill>
                <a:latin typeface="Roboto"/>
                <a:ea typeface="Roboto"/>
                <a:cs typeface="Roboto"/>
              </a:defRPr>
            </a:lvl3pPr>
            <a:lvl4pPr algn="l">
              <a:defRPr lang="en-US" sz="1538" b="0">
                <a:solidFill>
                  <a:srgbClr val="202124"/>
                </a:solidFill>
                <a:latin typeface="Roboto"/>
                <a:ea typeface="Roboto"/>
                <a:cs typeface="Roboto"/>
              </a:defRPr>
            </a:lvl4pPr>
            <a:lvl5pPr algn="l">
              <a:defRPr lang="en-US" sz="1538" b="0">
                <a:solidFill>
                  <a:srgbClr val="202124"/>
                </a:solidFill>
                <a:latin typeface="Roboto"/>
                <a:ea typeface="Roboto"/>
                <a:cs typeface="Roboto"/>
              </a:defRPr>
            </a:lvl5pPr>
            <a:lvl6pPr algn="l">
              <a:defRPr lang="en-US" sz="1538" b="0">
                <a:solidFill>
                  <a:srgbClr val="202124"/>
                </a:solidFill>
                <a:latin typeface="Roboto"/>
                <a:ea typeface="Roboto"/>
                <a:cs typeface="Roboto"/>
              </a:defRPr>
            </a:lvl6pPr>
            <a:lvl7pPr algn="l">
              <a:defRPr lang="en-US" sz="1538" b="0">
                <a:solidFill>
                  <a:srgbClr val="202124"/>
                </a:solidFill>
                <a:latin typeface="Roboto"/>
                <a:ea typeface="Roboto"/>
                <a:cs typeface="Roboto"/>
              </a:defRPr>
            </a:lvl7pPr>
            <a:lvl8pPr algn="l">
              <a:defRPr lang="en-US" sz="1538" b="0">
                <a:solidFill>
                  <a:srgbClr val="202124"/>
                </a:solidFill>
                <a:latin typeface="Roboto"/>
                <a:ea typeface="Roboto"/>
                <a:cs typeface="Roboto"/>
              </a:defRPr>
            </a:lvl8pPr>
            <a:lvl9pPr algn="l">
              <a:defRPr lang="en-US" sz="1538" b="0">
                <a:solidFill>
                  <a:srgbClr val="202124"/>
                </a:solidFill>
                <a:latin typeface="Roboto"/>
                <a:ea typeface="Roboto"/>
                <a:cs typeface="Roboto"/>
              </a:defRPr>
            </a:lvl9pPr>
          </a:lstStyle>
          <a:p>
            <a:pPr algn="l">
              <a:defRPr lang="en-US" sz="1538" b="0">
                <a:solidFill>
                  <a:srgbClr val="202124"/>
                </a:solidFill>
                <a:latin typeface="Roboto"/>
                <a:ea typeface="Roboto"/>
                <a:cs typeface="Roboto"/>
              </a:defRPr>
            </a:pPr>
            <a:r>
              <a:rPr lang="en-US" sz="1538" b="0" dirty="0">
                <a:solidFill>
                  <a:srgbClr val="202124"/>
                </a:solidFill>
                <a:latin typeface="Roboto"/>
                <a:ea typeface="Roboto"/>
                <a:cs typeface="Roboto"/>
              </a:rPr>
              <a:t>P. Bonazzi et al. TinyGLASS: Real-Time Self-Supervised In-Sensor Anomaly Detection.</a:t>
            </a:r>
          </a:p>
        </p:txBody>
      </p:sp>
      <p:sp>
        <p:nvSpPr>
          <p:cNvPr id="60" name="ref-venue-20">
            <a:extLst>
              <a:ext uri="{FF2B5EF4-FFF2-40B4-BE49-F238E27FC236}">
                <a16:creationId xmlns:a16="http://schemas.microsoft.com/office/drawing/2014/main" id="{DF021030-E9F8-1106-FD32-7CD0CD434FC6}"/>
              </a:ext>
            </a:extLst>
          </p:cNvPr>
          <p:cNvSpPr>
            <a:spLocks noGrp="1"/>
          </p:cNvSpPr>
          <p:nvPr/>
        </p:nvSpPr>
        <p:spPr>
          <a:xfrm>
            <a:off x="1409700" y="5519737"/>
            <a:ext cx="9667875" cy="219075"/>
          </a:xfrm>
          <a:prstGeom prst="rect">
            <a:avLst/>
          </a:prstGeom>
          <a:noFill/>
          <a:ln w="0">
            <a:noFill/>
          </a:ln>
        </p:spPr>
        <p:txBody>
          <a:bodyPr wrap="square" lIns="0" tIns="0" rIns="0" bIns="0" anchor="t">
            <a:noAutofit/>
          </a:bodyPr>
          <a:lstStyle>
            <a:defPPr algn="l">
              <a:defRPr lang="en-US" sz="1313" b="0">
                <a:solidFill>
                  <a:srgbClr val="656B73"/>
                </a:solidFill>
                <a:latin typeface="Roboto"/>
                <a:ea typeface="Roboto"/>
                <a:cs typeface="Roboto"/>
              </a:defRPr>
            </a:defPPr>
            <a:lvl1pPr algn="l">
              <a:defRPr lang="en-US" sz="1313" b="0">
                <a:solidFill>
                  <a:srgbClr val="656B73"/>
                </a:solidFill>
                <a:latin typeface="Roboto"/>
                <a:ea typeface="Roboto"/>
                <a:cs typeface="Roboto"/>
              </a:defRPr>
            </a:lvl1pPr>
            <a:lvl2pPr algn="l">
              <a:defRPr lang="en-US" sz="1313" b="0">
                <a:solidFill>
                  <a:srgbClr val="656B73"/>
                </a:solidFill>
                <a:latin typeface="Roboto"/>
                <a:ea typeface="Roboto"/>
                <a:cs typeface="Roboto"/>
              </a:defRPr>
            </a:lvl2pPr>
            <a:lvl3pPr algn="l">
              <a:defRPr lang="en-US" sz="1313" b="0">
                <a:solidFill>
                  <a:srgbClr val="656B73"/>
                </a:solidFill>
                <a:latin typeface="Roboto"/>
                <a:ea typeface="Roboto"/>
                <a:cs typeface="Roboto"/>
              </a:defRPr>
            </a:lvl3pPr>
            <a:lvl4pPr algn="l">
              <a:defRPr lang="en-US" sz="1313" b="0">
                <a:solidFill>
                  <a:srgbClr val="656B73"/>
                </a:solidFill>
                <a:latin typeface="Roboto"/>
                <a:ea typeface="Roboto"/>
                <a:cs typeface="Roboto"/>
              </a:defRPr>
            </a:lvl4pPr>
            <a:lvl5pPr algn="l">
              <a:defRPr lang="en-US" sz="1313" b="0">
                <a:solidFill>
                  <a:srgbClr val="656B73"/>
                </a:solidFill>
                <a:latin typeface="Roboto"/>
                <a:ea typeface="Roboto"/>
                <a:cs typeface="Roboto"/>
              </a:defRPr>
            </a:lvl5pPr>
            <a:lvl6pPr algn="l">
              <a:defRPr lang="en-US" sz="1313" b="0">
                <a:solidFill>
                  <a:srgbClr val="656B73"/>
                </a:solidFill>
                <a:latin typeface="Roboto"/>
                <a:ea typeface="Roboto"/>
                <a:cs typeface="Roboto"/>
              </a:defRPr>
            </a:lvl6pPr>
            <a:lvl7pPr algn="l">
              <a:defRPr lang="en-US" sz="1313" b="0">
                <a:solidFill>
                  <a:srgbClr val="656B73"/>
                </a:solidFill>
                <a:latin typeface="Roboto"/>
                <a:ea typeface="Roboto"/>
                <a:cs typeface="Roboto"/>
              </a:defRPr>
            </a:lvl7pPr>
            <a:lvl8pPr algn="l">
              <a:defRPr lang="en-US" sz="1313" b="0">
                <a:solidFill>
                  <a:srgbClr val="656B73"/>
                </a:solidFill>
                <a:latin typeface="Roboto"/>
                <a:ea typeface="Roboto"/>
                <a:cs typeface="Roboto"/>
              </a:defRPr>
            </a:lvl8pPr>
            <a:lvl9pPr algn="l">
              <a:defRPr lang="en-US" sz="1313" b="0">
                <a:solidFill>
                  <a:srgbClr val="656B73"/>
                </a:solidFill>
                <a:latin typeface="Roboto"/>
                <a:ea typeface="Roboto"/>
                <a:cs typeface="Roboto"/>
              </a:defRPr>
            </a:lvl9pPr>
          </a:lstStyle>
          <a:p>
            <a:pPr algn="l">
              <a:defRPr lang="en-US" sz="1313" b="0">
                <a:solidFill>
                  <a:srgbClr val="656B73"/>
                </a:solidFill>
                <a:latin typeface="Roboto"/>
                <a:ea typeface="Roboto"/>
                <a:cs typeface="Roboto"/>
              </a:defRPr>
            </a:pPr>
            <a:r>
              <a:rPr lang="en-US" sz="1313" b="0">
                <a:solidFill>
                  <a:srgbClr val="656B73"/>
                </a:solidFill>
                <a:latin typeface="Roboto"/>
                <a:ea typeface="Roboto"/>
                <a:cs typeface="Roboto"/>
              </a:rPr>
              <a:t>arXiv:2603.16451v3, 2026. Accepted at AICAS 2026.</a:t>
            </a:r>
          </a:p>
        </p:txBody>
      </p:sp>
      <p:sp>
        <p:nvSpPr>
          <p:cNvPr id="62" name="ref-link-20">
            <a:extLst>
              <a:ext uri="{FF2B5EF4-FFF2-40B4-BE49-F238E27FC236}">
                <a16:creationId xmlns:a16="http://schemas.microsoft.com/office/drawing/2014/main" id="{6530BCF0-A591-D5ED-9E89-D282E01540C8}"/>
              </a:ext>
            </a:extLst>
          </p:cNvPr>
          <p:cNvSpPr>
            <a:spLocks noGrp="1"/>
          </p:cNvSpPr>
          <p:nvPr/>
        </p:nvSpPr>
        <p:spPr>
          <a:xfrm>
            <a:off x="1409700" y="5738812"/>
            <a:ext cx="9667875" cy="219075"/>
          </a:xfrm>
          <a:prstGeom prst="rect">
            <a:avLst/>
          </a:prstGeom>
          <a:noFill/>
          <a:ln w="0">
            <a:noFill/>
          </a:ln>
        </p:spPr>
        <p:txBody>
          <a:bodyPr wrap="square" lIns="0" tIns="0" rIns="0" bIns="0" anchor="t">
            <a:noAutofit/>
          </a:bodyPr>
          <a:lstStyle>
            <a:defPPr algn="l">
              <a:defRPr lang="en-US" sz="1275" b="0">
                <a:solidFill>
                  <a:srgbClr val="822433"/>
                </a:solidFill>
                <a:latin typeface="Roboto"/>
                <a:ea typeface="Roboto"/>
                <a:cs typeface="Roboto"/>
              </a:defRPr>
            </a:defPPr>
            <a:lvl1pPr algn="l">
              <a:defRPr lang="en-US" sz="1275" b="0">
                <a:solidFill>
                  <a:srgbClr val="822433"/>
                </a:solidFill>
                <a:latin typeface="Roboto"/>
                <a:ea typeface="Roboto"/>
                <a:cs typeface="Roboto"/>
              </a:defRPr>
            </a:lvl1pPr>
            <a:lvl2pPr algn="l">
              <a:defRPr lang="en-US" sz="1275" b="0">
                <a:solidFill>
                  <a:srgbClr val="822433"/>
                </a:solidFill>
                <a:latin typeface="Roboto"/>
                <a:ea typeface="Roboto"/>
                <a:cs typeface="Roboto"/>
              </a:defRPr>
            </a:lvl2pPr>
            <a:lvl3pPr algn="l">
              <a:defRPr lang="en-US" sz="1275" b="0">
                <a:solidFill>
                  <a:srgbClr val="822433"/>
                </a:solidFill>
                <a:latin typeface="Roboto"/>
                <a:ea typeface="Roboto"/>
                <a:cs typeface="Roboto"/>
              </a:defRPr>
            </a:lvl3pPr>
            <a:lvl4pPr algn="l">
              <a:defRPr lang="en-US" sz="1275" b="0">
                <a:solidFill>
                  <a:srgbClr val="822433"/>
                </a:solidFill>
                <a:latin typeface="Roboto"/>
                <a:ea typeface="Roboto"/>
                <a:cs typeface="Roboto"/>
              </a:defRPr>
            </a:lvl4pPr>
            <a:lvl5pPr algn="l">
              <a:defRPr lang="en-US" sz="1275" b="0">
                <a:solidFill>
                  <a:srgbClr val="822433"/>
                </a:solidFill>
                <a:latin typeface="Roboto"/>
                <a:ea typeface="Roboto"/>
                <a:cs typeface="Roboto"/>
              </a:defRPr>
            </a:lvl5pPr>
            <a:lvl6pPr algn="l">
              <a:defRPr lang="en-US" sz="1275" b="0">
                <a:solidFill>
                  <a:srgbClr val="822433"/>
                </a:solidFill>
                <a:latin typeface="Roboto"/>
                <a:ea typeface="Roboto"/>
                <a:cs typeface="Roboto"/>
              </a:defRPr>
            </a:lvl6pPr>
            <a:lvl7pPr algn="l">
              <a:defRPr lang="en-US" sz="1275" b="0">
                <a:solidFill>
                  <a:srgbClr val="822433"/>
                </a:solidFill>
                <a:latin typeface="Roboto"/>
                <a:ea typeface="Roboto"/>
                <a:cs typeface="Roboto"/>
              </a:defRPr>
            </a:lvl7pPr>
            <a:lvl8pPr algn="l">
              <a:defRPr lang="en-US" sz="1275" b="0">
                <a:solidFill>
                  <a:srgbClr val="822433"/>
                </a:solidFill>
                <a:latin typeface="Roboto"/>
                <a:ea typeface="Roboto"/>
                <a:cs typeface="Roboto"/>
              </a:defRPr>
            </a:lvl8pPr>
            <a:lvl9pPr algn="l">
              <a:defRPr lang="en-US" sz="1275" b="0">
                <a:solidFill>
                  <a:srgbClr val="822433"/>
                </a:solidFill>
                <a:latin typeface="Roboto"/>
                <a:ea typeface="Roboto"/>
                <a:cs typeface="Roboto"/>
              </a:defRPr>
            </a:lvl9pPr>
          </a:lstStyle>
          <a:p>
            <a:pPr algn="l">
              <a:defRPr lang="en-US" sz="1275" b="0">
                <a:solidFill>
                  <a:srgbClr val="822433"/>
                </a:solidFill>
                <a:latin typeface="Roboto"/>
                <a:ea typeface="Roboto"/>
                <a:cs typeface="Roboto"/>
              </a:defRPr>
            </a:pPr>
            <a:r>
              <a:rPr lang="en-US" sz="1275" b="0" dirty="0">
                <a:solidFill>
                  <a:srgbClr val="822433"/>
                </a:solidFill>
                <a:latin typeface="Roboto"/>
                <a:ea typeface="Roboto"/>
                <a:cs typeface="Roboto"/>
                <a:hlinkClick r:id="rId7"/>
              </a:rPr>
              <a:t>arxiv.org/abs/2603.16451v3</a:t>
            </a:r>
          </a:p>
        </p:txBody>
      </p:sp>
    </p:spTree>
    <p:extLst>
      <p:ext uri="{BB962C8B-B14F-4D97-AF65-F5344CB8AC3E}">
        <p14:creationId xmlns:p14="http://schemas.microsoft.com/office/powerpoint/2010/main" val="20895755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EFA7B-AE05-0E93-F6DA-08BF15B9696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69F7ED5-325C-0858-A07E-DD81E90EB74E}"/>
              </a:ext>
            </a:extLst>
          </p:cNvPr>
          <p:cNvSpPr>
            <a:spLocks noGrp="1"/>
          </p:cNvSpPr>
          <p:nvPr>
            <p:ph type="title"/>
          </p:nvPr>
        </p:nvSpPr>
        <p:spPr>
          <a:xfrm>
            <a:off x="838200" y="365125"/>
            <a:ext cx="8384177" cy="835787"/>
          </a:xfrm>
        </p:spPr>
        <p:txBody>
          <a:bodyPr/>
          <a:lstStyle/>
          <a:p>
            <a:r>
              <a:rPr lang="en-US" noProof="0" dirty="0">
                <a:solidFill>
                  <a:srgbClr val="822433"/>
                </a:solidFill>
              </a:rPr>
              <a:t>Extra: variations</a:t>
            </a:r>
          </a:p>
        </p:txBody>
      </p:sp>
      <p:sp>
        <p:nvSpPr>
          <p:cNvPr id="4" name="Google Shape;102;p14">
            <a:extLst>
              <a:ext uri="{FF2B5EF4-FFF2-40B4-BE49-F238E27FC236}">
                <a16:creationId xmlns:a16="http://schemas.microsoft.com/office/drawing/2014/main" id="{50753634-C5AA-8F05-2C47-1F18EC91E80F}"/>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37</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146DF103-68A5-4471-67BA-0ABE7A64E136}"/>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12" name="Immagine 11">
            <a:extLst>
              <a:ext uri="{FF2B5EF4-FFF2-40B4-BE49-F238E27FC236}">
                <a16:creationId xmlns:a16="http://schemas.microsoft.com/office/drawing/2014/main" id="{994A5306-9AB1-EB3A-9F4B-62E554A0C662}"/>
              </a:ext>
            </a:extLst>
          </p:cNvPr>
          <p:cNvPicPr>
            <a:picLocks noChangeAspect="1"/>
          </p:cNvPicPr>
          <p:nvPr/>
        </p:nvPicPr>
        <p:blipFill>
          <a:blip r:embed="rId3"/>
          <a:stretch/>
        </p:blipFill>
        <p:spPr>
          <a:xfrm>
            <a:off x="2944375" y="1264260"/>
            <a:ext cx="3151625" cy="2363720"/>
          </a:xfrm>
          <a:prstGeom prst="rect">
            <a:avLst/>
          </a:prstGeom>
        </p:spPr>
      </p:pic>
      <p:sp>
        <p:nvSpPr>
          <p:cNvPr id="14" name="extra-caption-1">
            <a:extLst>
              <a:ext uri="{FF2B5EF4-FFF2-40B4-BE49-F238E27FC236}">
                <a16:creationId xmlns:a16="http://schemas.microsoft.com/office/drawing/2014/main" id="{D2347A2E-B4E2-561A-C329-06B52ABA1C61}"/>
              </a:ext>
            </a:extLst>
          </p:cNvPr>
          <p:cNvSpPr>
            <a:spLocks noGrp="1"/>
          </p:cNvSpPr>
          <p:nvPr/>
        </p:nvSpPr>
        <p:spPr>
          <a:xfrm>
            <a:off x="838200" y="2296160"/>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Lighting: Dusty (75%)</a:t>
            </a:r>
          </a:p>
        </p:txBody>
      </p:sp>
      <p:pic>
        <p:nvPicPr>
          <p:cNvPr id="16" name="Immagine 15">
            <a:extLst>
              <a:ext uri="{FF2B5EF4-FFF2-40B4-BE49-F238E27FC236}">
                <a16:creationId xmlns:a16="http://schemas.microsoft.com/office/drawing/2014/main" id="{57D13467-A6C8-1982-4A35-BB5FF81E8173}"/>
              </a:ext>
            </a:extLst>
          </p:cNvPr>
          <p:cNvPicPr>
            <a:picLocks noChangeAspect="1"/>
          </p:cNvPicPr>
          <p:nvPr/>
        </p:nvPicPr>
        <p:blipFill>
          <a:blip r:embed="rId4"/>
          <a:stretch/>
        </p:blipFill>
        <p:spPr>
          <a:xfrm>
            <a:off x="6488542" y="1259963"/>
            <a:ext cx="3151625" cy="2363720"/>
          </a:xfrm>
          <a:prstGeom prst="rect">
            <a:avLst/>
          </a:prstGeom>
        </p:spPr>
      </p:pic>
      <p:sp>
        <p:nvSpPr>
          <p:cNvPr id="18" name="extra-caption-2">
            <a:extLst>
              <a:ext uri="{FF2B5EF4-FFF2-40B4-BE49-F238E27FC236}">
                <a16:creationId xmlns:a16="http://schemas.microsoft.com/office/drawing/2014/main" id="{D6C813FB-75DB-F059-F3AF-61ABB92A4DEB}"/>
              </a:ext>
            </a:extLst>
          </p:cNvPr>
          <p:cNvSpPr>
            <a:spLocks noGrp="1"/>
          </p:cNvSpPr>
          <p:nvPr/>
        </p:nvSpPr>
        <p:spPr>
          <a:xfrm>
            <a:off x="9247625" y="2296160"/>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Lighting: Clear (25%)</a:t>
            </a:r>
          </a:p>
        </p:txBody>
      </p:sp>
      <p:pic>
        <p:nvPicPr>
          <p:cNvPr id="20" name="Immagine 19">
            <a:extLst>
              <a:ext uri="{FF2B5EF4-FFF2-40B4-BE49-F238E27FC236}">
                <a16:creationId xmlns:a16="http://schemas.microsoft.com/office/drawing/2014/main" id="{94EFBD83-00E7-7053-6115-2C5DA9FC3781}"/>
              </a:ext>
            </a:extLst>
          </p:cNvPr>
          <p:cNvPicPr>
            <a:picLocks noChangeAspect="1"/>
          </p:cNvPicPr>
          <p:nvPr/>
        </p:nvPicPr>
        <p:blipFill>
          <a:blip r:embed="rId3"/>
          <a:stretch/>
        </p:blipFill>
        <p:spPr>
          <a:xfrm>
            <a:off x="1033455" y="3792548"/>
            <a:ext cx="3151625" cy="2363720"/>
          </a:xfrm>
          <a:prstGeom prst="rect">
            <a:avLst/>
          </a:prstGeom>
        </p:spPr>
      </p:pic>
      <p:sp>
        <p:nvSpPr>
          <p:cNvPr id="22" name="extra-caption-3">
            <a:extLst>
              <a:ext uri="{FF2B5EF4-FFF2-40B4-BE49-F238E27FC236}">
                <a16:creationId xmlns:a16="http://schemas.microsoft.com/office/drawing/2014/main" id="{BB7F0C39-7105-95F3-4BA4-0669E65EBF9E}"/>
              </a:ext>
            </a:extLst>
          </p:cNvPr>
          <p:cNvSpPr>
            <a:spLocks noGrp="1"/>
          </p:cNvSpPr>
          <p:nvPr/>
        </p:nvSpPr>
        <p:spPr>
          <a:xfrm>
            <a:off x="1382373" y="6254968"/>
            <a:ext cx="2514600" cy="270048"/>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Wear: None added (20%)</a:t>
            </a:r>
          </a:p>
        </p:txBody>
      </p:sp>
      <p:pic>
        <p:nvPicPr>
          <p:cNvPr id="24" name="Immagine 23">
            <a:extLst>
              <a:ext uri="{FF2B5EF4-FFF2-40B4-BE49-F238E27FC236}">
                <a16:creationId xmlns:a16="http://schemas.microsoft.com/office/drawing/2014/main" id="{DA7290F4-888E-5BD1-B3B6-B12D813480F1}"/>
              </a:ext>
            </a:extLst>
          </p:cNvPr>
          <p:cNvPicPr>
            <a:picLocks noChangeAspect="1"/>
          </p:cNvPicPr>
          <p:nvPr/>
        </p:nvPicPr>
        <p:blipFill>
          <a:blip r:embed="rId5"/>
          <a:stretch/>
        </p:blipFill>
        <p:spPr>
          <a:xfrm>
            <a:off x="4706641" y="3776379"/>
            <a:ext cx="3151625" cy="2363720"/>
          </a:xfrm>
          <a:prstGeom prst="rect">
            <a:avLst/>
          </a:prstGeom>
        </p:spPr>
      </p:pic>
      <p:sp>
        <p:nvSpPr>
          <p:cNvPr id="26" name="extra-caption-4">
            <a:extLst>
              <a:ext uri="{FF2B5EF4-FFF2-40B4-BE49-F238E27FC236}">
                <a16:creationId xmlns:a16="http://schemas.microsoft.com/office/drawing/2014/main" id="{69C2F15E-4859-F7BF-78E4-C4B8AAB7672C}"/>
              </a:ext>
            </a:extLst>
          </p:cNvPr>
          <p:cNvSpPr>
            <a:spLocks noGrp="1"/>
          </p:cNvSpPr>
          <p:nvPr/>
        </p:nvSpPr>
        <p:spPr>
          <a:xfrm>
            <a:off x="8678203" y="6254307"/>
            <a:ext cx="2514600" cy="270048"/>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Wear: Light (45%)</a:t>
            </a:r>
          </a:p>
        </p:txBody>
      </p:sp>
      <p:pic>
        <p:nvPicPr>
          <p:cNvPr id="28" name="Immagine 27">
            <a:extLst>
              <a:ext uri="{FF2B5EF4-FFF2-40B4-BE49-F238E27FC236}">
                <a16:creationId xmlns:a16="http://schemas.microsoft.com/office/drawing/2014/main" id="{3015F56D-57FD-8F33-C81A-950218238CF2}"/>
              </a:ext>
            </a:extLst>
          </p:cNvPr>
          <p:cNvPicPr>
            <a:picLocks noChangeAspect="1"/>
          </p:cNvPicPr>
          <p:nvPr/>
        </p:nvPicPr>
        <p:blipFill>
          <a:blip r:embed="rId6"/>
          <a:stretch/>
        </p:blipFill>
        <p:spPr>
          <a:xfrm>
            <a:off x="8379828" y="3776379"/>
            <a:ext cx="3151625" cy="2363720"/>
          </a:xfrm>
          <a:prstGeom prst="rect">
            <a:avLst/>
          </a:prstGeom>
        </p:spPr>
      </p:pic>
      <p:sp>
        <p:nvSpPr>
          <p:cNvPr id="30" name="extra-caption-5">
            <a:extLst>
              <a:ext uri="{FF2B5EF4-FFF2-40B4-BE49-F238E27FC236}">
                <a16:creationId xmlns:a16="http://schemas.microsoft.com/office/drawing/2014/main" id="{BC758623-D8C4-4BE0-48A6-86904C9CF19F}"/>
              </a:ext>
            </a:extLst>
          </p:cNvPr>
          <p:cNvSpPr>
            <a:spLocks noGrp="1"/>
          </p:cNvSpPr>
          <p:nvPr/>
        </p:nvSpPr>
        <p:spPr>
          <a:xfrm>
            <a:off x="5030288" y="6254307"/>
            <a:ext cx="2514600" cy="270048"/>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Wear: Evident (35%)</a:t>
            </a:r>
          </a:p>
        </p:txBody>
      </p:sp>
    </p:spTree>
    <p:extLst>
      <p:ext uri="{BB962C8B-B14F-4D97-AF65-F5344CB8AC3E}">
        <p14:creationId xmlns:p14="http://schemas.microsoft.com/office/powerpoint/2010/main" val="3705008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0CEF5-92DD-848B-C55B-04F929CD593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A61F077-600E-A55F-AD3D-45E5700B6846}"/>
              </a:ext>
            </a:extLst>
          </p:cNvPr>
          <p:cNvSpPr>
            <a:spLocks noGrp="1"/>
          </p:cNvSpPr>
          <p:nvPr>
            <p:ph type="title"/>
          </p:nvPr>
        </p:nvSpPr>
        <p:spPr>
          <a:xfrm>
            <a:off x="838200" y="365125"/>
            <a:ext cx="8384177" cy="835787"/>
          </a:xfrm>
        </p:spPr>
        <p:txBody>
          <a:bodyPr/>
          <a:lstStyle/>
          <a:p>
            <a:r>
              <a:rPr lang="en-US" noProof="0" dirty="0">
                <a:solidFill>
                  <a:srgbClr val="822433"/>
                </a:solidFill>
              </a:rPr>
              <a:t>Extra: variations</a:t>
            </a:r>
          </a:p>
        </p:txBody>
      </p:sp>
      <p:sp>
        <p:nvSpPr>
          <p:cNvPr id="4" name="Google Shape;102;p14">
            <a:extLst>
              <a:ext uri="{FF2B5EF4-FFF2-40B4-BE49-F238E27FC236}">
                <a16:creationId xmlns:a16="http://schemas.microsoft.com/office/drawing/2014/main" id="{F525E9FE-F12F-0F9C-ED49-19599FADF364}"/>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38</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D2596891-FC2D-C927-6511-997D290A2D0A}"/>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32" name="Immagine 31">
            <a:extLst>
              <a:ext uri="{FF2B5EF4-FFF2-40B4-BE49-F238E27FC236}">
                <a16:creationId xmlns:a16="http://schemas.microsoft.com/office/drawing/2014/main" id="{18955CA9-EF13-4308-9116-555620D9B123}"/>
              </a:ext>
            </a:extLst>
          </p:cNvPr>
          <p:cNvPicPr>
            <a:picLocks noChangeAspect="1"/>
          </p:cNvPicPr>
          <p:nvPr/>
        </p:nvPicPr>
        <p:blipFill>
          <a:blip r:embed="rId3"/>
          <a:stretch/>
        </p:blipFill>
        <p:spPr>
          <a:xfrm>
            <a:off x="734313" y="1458918"/>
            <a:ext cx="2719821" cy="2039867"/>
          </a:xfrm>
          <a:prstGeom prst="rect">
            <a:avLst/>
          </a:prstGeom>
        </p:spPr>
      </p:pic>
      <p:sp>
        <p:nvSpPr>
          <p:cNvPr id="34" name="extra-caption-6">
            <a:extLst>
              <a:ext uri="{FF2B5EF4-FFF2-40B4-BE49-F238E27FC236}">
                <a16:creationId xmlns:a16="http://schemas.microsoft.com/office/drawing/2014/main" id="{88FB0E5A-8D8B-3AE4-5054-07B36256B72E}"/>
              </a:ext>
            </a:extLst>
          </p:cNvPr>
          <p:cNvSpPr>
            <a:spLocks noGrp="1"/>
          </p:cNvSpPr>
          <p:nvPr/>
        </p:nvSpPr>
        <p:spPr>
          <a:xfrm>
            <a:off x="860935" y="3531366"/>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a:solidFill>
                  <a:srgbClr val="202124"/>
                </a:solidFill>
                <a:latin typeface="Roboto"/>
                <a:ea typeface="Roboto"/>
                <a:cs typeface="Roboto"/>
              </a:rPr>
              <a:t>View A: Overhead (40%)</a:t>
            </a:r>
          </a:p>
        </p:txBody>
      </p:sp>
      <p:pic>
        <p:nvPicPr>
          <p:cNvPr id="36" name="Immagine 35">
            <a:extLst>
              <a:ext uri="{FF2B5EF4-FFF2-40B4-BE49-F238E27FC236}">
                <a16:creationId xmlns:a16="http://schemas.microsoft.com/office/drawing/2014/main" id="{06C6D9E1-5C88-C1A6-4798-66AD56BBE2EA}"/>
              </a:ext>
            </a:extLst>
          </p:cNvPr>
          <p:cNvPicPr>
            <a:picLocks noChangeAspect="1"/>
          </p:cNvPicPr>
          <p:nvPr/>
        </p:nvPicPr>
        <p:blipFill>
          <a:blip r:embed="rId4"/>
          <a:stretch/>
        </p:blipFill>
        <p:spPr>
          <a:xfrm>
            <a:off x="3522739" y="1458918"/>
            <a:ext cx="2719821" cy="2039867"/>
          </a:xfrm>
          <a:prstGeom prst="rect">
            <a:avLst/>
          </a:prstGeom>
        </p:spPr>
      </p:pic>
      <p:sp>
        <p:nvSpPr>
          <p:cNvPr id="38" name="extra-caption-7">
            <a:extLst>
              <a:ext uri="{FF2B5EF4-FFF2-40B4-BE49-F238E27FC236}">
                <a16:creationId xmlns:a16="http://schemas.microsoft.com/office/drawing/2014/main" id="{894FB89F-1F73-6B52-09D3-6E2FB4CFAFF5}"/>
              </a:ext>
            </a:extLst>
          </p:cNvPr>
          <p:cNvSpPr>
            <a:spLocks noGrp="1"/>
          </p:cNvSpPr>
          <p:nvPr/>
        </p:nvSpPr>
        <p:spPr>
          <a:xfrm>
            <a:off x="3683563" y="353136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View C1: Leading (27.5%)</a:t>
            </a:r>
          </a:p>
        </p:txBody>
      </p:sp>
      <p:pic>
        <p:nvPicPr>
          <p:cNvPr id="40" name="Immagine 39">
            <a:extLst>
              <a:ext uri="{FF2B5EF4-FFF2-40B4-BE49-F238E27FC236}">
                <a16:creationId xmlns:a16="http://schemas.microsoft.com/office/drawing/2014/main" id="{9FC969FC-21E4-CF79-3946-C7FD2E5F15CA}"/>
              </a:ext>
            </a:extLst>
          </p:cNvPr>
          <p:cNvPicPr>
            <a:picLocks noChangeAspect="1"/>
          </p:cNvPicPr>
          <p:nvPr/>
        </p:nvPicPr>
        <p:blipFill>
          <a:blip r:embed="rId5"/>
          <a:stretch/>
        </p:blipFill>
        <p:spPr>
          <a:xfrm>
            <a:off x="6330214" y="1458918"/>
            <a:ext cx="2719821" cy="2039867"/>
          </a:xfrm>
          <a:prstGeom prst="rect">
            <a:avLst/>
          </a:prstGeom>
        </p:spPr>
      </p:pic>
      <p:sp>
        <p:nvSpPr>
          <p:cNvPr id="42" name="extra-caption-8">
            <a:extLst>
              <a:ext uri="{FF2B5EF4-FFF2-40B4-BE49-F238E27FC236}">
                <a16:creationId xmlns:a16="http://schemas.microsoft.com/office/drawing/2014/main" id="{66702C7C-350C-6B5A-7394-8E5465C7D857}"/>
              </a:ext>
            </a:extLst>
          </p:cNvPr>
          <p:cNvSpPr>
            <a:spLocks noGrp="1"/>
          </p:cNvSpPr>
          <p:nvPr/>
        </p:nvSpPr>
        <p:spPr>
          <a:xfrm>
            <a:off x="6432824" y="3539252"/>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View C2: Trailing (27.5%)</a:t>
            </a:r>
          </a:p>
        </p:txBody>
      </p:sp>
      <p:pic>
        <p:nvPicPr>
          <p:cNvPr id="44" name="Immagine 43">
            <a:extLst>
              <a:ext uri="{FF2B5EF4-FFF2-40B4-BE49-F238E27FC236}">
                <a16:creationId xmlns:a16="http://schemas.microsoft.com/office/drawing/2014/main" id="{3090CBA4-61E4-1361-4845-0AE693510AC0}"/>
              </a:ext>
            </a:extLst>
          </p:cNvPr>
          <p:cNvPicPr>
            <a:picLocks noChangeAspect="1"/>
          </p:cNvPicPr>
          <p:nvPr/>
        </p:nvPicPr>
        <p:blipFill>
          <a:blip r:embed="rId6"/>
          <a:stretch/>
        </p:blipFill>
        <p:spPr>
          <a:xfrm>
            <a:off x="9137689" y="1458917"/>
            <a:ext cx="2719821" cy="2039867"/>
          </a:xfrm>
          <a:prstGeom prst="rect">
            <a:avLst/>
          </a:prstGeom>
        </p:spPr>
      </p:pic>
      <p:sp>
        <p:nvSpPr>
          <p:cNvPr id="46" name="extra-caption-9">
            <a:extLst>
              <a:ext uri="{FF2B5EF4-FFF2-40B4-BE49-F238E27FC236}">
                <a16:creationId xmlns:a16="http://schemas.microsoft.com/office/drawing/2014/main" id="{F06F78EE-BA1D-D5DC-95D0-E2D1ABB1282E}"/>
              </a:ext>
            </a:extLst>
          </p:cNvPr>
          <p:cNvSpPr>
            <a:spLocks noGrp="1"/>
          </p:cNvSpPr>
          <p:nvPr/>
        </p:nvSpPr>
        <p:spPr>
          <a:xfrm>
            <a:off x="9240299" y="3559069"/>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View D: Upper detail (5%)</a:t>
            </a:r>
          </a:p>
        </p:txBody>
      </p:sp>
      <p:pic>
        <p:nvPicPr>
          <p:cNvPr id="48" name="Immagine 47">
            <a:extLst>
              <a:ext uri="{FF2B5EF4-FFF2-40B4-BE49-F238E27FC236}">
                <a16:creationId xmlns:a16="http://schemas.microsoft.com/office/drawing/2014/main" id="{43D31A3E-9BEB-113E-6FD1-6682D56C1DAF}"/>
              </a:ext>
            </a:extLst>
          </p:cNvPr>
          <p:cNvPicPr>
            <a:picLocks noChangeAspect="1"/>
          </p:cNvPicPr>
          <p:nvPr/>
        </p:nvPicPr>
        <p:blipFill>
          <a:blip r:embed="rId7"/>
          <a:stretch/>
        </p:blipFill>
        <p:spPr>
          <a:xfrm>
            <a:off x="1322576" y="3907343"/>
            <a:ext cx="2719821" cy="2039867"/>
          </a:xfrm>
          <a:prstGeom prst="rect">
            <a:avLst/>
          </a:prstGeom>
        </p:spPr>
      </p:pic>
      <p:sp>
        <p:nvSpPr>
          <p:cNvPr id="50" name="extra-caption-10">
            <a:extLst>
              <a:ext uri="{FF2B5EF4-FFF2-40B4-BE49-F238E27FC236}">
                <a16:creationId xmlns:a16="http://schemas.microsoft.com/office/drawing/2014/main" id="{8FE51700-9143-B829-C052-FBE53EF6D888}"/>
              </a:ext>
            </a:extLst>
          </p:cNvPr>
          <p:cNvSpPr>
            <a:spLocks noGrp="1"/>
          </p:cNvSpPr>
          <p:nvPr/>
        </p:nvSpPr>
        <p:spPr>
          <a:xfrm>
            <a:off x="1402994" y="599483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Small hole: 50%</a:t>
            </a:r>
          </a:p>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2.7–4.1 cm</a:t>
            </a:r>
          </a:p>
        </p:txBody>
      </p:sp>
      <p:pic>
        <p:nvPicPr>
          <p:cNvPr id="52" name="Immagine 51">
            <a:extLst>
              <a:ext uri="{FF2B5EF4-FFF2-40B4-BE49-F238E27FC236}">
                <a16:creationId xmlns:a16="http://schemas.microsoft.com/office/drawing/2014/main" id="{72E58E8A-680E-484A-966D-6CDAF7C802C6}"/>
              </a:ext>
            </a:extLst>
          </p:cNvPr>
          <p:cNvPicPr>
            <a:picLocks noChangeAspect="1"/>
          </p:cNvPicPr>
          <p:nvPr/>
        </p:nvPicPr>
        <p:blipFill>
          <a:blip r:embed="rId8"/>
          <a:stretch/>
        </p:blipFill>
        <p:spPr>
          <a:xfrm>
            <a:off x="4980337" y="3907343"/>
            <a:ext cx="2719821" cy="2039867"/>
          </a:xfrm>
          <a:prstGeom prst="rect">
            <a:avLst/>
          </a:prstGeom>
        </p:spPr>
      </p:pic>
      <p:sp>
        <p:nvSpPr>
          <p:cNvPr id="54" name="extra-caption-11">
            <a:extLst>
              <a:ext uri="{FF2B5EF4-FFF2-40B4-BE49-F238E27FC236}">
                <a16:creationId xmlns:a16="http://schemas.microsoft.com/office/drawing/2014/main" id="{461F54F3-E83D-8CCF-0C72-0EF0554BED93}"/>
              </a:ext>
            </a:extLst>
          </p:cNvPr>
          <p:cNvSpPr>
            <a:spLocks noGrp="1"/>
          </p:cNvSpPr>
          <p:nvPr/>
        </p:nvSpPr>
        <p:spPr>
          <a:xfrm>
            <a:off x="5071851" y="599483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Medium hole: 40%</a:t>
            </a:r>
          </a:p>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4.4–6.8 cm</a:t>
            </a:r>
          </a:p>
        </p:txBody>
      </p:sp>
      <p:pic>
        <p:nvPicPr>
          <p:cNvPr id="56" name="Immagine 55">
            <a:extLst>
              <a:ext uri="{FF2B5EF4-FFF2-40B4-BE49-F238E27FC236}">
                <a16:creationId xmlns:a16="http://schemas.microsoft.com/office/drawing/2014/main" id="{37AB3CC2-AF20-7F12-0A1E-5417CA65FE07}"/>
              </a:ext>
            </a:extLst>
          </p:cNvPr>
          <p:cNvPicPr>
            <a:picLocks noChangeAspect="1"/>
          </p:cNvPicPr>
          <p:nvPr/>
        </p:nvPicPr>
        <p:blipFill>
          <a:blip r:embed="rId9"/>
          <a:stretch/>
        </p:blipFill>
        <p:spPr>
          <a:xfrm>
            <a:off x="8638098" y="3922439"/>
            <a:ext cx="2719821" cy="2039867"/>
          </a:xfrm>
          <a:prstGeom prst="rect">
            <a:avLst/>
          </a:prstGeom>
        </p:spPr>
      </p:pic>
      <p:sp>
        <p:nvSpPr>
          <p:cNvPr id="58" name="extra-caption-12">
            <a:extLst>
              <a:ext uri="{FF2B5EF4-FFF2-40B4-BE49-F238E27FC236}">
                <a16:creationId xmlns:a16="http://schemas.microsoft.com/office/drawing/2014/main" id="{1AF8C803-E063-7A7B-E80C-2A31243957AB}"/>
              </a:ext>
            </a:extLst>
          </p:cNvPr>
          <p:cNvSpPr>
            <a:spLocks noGrp="1"/>
          </p:cNvSpPr>
          <p:nvPr/>
        </p:nvSpPr>
        <p:spPr>
          <a:xfrm>
            <a:off x="8740708" y="5994835"/>
            <a:ext cx="2514600" cy="466725"/>
          </a:xfrm>
          <a:prstGeom prst="rect">
            <a:avLst/>
          </a:prstGeom>
          <a:noFill/>
          <a:ln w="0">
            <a:noFill/>
          </a:ln>
        </p:spPr>
        <p:txBody>
          <a:bodyPr wrap="square" lIns="0" tIns="0" rIns="0" bIns="0" anchor="t">
            <a:noAutofit/>
          </a:bodyPr>
          <a:lstStyle>
            <a:defPPr algn="ctr">
              <a:defRPr sz="1538" b="0">
                <a:solidFill>
                  <a:srgbClr val="202124"/>
                </a:solidFill>
                <a:latin typeface="Roboto"/>
                <a:ea typeface="Roboto"/>
                <a:cs typeface="Roboto"/>
              </a:defRPr>
            </a:defPPr>
            <a:lvl1pPr algn="ctr">
              <a:defRPr sz="1538" b="0">
                <a:solidFill>
                  <a:srgbClr val="202124"/>
                </a:solidFill>
                <a:latin typeface="Roboto"/>
                <a:ea typeface="Roboto"/>
                <a:cs typeface="Roboto"/>
              </a:defRPr>
            </a:lvl1pPr>
            <a:lvl2pPr algn="ctr">
              <a:defRPr sz="1538" b="0">
                <a:solidFill>
                  <a:srgbClr val="202124"/>
                </a:solidFill>
                <a:latin typeface="Roboto"/>
                <a:ea typeface="Roboto"/>
                <a:cs typeface="Roboto"/>
              </a:defRPr>
            </a:lvl2pPr>
            <a:lvl3pPr algn="ctr">
              <a:defRPr sz="1538" b="0">
                <a:solidFill>
                  <a:srgbClr val="202124"/>
                </a:solidFill>
                <a:latin typeface="Roboto"/>
                <a:ea typeface="Roboto"/>
                <a:cs typeface="Roboto"/>
              </a:defRPr>
            </a:lvl3pPr>
            <a:lvl4pPr algn="ctr">
              <a:defRPr sz="1538" b="0">
                <a:solidFill>
                  <a:srgbClr val="202124"/>
                </a:solidFill>
                <a:latin typeface="Roboto"/>
                <a:ea typeface="Roboto"/>
                <a:cs typeface="Roboto"/>
              </a:defRPr>
            </a:lvl4pPr>
            <a:lvl5pPr algn="ctr">
              <a:defRPr sz="1538" b="0">
                <a:solidFill>
                  <a:srgbClr val="202124"/>
                </a:solidFill>
                <a:latin typeface="Roboto"/>
                <a:ea typeface="Roboto"/>
                <a:cs typeface="Roboto"/>
              </a:defRPr>
            </a:lvl5pPr>
            <a:lvl6pPr algn="ctr">
              <a:defRPr sz="1538" b="0">
                <a:solidFill>
                  <a:srgbClr val="202124"/>
                </a:solidFill>
                <a:latin typeface="Roboto"/>
                <a:ea typeface="Roboto"/>
                <a:cs typeface="Roboto"/>
              </a:defRPr>
            </a:lvl6pPr>
            <a:lvl7pPr algn="ctr">
              <a:defRPr sz="1538" b="0">
                <a:solidFill>
                  <a:srgbClr val="202124"/>
                </a:solidFill>
                <a:latin typeface="Roboto"/>
                <a:ea typeface="Roboto"/>
                <a:cs typeface="Roboto"/>
              </a:defRPr>
            </a:lvl7pPr>
            <a:lvl8pPr algn="ctr">
              <a:defRPr sz="1538" b="0">
                <a:solidFill>
                  <a:srgbClr val="202124"/>
                </a:solidFill>
                <a:latin typeface="Roboto"/>
                <a:ea typeface="Roboto"/>
                <a:cs typeface="Roboto"/>
              </a:defRPr>
            </a:lvl8pPr>
            <a:lvl9pPr algn="ctr">
              <a:defRPr sz="1538" b="0">
                <a:solidFill>
                  <a:srgbClr val="202124"/>
                </a:solidFill>
                <a:latin typeface="Roboto"/>
                <a:ea typeface="Roboto"/>
                <a:cs typeface="Roboto"/>
              </a:defRPr>
            </a:lvl9pPr>
          </a:lstStyle>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Large hole: 10%</a:t>
            </a:r>
          </a:p>
          <a:p>
            <a:pPr algn="ctr">
              <a:defRPr sz="1538" b="0">
                <a:solidFill>
                  <a:srgbClr val="202124"/>
                </a:solidFill>
                <a:latin typeface="Roboto"/>
                <a:ea typeface="Roboto"/>
                <a:cs typeface="Roboto"/>
              </a:defRPr>
            </a:pPr>
            <a:r>
              <a:rPr sz="1100" b="0" dirty="0">
                <a:solidFill>
                  <a:srgbClr val="202124"/>
                </a:solidFill>
                <a:latin typeface="Roboto"/>
                <a:ea typeface="Roboto"/>
                <a:cs typeface="Roboto"/>
              </a:rPr>
              <a:t>7.3–11.6 cm</a:t>
            </a:r>
          </a:p>
        </p:txBody>
      </p:sp>
    </p:spTree>
    <p:extLst>
      <p:ext uri="{BB962C8B-B14F-4D97-AF65-F5344CB8AC3E}">
        <p14:creationId xmlns:p14="http://schemas.microsoft.com/office/powerpoint/2010/main" val="30551136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28767-0239-DD82-079D-9327F2EE38F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3868458-DB65-8F2D-299C-82C5725BD62E}"/>
              </a:ext>
            </a:extLst>
          </p:cNvPr>
          <p:cNvSpPr>
            <a:spLocks noGrp="1"/>
          </p:cNvSpPr>
          <p:nvPr>
            <p:ph type="title"/>
          </p:nvPr>
        </p:nvSpPr>
        <p:spPr>
          <a:xfrm>
            <a:off x="838200" y="365125"/>
            <a:ext cx="8384177" cy="835787"/>
          </a:xfrm>
        </p:spPr>
        <p:txBody>
          <a:bodyPr/>
          <a:lstStyle/>
          <a:p>
            <a:r>
              <a:rPr lang="en-US" dirty="0">
                <a:solidFill>
                  <a:srgbClr val="822433"/>
                </a:solidFill>
              </a:rPr>
              <a:t>Extra: Loss function ablation</a:t>
            </a:r>
            <a:endParaRPr lang="en-US" noProof="0" dirty="0">
              <a:solidFill>
                <a:srgbClr val="822433"/>
              </a:solidFill>
            </a:endParaRPr>
          </a:p>
        </p:txBody>
      </p:sp>
      <p:sp>
        <p:nvSpPr>
          <p:cNvPr id="4" name="Google Shape;102;p14">
            <a:extLst>
              <a:ext uri="{FF2B5EF4-FFF2-40B4-BE49-F238E27FC236}">
                <a16:creationId xmlns:a16="http://schemas.microsoft.com/office/drawing/2014/main" id="{055A6A55-C5AD-1A50-F4C2-7450CE79D246}"/>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39</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60426956-E2EA-9C7E-FA84-ECDD00CC2095}"/>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6" name="Chart">
            <a:extLst>
              <a:ext uri="{FF2B5EF4-FFF2-40B4-BE49-F238E27FC236}">
                <a16:creationId xmlns:a16="http://schemas.microsoft.com/office/drawing/2014/main" id="{C6A3FFCA-0B3B-C26F-FD48-531654BA2AEE}"/>
              </a:ext>
            </a:extLst>
          </p:cNvPr>
          <p:cNvGraphicFramePr/>
          <p:nvPr>
            <p:extLst>
              <p:ext uri="{D42A27DB-BD31-4B8C-83A1-F6EECF244321}">
                <p14:modId xmlns:p14="http://schemas.microsoft.com/office/powerpoint/2010/main" val="3167910254"/>
              </p:ext>
            </p:extLst>
          </p:nvPr>
        </p:nvGraphicFramePr>
        <p:xfrm>
          <a:off x="2798618" y="1803133"/>
          <a:ext cx="7429500" cy="2905125"/>
        </p:xfrm>
        <a:graphic>
          <a:graphicData uri="http://schemas.openxmlformats.org/drawingml/2006/chart">
            <c:chart xmlns:c="http://schemas.openxmlformats.org/drawingml/2006/chart" xmlns:r="http://schemas.openxmlformats.org/officeDocument/2006/relationships" r:id="rId3"/>
          </a:graphicData>
        </a:graphic>
      </p:graphicFrame>
      <p:sp>
        <p:nvSpPr>
          <p:cNvPr id="14" name="weighting-title">
            <a:extLst>
              <a:ext uri="{FF2B5EF4-FFF2-40B4-BE49-F238E27FC236}">
                <a16:creationId xmlns:a16="http://schemas.microsoft.com/office/drawing/2014/main" id="{542CBF3B-BBA9-9DA7-A88C-6DAF7D4FAA73}"/>
              </a:ext>
            </a:extLst>
          </p:cNvPr>
          <p:cNvSpPr>
            <a:spLocks noGrp="1"/>
          </p:cNvSpPr>
          <p:nvPr/>
        </p:nvSpPr>
        <p:spPr>
          <a:xfrm>
            <a:off x="3740727" y="4931143"/>
            <a:ext cx="5153891" cy="409575"/>
          </a:xfrm>
          <a:prstGeom prst="rect">
            <a:avLst/>
          </a:prstGeom>
          <a:noFill/>
          <a:ln w="0">
            <a:noFill/>
          </a:ln>
        </p:spPr>
        <p:txBody>
          <a:bodyPr wrap="square" lIns="0" tIns="0" rIns="0" bIns="0" anchor="t">
            <a:noAutofit/>
          </a:bodyPr>
          <a:lstStyle>
            <a:defPPr algn="l">
              <a:defRPr lang="en-US" sz="2100" b="0">
                <a:solidFill>
                  <a:srgbClr val="202124"/>
                </a:solidFill>
                <a:latin typeface="Roboto"/>
                <a:ea typeface="Roboto"/>
                <a:cs typeface="Roboto"/>
              </a:defRPr>
            </a:defPPr>
            <a:lvl1pPr algn="l">
              <a:defRPr lang="en-US" sz="2100" b="0">
                <a:solidFill>
                  <a:srgbClr val="202124"/>
                </a:solidFill>
                <a:latin typeface="Roboto"/>
                <a:ea typeface="Roboto"/>
                <a:cs typeface="Roboto"/>
              </a:defRPr>
            </a:lvl1pPr>
            <a:lvl2pPr algn="l">
              <a:defRPr lang="en-US" sz="2100" b="0">
                <a:solidFill>
                  <a:srgbClr val="202124"/>
                </a:solidFill>
                <a:latin typeface="Roboto"/>
                <a:ea typeface="Roboto"/>
                <a:cs typeface="Roboto"/>
              </a:defRPr>
            </a:lvl2pPr>
            <a:lvl3pPr algn="l">
              <a:defRPr lang="en-US" sz="2100" b="0">
                <a:solidFill>
                  <a:srgbClr val="202124"/>
                </a:solidFill>
                <a:latin typeface="Roboto"/>
                <a:ea typeface="Roboto"/>
                <a:cs typeface="Roboto"/>
              </a:defRPr>
            </a:lvl3pPr>
            <a:lvl4pPr algn="l">
              <a:defRPr lang="en-US" sz="2100" b="0">
                <a:solidFill>
                  <a:srgbClr val="202124"/>
                </a:solidFill>
                <a:latin typeface="Roboto"/>
                <a:ea typeface="Roboto"/>
                <a:cs typeface="Roboto"/>
              </a:defRPr>
            </a:lvl4pPr>
            <a:lvl5pPr algn="l">
              <a:defRPr lang="en-US" sz="2100" b="0">
                <a:solidFill>
                  <a:srgbClr val="202124"/>
                </a:solidFill>
                <a:latin typeface="Roboto"/>
                <a:ea typeface="Roboto"/>
                <a:cs typeface="Roboto"/>
              </a:defRPr>
            </a:lvl5pPr>
            <a:lvl6pPr algn="l">
              <a:defRPr lang="en-US" sz="2100" b="0">
                <a:solidFill>
                  <a:srgbClr val="202124"/>
                </a:solidFill>
                <a:latin typeface="Roboto"/>
                <a:ea typeface="Roboto"/>
                <a:cs typeface="Roboto"/>
              </a:defRPr>
            </a:lvl6pPr>
            <a:lvl7pPr algn="l">
              <a:defRPr lang="en-US" sz="2100" b="0">
                <a:solidFill>
                  <a:srgbClr val="202124"/>
                </a:solidFill>
                <a:latin typeface="Roboto"/>
                <a:ea typeface="Roboto"/>
                <a:cs typeface="Roboto"/>
              </a:defRPr>
            </a:lvl7pPr>
            <a:lvl8pPr algn="l">
              <a:defRPr lang="en-US" sz="2100" b="0">
                <a:solidFill>
                  <a:srgbClr val="202124"/>
                </a:solidFill>
                <a:latin typeface="Roboto"/>
                <a:ea typeface="Roboto"/>
                <a:cs typeface="Roboto"/>
              </a:defRPr>
            </a:lvl8pPr>
            <a:lvl9pPr algn="l">
              <a:defRPr lang="en-US" sz="2100" b="0">
                <a:solidFill>
                  <a:srgbClr val="202124"/>
                </a:solidFill>
                <a:latin typeface="Roboto"/>
                <a:ea typeface="Roboto"/>
                <a:cs typeface="Roboto"/>
              </a:defRPr>
            </a:lvl9pPr>
          </a:lstStyle>
          <a:p>
            <a:pPr algn="l">
              <a:defRPr lang="en-US" sz="2100" b="0">
                <a:solidFill>
                  <a:srgbClr val="202124"/>
                </a:solidFill>
                <a:latin typeface="Roboto"/>
                <a:ea typeface="Roboto"/>
                <a:cs typeface="Roboto"/>
              </a:defRPr>
            </a:pPr>
            <a:r>
              <a:rPr lang="en-US" sz="2100" b="0" u="sng" dirty="0">
                <a:solidFill>
                  <a:srgbClr val="202124"/>
                </a:solidFill>
                <a:latin typeface="Roboto"/>
                <a:ea typeface="Roboto"/>
                <a:cs typeface="Roboto"/>
              </a:rPr>
              <a:t>U-Net R34: Dice weighting within CE + GDL</a:t>
            </a:r>
          </a:p>
        </p:txBody>
      </p:sp>
      <p:graphicFrame>
        <p:nvGraphicFramePr>
          <p:cNvPr id="16" name="Tabella 15">
            <a:extLst>
              <a:ext uri="{FF2B5EF4-FFF2-40B4-BE49-F238E27FC236}">
                <a16:creationId xmlns:a16="http://schemas.microsoft.com/office/drawing/2014/main" id="{9AF89638-339F-0DB8-7503-6218661B1C45}"/>
              </a:ext>
            </a:extLst>
          </p:cNvPr>
          <p:cNvGraphicFramePr/>
          <p:nvPr/>
        </p:nvGraphicFramePr>
        <p:xfrm>
          <a:off x="904875" y="5286375"/>
          <a:ext cx="10382250" cy="874395"/>
        </p:xfrm>
        <a:graphic>
          <a:graphicData uri="http://schemas.openxmlformats.org/drawingml/2006/table">
            <a:tbl>
              <a:tblPr/>
              <a:tblGrid>
                <a:gridCol w="3457575">
                  <a:extLst>
                    <a:ext uri="{9D8B030D-6E8A-4147-A177-3AD203B41FA5}">
                      <a16:colId xmlns:a16="http://schemas.microsoft.com/office/drawing/2014/main" val="20000"/>
                    </a:ext>
                  </a:extLst>
                </a:gridCol>
                <a:gridCol w="3467100">
                  <a:extLst>
                    <a:ext uri="{9D8B030D-6E8A-4147-A177-3AD203B41FA5}">
                      <a16:colId xmlns:a16="http://schemas.microsoft.com/office/drawing/2014/main" val="20001"/>
                    </a:ext>
                  </a:extLst>
                </a:gridCol>
                <a:gridCol w="3457575">
                  <a:extLst>
                    <a:ext uri="{9D8B030D-6E8A-4147-A177-3AD203B41FA5}">
                      <a16:colId xmlns:a16="http://schemas.microsoft.com/office/drawing/2014/main" val="20002"/>
                    </a:ext>
                  </a:extLst>
                </a:gridCol>
              </a:tblGrid>
              <a:tr h="390525">
                <a:tc>
                  <a:txBody>
                    <a:bodyPr/>
                    <a:lstStyle/>
                    <a:p>
                      <a:pPr algn="ctr"/>
                      <a:r>
                        <a:rPr lang="en-US" sz="1875">
                          <a:solidFill>
                            <a:srgbClr val="202124"/>
                          </a:solidFill>
                          <a:latin typeface="Roboto"/>
                          <a:ea typeface="Roboto"/>
                          <a:cs typeface="Roboto"/>
                        </a:rPr>
                        <a:t>Inverse square</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875">
                          <a:solidFill>
                            <a:srgbClr val="202124"/>
                          </a:solidFill>
                          <a:latin typeface="Roboto"/>
                          <a:ea typeface="Roboto"/>
                          <a:cs typeface="Roboto"/>
                        </a:rPr>
                        <a:t>Inverse volume</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1875">
                          <a:solidFill>
                            <a:srgbClr val="202124"/>
                          </a:solidFill>
                          <a:latin typeface="Roboto"/>
                          <a:ea typeface="Roboto"/>
                          <a:cs typeface="Roboto"/>
                        </a:rPr>
                        <a:t>Uniform</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0"/>
                  </a:ext>
                </a:extLst>
              </a:tr>
              <a:tr h="390525">
                <a:tc>
                  <a:txBody>
                    <a:bodyPr/>
                    <a:lstStyle/>
                    <a:p>
                      <a:pPr algn="ctr"/>
                      <a:r>
                        <a:rPr lang="en-US" sz="2550" b="1">
                          <a:solidFill>
                            <a:srgbClr val="822433"/>
                          </a:solidFill>
                          <a:latin typeface="Roboto"/>
                          <a:ea typeface="Roboto"/>
                          <a:cs typeface="Roboto"/>
                        </a:rPr>
                        <a:t>64.5</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550">
                          <a:solidFill>
                            <a:srgbClr val="202124"/>
                          </a:solidFill>
                          <a:latin typeface="Roboto"/>
                          <a:ea typeface="Roboto"/>
                          <a:cs typeface="Roboto"/>
                        </a:rPr>
                        <a:t>57.2</a:t>
                      </a:r>
                    </a:p>
                  </a:txBody>
                  <a:tcPr marL="76200" marR="76200" marT="47625" marB="47625" anchor="ctr">
                    <a:lnL w="0">
                      <a:noFill/>
                    </a:lnL>
                    <a:lnR w="0">
                      <a:noFill/>
                    </a:lnR>
                    <a:lnT w="0">
                      <a:noFill/>
                    </a:lnT>
                    <a:lnB w="0">
                      <a:noFill/>
                    </a:lnB>
                    <a:lnTlToBr w="0">
                      <a:noFill/>
                    </a:lnTlToBr>
                    <a:lnBlToTr w="0">
                      <a:noFill/>
                    </a:lnBlToTr>
                    <a:solidFill>
                      <a:srgbClr val="FFFFFF"/>
                    </a:solidFill>
                  </a:tcPr>
                </a:tc>
                <a:tc>
                  <a:txBody>
                    <a:bodyPr/>
                    <a:lstStyle/>
                    <a:p>
                      <a:pPr algn="ctr"/>
                      <a:r>
                        <a:rPr lang="en-US" sz="2550">
                          <a:solidFill>
                            <a:srgbClr val="202124"/>
                          </a:solidFill>
                          <a:latin typeface="Roboto"/>
                          <a:ea typeface="Roboto"/>
                          <a:cs typeface="Roboto"/>
                        </a:rPr>
                        <a:t>62.2</a:t>
                      </a:r>
                    </a:p>
                  </a:txBody>
                  <a:tcPr marL="76200" marR="76200" marT="47625" marB="47625"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572919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2A263-024C-5473-90F1-F6EAEFE353A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4AFB3F7-0C8F-EA3A-4B5C-950064476B76}"/>
              </a:ext>
            </a:extLst>
          </p:cNvPr>
          <p:cNvSpPr>
            <a:spLocks noGrp="1"/>
          </p:cNvSpPr>
          <p:nvPr>
            <p:ph type="title"/>
          </p:nvPr>
        </p:nvSpPr>
        <p:spPr>
          <a:xfrm>
            <a:off x="838200" y="365125"/>
            <a:ext cx="8384177" cy="835787"/>
          </a:xfrm>
        </p:spPr>
        <p:txBody>
          <a:bodyPr/>
          <a:lstStyle/>
          <a:p>
            <a:r>
              <a:rPr lang="en-US" dirty="0">
                <a:solidFill>
                  <a:srgbClr val="822433"/>
                </a:solidFill>
              </a:rPr>
              <a:t>Extra: P</a:t>
            </a:r>
            <a:r>
              <a:rPr lang="en-US" noProof="0" dirty="0">
                <a:solidFill>
                  <a:srgbClr val="822433"/>
                </a:solidFill>
              </a:rPr>
              <a:t>reprocessing</a:t>
            </a:r>
          </a:p>
        </p:txBody>
      </p:sp>
      <p:sp>
        <p:nvSpPr>
          <p:cNvPr id="4" name="Google Shape;102;p14">
            <a:extLst>
              <a:ext uri="{FF2B5EF4-FFF2-40B4-BE49-F238E27FC236}">
                <a16:creationId xmlns:a16="http://schemas.microsoft.com/office/drawing/2014/main" id="{E086F621-31B2-9F0E-AFA3-DABF507F90C5}"/>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40</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48C1BFEE-7512-864B-37AE-7FCE2D1A68E1}"/>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6" name="Chart">
            <a:extLst>
              <a:ext uri="{FF2B5EF4-FFF2-40B4-BE49-F238E27FC236}">
                <a16:creationId xmlns:a16="http://schemas.microsoft.com/office/drawing/2014/main" id="{C953AD1A-D91F-F1FA-8BD7-2E6BB57D0BF1}"/>
              </a:ext>
            </a:extLst>
          </p:cNvPr>
          <p:cNvGraphicFramePr/>
          <p:nvPr/>
        </p:nvGraphicFramePr>
        <p:xfrm>
          <a:off x="762000" y="1657350"/>
          <a:ext cx="8048625" cy="3781425"/>
        </p:xfrm>
        <a:graphic>
          <a:graphicData uri="http://schemas.openxmlformats.org/drawingml/2006/chart">
            <c:chart xmlns:c="http://schemas.openxmlformats.org/drawingml/2006/chart" xmlns:r="http://schemas.openxmlformats.org/officeDocument/2006/relationships" r:id="rId3"/>
          </a:graphicData>
        </a:graphic>
      </p:graphicFrame>
      <p:sp>
        <p:nvSpPr>
          <p:cNvPr id="10" name="ablation-best">
            <a:extLst>
              <a:ext uri="{FF2B5EF4-FFF2-40B4-BE49-F238E27FC236}">
                <a16:creationId xmlns:a16="http://schemas.microsoft.com/office/drawing/2014/main" id="{83A1DE4B-DAC2-9C5D-ACEF-AFE0E7232134}"/>
              </a:ext>
            </a:extLst>
          </p:cNvPr>
          <p:cNvSpPr>
            <a:spLocks noGrp="1"/>
          </p:cNvSpPr>
          <p:nvPr/>
        </p:nvSpPr>
        <p:spPr>
          <a:xfrm>
            <a:off x="8839200" y="2815590"/>
            <a:ext cx="2857500" cy="838200"/>
          </a:xfrm>
          <a:prstGeom prst="rect">
            <a:avLst/>
          </a:prstGeom>
          <a:noFill/>
          <a:ln w="0">
            <a:noFill/>
          </a:ln>
        </p:spPr>
        <p:txBody>
          <a:bodyPr wrap="square" lIns="0" tIns="0" rIns="0" bIns="0" anchor="t">
            <a:noAutofit/>
          </a:bodyPr>
          <a:lstStyle>
            <a:defPPr algn="ctr">
              <a:defRPr lang="en-US" sz="4350" b="1">
                <a:solidFill>
                  <a:srgbClr val="822433"/>
                </a:solidFill>
                <a:latin typeface="Roboto"/>
                <a:ea typeface="Roboto"/>
                <a:cs typeface="Roboto"/>
              </a:defRPr>
            </a:defPPr>
            <a:lvl1pPr algn="ctr">
              <a:defRPr lang="en-US" sz="4350" b="1">
                <a:solidFill>
                  <a:srgbClr val="822433"/>
                </a:solidFill>
                <a:latin typeface="Roboto"/>
                <a:ea typeface="Roboto"/>
                <a:cs typeface="Roboto"/>
              </a:defRPr>
            </a:lvl1pPr>
            <a:lvl2pPr algn="ctr">
              <a:defRPr lang="en-US" sz="4350" b="1">
                <a:solidFill>
                  <a:srgbClr val="822433"/>
                </a:solidFill>
                <a:latin typeface="Roboto"/>
                <a:ea typeface="Roboto"/>
                <a:cs typeface="Roboto"/>
              </a:defRPr>
            </a:lvl2pPr>
            <a:lvl3pPr algn="ctr">
              <a:defRPr lang="en-US" sz="4350" b="1">
                <a:solidFill>
                  <a:srgbClr val="822433"/>
                </a:solidFill>
                <a:latin typeface="Roboto"/>
                <a:ea typeface="Roboto"/>
                <a:cs typeface="Roboto"/>
              </a:defRPr>
            </a:lvl3pPr>
            <a:lvl4pPr algn="ctr">
              <a:defRPr lang="en-US" sz="4350" b="1">
                <a:solidFill>
                  <a:srgbClr val="822433"/>
                </a:solidFill>
                <a:latin typeface="Roboto"/>
                <a:ea typeface="Roboto"/>
                <a:cs typeface="Roboto"/>
              </a:defRPr>
            </a:lvl4pPr>
            <a:lvl5pPr algn="ctr">
              <a:defRPr lang="en-US" sz="4350" b="1">
                <a:solidFill>
                  <a:srgbClr val="822433"/>
                </a:solidFill>
                <a:latin typeface="Roboto"/>
                <a:ea typeface="Roboto"/>
                <a:cs typeface="Roboto"/>
              </a:defRPr>
            </a:lvl5pPr>
            <a:lvl6pPr algn="ctr">
              <a:defRPr lang="en-US" sz="4350" b="1">
                <a:solidFill>
                  <a:srgbClr val="822433"/>
                </a:solidFill>
                <a:latin typeface="Roboto"/>
                <a:ea typeface="Roboto"/>
                <a:cs typeface="Roboto"/>
              </a:defRPr>
            </a:lvl6pPr>
            <a:lvl7pPr algn="ctr">
              <a:defRPr lang="en-US" sz="4350" b="1">
                <a:solidFill>
                  <a:srgbClr val="822433"/>
                </a:solidFill>
                <a:latin typeface="Roboto"/>
                <a:ea typeface="Roboto"/>
                <a:cs typeface="Roboto"/>
              </a:defRPr>
            </a:lvl7pPr>
            <a:lvl8pPr algn="ctr">
              <a:defRPr lang="en-US" sz="4350" b="1">
                <a:solidFill>
                  <a:srgbClr val="822433"/>
                </a:solidFill>
                <a:latin typeface="Roboto"/>
                <a:ea typeface="Roboto"/>
                <a:cs typeface="Roboto"/>
              </a:defRPr>
            </a:lvl8pPr>
            <a:lvl9pPr algn="ctr">
              <a:defRPr lang="en-US" sz="4350" b="1">
                <a:solidFill>
                  <a:srgbClr val="822433"/>
                </a:solidFill>
                <a:latin typeface="Roboto"/>
                <a:ea typeface="Roboto"/>
                <a:cs typeface="Roboto"/>
              </a:defRPr>
            </a:lvl9pPr>
          </a:lstStyle>
          <a:p>
            <a:pPr algn="ctr">
              <a:defRPr lang="en-US" sz="4350" b="1">
                <a:solidFill>
                  <a:srgbClr val="822433"/>
                </a:solidFill>
                <a:latin typeface="Roboto"/>
                <a:ea typeface="Roboto"/>
                <a:cs typeface="Roboto"/>
              </a:defRPr>
            </a:pPr>
            <a:r>
              <a:rPr lang="en-US" sz="4350" b="1" dirty="0">
                <a:solidFill>
                  <a:srgbClr val="822433"/>
                </a:solidFill>
                <a:latin typeface="Roboto"/>
                <a:ea typeface="Roboto"/>
                <a:cs typeface="Roboto"/>
              </a:rPr>
              <a:t>75.55%</a:t>
            </a:r>
          </a:p>
        </p:txBody>
      </p:sp>
      <p:sp>
        <p:nvSpPr>
          <p:cNvPr id="12" name="ablation-best-label">
            <a:extLst>
              <a:ext uri="{FF2B5EF4-FFF2-40B4-BE49-F238E27FC236}">
                <a16:creationId xmlns:a16="http://schemas.microsoft.com/office/drawing/2014/main" id="{B6C6D0D9-3437-ACE2-C9A3-91C4FEBB2622}"/>
              </a:ext>
            </a:extLst>
          </p:cNvPr>
          <p:cNvSpPr>
            <a:spLocks noGrp="1"/>
          </p:cNvSpPr>
          <p:nvPr/>
        </p:nvSpPr>
        <p:spPr>
          <a:xfrm>
            <a:off x="8839200" y="3501390"/>
            <a:ext cx="2857500" cy="447675"/>
          </a:xfrm>
          <a:prstGeom prst="rect">
            <a:avLst/>
          </a:prstGeom>
          <a:noFill/>
          <a:ln w="0">
            <a:noFill/>
          </a:ln>
        </p:spPr>
        <p:txBody>
          <a:bodyPr wrap="square" lIns="0" tIns="0" rIns="0" bIns="0" anchor="t">
            <a:noAutofit/>
          </a:bodyPr>
          <a:lstStyle>
            <a:defPPr algn="ctr">
              <a:defRPr lang="en-US" sz="1950" b="0">
                <a:solidFill>
                  <a:srgbClr val="202124"/>
                </a:solidFill>
                <a:latin typeface="Roboto"/>
                <a:ea typeface="Roboto"/>
                <a:cs typeface="Roboto"/>
              </a:defRPr>
            </a:defPPr>
            <a:lvl1pPr algn="ctr">
              <a:defRPr lang="en-US" sz="1950" b="0">
                <a:solidFill>
                  <a:srgbClr val="202124"/>
                </a:solidFill>
                <a:latin typeface="Roboto"/>
                <a:ea typeface="Roboto"/>
                <a:cs typeface="Roboto"/>
              </a:defRPr>
            </a:lvl1pPr>
            <a:lvl2pPr algn="ctr">
              <a:defRPr lang="en-US" sz="1950" b="0">
                <a:solidFill>
                  <a:srgbClr val="202124"/>
                </a:solidFill>
                <a:latin typeface="Roboto"/>
                <a:ea typeface="Roboto"/>
                <a:cs typeface="Roboto"/>
              </a:defRPr>
            </a:lvl2pPr>
            <a:lvl3pPr algn="ctr">
              <a:defRPr lang="en-US" sz="1950" b="0">
                <a:solidFill>
                  <a:srgbClr val="202124"/>
                </a:solidFill>
                <a:latin typeface="Roboto"/>
                <a:ea typeface="Roboto"/>
                <a:cs typeface="Roboto"/>
              </a:defRPr>
            </a:lvl3pPr>
            <a:lvl4pPr algn="ctr">
              <a:defRPr lang="en-US" sz="1950" b="0">
                <a:solidFill>
                  <a:srgbClr val="202124"/>
                </a:solidFill>
                <a:latin typeface="Roboto"/>
                <a:ea typeface="Roboto"/>
                <a:cs typeface="Roboto"/>
              </a:defRPr>
            </a:lvl4pPr>
            <a:lvl5pPr algn="ctr">
              <a:defRPr lang="en-US" sz="1950" b="0">
                <a:solidFill>
                  <a:srgbClr val="202124"/>
                </a:solidFill>
                <a:latin typeface="Roboto"/>
                <a:ea typeface="Roboto"/>
                <a:cs typeface="Roboto"/>
              </a:defRPr>
            </a:lvl5pPr>
            <a:lvl6pPr algn="ctr">
              <a:defRPr lang="en-US" sz="1950" b="0">
                <a:solidFill>
                  <a:srgbClr val="202124"/>
                </a:solidFill>
                <a:latin typeface="Roboto"/>
                <a:ea typeface="Roboto"/>
                <a:cs typeface="Roboto"/>
              </a:defRPr>
            </a:lvl6pPr>
            <a:lvl7pPr algn="ctr">
              <a:defRPr lang="en-US" sz="1950" b="0">
                <a:solidFill>
                  <a:srgbClr val="202124"/>
                </a:solidFill>
                <a:latin typeface="Roboto"/>
                <a:ea typeface="Roboto"/>
                <a:cs typeface="Roboto"/>
              </a:defRPr>
            </a:lvl7pPr>
            <a:lvl8pPr algn="ctr">
              <a:defRPr lang="en-US" sz="1950" b="0">
                <a:solidFill>
                  <a:srgbClr val="202124"/>
                </a:solidFill>
                <a:latin typeface="Roboto"/>
                <a:ea typeface="Roboto"/>
                <a:cs typeface="Roboto"/>
              </a:defRPr>
            </a:lvl8pPr>
            <a:lvl9pPr algn="ctr">
              <a:defRPr lang="en-US" sz="1950" b="0">
                <a:solidFill>
                  <a:srgbClr val="202124"/>
                </a:solidFill>
                <a:latin typeface="Roboto"/>
                <a:ea typeface="Roboto"/>
                <a:cs typeface="Roboto"/>
              </a:defRPr>
            </a:lvl9pPr>
          </a:lstStyle>
          <a:p>
            <a:pPr algn="ctr">
              <a:defRPr lang="en-US" sz="1950" b="0">
                <a:solidFill>
                  <a:srgbClr val="202124"/>
                </a:solidFill>
                <a:latin typeface="Roboto"/>
                <a:ea typeface="Roboto"/>
                <a:cs typeface="Roboto"/>
              </a:defRPr>
            </a:pPr>
            <a:r>
              <a:rPr lang="en-US" sz="1950" b="0" dirty="0">
                <a:solidFill>
                  <a:srgbClr val="202124"/>
                </a:solidFill>
                <a:latin typeface="Roboto"/>
                <a:ea typeface="Roboto"/>
                <a:cs typeface="Roboto"/>
              </a:rPr>
              <a:t>Default test </a:t>
            </a:r>
            <a:r>
              <a:rPr lang="en-US" sz="1950" b="0" dirty="0" err="1">
                <a:solidFill>
                  <a:srgbClr val="202124"/>
                </a:solidFill>
                <a:latin typeface="Roboto"/>
                <a:ea typeface="Roboto"/>
                <a:cs typeface="Roboto"/>
              </a:rPr>
              <a:t>mIoU</a:t>
            </a:r>
            <a:endParaRPr lang="en-US" sz="1950" b="0" dirty="0">
              <a:solidFill>
                <a:srgbClr val="202124"/>
              </a:solidFill>
              <a:latin typeface="Roboto"/>
              <a:ea typeface="Roboto"/>
              <a:cs typeface="Roboto"/>
            </a:endParaRPr>
          </a:p>
        </p:txBody>
      </p:sp>
      <p:sp>
        <p:nvSpPr>
          <p:cNvPr id="14" name="ablation-model">
            <a:extLst>
              <a:ext uri="{FF2B5EF4-FFF2-40B4-BE49-F238E27FC236}">
                <a16:creationId xmlns:a16="http://schemas.microsoft.com/office/drawing/2014/main" id="{28D9F4D6-2E9A-F2A8-E213-9326D33919D7}"/>
              </a:ext>
            </a:extLst>
          </p:cNvPr>
          <p:cNvSpPr>
            <a:spLocks noGrp="1"/>
          </p:cNvSpPr>
          <p:nvPr/>
        </p:nvSpPr>
        <p:spPr>
          <a:xfrm>
            <a:off x="8839200" y="3867050"/>
            <a:ext cx="2857500" cy="809625"/>
          </a:xfrm>
          <a:prstGeom prst="rect">
            <a:avLst/>
          </a:prstGeom>
          <a:noFill/>
          <a:ln w="0">
            <a:noFill/>
          </a:ln>
        </p:spPr>
        <p:txBody>
          <a:bodyPr wrap="square" lIns="0" tIns="0" rIns="0" bIns="0" anchor="t">
            <a:noAutofit/>
          </a:bodyPr>
          <a:lstStyle>
            <a:defPPr algn="ctr">
              <a:defRPr lang="en-US" sz="1875" b="0">
                <a:solidFill>
                  <a:srgbClr val="656B73"/>
                </a:solidFill>
                <a:latin typeface="Roboto"/>
                <a:ea typeface="Roboto"/>
                <a:cs typeface="Roboto"/>
              </a:defRPr>
            </a:defPPr>
            <a:lvl1pPr algn="ctr">
              <a:defRPr lang="en-US" sz="1875" b="0">
                <a:solidFill>
                  <a:srgbClr val="656B73"/>
                </a:solidFill>
                <a:latin typeface="Roboto"/>
                <a:ea typeface="Roboto"/>
                <a:cs typeface="Roboto"/>
              </a:defRPr>
            </a:lvl1pPr>
            <a:lvl2pPr algn="ctr">
              <a:defRPr lang="en-US" sz="1875" b="0">
                <a:solidFill>
                  <a:srgbClr val="656B73"/>
                </a:solidFill>
                <a:latin typeface="Roboto"/>
                <a:ea typeface="Roboto"/>
                <a:cs typeface="Roboto"/>
              </a:defRPr>
            </a:lvl2pPr>
            <a:lvl3pPr algn="ctr">
              <a:defRPr lang="en-US" sz="1875" b="0">
                <a:solidFill>
                  <a:srgbClr val="656B73"/>
                </a:solidFill>
                <a:latin typeface="Roboto"/>
                <a:ea typeface="Roboto"/>
                <a:cs typeface="Roboto"/>
              </a:defRPr>
            </a:lvl3pPr>
            <a:lvl4pPr algn="ctr">
              <a:defRPr lang="en-US" sz="1875" b="0">
                <a:solidFill>
                  <a:srgbClr val="656B73"/>
                </a:solidFill>
                <a:latin typeface="Roboto"/>
                <a:ea typeface="Roboto"/>
                <a:cs typeface="Roboto"/>
              </a:defRPr>
            </a:lvl4pPr>
            <a:lvl5pPr algn="ctr">
              <a:defRPr lang="en-US" sz="1875" b="0">
                <a:solidFill>
                  <a:srgbClr val="656B73"/>
                </a:solidFill>
                <a:latin typeface="Roboto"/>
                <a:ea typeface="Roboto"/>
                <a:cs typeface="Roboto"/>
              </a:defRPr>
            </a:lvl5pPr>
            <a:lvl6pPr algn="ctr">
              <a:defRPr lang="en-US" sz="1875" b="0">
                <a:solidFill>
                  <a:srgbClr val="656B73"/>
                </a:solidFill>
                <a:latin typeface="Roboto"/>
                <a:ea typeface="Roboto"/>
                <a:cs typeface="Roboto"/>
              </a:defRPr>
            </a:lvl6pPr>
            <a:lvl7pPr algn="ctr">
              <a:defRPr lang="en-US" sz="1875" b="0">
                <a:solidFill>
                  <a:srgbClr val="656B73"/>
                </a:solidFill>
                <a:latin typeface="Roboto"/>
                <a:ea typeface="Roboto"/>
                <a:cs typeface="Roboto"/>
              </a:defRPr>
            </a:lvl7pPr>
            <a:lvl8pPr algn="ctr">
              <a:defRPr lang="en-US" sz="1875" b="0">
                <a:solidFill>
                  <a:srgbClr val="656B73"/>
                </a:solidFill>
                <a:latin typeface="Roboto"/>
                <a:ea typeface="Roboto"/>
                <a:cs typeface="Roboto"/>
              </a:defRPr>
            </a:lvl8pPr>
            <a:lvl9pPr algn="ctr">
              <a:defRPr lang="en-US" sz="1875" b="0">
                <a:solidFill>
                  <a:srgbClr val="656B73"/>
                </a:solidFill>
                <a:latin typeface="Roboto"/>
                <a:ea typeface="Roboto"/>
                <a:cs typeface="Roboto"/>
              </a:defRPr>
            </a:lvl9pPr>
          </a:lstStyle>
          <a:p>
            <a:pPr algn="ctr">
              <a:defRPr lang="en-US" sz="1875" b="0">
                <a:solidFill>
                  <a:srgbClr val="656B73"/>
                </a:solidFill>
                <a:latin typeface="Roboto"/>
                <a:ea typeface="Roboto"/>
                <a:cs typeface="Roboto"/>
              </a:defRPr>
            </a:pPr>
            <a:r>
              <a:rPr lang="en-US" sz="1875" b="0" dirty="0">
                <a:solidFill>
                  <a:srgbClr val="656B73"/>
                </a:solidFill>
                <a:latin typeface="Roboto"/>
                <a:ea typeface="Roboto"/>
                <a:cs typeface="Roboto"/>
              </a:rPr>
              <a:t>SegFormer-B0</a:t>
            </a:r>
          </a:p>
          <a:p>
            <a:pPr algn="ctr">
              <a:defRPr lang="en-US" sz="1875" b="0">
                <a:solidFill>
                  <a:srgbClr val="656B73"/>
                </a:solidFill>
                <a:latin typeface="Roboto"/>
                <a:ea typeface="Roboto"/>
                <a:cs typeface="Roboto"/>
              </a:defRPr>
            </a:pPr>
            <a:r>
              <a:rPr lang="en-US" sz="1875" b="0" dirty="0">
                <a:solidFill>
                  <a:srgbClr val="656B73"/>
                </a:solidFill>
                <a:latin typeface="Roboto"/>
                <a:ea typeface="Roboto"/>
                <a:cs typeface="Roboto"/>
              </a:rPr>
              <a:t>CE + GDL</a:t>
            </a:r>
          </a:p>
        </p:txBody>
      </p:sp>
      <p:sp>
        <p:nvSpPr>
          <p:cNvPr id="16" name="ablation-policy">
            <a:extLst>
              <a:ext uri="{FF2B5EF4-FFF2-40B4-BE49-F238E27FC236}">
                <a16:creationId xmlns:a16="http://schemas.microsoft.com/office/drawing/2014/main" id="{5B027FAD-4B73-C724-7B3F-8E54B71DA9BF}"/>
              </a:ext>
            </a:extLst>
          </p:cNvPr>
          <p:cNvSpPr>
            <a:spLocks noGrp="1"/>
          </p:cNvSpPr>
          <p:nvPr/>
        </p:nvSpPr>
        <p:spPr>
          <a:xfrm>
            <a:off x="701575" y="5471060"/>
            <a:ext cx="10858500" cy="361950"/>
          </a:xfrm>
          <a:prstGeom prst="rect">
            <a:avLst/>
          </a:prstGeom>
          <a:noFill/>
          <a:ln w="0">
            <a:noFill/>
          </a:ln>
        </p:spPr>
        <p:txBody>
          <a:bodyPr wrap="square" lIns="0" tIns="0" rIns="0" bIns="0" anchor="t">
            <a:noAutofit/>
          </a:bodyPr>
          <a:lstStyle>
            <a:defPPr algn="l">
              <a:defRPr lang="en-US" sz="1725" b="0">
                <a:solidFill>
                  <a:srgbClr val="656B73"/>
                </a:solidFill>
                <a:latin typeface="Roboto"/>
                <a:ea typeface="Roboto"/>
                <a:cs typeface="Roboto"/>
              </a:defRPr>
            </a:defPPr>
            <a:lvl1pPr algn="l">
              <a:defRPr lang="en-US" sz="1725" b="0">
                <a:solidFill>
                  <a:srgbClr val="656B73"/>
                </a:solidFill>
                <a:latin typeface="Roboto"/>
                <a:ea typeface="Roboto"/>
                <a:cs typeface="Roboto"/>
              </a:defRPr>
            </a:lvl1pPr>
            <a:lvl2pPr algn="l">
              <a:defRPr lang="en-US" sz="1725" b="0">
                <a:solidFill>
                  <a:srgbClr val="656B73"/>
                </a:solidFill>
                <a:latin typeface="Roboto"/>
                <a:ea typeface="Roboto"/>
                <a:cs typeface="Roboto"/>
              </a:defRPr>
            </a:lvl2pPr>
            <a:lvl3pPr algn="l">
              <a:defRPr lang="en-US" sz="1725" b="0">
                <a:solidFill>
                  <a:srgbClr val="656B73"/>
                </a:solidFill>
                <a:latin typeface="Roboto"/>
                <a:ea typeface="Roboto"/>
                <a:cs typeface="Roboto"/>
              </a:defRPr>
            </a:lvl3pPr>
            <a:lvl4pPr algn="l">
              <a:defRPr lang="en-US" sz="1725" b="0">
                <a:solidFill>
                  <a:srgbClr val="656B73"/>
                </a:solidFill>
                <a:latin typeface="Roboto"/>
                <a:ea typeface="Roboto"/>
                <a:cs typeface="Roboto"/>
              </a:defRPr>
            </a:lvl4pPr>
            <a:lvl5pPr algn="l">
              <a:defRPr lang="en-US" sz="1725" b="0">
                <a:solidFill>
                  <a:srgbClr val="656B73"/>
                </a:solidFill>
                <a:latin typeface="Roboto"/>
                <a:ea typeface="Roboto"/>
                <a:cs typeface="Roboto"/>
              </a:defRPr>
            </a:lvl5pPr>
            <a:lvl6pPr algn="l">
              <a:defRPr lang="en-US" sz="1725" b="0">
                <a:solidFill>
                  <a:srgbClr val="656B73"/>
                </a:solidFill>
                <a:latin typeface="Roboto"/>
                <a:ea typeface="Roboto"/>
                <a:cs typeface="Roboto"/>
              </a:defRPr>
            </a:lvl6pPr>
            <a:lvl7pPr algn="l">
              <a:defRPr lang="en-US" sz="1725" b="0">
                <a:solidFill>
                  <a:srgbClr val="656B73"/>
                </a:solidFill>
                <a:latin typeface="Roboto"/>
                <a:ea typeface="Roboto"/>
                <a:cs typeface="Roboto"/>
              </a:defRPr>
            </a:lvl7pPr>
            <a:lvl8pPr algn="l">
              <a:defRPr lang="en-US" sz="1725" b="0">
                <a:solidFill>
                  <a:srgbClr val="656B73"/>
                </a:solidFill>
                <a:latin typeface="Roboto"/>
                <a:ea typeface="Roboto"/>
                <a:cs typeface="Roboto"/>
              </a:defRPr>
            </a:lvl8pPr>
            <a:lvl9pPr algn="l">
              <a:defRPr lang="en-US" sz="1725" b="0">
                <a:solidFill>
                  <a:srgbClr val="656B73"/>
                </a:solidFill>
                <a:latin typeface="Roboto"/>
                <a:ea typeface="Roboto"/>
                <a:cs typeface="Roboto"/>
              </a:defRPr>
            </a:lvl9pPr>
          </a:lstStyle>
          <a:p>
            <a:pPr algn="l">
              <a:defRPr lang="en-US" sz="1725" b="0">
                <a:solidFill>
                  <a:srgbClr val="656B73"/>
                </a:solidFill>
                <a:latin typeface="Roboto"/>
                <a:ea typeface="Roboto"/>
                <a:cs typeface="Roboto"/>
              </a:defRPr>
            </a:pPr>
            <a:r>
              <a:rPr lang="en-US" sz="1725" b="0" dirty="0">
                <a:solidFill>
                  <a:srgbClr val="656B73"/>
                </a:solidFill>
                <a:latin typeface="Roboto"/>
                <a:ea typeface="Roboto"/>
                <a:cs typeface="Roboto"/>
              </a:rPr>
              <a:t>Flips and 90° rotations, training only. Oversampling based on class frequency in the dataset.</a:t>
            </a:r>
          </a:p>
        </p:txBody>
      </p:sp>
    </p:spTree>
    <p:extLst>
      <p:ext uri="{BB962C8B-B14F-4D97-AF65-F5344CB8AC3E}">
        <p14:creationId xmlns:p14="http://schemas.microsoft.com/office/powerpoint/2010/main" val="2391350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D8585C-6547-3DF2-5F9C-75F0EB87C360}"/>
              </a:ext>
            </a:extLst>
          </p:cNvPr>
          <p:cNvSpPr>
            <a:spLocks noGrp="1"/>
          </p:cNvSpPr>
          <p:nvPr>
            <p:ph type="title"/>
          </p:nvPr>
        </p:nvSpPr>
        <p:spPr>
          <a:xfrm>
            <a:off x="838200" y="365125"/>
            <a:ext cx="8384177" cy="835787"/>
          </a:xfrm>
        </p:spPr>
        <p:txBody>
          <a:bodyPr/>
          <a:lstStyle/>
          <a:p>
            <a:r>
              <a:rPr>
                <a:solidFill>
                  <a:srgbClr val="822433"/>
                </a:solidFill>
              </a:rPr>
              <a:t>Extra: SegFormer IoU per class</a:t>
            </a:r>
          </a:p>
        </p:txBody>
      </p:sp>
      <p:sp>
        <p:nvSpPr>
          <p:cNvPr id="5" name="Google Shape;103;p14">
            <a:extLst>
              <a:ext uri="{FF2B5EF4-FFF2-40B4-BE49-F238E27FC236}">
                <a16:creationId xmlns:a16="http://schemas.microsoft.com/office/drawing/2014/main" id="{9729A674-1148-4E3C-8155-19C360C96032}"/>
              </a:ext>
            </a:extLst>
          </p:cNvPr>
          <p:cNvSpPr>
            <a:spLocks noGrp="1"/>
          </p:cNvSpPr>
          <p:nvPr>
            <p:ph type="ftr" idx="11"/>
          </p:nvPr>
        </p:nvSpPr>
        <p:spPr>
          <a:xfrm>
            <a:off x="59537" y="6489369"/>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a:solidFill>
                  <a:srgbClr val="822433"/>
                </a:solidFill>
                <a:latin typeface="Roboto"/>
                <a:ea typeface="Roboto"/>
                <a:cs typeface="Roboto"/>
              </a:rPr>
              <a:t>               Lightweight Scene Understanding and Synthetic Data-Driven Damage Inspection for Martian Rovers                                                                     27/10/2026</a:t>
            </a:r>
          </a:p>
        </p:txBody>
      </p:sp>
      <p:sp>
        <p:nvSpPr>
          <p:cNvPr id="6" name="test-context">
            <a:extLst>
              <a:ext uri="{FF2B5EF4-FFF2-40B4-BE49-F238E27FC236}">
                <a16:creationId xmlns:a16="http://schemas.microsoft.com/office/drawing/2014/main" id="{5A9B8C7C-09F5-4585-948B-7C9EE4BFCDBE}"/>
              </a:ext>
            </a:extLst>
          </p:cNvPr>
          <p:cNvSpPr>
            <a:spLocks noGrp="1"/>
          </p:cNvSpPr>
          <p:nvPr/>
        </p:nvSpPr>
        <p:spPr>
          <a:xfrm>
            <a:off x="952500" y="5733111"/>
            <a:ext cx="10287000" cy="323850"/>
          </a:xfrm>
          <a:prstGeom prst="rect">
            <a:avLst/>
          </a:prstGeom>
          <a:noFill/>
          <a:ln w="0">
            <a:noFill/>
          </a:ln>
        </p:spPr>
        <p:txBody>
          <a:bodyPr wrap="square" lIns="0" tIns="0" rIns="0" bIns="0" anchor="t">
            <a:noAutofit/>
          </a:bodyPr>
          <a:lstStyle>
            <a:defPPr algn="l">
              <a:defRPr sz="1700" b="0">
                <a:solidFill>
                  <a:srgbClr val="646464"/>
                </a:solidFill>
                <a:latin typeface="Roboto"/>
                <a:ea typeface="Roboto"/>
                <a:cs typeface="Roboto"/>
              </a:defRPr>
            </a:defPPr>
            <a:lvl1pPr algn="l">
              <a:defRPr sz="1700" b="0">
                <a:solidFill>
                  <a:srgbClr val="646464"/>
                </a:solidFill>
                <a:latin typeface="Roboto"/>
                <a:ea typeface="Roboto"/>
                <a:cs typeface="Roboto"/>
              </a:defRPr>
            </a:lvl1pPr>
            <a:lvl2pPr algn="l">
              <a:defRPr sz="1700" b="0">
                <a:solidFill>
                  <a:srgbClr val="646464"/>
                </a:solidFill>
                <a:latin typeface="Roboto"/>
                <a:ea typeface="Roboto"/>
                <a:cs typeface="Roboto"/>
              </a:defRPr>
            </a:lvl2pPr>
            <a:lvl3pPr algn="l">
              <a:defRPr sz="1700" b="0">
                <a:solidFill>
                  <a:srgbClr val="646464"/>
                </a:solidFill>
                <a:latin typeface="Roboto"/>
                <a:ea typeface="Roboto"/>
                <a:cs typeface="Roboto"/>
              </a:defRPr>
            </a:lvl3pPr>
            <a:lvl4pPr algn="l">
              <a:defRPr sz="1700" b="0">
                <a:solidFill>
                  <a:srgbClr val="646464"/>
                </a:solidFill>
                <a:latin typeface="Roboto"/>
                <a:ea typeface="Roboto"/>
                <a:cs typeface="Roboto"/>
              </a:defRPr>
            </a:lvl4pPr>
            <a:lvl5pPr algn="l">
              <a:defRPr sz="1700" b="0">
                <a:solidFill>
                  <a:srgbClr val="646464"/>
                </a:solidFill>
                <a:latin typeface="Roboto"/>
                <a:ea typeface="Roboto"/>
                <a:cs typeface="Roboto"/>
              </a:defRPr>
            </a:lvl5pPr>
            <a:lvl6pPr algn="l">
              <a:defRPr sz="1700" b="0">
                <a:solidFill>
                  <a:srgbClr val="646464"/>
                </a:solidFill>
                <a:latin typeface="Roboto"/>
                <a:ea typeface="Roboto"/>
                <a:cs typeface="Roboto"/>
              </a:defRPr>
            </a:lvl6pPr>
            <a:lvl7pPr algn="l">
              <a:defRPr sz="1700" b="0">
                <a:solidFill>
                  <a:srgbClr val="646464"/>
                </a:solidFill>
                <a:latin typeface="Roboto"/>
                <a:ea typeface="Roboto"/>
                <a:cs typeface="Roboto"/>
              </a:defRPr>
            </a:lvl7pPr>
            <a:lvl8pPr algn="l">
              <a:defRPr sz="1700" b="0">
                <a:solidFill>
                  <a:srgbClr val="646464"/>
                </a:solidFill>
                <a:latin typeface="Roboto"/>
                <a:ea typeface="Roboto"/>
                <a:cs typeface="Roboto"/>
              </a:defRPr>
            </a:lvl8pPr>
            <a:lvl9pPr algn="l">
              <a:defRPr sz="1700" b="0">
                <a:solidFill>
                  <a:srgbClr val="646464"/>
                </a:solidFill>
                <a:latin typeface="Roboto"/>
                <a:ea typeface="Roboto"/>
                <a:cs typeface="Roboto"/>
              </a:defRPr>
            </a:lvl9pPr>
          </a:lstStyle>
          <a:p>
            <a:pPr algn="l">
              <a:defRPr sz="1700" b="0">
                <a:solidFill>
                  <a:srgbClr val="646464"/>
                </a:solidFill>
                <a:latin typeface="Roboto"/>
                <a:ea typeface="Roboto"/>
                <a:cs typeface="Roboto"/>
              </a:defRPr>
            </a:pPr>
            <a:r>
              <a:rPr sz="1400" b="0" dirty="0">
                <a:solidFill>
                  <a:srgbClr val="646464"/>
                </a:solidFill>
                <a:latin typeface="Roboto"/>
                <a:ea typeface="Roboto"/>
                <a:cs typeface="Roboto"/>
              </a:rPr>
              <a:t>S5Mars test</a:t>
            </a:r>
            <a:r>
              <a:rPr lang="it-IT" sz="1400" dirty="0"/>
              <a:t> </a:t>
            </a:r>
            <a:r>
              <a:rPr lang="it-IT" sz="1400" b="0" dirty="0">
                <a:solidFill>
                  <a:srgbClr val="646464"/>
                </a:solidFill>
                <a:latin typeface="Roboto"/>
                <a:ea typeface="Roboto"/>
                <a:cs typeface="Roboto"/>
              </a:rPr>
              <a:t>m</a:t>
            </a:r>
            <a:r>
              <a:rPr sz="1400" b="0" dirty="0" err="1">
                <a:solidFill>
                  <a:srgbClr val="646464"/>
                </a:solidFill>
                <a:latin typeface="Roboto"/>
                <a:ea typeface="Roboto"/>
                <a:cs typeface="Roboto"/>
              </a:rPr>
              <a:t>IoU</a:t>
            </a:r>
            <a:r>
              <a:rPr sz="1400" b="0" dirty="0">
                <a:solidFill>
                  <a:srgbClr val="646464"/>
                </a:solidFill>
                <a:latin typeface="Roboto"/>
                <a:ea typeface="Roboto"/>
                <a:cs typeface="Roboto"/>
              </a:rPr>
              <a:t> (%)</a:t>
            </a:r>
          </a:p>
        </p:txBody>
      </p:sp>
      <p:graphicFrame>
        <p:nvGraphicFramePr>
          <p:cNvPr id="7" name="Tabella 6">
            <a:extLst>
              <a:ext uri="{FF2B5EF4-FFF2-40B4-BE49-F238E27FC236}">
                <a16:creationId xmlns:a16="http://schemas.microsoft.com/office/drawing/2014/main" id="{43798053-638C-40A1-9875-4BFB6FE8F975}"/>
              </a:ext>
            </a:extLst>
          </p:cNvPr>
          <p:cNvGraphicFramePr/>
          <p:nvPr>
            <p:extLst>
              <p:ext uri="{D42A27DB-BD31-4B8C-83A1-F6EECF244321}">
                <p14:modId xmlns:p14="http://schemas.microsoft.com/office/powerpoint/2010/main" val="3034805815"/>
              </p:ext>
            </p:extLst>
          </p:nvPr>
        </p:nvGraphicFramePr>
        <p:xfrm>
          <a:off x="952500" y="1857375"/>
          <a:ext cx="10287000" cy="3783330"/>
        </p:xfrm>
        <a:graphic>
          <a:graphicData uri="http://schemas.openxmlformats.org/drawingml/2006/table">
            <a:tbl>
              <a:tblPr/>
              <a:tblGrid>
                <a:gridCol w="3238500">
                  <a:extLst>
                    <a:ext uri="{9D8B030D-6E8A-4147-A177-3AD203B41FA5}">
                      <a16:colId xmlns:a16="http://schemas.microsoft.com/office/drawing/2014/main" val="20000"/>
                    </a:ext>
                  </a:extLst>
                </a:gridCol>
                <a:gridCol w="1666875">
                  <a:extLst>
                    <a:ext uri="{9D8B030D-6E8A-4147-A177-3AD203B41FA5}">
                      <a16:colId xmlns:a16="http://schemas.microsoft.com/office/drawing/2014/main" val="20001"/>
                    </a:ext>
                  </a:extLst>
                </a:gridCol>
                <a:gridCol w="1666875">
                  <a:extLst>
                    <a:ext uri="{9D8B030D-6E8A-4147-A177-3AD203B41FA5}">
                      <a16:colId xmlns:a16="http://schemas.microsoft.com/office/drawing/2014/main" val="20002"/>
                    </a:ext>
                  </a:extLst>
                </a:gridCol>
                <a:gridCol w="1857375">
                  <a:extLst>
                    <a:ext uri="{9D8B030D-6E8A-4147-A177-3AD203B41FA5}">
                      <a16:colId xmlns:a16="http://schemas.microsoft.com/office/drawing/2014/main" val="20003"/>
                    </a:ext>
                  </a:extLst>
                </a:gridCol>
                <a:gridCol w="1857375">
                  <a:extLst>
                    <a:ext uri="{9D8B030D-6E8A-4147-A177-3AD203B41FA5}">
                      <a16:colId xmlns:a16="http://schemas.microsoft.com/office/drawing/2014/main" val="20004"/>
                    </a:ext>
                  </a:extLst>
                </a:gridCol>
              </a:tblGrid>
              <a:tr h="438150">
                <a:tc>
                  <a:txBody>
                    <a:bodyPr/>
                    <a:lstStyle/>
                    <a:p>
                      <a:pPr algn="l"/>
                      <a:r>
                        <a:rPr sz="1800" b="1" dirty="0">
                          <a:solidFill>
                            <a:schemeClr val="bg1"/>
                          </a:solidFill>
                          <a:latin typeface="Roboto"/>
                          <a:ea typeface="Roboto"/>
                          <a:cs typeface="Roboto"/>
                        </a:rPr>
                        <a:t>Class</a:t>
                      </a:r>
                    </a:p>
                  </a:txBody>
                  <a:tcPr marL="114300" marR="114300" marT="38100" marB="38100" anchor="ctr">
                    <a:lnL w="953">
                      <a:solidFill>
                        <a:srgbClr val="FFFFFF"/>
                      </a:solidFill>
                      <a:prstDash val="solid"/>
                    </a:lnL>
                    <a:lnR w="953">
                      <a:solidFill>
                        <a:srgbClr val="FFFFFF"/>
                      </a:solidFill>
                      <a:prstDash val="solid"/>
                    </a:lnR>
                    <a:lnT w="953">
                      <a:solidFill>
                        <a:srgbClr val="FFFFFF"/>
                      </a:solidFill>
                      <a:prstDash val="solid"/>
                    </a:lnT>
                    <a:lnB w="12700" cap="flat" cmpd="sng" algn="ctr">
                      <a:solidFill>
                        <a:schemeClr val="tx1"/>
                      </a:solidFill>
                      <a:prstDash val="solid"/>
                      <a:round/>
                      <a:headEnd type="none" w="med" len="med"/>
                      <a:tailEnd type="none" w="med" len="med"/>
                    </a:lnB>
                    <a:solidFill>
                      <a:srgbClr val="822433"/>
                    </a:solidFill>
                  </a:tcPr>
                </a:tc>
                <a:tc>
                  <a:txBody>
                    <a:bodyPr/>
                    <a:lstStyle/>
                    <a:p>
                      <a:pPr algn="ctr"/>
                      <a:r>
                        <a:rPr sz="1800" b="1" dirty="0">
                          <a:solidFill>
                            <a:schemeClr val="bg1"/>
                          </a:solidFill>
                          <a:latin typeface="Roboto"/>
                          <a:ea typeface="Roboto"/>
                          <a:cs typeface="Roboto"/>
                        </a:rPr>
                        <a:t>FP32</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12700" cap="flat" cmpd="sng" algn="ctr">
                      <a:solidFill>
                        <a:schemeClr val="tx1"/>
                      </a:solidFill>
                      <a:prstDash val="solid"/>
                      <a:round/>
                      <a:headEnd type="none" w="med" len="med"/>
                      <a:tailEnd type="none" w="med" len="med"/>
                    </a:lnB>
                    <a:solidFill>
                      <a:srgbClr val="822433"/>
                    </a:solidFill>
                  </a:tcPr>
                </a:tc>
                <a:tc>
                  <a:txBody>
                    <a:bodyPr/>
                    <a:lstStyle/>
                    <a:p>
                      <a:pPr algn="ctr"/>
                      <a:r>
                        <a:rPr sz="1800" b="1" dirty="0">
                          <a:solidFill>
                            <a:schemeClr val="bg1"/>
                          </a:solidFill>
                          <a:latin typeface="Roboto"/>
                          <a:ea typeface="Roboto"/>
                          <a:cs typeface="Roboto"/>
                        </a:rPr>
                        <a:t>FP16</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12700" cap="flat" cmpd="sng" algn="ctr">
                      <a:solidFill>
                        <a:schemeClr val="tx1"/>
                      </a:solidFill>
                      <a:prstDash val="solid"/>
                      <a:round/>
                      <a:headEnd type="none" w="med" len="med"/>
                      <a:tailEnd type="none" w="med" len="med"/>
                    </a:lnB>
                    <a:solidFill>
                      <a:srgbClr val="822433"/>
                    </a:solidFill>
                  </a:tcPr>
                </a:tc>
                <a:tc>
                  <a:txBody>
                    <a:bodyPr/>
                    <a:lstStyle/>
                    <a:p>
                      <a:pPr algn="ctr"/>
                      <a:r>
                        <a:rPr sz="1800" b="1" dirty="0">
                          <a:solidFill>
                            <a:schemeClr val="bg1"/>
                          </a:solidFill>
                          <a:latin typeface="Roboto"/>
                          <a:ea typeface="Roboto"/>
                          <a:cs typeface="Roboto"/>
                        </a:rPr>
                        <a:t>INT8 PTQ</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12700" cap="flat" cmpd="sng" algn="ctr">
                      <a:solidFill>
                        <a:schemeClr val="tx1"/>
                      </a:solidFill>
                      <a:prstDash val="solid"/>
                      <a:round/>
                      <a:headEnd type="none" w="med" len="med"/>
                      <a:tailEnd type="none" w="med" len="med"/>
                    </a:lnB>
                    <a:solidFill>
                      <a:srgbClr val="822433"/>
                    </a:solidFill>
                  </a:tcPr>
                </a:tc>
                <a:tc>
                  <a:txBody>
                    <a:bodyPr/>
                    <a:lstStyle/>
                    <a:p>
                      <a:pPr algn="ctr"/>
                      <a:r>
                        <a:rPr sz="1800" b="1" dirty="0">
                          <a:solidFill>
                            <a:schemeClr val="bg1"/>
                          </a:solidFill>
                          <a:latin typeface="Roboto"/>
                          <a:ea typeface="Roboto"/>
                          <a:cs typeface="Roboto"/>
                        </a:rPr>
                        <a:t>INT8 QAT</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12700" cap="flat" cmpd="sng" algn="ctr">
                      <a:solidFill>
                        <a:schemeClr val="tx1"/>
                      </a:solidFill>
                      <a:prstDash val="solid"/>
                      <a:round/>
                      <a:headEnd type="none" w="med" len="med"/>
                      <a:tailEnd type="none" w="med" len="med"/>
                    </a:lnB>
                    <a:solidFill>
                      <a:srgbClr val="822433"/>
                    </a:solidFill>
                  </a:tcPr>
                </a:tc>
                <a:extLst>
                  <a:ext uri="{0D108BD9-81ED-4DB2-BD59-A6C34878D82A}">
                    <a16:rowId xmlns:a16="http://schemas.microsoft.com/office/drawing/2014/main" val="10000"/>
                  </a:ext>
                </a:extLst>
              </a:tr>
              <a:tr h="342900">
                <a:tc>
                  <a:txBody>
                    <a:bodyPr/>
                    <a:lstStyle/>
                    <a:p>
                      <a:pPr algn="l"/>
                      <a:r>
                        <a:rPr sz="1900">
                          <a:solidFill>
                            <a:srgbClr val="252525"/>
                          </a:solidFill>
                          <a:latin typeface="Roboto"/>
                          <a:ea typeface="Roboto"/>
                          <a:cs typeface="Roboto"/>
                        </a:rPr>
                        <a:t>Bedrock</a:t>
                      </a:r>
                    </a:p>
                  </a:txBody>
                  <a:tcPr marL="114300" marR="114300" marT="38100" marB="38100" anchor="ctr">
                    <a:lnL w="953">
                      <a:solidFill>
                        <a:srgbClr val="FFFFFF"/>
                      </a:solidFill>
                      <a:prstDash val="solid"/>
                    </a:lnL>
                    <a:lnR w="953">
                      <a:solidFill>
                        <a:srgbClr val="FFFFFF"/>
                      </a:solidFill>
                      <a:prstDash val="solid"/>
                    </a:lnR>
                    <a:lnT w="12700" cap="flat" cmpd="sng" algn="ctr">
                      <a:solidFill>
                        <a:schemeClr val="tx1"/>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71.85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12700" cap="flat" cmpd="sng" algn="ctr">
                      <a:solidFill>
                        <a:schemeClr val="tx1"/>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71.85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12700" cap="flat" cmpd="sng" algn="ctr">
                      <a:solidFill>
                        <a:schemeClr val="tx1"/>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71.75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12700" cap="flat" cmpd="sng" algn="ctr">
                      <a:solidFill>
                        <a:schemeClr val="tx1"/>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b="1">
                          <a:solidFill>
                            <a:srgbClr val="822433"/>
                          </a:solidFill>
                          <a:latin typeface="Roboto"/>
                          <a:ea typeface="Roboto"/>
                          <a:cs typeface="Roboto"/>
                        </a:rPr>
                        <a:t>72.70</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12700" cap="flat" cmpd="sng" algn="ctr">
                      <a:solidFill>
                        <a:schemeClr val="tx1"/>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1"/>
                  </a:ext>
                </a:extLst>
              </a:tr>
              <a:tr h="342900">
                <a:tc>
                  <a:txBody>
                    <a:bodyPr/>
                    <a:lstStyle/>
                    <a:p>
                      <a:pPr algn="l"/>
                      <a:r>
                        <a:rPr sz="1900">
                          <a:solidFill>
                            <a:srgbClr val="252525"/>
                          </a:solidFill>
                          <a:latin typeface="Roboto"/>
                          <a:ea typeface="Roboto"/>
                          <a:cs typeface="Roboto"/>
                        </a:rPr>
                        <a:t>Hole</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78.11</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78.12</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78.86</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b="1">
                          <a:solidFill>
                            <a:srgbClr val="822433"/>
                          </a:solidFill>
                          <a:latin typeface="Roboto"/>
                          <a:ea typeface="Roboto"/>
                          <a:cs typeface="Roboto"/>
                        </a:rPr>
                        <a:t>79.92</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2"/>
                  </a:ext>
                </a:extLst>
              </a:tr>
              <a:tr h="342900">
                <a:tc>
                  <a:txBody>
                    <a:bodyPr/>
                    <a:lstStyle/>
                    <a:p>
                      <a:pPr algn="l"/>
                      <a:r>
                        <a:rPr sz="1900">
                          <a:solidFill>
                            <a:srgbClr val="252525"/>
                          </a:solidFill>
                          <a:latin typeface="Roboto"/>
                          <a:ea typeface="Roboto"/>
                          <a:cs typeface="Roboto"/>
                        </a:rPr>
                        <a:t>Ridge</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90.20</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90.20</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89.94</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b="1">
                          <a:solidFill>
                            <a:srgbClr val="822433"/>
                          </a:solidFill>
                          <a:latin typeface="Roboto"/>
                          <a:ea typeface="Roboto"/>
                          <a:cs typeface="Roboto"/>
                        </a:rPr>
                        <a:t>90.96</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3"/>
                  </a:ext>
                </a:extLst>
              </a:tr>
              <a:tr h="342900">
                <a:tc>
                  <a:txBody>
                    <a:bodyPr/>
                    <a:lstStyle/>
                    <a:p>
                      <a:pPr algn="l"/>
                      <a:r>
                        <a:rPr sz="1900" dirty="0">
                          <a:solidFill>
                            <a:srgbClr val="252525"/>
                          </a:solidFill>
                          <a:latin typeface="Roboto"/>
                          <a:ea typeface="Roboto"/>
                          <a:cs typeface="Roboto"/>
                        </a:rPr>
                        <a:t>Rock</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21.77</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21.75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21.67</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b="1">
                          <a:solidFill>
                            <a:srgbClr val="822433"/>
                          </a:solidFill>
                          <a:latin typeface="Roboto"/>
                          <a:ea typeface="Roboto"/>
                          <a:cs typeface="Roboto"/>
                        </a:rPr>
                        <a:t>26.15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4"/>
                  </a:ext>
                </a:extLst>
              </a:tr>
              <a:tr h="342900">
                <a:tc>
                  <a:txBody>
                    <a:bodyPr/>
                    <a:lstStyle/>
                    <a:p>
                      <a:pPr algn="l"/>
                      <a:r>
                        <a:rPr sz="1900">
                          <a:solidFill>
                            <a:srgbClr val="252525"/>
                          </a:solidFill>
                          <a:latin typeface="Roboto"/>
                          <a:ea typeface="Roboto"/>
                          <a:cs typeface="Roboto"/>
                        </a:rPr>
                        <a:t>Rover</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83.03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83.03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83.33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b="1">
                          <a:solidFill>
                            <a:srgbClr val="822433"/>
                          </a:solidFill>
                          <a:latin typeface="Roboto"/>
                          <a:ea typeface="Roboto"/>
                          <a:cs typeface="Roboto"/>
                        </a:rPr>
                        <a:t>84.60</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5"/>
                  </a:ext>
                </a:extLst>
              </a:tr>
              <a:tr h="342900">
                <a:tc>
                  <a:txBody>
                    <a:bodyPr/>
                    <a:lstStyle/>
                    <a:p>
                      <a:pPr algn="l"/>
                      <a:r>
                        <a:rPr sz="1900">
                          <a:solidFill>
                            <a:srgbClr val="252525"/>
                          </a:solidFill>
                          <a:latin typeface="Roboto"/>
                          <a:ea typeface="Roboto"/>
                          <a:cs typeface="Roboto"/>
                        </a:rPr>
                        <a:t>Sand / Soil</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89.48</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89.48</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89.43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b="1">
                          <a:solidFill>
                            <a:srgbClr val="822433"/>
                          </a:solidFill>
                          <a:latin typeface="Roboto"/>
                          <a:ea typeface="Roboto"/>
                          <a:cs typeface="Roboto"/>
                        </a:rPr>
                        <a:t>89.78</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6"/>
                  </a:ext>
                </a:extLst>
              </a:tr>
              <a:tr h="342900">
                <a:tc>
                  <a:txBody>
                    <a:bodyPr/>
                    <a:lstStyle/>
                    <a:p>
                      <a:pPr algn="l"/>
                      <a:r>
                        <a:rPr sz="1900">
                          <a:solidFill>
                            <a:srgbClr val="252525"/>
                          </a:solidFill>
                          <a:latin typeface="Roboto"/>
                          <a:ea typeface="Roboto"/>
                          <a:cs typeface="Roboto"/>
                        </a:rPr>
                        <a:t>Sky</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94.02</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94.03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a:solidFill>
                            <a:srgbClr val="252525"/>
                          </a:solidFill>
                          <a:latin typeface="Roboto"/>
                          <a:ea typeface="Roboto"/>
                          <a:cs typeface="Roboto"/>
                        </a:rPr>
                        <a:t>93.85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3F3F3"/>
                    </a:solidFill>
                  </a:tcPr>
                </a:tc>
                <a:tc>
                  <a:txBody>
                    <a:bodyPr/>
                    <a:lstStyle/>
                    <a:p>
                      <a:pPr algn="ctr"/>
                      <a:r>
                        <a:rPr sz="1900" b="1">
                          <a:solidFill>
                            <a:srgbClr val="822433"/>
                          </a:solidFill>
                          <a:latin typeface="Roboto"/>
                          <a:ea typeface="Roboto"/>
                          <a:cs typeface="Roboto"/>
                        </a:rPr>
                        <a:t>95.13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7"/>
                  </a:ext>
                </a:extLst>
              </a:tr>
              <a:tr h="342900">
                <a:tc>
                  <a:txBody>
                    <a:bodyPr/>
                    <a:lstStyle/>
                    <a:p>
                      <a:pPr algn="l"/>
                      <a:r>
                        <a:rPr sz="1900">
                          <a:solidFill>
                            <a:srgbClr val="252525"/>
                          </a:solidFill>
                          <a:latin typeface="Roboto"/>
                          <a:ea typeface="Roboto"/>
                          <a:cs typeface="Roboto"/>
                        </a:rPr>
                        <a:t>Track</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75.96</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75.97</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a:solidFill>
                            <a:srgbClr val="252525"/>
                          </a:solidFill>
                          <a:latin typeface="Roboto"/>
                          <a:ea typeface="Roboto"/>
                          <a:cs typeface="Roboto"/>
                        </a:rPr>
                        <a:t>76.01</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900" b="1">
                          <a:solidFill>
                            <a:srgbClr val="822433"/>
                          </a:solidFill>
                          <a:latin typeface="Roboto"/>
                          <a:ea typeface="Roboto"/>
                          <a:cs typeface="Roboto"/>
                        </a:rPr>
                        <a:t>76.19</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8EFF1"/>
                    </a:solidFill>
                  </a:tcPr>
                </a:tc>
                <a:extLst>
                  <a:ext uri="{0D108BD9-81ED-4DB2-BD59-A6C34878D82A}">
                    <a16:rowId xmlns:a16="http://schemas.microsoft.com/office/drawing/2014/main" val="10008"/>
                  </a:ext>
                </a:extLst>
              </a:tr>
              <a:tr h="419100">
                <a:tc>
                  <a:txBody>
                    <a:bodyPr/>
                    <a:lstStyle/>
                    <a:p>
                      <a:pPr algn="l"/>
                      <a:r>
                        <a:rPr sz="2000" b="1">
                          <a:solidFill>
                            <a:srgbClr val="822433"/>
                          </a:solidFill>
                          <a:latin typeface="Roboto"/>
                          <a:ea typeface="Roboto"/>
                          <a:cs typeface="Roboto"/>
                        </a:rPr>
                        <a:t>mIoU</a:t>
                      </a:r>
                    </a:p>
                  </a:txBody>
                  <a:tcPr marL="114300" marR="1143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EFE5E7"/>
                    </a:solidFill>
                  </a:tcPr>
                </a:tc>
                <a:tc>
                  <a:txBody>
                    <a:bodyPr/>
                    <a:lstStyle/>
                    <a:p>
                      <a:pPr algn="ctr"/>
                      <a:r>
                        <a:rPr sz="2000" b="1" dirty="0">
                          <a:solidFill>
                            <a:srgbClr val="822433"/>
                          </a:solidFill>
                          <a:latin typeface="Roboto"/>
                          <a:ea typeface="Roboto"/>
                          <a:cs typeface="Roboto"/>
                        </a:rPr>
                        <a:t>75.55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EFE5E7"/>
                    </a:solidFill>
                  </a:tcPr>
                </a:tc>
                <a:tc>
                  <a:txBody>
                    <a:bodyPr/>
                    <a:lstStyle/>
                    <a:p>
                      <a:pPr algn="ctr"/>
                      <a:r>
                        <a:rPr sz="2000" b="1">
                          <a:solidFill>
                            <a:srgbClr val="822433"/>
                          </a:solidFill>
                          <a:latin typeface="Roboto"/>
                          <a:ea typeface="Roboto"/>
                          <a:cs typeface="Roboto"/>
                        </a:rPr>
                        <a:t>75.55</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EFE5E7"/>
                    </a:solidFill>
                  </a:tcPr>
                </a:tc>
                <a:tc>
                  <a:txBody>
                    <a:bodyPr/>
                    <a:lstStyle/>
                    <a:p>
                      <a:pPr algn="ctr"/>
                      <a:r>
                        <a:rPr sz="2000" b="1">
                          <a:solidFill>
                            <a:srgbClr val="822433"/>
                          </a:solidFill>
                          <a:latin typeface="Roboto"/>
                          <a:ea typeface="Roboto"/>
                          <a:cs typeface="Roboto"/>
                        </a:rPr>
                        <a:t>75.60</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EFE5E7"/>
                    </a:solidFill>
                  </a:tcPr>
                </a:tc>
                <a:tc>
                  <a:txBody>
                    <a:bodyPr/>
                    <a:lstStyle/>
                    <a:p>
                      <a:pPr algn="ctr"/>
                      <a:r>
                        <a:rPr sz="2000" b="1" dirty="0">
                          <a:solidFill>
                            <a:srgbClr val="822433"/>
                          </a:solidFill>
                          <a:latin typeface="Roboto"/>
                          <a:ea typeface="Roboto"/>
                          <a:cs typeface="Roboto"/>
                        </a:rPr>
                        <a:t>76.93</a:t>
                      </a:r>
                    </a:p>
                  </a:txBody>
                  <a:tcPr marL="114300" marR="1143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EFE5E7"/>
                    </a:solidFill>
                  </a:tcPr>
                </a:tc>
                <a:extLst>
                  <a:ext uri="{0D108BD9-81ED-4DB2-BD59-A6C34878D82A}">
                    <a16:rowId xmlns:a16="http://schemas.microsoft.com/office/drawing/2014/main" val="10009"/>
                  </a:ext>
                </a:extLst>
              </a:tr>
            </a:tbl>
          </a:graphicData>
        </a:graphic>
      </p:graphicFrame>
      <p:sp>
        <p:nvSpPr>
          <p:cNvPr id="10" name="extra-footer">
            <a:extLst>
              <a:ext uri="{FF2B5EF4-FFF2-40B4-BE49-F238E27FC236}">
                <a16:creationId xmlns:a16="http://schemas.microsoft.com/office/drawing/2014/main" id="{8DF6B8C2-EE4D-4F84-8853-D2989DEE6FEB}"/>
              </a:ext>
            </a:extLst>
          </p:cNvPr>
          <p:cNvSpPr>
            <a:spLocks noGrp="1"/>
          </p:cNvSpPr>
          <p:nvPr/>
        </p:nvSpPr>
        <p:spPr>
          <a:xfrm>
            <a:off x="10810875" y="6581775"/>
            <a:ext cx="914400" cy="219075"/>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Extra</a:t>
            </a:r>
          </a:p>
        </p:txBody>
      </p:sp>
    </p:spTree>
    <p:extLst>
      <p:ext uri="{BB962C8B-B14F-4D97-AF65-F5344CB8AC3E}">
        <p14:creationId xmlns:p14="http://schemas.microsoft.com/office/powerpoint/2010/main" val="28596615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713CB4-D484-5AC4-B62D-7D85E1523F04}"/>
              </a:ext>
            </a:extLst>
          </p:cNvPr>
          <p:cNvSpPr>
            <a:spLocks noGrp="1"/>
          </p:cNvSpPr>
          <p:nvPr>
            <p:ph type="title"/>
          </p:nvPr>
        </p:nvSpPr>
        <p:spPr>
          <a:xfrm>
            <a:off x="838200" y="365125"/>
            <a:ext cx="8384177" cy="835787"/>
          </a:xfrm>
        </p:spPr>
        <p:txBody>
          <a:bodyPr/>
          <a:lstStyle/>
          <a:p>
            <a:r>
              <a:rPr>
                <a:solidFill>
                  <a:srgbClr val="822433"/>
                </a:solidFill>
              </a:rPr>
              <a:t>Extra: Mars-Bench</a:t>
            </a:r>
          </a:p>
        </p:txBody>
      </p:sp>
      <p:sp>
        <p:nvSpPr>
          <p:cNvPr id="5" name="Google Shape;103;p14">
            <a:extLst>
              <a:ext uri="{FF2B5EF4-FFF2-40B4-BE49-F238E27FC236}">
                <a16:creationId xmlns:a16="http://schemas.microsoft.com/office/drawing/2014/main" id="{504A17F8-E2ED-6EF8-07F5-9ABB93526B54}"/>
              </a:ext>
            </a:extLst>
          </p:cNvPr>
          <p:cNvSpPr>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a:solidFill>
                  <a:srgbClr val="822433"/>
                </a:solidFill>
                <a:latin typeface="Roboto"/>
                <a:ea typeface="Roboto"/>
                <a:cs typeface="Roboto"/>
              </a:rPr>
              <a:t>               Lightweight Scene Understanding and Synthetic Data-Driven Damage Inspection for Martian Rovers                                                                     27/10/2026</a:t>
            </a:r>
          </a:p>
        </p:txBody>
      </p:sp>
      <p:graphicFrame>
        <p:nvGraphicFramePr>
          <p:cNvPr id="7" name="Tabella 6">
            <a:extLst>
              <a:ext uri="{FF2B5EF4-FFF2-40B4-BE49-F238E27FC236}">
                <a16:creationId xmlns:a16="http://schemas.microsoft.com/office/drawing/2014/main" id="{07A263A2-2D32-4627-BA96-49465B84C7A6}"/>
              </a:ext>
            </a:extLst>
          </p:cNvPr>
          <p:cNvGraphicFramePr/>
          <p:nvPr>
            <p:extLst>
              <p:ext uri="{D42A27DB-BD31-4B8C-83A1-F6EECF244321}">
                <p14:modId xmlns:p14="http://schemas.microsoft.com/office/powerpoint/2010/main" val="3962991662"/>
              </p:ext>
            </p:extLst>
          </p:nvPr>
        </p:nvGraphicFramePr>
        <p:xfrm>
          <a:off x="952500" y="1866900"/>
          <a:ext cx="10287000" cy="3356610"/>
        </p:xfrm>
        <a:graphic>
          <a:graphicData uri="http://schemas.openxmlformats.org/drawingml/2006/table">
            <a:tbl>
              <a:tblPr/>
              <a:tblGrid>
                <a:gridCol w="5905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571500">
                <a:tc>
                  <a:txBody>
                    <a:bodyPr/>
                    <a:lstStyle/>
                    <a:p>
                      <a:pPr algn="l"/>
                      <a:r>
                        <a:rPr sz="1700" b="1">
                          <a:solidFill>
                            <a:srgbClr val="FFFFFF"/>
                          </a:solidFill>
                          <a:latin typeface="Roboto"/>
                          <a:ea typeface="Roboto"/>
                          <a:cs typeface="Roboto"/>
                        </a:rPr>
                        <a:t>Model</a:t>
                      </a:r>
                    </a:p>
                  </a:txBody>
                  <a:tcPr marL="152400" marR="152400" marT="76200" marB="76200" anchor="ctr">
                    <a:lnL w="6191">
                      <a:solidFill>
                        <a:srgbClr val="DADADA"/>
                      </a:solidFill>
                      <a:prstDash val="solid"/>
                    </a:lnL>
                    <a:lnR w="6191">
                      <a:solidFill>
                        <a:srgbClr val="DADADA"/>
                      </a:solidFill>
                      <a:prstDash val="solid"/>
                    </a:lnR>
                    <a:lnT w="6191">
                      <a:solidFill>
                        <a:srgbClr val="DADADA"/>
                      </a:solidFill>
                      <a:prstDash val="solid"/>
                    </a:lnT>
                    <a:lnB w="6191">
                      <a:solidFill>
                        <a:srgbClr val="DADADA"/>
                      </a:solidFill>
                      <a:prstDash val="solid"/>
                    </a:lnB>
                    <a:solidFill>
                      <a:srgbClr val="822433"/>
                    </a:solidFill>
                  </a:tcPr>
                </a:tc>
                <a:tc>
                  <a:txBody>
                    <a:bodyPr/>
                    <a:lstStyle/>
                    <a:p>
                      <a:pPr algn="ctr"/>
                      <a:r>
                        <a:rPr sz="1700" b="1">
                          <a:solidFill>
                            <a:srgbClr val="FFFFFF"/>
                          </a:solidFill>
                          <a:latin typeface="Roboto"/>
                          <a:ea typeface="Roboto"/>
                          <a:cs typeface="Roboto"/>
                        </a:rPr>
                        <a:t>S5Mars mIoU</a:t>
                      </a:r>
                    </a:p>
                    <a:p>
                      <a:pPr algn="ctr"/>
                      <a:r>
                        <a:rPr sz="1700" b="1">
                          <a:solidFill>
                            <a:srgbClr val="FFFFFF"/>
                          </a:solidFill>
                          <a:latin typeface="Roboto"/>
                          <a:ea typeface="Roboto"/>
                          <a:cs typeface="Roboto"/>
                        </a:rPr>
                        <a:t>(%)</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a:solidFill>
                        <a:srgbClr val="DADADA"/>
                      </a:solidFill>
                      <a:prstDash val="solid"/>
                    </a:lnT>
                    <a:lnB w="6191">
                      <a:solidFill>
                        <a:srgbClr val="DADADA"/>
                      </a:solidFill>
                      <a:prstDash val="solid"/>
                    </a:lnB>
                    <a:solidFill>
                      <a:srgbClr val="822433"/>
                    </a:solidFill>
                  </a:tcPr>
                </a:tc>
                <a:tc>
                  <a:txBody>
                    <a:bodyPr/>
                    <a:lstStyle/>
                    <a:p>
                      <a:pPr algn="ctr"/>
                      <a:r>
                        <a:rPr sz="1700" b="1">
                          <a:solidFill>
                            <a:srgbClr val="FFFFFF"/>
                          </a:solidFill>
                          <a:latin typeface="Roboto"/>
                          <a:ea typeface="Roboto"/>
                          <a:cs typeface="Roboto"/>
                        </a:rPr>
                        <a:t>Total parameters</a:t>
                      </a:r>
                    </a:p>
                    <a:p>
                      <a:pPr algn="ctr"/>
                      <a:r>
                        <a:rPr sz="1700" b="1">
                          <a:solidFill>
                            <a:srgbClr val="FFFFFF"/>
                          </a:solidFill>
                          <a:latin typeface="Roboto"/>
                          <a:ea typeface="Roboto"/>
                          <a:cs typeface="Roboto"/>
                        </a:rPr>
                        <a:t>(M)</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a:solidFill>
                        <a:srgbClr val="DADADA"/>
                      </a:solidFill>
                      <a:prstDash val="solid"/>
                    </a:lnT>
                    <a:lnB w="6191">
                      <a:solidFill>
                        <a:srgbClr val="DADADA"/>
                      </a:solidFill>
                      <a:prstDash val="solid"/>
                    </a:lnB>
                    <a:solidFill>
                      <a:srgbClr val="822433"/>
                    </a:solidFill>
                  </a:tcPr>
                </a:tc>
                <a:extLst>
                  <a:ext uri="{0D108BD9-81ED-4DB2-BD59-A6C34878D82A}">
                    <a16:rowId xmlns:a16="http://schemas.microsoft.com/office/drawing/2014/main" val="10000"/>
                  </a:ext>
                </a:extLst>
              </a:tr>
              <a:tr h="447675">
                <a:tc>
                  <a:txBody>
                    <a:bodyPr/>
                    <a:lstStyle/>
                    <a:p>
                      <a:pPr algn="l"/>
                      <a:r>
                        <a:rPr sz="1800" b="1" dirty="0">
                          <a:solidFill>
                            <a:srgbClr val="252525"/>
                          </a:solidFill>
                          <a:latin typeface="Calibri"/>
                          <a:ea typeface="Calibri"/>
                          <a:cs typeface="Calibri"/>
                        </a:rPr>
                        <a:t>SegFormer-B0 (this thesis)</a:t>
                      </a:r>
                    </a:p>
                  </a:txBody>
                  <a:tcPr marL="152400" marR="152400" marT="76200" marB="76200" anchor="ctr">
                    <a:lnL w="6191">
                      <a:solidFill>
                        <a:srgbClr val="DADADA"/>
                      </a:solidFill>
                      <a:prstDash val="soli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7ECEE"/>
                    </a:solidFill>
                  </a:tcPr>
                </a:tc>
                <a:tc>
                  <a:txBody>
                    <a:bodyPr/>
                    <a:lstStyle/>
                    <a:p>
                      <a:pPr algn="ctr"/>
                      <a:r>
                        <a:rPr sz="1800" b="1" dirty="0">
                          <a:solidFill>
                            <a:srgbClr val="822433"/>
                          </a:solidFill>
                          <a:latin typeface="Calibri"/>
                          <a:ea typeface="Calibri"/>
                          <a:cs typeface="Calibri"/>
                        </a:rPr>
                        <a:t>7</a:t>
                      </a:r>
                      <a:r>
                        <a:rPr lang="it-IT" sz="1800" b="1" dirty="0">
                          <a:solidFill>
                            <a:srgbClr val="822433"/>
                          </a:solidFill>
                          <a:latin typeface="Calibri"/>
                          <a:ea typeface="Calibri"/>
                          <a:cs typeface="Calibri"/>
                        </a:rPr>
                        <a:t>5</a:t>
                      </a:r>
                      <a:r>
                        <a:rPr sz="1800" b="1" dirty="0">
                          <a:solidFill>
                            <a:srgbClr val="822433"/>
                          </a:solidFill>
                          <a:latin typeface="Calibri"/>
                          <a:ea typeface="Calibri"/>
                          <a:cs typeface="Calibri"/>
                        </a:rPr>
                        <a:t>.</a:t>
                      </a:r>
                      <a:r>
                        <a:rPr lang="it-IT" sz="1800" b="1" dirty="0">
                          <a:solidFill>
                            <a:srgbClr val="822433"/>
                          </a:solidFill>
                          <a:latin typeface="Calibri"/>
                          <a:ea typeface="Calibri"/>
                          <a:cs typeface="Calibri"/>
                        </a:rPr>
                        <a:t>55</a:t>
                      </a:r>
                      <a:endParaRPr sz="1800" b="1" dirty="0">
                        <a:solidFill>
                          <a:srgbClr val="822433"/>
                        </a:solidFill>
                        <a:latin typeface="Calibri"/>
                        <a:ea typeface="Calibri"/>
                        <a:cs typeface="Calibri"/>
                      </a:endParaRP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7ECEE"/>
                    </a:solidFill>
                  </a:tcPr>
                </a:tc>
                <a:tc>
                  <a:txBody>
                    <a:bodyPr/>
                    <a:lstStyle/>
                    <a:p>
                      <a:pPr algn="ctr"/>
                      <a:r>
                        <a:rPr sz="1800" b="1">
                          <a:solidFill>
                            <a:srgbClr val="822433"/>
                          </a:solidFill>
                          <a:latin typeface="Calibri"/>
                          <a:ea typeface="Calibri"/>
                          <a:cs typeface="Calibri"/>
                        </a:rPr>
                        <a:t>3.72</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7ECEE"/>
                    </a:solidFill>
                  </a:tcPr>
                </a:tc>
                <a:extLst>
                  <a:ext uri="{0D108BD9-81ED-4DB2-BD59-A6C34878D82A}">
                    <a16:rowId xmlns:a16="http://schemas.microsoft.com/office/drawing/2014/main" val="10001"/>
                  </a:ext>
                </a:extLst>
              </a:tr>
              <a:tr h="447675">
                <a:tc>
                  <a:txBody>
                    <a:bodyPr/>
                    <a:lstStyle/>
                    <a:p>
                      <a:pPr algn="l"/>
                      <a:r>
                        <a:rPr sz="1800" b="1" dirty="0">
                          <a:solidFill>
                            <a:srgbClr val="252525"/>
                          </a:solidFill>
                          <a:latin typeface="Calibri"/>
                          <a:ea typeface="Calibri"/>
                          <a:cs typeface="Calibri"/>
                        </a:rPr>
                        <a:t>DeepLabV3+ / MobileNetV2 </a:t>
                      </a:r>
                      <a:r>
                        <a:rPr lang="it-IT" sz="1800" b="1" dirty="0">
                          <a:solidFill>
                            <a:srgbClr val="252525"/>
                          </a:solidFill>
                          <a:latin typeface="Calibri"/>
                          <a:ea typeface="Calibri"/>
                          <a:cs typeface="Calibri"/>
                        </a:rPr>
                        <a:t>(</a:t>
                      </a:r>
                      <a:r>
                        <a:rPr sz="1800" b="1" dirty="0">
                          <a:solidFill>
                            <a:srgbClr val="252525"/>
                          </a:solidFill>
                          <a:latin typeface="Calibri"/>
                          <a:ea typeface="Calibri"/>
                          <a:cs typeface="Calibri"/>
                        </a:rPr>
                        <a:t>this thesis)</a:t>
                      </a:r>
                    </a:p>
                  </a:txBody>
                  <a:tcPr marL="152400" marR="152400" marT="76200" marB="76200" anchor="ctr">
                    <a:lnL w="6191">
                      <a:solidFill>
                        <a:srgbClr val="DADADA"/>
                      </a:solidFill>
                      <a:prstDash val="soli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7ECEE"/>
                    </a:solidFill>
                  </a:tcPr>
                </a:tc>
                <a:tc>
                  <a:txBody>
                    <a:bodyPr/>
                    <a:lstStyle/>
                    <a:p>
                      <a:pPr algn="ctr"/>
                      <a:r>
                        <a:rPr sz="1800" b="1" dirty="0">
                          <a:solidFill>
                            <a:srgbClr val="822433"/>
                          </a:solidFill>
                          <a:latin typeface="Calibri"/>
                          <a:ea typeface="Calibri"/>
                          <a:cs typeface="Calibri"/>
                        </a:rPr>
                        <a:t>6</a:t>
                      </a:r>
                      <a:r>
                        <a:rPr lang="it-IT" sz="1800" b="1" dirty="0">
                          <a:solidFill>
                            <a:srgbClr val="822433"/>
                          </a:solidFill>
                          <a:latin typeface="Calibri"/>
                          <a:ea typeface="Calibri"/>
                          <a:cs typeface="Calibri"/>
                        </a:rPr>
                        <a:t>4</a:t>
                      </a:r>
                      <a:r>
                        <a:rPr sz="1800" b="1" dirty="0">
                          <a:solidFill>
                            <a:srgbClr val="822433"/>
                          </a:solidFill>
                          <a:latin typeface="Calibri"/>
                          <a:ea typeface="Calibri"/>
                          <a:cs typeface="Calibri"/>
                        </a:rPr>
                        <a:t>.</a:t>
                      </a:r>
                      <a:r>
                        <a:rPr lang="it-IT" sz="1800" b="1" dirty="0">
                          <a:solidFill>
                            <a:srgbClr val="822433"/>
                          </a:solidFill>
                          <a:latin typeface="Calibri"/>
                          <a:ea typeface="Calibri"/>
                          <a:cs typeface="Calibri"/>
                        </a:rPr>
                        <a:t>07</a:t>
                      </a:r>
                      <a:endParaRPr sz="1800" b="1" dirty="0">
                        <a:solidFill>
                          <a:srgbClr val="822433"/>
                        </a:solidFill>
                        <a:latin typeface="Calibri"/>
                        <a:ea typeface="Calibri"/>
                        <a:cs typeface="Calibri"/>
                      </a:endParaRP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7ECEE"/>
                    </a:solidFill>
                  </a:tcPr>
                </a:tc>
                <a:tc>
                  <a:txBody>
                    <a:bodyPr/>
                    <a:lstStyle/>
                    <a:p>
                      <a:pPr algn="ctr"/>
                      <a:r>
                        <a:rPr sz="1800" b="1">
                          <a:solidFill>
                            <a:srgbClr val="822433"/>
                          </a:solidFill>
                          <a:latin typeface="Calibri"/>
                          <a:ea typeface="Calibri"/>
                          <a:cs typeface="Calibri"/>
                        </a:rPr>
                        <a:t>4.38</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7ECEE"/>
                    </a:solidFill>
                  </a:tcPr>
                </a:tc>
                <a:extLst>
                  <a:ext uri="{0D108BD9-81ED-4DB2-BD59-A6C34878D82A}">
                    <a16:rowId xmlns:a16="http://schemas.microsoft.com/office/drawing/2014/main" val="10002"/>
                  </a:ext>
                </a:extLst>
              </a:tr>
              <a:tr h="447675">
                <a:tc>
                  <a:txBody>
                    <a:bodyPr/>
                    <a:lstStyle/>
                    <a:p>
                      <a:pPr algn="l"/>
                      <a:r>
                        <a:rPr sz="1800" b="0">
                          <a:solidFill>
                            <a:srgbClr val="252525"/>
                          </a:solidFill>
                          <a:latin typeface="Calibri"/>
                          <a:ea typeface="Calibri"/>
                          <a:cs typeface="Calibri"/>
                        </a:rPr>
                        <a:t>U-Net / ResNet34 (Mars-Bench)</a:t>
                      </a:r>
                    </a:p>
                  </a:txBody>
                  <a:tcPr marL="152400" marR="152400" marT="76200" marB="76200" anchor="ctr">
                    <a:lnL w="6191">
                      <a:solidFill>
                        <a:srgbClr val="DADADA"/>
                      </a:solidFill>
                      <a:prstDash val="soli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FFFFF"/>
                    </a:solidFill>
                  </a:tcPr>
                </a:tc>
                <a:tc>
                  <a:txBody>
                    <a:bodyPr/>
                    <a:lstStyle/>
                    <a:p>
                      <a:pPr algn="ctr"/>
                      <a:r>
                        <a:rPr sz="1800">
                          <a:solidFill>
                            <a:srgbClr val="252525"/>
                          </a:solidFill>
                          <a:latin typeface="Calibri"/>
                          <a:ea typeface="Calibri"/>
                          <a:cs typeface="Calibri"/>
                        </a:rPr>
                        <a:t>17.77</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FFFFF"/>
                    </a:solidFill>
                  </a:tcPr>
                </a:tc>
                <a:tc>
                  <a:txBody>
                    <a:bodyPr/>
                    <a:lstStyle/>
                    <a:p>
                      <a:pPr algn="ctr"/>
                      <a:r>
                        <a:rPr sz="1800">
                          <a:solidFill>
                            <a:srgbClr val="252525"/>
                          </a:solidFill>
                          <a:latin typeface="Calibri"/>
                          <a:ea typeface="Calibri"/>
                          <a:cs typeface="Calibri"/>
                        </a:rPr>
                        <a:t>≈ 24.4</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FFFFF"/>
                    </a:solidFill>
                  </a:tcPr>
                </a:tc>
                <a:extLst>
                  <a:ext uri="{0D108BD9-81ED-4DB2-BD59-A6C34878D82A}">
                    <a16:rowId xmlns:a16="http://schemas.microsoft.com/office/drawing/2014/main" val="10003"/>
                  </a:ext>
                </a:extLst>
              </a:tr>
              <a:tr h="447675">
                <a:tc>
                  <a:txBody>
                    <a:bodyPr/>
                    <a:lstStyle/>
                    <a:p>
                      <a:pPr algn="l"/>
                      <a:r>
                        <a:rPr sz="1800" b="0" dirty="0">
                          <a:solidFill>
                            <a:srgbClr val="252525"/>
                          </a:solidFill>
                          <a:latin typeface="Calibri"/>
                          <a:ea typeface="Calibri"/>
                          <a:cs typeface="Calibri"/>
                        </a:rPr>
                        <a:t>DeepLabV3+ / ResNet34 (Mars-Bench)</a:t>
                      </a:r>
                    </a:p>
                  </a:txBody>
                  <a:tcPr marL="152400" marR="152400" marT="76200" marB="76200" anchor="ctr">
                    <a:lnL w="6191">
                      <a:solidFill>
                        <a:srgbClr val="DADADA"/>
                      </a:solidFill>
                      <a:prstDash val="soli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chemeClr val="bg1">
                        <a:lumMod val="95000"/>
                      </a:schemeClr>
                    </a:solidFill>
                  </a:tcPr>
                </a:tc>
                <a:tc>
                  <a:txBody>
                    <a:bodyPr/>
                    <a:lstStyle/>
                    <a:p>
                      <a:pPr algn="ctr"/>
                      <a:r>
                        <a:rPr sz="1800" dirty="0">
                          <a:solidFill>
                            <a:srgbClr val="252525"/>
                          </a:solidFill>
                          <a:latin typeface="Calibri"/>
                          <a:ea typeface="Calibri"/>
                          <a:cs typeface="Calibri"/>
                        </a:rPr>
                        <a:t>16.74</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chemeClr val="bg1">
                        <a:lumMod val="95000"/>
                      </a:schemeClr>
                    </a:solidFill>
                  </a:tcPr>
                </a:tc>
                <a:tc>
                  <a:txBody>
                    <a:bodyPr/>
                    <a:lstStyle/>
                    <a:p>
                      <a:pPr algn="ctr"/>
                      <a:r>
                        <a:rPr sz="1800" dirty="0">
                          <a:solidFill>
                            <a:srgbClr val="252525"/>
                          </a:solidFill>
                          <a:latin typeface="Calibri"/>
                          <a:ea typeface="Calibri"/>
                          <a:cs typeface="Calibri"/>
                        </a:rPr>
                        <a:t>≈ 22.4</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chemeClr val="bg1">
                        <a:lumMod val="95000"/>
                      </a:schemeClr>
                    </a:solidFill>
                  </a:tcPr>
                </a:tc>
                <a:extLst>
                  <a:ext uri="{0D108BD9-81ED-4DB2-BD59-A6C34878D82A}">
                    <a16:rowId xmlns:a16="http://schemas.microsoft.com/office/drawing/2014/main" val="10004"/>
                  </a:ext>
                </a:extLst>
              </a:tr>
              <a:tr h="447675">
                <a:tc>
                  <a:txBody>
                    <a:bodyPr/>
                    <a:lstStyle/>
                    <a:p>
                      <a:pPr algn="l"/>
                      <a:r>
                        <a:rPr sz="1800" b="0">
                          <a:solidFill>
                            <a:srgbClr val="252525"/>
                          </a:solidFill>
                          <a:latin typeface="Calibri"/>
                          <a:ea typeface="Calibri"/>
                          <a:cs typeface="Calibri"/>
                        </a:rPr>
                        <a:t>SegFormer / ResNet34 (Mars-Bench)</a:t>
                      </a:r>
                    </a:p>
                  </a:txBody>
                  <a:tcPr marL="152400" marR="152400" marT="76200" marB="76200" anchor="ctr">
                    <a:lnL w="6191">
                      <a:solidFill>
                        <a:srgbClr val="DADADA"/>
                      </a:solidFill>
                      <a:prstDash val="soli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FFFFF"/>
                    </a:solidFill>
                  </a:tcPr>
                </a:tc>
                <a:tc>
                  <a:txBody>
                    <a:bodyPr/>
                    <a:lstStyle/>
                    <a:p>
                      <a:pPr algn="ctr"/>
                      <a:r>
                        <a:rPr sz="1800">
                          <a:solidFill>
                            <a:srgbClr val="252525"/>
                          </a:solidFill>
                          <a:latin typeface="Calibri"/>
                          <a:ea typeface="Calibri"/>
                          <a:cs typeface="Calibri"/>
                        </a:rPr>
                        <a:t>16.06</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FFFFF"/>
                    </a:solidFill>
                  </a:tcPr>
                </a:tc>
                <a:tc>
                  <a:txBody>
                    <a:bodyPr/>
                    <a:lstStyle/>
                    <a:p>
                      <a:pPr algn="ctr"/>
                      <a:r>
                        <a:rPr sz="1800">
                          <a:solidFill>
                            <a:srgbClr val="252525"/>
                          </a:solidFill>
                          <a:latin typeface="Calibri"/>
                          <a:ea typeface="Calibri"/>
                          <a:cs typeface="Calibri"/>
                        </a:rPr>
                        <a:t>≈ 21.9</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rgbClr val="FFFFFF"/>
                    </a:solidFill>
                  </a:tcPr>
                </a:tc>
                <a:extLst>
                  <a:ext uri="{0D108BD9-81ED-4DB2-BD59-A6C34878D82A}">
                    <a16:rowId xmlns:a16="http://schemas.microsoft.com/office/drawing/2014/main" val="10005"/>
                  </a:ext>
                </a:extLst>
              </a:tr>
              <a:tr h="447675">
                <a:tc>
                  <a:txBody>
                    <a:bodyPr/>
                    <a:lstStyle/>
                    <a:p>
                      <a:pPr algn="l"/>
                      <a:r>
                        <a:rPr sz="1800" b="0" dirty="0">
                          <a:solidFill>
                            <a:srgbClr val="252525"/>
                          </a:solidFill>
                          <a:latin typeface="Calibri"/>
                          <a:ea typeface="Calibri"/>
                          <a:cs typeface="Calibri"/>
                        </a:rPr>
                        <a:t>DPT / </a:t>
                      </a:r>
                      <a:r>
                        <a:rPr sz="1800" b="0" dirty="0" err="1">
                          <a:solidFill>
                            <a:srgbClr val="252525"/>
                          </a:solidFill>
                          <a:latin typeface="Calibri"/>
                          <a:ea typeface="Calibri"/>
                          <a:cs typeface="Calibri"/>
                        </a:rPr>
                        <a:t>ViT</a:t>
                      </a:r>
                      <a:r>
                        <a:rPr sz="1800" b="0" dirty="0">
                          <a:solidFill>
                            <a:srgbClr val="252525"/>
                          </a:solidFill>
                          <a:latin typeface="Calibri"/>
                          <a:ea typeface="Calibri"/>
                          <a:cs typeface="Calibri"/>
                        </a:rPr>
                        <a:t>-Base (Mars-Bench)</a:t>
                      </a:r>
                    </a:p>
                  </a:txBody>
                  <a:tcPr marL="152400" marR="152400" marT="76200" marB="76200" anchor="ctr">
                    <a:lnL w="6191">
                      <a:solidFill>
                        <a:srgbClr val="DADADA"/>
                      </a:solidFill>
                      <a:prstDash val="soli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chemeClr val="bg1">
                        <a:lumMod val="95000"/>
                      </a:schemeClr>
                    </a:solidFill>
                  </a:tcPr>
                </a:tc>
                <a:tc>
                  <a:txBody>
                    <a:bodyPr/>
                    <a:lstStyle/>
                    <a:p>
                      <a:pPr algn="ctr"/>
                      <a:r>
                        <a:rPr sz="1800" dirty="0">
                          <a:solidFill>
                            <a:srgbClr val="252525"/>
                          </a:solidFill>
                          <a:latin typeface="Calibri"/>
                          <a:ea typeface="Calibri"/>
                          <a:cs typeface="Calibri"/>
                        </a:rPr>
                        <a:t>18.06</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chemeClr val="bg1">
                        <a:lumMod val="95000"/>
                      </a:schemeClr>
                    </a:solidFill>
                  </a:tcPr>
                </a:tc>
                <a:tc>
                  <a:txBody>
                    <a:bodyPr/>
                    <a:lstStyle/>
                    <a:p>
                      <a:pPr algn="ctr"/>
                      <a:r>
                        <a:rPr sz="1800" dirty="0">
                          <a:solidFill>
                            <a:srgbClr val="252525"/>
                          </a:solidFill>
                          <a:latin typeface="Calibri"/>
                          <a:ea typeface="Calibri"/>
                          <a:cs typeface="Calibri"/>
                        </a:rPr>
                        <a:t>≈ 137.8</a:t>
                      </a:r>
                    </a:p>
                  </a:txBody>
                  <a:tcPr marL="152400" marR="152400" marT="76200" marB="76200" anchor="ctr">
                    <a:lnL w="6191" cap="flat" cmpd="sng" algn="ctr">
                      <a:solidFill>
                        <a:srgbClr val="DADADA"/>
                      </a:solidFill>
                      <a:prstDash val="solid"/>
                      <a:round/>
                      <a:headEnd type="none" w="med" len="med"/>
                      <a:tailEnd type="none" w="med" len="med"/>
                    </a:lnL>
                    <a:lnR w="6191">
                      <a:solidFill>
                        <a:srgbClr val="DADADA"/>
                      </a:solidFill>
                      <a:prstDash val="solid"/>
                    </a:lnR>
                    <a:lnT w="6191" cap="flat" cmpd="sng" algn="ctr">
                      <a:solidFill>
                        <a:srgbClr val="DADADA"/>
                      </a:solidFill>
                      <a:prstDash val="solid"/>
                      <a:round/>
                      <a:headEnd type="none" w="med" len="med"/>
                      <a:tailEnd type="none" w="med" len="med"/>
                    </a:lnT>
                    <a:lnB w="6191">
                      <a:solidFill>
                        <a:srgbClr val="DADADA"/>
                      </a:solidFill>
                      <a:prstDash val="soli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8" name="parameter-estimate-note">
            <a:extLst>
              <a:ext uri="{FF2B5EF4-FFF2-40B4-BE49-F238E27FC236}">
                <a16:creationId xmlns:a16="http://schemas.microsoft.com/office/drawing/2014/main" id="{AE04627B-048A-4D71-99BD-E3A503E20991}"/>
              </a:ext>
            </a:extLst>
          </p:cNvPr>
          <p:cNvSpPr>
            <a:spLocks noGrp="1"/>
          </p:cNvSpPr>
          <p:nvPr/>
        </p:nvSpPr>
        <p:spPr>
          <a:xfrm>
            <a:off x="952500" y="5362575"/>
            <a:ext cx="10287000" cy="257175"/>
          </a:xfrm>
          <a:prstGeom prst="rect">
            <a:avLst/>
          </a:prstGeom>
          <a:noFill/>
          <a:ln w="0">
            <a:noFill/>
          </a:ln>
        </p:spPr>
        <p:txBody>
          <a:bodyPr wrap="square" lIns="0" tIns="0" rIns="0" bIns="0" anchor="t">
            <a:noAutofit/>
          </a:bodyPr>
          <a:lstStyle>
            <a:defPPr algn="l">
              <a:defRPr sz="1300" b="0">
                <a:solidFill>
                  <a:srgbClr val="656565"/>
                </a:solidFill>
                <a:latin typeface="Calibri"/>
                <a:ea typeface="Calibri"/>
                <a:cs typeface="Calibri"/>
              </a:defRPr>
            </a:defPPr>
            <a:lvl1pPr algn="l">
              <a:defRPr sz="1300" b="0">
                <a:solidFill>
                  <a:srgbClr val="656565"/>
                </a:solidFill>
                <a:latin typeface="Calibri"/>
                <a:ea typeface="Calibri"/>
                <a:cs typeface="Calibri"/>
              </a:defRPr>
            </a:lvl1pPr>
            <a:lvl2pPr algn="l">
              <a:defRPr sz="1300" b="0">
                <a:solidFill>
                  <a:srgbClr val="656565"/>
                </a:solidFill>
                <a:latin typeface="Calibri"/>
                <a:ea typeface="Calibri"/>
                <a:cs typeface="Calibri"/>
              </a:defRPr>
            </a:lvl2pPr>
            <a:lvl3pPr algn="l">
              <a:defRPr sz="1300" b="0">
                <a:solidFill>
                  <a:srgbClr val="656565"/>
                </a:solidFill>
                <a:latin typeface="Calibri"/>
                <a:ea typeface="Calibri"/>
                <a:cs typeface="Calibri"/>
              </a:defRPr>
            </a:lvl3pPr>
            <a:lvl4pPr algn="l">
              <a:defRPr sz="1300" b="0">
                <a:solidFill>
                  <a:srgbClr val="656565"/>
                </a:solidFill>
                <a:latin typeface="Calibri"/>
                <a:ea typeface="Calibri"/>
                <a:cs typeface="Calibri"/>
              </a:defRPr>
            </a:lvl4pPr>
            <a:lvl5pPr algn="l">
              <a:defRPr sz="1300" b="0">
                <a:solidFill>
                  <a:srgbClr val="656565"/>
                </a:solidFill>
                <a:latin typeface="Calibri"/>
                <a:ea typeface="Calibri"/>
                <a:cs typeface="Calibri"/>
              </a:defRPr>
            </a:lvl5pPr>
            <a:lvl6pPr algn="l">
              <a:defRPr sz="1300" b="0">
                <a:solidFill>
                  <a:srgbClr val="656565"/>
                </a:solidFill>
                <a:latin typeface="Calibri"/>
                <a:ea typeface="Calibri"/>
                <a:cs typeface="Calibri"/>
              </a:defRPr>
            </a:lvl6pPr>
            <a:lvl7pPr algn="l">
              <a:defRPr sz="1300" b="0">
                <a:solidFill>
                  <a:srgbClr val="656565"/>
                </a:solidFill>
                <a:latin typeface="Calibri"/>
                <a:ea typeface="Calibri"/>
                <a:cs typeface="Calibri"/>
              </a:defRPr>
            </a:lvl7pPr>
            <a:lvl8pPr algn="l">
              <a:defRPr sz="1300" b="0">
                <a:solidFill>
                  <a:srgbClr val="656565"/>
                </a:solidFill>
                <a:latin typeface="Calibri"/>
                <a:ea typeface="Calibri"/>
                <a:cs typeface="Calibri"/>
              </a:defRPr>
            </a:lvl8pPr>
            <a:lvl9pPr algn="l">
              <a:defRPr sz="1300" b="0">
                <a:solidFill>
                  <a:srgbClr val="656565"/>
                </a:solidFill>
                <a:latin typeface="Calibri"/>
                <a:ea typeface="Calibri"/>
                <a:cs typeface="Calibri"/>
              </a:defRPr>
            </a:lvl9pPr>
          </a:lstStyle>
          <a:p>
            <a:pPr algn="l">
              <a:defRPr sz="1300" b="0">
                <a:solidFill>
                  <a:srgbClr val="656565"/>
                </a:solidFill>
                <a:latin typeface="Calibri"/>
                <a:ea typeface="Calibri"/>
                <a:cs typeface="Calibri"/>
              </a:defRPr>
            </a:pPr>
            <a:r>
              <a:rPr sz="1300" b="0" dirty="0">
                <a:solidFill>
                  <a:srgbClr val="656565"/>
                </a:solidFill>
                <a:latin typeface="Calibri"/>
                <a:ea typeface="Calibri"/>
                <a:cs typeface="Calibri"/>
              </a:rPr>
              <a:t>≈ Total parameter estimates from released configurations.</a:t>
            </a:r>
          </a:p>
        </p:txBody>
      </p:sp>
      <p:sp>
        <p:nvSpPr>
          <p:cNvPr id="10" name="extra-page-number">
            <a:extLst>
              <a:ext uri="{FF2B5EF4-FFF2-40B4-BE49-F238E27FC236}">
                <a16:creationId xmlns:a16="http://schemas.microsoft.com/office/drawing/2014/main" id="{1E1CBBD5-BAD6-4EF3-8BDB-8F2AC971E295}"/>
              </a:ext>
            </a:extLst>
          </p:cNvPr>
          <p:cNvSpPr>
            <a:spLocks noGrp="1"/>
          </p:cNvSpPr>
          <p:nvPr/>
        </p:nvSpPr>
        <p:spPr>
          <a:xfrm>
            <a:off x="10810875" y="6581775"/>
            <a:ext cx="914400" cy="219075"/>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lang="it-IT" sz="1000" b="0">
                <a:solidFill>
                  <a:srgbClr val="822433"/>
                </a:solidFill>
                <a:latin typeface="Roboto"/>
                <a:ea typeface="Roboto"/>
                <a:cs typeface="Roboto"/>
              </a:rPr>
              <a:t>54 / 54</a:t>
            </a:r>
            <a:endParaRPr sz="1000" b="0">
              <a:solidFill>
                <a:srgbClr val="822433"/>
              </a:solidFill>
              <a:latin typeface="Roboto"/>
              <a:ea typeface="Roboto"/>
              <a:cs typeface="Roboto"/>
            </a:endParaRPr>
          </a:p>
        </p:txBody>
      </p:sp>
    </p:spTree>
    <p:extLst>
      <p:ext uri="{BB962C8B-B14F-4D97-AF65-F5344CB8AC3E}">
        <p14:creationId xmlns:p14="http://schemas.microsoft.com/office/powerpoint/2010/main" val="10709934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E308B2-58D6-FEE9-4C01-9AA2D12956EB}"/>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3894003-A9B7-8E92-4D48-270852ADEB05}"/>
              </a:ext>
            </a:extLst>
          </p:cNvPr>
          <p:cNvSpPr>
            <a:spLocks noGrp="1"/>
          </p:cNvSpPr>
          <p:nvPr>
            <p:ph type="title"/>
          </p:nvPr>
        </p:nvSpPr>
        <p:spPr>
          <a:xfrm>
            <a:off x="838200" y="365125"/>
            <a:ext cx="9386455" cy="835787"/>
          </a:xfrm>
        </p:spPr>
        <p:txBody>
          <a:bodyPr>
            <a:normAutofit/>
          </a:bodyPr>
          <a:lstStyle/>
          <a:p>
            <a:r>
              <a:rPr lang="en-US" dirty="0">
                <a:solidFill>
                  <a:srgbClr val="822433"/>
                </a:solidFill>
              </a:rPr>
              <a:t>Extra: Full Quantization results</a:t>
            </a:r>
            <a:endParaRPr lang="en-US" noProof="0" dirty="0">
              <a:solidFill>
                <a:srgbClr val="822433"/>
              </a:solidFill>
            </a:endParaRPr>
          </a:p>
        </p:txBody>
      </p:sp>
      <p:sp>
        <p:nvSpPr>
          <p:cNvPr id="4" name="Google Shape;102;p14">
            <a:extLst>
              <a:ext uri="{FF2B5EF4-FFF2-40B4-BE49-F238E27FC236}">
                <a16:creationId xmlns:a16="http://schemas.microsoft.com/office/drawing/2014/main" id="{7CEC75DA-4BEC-E538-8FC5-C0F3CA89D3CD}"/>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43</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1150DABA-181E-0A37-54AC-D552EFF142B1}"/>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graphicFrame>
        <p:nvGraphicFramePr>
          <p:cNvPr id="6" name="Table 5">
            <a:extLst>
              <a:ext uri="{FF2B5EF4-FFF2-40B4-BE49-F238E27FC236}">
                <a16:creationId xmlns:a16="http://schemas.microsoft.com/office/drawing/2014/main" id="{E1814047-410B-4ECB-A748-0C0643B8EBAC}"/>
              </a:ext>
            </a:extLst>
          </p:cNvPr>
          <p:cNvGraphicFramePr/>
          <p:nvPr>
            <p:extLst>
              <p:ext uri="{D42A27DB-BD31-4B8C-83A1-F6EECF244321}">
                <p14:modId xmlns:p14="http://schemas.microsoft.com/office/powerpoint/2010/main" val="2319314835"/>
              </p:ext>
            </p:extLst>
          </p:nvPr>
        </p:nvGraphicFramePr>
        <p:xfrm>
          <a:off x="762000" y="1381125"/>
          <a:ext cx="5105400" cy="4728210"/>
        </p:xfrm>
        <a:graphic>
          <a:graphicData uri="http://schemas.openxmlformats.org/drawingml/2006/table">
            <a:tbl>
              <a:tblPr>
                <a:effectLst>
                  <a:outerShdw blurRad="50800" dist="38100" dir="2700000" algn="tl" rotWithShape="0">
                    <a:prstClr val="black">
                      <a:alpha val="40000"/>
                    </a:prstClr>
                  </a:outerShdw>
                </a:effectLst>
              </a:tblPr>
              <a:tblGrid>
                <a:gridCol w="139065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419100">
                <a:tc>
                  <a:txBody>
                    <a:bodyPr/>
                    <a:lstStyle/>
                    <a:p>
                      <a:pPr algn="l">
                        <a:buNone/>
                      </a:pPr>
                      <a:r>
                        <a:rPr sz="1450" b="1" dirty="0">
                          <a:solidFill>
                            <a:schemeClr val="bg1"/>
                          </a:solidFill>
                          <a:latin typeface="Roboto"/>
                          <a:ea typeface="Roboto"/>
                          <a:cs typeface="Roboto"/>
                        </a:rPr>
                        <a:t>Precision</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tc>
                  <a:txBody>
                    <a:bodyPr/>
                    <a:lstStyle/>
                    <a:p>
                      <a:pPr algn="ctr">
                        <a:buNone/>
                      </a:pPr>
                      <a:r>
                        <a:rPr sz="1450" b="1" dirty="0">
                          <a:solidFill>
                            <a:schemeClr val="bg1"/>
                          </a:solidFill>
                          <a:latin typeface="Roboto"/>
                          <a:ea typeface="Roboto"/>
                          <a:cs typeface="Roboto"/>
                        </a:rPr>
                        <a:t>Test </a:t>
                      </a:r>
                      <a:r>
                        <a:rPr sz="1450" b="1" dirty="0" err="1">
                          <a:solidFill>
                            <a:schemeClr val="bg1"/>
                          </a:solidFill>
                          <a:latin typeface="Roboto"/>
                          <a:ea typeface="Roboto"/>
                          <a:cs typeface="Roboto"/>
                        </a:rPr>
                        <a:t>mIoU</a:t>
                      </a:r>
                      <a:endParaRPr sz="1450" b="1" dirty="0">
                        <a:solidFill>
                          <a:schemeClr val="bg1"/>
                        </a:solidFill>
                        <a:latin typeface="Roboto"/>
                        <a:ea typeface="Roboto"/>
                        <a:cs typeface="Roboto"/>
                      </a:endParaRPr>
                    </a:p>
                    <a:p>
                      <a:pPr algn="ctr">
                        <a:buNone/>
                      </a:pPr>
                      <a:r>
                        <a:rPr sz="1450" b="1" dirty="0">
                          <a:solidFill>
                            <a:schemeClr val="bg1"/>
                          </a:solidFill>
                          <a:latin typeface="Roboto"/>
                          <a:ea typeface="Roboto"/>
                          <a:cs typeface="Roboto"/>
                        </a:rPr>
                        <a:t>(%)</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tc>
                  <a:txBody>
                    <a:bodyPr/>
                    <a:lstStyle/>
                    <a:p>
                      <a:pPr algn="ctr">
                        <a:buNone/>
                      </a:pPr>
                      <a:r>
                        <a:rPr sz="1450" b="1" dirty="0">
                          <a:solidFill>
                            <a:schemeClr val="bg1"/>
                          </a:solidFill>
                          <a:latin typeface="Roboto"/>
                          <a:ea typeface="Roboto"/>
                          <a:cs typeface="Roboto"/>
                        </a:rPr>
                        <a:t>Latency</a:t>
                      </a:r>
                    </a:p>
                    <a:p>
                      <a:pPr algn="ctr">
                        <a:buNone/>
                      </a:pPr>
                      <a:r>
                        <a:rPr sz="1450" b="1" dirty="0">
                          <a:solidFill>
                            <a:schemeClr val="bg1"/>
                          </a:solidFill>
                          <a:latin typeface="Roboto"/>
                          <a:ea typeface="Roboto"/>
                          <a:cs typeface="Roboto"/>
                        </a:rPr>
                        <a:t>(</a:t>
                      </a:r>
                      <a:r>
                        <a:rPr sz="1450" b="1" dirty="0" err="1">
                          <a:solidFill>
                            <a:schemeClr val="bg1"/>
                          </a:solidFill>
                          <a:latin typeface="Roboto"/>
                          <a:ea typeface="Roboto"/>
                          <a:cs typeface="Roboto"/>
                        </a:rPr>
                        <a:t>ms</a:t>
                      </a:r>
                      <a:r>
                        <a:rPr sz="1450" b="1" dirty="0">
                          <a:solidFill>
                            <a:schemeClr val="bg1"/>
                          </a:solidFill>
                          <a:latin typeface="Roboto"/>
                          <a:ea typeface="Roboto"/>
                          <a:cs typeface="Roboto"/>
                        </a:rPr>
                        <a:t>)</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tc>
                  <a:txBody>
                    <a:bodyPr/>
                    <a:lstStyle/>
                    <a:p>
                      <a:pPr algn="ctr">
                        <a:buNone/>
                      </a:pPr>
                      <a:r>
                        <a:rPr sz="1450" b="1" dirty="0">
                          <a:solidFill>
                            <a:schemeClr val="bg1"/>
                          </a:solidFill>
                          <a:latin typeface="Roboto"/>
                          <a:ea typeface="Roboto"/>
                          <a:cs typeface="Roboto"/>
                        </a:rPr>
                        <a:t>Energy</a:t>
                      </a:r>
                    </a:p>
                    <a:p>
                      <a:pPr algn="ctr">
                        <a:buNone/>
                      </a:pPr>
                      <a:r>
                        <a:rPr sz="1450" b="1" dirty="0">
                          <a:solidFill>
                            <a:schemeClr val="bg1"/>
                          </a:solidFill>
                          <a:latin typeface="Roboto"/>
                          <a:ea typeface="Roboto"/>
                          <a:cs typeface="Roboto"/>
                        </a:rPr>
                        <a:t>(</a:t>
                      </a:r>
                      <a:r>
                        <a:rPr sz="1450" b="1" dirty="0" err="1">
                          <a:solidFill>
                            <a:schemeClr val="bg1"/>
                          </a:solidFill>
                          <a:latin typeface="Roboto"/>
                          <a:ea typeface="Roboto"/>
                          <a:cs typeface="Roboto"/>
                        </a:rPr>
                        <a:t>mJ</a:t>
                      </a:r>
                      <a:r>
                        <a:rPr sz="1450" b="1" dirty="0">
                          <a:solidFill>
                            <a:schemeClr val="bg1"/>
                          </a:solidFill>
                          <a:latin typeface="Roboto"/>
                          <a:ea typeface="Roboto"/>
                          <a:cs typeface="Roboto"/>
                        </a:rPr>
                        <a:t>/image)</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extLst>
                  <a:ext uri="{0D108BD9-81ED-4DB2-BD59-A6C34878D82A}">
                    <a16:rowId xmlns:a16="http://schemas.microsoft.com/office/drawing/2014/main" val="10000"/>
                  </a:ext>
                </a:extLst>
              </a:tr>
              <a:tr h="285750">
                <a:tc gridSpan="4">
                  <a:txBody>
                    <a:bodyPr/>
                    <a:lstStyle/>
                    <a:p>
                      <a:pPr algn="l">
                        <a:buNone/>
                      </a:pPr>
                      <a:r>
                        <a:rPr sz="1725" b="1" dirty="0">
                          <a:solidFill>
                            <a:srgbClr val="822433"/>
                          </a:solidFill>
                          <a:latin typeface="Roboto"/>
                          <a:ea typeface="Roboto"/>
                          <a:cs typeface="Roboto"/>
                        </a:rPr>
                        <a:t>U-Net / ResNet34</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extLst>
                  <a:ext uri="{0D108BD9-81ED-4DB2-BD59-A6C34878D82A}">
                    <a16:rowId xmlns:a16="http://schemas.microsoft.com/office/drawing/2014/main" val="10001"/>
                  </a:ext>
                </a:extLst>
              </a:tr>
              <a:tr h="285750">
                <a:tc>
                  <a:txBody>
                    <a:bodyPr/>
                    <a:lstStyle/>
                    <a:p>
                      <a:pPr algn="l">
                        <a:buNone/>
                      </a:pPr>
                      <a:r>
                        <a:rPr sz="1700" b="0">
                          <a:solidFill>
                            <a:srgbClr val="202124"/>
                          </a:solidFill>
                          <a:latin typeface="Roboto"/>
                          <a:ea typeface="Roboto"/>
                          <a:cs typeface="Roboto"/>
                        </a:rPr>
                        <a:t>FP32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64.55</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16.30</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1213.08</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85750">
                <a:tc>
                  <a:txBody>
                    <a:bodyPr/>
                    <a:lstStyle/>
                    <a:p>
                      <a:pPr algn="l">
                        <a:buNone/>
                      </a:pPr>
                      <a:r>
                        <a:rPr sz="1700" b="0">
                          <a:solidFill>
                            <a:srgbClr val="202124"/>
                          </a:solidFill>
                          <a:latin typeface="Roboto"/>
                          <a:ea typeface="Roboto"/>
                          <a:cs typeface="Roboto"/>
                        </a:rPr>
                        <a:t>FP16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64.55</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9.19</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659.76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85750">
                <a:tc>
                  <a:txBody>
                    <a:bodyPr/>
                    <a:lstStyle/>
                    <a:p>
                      <a:pPr algn="l">
                        <a:buNone/>
                      </a:pPr>
                      <a:r>
                        <a:rPr sz="1700" b="0">
                          <a:solidFill>
                            <a:srgbClr val="202124"/>
                          </a:solidFill>
                          <a:latin typeface="Roboto"/>
                          <a:ea typeface="Roboto"/>
                          <a:cs typeface="Roboto"/>
                        </a:rPr>
                        <a:t>PTQ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64.51</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5.82</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304.10</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85750">
                <a:tc>
                  <a:txBody>
                    <a:bodyPr/>
                    <a:lstStyle/>
                    <a:p>
                      <a:pPr algn="l">
                        <a:buNone/>
                      </a:pPr>
                      <a:r>
                        <a:rPr sz="1700" b="1" dirty="0">
                          <a:solidFill>
                            <a:srgbClr val="822433"/>
                          </a:solidFill>
                          <a:latin typeface="Roboto"/>
                          <a:ea typeface="Roboto"/>
                          <a:cs typeface="Roboto"/>
                        </a:rPr>
                        <a:t>QAT INT8</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65.24</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4.81</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231.42</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extLst>
                  <a:ext uri="{0D108BD9-81ED-4DB2-BD59-A6C34878D82A}">
                    <a16:rowId xmlns:a16="http://schemas.microsoft.com/office/drawing/2014/main" val="10005"/>
                  </a:ext>
                </a:extLst>
              </a:tr>
              <a:tr h="285750">
                <a:tc gridSpan="4">
                  <a:txBody>
                    <a:bodyPr/>
                    <a:lstStyle/>
                    <a:p>
                      <a:pPr algn="l">
                        <a:buNone/>
                      </a:pPr>
                      <a:r>
                        <a:rPr sz="1725" b="1" dirty="0">
                          <a:solidFill>
                            <a:srgbClr val="822433"/>
                          </a:solidFill>
                          <a:latin typeface="Roboto"/>
                          <a:ea typeface="Roboto"/>
                          <a:cs typeface="Roboto"/>
                        </a:rPr>
                        <a:t>U-Net / MobileNetV2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extLst>
                  <a:ext uri="{0D108BD9-81ED-4DB2-BD59-A6C34878D82A}">
                    <a16:rowId xmlns:a16="http://schemas.microsoft.com/office/drawing/2014/main" val="10006"/>
                  </a:ext>
                </a:extLst>
              </a:tr>
              <a:tr h="285750">
                <a:tc>
                  <a:txBody>
                    <a:bodyPr/>
                    <a:lstStyle/>
                    <a:p>
                      <a:pPr algn="l">
                        <a:buNone/>
                      </a:pPr>
                      <a:r>
                        <a:rPr sz="1700" b="0">
                          <a:solidFill>
                            <a:srgbClr val="202124"/>
                          </a:solidFill>
                          <a:latin typeface="Roboto"/>
                          <a:ea typeface="Roboto"/>
                          <a:cs typeface="Roboto"/>
                        </a:rPr>
                        <a:t>FP32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64.57</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11.87</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878.80</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85750">
                <a:tc>
                  <a:txBody>
                    <a:bodyPr/>
                    <a:lstStyle/>
                    <a:p>
                      <a:pPr algn="l">
                        <a:buNone/>
                      </a:pPr>
                      <a:r>
                        <a:rPr sz="1700" b="0">
                          <a:solidFill>
                            <a:srgbClr val="202124"/>
                          </a:solidFill>
                          <a:latin typeface="Roboto"/>
                          <a:ea typeface="Roboto"/>
                          <a:cs typeface="Roboto"/>
                        </a:rPr>
                        <a:t>FP16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64.61</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8.16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dirty="0">
                          <a:solidFill>
                            <a:srgbClr val="202124"/>
                          </a:solidFill>
                          <a:latin typeface="Roboto"/>
                          <a:ea typeface="Roboto"/>
                          <a:cs typeface="Roboto"/>
                        </a:rPr>
                        <a:t>523.07</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8"/>
                  </a:ext>
                </a:extLst>
              </a:tr>
              <a:tr h="285750">
                <a:tc>
                  <a:txBody>
                    <a:bodyPr/>
                    <a:lstStyle/>
                    <a:p>
                      <a:pPr algn="l">
                        <a:buNone/>
                      </a:pPr>
                      <a:r>
                        <a:rPr sz="1700" b="0">
                          <a:solidFill>
                            <a:srgbClr val="202124"/>
                          </a:solidFill>
                          <a:latin typeface="Roboto"/>
                          <a:ea typeface="Roboto"/>
                          <a:cs typeface="Roboto"/>
                        </a:rPr>
                        <a:t>PTQ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61.55</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4.17</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199.96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285750">
                <a:tc>
                  <a:txBody>
                    <a:bodyPr/>
                    <a:lstStyle/>
                    <a:p>
                      <a:pPr algn="l">
                        <a:buNone/>
                      </a:pPr>
                      <a:r>
                        <a:rPr sz="1700" b="1" dirty="0">
                          <a:solidFill>
                            <a:srgbClr val="822433"/>
                          </a:solidFill>
                          <a:latin typeface="Roboto"/>
                          <a:ea typeface="Roboto"/>
                          <a:cs typeface="Roboto"/>
                        </a:rPr>
                        <a:t>QAT INT8</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65.00</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3.57</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162.66</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extLst>
                  <a:ext uri="{0D108BD9-81ED-4DB2-BD59-A6C34878D82A}">
                    <a16:rowId xmlns:a16="http://schemas.microsoft.com/office/drawing/2014/main" val="10010"/>
                  </a:ext>
                </a:extLst>
              </a:tr>
              <a:tr h="285750">
                <a:tc gridSpan="4">
                  <a:txBody>
                    <a:bodyPr/>
                    <a:lstStyle/>
                    <a:p>
                      <a:pPr algn="l">
                        <a:buNone/>
                      </a:pPr>
                      <a:r>
                        <a:rPr sz="1725" b="1" dirty="0">
                          <a:solidFill>
                            <a:srgbClr val="822433"/>
                          </a:solidFill>
                          <a:latin typeface="Roboto"/>
                          <a:ea typeface="Roboto"/>
                          <a:cs typeface="Roboto"/>
                        </a:rPr>
                        <a:t>DeepLabV3 / ResNet34</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extLst>
                  <a:ext uri="{0D108BD9-81ED-4DB2-BD59-A6C34878D82A}">
                    <a16:rowId xmlns:a16="http://schemas.microsoft.com/office/drawing/2014/main" val="10011"/>
                  </a:ext>
                </a:extLst>
              </a:tr>
              <a:tr h="285750">
                <a:tc>
                  <a:txBody>
                    <a:bodyPr/>
                    <a:lstStyle/>
                    <a:p>
                      <a:pPr algn="l">
                        <a:buNone/>
                      </a:pPr>
                      <a:r>
                        <a:rPr sz="1700" b="0">
                          <a:solidFill>
                            <a:srgbClr val="202124"/>
                          </a:solidFill>
                          <a:latin typeface="Roboto"/>
                          <a:ea typeface="Roboto"/>
                          <a:cs typeface="Roboto"/>
                        </a:rPr>
                        <a:t>FP32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73.79</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56.27</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3977.25</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2"/>
                  </a:ext>
                </a:extLst>
              </a:tr>
              <a:tr h="285750">
                <a:tc>
                  <a:txBody>
                    <a:bodyPr/>
                    <a:lstStyle/>
                    <a:p>
                      <a:pPr algn="l">
                        <a:buNone/>
                      </a:pPr>
                      <a:r>
                        <a:rPr sz="1700" b="0">
                          <a:solidFill>
                            <a:srgbClr val="202124"/>
                          </a:solidFill>
                          <a:latin typeface="Roboto"/>
                          <a:ea typeface="Roboto"/>
                          <a:cs typeface="Roboto"/>
                        </a:rPr>
                        <a:t>FP16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73.79</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14.03</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dirty="0">
                          <a:solidFill>
                            <a:srgbClr val="202124"/>
                          </a:solidFill>
                          <a:latin typeface="Roboto"/>
                          <a:ea typeface="Roboto"/>
                          <a:cs typeface="Roboto"/>
                        </a:rPr>
                        <a:t>1016.14</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13"/>
                  </a:ext>
                </a:extLst>
              </a:tr>
              <a:tr h="285750">
                <a:tc>
                  <a:txBody>
                    <a:bodyPr/>
                    <a:lstStyle/>
                    <a:p>
                      <a:pPr algn="l">
                        <a:buNone/>
                      </a:pPr>
                      <a:r>
                        <a:rPr sz="1700" b="0">
                          <a:solidFill>
                            <a:srgbClr val="202124"/>
                          </a:solidFill>
                          <a:latin typeface="Roboto"/>
                          <a:ea typeface="Roboto"/>
                          <a:cs typeface="Roboto"/>
                        </a:rPr>
                        <a:t>PTQ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73.55</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7.19</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455.34</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4"/>
                  </a:ext>
                </a:extLst>
              </a:tr>
              <a:tr h="285750">
                <a:tc>
                  <a:txBody>
                    <a:bodyPr/>
                    <a:lstStyle/>
                    <a:p>
                      <a:pPr algn="l">
                        <a:buNone/>
                      </a:pPr>
                      <a:r>
                        <a:rPr sz="1700" b="1">
                          <a:solidFill>
                            <a:srgbClr val="822433"/>
                          </a:solidFill>
                          <a:latin typeface="Roboto"/>
                          <a:ea typeface="Roboto"/>
                          <a:cs typeface="Roboto"/>
                        </a:rPr>
                        <a:t>QAT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tc>
                  <a:txBody>
                    <a:bodyPr/>
                    <a:lstStyle/>
                    <a:p>
                      <a:pPr algn="r">
                        <a:buNone/>
                      </a:pPr>
                      <a:r>
                        <a:rPr sz="1700" b="1">
                          <a:solidFill>
                            <a:srgbClr val="822433"/>
                          </a:solidFill>
                          <a:latin typeface="Roboto"/>
                          <a:ea typeface="Roboto"/>
                          <a:cs typeface="Roboto"/>
                        </a:rPr>
                        <a:t>73.62</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tc>
                  <a:txBody>
                    <a:bodyPr/>
                    <a:lstStyle/>
                    <a:p>
                      <a:pPr algn="r">
                        <a:buNone/>
                      </a:pPr>
                      <a:r>
                        <a:rPr sz="1700" b="1">
                          <a:solidFill>
                            <a:srgbClr val="822433"/>
                          </a:solidFill>
                          <a:latin typeface="Roboto"/>
                          <a:ea typeface="Roboto"/>
                          <a:cs typeface="Roboto"/>
                        </a:rPr>
                        <a:t>8.65</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523.71</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extLst>
                  <a:ext uri="{0D108BD9-81ED-4DB2-BD59-A6C34878D82A}">
                    <a16:rowId xmlns:a16="http://schemas.microsoft.com/office/drawing/2014/main" val="10015"/>
                  </a:ext>
                </a:extLst>
              </a:tr>
            </a:tbl>
          </a:graphicData>
        </a:graphic>
      </p:graphicFrame>
      <p:graphicFrame>
        <p:nvGraphicFramePr>
          <p:cNvPr id="7" name="Table 6">
            <a:extLst>
              <a:ext uri="{FF2B5EF4-FFF2-40B4-BE49-F238E27FC236}">
                <a16:creationId xmlns:a16="http://schemas.microsoft.com/office/drawing/2014/main" id="{08F79596-053E-42BE-94ED-A552A8820A02}"/>
              </a:ext>
            </a:extLst>
          </p:cNvPr>
          <p:cNvGraphicFramePr/>
          <p:nvPr>
            <p:extLst>
              <p:ext uri="{D42A27DB-BD31-4B8C-83A1-F6EECF244321}">
                <p14:modId xmlns:p14="http://schemas.microsoft.com/office/powerpoint/2010/main" val="1858978139"/>
              </p:ext>
            </p:extLst>
          </p:nvPr>
        </p:nvGraphicFramePr>
        <p:xfrm>
          <a:off x="6324600" y="1381125"/>
          <a:ext cx="5105400" cy="3299460"/>
        </p:xfrm>
        <a:graphic>
          <a:graphicData uri="http://schemas.openxmlformats.org/drawingml/2006/table">
            <a:tbl>
              <a:tblPr>
                <a:effectLst>
                  <a:outerShdw blurRad="50800" dist="38100" dir="2700000" algn="tl" rotWithShape="0">
                    <a:prstClr val="black">
                      <a:alpha val="40000"/>
                    </a:prstClr>
                  </a:outerShdw>
                </a:effectLst>
              </a:tblPr>
              <a:tblGrid>
                <a:gridCol w="1390650">
                  <a:extLst>
                    <a:ext uri="{9D8B030D-6E8A-4147-A177-3AD203B41FA5}">
                      <a16:colId xmlns:a16="http://schemas.microsoft.com/office/drawing/2014/main" val="20000"/>
                    </a:ext>
                  </a:extLst>
                </a:gridCol>
                <a:gridCol w="116205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tblGrid>
              <a:tr h="419100">
                <a:tc>
                  <a:txBody>
                    <a:bodyPr/>
                    <a:lstStyle/>
                    <a:p>
                      <a:pPr algn="l">
                        <a:buNone/>
                      </a:pPr>
                      <a:r>
                        <a:rPr sz="1450" b="1" dirty="0">
                          <a:solidFill>
                            <a:schemeClr val="bg1"/>
                          </a:solidFill>
                          <a:latin typeface="Roboto"/>
                          <a:ea typeface="Roboto"/>
                          <a:cs typeface="Roboto"/>
                        </a:rPr>
                        <a:t>Precision</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tc>
                  <a:txBody>
                    <a:bodyPr/>
                    <a:lstStyle/>
                    <a:p>
                      <a:pPr algn="ctr">
                        <a:buNone/>
                      </a:pPr>
                      <a:r>
                        <a:rPr sz="1450" b="1" dirty="0">
                          <a:solidFill>
                            <a:schemeClr val="bg1"/>
                          </a:solidFill>
                          <a:latin typeface="Roboto"/>
                          <a:ea typeface="Roboto"/>
                          <a:cs typeface="Roboto"/>
                        </a:rPr>
                        <a:t>Test </a:t>
                      </a:r>
                      <a:r>
                        <a:rPr sz="1450" b="1" dirty="0" err="1">
                          <a:solidFill>
                            <a:schemeClr val="bg1"/>
                          </a:solidFill>
                          <a:latin typeface="Roboto"/>
                          <a:ea typeface="Roboto"/>
                          <a:cs typeface="Roboto"/>
                        </a:rPr>
                        <a:t>mIoU</a:t>
                      </a:r>
                      <a:endParaRPr sz="1450" b="1" dirty="0">
                        <a:solidFill>
                          <a:schemeClr val="bg1"/>
                        </a:solidFill>
                        <a:latin typeface="Roboto"/>
                        <a:ea typeface="Roboto"/>
                        <a:cs typeface="Roboto"/>
                      </a:endParaRPr>
                    </a:p>
                    <a:p>
                      <a:pPr algn="ctr">
                        <a:buNone/>
                      </a:pPr>
                      <a:r>
                        <a:rPr sz="1450" b="1" dirty="0">
                          <a:solidFill>
                            <a:schemeClr val="bg1"/>
                          </a:solidFill>
                          <a:latin typeface="Roboto"/>
                          <a:ea typeface="Roboto"/>
                          <a:cs typeface="Roboto"/>
                        </a:rPr>
                        <a:t>(%)</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tc>
                  <a:txBody>
                    <a:bodyPr/>
                    <a:lstStyle/>
                    <a:p>
                      <a:pPr algn="ctr">
                        <a:buNone/>
                      </a:pPr>
                      <a:r>
                        <a:rPr sz="1450" b="1" dirty="0">
                          <a:solidFill>
                            <a:schemeClr val="bg1"/>
                          </a:solidFill>
                          <a:latin typeface="Roboto"/>
                          <a:ea typeface="Roboto"/>
                          <a:cs typeface="Roboto"/>
                        </a:rPr>
                        <a:t>Latency</a:t>
                      </a:r>
                    </a:p>
                    <a:p>
                      <a:pPr algn="ctr">
                        <a:buNone/>
                      </a:pPr>
                      <a:r>
                        <a:rPr sz="1450" b="1" dirty="0">
                          <a:solidFill>
                            <a:schemeClr val="bg1"/>
                          </a:solidFill>
                          <a:latin typeface="Roboto"/>
                          <a:ea typeface="Roboto"/>
                          <a:cs typeface="Roboto"/>
                        </a:rPr>
                        <a:t>(</a:t>
                      </a:r>
                      <a:r>
                        <a:rPr sz="1450" b="1" dirty="0" err="1">
                          <a:solidFill>
                            <a:schemeClr val="bg1"/>
                          </a:solidFill>
                          <a:latin typeface="Roboto"/>
                          <a:ea typeface="Roboto"/>
                          <a:cs typeface="Roboto"/>
                        </a:rPr>
                        <a:t>ms</a:t>
                      </a:r>
                      <a:r>
                        <a:rPr sz="1450" b="1" dirty="0">
                          <a:solidFill>
                            <a:schemeClr val="bg1"/>
                          </a:solidFill>
                          <a:latin typeface="Roboto"/>
                          <a:ea typeface="Roboto"/>
                          <a:cs typeface="Roboto"/>
                        </a:rPr>
                        <a:t>)</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tc>
                  <a:txBody>
                    <a:bodyPr/>
                    <a:lstStyle/>
                    <a:p>
                      <a:pPr algn="ctr">
                        <a:buNone/>
                      </a:pPr>
                      <a:r>
                        <a:rPr sz="1450" b="1" dirty="0">
                          <a:solidFill>
                            <a:schemeClr val="bg1"/>
                          </a:solidFill>
                          <a:latin typeface="Roboto"/>
                          <a:ea typeface="Roboto"/>
                          <a:cs typeface="Roboto"/>
                        </a:rPr>
                        <a:t>Energy</a:t>
                      </a:r>
                    </a:p>
                    <a:p>
                      <a:pPr algn="ctr">
                        <a:buNone/>
                      </a:pPr>
                      <a:r>
                        <a:rPr sz="1450" b="1" dirty="0">
                          <a:solidFill>
                            <a:schemeClr val="bg1"/>
                          </a:solidFill>
                          <a:latin typeface="Roboto"/>
                          <a:ea typeface="Roboto"/>
                          <a:cs typeface="Roboto"/>
                        </a:rPr>
                        <a:t>(</a:t>
                      </a:r>
                      <a:r>
                        <a:rPr sz="1450" b="1" dirty="0" err="1">
                          <a:solidFill>
                            <a:schemeClr val="bg1"/>
                          </a:solidFill>
                          <a:latin typeface="Roboto"/>
                          <a:ea typeface="Roboto"/>
                          <a:cs typeface="Roboto"/>
                        </a:rPr>
                        <a:t>mJ</a:t>
                      </a:r>
                      <a:r>
                        <a:rPr sz="1450" b="1" dirty="0">
                          <a:solidFill>
                            <a:schemeClr val="bg1"/>
                          </a:solidFill>
                          <a:latin typeface="Roboto"/>
                          <a:ea typeface="Roboto"/>
                          <a:cs typeface="Roboto"/>
                        </a:rPr>
                        <a:t>/image)</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22433"/>
                    </a:solidFill>
                  </a:tcPr>
                </a:tc>
                <a:extLst>
                  <a:ext uri="{0D108BD9-81ED-4DB2-BD59-A6C34878D82A}">
                    <a16:rowId xmlns:a16="http://schemas.microsoft.com/office/drawing/2014/main" val="10000"/>
                  </a:ext>
                </a:extLst>
              </a:tr>
              <a:tr h="285750">
                <a:tc gridSpan="4">
                  <a:txBody>
                    <a:bodyPr/>
                    <a:lstStyle/>
                    <a:p>
                      <a:pPr algn="l">
                        <a:buNone/>
                      </a:pPr>
                      <a:r>
                        <a:rPr sz="1725" b="1" dirty="0">
                          <a:solidFill>
                            <a:srgbClr val="822433"/>
                          </a:solidFill>
                          <a:latin typeface="Roboto"/>
                          <a:ea typeface="Roboto"/>
                          <a:cs typeface="Roboto"/>
                        </a:rPr>
                        <a:t>DeepLabV3+ / MobileNetV2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extLst>
                  <a:ext uri="{0D108BD9-81ED-4DB2-BD59-A6C34878D82A}">
                    <a16:rowId xmlns:a16="http://schemas.microsoft.com/office/drawing/2014/main" val="10001"/>
                  </a:ext>
                </a:extLst>
              </a:tr>
              <a:tr h="285750">
                <a:tc>
                  <a:txBody>
                    <a:bodyPr/>
                    <a:lstStyle/>
                    <a:p>
                      <a:pPr algn="l">
                        <a:buNone/>
                      </a:pPr>
                      <a:r>
                        <a:rPr sz="1700" b="0">
                          <a:solidFill>
                            <a:srgbClr val="202124"/>
                          </a:solidFill>
                          <a:latin typeface="Roboto"/>
                          <a:ea typeface="Roboto"/>
                          <a:cs typeface="Roboto"/>
                        </a:rPr>
                        <a:t>FP32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64.07</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8.84</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653.72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85750">
                <a:tc>
                  <a:txBody>
                    <a:bodyPr/>
                    <a:lstStyle/>
                    <a:p>
                      <a:pPr algn="l">
                        <a:buNone/>
                      </a:pPr>
                      <a:r>
                        <a:rPr sz="1700" b="0">
                          <a:solidFill>
                            <a:srgbClr val="202124"/>
                          </a:solidFill>
                          <a:latin typeface="Roboto"/>
                          <a:ea typeface="Roboto"/>
                          <a:cs typeface="Roboto"/>
                        </a:rPr>
                        <a:t>FP16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64.07</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6.03</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377.88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85750">
                <a:tc>
                  <a:txBody>
                    <a:bodyPr/>
                    <a:lstStyle/>
                    <a:p>
                      <a:pPr algn="l">
                        <a:buNone/>
                      </a:pPr>
                      <a:r>
                        <a:rPr sz="1700" b="0">
                          <a:solidFill>
                            <a:srgbClr val="202124"/>
                          </a:solidFill>
                          <a:latin typeface="Roboto"/>
                          <a:ea typeface="Roboto"/>
                          <a:cs typeface="Roboto"/>
                        </a:rPr>
                        <a:t>PTQ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59.14</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4.02</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159.19</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85750">
                <a:tc>
                  <a:txBody>
                    <a:bodyPr/>
                    <a:lstStyle/>
                    <a:p>
                      <a:pPr algn="l">
                        <a:buNone/>
                      </a:pPr>
                      <a:r>
                        <a:rPr sz="1700" b="1" dirty="0">
                          <a:solidFill>
                            <a:srgbClr val="822433"/>
                          </a:solidFill>
                          <a:latin typeface="Roboto"/>
                          <a:ea typeface="Roboto"/>
                          <a:cs typeface="Roboto"/>
                        </a:rPr>
                        <a:t>QAT INT8</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65.63</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3.01</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115.34</a:t>
                      </a:r>
                    </a:p>
                  </a:txBody>
                  <a:tcPr marL="85725" marR="85725"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5EDEF"/>
                    </a:solidFill>
                  </a:tcPr>
                </a:tc>
                <a:extLst>
                  <a:ext uri="{0D108BD9-81ED-4DB2-BD59-A6C34878D82A}">
                    <a16:rowId xmlns:a16="http://schemas.microsoft.com/office/drawing/2014/main" val="10005"/>
                  </a:ext>
                </a:extLst>
              </a:tr>
              <a:tr h="285750">
                <a:tc gridSpan="4">
                  <a:txBody>
                    <a:bodyPr/>
                    <a:lstStyle/>
                    <a:p>
                      <a:pPr algn="l">
                        <a:buNone/>
                      </a:pPr>
                      <a:r>
                        <a:rPr sz="1725" b="1" dirty="0">
                          <a:solidFill>
                            <a:srgbClr val="822433"/>
                          </a:solidFill>
                          <a:latin typeface="Roboto"/>
                          <a:ea typeface="Roboto"/>
                          <a:cs typeface="Roboto"/>
                        </a:rPr>
                        <a:t>SegFormer-B0</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tc hMerge="1">
                  <a:txBody>
                    <a:bodyPr/>
                    <a:lstStyle/>
                    <a:p>
                      <a:pPr>
                        <a:lnSpc>
                          <a:spcPct val="100000"/>
                        </a:lnSpc>
                      </a:pPr>
                      <a:endParaRPr/>
                    </a:p>
                  </a:txBody>
                  <a:tcPr marL="85725" marR="85725" marT="0" marB="0" anchor="ctr">
                    <a:solidFill>
                      <a:srgbClr val="FFFFFF"/>
                    </a:solidFill>
                  </a:tcPr>
                </a:tc>
                <a:extLst>
                  <a:ext uri="{0D108BD9-81ED-4DB2-BD59-A6C34878D82A}">
                    <a16:rowId xmlns:a16="http://schemas.microsoft.com/office/drawing/2014/main" val="10006"/>
                  </a:ext>
                </a:extLst>
              </a:tr>
              <a:tr h="285750">
                <a:tc>
                  <a:txBody>
                    <a:bodyPr/>
                    <a:lstStyle/>
                    <a:p>
                      <a:pPr algn="l">
                        <a:buNone/>
                      </a:pPr>
                      <a:r>
                        <a:rPr sz="1700" b="0">
                          <a:solidFill>
                            <a:srgbClr val="202124"/>
                          </a:solidFill>
                          <a:latin typeface="Roboto"/>
                          <a:ea typeface="Roboto"/>
                          <a:cs typeface="Roboto"/>
                        </a:rPr>
                        <a:t>FP32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75.55</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11.88</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835.72</a:t>
                      </a:r>
                    </a:p>
                  </a:txBody>
                  <a:tcPr marL="85725" marR="85725" marT="0" marB="0" anchor="ctr">
                    <a:lnL w="12700" cmpd="sng">
                      <a:noFill/>
                      <a:prstDash val="solid"/>
                    </a:lnL>
                    <a:lnR w="12700" cmpd="sng">
                      <a:noFill/>
                      <a:prstDash val="solid"/>
                    </a:lnR>
                    <a:lnT w="12700"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7"/>
                  </a:ext>
                </a:extLst>
              </a:tr>
              <a:tr h="285750">
                <a:tc>
                  <a:txBody>
                    <a:bodyPr/>
                    <a:lstStyle/>
                    <a:p>
                      <a:pPr algn="l">
                        <a:buNone/>
                      </a:pPr>
                      <a:r>
                        <a:rPr sz="1700" b="0">
                          <a:solidFill>
                            <a:srgbClr val="202124"/>
                          </a:solidFill>
                          <a:latin typeface="Roboto"/>
                          <a:ea typeface="Roboto"/>
                          <a:cs typeface="Roboto"/>
                        </a:rPr>
                        <a:t>FP16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75.55</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a:solidFill>
                            <a:srgbClr val="202124"/>
                          </a:solidFill>
                          <a:latin typeface="Roboto"/>
                          <a:ea typeface="Roboto"/>
                          <a:cs typeface="Roboto"/>
                        </a:rPr>
                        <a:t>7.17</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tc>
                  <a:txBody>
                    <a:bodyPr/>
                    <a:lstStyle/>
                    <a:p>
                      <a:pPr algn="r">
                        <a:buNone/>
                      </a:pPr>
                      <a:r>
                        <a:rPr sz="1700" b="0" dirty="0">
                          <a:solidFill>
                            <a:srgbClr val="202124"/>
                          </a:solidFill>
                          <a:latin typeface="Roboto"/>
                          <a:ea typeface="Roboto"/>
                          <a:cs typeface="Roboto"/>
                        </a:rPr>
                        <a:t>432.07</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8"/>
                  </a:ext>
                </a:extLst>
              </a:tr>
              <a:tr h="285750">
                <a:tc>
                  <a:txBody>
                    <a:bodyPr/>
                    <a:lstStyle/>
                    <a:p>
                      <a:pPr algn="l">
                        <a:buNone/>
                      </a:pPr>
                      <a:r>
                        <a:rPr sz="1700" b="0">
                          <a:solidFill>
                            <a:srgbClr val="202124"/>
                          </a:solidFill>
                          <a:latin typeface="Roboto"/>
                          <a:ea typeface="Roboto"/>
                          <a:cs typeface="Roboto"/>
                        </a:rPr>
                        <a:t>PTQ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75.60</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a:solidFill>
                            <a:srgbClr val="202124"/>
                          </a:solidFill>
                          <a:latin typeface="Roboto"/>
                          <a:ea typeface="Roboto"/>
                          <a:cs typeface="Roboto"/>
                        </a:rPr>
                        <a:t>5.92</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tc>
                  <a:txBody>
                    <a:bodyPr/>
                    <a:lstStyle/>
                    <a:p>
                      <a:pPr algn="r">
                        <a:buNone/>
                      </a:pPr>
                      <a:r>
                        <a:rPr sz="1700" b="0" dirty="0">
                          <a:solidFill>
                            <a:srgbClr val="202124"/>
                          </a:solidFill>
                          <a:latin typeface="Roboto"/>
                          <a:ea typeface="Roboto"/>
                          <a:cs typeface="Roboto"/>
                        </a:rPr>
                        <a:t>327.99</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9"/>
                  </a:ext>
                </a:extLst>
              </a:tr>
              <a:tr h="285750">
                <a:tc>
                  <a:txBody>
                    <a:bodyPr/>
                    <a:lstStyle/>
                    <a:p>
                      <a:pPr algn="l">
                        <a:buNone/>
                      </a:pPr>
                      <a:r>
                        <a:rPr sz="1700" b="1">
                          <a:solidFill>
                            <a:srgbClr val="822433"/>
                          </a:solidFill>
                          <a:latin typeface="Roboto"/>
                          <a:ea typeface="Roboto"/>
                          <a:cs typeface="Roboto"/>
                        </a:rPr>
                        <a:t>QAT INT8</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tc>
                  <a:txBody>
                    <a:bodyPr/>
                    <a:lstStyle/>
                    <a:p>
                      <a:pPr algn="r">
                        <a:buNone/>
                      </a:pPr>
                      <a:r>
                        <a:rPr sz="1700" b="1">
                          <a:solidFill>
                            <a:srgbClr val="822433"/>
                          </a:solidFill>
                          <a:latin typeface="Roboto"/>
                          <a:ea typeface="Roboto"/>
                          <a:cs typeface="Roboto"/>
                        </a:rPr>
                        <a:t>76.93</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tc>
                  <a:txBody>
                    <a:bodyPr/>
                    <a:lstStyle/>
                    <a:p>
                      <a:pPr algn="r">
                        <a:buNone/>
                      </a:pPr>
                      <a:r>
                        <a:rPr sz="1700" b="1">
                          <a:solidFill>
                            <a:srgbClr val="822433"/>
                          </a:solidFill>
                          <a:latin typeface="Roboto"/>
                          <a:ea typeface="Roboto"/>
                          <a:cs typeface="Roboto"/>
                        </a:rPr>
                        <a:t>5.66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tc>
                  <a:txBody>
                    <a:bodyPr/>
                    <a:lstStyle/>
                    <a:p>
                      <a:pPr algn="r">
                        <a:buNone/>
                      </a:pPr>
                      <a:r>
                        <a:rPr sz="1700" b="1" dirty="0">
                          <a:solidFill>
                            <a:srgbClr val="822433"/>
                          </a:solidFill>
                          <a:latin typeface="Roboto"/>
                          <a:ea typeface="Roboto"/>
                          <a:cs typeface="Roboto"/>
                        </a:rPr>
                        <a:t>291.76</a:t>
                      </a:r>
                    </a:p>
                  </a:txBody>
                  <a:tcPr marL="85725" marR="85725" marT="0" marB="0"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rgbClr val="F5EDEF"/>
                    </a:solidFill>
                  </a:tcPr>
                </a:tc>
                <a:extLst>
                  <a:ext uri="{0D108BD9-81ED-4DB2-BD59-A6C34878D82A}">
                    <a16:rowId xmlns:a16="http://schemas.microsoft.com/office/drawing/2014/main" val="10010"/>
                  </a:ext>
                </a:extLst>
              </a:tr>
            </a:tbl>
          </a:graphicData>
        </a:graphic>
      </p:graphicFrame>
      <p:sp>
        <p:nvSpPr>
          <p:cNvPr id="8" name="accuracy-summary-label">
            <a:extLst>
              <a:ext uri="{FF2B5EF4-FFF2-40B4-BE49-F238E27FC236}">
                <a16:creationId xmlns:a16="http://schemas.microsoft.com/office/drawing/2014/main" id="{243EFCED-DB94-4E9E-ABB4-C36D15C79B31}"/>
              </a:ext>
            </a:extLst>
          </p:cNvPr>
          <p:cNvSpPr>
            <a:spLocks noGrp="1"/>
          </p:cNvSpPr>
          <p:nvPr/>
        </p:nvSpPr>
        <p:spPr>
          <a:xfrm>
            <a:off x="6410325" y="4895850"/>
            <a:ext cx="4857750" cy="209550"/>
          </a:xfrm>
          <a:prstGeom prst="rect">
            <a:avLst/>
          </a:prstGeom>
          <a:noFill/>
          <a:ln w="0">
            <a:noFill/>
          </a:ln>
        </p:spPr>
        <p:txBody>
          <a:bodyPr wrap="none" lIns="0" tIns="0" rIns="0" bIns="0" anchor="t">
            <a:noAutofit/>
          </a:bodyPr>
          <a:lstStyle>
            <a:defPPr algn="l">
              <a:defRPr sz="1400" b="0">
                <a:solidFill>
                  <a:srgbClr val="656B73"/>
                </a:solidFill>
                <a:latin typeface="Roboto"/>
                <a:ea typeface="Roboto"/>
                <a:cs typeface="Roboto"/>
              </a:defRPr>
            </a:defPPr>
            <a:lvl1pPr algn="l">
              <a:defRPr sz="1400" b="0">
                <a:solidFill>
                  <a:srgbClr val="656B73"/>
                </a:solidFill>
                <a:latin typeface="Roboto"/>
                <a:ea typeface="Roboto"/>
                <a:cs typeface="Roboto"/>
              </a:defRPr>
            </a:lvl1pPr>
            <a:lvl2pPr algn="l">
              <a:defRPr sz="1400" b="0">
                <a:solidFill>
                  <a:srgbClr val="656B73"/>
                </a:solidFill>
                <a:latin typeface="Roboto"/>
                <a:ea typeface="Roboto"/>
                <a:cs typeface="Roboto"/>
              </a:defRPr>
            </a:lvl2pPr>
            <a:lvl3pPr algn="l">
              <a:defRPr sz="1400" b="0">
                <a:solidFill>
                  <a:srgbClr val="656B73"/>
                </a:solidFill>
                <a:latin typeface="Roboto"/>
                <a:ea typeface="Roboto"/>
                <a:cs typeface="Roboto"/>
              </a:defRPr>
            </a:lvl3pPr>
            <a:lvl4pPr algn="l">
              <a:defRPr sz="1400" b="0">
                <a:solidFill>
                  <a:srgbClr val="656B73"/>
                </a:solidFill>
                <a:latin typeface="Roboto"/>
                <a:ea typeface="Roboto"/>
                <a:cs typeface="Roboto"/>
              </a:defRPr>
            </a:lvl4pPr>
            <a:lvl5pPr algn="l">
              <a:defRPr sz="1400" b="0">
                <a:solidFill>
                  <a:srgbClr val="656B73"/>
                </a:solidFill>
                <a:latin typeface="Roboto"/>
                <a:ea typeface="Roboto"/>
                <a:cs typeface="Roboto"/>
              </a:defRPr>
            </a:lvl5pPr>
            <a:lvl6pPr algn="l">
              <a:defRPr sz="1400" b="0">
                <a:solidFill>
                  <a:srgbClr val="656B73"/>
                </a:solidFill>
                <a:latin typeface="Roboto"/>
                <a:ea typeface="Roboto"/>
                <a:cs typeface="Roboto"/>
              </a:defRPr>
            </a:lvl6pPr>
            <a:lvl7pPr algn="l">
              <a:defRPr sz="1400" b="0">
                <a:solidFill>
                  <a:srgbClr val="656B73"/>
                </a:solidFill>
                <a:latin typeface="Roboto"/>
                <a:ea typeface="Roboto"/>
                <a:cs typeface="Roboto"/>
              </a:defRPr>
            </a:lvl7pPr>
            <a:lvl8pPr algn="l">
              <a:defRPr sz="1400" b="0">
                <a:solidFill>
                  <a:srgbClr val="656B73"/>
                </a:solidFill>
                <a:latin typeface="Roboto"/>
                <a:ea typeface="Roboto"/>
                <a:cs typeface="Roboto"/>
              </a:defRPr>
            </a:lvl8pPr>
            <a:lvl9pPr algn="l">
              <a:defRPr sz="1400" b="0">
                <a:solidFill>
                  <a:srgbClr val="656B73"/>
                </a:solidFill>
                <a:latin typeface="Roboto"/>
                <a:ea typeface="Roboto"/>
                <a:cs typeface="Roboto"/>
              </a:defRPr>
            </a:lvl9pPr>
          </a:lstStyle>
          <a:p>
            <a:pPr algn="l">
              <a:lnSpc>
                <a:spcPct val="100000"/>
              </a:lnSpc>
              <a:buNone/>
              <a:defRPr sz="1400" b="0">
                <a:solidFill>
                  <a:srgbClr val="656B73"/>
                </a:solidFill>
                <a:latin typeface="Roboto"/>
                <a:ea typeface="Roboto"/>
                <a:cs typeface="Roboto"/>
              </a:defRPr>
            </a:pPr>
            <a:r>
              <a:rPr sz="1400" b="0">
                <a:solidFill>
                  <a:srgbClr val="656B73"/>
                </a:solidFill>
                <a:latin typeface="Roboto"/>
                <a:ea typeface="Roboto"/>
                <a:cs typeface="Roboto"/>
              </a:rPr>
              <a:t>Highest test mIoU</a:t>
            </a:r>
          </a:p>
        </p:txBody>
      </p:sp>
      <p:sp>
        <p:nvSpPr>
          <p:cNvPr id="9" name="accuracy-summary">
            <a:extLst>
              <a:ext uri="{FF2B5EF4-FFF2-40B4-BE49-F238E27FC236}">
                <a16:creationId xmlns:a16="http://schemas.microsoft.com/office/drawing/2014/main" id="{19821EED-1E10-4718-BA03-6A68623EF573}"/>
              </a:ext>
            </a:extLst>
          </p:cNvPr>
          <p:cNvSpPr>
            <a:spLocks noGrp="1"/>
          </p:cNvSpPr>
          <p:nvPr/>
        </p:nvSpPr>
        <p:spPr>
          <a:xfrm>
            <a:off x="6410325" y="5124450"/>
            <a:ext cx="4857750" cy="276225"/>
          </a:xfrm>
          <a:prstGeom prst="rect">
            <a:avLst/>
          </a:prstGeom>
          <a:noFill/>
          <a:ln w="0">
            <a:noFill/>
          </a:ln>
        </p:spPr>
        <p:txBody>
          <a:bodyPr wrap="none" lIns="0" tIns="0" rIns="0" bIns="0" anchor="t">
            <a:noAutofit/>
          </a:bodyPr>
          <a:lstStyle>
            <a:defPPr algn="l">
              <a:defRPr sz="1900" b="1">
                <a:solidFill>
                  <a:srgbClr val="822433"/>
                </a:solidFill>
                <a:latin typeface="Roboto"/>
                <a:ea typeface="Roboto"/>
                <a:cs typeface="Roboto"/>
              </a:defRPr>
            </a:defPPr>
            <a:lvl1pPr algn="l">
              <a:defRPr sz="1900" b="1">
                <a:solidFill>
                  <a:srgbClr val="822433"/>
                </a:solidFill>
                <a:latin typeface="Roboto"/>
                <a:ea typeface="Roboto"/>
                <a:cs typeface="Roboto"/>
              </a:defRPr>
            </a:lvl1pPr>
            <a:lvl2pPr algn="l">
              <a:defRPr sz="1900" b="1">
                <a:solidFill>
                  <a:srgbClr val="822433"/>
                </a:solidFill>
                <a:latin typeface="Roboto"/>
                <a:ea typeface="Roboto"/>
                <a:cs typeface="Roboto"/>
              </a:defRPr>
            </a:lvl2pPr>
            <a:lvl3pPr algn="l">
              <a:defRPr sz="1900" b="1">
                <a:solidFill>
                  <a:srgbClr val="822433"/>
                </a:solidFill>
                <a:latin typeface="Roboto"/>
                <a:ea typeface="Roboto"/>
                <a:cs typeface="Roboto"/>
              </a:defRPr>
            </a:lvl3pPr>
            <a:lvl4pPr algn="l">
              <a:defRPr sz="1900" b="1">
                <a:solidFill>
                  <a:srgbClr val="822433"/>
                </a:solidFill>
                <a:latin typeface="Roboto"/>
                <a:ea typeface="Roboto"/>
                <a:cs typeface="Roboto"/>
              </a:defRPr>
            </a:lvl4pPr>
            <a:lvl5pPr algn="l">
              <a:defRPr sz="1900" b="1">
                <a:solidFill>
                  <a:srgbClr val="822433"/>
                </a:solidFill>
                <a:latin typeface="Roboto"/>
                <a:ea typeface="Roboto"/>
                <a:cs typeface="Roboto"/>
              </a:defRPr>
            </a:lvl5pPr>
            <a:lvl6pPr algn="l">
              <a:defRPr sz="1900" b="1">
                <a:solidFill>
                  <a:srgbClr val="822433"/>
                </a:solidFill>
                <a:latin typeface="Roboto"/>
                <a:ea typeface="Roboto"/>
                <a:cs typeface="Roboto"/>
              </a:defRPr>
            </a:lvl6pPr>
            <a:lvl7pPr algn="l">
              <a:defRPr sz="1900" b="1">
                <a:solidFill>
                  <a:srgbClr val="822433"/>
                </a:solidFill>
                <a:latin typeface="Roboto"/>
                <a:ea typeface="Roboto"/>
                <a:cs typeface="Roboto"/>
              </a:defRPr>
            </a:lvl7pPr>
            <a:lvl8pPr algn="l">
              <a:defRPr sz="1900" b="1">
                <a:solidFill>
                  <a:srgbClr val="822433"/>
                </a:solidFill>
                <a:latin typeface="Roboto"/>
                <a:ea typeface="Roboto"/>
                <a:cs typeface="Roboto"/>
              </a:defRPr>
            </a:lvl8pPr>
            <a:lvl9pPr algn="l">
              <a:defRPr sz="1900" b="1">
                <a:solidFill>
                  <a:srgbClr val="822433"/>
                </a:solidFill>
                <a:latin typeface="Roboto"/>
                <a:ea typeface="Roboto"/>
                <a:cs typeface="Roboto"/>
              </a:defRPr>
            </a:lvl9pPr>
          </a:lstStyle>
          <a:p>
            <a:pPr algn="l">
              <a:lnSpc>
                <a:spcPct val="100000"/>
              </a:lnSpc>
              <a:buNone/>
              <a:defRPr sz="1900" b="1">
                <a:solidFill>
                  <a:srgbClr val="822433"/>
                </a:solidFill>
                <a:latin typeface="Roboto"/>
                <a:ea typeface="Roboto"/>
                <a:cs typeface="Roboto"/>
              </a:defRPr>
            </a:pPr>
            <a:r>
              <a:rPr sz="1900" b="1">
                <a:solidFill>
                  <a:srgbClr val="822433"/>
                </a:solidFill>
                <a:latin typeface="Roboto"/>
                <a:ea typeface="Roboto"/>
                <a:cs typeface="Roboto"/>
              </a:rPr>
              <a:t>SegFormer-B0 QAT: 76.93%</a:t>
            </a:r>
          </a:p>
        </p:txBody>
      </p:sp>
      <p:sp>
        <p:nvSpPr>
          <p:cNvPr id="10" name="energy-summary-label">
            <a:extLst>
              <a:ext uri="{FF2B5EF4-FFF2-40B4-BE49-F238E27FC236}">
                <a16:creationId xmlns:a16="http://schemas.microsoft.com/office/drawing/2014/main" id="{2999E3CE-B449-4A09-84BD-C24529650A77}"/>
              </a:ext>
            </a:extLst>
          </p:cNvPr>
          <p:cNvSpPr>
            <a:spLocks noGrp="1"/>
          </p:cNvSpPr>
          <p:nvPr/>
        </p:nvSpPr>
        <p:spPr>
          <a:xfrm>
            <a:off x="6410325" y="5534025"/>
            <a:ext cx="4857750" cy="209550"/>
          </a:xfrm>
          <a:prstGeom prst="rect">
            <a:avLst/>
          </a:prstGeom>
          <a:noFill/>
          <a:ln w="0">
            <a:noFill/>
          </a:ln>
        </p:spPr>
        <p:txBody>
          <a:bodyPr wrap="none" lIns="0" tIns="0" rIns="0" bIns="0" anchor="t">
            <a:noAutofit/>
          </a:bodyPr>
          <a:lstStyle>
            <a:defPPr algn="l">
              <a:defRPr sz="1400" b="0">
                <a:solidFill>
                  <a:srgbClr val="656B73"/>
                </a:solidFill>
                <a:latin typeface="Roboto"/>
                <a:ea typeface="Roboto"/>
                <a:cs typeface="Roboto"/>
              </a:defRPr>
            </a:defPPr>
            <a:lvl1pPr algn="l">
              <a:defRPr sz="1400" b="0">
                <a:solidFill>
                  <a:srgbClr val="656B73"/>
                </a:solidFill>
                <a:latin typeface="Roboto"/>
                <a:ea typeface="Roboto"/>
                <a:cs typeface="Roboto"/>
              </a:defRPr>
            </a:lvl1pPr>
            <a:lvl2pPr algn="l">
              <a:defRPr sz="1400" b="0">
                <a:solidFill>
                  <a:srgbClr val="656B73"/>
                </a:solidFill>
                <a:latin typeface="Roboto"/>
                <a:ea typeface="Roboto"/>
                <a:cs typeface="Roboto"/>
              </a:defRPr>
            </a:lvl2pPr>
            <a:lvl3pPr algn="l">
              <a:defRPr sz="1400" b="0">
                <a:solidFill>
                  <a:srgbClr val="656B73"/>
                </a:solidFill>
                <a:latin typeface="Roboto"/>
                <a:ea typeface="Roboto"/>
                <a:cs typeface="Roboto"/>
              </a:defRPr>
            </a:lvl3pPr>
            <a:lvl4pPr algn="l">
              <a:defRPr sz="1400" b="0">
                <a:solidFill>
                  <a:srgbClr val="656B73"/>
                </a:solidFill>
                <a:latin typeface="Roboto"/>
                <a:ea typeface="Roboto"/>
                <a:cs typeface="Roboto"/>
              </a:defRPr>
            </a:lvl4pPr>
            <a:lvl5pPr algn="l">
              <a:defRPr sz="1400" b="0">
                <a:solidFill>
                  <a:srgbClr val="656B73"/>
                </a:solidFill>
                <a:latin typeface="Roboto"/>
                <a:ea typeface="Roboto"/>
                <a:cs typeface="Roboto"/>
              </a:defRPr>
            </a:lvl5pPr>
            <a:lvl6pPr algn="l">
              <a:defRPr sz="1400" b="0">
                <a:solidFill>
                  <a:srgbClr val="656B73"/>
                </a:solidFill>
                <a:latin typeface="Roboto"/>
                <a:ea typeface="Roboto"/>
                <a:cs typeface="Roboto"/>
              </a:defRPr>
            </a:lvl6pPr>
            <a:lvl7pPr algn="l">
              <a:defRPr sz="1400" b="0">
                <a:solidFill>
                  <a:srgbClr val="656B73"/>
                </a:solidFill>
                <a:latin typeface="Roboto"/>
                <a:ea typeface="Roboto"/>
                <a:cs typeface="Roboto"/>
              </a:defRPr>
            </a:lvl7pPr>
            <a:lvl8pPr algn="l">
              <a:defRPr sz="1400" b="0">
                <a:solidFill>
                  <a:srgbClr val="656B73"/>
                </a:solidFill>
                <a:latin typeface="Roboto"/>
                <a:ea typeface="Roboto"/>
                <a:cs typeface="Roboto"/>
              </a:defRPr>
            </a:lvl8pPr>
            <a:lvl9pPr algn="l">
              <a:defRPr sz="1400" b="0">
                <a:solidFill>
                  <a:srgbClr val="656B73"/>
                </a:solidFill>
                <a:latin typeface="Roboto"/>
                <a:ea typeface="Roboto"/>
                <a:cs typeface="Roboto"/>
              </a:defRPr>
            </a:lvl9pPr>
          </a:lstStyle>
          <a:p>
            <a:pPr algn="l">
              <a:lnSpc>
                <a:spcPct val="100000"/>
              </a:lnSpc>
              <a:buNone/>
              <a:defRPr sz="1400" b="0">
                <a:solidFill>
                  <a:srgbClr val="656B73"/>
                </a:solidFill>
                <a:latin typeface="Roboto"/>
                <a:ea typeface="Roboto"/>
                <a:cs typeface="Roboto"/>
              </a:defRPr>
            </a:pPr>
            <a:r>
              <a:rPr sz="1400" b="0">
                <a:solidFill>
                  <a:srgbClr val="656B73"/>
                </a:solidFill>
                <a:latin typeface="Roboto"/>
                <a:ea typeface="Roboto"/>
                <a:cs typeface="Roboto"/>
              </a:rPr>
              <a:t>Lowest GPU energy per image</a:t>
            </a:r>
          </a:p>
        </p:txBody>
      </p:sp>
      <p:sp>
        <p:nvSpPr>
          <p:cNvPr id="11" name="energy-summary">
            <a:extLst>
              <a:ext uri="{FF2B5EF4-FFF2-40B4-BE49-F238E27FC236}">
                <a16:creationId xmlns:a16="http://schemas.microsoft.com/office/drawing/2014/main" id="{2C79F46B-F2B1-485E-92F4-E820581C6990}"/>
              </a:ext>
            </a:extLst>
          </p:cNvPr>
          <p:cNvSpPr>
            <a:spLocks noGrp="1"/>
          </p:cNvSpPr>
          <p:nvPr/>
        </p:nvSpPr>
        <p:spPr>
          <a:xfrm>
            <a:off x="6410325" y="5762625"/>
            <a:ext cx="4857750" cy="276225"/>
          </a:xfrm>
          <a:prstGeom prst="rect">
            <a:avLst/>
          </a:prstGeom>
          <a:noFill/>
          <a:ln w="0">
            <a:noFill/>
          </a:ln>
        </p:spPr>
        <p:txBody>
          <a:bodyPr wrap="none" lIns="0" tIns="0" rIns="0" bIns="0" anchor="t">
            <a:noAutofit/>
          </a:bodyPr>
          <a:lstStyle>
            <a:defPPr algn="l">
              <a:defRPr sz="1800" b="1">
                <a:solidFill>
                  <a:srgbClr val="822433"/>
                </a:solidFill>
                <a:latin typeface="Roboto"/>
                <a:ea typeface="Roboto"/>
                <a:cs typeface="Roboto"/>
              </a:defRPr>
            </a:defPPr>
            <a:lvl1pPr algn="l">
              <a:defRPr sz="1800" b="1">
                <a:solidFill>
                  <a:srgbClr val="822433"/>
                </a:solidFill>
                <a:latin typeface="Roboto"/>
                <a:ea typeface="Roboto"/>
                <a:cs typeface="Roboto"/>
              </a:defRPr>
            </a:lvl1pPr>
            <a:lvl2pPr algn="l">
              <a:defRPr sz="1800" b="1">
                <a:solidFill>
                  <a:srgbClr val="822433"/>
                </a:solidFill>
                <a:latin typeface="Roboto"/>
                <a:ea typeface="Roboto"/>
                <a:cs typeface="Roboto"/>
              </a:defRPr>
            </a:lvl2pPr>
            <a:lvl3pPr algn="l">
              <a:defRPr sz="1800" b="1">
                <a:solidFill>
                  <a:srgbClr val="822433"/>
                </a:solidFill>
                <a:latin typeface="Roboto"/>
                <a:ea typeface="Roboto"/>
                <a:cs typeface="Roboto"/>
              </a:defRPr>
            </a:lvl3pPr>
            <a:lvl4pPr algn="l">
              <a:defRPr sz="1800" b="1">
                <a:solidFill>
                  <a:srgbClr val="822433"/>
                </a:solidFill>
                <a:latin typeface="Roboto"/>
                <a:ea typeface="Roboto"/>
                <a:cs typeface="Roboto"/>
              </a:defRPr>
            </a:lvl4pPr>
            <a:lvl5pPr algn="l">
              <a:defRPr sz="1800" b="1">
                <a:solidFill>
                  <a:srgbClr val="822433"/>
                </a:solidFill>
                <a:latin typeface="Roboto"/>
                <a:ea typeface="Roboto"/>
                <a:cs typeface="Roboto"/>
              </a:defRPr>
            </a:lvl5pPr>
            <a:lvl6pPr algn="l">
              <a:defRPr sz="1800" b="1">
                <a:solidFill>
                  <a:srgbClr val="822433"/>
                </a:solidFill>
                <a:latin typeface="Roboto"/>
                <a:ea typeface="Roboto"/>
                <a:cs typeface="Roboto"/>
              </a:defRPr>
            </a:lvl6pPr>
            <a:lvl7pPr algn="l">
              <a:defRPr sz="1800" b="1">
                <a:solidFill>
                  <a:srgbClr val="822433"/>
                </a:solidFill>
                <a:latin typeface="Roboto"/>
                <a:ea typeface="Roboto"/>
                <a:cs typeface="Roboto"/>
              </a:defRPr>
            </a:lvl7pPr>
            <a:lvl8pPr algn="l">
              <a:defRPr sz="1800" b="1">
                <a:solidFill>
                  <a:srgbClr val="822433"/>
                </a:solidFill>
                <a:latin typeface="Roboto"/>
                <a:ea typeface="Roboto"/>
                <a:cs typeface="Roboto"/>
              </a:defRPr>
            </a:lvl8pPr>
            <a:lvl9pPr algn="l">
              <a:defRPr sz="1800" b="1">
                <a:solidFill>
                  <a:srgbClr val="822433"/>
                </a:solidFill>
                <a:latin typeface="Roboto"/>
                <a:ea typeface="Roboto"/>
                <a:cs typeface="Roboto"/>
              </a:defRPr>
            </a:lvl9pPr>
          </a:lstStyle>
          <a:p>
            <a:pPr algn="l">
              <a:lnSpc>
                <a:spcPct val="100000"/>
              </a:lnSpc>
              <a:buNone/>
              <a:defRPr sz="1800" b="1">
                <a:solidFill>
                  <a:srgbClr val="822433"/>
                </a:solidFill>
                <a:latin typeface="Roboto"/>
                <a:ea typeface="Roboto"/>
                <a:cs typeface="Roboto"/>
              </a:defRPr>
            </a:pPr>
            <a:r>
              <a:rPr sz="1800" b="1">
                <a:solidFill>
                  <a:srgbClr val="822433"/>
                </a:solidFill>
                <a:latin typeface="Roboto"/>
                <a:ea typeface="Roboto"/>
                <a:cs typeface="Roboto"/>
              </a:rPr>
              <a:t>DeepLabV3+ MV2 QAT: 115.34 mJ</a:t>
            </a:r>
          </a:p>
        </p:txBody>
      </p:sp>
      <p:sp>
        <p:nvSpPr>
          <p:cNvPr id="12" name="benchmark-scope">
            <a:extLst>
              <a:ext uri="{FF2B5EF4-FFF2-40B4-BE49-F238E27FC236}">
                <a16:creationId xmlns:a16="http://schemas.microsoft.com/office/drawing/2014/main" id="{7041C165-033B-44F4-BD89-ADA6924AAD65}"/>
              </a:ext>
            </a:extLst>
          </p:cNvPr>
          <p:cNvSpPr>
            <a:spLocks noGrp="1"/>
          </p:cNvSpPr>
          <p:nvPr/>
        </p:nvSpPr>
        <p:spPr>
          <a:xfrm>
            <a:off x="762000" y="6143625"/>
            <a:ext cx="10668000" cy="171450"/>
          </a:xfrm>
          <a:prstGeom prst="rect">
            <a:avLst/>
          </a:prstGeom>
          <a:noFill/>
          <a:ln w="0">
            <a:noFill/>
          </a:ln>
        </p:spPr>
        <p:txBody>
          <a:bodyPr wrap="none" lIns="0" tIns="0" rIns="0" bIns="0" anchor="t">
            <a:noAutofit/>
          </a:bodyPr>
          <a:lstStyle>
            <a:defPPr algn="l">
              <a:defRPr sz="1200" b="0">
                <a:solidFill>
                  <a:srgbClr val="656B73"/>
                </a:solidFill>
                <a:latin typeface="Roboto"/>
                <a:ea typeface="Roboto"/>
                <a:cs typeface="Roboto"/>
              </a:defRPr>
            </a:defPPr>
            <a:lvl1pPr algn="l">
              <a:defRPr sz="1200" b="0">
                <a:solidFill>
                  <a:srgbClr val="656B73"/>
                </a:solidFill>
                <a:latin typeface="Roboto"/>
                <a:ea typeface="Roboto"/>
                <a:cs typeface="Roboto"/>
              </a:defRPr>
            </a:lvl1pPr>
            <a:lvl2pPr algn="l">
              <a:defRPr sz="1200" b="0">
                <a:solidFill>
                  <a:srgbClr val="656B73"/>
                </a:solidFill>
                <a:latin typeface="Roboto"/>
                <a:ea typeface="Roboto"/>
                <a:cs typeface="Roboto"/>
              </a:defRPr>
            </a:lvl2pPr>
            <a:lvl3pPr algn="l">
              <a:defRPr sz="1200" b="0">
                <a:solidFill>
                  <a:srgbClr val="656B73"/>
                </a:solidFill>
                <a:latin typeface="Roboto"/>
                <a:ea typeface="Roboto"/>
                <a:cs typeface="Roboto"/>
              </a:defRPr>
            </a:lvl3pPr>
            <a:lvl4pPr algn="l">
              <a:defRPr sz="1200" b="0">
                <a:solidFill>
                  <a:srgbClr val="656B73"/>
                </a:solidFill>
                <a:latin typeface="Roboto"/>
                <a:ea typeface="Roboto"/>
                <a:cs typeface="Roboto"/>
              </a:defRPr>
            </a:lvl4pPr>
            <a:lvl5pPr algn="l">
              <a:defRPr sz="1200" b="0">
                <a:solidFill>
                  <a:srgbClr val="656B73"/>
                </a:solidFill>
                <a:latin typeface="Roboto"/>
                <a:ea typeface="Roboto"/>
                <a:cs typeface="Roboto"/>
              </a:defRPr>
            </a:lvl5pPr>
            <a:lvl6pPr algn="l">
              <a:defRPr sz="1200" b="0">
                <a:solidFill>
                  <a:srgbClr val="656B73"/>
                </a:solidFill>
                <a:latin typeface="Roboto"/>
                <a:ea typeface="Roboto"/>
                <a:cs typeface="Roboto"/>
              </a:defRPr>
            </a:lvl6pPr>
            <a:lvl7pPr algn="l">
              <a:defRPr sz="1200" b="0">
                <a:solidFill>
                  <a:srgbClr val="656B73"/>
                </a:solidFill>
                <a:latin typeface="Roboto"/>
                <a:ea typeface="Roboto"/>
                <a:cs typeface="Roboto"/>
              </a:defRPr>
            </a:lvl7pPr>
            <a:lvl8pPr algn="l">
              <a:defRPr sz="1200" b="0">
                <a:solidFill>
                  <a:srgbClr val="656B73"/>
                </a:solidFill>
                <a:latin typeface="Roboto"/>
                <a:ea typeface="Roboto"/>
                <a:cs typeface="Roboto"/>
              </a:defRPr>
            </a:lvl8pPr>
            <a:lvl9pPr algn="l">
              <a:defRPr sz="1200" b="0">
                <a:solidFill>
                  <a:srgbClr val="656B73"/>
                </a:solidFill>
                <a:latin typeface="Roboto"/>
                <a:ea typeface="Roboto"/>
                <a:cs typeface="Roboto"/>
              </a:defRPr>
            </a:lvl9pPr>
          </a:lstStyle>
          <a:p>
            <a:pPr algn="l">
              <a:lnSpc>
                <a:spcPct val="100000"/>
              </a:lnSpc>
              <a:buNone/>
              <a:defRPr sz="1200" b="0">
                <a:solidFill>
                  <a:srgbClr val="656B73"/>
                </a:solidFill>
                <a:latin typeface="Roboto"/>
                <a:ea typeface="Roboto"/>
                <a:cs typeface="Roboto"/>
              </a:defRPr>
            </a:pPr>
            <a:r>
              <a:rPr sz="1200" b="0" dirty="0">
                <a:solidFill>
                  <a:srgbClr val="656B73"/>
                </a:solidFill>
                <a:latin typeface="Roboto"/>
                <a:ea typeface="Roboto"/>
                <a:cs typeface="Roboto"/>
              </a:rPr>
              <a:t>S5Mars test. NVIDIA T4, batch 1.</a:t>
            </a:r>
          </a:p>
        </p:txBody>
      </p:sp>
      <p:sp>
        <p:nvSpPr>
          <p:cNvPr id="13" name="quantization-scope">
            <a:extLst>
              <a:ext uri="{FF2B5EF4-FFF2-40B4-BE49-F238E27FC236}">
                <a16:creationId xmlns:a16="http://schemas.microsoft.com/office/drawing/2014/main" id="{893B8B5D-7633-4E10-B6BA-309CBF6F78DE}"/>
              </a:ext>
            </a:extLst>
          </p:cNvPr>
          <p:cNvSpPr>
            <a:spLocks noGrp="1"/>
          </p:cNvSpPr>
          <p:nvPr/>
        </p:nvSpPr>
        <p:spPr>
          <a:xfrm>
            <a:off x="762000" y="6324600"/>
            <a:ext cx="10668000" cy="161925"/>
          </a:xfrm>
          <a:prstGeom prst="rect">
            <a:avLst/>
          </a:prstGeom>
          <a:noFill/>
          <a:ln w="0">
            <a:noFill/>
          </a:ln>
        </p:spPr>
        <p:txBody>
          <a:bodyPr wrap="none" lIns="0" tIns="0" rIns="0" bIns="0" anchor="t">
            <a:noAutofit/>
          </a:bodyPr>
          <a:lstStyle>
            <a:defPPr algn="l">
              <a:defRPr sz="1200" b="0">
                <a:solidFill>
                  <a:srgbClr val="656B73"/>
                </a:solidFill>
                <a:latin typeface="Roboto"/>
                <a:ea typeface="Roboto"/>
                <a:cs typeface="Roboto"/>
              </a:defRPr>
            </a:defPPr>
            <a:lvl1pPr algn="l">
              <a:defRPr sz="1200" b="0">
                <a:solidFill>
                  <a:srgbClr val="656B73"/>
                </a:solidFill>
                <a:latin typeface="Roboto"/>
                <a:ea typeface="Roboto"/>
                <a:cs typeface="Roboto"/>
              </a:defRPr>
            </a:lvl1pPr>
            <a:lvl2pPr algn="l">
              <a:defRPr sz="1200" b="0">
                <a:solidFill>
                  <a:srgbClr val="656B73"/>
                </a:solidFill>
                <a:latin typeface="Roboto"/>
                <a:ea typeface="Roboto"/>
                <a:cs typeface="Roboto"/>
              </a:defRPr>
            </a:lvl2pPr>
            <a:lvl3pPr algn="l">
              <a:defRPr sz="1200" b="0">
                <a:solidFill>
                  <a:srgbClr val="656B73"/>
                </a:solidFill>
                <a:latin typeface="Roboto"/>
                <a:ea typeface="Roboto"/>
                <a:cs typeface="Roboto"/>
              </a:defRPr>
            </a:lvl3pPr>
            <a:lvl4pPr algn="l">
              <a:defRPr sz="1200" b="0">
                <a:solidFill>
                  <a:srgbClr val="656B73"/>
                </a:solidFill>
                <a:latin typeface="Roboto"/>
                <a:ea typeface="Roboto"/>
                <a:cs typeface="Roboto"/>
              </a:defRPr>
            </a:lvl4pPr>
            <a:lvl5pPr algn="l">
              <a:defRPr sz="1200" b="0">
                <a:solidFill>
                  <a:srgbClr val="656B73"/>
                </a:solidFill>
                <a:latin typeface="Roboto"/>
                <a:ea typeface="Roboto"/>
                <a:cs typeface="Roboto"/>
              </a:defRPr>
            </a:lvl5pPr>
            <a:lvl6pPr algn="l">
              <a:defRPr sz="1200" b="0">
                <a:solidFill>
                  <a:srgbClr val="656B73"/>
                </a:solidFill>
                <a:latin typeface="Roboto"/>
                <a:ea typeface="Roboto"/>
                <a:cs typeface="Roboto"/>
              </a:defRPr>
            </a:lvl6pPr>
            <a:lvl7pPr algn="l">
              <a:defRPr sz="1200" b="0">
                <a:solidFill>
                  <a:srgbClr val="656B73"/>
                </a:solidFill>
                <a:latin typeface="Roboto"/>
                <a:ea typeface="Roboto"/>
                <a:cs typeface="Roboto"/>
              </a:defRPr>
            </a:lvl7pPr>
            <a:lvl8pPr algn="l">
              <a:defRPr sz="1200" b="0">
                <a:solidFill>
                  <a:srgbClr val="656B73"/>
                </a:solidFill>
                <a:latin typeface="Roboto"/>
                <a:ea typeface="Roboto"/>
                <a:cs typeface="Roboto"/>
              </a:defRPr>
            </a:lvl8pPr>
            <a:lvl9pPr algn="l">
              <a:defRPr sz="1200" b="0">
                <a:solidFill>
                  <a:srgbClr val="656B73"/>
                </a:solidFill>
                <a:latin typeface="Roboto"/>
                <a:ea typeface="Roboto"/>
                <a:cs typeface="Roboto"/>
              </a:defRPr>
            </a:lvl9pPr>
          </a:lstStyle>
          <a:p>
            <a:pPr algn="l">
              <a:lnSpc>
                <a:spcPct val="100000"/>
              </a:lnSpc>
              <a:buNone/>
              <a:defRPr sz="1200" b="0">
                <a:solidFill>
                  <a:srgbClr val="656B73"/>
                </a:solidFill>
                <a:latin typeface="Roboto"/>
                <a:ea typeface="Roboto"/>
                <a:cs typeface="Roboto"/>
              </a:defRPr>
            </a:pPr>
            <a:r>
              <a:rPr sz="1200" b="0" dirty="0">
                <a:solidFill>
                  <a:srgbClr val="656B73"/>
                </a:solidFill>
                <a:latin typeface="Roboto"/>
                <a:ea typeface="Roboto"/>
                <a:cs typeface="Roboto"/>
              </a:rPr>
              <a:t>INT8 uses selective mixed precision (</a:t>
            </a:r>
            <a:r>
              <a:rPr sz="1200" b="0" dirty="0" err="1">
                <a:solidFill>
                  <a:srgbClr val="656B73"/>
                </a:solidFill>
                <a:latin typeface="Roboto"/>
                <a:ea typeface="Roboto"/>
                <a:cs typeface="Roboto"/>
              </a:rPr>
              <a:t>SegFormer</a:t>
            </a:r>
            <a:r>
              <a:rPr sz="1200" b="0" dirty="0">
                <a:solidFill>
                  <a:srgbClr val="656B73"/>
                </a:solidFill>
                <a:latin typeface="Roboto"/>
                <a:ea typeface="Roboto"/>
                <a:cs typeface="Roboto"/>
              </a:rPr>
              <a:t>: Conv-only).</a:t>
            </a:r>
          </a:p>
        </p:txBody>
      </p:sp>
    </p:spTree>
    <p:extLst>
      <p:ext uri="{BB962C8B-B14F-4D97-AF65-F5344CB8AC3E}">
        <p14:creationId xmlns:p14="http://schemas.microsoft.com/office/powerpoint/2010/main" val="2117216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D9198-F4A3-DA17-DFEC-5A14495D4A4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473940F-76E2-3D3D-173D-4D0E93D9C989}"/>
              </a:ext>
            </a:extLst>
          </p:cNvPr>
          <p:cNvSpPr>
            <a:spLocks noGrp="1"/>
          </p:cNvSpPr>
          <p:nvPr>
            <p:ph type="title"/>
          </p:nvPr>
        </p:nvSpPr>
        <p:spPr>
          <a:xfrm>
            <a:off x="838200" y="365125"/>
            <a:ext cx="8943109" cy="835787"/>
          </a:xfrm>
        </p:spPr>
        <p:txBody>
          <a:bodyPr>
            <a:normAutofit/>
          </a:bodyPr>
          <a:lstStyle/>
          <a:p>
            <a:r>
              <a:rPr lang="en-US" noProof="0" dirty="0">
                <a:solidFill>
                  <a:srgbClr val="822433"/>
                </a:solidFill>
              </a:rPr>
              <a:t>Extra: Anomaly Detection Results </a:t>
            </a:r>
          </a:p>
        </p:txBody>
      </p:sp>
      <p:sp>
        <p:nvSpPr>
          <p:cNvPr id="4" name="Google Shape;102;p14">
            <a:extLst>
              <a:ext uri="{FF2B5EF4-FFF2-40B4-BE49-F238E27FC236}">
                <a16:creationId xmlns:a16="http://schemas.microsoft.com/office/drawing/2014/main" id="{592AE08C-E482-EC6B-7548-14433CB345D2}"/>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44</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340E6D81-0E0D-AF99-DDA2-50BDC08B6D8A}"/>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9" name="metric-context">
            <a:extLst>
              <a:ext uri="{FF2B5EF4-FFF2-40B4-BE49-F238E27FC236}">
                <a16:creationId xmlns:a16="http://schemas.microsoft.com/office/drawing/2014/main" id="{3F4688D1-1688-88AB-61B3-0C850EFEA790}"/>
              </a:ext>
            </a:extLst>
          </p:cNvPr>
          <p:cNvSpPr>
            <a:spLocks noGrp="1"/>
          </p:cNvSpPr>
          <p:nvPr/>
        </p:nvSpPr>
        <p:spPr>
          <a:xfrm>
            <a:off x="838200" y="5543259"/>
            <a:ext cx="9906000" cy="447675"/>
          </a:xfrm>
          <a:prstGeom prst="rect">
            <a:avLst/>
          </a:prstGeom>
          <a:noFill/>
          <a:ln w="0">
            <a:noFill/>
          </a:ln>
        </p:spPr>
        <p:txBody>
          <a:bodyPr wrap="square" lIns="0" tIns="0" rIns="0" bIns="0" anchor="t">
            <a:noAutofit/>
          </a:bodyPr>
          <a:lstStyle>
            <a:defPPr algn="l">
              <a:defRPr lang="en-US" sz="2025" b="0">
                <a:solidFill>
                  <a:srgbClr val="656B73"/>
                </a:solidFill>
                <a:latin typeface="Roboto"/>
                <a:ea typeface="Roboto"/>
                <a:cs typeface="Roboto"/>
              </a:defRPr>
            </a:defPPr>
            <a:lvl1pPr algn="l">
              <a:defRPr lang="en-US" sz="2025" b="0">
                <a:solidFill>
                  <a:srgbClr val="656B73"/>
                </a:solidFill>
                <a:latin typeface="Roboto"/>
                <a:ea typeface="Roboto"/>
                <a:cs typeface="Roboto"/>
              </a:defRPr>
            </a:lvl1pPr>
            <a:lvl2pPr algn="l">
              <a:defRPr lang="en-US" sz="2025" b="0">
                <a:solidFill>
                  <a:srgbClr val="656B73"/>
                </a:solidFill>
                <a:latin typeface="Roboto"/>
                <a:ea typeface="Roboto"/>
                <a:cs typeface="Roboto"/>
              </a:defRPr>
            </a:lvl2pPr>
            <a:lvl3pPr algn="l">
              <a:defRPr lang="en-US" sz="2025" b="0">
                <a:solidFill>
                  <a:srgbClr val="656B73"/>
                </a:solidFill>
                <a:latin typeface="Roboto"/>
                <a:ea typeface="Roboto"/>
                <a:cs typeface="Roboto"/>
              </a:defRPr>
            </a:lvl3pPr>
            <a:lvl4pPr algn="l">
              <a:defRPr lang="en-US" sz="2025" b="0">
                <a:solidFill>
                  <a:srgbClr val="656B73"/>
                </a:solidFill>
                <a:latin typeface="Roboto"/>
                <a:ea typeface="Roboto"/>
                <a:cs typeface="Roboto"/>
              </a:defRPr>
            </a:lvl4pPr>
            <a:lvl5pPr algn="l">
              <a:defRPr lang="en-US" sz="2025" b="0">
                <a:solidFill>
                  <a:srgbClr val="656B73"/>
                </a:solidFill>
                <a:latin typeface="Roboto"/>
                <a:ea typeface="Roboto"/>
                <a:cs typeface="Roboto"/>
              </a:defRPr>
            </a:lvl5pPr>
            <a:lvl6pPr algn="l">
              <a:defRPr lang="en-US" sz="2025" b="0">
                <a:solidFill>
                  <a:srgbClr val="656B73"/>
                </a:solidFill>
                <a:latin typeface="Roboto"/>
                <a:ea typeface="Roboto"/>
                <a:cs typeface="Roboto"/>
              </a:defRPr>
            </a:lvl6pPr>
            <a:lvl7pPr algn="l">
              <a:defRPr lang="en-US" sz="2025" b="0">
                <a:solidFill>
                  <a:srgbClr val="656B73"/>
                </a:solidFill>
                <a:latin typeface="Roboto"/>
                <a:ea typeface="Roboto"/>
                <a:cs typeface="Roboto"/>
              </a:defRPr>
            </a:lvl7pPr>
            <a:lvl8pPr algn="l">
              <a:defRPr lang="en-US" sz="2025" b="0">
                <a:solidFill>
                  <a:srgbClr val="656B73"/>
                </a:solidFill>
                <a:latin typeface="Roboto"/>
                <a:ea typeface="Roboto"/>
                <a:cs typeface="Roboto"/>
              </a:defRPr>
            </a:lvl8pPr>
            <a:lvl9pPr algn="l">
              <a:defRPr lang="en-US" sz="2025" b="0">
                <a:solidFill>
                  <a:srgbClr val="656B73"/>
                </a:solidFill>
                <a:latin typeface="Roboto"/>
                <a:ea typeface="Roboto"/>
                <a:cs typeface="Roboto"/>
              </a:defRPr>
            </a:lvl9pPr>
          </a:lstStyle>
          <a:p>
            <a:pPr algn="l">
              <a:defRPr lang="en-US" sz="2025" b="0">
                <a:solidFill>
                  <a:srgbClr val="656B73"/>
                </a:solidFill>
                <a:latin typeface="Roboto"/>
                <a:ea typeface="Roboto"/>
                <a:cs typeface="Roboto"/>
              </a:defRPr>
            </a:pPr>
            <a:r>
              <a:rPr lang="en-US" sz="1600" b="0" dirty="0">
                <a:solidFill>
                  <a:srgbClr val="656B73"/>
                </a:solidFill>
                <a:latin typeface="Roboto"/>
                <a:ea typeface="Roboto"/>
                <a:cs typeface="Roboto"/>
              </a:rPr>
              <a:t>Image-level metrics, pose-A test, 808 images</a:t>
            </a:r>
          </a:p>
        </p:txBody>
      </p:sp>
      <p:graphicFrame>
        <p:nvGraphicFramePr>
          <p:cNvPr id="11" name="Tabella 10">
            <a:extLst>
              <a:ext uri="{FF2B5EF4-FFF2-40B4-BE49-F238E27FC236}">
                <a16:creationId xmlns:a16="http://schemas.microsoft.com/office/drawing/2014/main" id="{6F7435D5-EF9E-DA9B-DB57-5A36E9AD425C}"/>
              </a:ext>
            </a:extLst>
          </p:cNvPr>
          <p:cNvGraphicFramePr/>
          <p:nvPr>
            <p:extLst>
              <p:ext uri="{D42A27DB-BD31-4B8C-83A1-F6EECF244321}">
                <p14:modId xmlns:p14="http://schemas.microsoft.com/office/powerpoint/2010/main" val="3911279964"/>
              </p:ext>
            </p:extLst>
          </p:nvPr>
        </p:nvGraphicFramePr>
        <p:xfrm>
          <a:off x="762000" y="2143125"/>
          <a:ext cx="10668000" cy="3379470"/>
        </p:xfrm>
        <a:graphic>
          <a:graphicData uri="http://schemas.openxmlformats.org/drawingml/2006/table">
            <a:tbl>
              <a:tblPr>
                <a:effectLst>
                  <a:outerShdw blurRad="50800" dist="38100" dir="2700000" algn="tl" rotWithShape="0">
                    <a:prstClr val="black">
                      <a:alpha val="40000"/>
                    </a:prstClr>
                  </a:outerShdw>
                </a:effectLst>
              </a:tblPr>
              <a:tblGrid>
                <a:gridCol w="4572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gridCol w="3048000">
                  <a:extLst>
                    <a:ext uri="{9D8B030D-6E8A-4147-A177-3AD203B41FA5}">
                      <a16:colId xmlns:a16="http://schemas.microsoft.com/office/drawing/2014/main" val="20002"/>
                    </a:ext>
                  </a:extLst>
                </a:gridCol>
              </a:tblGrid>
              <a:tr h="590550">
                <a:tc>
                  <a:txBody>
                    <a:bodyPr/>
                    <a:lstStyle/>
                    <a:p>
                      <a:pPr algn="ctr"/>
                      <a:r>
                        <a:rPr lang="en-US" sz="1875" b="1" dirty="0">
                          <a:solidFill>
                            <a:schemeClr val="bg1"/>
                          </a:solidFill>
                          <a:latin typeface="Roboto"/>
                          <a:ea typeface="Roboto"/>
                          <a:cs typeface="Roboto"/>
                        </a:rPr>
                        <a:t>Model</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Image AUROC (%)</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Image AP (%)</a:t>
                      </a:r>
                    </a:p>
                  </a:txBody>
                  <a:tcPr marL="76200" marR="76200" marT="38100" marB="38100" anchor="ctr">
                    <a:lnL w="0">
                      <a:noFill/>
                    </a:lnL>
                    <a:lnR w="0">
                      <a:noFill/>
                    </a:lnR>
                    <a:lnT w="0">
                      <a:noFill/>
                    </a:lnT>
                    <a:lnB w="0">
                      <a:noFill/>
                    </a:lnB>
                    <a:lnTlToBr w="0">
                      <a:noFill/>
                    </a:lnTlToBr>
                    <a:lnBlToTr w="0">
                      <a:noFill/>
                    </a:lnBlToTr>
                    <a:solidFill>
                      <a:srgbClr val="822433"/>
                    </a:solidFill>
                  </a:tcPr>
                </a:tc>
                <a:extLst>
                  <a:ext uri="{0D108BD9-81ED-4DB2-BD59-A6C34878D82A}">
                    <a16:rowId xmlns:a16="http://schemas.microsoft.com/office/drawing/2014/main" val="10000"/>
                  </a:ext>
                </a:extLst>
              </a:tr>
              <a:tr h="457200">
                <a:tc>
                  <a:txBody>
                    <a:bodyPr/>
                    <a:lstStyle/>
                    <a:p>
                      <a:pPr algn="l"/>
                      <a:r>
                        <a:rPr lang="en-US" sz="2025" dirty="0">
                          <a:solidFill>
                            <a:srgbClr val="202124"/>
                          </a:solidFill>
                          <a:latin typeface="Roboto"/>
                          <a:ea typeface="Roboto"/>
                          <a:cs typeface="Roboto"/>
                        </a:rPr>
                        <a:t>PatchCore-S</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550" dirty="0">
                          <a:solidFill>
                            <a:srgbClr val="202124"/>
                          </a:solidFill>
                          <a:latin typeface="Roboto"/>
                          <a:ea typeface="Roboto"/>
                          <a:cs typeface="Roboto"/>
                        </a:rPr>
                        <a:t>79.28</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550" dirty="0">
                          <a:solidFill>
                            <a:srgbClr val="202124"/>
                          </a:solidFill>
                          <a:latin typeface="Roboto"/>
                          <a:ea typeface="Roboto"/>
                          <a:cs typeface="Roboto"/>
                        </a:rPr>
                        <a:t>77.49</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1"/>
                  </a:ext>
                </a:extLst>
              </a:tr>
              <a:tr h="457200">
                <a:tc>
                  <a:txBody>
                    <a:bodyPr/>
                    <a:lstStyle/>
                    <a:p>
                      <a:pPr algn="l"/>
                      <a:r>
                        <a:rPr lang="en-US" sz="2025" b="1">
                          <a:solidFill>
                            <a:srgbClr val="822433"/>
                          </a:solidFill>
                          <a:latin typeface="Roboto"/>
                          <a:ea typeface="Roboto"/>
                          <a:cs typeface="Roboto"/>
                        </a:rPr>
                        <a:t>PatchCore-L</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550" b="1" dirty="0">
                          <a:solidFill>
                            <a:srgbClr val="822433"/>
                          </a:solidFill>
                          <a:latin typeface="Roboto"/>
                          <a:ea typeface="Roboto"/>
                          <a:cs typeface="Roboto"/>
                        </a:rPr>
                        <a:t>86.43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550" b="1">
                          <a:solidFill>
                            <a:srgbClr val="822433"/>
                          </a:solidFill>
                          <a:latin typeface="Roboto"/>
                          <a:ea typeface="Roboto"/>
                          <a:cs typeface="Roboto"/>
                        </a:rPr>
                        <a:t>88.63</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2"/>
                  </a:ext>
                </a:extLst>
              </a:tr>
              <a:tr h="457200">
                <a:tc>
                  <a:txBody>
                    <a:bodyPr/>
                    <a:lstStyle/>
                    <a:p>
                      <a:pPr algn="l"/>
                      <a:r>
                        <a:rPr lang="en-US" sz="2025" dirty="0">
                          <a:solidFill>
                            <a:srgbClr val="202124"/>
                          </a:solidFill>
                          <a:latin typeface="Roboto"/>
                          <a:ea typeface="Roboto"/>
                          <a:cs typeface="Roboto"/>
                        </a:rPr>
                        <a:t>EfficientAD-S</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550" dirty="0">
                          <a:solidFill>
                            <a:srgbClr val="202124"/>
                          </a:solidFill>
                          <a:latin typeface="Roboto"/>
                          <a:ea typeface="Roboto"/>
                          <a:cs typeface="Roboto"/>
                        </a:rPr>
                        <a:t>66.50</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550" dirty="0">
                          <a:solidFill>
                            <a:srgbClr val="202124"/>
                          </a:solidFill>
                          <a:latin typeface="Roboto"/>
                          <a:ea typeface="Roboto"/>
                          <a:cs typeface="Roboto"/>
                        </a:rPr>
                        <a:t>64.74</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3"/>
                  </a:ext>
                </a:extLst>
              </a:tr>
              <a:tr h="457200">
                <a:tc>
                  <a:txBody>
                    <a:bodyPr/>
                    <a:lstStyle/>
                    <a:p>
                      <a:pPr algn="l"/>
                      <a:r>
                        <a:rPr lang="en-US" sz="2025" dirty="0" err="1">
                          <a:solidFill>
                            <a:srgbClr val="202124"/>
                          </a:solidFill>
                          <a:latin typeface="Roboto"/>
                          <a:ea typeface="Roboto"/>
                          <a:cs typeface="Roboto"/>
                        </a:rPr>
                        <a:t>SuperSimpleNet</a:t>
                      </a:r>
                      <a:endParaRPr lang="en-US" sz="2025" dirty="0">
                        <a:solidFill>
                          <a:srgbClr val="202124"/>
                        </a:solidFill>
                        <a:latin typeface="Roboto"/>
                        <a:ea typeface="Roboto"/>
                        <a:cs typeface="Roboto"/>
                      </a:endParaRP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550" dirty="0">
                          <a:solidFill>
                            <a:srgbClr val="202124"/>
                          </a:solidFill>
                          <a:latin typeface="Roboto"/>
                          <a:ea typeface="Roboto"/>
                          <a:cs typeface="Roboto"/>
                        </a:rPr>
                        <a:t>82.72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550" dirty="0">
                          <a:solidFill>
                            <a:srgbClr val="202124"/>
                          </a:solidFill>
                          <a:latin typeface="Roboto"/>
                          <a:ea typeface="Roboto"/>
                          <a:cs typeface="Roboto"/>
                        </a:rPr>
                        <a:t>86.08</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4"/>
                  </a:ext>
                </a:extLst>
              </a:tr>
              <a:tr h="457200">
                <a:tc>
                  <a:txBody>
                    <a:bodyPr/>
                    <a:lstStyle/>
                    <a:p>
                      <a:pPr algn="l"/>
                      <a:r>
                        <a:rPr lang="en-US" sz="2025" dirty="0">
                          <a:solidFill>
                            <a:srgbClr val="202124"/>
                          </a:solidFill>
                          <a:latin typeface="Roboto"/>
                          <a:ea typeface="Roboto"/>
                          <a:cs typeface="Roboto"/>
                        </a:rPr>
                        <a:t>TinyGLASS-384</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550" dirty="0">
                          <a:solidFill>
                            <a:srgbClr val="202124"/>
                          </a:solidFill>
                          <a:latin typeface="Roboto"/>
                          <a:ea typeface="Roboto"/>
                          <a:cs typeface="Roboto"/>
                        </a:rPr>
                        <a:t>77.52</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550" dirty="0">
                          <a:solidFill>
                            <a:srgbClr val="202124"/>
                          </a:solidFill>
                          <a:latin typeface="Roboto"/>
                          <a:ea typeface="Roboto"/>
                          <a:cs typeface="Roboto"/>
                        </a:rPr>
                        <a:t>79.28</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5"/>
                  </a:ext>
                </a:extLst>
              </a:tr>
              <a:tr h="457200">
                <a:tc>
                  <a:txBody>
                    <a:bodyPr/>
                    <a:lstStyle/>
                    <a:p>
                      <a:pPr algn="l"/>
                      <a:r>
                        <a:rPr lang="en-US" sz="2025">
                          <a:solidFill>
                            <a:srgbClr val="202124"/>
                          </a:solidFill>
                          <a:latin typeface="Roboto"/>
                          <a:ea typeface="Roboto"/>
                          <a:cs typeface="Roboto"/>
                        </a:rPr>
                        <a:t>TinyGLASS-512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550">
                          <a:solidFill>
                            <a:srgbClr val="202124"/>
                          </a:solidFill>
                          <a:latin typeface="Roboto"/>
                          <a:ea typeface="Roboto"/>
                          <a:cs typeface="Roboto"/>
                        </a:rPr>
                        <a:t>77.33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550" dirty="0">
                          <a:solidFill>
                            <a:srgbClr val="202124"/>
                          </a:solidFill>
                          <a:latin typeface="Roboto"/>
                          <a:ea typeface="Roboto"/>
                          <a:cs typeface="Roboto"/>
                        </a:rPr>
                        <a:t>81.12</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960015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0445D-7C09-D000-8FB3-DEF2E5FB6EB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C67F964E-E6F7-3923-599F-EF74CBA5FC4B}"/>
              </a:ext>
            </a:extLst>
          </p:cNvPr>
          <p:cNvSpPr>
            <a:spLocks noGrp="1"/>
          </p:cNvSpPr>
          <p:nvPr>
            <p:ph type="title"/>
          </p:nvPr>
        </p:nvSpPr>
        <p:spPr>
          <a:xfrm>
            <a:off x="838200" y="365125"/>
            <a:ext cx="8384177" cy="835787"/>
          </a:xfrm>
        </p:spPr>
        <p:txBody>
          <a:bodyPr/>
          <a:lstStyle/>
          <a:p>
            <a:r>
              <a:rPr lang="en-US" noProof="0" dirty="0">
                <a:solidFill>
                  <a:srgbClr val="822433"/>
                </a:solidFill>
              </a:rPr>
              <a:t>Extra: Localization Results</a:t>
            </a:r>
          </a:p>
        </p:txBody>
      </p:sp>
      <p:sp>
        <p:nvSpPr>
          <p:cNvPr id="4" name="Google Shape;102;p14">
            <a:extLst>
              <a:ext uri="{FF2B5EF4-FFF2-40B4-BE49-F238E27FC236}">
                <a16:creationId xmlns:a16="http://schemas.microsoft.com/office/drawing/2014/main" id="{BE1BC039-D2AD-531B-2D9C-57D112B1C3D3}"/>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45</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ABA391CC-934B-73DA-2F66-727D82A6E1DB}"/>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sp>
        <p:nvSpPr>
          <p:cNvPr id="7" name="metric-context">
            <a:extLst>
              <a:ext uri="{FF2B5EF4-FFF2-40B4-BE49-F238E27FC236}">
                <a16:creationId xmlns:a16="http://schemas.microsoft.com/office/drawing/2014/main" id="{D776CE94-E202-0B44-374F-BCC03E644389}"/>
              </a:ext>
            </a:extLst>
          </p:cNvPr>
          <p:cNvSpPr>
            <a:spLocks noGrp="1"/>
          </p:cNvSpPr>
          <p:nvPr/>
        </p:nvSpPr>
        <p:spPr>
          <a:xfrm>
            <a:off x="762000" y="5610225"/>
            <a:ext cx="9906000" cy="447675"/>
          </a:xfrm>
          <a:prstGeom prst="rect">
            <a:avLst/>
          </a:prstGeom>
          <a:noFill/>
          <a:ln w="0">
            <a:noFill/>
          </a:ln>
        </p:spPr>
        <p:txBody>
          <a:bodyPr wrap="square" lIns="0" tIns="0" rIns="0" bIns="0" anchor="t">
            <a:noAutofit/>
          </a:bodyPr>
          <a:lstStyle>
            <a:defPPr algn="l">
              <a:defRPr lang="en-US" sz="2025" b="0">
                <a:solidFill>
                  <a:srgbClr val="656B73"/>
                </a:solidFill>
                <a:latin typeface="Roboto"/>
                <a:ea typeface="Roboto"/>
                <a:cs typeface="Roboto"/>
              </a:defRPr>
            </a:defPPr>
            <a:lvl1pPr algn="l">
              <a:defRPr lang="en-US" sz="2025" b="0">
                <a:solidFill>
                  <a:srgbClr val="656B73"/>
                </a:solidFill>
                <a:latin typeface="Roboto"/>
                <a:ea typeface="Roboto"/>
                <a:cs typeface="Roboto"/>
              </a:defRPr>
            </a:lvl1pPr>
            <a:lvl2pPr algn="l">
              <a:defRPr lang="en-US" sz="2025" b="0">
                <a:solidFill>
                  <a:srgbClr val="656B73"/>
                </a:solidFill>
                <a:latin typeface="Roboto"/>
                <a:ea typeface="Roboto"/>
                <a:cs typeface="Roboto"/>
              </a:defRPr>
            </a:lvl2pPr>
            <a:lvl3pPr algn="l">
              <a:defRPr lang="en-US" sz="2025" b="0">
                <a:solidFill>
                  <a:srgbClr val="656B73"/>
                </a:solidFill>
                <a:latin typeface="Roboto"/>
                <a:ea typeface="Roboto"/>
                <a:cs typeface="Roboto"/>
              </a:defRPr>
            </a:lvl3pPr>
            <a:lvl4pPr algn="l">
              <a:defRPr lang="en-US" sz="2025" b="0">
                <a:solidFill>
                  <a:srgbClr val="656B73"/>
                </a:solidFill>
                <a:latin typeface="Roboto"/>
                <a:ea typeface="Roboto"/>
                <a:cs typeface="Roboto"/>
              </a:defRPr>
            </a:lvl4pPr>
            <a:lvl5pPr algn="l">
              <a:defRPr lang="en-US" sz="2025" b="0">
                <a:solidFill>
                  <a:srgbClr val="656B73"/>
                </a:solidFill>
                <a:latin typeface="Roboto"/>
                <a:ea typeface="Roboto"/>
                <a:cs typeface="Roboto"/>
              </a:defRPr>
            </a:lvl5pPr>
            <a:lvl6pPr algn="l">
              <a:defRPr lang="en-US" sz="2025" b="0">
                <a:solidFill>
                  <a:srgbClr val="656B73"/>
                </a:solidFill>
                <a:latin typeface="Roboto"/>
                <a:ea typeface="Roboto"/>
                <a:cs typeface="Roboto"/>
              </a:defRPr>
            </a:lvl6pPr>
            <a:lvl7pPr algn="l">
              <a:defRPr lang="en-US" sz="2025" b="0">
                <a:solidFill>
                  <a:srgbClr val="656B73"/>
                </a:solidFill>
                <a:latin typeface="Roboto"/>
                <a:ea typeface="Roboto"/>
                <a:cs typeface="Roboto"/>
              </a:defRPr>
            </a:lvl7pPr>
            <a:lvl8pPr algn="l">
              <a:defRPr lang="en-US" sz="2025" b="0">
                <a:solidFill>
                  <a:srgbClr val="656B73"/>
                </a:solidFill>
                <a:latin typeface="Roboto"/>
                <a:ea typeface="Roboto"/>
                <a:cs typeface="Roboto"/>
              </a:defRPr>
            </a:lvl8pPr>
            <a:lvl9pPr algn="l">
              <a:defRPr lang="en-US" sz="2025" b="0">
                <a:solidFill>
                  <a:srgbClr val="656B73"/>
                </a:solidFill>
                <a:latin typeface="Roboto"/>
                <a:ea typeface="Roboto"/>
                <a:cs typeface="Roboto"/>
              </a:defRPr>
            </a:lvl9pPr>
          </a:lstStyle>
          <a:p>
            <a:pPr algn="l">
              <a:defRPr lang="en-US" sz="2025" b="0">
                <a:solidFill>
                  <a:srgbClr val="656B73"/>
                </a:solidFill>
                <a:latin typeface="Roboto"/>
                <a:ea typeface="Roboto"/>
                <a:cs typeface="Roboto"/>
              </a:defRPr>
            </a:pPr>
            <a:r>
              <a:rPr lang="en-US" sz="1400" b="0" dirty="0">
                <a:solidFill>
                  <a:srgbClr val="656B73"/>
                </a:solidFill>
                <a:latin typeface="Roboto"/>
                <a:ea typeface="Roboto"/>
                <a:cs typeface="Roboto"/>
              </a:rPr>
              <a:t>Pixel and region metrics, same pose-A test split</a:t>
            </a:r>
          </a:p>
        </p:txBody>
      </p:sp>
      <p:graphicFrame>
        <p:nvGraphicFramePr>
          <p:cNvPr id="9" name="Tabella 8">
            <a:extLst>
              <a:ext uri="{FF2B5EF4-FFF2-40B4-BE49-F238E27FC236}">
                <a16:creationId xmlns:a16="http://schemas.microsoft.com/office/drawing/2014/main" id="{4B2D504A-AE70-2F5B-21D9-44ED3A3C4D20}"/>
              </a:ext>
            </a:extLst>
          </p:cNvPr>
          <p:cNvGraphicFramePr/>
          <p:nvPr>
            <p:extLst>
              <p:ext uri="{D42A27DB-BD31-4B8C-83A1-F6EECF244321}">
                <p14:modId xmlns:p14="http://schemas.microsoft.com/office/powerpoint/2010/main" val="2507650453"/>
              </p:ext>
            </p:extLst>
          </p:nvPr>
        </p:nvGraphicFramePr>
        <p:xfrm>
          <a:off x="762000" y="2024063"/>
          <a:ext cx="10668000" cy="3390900"/>
        </p:xfrm>
        <a:graphic>
          <a:graphicData uri="http://schemas.openxmlformats.org/drawingml/2006/table">
            <a:tbl>
              <a:tblPr>
                <a:effectLst>
                  <a:outerShdw blurRad="50800" dist="38100" dir="2700000" algn="tl" rotWithShape="0">
                    <a:prstClr val="black">
                      <a:alpha val="40000"/>
                    </a:prstClr>
                  </a:outerShdw>
                </a:effectLst>
              </a:tblPr>
              <a:tblGrid>
                <a:gridCol w="2905125">
                  <a:extLst>
                    <a:ext uri="{9D8B030D-6E8A-4147-A177-3AD203B41FA5}">
                      <a16:colId xmlns:a16="http://schemas.microsoft.com/office/drawing/2014/main" val="20000"/>
                    </a:ext>
                  </a:extLst>
                </a:gridCol>
                <a:gridCol w="1552575">
                  <a:extLst>
                    <a:ext uri="{9D8B030D-6E8A-4147-A177-3AD203B41FA5}">
                      <a16:colId xmlns:a16="http://schemas.microsoft.com/office/drawing/2014/main" val="20001"/>
                    </a:ext>
                  </a:extLst>
                </a:gridCol>
                <a:gridCol w="1552575">
                  <a:extLst>
                    <a:ext uri="{9D8B030D-6E8A-4147-A177-3AD203B41FA5}">
                      <a16:colId xmlns:a16="http://schemas.microsoft.com/office/drawing/2014/main" val="20002"/>
                    </a:ext>
                  </a:extLst>
                </a:gridCol>
                <a:gridCol w="1552575">
                  <a:extLst>
                    <a:ext uri="{9D8B030D-6E8A-4147-A177-3AD203B41FA5}">
                      <a16:colId xmlns:a16="http://schemas.microsoft.com/office/drawing/2014/main" val="20003"/>
                    </a:ext>
                  </a:extLst>
                </a:gridCol>
                <a:gridCol w="1552575">
                  <a:extLst>
                    <a:ext uri="{9D8B030D-6E8A-4147-A177-3AD203B41FA5}">
                      <a16:colId xmlns:a16="http://schemas.microsoft.com/office/drawing/2014/main" val="20004"/>
                    </a:ext>
                  </a:extLst>
                </a:gridCol>
                <a:gridCol w="1552575">
                  <a:extLst>
                    <a:ext uri="{9D8B030D-6E8A-4147-A177-3AD203B41FA5}">
                      <a16:colId xmlns:a16="http://schemas.microsoft.com/office/drawing/2014/main" val="20005"/>
                    </a:ext>
                  </a:extLst>
                </a:gridCol>
              </a:tblGrid>
              <a:tr h="590550">
                <a:tc>
                  <a:txBody>
                    <a:bodyPr/>
                    <a:lstStyle/>
                    <a:p>
                      <a:pPr algn="ctr"/>
                      <a:r>
                        <a:rPr lang="en-US" sz="1875" b="1" dirty="0">
                          <a:solidFill>
                            <a:schemeClr val="bg1"/>
                          </a:solidFill>
                          <a:latin typeface="Roboto"/>
                          <a:ea typeface="Roboto"/>
                          <a:cs typeface="Roboto"/>
                        </a:rPr>
                        <a:t>Model</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Pixel</a:t>
                      </a:r>
                    </a:p>
                    <a:p>
                      <a:pPr algn="ctr"/>
                      <a:r>
                        <a:rPr lang="en-US" sz="1875" b="1" dirty="0">
                          <a:solidFill>
                            <a:schemeClr val="bg1"/>
                          </a:solidFill>
                          <a:latin typeface="Roboto"/>
                          <a:ea typeface="Roboto"/>
                          <a:cs typeface="Roboto"/>
                        </a:rPr>
                        <a:t>AUROC (%)</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Pixel</a:t>
                      </a:r>
                    </a:p>
                    <a:p>
                      <a:pPr algn="ctr"/>
                      <a:r>
                        <a:rPr lang="en-US" sz="1875" b="1" dirty="0">
                          <a:solidFill>
                            <a:schemeClr val="bg1"/>
                          </a:solidFill>
                          <a:latin typeface="Roboto"/>
                          <a:ea typeface="Roboto"/>
                          <a:cs typeface="Roboto"/>
                        </a:rPr>
                        <a:t>AP (%)</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AUPRO</a:t>
                      </a:r>
                    </a:p>
                    <a:p>
                      <a:pPr algn="ctr"/>
                      <a:r>
                        <a:rPr lang="en-US" sz="1875" b="1" dirty="0">
                          <a:solidFill>
                            <a:schemeClr val="bg1"/>
                          </a:solidFill>
                          <a:latin typeface="Roboto"/>
                          <a:ea typeface="Roboto"/>
                          <a:cs typeface="Roboto"/>
                        </a:rPr>
                        <a:t>@0.05 (%)</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AUPRO</a:t>
                      </a:r>
                    </a:p>
                    <a:p>
                      <a:pPr algn="ctr"/>
                      <a:r>
                        <a:rPr lang="en-US" sz="1875" b="1" dirty="0">
                          <a:solidFill>
                            <a:schemeClr val="bg1"/>
                          </a:solidFill>
                          <a:latin typeface="Roboto"/>
                          <a:ea typeface="Roboto"/>
                          <a:cs typeface="Roboto"/>
                        </a:rPr>
                        <a:t>@0.10 (%)</a:t>
                      </a:r>
                    </a:p>
                  </a:txBody>
                  <a:tcPr marL="76200" marR="76200" marT="38100" marB="38100" anchor="ctr">
                    <a:lnL w="0">
                      <a:noFill/>
                    </a:lnL>
                    <a:lnR w="0">
                      <a:noFill/>
                    </a:lnR>
                    <a:lnT w="0">
                      <a:noFill/>
                    </a:lnT>
                    <a:lnB w="0">
                      <a:noFill/>
                    </a:lnB>
                    <a:lnTlToBr w="0">
                      <a:noFill/>
                    </a:lnTlToBr>
                    <a:lnBlToTr w="0">
                      <a:noFill/>
                    </a:lnBlToTr>
                    <a:solidFill>
                      <a:srgbClr val="822433"/>
                    </a:solidFill>
                  </a:tcPr>
                </a:tc>
                <a:tc>
                  <a:txBody>
                    <a:bodyPr/>
                    <a:lstStyle/>
                    <a:p>
                      <a:pPr algn="ctr"/>
                      <a:r>
                        <a:rPr lang="en-US" sz="1875" b="1" dirty="0">
                          <a:solidFill>
                            <a:schemeClr val="bg1"/>
                          </a:solidFill>
                          <a:latin typeface="Roboto"/>
                          <a:ea typeface="Roboto"/>
                          <a:cs typeface="Roboto"/>
                        </a:rPr>
                        <a:t>AUPRO</a:t>
                      </a:r>
                    </a:p>
                    <a:p>
                      <a:pPr algn="ctr"/>
                      <a:r>
                        <a:rPr lang="en-US" sz="1875" b="1" dirty="0">
                          <a:solidFill>
                            <a:schemeClr val="bg1"/>
                          </a:solidFill>
                          <a:latin typeface="Roboto"/>
                          <a:ea typeface="Roboto"/>
                          <a:cs typeface="Roboto"/>
                        </a:rPr>
                        <a:t>@0.30 (%)</a:t>
                      </a:r>
                    </a:p>
                  </a:txBody>
                  <a:tcPr marL="76200" marR="76200" marT="38100" marB="38100" anchor="ctr">
                    <a:lnL w="0">
                      <a:noFill/>
                    </a:lnL>
                    <a:lnR w="0">
                      <a:noFill/>
                    </a:lnR>
                    <a:lnT w="0">
                      <a:noFill/>
                    </a:lnT>
                    <a:lnB w="0">
                      <a:noFill/>
                    </a:lnB>
                    <a:lnTlToBr w="0">
                      <a:noFill/>
                    </a:lnTlToBr>
                    <a:lnBlToTr w="0">
                      <a:noFill/>
                    </a:lnBlToTr>
                    <a:solidFill>
                      <a:srgbClr val="822433"/>
                    </a:solidFill>
                  </a:tcPr>
                </a:tc>
                <a:extLst>
                  <a:ext uri="{0D108BD9-81ED-4DB2-BD59-A6C34878D82A}">
                    <a16:rowId xmlns:a16="http://schemas.microsoft.com/office/drawing/2014/main" val="10000"/>
                  </a:ext>
                </a:extLst>
              </a:tr>
              <a:tr h="457200">
                <a:tc>
                  <a:txBody>
                    <a:bodyPr/>
                    <a:lstStyle/>
                    <a:p>
                      <a:pPr algn="l"/>
                      <a:r>
                        <a:rPr lang="en-US" sz="2025" dirty="0">
                          <a:solidFill>
                            <a:srgbClr val="202124"/>
                          </a:solidFill>
                          <a:latin typeface="Roboto"/>
                          <a:ea typeface="Roboto"/>
                          <a:cs typeface="Roboto"/>
                        </a:rPr>
                        <a:t>PatchCore-S</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b="1" dirty="0">
                          <a:solidFill>
                            <a:srgbClr val="822433"/>
                          </a:solidFill>
                          <a:latin typeface="Roboto"/>
                          <a:ea typeface="Roboto"/>
                          <a:cs typeface="Roboto"/>
                        </a:rPr>
                        <a:t>99.78</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41.05</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b="1" dirty="0">
                          <a:solidFill>
                            <a:srgbClr val="822433"/>
                          </a:solidFill>
                          <a:latin typeface="Roboto"/>
                          <a:ea typeface="Roboto"/>
                          <a:cs typeface="Roboto"/>
                        </a:rPr>
                        <a:t>94.93</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b="1" dirty="0">
                          <a:solidFill>
                            <a:srgbClr val="822433"/>
                          </a:solidFill>
                          <a:latin typeface="Roboto"/>
                          <a:ea typeface="Roboto"/>
                          <a:cs typeface="Roboto"/>
                        </a:rPr>
                        <a:t>97.35</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b="1" dirty="0">
                          <a:solidFill>
                            <a:srgbClr val="822433"/>
                          </a:solidFill>
                          <a:latin typeface="Roboto"/>
                          <a:ea typeface="Roboto"/>
                          <a:cs typeface="Roboto"/>
                        </a:rPr>
                        <a:t>99.10</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1"/>
                  </a:ext>
                </a:extLst>
              </a:tr>
              <a:tr h="457200">
                <a:tc>
                  <a:txBody>
                    <a:bodyPr/>
                    <a:lstStyle/>
                    <a:p>
                      <a:pPr algn="l"/>
                      <a:r>
                        <a:rPr lang="en-US" sz="2025">
                          <a:solidFill>
                            <a:srgbClr val="202124"/>
                          </a:solidFill>
                          <a:latin typeface="Roboto"/>
                          <a:ea typeface="Roboto"/>
                          <a:cs typeface="Roboto"/>
                        </a:rPr>
                        <a:t>PatchCore-L</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99.43</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b="1">
                          <a:solidFill>
                            <a:srgbClr val="822433"/>
                          </a:solidFill>
                          <a:latin typeface="Roboto"/>
                          <a:ea typeface="Roboto"/>
                          <a:cs typeface="Roboto"/>
                        </a:rPr>
                        <a:t>42.89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82.90</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dirty="0">
                          <a:solidFill>
                            <a:srgbClr val="202124"/>
                          </a:solidFill>
                          <a:latin typeface="Roboto"/>
                          <a:ea typeface="Roboto"/>
                          <a:cs typeface="Roboto"/>
                        </a:rPr>
                        <a:t>89.36</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dirty="0">
                          <a:solidFill>
                            <a:srgbClr val="202124"/>
                          </a:solidFill>
                          <a:latin typeface="Roboto"/>
                          <a:ea typeface="Roboto"/>
                          <a:cs typeface="Roboto"/>
                        </a:rPr>
                        <a:t>95.44</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2"/>
                  </a:ext>
                </a:extLst>
              </a:tr>
              <a:tr h="457200">
                <a:tc>
                  <a:txBody>
                    <a:bodyPr/>
                    <a:lstStyle/>
                    <a:p>
                      <a:pPr algn="l"/>
                      <a:r>
                        <a:rPr lang="en-US" sz="2025" dirty="0">
                          <a:solidFill>
                            <a:srgbClr val="202124"/>
                          </a:solidFill>
                          <a:latin typeface="Roboto"/>
                          <a:ea typeface="Roboto"/>
                          <a:cs typeface="Roboto"/>
                        </a:rPr>
                        <a:t>EfficientAD-S</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96.36</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9.00</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58.45</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70.36</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84.98</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3"/>
                  </a:ext>
                </a:extLst>
              </a:tr>
              <a:tr h="457200">
                <a:tc>
                  <a:txBody>
                    <a:bodyPr/>
                    <a:lstStyle/>
                    <a:p>
                      <a:pPr algn="l"/>
                      <a:r>
                        <a:rPr lang="en-US" sz="2025">
                          <a:solidFill>
                            <a:srgbClr val="202124"/>
                          </a:solidFill>
                          <a:latin typeface="Roboto"/>
                          <a:ea typeface="Roboto"/>
                          <a:cs typeface="Roboto"/>
                        </a:rPr>
                        <a:t>SuperSimpleNet</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96.97</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19.10</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71.62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78.58</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87.53</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4"/>
                  </a:ext>
                </a:extLst>
              </a:tr>
              <a:tr h="457200">
                <a:tc>
                  <a:txBody>
                    <a:bodyPr/>
                    <a:lstStyle/>
                    <a:p>
                      <a:pPr algn="l"/>
                      <a:r>
                        <a:rPr lang="en-US" sz="2025" dirty="0">
                          <a:solidFill>
                            <a:srgbClr val="202124"/>
                          </a:solidFill>
                          <a:latin typeface="Roboto"/>
                          <a:ea typeface="Roboto"/>
                          <a:cs typeface="Roboto"/>
                        </a:rPr>
                        <a:t>TinyGLASS-384</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97.21</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25.48</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73.93</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81.10</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tc>
                  <a:txBody>
                    <a:bodyPr/>
                    <a:lstStyle/>
                    <a:p>
                      <a:pPr algn="ctr"/>
                      <a:r>
                        <a:rPr lang="en-US" sz="2175" dirty="0">
                          <a:solidFill>
                            <a:srgbClr val="202124"/>
                          </a:solidFill>
                          <a:latin typeface="Roboto"/>
                          <a:ea typeface="Roboto"/>
                          <a:cs typeface="Roboto"/>
                        </a:rPr>
                        <a:t>90.24</a:t>
                      </a:r>
                    </a:p>
                  </a:txBody>
                  <a:tcPr marL="76200" marR="76200" marT="38100" marB="38100" anchor="ctr">
                    <a:lnL w="0">
                      <a:noFill/>
                    </a:lnL>
                    <a:lnR w="0">
                      <a:noFill/>
                    </a:lnR>
                    <a:lnT w="0">
                      <a:noFill/>
                    </a:lnT>
                    <a:lnB w="0">
                      <a:noFill/>
                    </a:lnB>
                    <a:lnTlToBr w="0">
                      <a:noFill/>
                    </a:lnTlToBr>
                    <a:lnBlToTr w="0">
                      <a:noFill/>
                    </a:lnBlToTr>
                    <a:solidFill>
                      <a:schemeClr val="bg1">
                        <a:lumMod val="95000"/>
                      </a:schemeClr>
                    </a:solidFill>
                  </a:tcPr>
                </a:tc>
                <a:extLst>
                  <a:ext uri="{0D108BD9-81ED-4DB2-BD59-A6C34878D82A}">
                    <a16:rowId xmlns:a16="http://schemas.microsoft.com/office/drawing/2014/main" val="10005"/>
                  </a:ext>
                </a:extLst>
              </a:tr>
              <a:tr h="457200">
                <a:tc>
                  <a:txBody>
                    <a:bodyPr/>
                    <a:lstStyle/>
                    <a:p>
                      <a:pPr algn="l"/>
                      <a:r>
                        <a:rPr lang="en-US" sz="2025">
                          <a:solidFill>
                            <a:srgbClr val="202124"/>
                          </a:solidFill>
                          <a:latin typeface="Roboto"/>
                          <a:ea typeface="Roboto"/>
                          <a:cs typeface="Roboto"/>
                        </a:rPr>
                        <a:t>TinyGLASS-512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dirty="0">
                          <a:solidFill>
                            <a:srgbClr val="202124"/>
                          </a:solidFill>
                          <a:latin typeface="Roboto"/>
                          <a:ea typeface="Roboto"/>
                          <a:cs typeface="Roboto"/>
                        </a:rPr>
                        <a:t>97.92</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27.59</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76.54</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a:solidFill>
                            <a:srgbClr val="202124"/>
                          </a:solidFill>
                          <a:latin typeface="Roboto"/>
                          <a:ea typeface="Roboto"/>
                          <a:cs typeface="Roboto"/>
                        </a:rPr>
                        <a:t>83.56</a:t>
                      </a:r>
                    </a:p>
                  </a:txBody>
                  <a:tcPr marL="76200" marR="76200" marT="38100" marB="38100" anchor="ctr">
                    <a:lnL w="0">
                      <a:noFill/>
                    </a:lnL>
                    <a:lnR w="0">
                      <a:noFill/>
                    </a:lnR>
                    <a:lnT w="0">
                      <a:noFill/>
                    </a:lnT>
                    <a:lnB w="0">
                      <a:noFill/>
                    </a:lnB>
                    <a:lnTlToBr w="0">
                      <a:noFill/>
                    </a:lnTlToBr>
                    <a:lnBlToTr w="0">
                      <a:noFill/>
                    </a:lnBlToTr>
                    <a:solidFill>
                      <a:srgbClr val="FFFFFF"/>
                    </a:solidFill>
                  </a:tcPr>
                </a:tc>
                <a:tc>
                  <a:txBody>
                    <a:bodyPr/>
                    <a:lstStyle/>
                    <a:p>
                      <a:pPr algn="ctr"/>
                      <a:r>
                        <a:rPr lang="en-US" sz="2175" dirty="0">
                          <a:solidFill>
                            <a:srgbClr val="202124"/>
                          </a:solidFill>
                          <a:latin typeface="Roboto"/>
                          <a:ea typeface="Roboto"/>
                          <a:cs typeface="Roboto"/>
                        </a:rPr>
                        <a:t>92.01</a:t>
                      </a:r>
                    </a:p>
                  </a:txBody>
                  <a:tcPr marL="76200" marR="76200" marT="38100" marB="38100" anchor="ctr">
                    <a:lnL w="0">
                      <a:noFill/>
                    </a:lnL>
                    <a:lnR w="0">
                      <a:noFill/>
                    </a:lnR>
                    <a:lnT w="0">
                      <a:noFill/>
                    </a:lnT>
                    <a:lnB w="0">
                      <a:noFill/>
                    </a:lnB>
                    <a:lnTlToBr w="0">
                      <a:noFill/>
                    </a:lnTlToBr>
                    <a:lnBlToTr w="0">
                      <a:noFill/>
                    </a:lnBlToTr>
                    <a:solidFill>
                      <a:srgbClr val="FFFFFF"/>
                    </a:solidFill>
                  </a:tcPr>
                </a:tc>
                <a:extLst>
                  <a:ext uri="{0D108BD9-81ED-4DB2-BD59-A6C34878D82A}">
                    <a16:rowId xmlns:a16="http://schemas.microsoft.com/office/drawing/2014/main" val="10006"/>
                  </a:ext>
                </a:extLst>
              </a:tr>
            </a:tbl>
          </a:graphicData>
        </a:graphic>
      </p:graphicFrame>
      <p:sp>
        <p:nvSpPr>
          <p:cNvPr id="11" name="aupro-definition">
            <a:extLst>
              <a:ext uri="{FF2B5EF4-FFF2-40B4-BE49-F238E27FC236}">
                <a16:creationId xmlns:a16="http://schemas.microsoft.com/office/drawing/2014/main" id="{055FB853-8D4A-F143-7DF5-5016746A394B}"/>
              </a:ext>
            </a:extLst>
          </p:cNvPr>
          <p:cNvSpPr>
            <a:spLocks noGrp="1"/>
          </p:cNvSpPr>
          <p:nvPr/>
        </p:nvSpPr>
        <p:spPr>
          <a:xfrm>
            <a:off x="762000" y="5924550"/>
            <a:ext cx="10668000" cy="266700"/>
          </a:xfrm>
          <a:prstGeom prst="rect">
            <a:avLst/>
          </a:prstGeom>
          <a:noFill/>
          <a:ln w="0">
            <a:noFill/>
          </a:ln>
        </p:spPr>
        <p:txBody>
          <a:bodyPr wrap="square" lIns="0" tIns="0" rIns="0" bIns="0" anchor="t">
            <a:noAutofit/>
          </a:bodyPr>
          <a:lstStyle>
            <a:defPPr algn="l">
              <a:defRPr lang="en-US" sz="1575" b="0">
                <a:solidFill>
                  <a:srgbClr val="656B73"/>
                </a:solidFill>
                <a:latin typeface="Roboto"/>
                <a:ea typeface="Roboto"/>
                <a:cs typeface="Roboto"/>
              </a:defRPr>
            </a:defPPr>
            <a:lvl1pPr algn="l">
              <a:defRPr lang="en-US" sz="1575" b="0">
                <a:solidFill>
                  <a:srgbClr val="656B73"/>
                </a:solidFill>
                <a:latin typeface="Roboto"/>
                <a:ea typeface="Roboto"/>
                <a:cs typeface="Roboto"/>
              </a:defRPr>
            </a:lvl1pPr>
            <a:lvl2pPr algn="l">
              <a:defRPr lang="en-US" sz="1575" b="0">
                <a:solidFill>
                  <a:srgbClr val="656B73"/>
                </a:solidFill>
                <a:latin typeface="Roboto"/>
                <a:ea typeface="Roboto"/>
                <a:cs typeface="Roboto"/>
              </a:defRPr>
            </a:lvl2pPr>
            <a:lvl3pPr algn="l">
              <a:defRPr lang="en-US" sz="1575" b="0">
                <a:solidFill>
                  <a:srgbClr val="656B73"/>
                </a:solidFill>
                <a:latin typeface="Roboto"/>
                <a:ea typeface="Roboto"/>
                <a:cs typeface="Roboto"/>
              </a:defRPr>
            </a:lvl3pPr>
            <a:lvl4pPr algn="l">
              <a:defRPr lang="en-US" sz="1575" b="0">
                <a:solidFill>
                  <a:srgbClr val="656B73"/>
                </a:solidFill>
                <a:latin typeface="Roboto"/>
                <a:ea typeface="Roboto"/>
                <a:cs typeface="Roboto"/>
              </a:defRPr>
            </a:lvl4pPr>
            <a:lvl5pPr algn="l">
              <a:defRPr lang="en-US" sz="1575" b="0">
                <a:solidFill>
                  <a:srgbClr val="656B73"/>
                </a:solidFill>
                <a:latin typeface="Roboto"/>
                <a:ea typeface="Roboto"/>
                <a:cs typeface="Roboto"/>
              </a:defRPr>
            </a:lvl5pPr>
            <a:lvl6pPr algn="l">
              <a:defRPr lang="en-US" sz="1575" b="0">
                <a:solidFill>
                  <a:srgbClr val="656B73"/>
                </a:solidFill>
                <a:latin typeface="Roboto"/>
                <a:ea typeface="Roboto"/>
                <a:cs typeface="Roboto"/>
              </a:defRPr>
            </a:lvl6pPr>
            <a:lvl7pPr algn="l">
              <a:defRPr lang="en-US" sz="1575" b="0">
                <a:solidFill>
                  <a:srgbClr val="656B73"/>
                </a:solidFill>
                <a:latin typeface="Roboto"/>
                <a:ea typeface="Roboto"/>
                <a:cs typeface="Roboto"/>
              </a:defRPr>
            </a:lvl7pPr>
            <a:lvl8pPr algn="l">
              <a:defRPr lang="en-US" sz="1575" b="0">
                <a:solidFill>
                  <a:srgbClr val="656B73"/>
                </a:solidFill>
                <a:latin typeface="Roboto"/>
                <a:ea typeface="Roboto"/>
                <a:cs typeface="Roboto"/>
              </a:defRPr>
            </a:lvl8pPr>
            <a:lvl9pPr algn="l">
              <a:defRPr lang="en-US" sz="1575" b="0">
                <a:solidFill>
                  <a:srgbClr val="656B73"/>
                </a:solidFill>
                <a:latin typeface="Roboto"/>
                <a:ea typeface="Roboto"/>
                <a:cs typeface="Roboto"/>
              </a:defRPr>
            </a:lvl9pPr>
          </a:lstStyle>
          <a:p>
            <a:pPr algn="l">
              <a:defRPr lang="en-US" sz="1575" b="0">
                <a:solidFill>
                  <a:srgbClr val="656B73"/>
                </a:solidFill>
                <a:latin typeface="Roboto"/>
                <a:ea typeface="Roboto"/>
                <a:cs typeface="Roboto"/>
              </a:defRPr>
            </a:pPr>
            <a:r>
              <a:rPr lang="en-US" sz="1100" b="0" dirty="0">
                <a:solidFill>
                  <a:srgbClr val="656B73"/>
                </a:solidFill>
                <a:latin typeface="Roboto"/>
                <a:ea typeface="Roboto"/>
                <a:cs typeface="Roboto"/>
              </a:rPr>
              <a:t>AUPRO is normalized up to the false-positive-rate limit stated in each column.</a:t>
            </a:r>
          </a:p>
        </p:txBody>
      </p:sp>
    </p:spTree>
    <p:extLst>
      <p:ext uri="{BB962C8B-B14F-4D97-AF65-F5344CB8AC3E}">
        <p14:creationId xmlns:p14="http://schemas.microsoft.com/office/powerpoint/2010/main" val="20997514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03;p14">
            <a:extLst>
              <a:ext uri="{FF2B5EF4-FFF2-40B4-BE49-F238E27FC236}">
                <a16:creationId xmlns:a16="http://schemas.microsoft.com/office/drawing/2014/main" id="{504A17F8-E2ED-6EF8-07F5-9ABB93526B54}"/>
              </a:ext>
            </a:extLst>
          </p:cNvPr>
          <p:cNvSpPr>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a:solidFill>
                  <a:srgbClr val="822433"/>
                </a:solidFill>
                <a:latin typeface="Roboto"/>
                <a:ea typeface="Roboto"/>
                <a:cs typeface="Roboto"/>
              </a:rPr>
              <a:t>               Lightweight Scene Understanding and Synthetic Data-Driven Damage Inspection for Martian Rovers                                                                     27/10/2026</a:t>
            </a:r>
          </a:p>
        </p:txBody>
      </p:sp>
      <p:sp>
        <p:nvSpPr>
          <p:cNvPr id="6" name="Title 1">
            <a:extLst>
              <a:ext uri="{FF2B5EF4-FFF2-40B4-BE49-F238E27FC236}">
                <a16:creationId xmlns:a16="http://schemas.microsoft.com/office/drawing/2014/main" id="{961E234A-5ABD-4AE2-AA39-6AC7591C368E}"/>
              </a:ext>
            </a:extLst>
          </p:cNvPr>
          <p:cNvSpPr>
            <a:spLocks noGrp="1"/>
          </p:cNvSpPr>
          <p:nvPr/>
        </p:nvSpPr>
        <p:spPr>
          <a:xfrm>
            <a:off x="952500" y="476684"/>
            <a:ext cx="9810750" cy="781050"/>
          </a:xfrm>
          <a:prstGeom prst="rect">
            <a:avLst/>
          </a:prstGeom>
          <a:noFill/>
          <a:ln w="0">
            <a:noFill/>
          </a:ln>
        </p:spPr>
        <p:txBody>
          <a:bodyPr wrap="square" lIns="0" tIns="0" rIns="0" bIns="0" anchor="t">
            <a:noAutofit/>
          </a:bodyPr>
          <a:lstStyle>
            <a:defPPr algn="l">
              <a:defRPr sz="4400" b="0">
                <a:solidFill>
                  <a:srgbClr val="822433"/>
                </a:solidFill>
                <a:latin typeface="Roboto"/>
                <a:ea typeface="Roboto"/>
                <a:cs typeface="Roboto"/>
              </a:defRPr>
            </a:defPPr>
            <a:lvl1pPr algn="l">
              <a:defRPr sz="4400" b="0">
                <a:solidFill>
                  <a:srgbClr val="822433"/>
                </a:solidFill>
                <a:latin typeface="Roboto"/>
                <a:ea typeface="Roboto"/>
                <a:cs typeface="Roboto"/>
              </a:defRPr>
            </a:lvl1pPr>
            <a:lvl2pPr algn="l">
              <a:defRPr sz="4400" b="0">
                <a:solidFill>
                  <a:srgbClr val="822433"/>
                </a:solidFill>
                <a:latin typeface="Roboto"/>
                <a:ea typeface="Roboto"/>
                <a:cs typeface="Roboto"/>
              </a:defRPr>
            </a:lvl2pPr>
            <a:lvl3pPr algn="l">
              <a:defRPr sz="4400" b="0">
                <a:solidFill>
                  <a:srgbClr val="822433"/>
                </a:solidFill>
                <a:latin typeface="Roboto"/>
                <a:ea typeface="Roboto"/>
                <a:cs typeface="Roboto"/>
              </a:defRPr>
            </a:lvl3pPr>
            <a:lvl4pPr algn="l">
              <a:defRPr sz="4400" b="0">
                <a:solidFill>
                  <a:srgbClr val="822433"/>
                </a:solidFill>
                <a:latin typeface="Roboto"/>
                <a:ea typeface="Roboto"/>
                <a:cs typeface="Roboto"/>
              </a:defRPr>
            </a:lvl4pPr>
            <a:lvl5pPr algn="l">
              <a:defRPr sz="4400" b="0">
                <a:solidFill>
                  <a:srgbClr val="822433"/>
                </a:solidFill>
                <a:latin typeface="Roboto"/>
                <a:ea typeface="Roboto"/>
                <a:cs typeface="Roboto"/>
              </a:defRPr>
            </a:lvl5pPr>
            <a:lvl6pPr algn="l">
              <a:defRPr sz="4400" b="0">
                <a:solidFill>
                  <a:srgbClr val="822433"/>
                </a:solidFill>
                <a:latin typeface="Roboto"/>
                <a:ea typeface="Roboto"/>
                <a:cs typeface="Roboto"/>
              </a:defRPr>
            </a:lvl6pPr>
            <a:lvl7pPr algn="l">
              <a:defRPr sz="4400" b="0">
                <a:solidFill>
                  <a:srgbClr val="822433"/>
                </a:solidFill>
                <a:latin typeface="Roboto"/>
                <a:ea typeface="Roboto"/>
                <a:cs typeface="Roboto"/>
              </a:defRPr>
            </a:lvl7pPr>
            <a:lvl8pPr algn="l">
              <a:defRPr sz="4400" b="0">
                <a:solidFill>
                  <a:srgbClr val="822433"/>
                </a:solidFill>
                <a:latin typeface="Roboto"/>
                <a:ea typeface="Roboto"/>
                <a:cs typeface="Roboto"/>
              </a:defRPr>
            </a:lvl8pPr>
            <a:lvl9pPr algn="l">
              <a:defRPr sz="4400" b="0">
                <a:solidFill>
                  <a:srgbClr val="822433"/>
                </a:solidFill>
                <a:latin typeface="Roboto"/>
                <a:ea typeface="Roboto"/>
                <a:cs typeface="Roboto"/>
              </a:defRPr>
            </a:lvl9pPr>
          </a:lstStyle>
          <a:p>
            <a:pPr algn="l">
              <a:defRPr sz="4400" b="0">
                <a:solidFill>
                  <a:srgbClr val="822433"/>
                </a:solidFill>
                <a:latin typeface="Roboto"/>
                <a:ea typeface="Roboto"/>
                <a:cs typeface="Roboto"/>
              </a:defRPr>
            </a:pPr>
            <a:r>
              <a:rPr sz="4400" b="0" dirty="0">
                <a:solidFill>
                  <a:srgbClr val="822433"/>
                </a:solidFill>
                <a:latin typeface="Roboto"/>
                <a:ea typeface="Roboto"/>
                <a:cs typeface="Roboto"/>
              </a:rPr>
              <a:t>Extra: Normal vs damaged wheel</a:t>
            </a:r>
          </a:p>
        </p:txBody>
      </p:sp>
      <p:sp>
        <p:nvSpPr>
          <p:cNvPr id="7" name="experiment-context">
            <a:extLst>
              <a:ext uri="{FF2B5EF4-FFF2-40B4-BE49-F238E27FC236}">
                <a16:creationId xmlns:a16="http://schemas.microsoft.com/office/drawing/2014/main" id="{7A33B1F0-CC60-44A8-9853-21FC4951DE2C}"/>
              </a:ext>
            </a:extLst>
          </p:cNvPr>
          <p:cNvSpPr>
            <a:spLocks noGrp="1"/>
          </p:cNvSpPr>
          <p:nvPr/>
        </p:nvSpPr>
        <p:spPr>
          <a:xfrm>
            <a:off x="952500" y="1362075"/>
            <a:ext cx="9906000" cy="285750"/>
          </a:xfrm>
          <a:prstGeom prst="rect">
            <a:avLst/>
          </a:prstGeom>
          <a:noFill/>
          <a:ln w="0">
            <a:noFill/>
          </a:ln>
        </p:spPr>
        <p:txBody>
          <a:bodyPr wrap="square" lIns="0" tIns="0" rIns="0" bIns="0" anchor="t">
            <a:noAutofit/>
          </a:bodyPr>
          <a:lstStyle>
            <a:defPPr algn="l">
              <a:defRPr sz="1600" b="0">
                <a:solidFill>
                  <a:srgbClr val="626975"/>
                </a:solidFill>
                <a:latin typeface="Roboto"/>
                <a:ea typeface="Roboto"/>
                <a:cs typeface="Roboto"/>
              </a:defRPr>
            </a:defPPr>
            <a:lvl1pPr algn="l">
              <a:defRPr sz="1600" b="0">
                <a:solidFill>
                  <a:srgbClr val="626975"/>
                </a:solidFill>
                <a:latin typeface="Roboto"/>
                <a:ea typeface="Roboto"/>
                <a:cs typeface="Roboto"/>
              </a:defRPr>
            </a:lvl1pPr>
            <a:lvl2pPr algn="l">
              <a:defRPr sz="1600" b="0">
                <a:solidFill>
                  <a:srgbClr val="626975"/>
                </a:solidFill>
                <a:latin typeface="Roboto"/>
                <a:ea typeface="Roboto"/>
                <a:cs typeface="Roboto"/>
              </a:defRPr>
            </a:lvl2pPr>
            <a:lvl3pPr algn="l">
              <a:defRPr sz="1600" b="0">
                <a:solidFill>
                  <a:srgbClr val="626975"/>
                </a:solidFill>
                <a:latin typeface="Roboto"/>
                <a:ea typeface="Roboto"/>
                <a:cs typeface="Roboto"/>
              </a:defRPr>
            </a:lvl3pPr>
            <a:lvl4pPr algn="l">
              <a:defRPr sz="1600" b="0">
                <a:solidFill>
                  <a:srgbClr val="626975"/>
                </a:solidFill>
                <a:latin typeface="Roboto"/>
                <a:ea typeface="Roboto"/>
                <a:cs typeface="Roboto"/>
              </a:defRPr>
            </a:lvl4pPr>
            <a:lvl5pPr algn="l">
              <a:defRPr sz="1600" b="0">
                <a:solidFill>
                  <a:srgbClr val="626975"/>
                </a:solidFill>
                <a:latin typeface="Roboto"/>
                <a:ea typeface="Roboto"/>
                <a:cs typeface="Roboto"/>
              </a:defRPr>
            </a:lvl5pPr>
            <a:lvl6pPr algn="l">
              <a:defRPr sz="1600" b="0">
                <a:solidFill>
                  <a:srgbClr val="626975"/>
                </a:solidFill>
                <a:latin typeface="Roboto"/>
                <a:ea typeface="Roboto"/>
                <a:cs typeface="Roboto"/>
              </a:defRPr>
            </a:lvl6pPr>
            <a:lvl7pPr algn="l">
              <a:defRPr sz="1600" b="0">
                <a:solidFill>
                  <a:srgbClr val="626975"/>
                </a:solidFill>
                <a:latin typeface="Roboto"/>
                <a:ea typeface="Roboto"/>
                <a:cs typeface="Roboto"/>
              </a:defRPr>
            </a:lvl7pPr>
            <a:lvl8pPr algn="l">
              <a:defRPr sz="1600" b="0">
                <a:solidFill>
                  <a:srgbClr val="626975"/>
                </a:solidFill>
                <a:latin typeface="Roboto"/>
                <a:ea typeface="Roboto"/>
                <a:cs typeface="Roboto"/>
              </a:defRPr>
            </a:lvl8pPr>
            <a:lvl9pPr algn="l">
              <a:defRPr sz="1600" b="0">
                <a:solidFill>
                  <a:srgbClr val="626975"/>
                </a:solidFill>
                <a:latin typeface="Roboto"/>
                <a:ea typeface="Roboto"/>
                <a:cs typeface="Roboto"/>
              </a:defRPr>
            </a:lvl9pPr>
          </a:lstStyle>
          <a:p>
            <a:pPr algn="l">
              <a:defRPr sz="1600" b="0">
                <a:solidFill>
                  <a:srgbClr val="626975"/>
                </a:solidFill>
                <a:latin typeface="Roboto"/>
                <a:ea typeface="Roboto"/>
                <a:cs typeface="Roboto"/>
              </a:defRPr>
            </a:pPr>
            <a:r>
              <a:rPr sz="1600" b="0" dirty="0">
                <a:solidFill>
                  <a:srgbClr val="626975"/>
                </a:solidFill>
                <a:latin typeface="Roboto"/>
                <a:ea typeface="Roboto"/>
                <a:cs typeface="Roboto"/>
              </a:rPr>
              <a:t>TinyGLASS</a:t>
            </a:r>
            <a:r>
              <a:rPr lang="it-IT" sz="1600" b="0" dirty="0">
                <a:solidFill>
                  <a:srgbClr val="626975"/>
                </a:solidFill>
                <a:latin typeface="Roboto"/>
                <a:ea typeface="Roboto"/>
                <a:cs typeface="Roboto"/>
              </a:rPr>
              <a:t>-512</a:t>
            </a:r>
            <a:endParaRPr sz="1600" b="0" dirty="0">
              <a:solidFill>
                <a:srgbClr val="626975"/>
              </a:solidFill>
              <a:latin typeface="Roboto"/>
              <a:ea typeface="Roboto"/>
              <a:cs typeface="Roboto"/>
            </a:endParaRPr>
          </a:p>
        </p:txBody>
      </p:sp>
      <p:sp>
        <p:nvSpPr>
          <p:cNvPr id="8" name="column-RGB image">
            <a:extLst>
              <a:ext uri="{FF2B5EF4-FFF2-40B4-BE49-F238E27FC236}">
                <a16:creationId xmlns:a16="http://schemas.microsoft.com/office/drawing/2014/main" id="{AAFD73CB-0C90-4C17-B995-70BABE1561D1}"/>
              </a:ext>
            </a:extLst>
          </p:cNvPr>
          <p:cNvSpPr>
            <a:spLocks noGrp="1"/>
          </p:cNvSpPr>
          <p:nvPr/>
        </p:nvSpPr>
        <p:spPr>
          <a:xfrm>
            <a:off x="2667000" y="1647825"/>
            <a:ext cx="2019300" cy="323850"/>
          </a:xfrm>
          <a:prstGeom prst="rect">
            <a:avLst/>
          </a:prstGeom>
          <a:noFill/>
          <a:ln w="0">
            <a:noFill/>
          </a:ln>
        </p:spPr>
        <p:txBody>
          <a:bodyPr wrap="square" lIns="0" tIns="0" rIns="0" bIns="0" anchor="t">
            <a:noAutofit/>
          </a:bodyPr>
          <a:lstStyle>
            <a:defPPr algn="ctr">
              <a:defRPr sz="2000" b="0">
                <a:solidFill>
                  <a:srgbClr val="252525"/>
                </a:solidFill>
                <a:latin typeface="Roboto"/>
                <a:ea typeface="Roboto"/>
                <a:cs typeface="Roboto"/>
              </a:defRPr>
            </a:defPPr>
            <a:lvl1pPr algn="ctr">
              <a:defRPr sz="2000" b="0">
                <a:solidFill>
                  <a:srgbClr val="252525"/>
                </a:solidFill>
                <a:latin typeface="Roboto"/>
                <a:ea typeface="Roboto"/>
                <a:cs typeface="Roboto"/>
              </a:defRPr>
            </a:lvl1pPr>
            <a:lvl2pPr algn="ctr">
              <a:defRPr sz="2000" b="0">
                <a:solidFill>
                  <a:srgbClr val="252525"/>
                </a:solidFill>
                <a:latin typeface="Roboto"/>
                <a:ea typeface="Roboto"/>
                <a:cs typeface="Roboto"/>
              </a:defRPr>
            </a:lvl2pPr>
            <a:lvl3pPr algn="ctr">
              <a:defRPr sz="2000" b="0">
                <a:solidFill>
                  <a:srgbClr val="252525"/>
                </a:solidFill>
                <a:latin typeface="Roboto"/>
                <a:ea typeface="Roboto"/>
                <a:cs typeface="Roboto"/>
              </a:defRPr>
            </a:lvl3pPr>
            <a:lvl4pPr algn="ctr">
              <a:defRPr sz="2000" b="0">
                <a:solidFill>
                  <a:srgbClr val="252525"/>
                </a:solidFill>
                <a:latin typeface="Roboto"/>
                <a:ea typeface="Roboto"/>
                <a:cs typeface="Roboto"/>
              </a:defRPr>
            </a:lvl4pPr>
            <a:lvl5pPr algn="ctr">
              <a:defRPr sz="2000" b="0">
                <a:solidFill>
                  <a:srgbClr val="252525"/>
                </a:solidFill>
                <a:latin typeface="Roboto"/>
                <a:ea typeface="Roboto"/>
                <a:cs typeface="Roboto"/>
              </a:defRPr>
            </a:lvl5pPr>
            <a:lvl6pPr algn="ctr">
              <a:defRPr sz="2000" b="0">
                <a:solidFill>
                  <a:srgbClr val="252525"/>
                </a:solidFill>
                <a:latin typeface="Roboto"/>
                <a:ea typeface="Roboto"/>
                <a:cs typeface="Roboto"/>
              </a:defRPr>
            </a:lvl6pPr>
            <a:lvl7pPr algn="ctr">
              <a:defRPr sz="2000" b="0">
                <a:solidFill>
                  <a:srgbClr val="252525"/>
                </a:solidFill>
                <a:latin typeface="Roboto"/>
                <a:ea typeface="Roboto"/>
                <a:cs typeface="Roboto"/>
              </a:defRPr>
            </a:lvl7pPr>
            <a:lvl8pPr algn="ctr">
              <a:defRPr sz="2000" b="0">
                <a:solidFill>
                  <a:srgbClr val="252525"/>
                </a:solidFill>
                <a:latin typeface="Roboto"/>
                <a:ea typeface="Roboto"/>
                <a:cs typeface="Roboto"/>
              </a:defRPr>
            </a:lvl8pPr>
            <a:lvl9pPr algn="ctr">
              <a:defRPr sz="2000" b="0">
                <a:solidFill>
                  <a:srgbClr val="252525"/>
                </a:solidFill>
                <a:latin typeface="Roboto"/>
                <a:ea typeface="Roboto"/>
                <a:cs typeface="Roboto"/>
              </a:defRPr>
            </a:lvl9pPr>
          </a:lstStyle>
          <a:p>
            <a:pPr algn="ctr">
              <a:defRPr sz="2000" b="0">
                <a:solidFill>
                  <a:srgbClr val="252525"/>
                </a:solidFill>
                <a:latin typeface="Roboto"/>
                <a:ea typeface="Roboto"/>
                <a:cs typeface="Roboto"/>
              </a:defRPr>
            </a:pPr>
            <a:r>
              <a:rPr sz="2000" b="0" dirty="0">
                <a:solidFill>
                  <a:srgbClr val="252525"/>
                </a:solidFill>
                <a:latin typeface="Roboto"/>
                <a:ea typeface="Roboto"/>
                <a:cs typeface="Roboto"/>
              </a:rPr>
              <a:t>RGB image</a:t>
            </a:r>
          </a:p>
        </p:txBody>
      </p:sp>
      <p:sp>
        <p:nvSpPr>
          <p:cNvPr id="9" name="column-Ground truth">
            <a:extLst>
              <a:ext uri="{FF2B5EF4-FFF2-40B4-BE49-F238E27FC236}">
                <a16:creationId xmlns:a16="http://schemas.microsoft.com/office/drawing/2014/main" id="{B7720452-AF57-4A44-A36B-1481BE263F14}"/>
              </a:ext>
            </a:extLst>
          </p:cNvPr>
          <p:cNvSpPr>
            <a:spLocks noGrp="1"/>
          </p:cNvSpPr>
          <p:nvPr/>
        </p:nvSpPr>
        <p:spPr>
          <a:xfrm>
            <a:off x="5286375" y="1647825"/>
            <a:ext cx="2019300" cy="323850"/>
          </a:xfrm>
          <a:prstGeom prst="rect">
            <a:avLst/>
          </a:prstGeom>
          <a:noFill/>
          <a:ln w="0">
            <a:noFill/>
          </a:ln>
        </p:spPr>
        <p:txBody>
          <a:bodyPr wrap="square" lIns="0" tIns="0" rIns="0" bIns="0" anchor="t">
            <a:noAutofit/>
          </a:bodyPr>
          <a:lstStyle>
            <a:defPPr algn="ctr">
              <a:defRPr sz="2000" b="0">
                <a:solidFill>
                  <a:srgbClr val="252525"/>
                </a:solidFill>
                <a:latin typeface="Roboto"/>
                <a:ea typeface="Roboto"/>
                <a:cs typeface="Roboto"/>
              </a:defRPr>
            </a:defPPr>
            <a:lvl1pPr algn="ctr">
              <a:defRPr sz="2000" b="0">
                <a:solidFill>
                  <a:srgbClr val="252525"/>
                </a:solidFill>
                <a:latin typeface="Roboto"/>
                <a:ea typeface="Roboto"/>
                <a:cs typeface="Roboto"/>
              </a:defRPr>
            </a:lvl1pPr>
            <a:lvl2pPr algn="ctr">
              <a:defRPr sz="2000" b="0">
                <a:solidFill>
                  <a:srgbClr val="252525"/>
                </a:solidFill>
                <a:latin typeface="Roboto"/>
                <a:ea typeface="Roboto"/>
                <a:cs typeface="Roboto"/>
              </a:defRPr>
            </a:lvl2pPr>
            <a:lvl3pPr algn="ctr">
              <a:defRPr sz="2000" b="0">
                <a:solidFill>
                  <a:srgbClr val="252525"/>
                </a:solidFill>
                <a:latin typeface="Roboto"/>
                <a:ea typeface="Roboto"/>
                <a:cs typeface="Roboto"/>
              </a:defRPr>
            </a:lvl3pPr>
            <a:lvl4pPr algn="ctr">
              <a:defRPr sz="2000" b="0">
                <a:solidFill>
                  <a:srgbClr val="252525"/>
                </a:solidFill>
                <a:latin typeface="Roboto"/>
                <a:ea typeface="Roboto"/>
                <a:cs typeface="Roboto"/>
              </a:defRPr>
            </a:lvl4pPr>
            <a:lvl5pPr algn="ctr">
              <a:defRPr sz="2000" b="0">
                <a:solidFill>
                  <a:srgbClr val="252525"/>
                </a:solidFill>
                <a:latin typeface="Roboto"/>
                <a:ea typeface="Roboto"/>
                <a:cs typeface="Roboto"/>
              </a:defRPr>
            </a:lvl5pPr>
            <a:lvl6pPr algn="ctr">
              <a:defRPr sz="2000" b="0">
                <a:solidFill>
                  <a:srgbClr val="252525"/>
                </a:solidFill>
                <a:latin typeface="Roboto"/>
                <a:ea typeface="Roboto"/>
                <a:cs typeface="Roboto"/>
              </a:defRPr>
            </a:lvl6pPr>
            <a:lvl7pPr algn="ctr">
              <a:defRPr sz="2000" b="0">
                <a:solidFill>
                  <a:srgbClr val="252525"/>
                </a:solidFill>
                <a:latin typeface="Roboto"/>
                <a:ea typeface="Roboto"/>
                <a:cs typeface="Roboto"/>
              </a:defRPr>
            </a:lvl7pPr>
            <a:lvl8pPr algn="ctr">
              <a:defRPr sz="2000" b="0">
                <a:solidFill>
                  <a:srgbClr val="252525"/>
                </a:solidFill>
                <a:latin typeface="Roboto"/>
                <a:ea typeface="Roboto"/>
                <a:cs typeface="Roboto"/>
              </a:defRPr>
            </a:lvl8pPr>
            <a:lvl9pPr algn="ctr">
              <a:defRPr sz="2000" b="0">
                <a:solidFill>
                  <a:srgbClr val="252525"/>
                </a:solidFill>
                <a:latin typeface="Roboto"/>
                <a:ea typeface="Roboto"/>
                <a:cs typeface="Roboto"/>
              </a:defRPr>
            </a:lvl9pPr>
          </a:lstStyle>
          <a:p>
            <a:pPr algn="ctr">
              <a:defRPr sz="2000" b="0">
                <a:solidFill>
                  <a:srgbClr val="252525"/>
                </a:solidFill>
                <a:latin typeface="Roboto"/>
                <a:ea typeface="Roboto"/>
                <a:cs typeface="Roboto"/>
              </a:defRPr>
            </a:pPr>
            <a:r>
              <a:rPr sz="2000" b="0" dirty="0">
                <a:solidFill>
                  <a:srgbClr val="252525"/>
                </a:solidFill>
                <a:latin typeface="Roboto"/>
                <a:ea typeface="Roboto"/>
                <a:cs typeface="Roboto"/>
              </a:rPr>
              <a:t>Ground truth</a:t>
            </a:r>
          </a:p>
        </p:txBody>
      </p:sp>
      <p:sp>
        <p:nvSpPr>
          <p:cNvPr id="10" name="column-Anomaly map">
            <a:extLst>
              <a:ext uri="{FF2B5EF4-FFF2-40B4-BE49-F238E27FC236}">
                <a16:creationId xmlns:a16="http://schemas.microsoft.com/office/drawing/2014/main" id="{AE644387-C937-4968-A7C4-A0F2FAD7ABBD}"/>
              </a:ext>
            </a:extLst>
          </p:cNvPr>
          <p:cNvSpPr>
            <a:spLocks noGrp="1"/>
          </p:cNvSpPr>
          <p:nvPr/>
        </p:nvSpPr>
        <p:spPr>
          <a:xfrm>
            <a:off x="7905750" y="1647825"/>
            <a:ext cx="2019300" cy="323850"/>
          </a:xfrm>
          <a:prstGeom prst="rect">
            <a:avLst/>
          </a:prstGeom>
          <a:noFill/>
          <a:ln w="0">
            <a:noFill/>
          </a:ln>
        </p:spPr>
        <p:txBody>
          <a:bodyPr wrap="square" lIns="0" tIns="0" rIns="0" bIns="0" anchor="t">
            <a:noAutofit/>
          </a:bodyPr>
          <a:lstStyle>
            <a:defPPr algn="ctr">
              <a:defRPr sz="2000" b="0">
                <a:solidFill>
                  <a:srgbClr val="252525"/>
                </a:solidFill>
                <a:latin typeface="Roboto"/>
                <a:ea typeface="Roboto"/>
                <a:cs typeface="Roboto"/>
              </a:defRPr>
            </a:defPPr>
            <a:lvl1pPr algn="ctr">
              <a:defRPr sz="2000" b="0">
                <a:solidFill>
                  <a:srgbClr val="252525"/>
                </a:solidFill>
                <a:latin typeface="Roboto"/>
                <a:ea typeface="Roboto"/>
                <a:cs typeface="Roboto"/>
              </a:defRPr>
            </a:lvl1pPr>
            <a:lvl2pPr algn="ctr">
              <a:defRPr sz="2000" b="0">
                <a:solidFill>
                  <a:srgbClr val="252525"/>
                </a:solidFill>
                <a:latin typeface="Roboto"/>
                <a:ea typeface="Roboto"/>
                <a:cs typeface="Roboto"/>
              </a:defRPr>
            </a:lvl2pPr>
            <a:lvl3pPr algn="ctr">
              <a:defRPr sz="2000" b="0">
                <a:solidFill>
                  <a:srgbClr val="252525"/>
                </a:solidFill>
                <a:latin typeface="Roboto"/>
                <a:ea typeface="Roboto"/>
                <a:cs typeface="Roboto"/>
              </a:defRPr>
            </a:lvl3pPr>
            <a:lvl4pPr algn="ctr">
              <a:defRPr sz="2000" b="0">
                <a:solidFill>
                  <a:srgbClr val="252525"/>
                </a:solidFill>
                <a:latin typeface="Roboto"/>
                <a:ea typeface="Roboto"/>
                <a:cs typeface="Roboto"/>
              </a:defRPr>
            </a:lvl4pPr>
            <a:lvl5pPr algn="ctr">
              <a:defRPr sz="2000" b="0">
                <a:solidFill>
                  <a:srgbClr val="252525"/>
                </a:solidFill>
                <a:latin typeface="Roboto"/>
                <a:ea typeface="Roboto"/>
                <a:cs typeface="Roboto"/>
              </a:defRPr>
            </a:lvl5pPr>
            <a:lvl6pPr algn="ctr">
              <a:defRPr sz="2000" b="0">
                <a:solidFill>
                  <a:srgbClr val="252525"/>
                </a:solidFill>
                <a:latin typeface="Roboto"/>
                <a:ea typeface="Roboto"/>
                <a:cs typeface="Roboto"/>
              </a:defRPr>
            </a:lvl6pPr>
            <a:lvl7pPr algn="ctr">
              <a:defRPr sz="2000" b="0">
                <a:solidFill>
                  <a:srgbClr val="252525"/>
                </a:solidFill>
                <a:latin typeface="Roboto"/>
                <a:ea typeface="Roboto"/>
                <a:cs typeface="Roboto"/>
              </a:defRPr>
            </a:lvl7pPr>
            <a:lvl8pPr algn="ctr">
              <a:defRPr sz="2000" b="0">
                <a:solidFill>
                  <a:srgbClr val="252525"/>
                </a:solidFill>
                <a:latin typeface="Roboto"/>
                <a:ea typeface="Roboto"/>
                <a:cs typeface="Roboto"/>
              </a:defRPr>
            </a:lvl8pPr>
            <a:lvl9pPr algn="ctr">
              <a:defRPr sz="2000" b="0">
                <a:solidFill>
                  <a:srgbClr val="252525"/>
                </a:solidFill>
                <a:latin typeface="Roboto"/>
                <a:ea typeface="Roboto"/>
                <a:cs typeface="Roboto"/>
              </a:defRPr>
            </a:lvl9pPr>
          </a:lstStyle>
          <a:p>
            <a:pPr algn="ctr">
              <a:defRPr sz="2000" b="0">
                <a:solidFill>
                  <a:srgbClr val="252525"/>
                </a:solidFill>
                <a:latin typeface="Roboto"/>
                <a:ea typeface="Roboto"/>
                <a:cs typeface="Roboto"/>
              </a:defRPr>
            </a:pPr>
            <a:r>
              <a:rPr sz="2000" b="0">
                <a:solidFill>
                  <a:srgbClr val="252525"/>
                </a:solidFill>
                <a:latin typeface="Roboto"/>
                <a:ea typeface="Roboto"/>
                <a:cs typeface="Roboto"/>
              </a:rPr>
              <a:t>Anomaly map</a:t>
            </a:r>
          </a:p>
        </p:txBody>
      </p:sp>
      <p:sp>
        <p:nvSpPr>
          <p:cNvPr id="13" name="condition-clean">
            <a:extLst>
              <a:ext uri="{FF2B5EF4-FFF2-40B4-BE49-F238E27FC236}">
                <a16:creationId xmlns:a16="http://schemas.microsoft.com/office/drawing/2014/main" id="{5210FFA7-C454-404F-A541-7B8AE089B21E}"/>
              </a:ext>
            </a:extLst>
          </p:cNvPr>
          <p:cNvSpPr>
            <a:spLocks noGrp="1"/>
          </p:cNvSpPr>
          <p:nvPr/>
        </p:nvSpPr>
        <p:spPr>
          <a:xfrm>
            <a:off x="952500" y="2628900"/>
            <a:ext cx="1476375" cy="400050"/>
          </a:xfrm>
          <a:prstGeom prst="rect">
            <a:avLst/>
          </a:prstGeom>
          <a:noFill/>
          <a:ln w="0">
            <a:noFill/>
          </a:ln>
        </p:spPr>
        <p:txBody>
          <a:bodyPr wrap="square" lIns="0" tIns="0" rIns="0" bIns="0" anchor="t">
            <a:noAutofit/>
          </a:bodyPr>
          <a:lstStyle>
            <a:defPPr algn="l">
              <a:defRPr sz="2100" b="1">
                <a:solidFill>
                  <a:srgbClr val="822433"/>
                </a:solidFill>
                <a:latin typeface="Roboto"/>
                <a:ea typeface="Roboto"/>
                <a:cs typeface="Roboto"/>
              </a:defRPr>
            </a:defPPr>
            <a:lvl1pPr algn="l">
              <a:defRPr sz="2100" b="1">
                <a:solidFill>
                  <a:srgbClr val="822433"/>
                </a:solidFill>
                <a:latin typeface="Roboto"/>
                <a:ea typeface="Roboto"/>
                <a:cs typeface="Roboto"/>
              </a:defRPr>
            </a:lvl1pPr>
            <a:lvl2pPr algn="l">
              <a:defRPr sz="2100" b="1">
                <a:solidFill>
                  <a:srgbClr val="822433"/>
                </a:solidFill>
                <a:latin typeface="Roboto"/>
                <a:ea typeface="Roboto"/>
                <a:cs typeface="Roboto"/>
              </a:defRPr>
            </a:lvl2pPr>
            <a:lvl3pPr algn="l">
              <a:defRPr sz="2100" b="1">
                <a:solidFill>
                  <a:srgbClr val="822433"/>
                </a:solidFill>
                <a:latin typeface="Roboto"/>
                <a:ea typeface="Roboto"/>
                <a:cs typeface="Roboto"/>
              </a:defRPr>
            </a:lvl3pPr>
            <a:lvl4pPr algn="l">
              <a:defRPr sz="2100" b="1">
                <a:solidFill>
                  <a:srgbClr val="822433"/>
                </a:solidFill>
                <a:latin typeface="Roboto"/>
                <a:ea typeface="Roboto"/>
                <a:cs typeface="Roboto"/>
              </a:defRPr>
            </a:lvl4pPr>
            <a:lvl5pPr algn="l">
              <a:defRPr sz="2100" b="1">
                <a:solidFill>
                  <a:srgbClr val="822433"/>
                </a:solidFill>
                <a:latin typeface="Roboto"/>
                <a:ea typeface="Roboto"/>
                <a:cs typeface="Roboto"/>
              </a:defRPr>
            </a:lvl5pPr>
            <a:lvl6pPr algn="l">
              <a:defRPr sz="2100" b="1">
                <a:solidFill>
                  <a:srgbClr val="822433"/>
                </a:solidFill>
                <a:latin typeface="Roboto"/>
                <a:ea typeface="Roboto"/>
                <a:cs typeface="Roboto"/>
              </a:defRPr>
            </a:lvl6pPr>
            <a:lvl7pPr algn="l">
              <a:defRPr sz="2100" b="1">
                <a:solidFill>
                  <a:srgbClr val="822433"/>
                </a:solidFill>
                <a:latin typeface="Roboto"/>
                <a:ea typeface="Roboto"/>
                <a:cs typeface="Roboto"/>
              </a:defRPr>
            </a:lvl7pPr>
            <a:lvl8pPr algn="l">
              <a:defRPr sz="2100" b="1">
                <a:solidFill>
                  <a:srgbClr val="822433"/>
                </a:solidFill>
                <a:latin typeface="Roboto"/>
                <a:ea typeface="Roboto"/>
                <a:cs typeface="Roboto"/>
              </a:defRPr>
            </a:lvl8pPr>
            <a:lvl9pPr algn="l">
              <a:defRPr sz="2100" b="1">
                <a:solidFill>
                  <a:srgbClr val="822433"/>
                </a:solidFill>
                <a:latin typeface="Roboto"/>
                <a:ea typeface="Roboto"/>
                <a:cs typeface="Roboto"/>
              </a:defRPr>
            </a:lvl9pPr>
          </a:lstStyle>
          <a:p>
            <a:pPr algn="l">
              <a:defRPr sz="2100" b="1">
                <a:solidFill>
                  <a:srgbClr val="822433"/>
                </a:solidFill>
                <a:latin typeface="Roboto"/>
                <a:ea typeface="Roboto"/>
                <a:cs typeface="Roboto"/>
              </a:defRPr>
            </a:pPr>
            <a:r>
              <a:rPr sz="2100" b="1">
                <a:solidFill>
                  <a:srgbClr val="822433"/>
                </a:solidFill>
                <a:latin typeface="Roboto"/>
                <a:ea typeface="Roboto"/>
                <a:cs typeface="Roboto"/>
              </a:rPr>
              <a:t>Normal</a:t>
            </a:r>
          </a:p>
        </p:txBody>
      </p:sp>
      <p:sp>
        <p:nvSpPr>
          <p:cNvPr id="14" name="score-clean">
            <a:extLst>
              <a:ext uri="{FF2B5EF4-FFF2-40B4-BE49-F238E27FC236}">
                <a16:creationId xmlns:a16="http://schemas.microsoft.com/office/drawing/2014/main" id="{7D6D1A46-9C82-4E71-A15C-4F371276FC95}"/>
              </a:ext>
            </a:extLst>
          </p:cNvPr>
          <p:cNvSpPr>
            <a:spLocks noGrp="1"/>
          </p:cNvSpPr>
          <p:nvPr/>
        </p:nvSpPr>
        <p:spPr>
          <a:xfrm>
            <a:off x="952500" y="3048000"/>
            <a:ext cx="1476375" cy="571500"/>
          </a:xfrm>
          <a:prstGeom prst="rect">
            <a:avLst/>
          </a:prstGeom>
          <a:noFill/>
          <a:ln w="0">
            <a:noFill/>
          </a:ln>
        </p:spPr>
        <p:txBody>
          <a:bodyPr wrap="square" lIns="0" tIns="0" rIns="0" bIns="0" anchor="t">
            <a:noAutofit/>
          </a:bodyPr>
          <a:lstStyle>
            <a:defPPr algn="l">
              <a:defRPr sz="3300" b="1">
                <a:solidFill>
                  <a:srgbClr val="822433"/>
                </a:solidFill>
                <a:latin typeface="Roboto"/>
                <a:ea typeface="Roboto"/>
                <a:cs typeface="Roboto"/>
              </a:defRPr>
            </a:defPPr>
            <a:lvl1pPr algn="l">
              <a:defRPr sz="3300" b="1">
                <a:solidFill>
                  <a:srgbClr val="822433"/>
                </a:solidFill>
                <a:latin typeface="Roboto"/>
                <a:ea typeface="Roboto"/>
                <a:cs typeface="Roboto"/>
              </a:defRPr>
            </a:lvl1pPr>
            <a:lvl2pPr algn="l">
              <a:defRPr sz="3300" b="1">
                <a:solidFill>
                  <a:srgbClr val="822433"/>
                </a:solidFill>
                <a:latin typeface="Roboto"/>
                <a:ea typeface="Roboto"/>
                <a:cs typeface="Roboto"/>
              </a:defRPr>
            </a:lvl2pPr>
            <a:lvl3pPr algn="l">
              <a:defRPr sz="3300" b="1">
                <a:solidFill>
                  <a:srgbClr val="822433"/>
                </a:solidFill>
                <a:latin typeface="Roboto"/>
                <a:ea typeface="Roboto"/>
                <a:cs typeface="Roboto"/>
              </a:defRPr>
            </a:lvl3pPr>
            <a:lvl4pPr algn="l">
              <a:defRPr sz="3300" b="1">
                <a:solidFill>
                  <a:srgbClr val="822433"/>
                </a:solidFill>
                <a:latin typeface="Roboto"/>
                <a:ea typeface="Roboto"/>
                <a:cs typeface="Roboto"/>
              </a:defRPr>
            </a:lvl4pPr>
            <a:lvl5pPr algn="l">
              <a:defRPr sz="3300" b="1">
                <a:solidFill>
                  <a:srgbClr val="822433"/>
                </a:solidFill>
                <a:latin typeface="Roboto"/>
                <a:ea typeface="Roboto"/>
                <a:cs typeface="Roboto"/>
              </a:defRPr>
            </a:lvl5pPr>
            <a:lvl6pPr algn="l">
              <a:defRPr sz="3300" b="1">
                <a:solidFill>
                  <a:srgbClr val="822433"/>
                </a:solidFill>
                <a:latin typeface="Roboto"/>
                <a:ea typeface="Roboto"/>
                <a:cs typeface="Roboto"/>
              </a:defRPr>
            </a:lvl6pPr>
            <a:lvl7pPr algn="l">
              <a:defRPr sz="3300" b="1">
                <a:solidFill>
                  <a:srgbClr val="822433"/>
                </a:solidFill>
                <a:latin typeface="Roboto"/>
                <a:ea typeface="Roboto"/>
                <a:cs typeface="Roboto"/>
              </a:defRPr>
            </a:lvl7pPr>
            <a:lvl8pPr algn="l">
              <a:defRPr sz="3300" b="1">
                <a:solidFill>
                  <a:srgbClr val="822433"/>
                </a:solidFill>
                <a:latin typeface="Roboto"/>
                <a:ea typeface="Roboto"/>
                <a:cs typeface="Roboto"/>
              </a:defRPr>
            </a:lvl8pPr>
            <a:lvl9pPr algn="l">
              <a:defRPr sz="3300" b="1">
                <a:solidFill>
                  <a:srgbClr val="822433"/>
                </a:solidFill>
                <a:latin typeface="Roboto"/>
                <a:ea typeface="Roboto"/>
                <a:cs typeface="Roboto"/>
              </a:defRPr>
            </a:lvl9pPr>
          </a:lstStyle>
          <a:p>
            <a:pPr algn="l">
              <a:defRPr sz="3300" b="1">
                <a:solidFill>
                  <a:srgbClr val="822433"/>
                </a:solidFill>
                <a:latin typeface="Roboto"/>
                <a:ea typeface="Roboto"/>
                <a:cs typeface="Roboto"/>
              </a:defRPr>
            </a:pPr>
            <a:r>
              <a:rPr sz="3300" b="1" dirty="0">
                <a:solidFill>
                  <a:srgbClr val="822433"/>
                </a:solidFill>
                <a:latin typeface="Roboto"/>
                <a:ea typeface="Roboto"/>
                <a:cs typeface="Roboto"/>
              </a:rPr>
              <a:t>0.229</a:t>
            </a:r>
          </a:p>
        </p:txBody>
      </p:sp>
      <p:sp>
        <p:nvSpPr>
          <p:cNvPr id="15" name="score-caption-clean">
            <a:extLst>
              <a:ext uri="{FF2B5EF4-FFF2-40B4-BE49-F238E27FC236}">
                <a16:creationId xmlns:a16="http://schemas.microsoft.com/office/drawing/2014/main" id="{F507F3E8-70CC-4215-BEA2-51E3FD7BB7D4}"/>
              </a:ext>
            </a:extLst>
          </p:cNvPr>
          <p:cNvSpPr>
            <a:spLocks noGrp="1"/>
          </p:cNvSpPr>
          <p:nvPr/>
        </p:nvSpPr>
        <p:spPr>
          <a:xfrm>
            <a:off x="952500" y="3562350"/>
            <a:ext cx="1476375" cy="266700"/>
          </a:xfrm>
          <a:prstGeom prst="rect">
            <a:avLst/>
          </a:prstGeom>
          <a:noFill/>
          <a:ln w="0">
            <a:noFill/>
          </a:ln>
        </p:spPr>
        <p:txBody>
          <a:bodyPr wrap="square" lIns="0" tIns="0" rIns="0" bIns="0" anchor="t">
            <a:noAutofit/>
          </a:bodyPr>
          <a:lstStyle>
            <a:defPPr algn="l">
              <a:defRPr sz="1400" b="0">
                <a:solidFill>
                  <a:srgbClr val="626975"/>
                </a:solidFill>
                <a:latin typeface="Roboto"/>
                <a:ea typeface="Roboto"/>
                <a:cs typeface="Roboto"/>
              </a:defRPr>
            </a:defPPr>
            <a:lvl1pPr algn="l">
              <a:defRPr sz="1400" b="0">
                <a:solidFill>
                  <a:srgbClr val="626975"/>
                </a:solidFill>
                <a:latin typeface="Roboto"/>
                <a:ea typeface="Roboto"/>
                <a:cs typeface="Roboto"/>
              </a:defRPr>
            </a:lvl1pPr>
            <a:lvl2pPr algn="l">
              <a:defRPr sz="1400" b="0">
                <a:solidFill>
                  <a:srgbClr val="626975"/>
                </a:solidFill>
                <a:latin typeface="Roboto"/>
                <a:ea typeface="Roboto"/>
                <a:cs typeface="Roboto"/>
              </a:defRPr>
            </a:lvl2pPr>
            <a:lvl3pPr algn="l">
              <a:defRPr sz="1400" b="0">
                <a:solidFill>
                  <a:srgbClr val="626975"/>
                </a:solidFill>
                <a:latin typeface="Roboto"/>
                <a:ea typeface="Roboto"/>
                <a:cs typeface="Roboto"/>
              </a:defRPr>
            </a:lvl3pPr>
            <a:lvl4pPr algn="l">
              <a:defRPr sz="1400" b="0">
                <a:solidFill>
                  <a:srgbClr val="626975"/>
                </a:solidFill>
                <a:latin typeface="Roboto"/>
                <a:ea typeface="Roboto"/>
                <a:cs typeface="Roboto"/>
              </a:defRPr>
            </a:lvl4pPr>
            <a:lvl5pPr algn="l">
              <a:defRPr sz="1400" b="0">
                <a:solidFill>
                  <a:srgbClr val="626975"/>
                </a:solidFill>
                <a:latin typeface="Roboto"/>
                <a:ea typeface="Roboto"/>
                <a:cs typeface="Roboto"/>
              </a:defRPr>
            </a:lvl5pPr>
            <a:lvl6pPr algn="l">
              <a:defRPr sz="1400" b="0">
                <a:solidFill>
                  <a:srgbClr val="626975"/>
                </a:solidFill>
                <a:latin typeface="Roboto"/>
                <a:ea typeface="Roboto"/>
                <a:cs typeface="Roboto"/>
              </a:defRPr>
            </a:lvl6pPr>
            <a:lvl7pPr algn="l">
              <a:defRPr sz="1400" b="0">
                <a:solidFill>
                  <a:srgbClr val="626975"/>
                </a:solidFill>
                <a:latin typeface="Roboto"/>
                <a:ea typeface="Roboto"/>
                <a:cs typeface="Roboto"/>
              </a:defRPr>
            </a:lvl7pPr>
            <a:lvl8pPr algn="l">
              <a:defRPr sz="1400" b="0">
                <a:solidFill>
                  <a:srgbClr val="626975"/>
                </a:solidFill>
                <a:latin typeface="Roboto"/>
                <a:ea typeface="Roboto"/>
                <a:cs typeface="Roboto"/>
              </a:defRPr>
            </a:lvl8pPr>
            <a:lvl9pPr algn="l">
              <a:defRPr sz="1400" b="0">
                <a:solidFill>
                  <a:srgbClr val="626975"/>
                </a:solidFill>
                <a:latin typeface="Roboto"/>
                <a:ea typeface="Roboto"/>
                <a:cs typeface="Roboto"/>
              </a:defRPr>
            </a:lvl9pPr>
          </a:lstStyle>
          <a:p>
            <a:pPr algn="l">
              <a:defRPr sz="1400" b="0">
                <a:solidFill>
                  <a:srgbClr val="626975"/>
                </a:solidFill>
                <a:latin typeface="Roboto"/>
                <a:ea typeface="Roboto"/>
                <a:cs typeface="Roboto"/>
              </a:defRPr>
            </a:pPr>
            <a:r>
              <a:rPr sz="1400" b="0">
                <a:solidFill>
                  <a:srgbClr val="626975"/>
                </a:solidFill>
                <a:latin typeface="Roboto"/>
                <a:ea typeface="Roboto"/>
                <a:cs typeface="Roboto"/>
              </a:rPr>
              <a:t>Image score</a:t>
            </a:r>
          </a:p>
        </p:txBody>
      </p:sp>
      <p:pic>
        <p:nvPicPr>
          <p:cNvPr id="16" name="Immagine 15">
            <a:extLst>
              <a:ext uri="{FF2B5EF4-FFF2-40B4-BE49-F238E27FC236}">
                <a16:creationId xmlns:a16="http://schemas.microsoft.com/office/drawing/2014/main" id="{E5236C50-F073-414F-9555-CE2F158AE179}"/>
              </a:ext>
            </a:extLst>
          </p:cNvPr>
          <p:cNvPicPr>
            <a:picLocks noChangeAspect="1"/>
          </p:cNvPicPr>
          <p:nvPr/>
        </p:nvPicPr>
        <p:blipFill>
          <a:blip r:embed="rId3"/>
          <a:srcRect l="627" t="3436" r="79431" b="82313"/>
          <a:stretch/>
        </p:blipFill>
        <p:spPr>
          <a:xfrm>
            <a:off x="2667000" y="2209800"/>
            <a:ext cx="2019300" cy="2019300"/>
          </a:xfrm>
          <a:prstGeom prst="rect">
            <a:avLst/>
          </a:prstGeom>
        </p:spPr>
      </p:pic>
      <p:pic>
        <p:nvPicPr>
          <p:cNvPr id="17" name="Immagine 16">
            <a:extLst>
              <a:ext uri="{FF2B5EF4-FFF2-40B4-BE49-F238E27FC236}">
                <a16:creationId xmlns:a16="http://schemas.microsoft.com/office/drawing/2014/main" id="{BF76C56C-14A9-47A2-9449-0A238BF39EA3}"/>
              </a:ext>
            </a:extLst>
          </p:cNvPr>
          <p:cNvPicPr>
            <a:picLocks noChangeAspect="1"/>
          </p:cNvPicPr>
          <p:nvPr/>
        </p:nvPicPr>
        <p:blipFill>
          <a:blip r:embed="rId3"/>
          <a:srcRect l="22993" t="3436" r="57065" b="82313"/>
          <a:stretch/>
        </p:blipFill>
        <p:spPr>
          <a:xfrm>
            <a:off x="5286375" y="2209800"/>
            <a:ext cx="2019300" cy="2019300"/>
          </a:xfrm>
          <a:prstGeom prst="rect">
            <a:avLst/>
          </a:prstGeom>
        </p:spPr>
      </p:pic>
      <p:pic>
        <p:nvPicPr>
          <p:cNvPr id="18" name="Immagine 17">
            <a:extLst>
              <a:ext uri="{FF2B5EF4-FFF2-40B4-BE49-F238E27FC236}">
                <a16:creationId xmlns:a16="http://schemas.microsoft.com/office/drawing/2014/main" id="{60D33A07-66A9-4A94-B76A-EC3A22E755C6}"/>
              </a:ext>
            </a:extLst>
          </p:cNvPr>
          <p:cNvPicPr>
            <a:picLocks noChangeAspect="1"/>
          </p:cNvPicPr>
          <p:nvPr/>
        </p:nvPicPr>
        <p:blipFill>
          <a:blip r:embed="rId3"/>
          <a:srcRect l="46321" t="3436" r="33737" b="82313"/>
          <a:stretch/>
        </p:blipFill>
        <p:spPr>
          <a:xfrm>
            <a:off x="7905750" y="2209800"/>
            <a:ext cx="2019300" cy="2019300"/>
          </a:xfrm>
          <a:prstGeom prst="rect">
            <a:avLst/>
          </a:prstGeom>
        </p:spPr>
      </p:pic>
      <p:sp>
        <p:nvSpPr>
          <p:cNvPr id="19" name="condition-hole">
            <a:extLst>
              <a:ext uri="{FF2B5EF4-FFF2-40B4-BE49-F238E27FC236}">
                <a16:creationId xmlns:a16="http://schemas.microsoft.com/office/drawing/2014/main" id="{3B7B7CFF-2FF2-4305-9444-EE2238417652}"/>
              </a:ext>
            </a:extLst>
          </p:cNvPr>
          <p:cNvSpPr>
            <a:spLocks noGrp="1"/>
          </p:cNvSpPr>
          <p:nvPr/>
        </p:nvSpPr>
        <p:spPr>
          <a:xfrm>
            <a:off x="952500" y="4752975"/>
            <a:ext cx="1476375" cy="400050"/>
          </a:xfrm>
          <a:prstGeom prst="rect">
            <a:avLst/>
          </a:prstGeom>
          <a:noFill/>
          <a:ln w="0">
            <a:noFill/>
          </a:ln>
        </p:spPr>
        <p:txBody>
          <a:bodyPr wrap="square" lIns="0" tIns="0" rIns="0" bIns="0" anchor="t">
            <a:noAutofit/>
          </a:bodyPr>
          <a:lstStyle>
            <a:defPPr algn="l">
              <a:defRPr sz="2100" b="1">
                <a:solidFill>
                  <a:srgbClr val="822433"/>
                </a:solidFill>
                <a:latin typeface="Roboto"/>
                <a:ea typeface="Roboto"/>
                <a:cs typeface="Roboto"/>
              </a:defRPr>
            </a:defPPr>
            <a:lvl1pPr algn="l">
              <a:defRPr sz="2100" b="1">
                <a:solidFill>
                  <a:srgbClr val="822433"/>
                </a:solidFill>
                <a:latin typeface="Roboto"/>
                <a:ea typeface="Roboto"/>
                <a:cs typeface="Roboto"/>
              </a:defRPr>
            </a:lvl1pPr>
            <a:lvl2pPr algn="l">
              <a:defRPr sz="2100" b="1">
                <a:solidFill>
                  <a:srgbClr val="822433"/>
                </a:solidFill>
                <a:latin typeface="Roboto"/>
                <a:ea typeface="Roboto"/>
                <a:cs typeface="Roboto"/>
              </a:defRPr>
            </a:lvl2pPr>
            <a:lvl3pPr algn="l">
              <a:defRPr sz="2100" b="1">
                <a:solidFill>
                  <a:srgbClr val="822433"/>
                </a:solidFill>
                <a:latin typeface="Roboto"/>
                <a:ea typeface="Roboto"/>
                <a:cs typeface="Roboto"/>
              </a:defRPr>
            </a:lvl3pPr>
            <a:lvl4pPr algn="l">
              <a:defRPr sz="2100" b="1">
                <a:solidFill>
                  <a:srgbClr val="822433"/>
                </a:solidFill>
                <a:latin typeface="Roboto"/>
                <a:ea typeface="Roboto"/>
                <a:cs typeface="Roboto"/>
              </a:defRPr>
            </a:lvl4pPr>
            <a:lvl5pPr algn="l">
              <a:defRPr sz="2100" b="1">
                <a:solidFill>
                  <a:srgbClr val="822433"/>
                </a:solidFill>
                <a:latin typeface="Roboto"/>
                <a:ea typeface="Roboto"/>
                <a:cs typeface="Roboto"/>
              </a:defRPr>
            </a:lvl5pPr>
            <a:lvl6pPr algn="l">
              <a:defRPr sz="2100" b="1">
                <a:solidFill>
                  <a:srgbClr val="822433"/>
                </a:solidFill>
                <a:latin typeface="Roboto"/>
                <a:ea typeface="Roboto"/>
                <a:cs typeface="Roboto"/>
              </a:defRPr>
            </a:lvl6pPr>
            <a:lvl7pPr algn="l">
              <a:defRPr sz="2100" b="1">
                <a:solidFill>
                  <a:srgbClr val="822433"/>
                </a:solidFill>
                <a:latin typeface="Roboto"/>
                <a:ea typeface="Roboto"/>
                <a:cs typeface="Roboto"/>
              </a:defRPr>
            </a:lvl7pPr>
            <a:lvl8pPr algn="l">
              <a:defRPr sz="2100" b="1">
                <a:solidFill>
                  <a:srgbClr val="822433"/>
                </a:solidFill>
                <a:latin typeface="Roboto"/>
                <a:ea typeface="Roboto"/>
                <a:cs typeface="Roboto"/>
              </a:defRPr>
            </a:lvl8pPr>
            <a:lvl9pPr algn="l">
              <a:defRPr sz="2100" b="1">
                <a:solidFill>
                  <a:srgbClr val="822433"/>
                </a:solidFill>
                <a:latin typeface="Roboto"/>
                <a:ea typeface="Roboto"/>
                <a:cs typeface="Roboto"/>
              </a:defRPr>
            </a:lvl9pPr>
          </a:lstStyle>
          <a:p>
            <a:pPr algn="l">
              <a:defRPr sz="2100" b="1">
                <a:solidFill>
                  <a:srgbClr val="822433"/>
                </a:solidFill>
                <a:latin typeface="Roboto"/>
                <a:ea typeface="Roboto"/>
                <a:cs typeface="Roboto"/>
              </a:defRPr>
            </a:pPr>
            <a:r>
              <a:rPr sz="2100" b="1">
                <a:solidFill>
                  <a:srgbClr val="822433"/>
                </a:solidFill>
                <a:latin typeface="Roboto"/>
                <a:ea typeface="Roboto"/>
                <a:cs typeface="Roboto"/>
              </a:rPr>
              <a:t>Damaged</a:t>
            </a:r>
          </a:p>
        </p:txBody>
      </p:sp>
      <p:sp>
        <p:nvSpPr>
          <p:cNvPr id="20" name="score-hole">
            <a:extLst>
              <a:ext uri="{FF2B5EF4-FFF2-40B4-BE49-F238E27FC236}">
                <a16:creationId xmlns:a16="http://schemas.microsoft.com/office/drawing/2014/main" id="{85F4DEEE-9691-4F39-AEFF-265EFFCA973B}"/>
              </a:ext>
            </a:extLst>
          </p:cNvPr>
          <p:cNvSpPr>
            <a:spLocks noGrp="1"/>
          </p:cNvSpPr>
          <p:nvPr/>
        </p:nvSpPr>
        <p:spPr>
          <a:xfrm>
            <a:off x="952500" y="5172075"/>
            <a:ext cx="1476375" cy="571500"/>
          </a:xfrm>
          <a:prstGeom prst="rect">
            <a:avLst/>
          </a:prstGeom>
          <a:noFill/>
          <a:ln w="0">
            <a:noFill/>
          </a:ln>
        </p:spPr>
        <p:txBody>
          <a:bodyPr wrap="square" lIns="0" tIns="0" rIns="0" bIns="0" anchor="t">
            <a:noAutofit/>
          </a:bodyPr>
          <a:lstStyle>
            <a:defPPr algn="l">
              <a:defRPr sz="3300" b="1">
                <a:solidFill>
                  <a:srgbClr val="822433"/>
                </a:solidFill>
                <a:latin typeface="Roboto"/>
                <a:ea typeface="Roboto"/>
                <a:cs typeface="Roboto"/>
              </a:defRPr>
            </a:defPPr>
            <a:lvl1pPr algn="l">
              <a:defRPr sz="3300" b="1">
                <a:solidFill>
                  <a:srgbClr val="822433"/>
                </a:solidFill>
                <a:latin typeface="Roboto"/>
                <a:ea typeface="Roboto"/>
                <a:cs typeface="Roboto"/>
              </a:defRPr>
            </a:lvl1pPr>
            <a:lvl2pPr algn="l">
              <a:defRPr sz="3300" b="1">
                <a:solidFill>
                  <a:srgbClr val="822433"/>
                </a:solidFill>
                <a:latin typeface="Roboto"/>
                <a:ea typeface="Roboto"/>
                <a:cs typeface="Roboto"/>
              </a:defRPr>
            </a:lvl2pPr>
            <a:lvl3pPr algn="l">
              <a:defRPr sz="3300" b="1">
                <a:solidFill>
                  <a:srgbClr val="822433"/>
                </a:solidFill>
                <a:latin typeface="Roboto"/>
                <a:ea typeface="Roboto"/>
                <a:cs typeface="Roboto"/>
              </a:defRPr>
            </a:lvl3pPr>
            <a:lvl4pPr algn="l">
              <a:defRPr sz="3300" b="1">
                <a:solidFill>
                  <a:srgbClr val="822433"/>
                </a:solidFill>
                <a:latin typeface="Roboto"/>
                <a:ea typeface="Roboto"/>
                <a:cs typeface="Roboto"/>
              </a:defRPr>
            </a:lvl4pPr>
            <a:lvl5pPr algn="l">
              <a:defRPr sz="3300" b="1">
                <a:solidFill>
                  <a:srgbClr val="822433"/>
                </a:solidFill>
                <a:latin typeface="Roboto"/>
                <a:ea typeface="Roboto"/>
                <a:cs typeface="Roboto"/>
              </a:defRPr>
            </a:lvl5pPr>
            <a:lvl6pPr algn="l">
              <a:defRPr sz="3300" b="1">
                <a:solidFill>
                  <a:srgbClr val="822433"/>
                </a:solidFill>
                <a:latin typeface="Roboto"/>
                <a:ea typeface="Roboto"/>
                <a:cs typeface="Roboto"/>
              </a:defRPr>
            </a:lvl6pPr>
            <a:lvl7pPr algn="l">
              <a:defRPr sz="3300" b="1">
                <a:solidFill>
                  <a:srgbClr val="822433"/>
                </a:solidFill>
                <a:latin typeface="Roboto"/>
                <a:ea typeface="Roboto"/>
                <a:cs typeface="Roboto"/>
              </a:defRPr>
            </a:lvl7pPr>
            <a:lvl8pPr algn="l">
              <a:defRPr sz="3300" b="1">
                <a:solidFill>
                  <a:srgbClr val="822433"/>
                </a:solidFill>
                <a:latin typeface="Roboto"/>
                <a:ea typeface="Roboto"/>
                <a:cs typeface="Roboto"/>
              </a:defRPr>
            </a:lvl8pPr>
            <a:lvl9pPr algn="l">
              <a:defRPr sz="3300" b="1">
                <a:solidFill>
                  <a:srgbClr val="822433"/>
                </a:solidFill>
                <a:latin typeface="Roboto"/>
                <a:ea typeface="Roboto"/>
                <a:cs typeface="Roboto"/>
              </a:defRPr>
            </a:lvl9pPr>
          </a:lstStyle>
          <a:p>
            <a:pPr algn="l">
              <a:defRPr sz="3300" b="1">
                <a:solidFill>
                  <a:srgbClr val="822433"/>
                </a:solidFill>
                <a:latin typeface="Roboto"/>
                <a:ea typeface="Roboto"/>
                <a:cs typeface="Roboto"/>
              </a:defRPr>
            </a:pPr>
            <a:r>
              <a:rPr sz="3300" b="1" dirty="0">
                <a:solidFill>
                  <a:srgbClr val="822433"/>
                </a:solidFill>
                <a:latin typeface="Roboto"/>
                <a:ea typeface="Roboto"/>
                <a:cs typeface="Roboto"/>
              </a:rPr>
              <a:t>0.848</a:t>
            </a:r>
          </a:p>
        </p:txBody>
      </p:sp>
      <p:sp>
        <p:nvSpPr>
          <p:cNvPr id="21" name="score-caption-hole">
            <a:extLst>
              <a:ext uri="{FF2B5EF4-FFF2-40B4-BE49-F238E27FC236}">
                <a16:creationId xmlns:a16="http://schemas.microsoft.com/office/drawing/2014/main" id="{E0537833-9362-4238-9F69-B7A7D5444629}"/>
              </a:ext>
            </a:extLst>
          </p:cNvPr>
          <p:cNvSpPr>
            <a:spLocks noGrp="1"/>
          </p:cNvSpPr>
          <p:nvPr/>
        </p:nvSpPr>
        <p:spPr>
          <a:xfrm>
            <a:off x="952500" y="5686425"/>
            <a:ext cx="1476375" cy="266700"/>
          </a:xfrm>
          <a:prstGeom prst="rect">
            <a:avLst/>
          </a:prstGeom>
          <a:noFill/>
          <a:ln w="0">
            <a:noFill/>
          </a:ln>
        </p:spPr>
        <p:txBody>
          <a:bodyPr wrap="square" lIns="0" tIns="0" rIns="0" bIns="0" anchor="t">
            <a:noAutofit/>
          </a:bodyPr>
          <a:lstStyle>
            <a:defPPr algn="l">
              <a:defRPr sz="1400" b="0">
                <a:solidFill>
                  <a:srgbClr val="626975"/>
                </a:solidFill>
                <a:latin typeface="Roboto"/>
                <a:ea typeface="Roboto"/>
                <a:cs typeface="Roboto"/>
              </a:defRPr>
            </a:defPPr>
            <a:lvl1pPr algn="l">
              <a:defRPr sz="1400" b="0">
                <a:solidFill>
                  <a:srgbClr val="626975"/>
                </a:solidFill>
                <a:latin typeface="Roboto"/>
                <a:ea typeface="Roboto"/>
                <a:cs typeface="Roboto"/>
              </a:defRPr>
            </a:lvl1pPr>
            <a:lvl2pPr algn="l">
              <a:defRPr sz="1400" b="0">
                <a:solidFill>
                  <a:srgbClr val="626975"/>
                </a:solidFill>
                <a:latin typeface="Roboto"/>
                <a:ea typeface="Roboto"/>
                <a:cs typeface="Roboto"/>
              </a:defRPr>
            </a:lvl2pPr>
            <a:lvl3pPr algn="l">
              <a:defRPr sz="1400" b="0">
                <a:solidFill>
                  <a:srgbClr val="626975"/>
                </a:solidFill>
                <a:latin typeface="Roboto"/>
                <a:ea typeface="Roboto"/>
                <a:cs typeface="Roboto"/>
              </a:defRPr>
            </a:lvl3pPr>
            <a:lvl4pPr algn="l">
              <a:defRPr sz="1400" b="0">
                <a:solidFill>
                  <a:srgbClr val="626975"/>
                </a:solidFill>
                <a:latin typeface="Roboto"/>
                <a:ea typeface="Roboto"/>
                <a:cs typeface="Roboto"/>
              </a:defRPr>
            </a:lvl4pPr>
            <a:lvl5pPr algn="l">
              <a:defRPr sz="1400" b="0">
                <a:solidFill>
                  <a:srgbClr val="626975"/>
                </a:solidFill>
                <a:latin typeface="Roboto"/>
                <a:ea typeface="Roboto"/>
                <a:cs typeface="Roboto"/>
              </a:defRPr>
            </a:lvl5pPr>
            <a:lvl6pPr algn="l">
              <a:defRPr sz="1400" b="0">
                <a:solidFill>
                  <a:srgbClr val="626975"/>
                </a:solidFill>
                <a:latin typeface="Roboto"/>
                <a:ea typeface="Roboto"/>
                <a:cs typeface="Roboto"/>
              </a:defRPr>
            </a:lvl6pPr>
            <a:lvl7pPr algn="l">
              <a:defRPr sz="1400" b="0">
                <a:solidFill>
                  <a:srgbClr val="626975"/>
                </a:solidFill>
                <a:latin typeface="Roboto"/>
                <a:ea typeface="Roboto"/>
                <a:cs typeface="Roboto"/>
              </a:defRPr>
            </a:lvl7pPr>
            <a:lvl8pPr algn="l">
              <a:defRPr sz="1400" b="0">
                <a:solidFill>
                  <a:srgbClr val="626975"/>
                </a:solidFill>
                <a:latin typeface="Roboto"/>
                <a:ea typeface="Roboto"/>
                <a:cs typeface="Roboto"/>
              </a:defRPr>
            </a:lvl8pPr>
            <a:lvl9pPr algn="l">
              <a:defRPr sz="1400" b="0">
                <a:solidFill>
                  <a:srgbClr val="626975"/>
                </a:solidFill>
                <a:latin typeface="Roboto"/>
                <a:ea typeface="Roboto"/>
                <a:cs typeface="Roboto"/>
              </a:defRPr>
            </a:lvl9pPr>
          </a:lstStyle>
          <a:p>
            <a:pPr algn="l">
              <a:defRPr sz="1400" b="0">
                <a:solidFill>
                  <a:srgbClr val="626975"/>
                </a:solidFill>
                <a:latin typeface="Roboto"/>
                <a:ea typeface="Roboto"/>
                <a:cs typeface="Roboto"/>
              </a:defRPr>
            </a:pPr>
            <a:r>
              <a:rPr sz="1400" b="0" dirty="0">
                <a:solidFill>
                  <a:srgbClr val="626975"/>
                </a:solidFill>
                <a:latin typeface="Roboto"/>
                <a:ea typeface="Roboto"/>
                <a:cs typeface="Roboto"/>
              </a:rPr>
              <a:t>Image score</a:t>
            </a:r>
          </a:p>
        </p:txBody>
      </p:sp>
      <p:pic>
        <p:nvPicPr>
          <p:cNvPr id="22" name="Immagine 21">
            <a:extLst>
              <a:ext uri="{FF2B5EF4-FFF2-40B4-BE49-F238E27FC236}">
                <a16:creationId xmlns:a16="http://schemas.microsoft.com/office/drawing/2014/main" id="{5FBDBF8F-049E-4F82-8D06-AE8C9A97E1E8}"/>
              </a:ext>
            </a:extLst>
          </p:cNvPr>
          <p:cNvPicPr>
            <a:picLocks noChangeAspect="1"/>
          </p:cNvPicPr>
          <p:nvPr/>
        </p:nvPicPr>
        <p:blipFill>
          <a:blip r:embed="rId3"/>
          <a:srcRect l="627" t="19809" r="79431" b="65940"/>
          <a:stretch/>
        </p:blipFill>
        <p:spPr>
          <a:xfrm>
            <a:off x="2667000" y="4333875"/>
            <a:ext cx="2019300" cy="2019300"/>
          </a:xfrm>
          <a:prstGeom prst="rect">
            <a:avLst/>
          </a:prstGeom>
        </p:spPr>
      </p:pic>
      <p:pic>
        <p:nvPicPr>
          <p:cNvPr id="23" name="Immagine 22">
            <a:extLst>
              <a:ext uri="{FF2B5EF4-FFF2-40B4-BE49-F238E27FC236}">
                <a16:creationId xmlns:a16="http://schemas.microsoft.com/office/drawing/2014/main" id="{CA5F0543-CEE7-4DDD-B53D-A7504265052B}"/>
              </a:ext>
            </a:extLst>
          </p:cNvPr>
          <p:cNvPicPr>
            <a:picLocks noChangeAspect="1"/>
          </p:cNvPicPr>
          <p:nvPr/>
        </p:nvPicPr>
        <p:blipFill>
          <a:blip r:embed="rId3"/>
          <a:srcRect l="22993" t="19809" r="57065" b="65940"/>
          <a:stretch/>
        </p:blipFill>
        <p:spPr>
          <a:xfrm>
            <a:off x="5286375" y="4333875"/>
            <a:ext cx="2019300" cy="2019300"/>
          </a:xfrm>
          <a:prstGeom prst="rect">
            <a:avLst/>
          </a:prstGeom>
        </p:spPr>
      </p:pic>
      <p:pic>
        <p:nvPicPr>
          <p:cNvPr id="24" name="Immagine 23">
            <a:extLst>
              <a:ext uri="{FF2B5EF4-FFF2-40B4-BE49-F238E27FC236}">
                <a16:creationId xmlns:a16="http://schemas.microsoft.com/office/drawing/2014/main" id="{3095E049-6543-437C-9F4C-E6B7574BEE5C}"/>
              </a:ext>
            </a:extLst>
          </p:cNvPr>
          <p:cNvPicPr>
            <a:picLocks noChangeAspect="1"/>
          </p:cNvPicPr>
          <p:nvPr/>
        </p:nvPicPr>
        <p:blipFill>
          <a:blip r:embed="rId3"/>
          <a:srcRect l="46321" t="19809" r="33737" b="65940"/>
          <a:stretch/>
        </p:blipFill>
        <p:spPr>
          <a:xfrm>
            <a:off x="7905750" y="4333875"/>
            <a:ext cx="2019300" cy="2019300"/>
          </a:xfrm>
          <a:prstGeom prst="rect">
            <a:avLst/>
          </a:prstGeom>
        </p:spPr>
      </p:pic>
      <p:sp>
        <p:nvSpPr>
          <p:cNvPr id="25" name="extra-page-number">
            <a:extLst>
              <a:ext uri="{FF2B5EF4-FFF2-40B4-BE49-F238E27FC236}">
                <a16:creationId xmlns:a16="http://schemas.microsoft.com/office/drawing/2014/main" id="{C7ED2726-5C03-4091-8DB7-A75F40180EDC}"/>
              </a:ext>
            </a:extLst>
          </p:cNvPr>
          <p:cNvSpPr>
            <a:spLocks noGrp="1"/>
          </p:cNvSpPr>
          <p:nvPr/>
        </p:nvSpPr>
        <p:spPr>
          <a:xfrm>
            <a:off x="10810875" y="6581775"/>
            <a:ext cx="914400" cy="219075"/>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55/25</a:t>
            </a:r>
          </a:p>
        </p:txBody>
      </p:sp>
    </p:spTree>
    <p:extLst>
      <p:ext uri="{BB962C8B-B14F-4D97-AF65-F5344CB8AC3E}">
        <p14:creationId xmlns:p14="http://schemas.microsoft.com/office/powerpoint/2010/main" val="23563135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02D0-E545-9357-3081-E04B0A19476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E047581-3586-F681-6ADB-77889F4C3203}"/>
              </a:ext>
            </a:extLst>
          </p:cNvPr>
          <p:cNvSpPr>
            <a:spLocks noGrp="1"/>
          </p:cNvSpPr>
          <p:nvPr>
            <p:ph type="title"/>
          </p:nvPr>
        </p:nvSpPr>
        <p:spPr>
          <a:xfrm>
            <a:off x="838200" y="365125"/>
            <a:ext cx="8384177" cy="835787"/>
          </a:xfrm>
        </p:spPr>
        <p:txBody>
          <a:bodyPr/>
          <a:lstStyle/>
          <a:p>
            <a:r>
              <a:rPr lang="en-US" noProof="0" dirty="0">
                <a:solidFill>
                  <a:srgbClr val="822433"/>
                </a:solidFill>
              </a:rPr>
              <a:t>Extra: U-Net </a:t>
            </a:r>
          </a:p>
        </p:txBody>
      </p:sp>
      <p:sp>
        <p:nvSpPr>
          <p:cNvPr id="4" name="Google Shape;102;p14">
            <a:extLst>
              <a:ext uri="{FF2B5EF4-FFF2-40B4-BE49-F238E27FC236}">
                <a16:creationId xmlns:a16="http://schemas.microsoft.com/office/drawing/2014/main" id="{3814E92D-82A6-F7D4-C7A7-940BF86D40D8}"/>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47</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BF563456-0476-12F2-3F61-AAF23C874DEA}"/>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7" name="Immagine 6">
            <a:extLst>
              <a:ext uri="{FF2B5EF4-FFF2-40B4-BE49-F238E27FC236}">
                <a16:creationId xmlns:a16="http://schemas.microsoft.com/office/drawing/2014/main" id="{BB3AF82F-29C5-2BD8-921E-71DCC5ABC51E}"/>
              </a:ext>
            </a:extLst>
          </p:cNvPr>
          <p:cNvPicPr>
            <a:picLocks noChangeAspect="1"/>
          </p:cNvPicPr>
          <p:nvPr/>
        </p:nvPicPr>
        <p:blipFill>
          <a:blip r:embed="rId3"/>
          <a:stretch/>
        </p:blipFill>
        <p:spPr>
          <a:xfrm>
            <a:off x="2600358" y="1438275"/>
            <a:ext cx="6991283" cy="4762500"/>
          </a:xfrm>
          <a:prstGeom prst="rect">
            <a:avLst/>
          </a:prstGeom>
        </p:spPr>
      </p:pic>
    </p:spTree>
    <p:extLst>
      <p:ext uri="{BB962C8B-B14F-4D97-AF65-F5344CB8AC3E}">
        <p14:creationId xmlns:p14="http://schemas.microsoft.com/office/powerpoint/2010/main" val="31677256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F3511-D1DD-FA0C-C79E-167C3D24631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40AD247-09FE-5ABB-19DA-17F5EF83757F}"/>
              </a:ext>
            </a:extLst>
          </p:cNvPr>
          <p:cNvSpPr>
            <a:spLocks noGrp="1"/>
          </p:cNvSpPr>
          <p:nvPr>
            <p:ph type="title"/>
          </p:nvPr>
        </p:nvSpPr>
        <p:spPr>
          <a:xfrm>
            <a:off x="838200" y="365125"/>
            <a:ext cx="8384177" cy="835787"/>
          </a:xfrm>
        </p:spPr>
        <p:txBody>
          <a:bodyPr/>
          <a:lstStyle/>
          <a:p>
            <a:r>
              <a:rPr lang="en-US" noProof="0" dirty="0" err="1">
                <a:solidFill>
                  <a:srgbClr val="822433"/>
                </a:solidFill>
              </a:rPr>
              <a:t>Extr</a:t>
            </a:r>
            <a:r>
              <a:rPr lang="en-US" dirty="0">
                <a:solidFill>
                  <a:srgbClr val="822433"/>
                </a:solidFill>
              </a:rPr>
              <a:t>a: DeepLabV3</a:t>
            </a:r>
            <a:endParaRPr lang="en-US" noProof="0" dirty="0">
              <a:solidFill>
                <a:srgbClr val="822433"/>
              </a:solidFill>
            </a:endParaRPr>
          </a:p>
        </p:txBody>
      </p:sp>
      <p:sp>
        <p:nvSpPr>
          <p:cNvPr id="4" name="Google Shape;102;p14">
            <a:extLst>
              <a:ext uri="{FF2B5EF4-FFF2-40B4-BE49-F238E27FC236}">
                <a16:creationId xmlns:a16="http://schemas.microsoft.com/office/drawing/2014/main" id="{52E03328-F42E-C9B4-E7AC-E0AB13B4B2E1}"/>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48</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938F5022-DB8F-AEBF-19DB-5D9E5E5F9D96}"/>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7" name="Immagine 6">
            <a:extLst>
              <a:ext uri="{FF2B5EF4-FFF2-40B4-BE49-F238E27FC236}">
                <a16:creationId xmlns:a16="http://schemas.microsoft.com/office/drawing/2014/main" id="{001BB378-BE79-2481-F943-5EDF7710FDE7}"/>
              </a:ext>
            </a:extLst>
          </p:cNvPr>
          <p:cNvPicPr>
            <a:picLocks noChangeAspect="1"/>
          </p:cNvPicPr>
          <p:nvPr/>
        </p:nvPicPr>
        <p:blipFill>
          <a:blip r:embed="rId3"/>
          <a:stretch/>
        </p:blipFill>
        <p:spPr>
          <a:xfrm>
            <a:off x="571500" y="2226296"/>
            <a:ext cx="11049000" cy="3186458"/>
          </a:xfrm>
          <a:prstGeom prst="rect">
            <a:avLst/>
          </a:prstGeom>
        </p:spPr>
      </p:pic>
    </p:spTree>
    <p:extLst>
      <p:ext uri="{BB962C8B-B14F-4D97-AF65-F5344CB8AC3E}">
        <p14:creationId xmlns:p14="http://schemas.microsoft.com/office/powerpoint/2010/main" val="30494286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0F211-7C3F-90C4-1D6B-1C20D724A269}"/>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9F5608C-8456-9564-36B5-4F72F60A9EA6}"/>
              </a:ext>
            </a:extLst>
          </p:cNvPr>
          <p:cNvSpPr>
            <a:spLocks noGrp="1"/>
          </p:cNvSpPr>
          <p:nvPr>
            <p:ph type="title"/>
          </p:nvPr>
        </p:nvSpPr>
        <p:spPr>
          <a:xfrm>
            <a:off x="838200" y="365125"/>
            <a:ext cx="8384177" cy="835787"/>
          </a:xfrm>
        </p:spPr>
        <p:txBody>
          <a:bodyPr/>
          <a:lstStyle/>
          <a:p>
            <a:r>
              <a:rPr lang="en-US" noProof="0" dirty="0">
                <a:solidFill>
                  <a:srgbClr val="822433"/>
                </a:solidFill>
              </a:rPr>
              <a:t>Extra: DeepLabV3+</a:t>
            </a:r>
          </a:p>
        </p:txBody>
      </p:sp>
      <p:sp>
        <p:nvSpPr>
          <p:cNvPr id="4" name="Google Shape;102;p14">
            <a:extLst>
              <a:ext uri="{FF2B5EF4-FFF2-40B4-BE49-F238E27FC236}">
                <a16:creationId xmlns:a16="http://schemas.microsoft.com/office/drawing/2014/main" id="{8D4B9581-33BD-7008-C8B2-389412B2F8C0}"/>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49</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843571E9-FD88-1B37-0532-EFA46E485EFA}"/>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7" name="Immagine 6">
            <a:extLst>
              <a:ext uri="{FF2B5EF4-FFF2-40B4-BE49-F238E27FC236}">
                <a16:creationId xmlns:a16="http://schemas.microsoft.com/office/drawing/2014/main" id="{A3E1238F-D644-8C0A-CE41-6BDE466791B0}"/>
              </a:ext>
            </a:extLst>
          </p:cNvPr>
          <p:cNvPicPr>
            <a:picLocks noChangeAspect="1"/>
          </p:cNvPicPr>
          <p:nvPr/>
        </p:nvPicPr>
        <p:blipFill>
          <a:blip r:embed="rId3"/>
          <a:stretch/>
        </p:blipFill>
        <p:spPr>
          <a:xfrm>
            <a:off x="1589630" y="1438275"/>
            <a:ext cx="9012740" cy="4762500"/>
          </a:xfrm>
          <a:prstGeom prst="rect">
            <a:avLst/>
          </a:prstGeom>
        </p:spPr>
      </p:pic>
    </p:spTree>
    <p:extLst>
      <p:ext uri="{BB962C8B-B14F-4D97-AF65-F5344CB8AC3E}">
        <p14:creationId xmlns:p14="http://schemas.microsoft.com/office/powerpoint/2010/main" val="10093841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D0187-F69B-6665-49D9-A7EDCB180E3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D1C9967-C42C-498E-EAC6-97F91760CF4D}"/>
              </a:ext>
            </a:extLst>
          </p:cNvPr>
          <p:cNvSpPr>
            <a:spLocks noGrp="1"/>
          </p:cNvSpPr>
          <p:nvPr>
            <p:ph type="title"/>
          </p:nvPr>
        </p:nvSpPr>
        <p:spPr>
          <a:xfrm>
            <a:off x="838200" y="365125"/>
            <a:ext cx="8384177" cy="835787"/>
          </a:xfrm>
        </p:spPr>
        <p:txBody>
          <a:bodyPr/>
          <a:lstStyle/>
          <a:p>
            <a:r>
              <a:rPr lang="en-US" noProof="0" dirty="0">
                <a:solidFill>
                  <a:srgbClr val="822433"/>
                </a:solidFill>
              </a:rPr>
              <a:t>Extra: </a:t>
            </a:r>
            <a:r>
              <a:rPr lang="en-US" noProof="0" dirty="0" err="1">
                <a:solidFill>
                  <a:srgbClr val="822433"/>
                </a:solidFill>
              </a:rPr>
              <a:t>SegFormer</a:t>
            </a:r>
            <a:endParaRPr lang="en-US" noProof="0" dirty="0">
              <a:solidFill>
                <a:srgbClr val="822433"/>
              </a:solidFill>
            </a:endParaRPr>
          </a:p>
        </p:txBody>
      </p:sp>
      <p:sp>
        <p:nvSpPr>
          <p:cNvPr id="4" name="Google Shape;102;p14">
            <a:extLst>
              <a:ext uri="{FF2B5EF4-FFF2-40B4-BE49-F238E27FC236}">
                <a16:creationId xmlns:a16="http://schemas.microsoft.com/office/drawing/2014/main" id="{BC8913E2-29FA-675F-9A15-46B860C04EFB}"/>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50</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AD99CB57-9701-A71C-88AF-A2A42CBF04D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7" name="Immagine 6">
            <a:extLst>
              <a:ext uri="{FF2B5EF4-FFF2-40B4-BE49-F238E27FC236}">
                <a16:creationId xmlns:a16="http://schemas.microsoft.com/office/drawing/2014/main" id="{9ED6DC49-0F3E-37EC-0613-49FCC70D3DD4}"/>
              </a:ext>
            </a:extLst>
          </p:cNvPr>
          <p:cNvPicPr>
            <a:picLocks noChangeAspect="1"/>
          </p:cNvPicPr>
          <p:nvPr/>
        </p:nvPicPr>
        <p:blipFill>
          <a:blip r:embed="rId3"/>
          <a:stretch/>
        </p:blipFill>
        <p:spPr>
          <a:xfrm>
            <a:off x="1534184" y="1438275"/>
            <a:ext cx="9123632" cy="4762500"/>
          </a:xfrm>
          <a:prstGeom prst="rect">
            <a:avLst/>
          </a:prstGeom>
        </p:spPr>
      </p:pic>
    </p:spTree>
    <p:extLst>
      <p:ext uri="{BB962C8B-B14F-4D97-AF65-F5344CB8AC3E}">
        <p14:creationId xmlns:p14="http://schemas.microsoft.com/office/powerpoint/2010/main" val="32397751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F2258-6651-17A4-609B-B0D1966426B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E5FD825-66B2-2D5E-16ED-1B56C6A79B6A}"/>
              </a:ext>
            </a:extLst>
          </p:cNvPr>
          <p:cNvSpPr>
            <a:spLocks noGrp="1"/>
          </p:cNvSpPr>
          <p:nvPr>
            <p:ph type="title"/>
          </p:nvPr>
        </p:nvSpPr>
        <p:spPr>
          <a:xfrm>
            <a:off x="838200" y="365125"/>
            <a:ext cx="8384177" cy="835787"/>
          </a:xfrm>
        </p:spPr>
        <p:txBody>
          <a:bodyPr/>
          <a:lstStyle/>
          <a:p>
            <a:r>
              <a:rPr lang="en-US" noProof="0" dirty="0">
                <a:solidFill>
                  <a:srgbClr val="822433"/>
                </a:solidFill>
              </a:rPr>
              <a:t>Extra: </a:t>
            </a:r>
            <a:r>
              <a:rPr lang="en-US" noProof="0" dirty="0" err="1">
                <a:solidFill>
                  <a:srgbClr val="822433"/>
                </a:solidFill>
              </a:rPr>
              <a:t>LCNet</a:t>
            </a:r>
            <a:endParaRPr lang="en-US" noProof="0" dirty="0">
              <a:solidFill>
                <a:srgbClr val="822433"/>
              </a:solidFill>
            </a:endParaRPr>
          </a:p>
        </p:txBody>
      </p:sp>
      <p:sp>
        <p:nvSpPr>
          <p:cNvPr id="4" name="Google Shape;102;p14">
            <a:extLst>
              <a:ext uri="{FF2B5EF4-FFF2-40B4-BE49-F238E27FC236}">
                <a16:creationId xmlns:a16="http://schemas.microsoft.com/office/drawing/2014/main" id="{318151EA-E854-867F-F1B4-052717000335}"/>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51</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A82A961C-854B-6626-255C-ABD10EF893E8}"/>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7" name="Immagine 6">
            <a:extLst>
              <a:ext uri="{FF2B5EF4-FFF2-40B4-BE49-F238E27FC236}">
                <a16:creationId xmlns:a16="http://schemas.microsoft.com/office/drawing/2014/main" id="{6EEE0D7E-32D6-205D-4583-18F9BE6A560B}"/>
              </a:ext>
            </a:extLst>
          </p:cNvPr>
          <p:cNvPicPr>
            <a:picLocks noChangeAspect="1"/>
          </p:cNvPicPr>
          <p:nvPr/>
        </p:nvPicPr>
        <p:blipFill>
          <a:blip r:embed="rId3"/>
          <a:stretch/>
        </p:blipFill>
        <p:spPr>
          <a:xfrm>
            <a:off x="765464" y="2123554"/>
            <a:ext cx="11049000" cy="3225687"/>
          </a:xfrm>
          <a:prstGeom prst="rect">
            <a:avLst/>
          </a:prstGeom>
        </p:spPr>
      </p:pic>
    </p:spTree>
    <p:extLst>
      <p:ext uri="{BB962C8B-B14F-4D97-AF65-F5344CB8AC3E}">
        <p14:creationId xmlns:p14="http://schemas.microsoft.com/office/powerpoint/2010/main" val="140963931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3F61-D5E0-9079-A302-0EAFF8BD567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25F778F-14F1-7113-DB49-1A60DA3E5092}"/>
              </a:ext>
            </a:extLst>
          </p:cNvPr>
          <p:cNvSpPr>
            <a:spLocks noGrp="1"/>
          </p:cNvSpPr>
          <p:nvPr>
            <p:ph type="title"/>
          </p:nvPr>
        </p:nvSpPr>
        <p:spPr>
          <a:xfrm>
            <a:off x="838200" y="365125"/>
            <a:ext cx="8384177" cy="835787"/>
          </a:xfrm>
        </p:spPr>
        <p:txBody>
          <a:bodyPr/>
          <a:lstStyle/>
          <a:p>
            <a:r>
              <a:rPr lang="en-US" noProof="0" dirty="0">
                <a:solidFill>
                  <a:srgbClr val="822433"/>
                </a:solidFill>
              </a:rPr>
              <a:t>Extra: PatchCore</a:t>
            </a:r>
          </a:p>
        </p:txBody>
      </p:sp>
      <p:sp>
        <p:nvSpPr>
          <p:cNvPr id="4" name="Google Shape;102;p14">
            <a:extLst>
              <a:ext uri="{FF2B5EF4-FFF2-40B4-BE49-F238E27FC236}">
                <a16:creationId xmlns:a16="http://schemas.microsoft.com/office/drawing/2014/main" id="{CAFB0807-BFE8-DE04-9021-52C8600F6519}"/>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52</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F6A1CBD9-C8EB-C657-22D5-73C285D5C65B}"/>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6" name="Immagine 5">
            <a:extLst>
              <a:ext uri="{FF2B5EF4-FFF2-40B4-BE49-F238E27FC236}">
                <a16:creationId xmlns:a16="http://schemas.microsoft.com/office/drawing/2014/main" id="{8525E26E-6AD5-8F35-2E07-127C22FA4D24}"/>
              </a:ext>
            </a:extLst>
          </p:cNvPr>
          <p:cNvPicPr>
            <a:picLocks noChangeAspect="1"/>
          </p:cNvPicPr>
          <p:nvPr/>
        </p:nvPicPr>
        <p:blipFill>
          <a:blip r:embed="rId3"/>
          <a:stretch/>
        </p:blipFill>
        <p:spPr>
          <a:xfrm>
            <a:off x="571500" y="2334739"/>
            <a:ext cx="11049000" cy="2969571"/>
          </a:xfrm>
          <a:prstGeom prst="rect">
            <a:avLst/>
          </a:prstGeom>
        </p:spPr>
      </p:pic>
    </p:spTree>
    <p:extLst>
      <p:ext uri="{BB962C8B-B14F-4D97-AF65-F5344CB8AC3E}">
        <p14:creationId xmlns:p14="http://schemas.microsoft.com/office/powerpoint/2010/main" val="2151575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8D1C2-0E97-2699-60B4-4D177003D78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308978D-0EEB-A747-F315-9E622874267E}"/>
              </a:ext>
            </a:extLst>
          </p:cNvPr>
          <p:cNvSpPr>
            <a:spLocks noGrp="1"/>
          </p:cNvSpPr>
          <p:nvPr>
            <p:ph type="title"/>
          </p:nvPr>
        </p:nvSpPr>
        <p:spPr>
          <a:xfrm>
            <a:off x="838200" y="365125"/>
            <a:ext cx="8384177" cy="835787"/>
          </a:xfrm>
        </p:spPr>
        <p:txBody>
          <a:bodyPr/>
          <a:lstStyle/>
          <a:p>
            <a:r>
              <a:rPr lang="en-US" noProof="0" dirty="0">
                <a:solidFill>
                  <a:srgbClr val="822433"/>
                </a:solidFill>
              </a:rPr>
              <a:t>Extra: EfficientAD</a:t>
            </a:r>
          </a:p>
        </p:txBody>
      </p:sp>
      <p:sp>
        <p:nvSpPr>
          <p:cNvPr id="4" name="Google Shape;102;p14">
            <a:extLst>
              <a:ext uri="{FF2B5EF4-FFF2-40B4-BE49-F238E27FC236}">
                <a16:creationId xmlns:a16="http://schemas.microsoft.com/office/drawing/2014/main" id="{2047AA39-A9A9-2E53-E4C7-E3EFBA0B896E}"/>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53</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09275FAD-8C33-F657-6922-F4D1792B745C}"/>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6" name="Immagine 5">
            <a:extLst>
              <a:ext uri="{FF2B5EF4-FFF2-40B4-BE49-F238E27FC236}">
                <a16:creationId xmlns:a16="http://schemas.microsoft.com/office/drawing/2014/main" id="{D0394FAD-08B2-9BB2-3E21-83B9954E0C21}"/>
              </a:ext>
            </a:extLst>
          </p:cNvPr>
          <p:cNvPicPr>
            <a:picLocks noChangeAspect="1"/>
          </p:cNvPicPr>
          <p:nvPr/>
        </p:nvPicPr>
        <p:blipFill>
          <a:blip r:embed="rId3"/>
          <a:stretch/>
        </p:blipFill>
        <p:spPr>
          <a:xfrm>
            <a:off x="571500" y="2538994"/>
            <a:ext cx="11049000" cy="2561062"/>
          </a:xfrm>
          <a:prstGeom prst="rect">
            <a:avLst/>
          </a:prstGeom>
        </p:spPr>
      </p:pic>
    </p:spTree>
    <p:extLst>
      <p:ext uri="{BB962C8B-B14F-4D97-AF65-F5344CB8AC3E}">
        <p14:creationId xmlns:p14="http://schemas.microsoft.com/office/powerpoint/2010/main" val="20716543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6DC7E-EEF5-CAE0-4F52-26D68CF267B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5E06BC20-3C48-224A-75B3-F3208992D08E}"/>
              </a:ext>
            </a:extLst>
          </p:cNvPr>
          <p:cNvSpPr>
            <a:spLocks noGrp="1"/>
          </p:cNvSpPr>
          <p:nvPr>
            <p:ph type="title"/>
          </p:nvPr>
        </p:nvSpPr>
        <p:spPr>
          <a:xfrm>
            <a:off x="838200" y="365125"/>
            <a:ext cx="8384177" cy="835787"/>
          </a:xfrm>
        </p:spPr>
        <p:txBody>
          <a:bodyPr/>
          <a:lstStyle/>
          <a:p>
            <a:r>
              <a:rPr lang="en-US" noProof="0" dirty="0">
                <a:solidFill>
                  <a:srgbClr val="822433"/>
                </a:solidFill>
              </a:rPr>
              <a:t>Extra</a:t>
            </a:r>
            <a:r>
              <a:rPr lang="en-US" dirty="0">
                <a:solidFill>
                  <a:srgbClr val="822433"/>
                </a:solidFill>
              </a:rPr>
              <a:t>: </a:t>
            </a:r>
            <a:r>
              <a:rPr lang="en-US" dirty="0" err="1">
                <a:solidFill>
                  <a:srgbClr val="822433"/>
                </a:solidFill>
              </a:rPr>
              <a:t>SuperSimpleNet</a:t>
            </a:r>
            <a:endParaRPr lang="en-US" noProof="0" dirty="0">
              <a:solidFill>
                <a:srgbClr val="822433"/>
              </a:solidFill>
            </a:endParaRPr>
          </a:p>
        </p:txBody>
      </p:sp>
      <p:sp>
        <p:nvSpPr>
          <p:cNvPr id="4" name="Google Shape;102;p14">
            <a:extLst>
              <a:ext uri="{FF2B5EF4-FFF2-40B4-BE49-F238E27FC236}">
                <a16:creationId xmlns:a16="http://schemas.microsoft.com/office/drawing/2014/main" id="{726F33F8-CB1F-F61C-D755-B8E8F0884C1A}"/>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54</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CCD0A07B-88E3-59CC-D1AD-2A5BB948B7CF}"/>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6" name="Immagine 5">
            <a:extLst>
              <a:ext uri="{FF2B5EF4-FFF2-40B4-BE49-F238E27FC236}">
                <a16:creationId xmlns:a16="http://schemas.microsoft.com/office/drawing/2014/main" id="{D61BCDEC-5091-F971-B25C-B47C3255D406}"/>
              </a:ext>
            </a:extLst>
          </p:cNvPr>
          <p:cNvPicPr>
            <a:picLocks noChangeAspect="1"/>
          </p:cNvPicPr>
          <p:nvPr/>
        </p:nvPicPr>
        <p:blipFill>
          <a:blip r:embed="rId3"/>
          <a:stretch/>
        </p:blipFill>
        <p:spPr>
          <a:xfrm>
            <a:off x="1131755" y="1438275"/>
            <a:ext cx="9928490" cy="4762500"/>
          </a:xfrm>
          <a:prstGeom prst="rect">
            <a:avLst/>
          </a:prstGeom>
        </p:spPr>
      </p:pic>
    </p:spTree>
    <p:extLst>
      <p:ext uri="{BB962C8B-B14F-4D97-AF65-F5344CB8AC3E}">
        <p14:creationId xmlns:p14="http://schemas.microsoft.com/office/powerpoint/2010/main" val="18001577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867D8-00B6-6514-E4C1-A54B2AF62B3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E713CB4-D484-5AC4-B62D-7D85E1523F04}"/>
              </a:ext>
            </a:extLst>
          </p:cNvPr>
          <p:cNvSpPr>
            <a:spLocks noGrp="1"/>
          </p:cNvSpPr>
          <p:nvPr>
            <p:ph type="title"/>
          </p:nvPr>
        </p:nvSpPr>
        <p:spPr>
          <a:xfrm>
            <a:off x="838200" y="365125"/>
            <a:ext cx="8384177" cy="835787"/>
          </a:xfrm>
        </p:spPr>
        <p:txBody>
          <a:bodyPr/>
          <a:lstStyle/>
          <a:p>
            <a:r>
              <a:rPr lang="en-US" noProof="0" dirty="0">
                <a:solidFill>
                  <a:srgbClr val="822433"/>
                </a:solidFill>
              </a:rPr>
              <a:t>Extra: TinyGLASS</a:t>
            </a:r>
          </a:p>
        </p:txBody>
      </p:sp>
      <p:sp>
        <p:nvSpPr>
          <p:cNvPr id="4" name="Google Shape;102;p14">
            <a:extLst>
              <a:ext uri="{FF2B5EF4-FFF2-40B4-BE49-F238E27FC236}">
                <a16:creationId xmlns:a16="http://schemas.microsoft.com/office/drawing/2014/main" id="{F4A11181-F7FA-9D84-A215-23FD578CA981}"/>
              </a:ext>
            </a:extLst>
          </p:cNvPr>
          <p:cNvSpPr txBox="1">
            <a:spLocks noGrp="1"/>
          </p:cNvSpPr>
          <p:nvPr>
            <p:ph type="sldNum" idx="12"/>
          </p:nvPr>
        </p:nvSpPr>
        <p:spPr>
          <a:xfrm>
            <a:off x="10924032" y="6461760"/>
            <a:ext cx="1272087" cy="39624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sz="1000" noProof="0" smtClean="0">
                <a:solidFill>
                  <a:srgbClr val="822433"/>
                </a:solidFill>
                <a:latin typeface="Roboto" panose="02000000000000000000" pitchFamily="2" charset="0"/>
                <a:ea typeface="Roboto" panose="02000000000000000000" pitchFamily="2" charset="0"/>
              </a:rPr>
              <a:pPr marL="0" lvl="0" indent="0" algn="ctr" rtl="0">
                <a:spcBef>
                  <a:spcPts val="0"/>
                </a:spcBef>
                <a:spcAft>
                  <a:spcPts val="0"/>
                </a:spcAft>
                <a:buNone/>
              </a:pPr>
              <a:t>55</a:t>
            </a:fld>
            <a:r>
              <a:rPr lang="en-US" sz="1000" noProof="0" dirty="0">
                <a:solidFill>
                  <a:srgbClr val="822433"/>
                </a:solidFill>
                <a:latin typeface="Roboto" panose="02000000000000000000" pitchFamily="2" charset="0"/>
                <a:ea typeface="Roboto" panose="02000000000000000000" pitchFamily="2" charset="0"/>
              </a:rPr>
              <a:t>/25</a:t>
            </a:r>
          </a:p>
        </p:txBody>
      </p:sp>
      <p:sp>
        <p:nvSpPr>
          <p:cNvPr id="5" name="Google Shape;103;p14">
            <a:extLst>
              <a:ext uri="{FF2B5EF4-FFF2-40B4-BE49-F238E27FC236}">
                <a16:creationId xmlns:a16="http://schemas.microsoft.com/office/drawing/2014/main" id="{504A17F8-E2ED-6EF8-07F5-9ABB93526B54}"/>
              </a:ext>
            </a:extLst>
          </p:cNvPr>
          <p:cNvSpPr txBox="1">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chorCtr="0">
            <a:noAutofit/>
          </a:bodyPr>
          <a:lstStyle/>
          <a:p>
            <a:pPr lvl="0" algn="l">
              <a:buClr>
                <a:schemeClr val="dk1"/>
              </a:buClr>
            </a:pPr>
            <a:r>
              <a:rPr lang="en-US" sz="1000" noProof="0" dirty="0">
                <a:solidFill>
                  <a:srgbClr val="822433"/>
                </a:solidFill>
                <a:latin typeface="Roboto" panose="02000000000000000000" pitchFamily="2" charset="0"/>
                <a:ea typeface="Roboto" panose="02000000000000000000" pitchFamily="2" charset="0"/>
              </a:rPr>
              <a:t>               Lightweight Scene Understanding and Synthetic Data-Driven Damage Inspection for Martian Rovers                                                                     27/10/2026</a:t>
            </a:r>
          </a:p>
        </p:txBody>
      </p:sp>
      <p:pic>
        <p:nvPicPr>
          <p:cNvPr id="6" name="Immagine 5">
            <a:extLst>
              <a:ext uri="{FF2B5EF4-FFF2-40B4-BE49-F238E27FC236}">
                <a16:creationId xmlns:a16="http://schemas.microsoft.com/office/drawing/2014/main" id="{E6E77152-B182-6BC5-BDF5-7670A09C8496}"/>
              </a:ext>
            </a:extLst>
          </p:cNvPr>
          <p:cNvPicPr>
            <a:picLocks noChangeAspect="1"/>
          </p:cNvPicPr>
          <p:nvPr/>
        </p:nvPicPr>
        <p:blipFill>
          <a:blip r:embed="rId3"/>
          <a:stretch/>
        </p:blipFill>
        <p:spPr>
          <a:xfrm>
            <a:off x="571500" y="2262037"/>
            <a:ext cx="11049000" cy="3114975"/>
          </a:xfrm>
          <a:prstGeom prst="rect">
            <a:avLst/>
          </a:prstGeom>
        </p:spPr>
      </p:pic>
    </p:spTree>
    <p:extLst>
      <p:ext uri="{BB962C8B-B14F-4D97-AF65-F5344CB8AC3E}">
        <p14:creationId xmlns:p14="http://schemas.microsoft.com/office/powerpoint/2010/main" val="40059927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03;p14">
            <a:extLst>
              <a:ext uri="{FF2B5EF4-FFF2-40B4-BE49-F238E27FC236}">
                <a16:creationId xmlns:a16="http://schemas.microsoft.com/office/drawing/2014/main" id="{CCD0A07B-88E3-59CC-D1AD-2A5BB948B7CF}"/>
              </a:ext>
            </a:extLst>
          </p:cNvPr>
          <p:cNvSpPr>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a:solidFill>
                  <a:srgbClr val="822433"/>
                </a:solidFill>
                <a:latin typeface="Roboto"/>
                <a:ea typeface="Roboto"/>
                <a:cs typeface="Roboto"/>
              </a:rPr>
              <a:t>               Lightweight Scene Understanding and Synthetic Data-Driven Damage Inspection for Martian Rovers                                                                     27/10/2026</a:t>
            </a:r>
          </a:p>
        </p:txBody>
      </p:sp>
      <p:sp>
        <p:nvSpPr>
          <p:cNvPr id="6" name="Title 1">
            <a:extLst>
              <a:ext uri="{FF2B5EF4-FFF2-40B4-BE49-F238E27FC236}">
                <a16:creationId xmlns:a16="http://schemas.microsoft.com/office/drawing/2014/main" id="{A8CBFD7C-5C68-4496-A6CC-4E6882B02503}"/>
              </a:ext>
            </a:extLst>
          </p:cNvPr>
          <p:cNvSpPr>
            <a:spLocks noGrp="1"/>
          </p:cNvSpPr>
          <p:nvPr/>
        </p:nvSpPr>
        <p:spPr>
          <a:xfrm>
            <a:off x="952500" y="490538"/>
            <a:ext cx="9810750" cy="781050"/>
          </a:xfrm>
          <a:prstGeom prst="rect">
            <a:avLst/>
          </a:prstGeom>
          <a:noFill/>
          <a:ln w="0">
            <a:noFill/>
          </a:ln>
        </p:spPr>
        <p:txBody>
          <a:bodyPr wrap="square" lIns="0" tIns="0" rIns="0" bIns="0" anchor="t">
            <a:noAutofit/>
          </a:bodyPr>
          <a:lstStyle>
            <a:defPPr algn="l">
              <a:defRPr sz="4400" b="0">
                <a:solidFill>
                  <a:srgbClr val="822433"/>
                </a:solidFill>
                <a:latin typeface="Roboto"/>
                <a:ea typeface="Roboto"/>
                <a:cs typeface="Roboto"/>
              </a:defRPr>
            </a:defPPr>
            <a:lvl1pPr algn="l">
              <a:defRPr sz="4400" b="0">
                <a:solidFill>
                  <a:srgbClr val="822433"/>
                </a:solidFill>
                <a:latin typeface="Roboto"/>
                <a:ea typeface="Roboto"/>
                <a:cs typeface="Roboto"/>
              </a:defRPr>
            </a:lvl1pPr>
            <a:lvl2pPr algn="l">
              <a:defRPr sz="4400" b="0">
                <a:solidFill>
                  <a:srgbClr val="822433"/>
                </a:solidFill>
                <a:latin typeface="Roboto"/>
                <a:ea typeface="Roboto"/>
                <a:cs typeface="Roboto"/>
              </a:defRPr>
            </a:lvl2pPr>
            <a:lvl3pPr algn="l">
              <a:defRPr sz="4400" b="0">
                <a:solidFill>
                  <a:srgbClr val="822433"/>
                </a:solidFill>
                <a:latin typeface="Roboto"/>
                <a:ea typeface="Roboto"/>
                <a:cs typeface="Roboto"/>
              </a:defRPr>
            </a:lvl3pPr>
            <a:lvl4pPr algn="l">
              <a:defRPr sz="4400" b="0">
                <a:solidFill>
                  <a:srgbClr val="822433"/>
                </a:solidFill>
                <a:latin typeface="Roboto"/>
                <a:ea typeface="Roboto"/>
                <a:cs typeface="Roboto"/>
              </a:defRPr>
            </a:lvl4pPr>
            <a:lvl5pPr algn="l">
              <a:defRPr sz="4400" b="0">
                <a:solidFill>
                  <a:srgbClr val="822433"/>
                </a:solidFill>
                <a:latin typeface="Roboto"/>
                <a:ea typeface="Roboto"/>
                <a:cs typeface="Roboto"/>
              </a:defRPr>
            </a:lvl5pPr>
            <a:lvl6pPr algn="l">
              <a:defRPr sz="4400" b="0">
                <a:solidFill>
                  <a:srgbClr val="822433"/>
                </a:solidFill>
                <a:latin typeface="Roboto"/>
                <a:ea typeface="Roboto"/>
                <a:cs typeface="Roboto"/>
              </a:defRPr>
            </a:lvl6pPr>
            <a:lvl7pPr algn="l">
              <a:defRPr sz="4400" b="0">
                <a:solidFill>
                  <a:srgbClr val="822433"/>
                </a:solidFill>
                <a:latin typeface="Roboto"/>
                <a:ea typeface="Roboto"/>
                <a:cs typeface="Roboto"/>
              </a:defRPr>
            </a:lvl7pPr>
            <a:lvl8pPr algn="l">
              <a:defRPr sz="4400" b="0">
                <a:solidFill>
                  <a:srgbClr val="822433"/>
                </a:solidFill>
                <a:latin typeface="Roboto"/>
                <a:ea typeface="Roboto"/>
                <a:cs typeface="Roboto"/>
              </a:defRPr>
            </a:lvl8pPr>
            <a:lvl9pPr algn="l">
              <a:defRPr sz="4400" b="0">
                <a:solidFill>
                  <a:srgbClr val="822433"/>
                </a:solidFill>
                <a:latin typeface="Roboto"/>
                <a:ea typeface="Roboto"/>
                <a:cs typeface="Roboto"/>
              </a:defRPr>
            </a:lvl9pPr>
          </a:lstStyle>
          <a:p>
            <a:pPr algn="l">
              <a:defRPr sz="4400" b="0">
                <a:solidFill>
                  <a:srgbClr val="822433"/>
                </a:solidFill>
                <a:latin typeface="Roboto"/>
                <a:ea typeface="Roboto"/>
                <a:cs typeface="Roboto"/>
              </a:defRPr>
            </a:pPr>
            <a:r>
              <a:rPr sz="4400" b="0">
                <a:solidFill>
                  <a:srgbClr val="822433"/>
                </a:solidFill>
                <a:latin typeface="Roboto"/>
                <a:ea typeface="Roboto"/>
                <a:cs typeface="Roboto"/>
              </a:rPr>
              <a:t>Extra: TinyGLASS ablation</a:t>
            </a:r>
          </a:p>
        </p:txBody>
      </p:sp>
      <p:sp>
        <p:nvSpPr>
          <p:cNvPr id="7" name="experiment-context">
            <a:extLst>
              <a:ext uri="{FF2B5EF4-FFF2-40B4-BE49-F238E27FC236}">
                <a16:creationId xmlns:a16="http://schemas.microsoft.com/office/drawing/2014/main" id="{0E157E72-9A53-49FA-8E8D-C3EB0F4A99CB}"/>
              </a:ext>
            </a:extLst>
          </p:cNvPr>
          <p:cNvSpPr>
            <a:spLocks noGrp="1"/>
          </p:cNvSpPr>
          <p:nvPr/>
        </p:nvSpPr>
        <p:spPr>
          <a:xfrm>
            <a:off x="952500" y="1362075"/>
            <a:ext cx="10287000" cy="285750"/>
          </a:xfrm>
          <a:prstGeom prst="rect">
            <a:avLst/>
          </a:prstGeom>
          <a:noFill/>
          <a:ln w="0">
            <a:noFill/>
          </a:ln>
        </p:spPr>
        <p:txBody>
          <a:bodyPr wrap="square" lIns="0" tIns="0" rIns="0" bIns="0" anchor="t">
            <a:noAutofit/>
          </a:bodyPr>
          <a:lstStyle>
            <a:defPPr algn="l">
              <a:defRPr sz="1600" b="0">
                <a:solidFill>
                  <a:srgbClr val="626975"/>
                </a:solidFill>
                <a:latin typeface="Roboto"/>
                <a:ea typeface="Roboto"/>
                <a:cs typeface="Roboto"/>
              </a:defRPr>
            </a:defPPr>
            <a:lvl1pPr algn="l">
              <a:defRPr sz="1600" b="0">
                <a:solidFill>
                  <a:srgbClr val="626975"/>
                </a:solidFill>
                <a:latin typeface="Roboto"/>
                <a:ea typeface="Roboto"/>
                <a:cs typeface="Roboto"/>
              </a:defRPr>
            </a:lvl1pPr>
            <a:lvl2pPr algn="l">
              <a:defRPr sz="1600" b="0">
                <a:solidFill>
                  <a:srgbClr val="626975"/>
                </a:solidFill>
                <a:latin typeface="Roboto"/>
                <a:ea typeface="Roboto"/>
                <a:cs typeface="Roboto"/>
              </a:defRPr>
            </a:lvl2pPr>
            <a:lvl3pPr algn="l">
              <a:defRPr sz="1600" b="0">
                <a:solidFill>
                  <a:srgbClr val="626975"/>
                </a:solidFill>
                <a:latin typeface="Roboto"/>
                <a:ea typeface="Roboto"/>
                <a:cs typeface="Roboto"/>
              </a:defRPr>
            </a:lvl3pPr>
            <a:lvl4pPr algn="l">
              <a:defRPr sz="1600" b="0">
                <a:solidFill>
                  <a:srgbClr val="626975"/>
                </a:solidFill>
                <a:latin typeface="Roboto"/>
                <a:ea typeface="Roboto"/>
                <a:cs typeface="Roboto"/>
              </a:defRPr>
            </a:lvl4pPr>
            <a:lvl5pPr algn="l">
              <a:defRPr sz="1600" b="0">
                <a:solidFill>
                  <a:srgbClr val="626975"/>
                </a:solidFill>
                <a:latin typeface="Roboto"/>
                <a:ea typeface="Roboto"/>
                <a:cs typeface="Roboto"/>
              </a:defRPr>
            </a:lvl5pPr>
            <a:lvl6pPr algn="l">
              <a:defRPr sz="1600" b="0">
                <a:solidFill>
                  <a:srgbClr val="626975"/>
                </a:solidFill>
                <a:latin typeface="Roboto"/>
                <a:ea typeface="Roboto"/>
                <a:cs typeface="Roboto"/>
              </a:defRPr>
            </a:lvl6pPr>
            <a:lvl7pPr algn="l">
              <a:defRPr sz="1600" b="0">
                <a:solidFill>
                  <a:srgbClr val="626975"/>
                </a:solidFill>
                <a:latin typeface="Roboto"/>
                <a:ea typeface="Roboto"/>
                <a:cs typeface="Roboto"/>
              </a:defRPr>
            </a:lvl7pPr>
            <a:lvl8pPr algn="l">
              <a:defRPr sz="1600" b="0">
                <a:solidFill>
                  <a:srgbClr val="626975"/>
                </a:solidFill>
                <a:latin typeface="Roboto"/>
                <a:ea typeface="Roboto"/>
                <a:cs typeface="Roboto"/>
              </a:defRPr>
            </a:lvl8pPr>
            <a:lvl9pPr algn="l">
              <a:defRPr sz="1600" b="0">
                <a:solidFill>
                  <a:srgbClr val="626975"/>
                </a:solidFill>
                <a:latin typeface="Roboto"/>
                <a:ea typeface="Roboto"/>
                <a:cs typeface="Roboto"/>
              </a:defRPr>
            </a:lvl9pPr>
          </a:lstStyle>
          <a:p>
            <a:pPr algn="l">
              <a:defRPr sz="1600" b="0">
                <a:solidFill>
                  <a:srgbClr val="626975"/>
                </a:solidFill>
                <a:latin typeface="Roboto"/>
                <a:ea typeface="Roboto"/>
                <a:cs typeface="Roboto"/>
              </a:defRPr>
            </a:pPr>
            <a:r>
              <a:rPr sz="1600" b="0" dirty="0">
                <a:solidFill>
                  <a:srgbClr val="626975"/>
                </a:solidFill>
                <a:latin typeface="Roboto"/>
                <a:ea typeface="Roboto"/>
                <a:cs typeface="Roboto"/>
              </a:rPr>
              <a:t>Pose A, 720 × 720 crop</a:t>
            </a:r>
          </a:p>
        </p:txBody>
      </p:sp>
      <p:sp>
        <p:nvSpPr>
          <p:cNvPr id="8" name="training-heading">
            <a:extLst>
              <a:ext uri="{FF2B5EF4-FFF2-40B4-BE49-F238E27FC236}">
                <a16:creationId xmlns:a16="http://schemas.microsoft.com/office/drawing/2014/main" id="{2E4B2703-F866-46D0-9865-3D4777E70789}"/>
              </a:ext>
            </a:extLst>
          </p:cNvPr>
          <p:cNvSpPr>
            <a:spLocks noGrp="1"/>
          </p:cNvSpPr>
          <p:nvPr/>
        </p:nvSpPr>
        <p:spPr>
          <a:xfrm>
            <a:off x="762000" y="1809750"/>
            <a:ext cx="5143500" cy="352425"/>
          </a:xfrm>
          <a:prstGeom prst="rect">
            <a:avLst/>
          </a:prstGeom>
          <a:noFill/>
          <a:ln w="0">
            <a:noFill/>
          </a:ln>
        </p:spPr>
        <p:txBody>
          <a:bodyPr wrap="square" lIns="0" tIns="0" rIns="0" bIns="0" anchor="t">
            <a:noAutofit/>
          </a:bodyPr>
          <a:lstStyle>
            <a:defPPr algn="l">
              <a:defRPr sz="2200" b="1">
                <a:solidFill>
                  <a:srgbClr val="822433"/>
                </a:solidFill>
                <a:latin typeface="Roboto"/>
                <a:ea typeface="Roboto"/>
                <a:cs typeface="Roboto"/>
              </a:defRPr>
            </a:defPPr>
            <a:lvl1pPr algn="l">
              <a:defRPr sz="2200" b="1">
                <a:solidFill>
                  <a:srgbClr val="822433"/>
                </a:solidFill>
                <a:latin typeface="Roboto"/>
                <a:ea typeface="Roboto"/>
                <a:cs typeface="Roboto"/>
              </a:defRPr>
            </a:lvl1pPr>
            <a:lvl2pPr algn="l">
              <a:defRPr sz="2200" b="1">
                <a:solidFill>
                  <a:srgbClr val="822433"/>
                </a:solidFill>
                <a:latin typeface="Roboto"/>
                <a:ea typeface="Roboto"/>
                <a:cs typeface="Roboto"/>
              </a:defRPr>
            </a:lvl2pPr>
            <a:lvl3pPr algn="l">
              <a:defRPr sz="2200" b="1">
                <a:solidFill>
                  <a:srgbClr val="822433"/>
                </a:solidFill>
                <a:latin typeface="Roboto"/>
                <a:ea typeface="Roboto"/>
                <a:cs typeface="Roboto"/>
              </a:defRPr>
            </a:lvl3pPr>
            <a:lvl4pPr algn="l">
              <a:defRPr sz="2200" b="1">
                <a:solidFill>
                  <a:srgbClr val="822433"/>
                </a:solidFill>
                <a:latin typeface="Roboto"/>
                <a:ea typeface="Roboto"/>
                <a:cs typeface="Roboto"/>
              </a:defRPr>
            </a:lvl4pPr>
            <a:lvl5pPr algn="l">
              <a:defRPr sz="2200" b="1">
                <a:solidFill>
                  <a:srgbClr val="822433"/>
                </a:solidFill>
                <a:latin typeface="Roboto"/>
                <a:ea typeface="Roboto"/>
                <a:cs typeface="Roboto"/>
              </a:defRPr>
            </a:lvl5pPr>
            <a:lvl6pPr algn="l">
              <a:defRPr sz="2200" b="1">
                <a:solidFill>
                  <a:srgbClr val="822433"/>
                </a:solidFill>
                <a:latin typeface="Roboto"/>
                <a:ea typeface="Roboto"/>
                <a:cs typeface="Roboto"/>
              </a:defRPr>
            </a:lvl6pPr>
            <a:lvl7pPr algn="l">
              <a:defRPr sz="2200" b="1">
                <a:solidFill>
                  <a:srgbClr val="822433"/>
                </a:solidFill>
                <a:latin typeface="Roboto"/>
                <a:ea typeface="Roboto"/>
                <a:cs typeface="Roboto"/>
              </a:defRPr>
            </a:lvl7pPr>
            <a:lvl8pPr algn="l">
              <a:defRPr sz="2200" b="1">
                <a:solidFill>
                  <a:srgbClr val="822433"/>
                </a:solidFill>
                <a:latin typeface="Roboto"/>
                <a:ea typeface="Roboto"/>
                <a:cs typeface="Roboto"/>
              </a:defRPr>
            </a:lvl8pPr>
            <a:lvl9pPr algn="l">
              <a:defRPr sz="2200" b="1">
                <a:solidFill>
                  <a:srgbClr val="822433"/>
                </a:solidFill>
                <a:latin typeface="Roboto"/>
                <a:ea typeface="Roboto"/>
                <a:cs typeface="Roboto"/>
              </a:defRPr>
            </a:lvl9pPr>
          </a:lstStyle>
          <a:p>
            <a:pPr algn="l">
              <a:defRPr sz="2200" b="1">
                <a:solidFill>
                  <a:srgbClr val="822433"/>
                </a:solidFill>
                <a:latin typeface="Roboto"/>
                <a:ea typeface="Roboto"/>
                <a:cs typeface="Roboto"/>
              </a:defRPr>
            </a:pPr>
            <a:r>
              <a:rPr sz="2200" b="1">
                <a:solidFill>
                  <a:srgbClr val="822433"/>
                </a:solidFill>
                <a:latin typeface="Roboto"/>
                <a:ea typeface="Roboto"/>
                <a:cs typeface="Roboto"/>
              </a:rPr>
              <a:t>Training perturbations</a:t>
            </a:r>
          </a:p>
        </p:txBody>
      </p:sp>
      <p:sp>
        <p:nvSpPr>
          <p:cNvPr id="9" name="spatial-heading">
            <a:extLst>
              <a:ext uri="{FF2B5EF4-FFF2-40B4-BE49-F238E27FC236}">
                <a16:creationId xmlns:a16="http://schemas.microsoft.com/office/drawing/2014/main" id="{EA49F7E7-D95B-4DBB-8426-41E365B99EFC}"/>
              </a:ext>
            </a:extLst>
          </p:cNvPr>
          <p:cNvSpPr>
            <a:spLocks noGrp="1"/>
          </p:cNvSpPr>
          <p:nvPr/>
        </p:nvSpPr>
        <p:spPr>
          <a:xfrm>
            <a:off x="6286500" y="1809750"/>
            <a:ext cx="5143500" cy="352425"/>
          </a:xfrm>
          <a:prstGeom prst="rect">
            <a:avLst/>
          </a:prstGeom>
          <a:noFill/>
          <a:ln w="0">
            <a:noFill/>
          </a:ln>
        </p:spPr>
        <p:txBody>
          <a:bodyPr wrap="square" lIns="0" tIns="0" rIns="0" bIns="0" anchor="t">
            <a:noAutofit/>
          </a:bodyPr>
          <a:lstStyle>
            <a:defPPr algn="l">
              <a:defRPr sz="2200" b="1">
                <a:solidFill>
                  <a:srgbClr val="822433"/>
                </a:solidFill>
                <a:latin typeface="Roboto"/>
                <a:ea typeface="Roboto"/>
                <a:cs typeface="Roboto"/>
              </a:defRPr>
            </a:defPPr>
            <a:lvl1pPr algn="l">
              <a:defRPr sz="2200" b="1">
                <a:solidFill>
                  <a:srgbClr val="822433"/>
                </a:solidFill>
                <a:latin typeface="Roboto"/>
                <a:ea typeface="Roboto"/>
                <a:cs typeface="Roboto"/>
              </a:defRPr>
            </a:lvl1pPr>
            <a:lvl2pPr algn="l">
              <a:defRPr sz="2200" b="1">
                <a:solidFill>
                  <a:srgbClr val="822433"/>
                </a:solidFill>
                <a:latin typeface="Roboto"/>
                <a:ea typeface="Roboto"/>
                <a:cs typeface="Roboto"/>
              </a:defRPr>
            </a:lvl2pPr>
            <a:lvl3pPr algn="l">
              <a:defRPr sz="2200" b="1">
                <a:solidFill>
                  <a:srgbClr val="822433"/>
                </a:solidFill>
                <a:latin typeface="Roboto"/>
                <a:ea typeface="Roboto"/>
                <a:cs typeface="Roboto"/>
              </a:defRPr>
            </a:lvl3pPr>
            <a:lvl4pPr algn="l">
              <a:defRPr sz="2200" b="1">
                <a:solidFill>
                  <a:srgbClr val="822433"/>
                </a:solidFill>
                <a:latin typeface="Roboto"/>
                <a:ea typeface="Roboto"/>
                <a:cs typeface="Roboto"/>
              </a:defRPr>
            </a:lvl4pPr>
            <a:lvl5pPr algn="l">
              <a:defRPr sz="2200" b="1">
                <a:solidFill>
                  <a:srgbClr val="822433"/>
                </a:solidFill>
                <a:latin typeface="Roboto"/>
                <a:ea typeface="Roboto"/>
                <a:cs typeface="Roboto"/>
              </a:defRPr>
            </a:lvl5pPr>
            <a:lvl6pPr algn="l">
              <a:defRPr sz="2200" b="1">
                <a:solidFill>
                  <a:srgbClr val="822433"/>
                </a:solidFill>
                <a:latin typeface="Roboto"/>
                <a:ea typeface="Roboto"/>
                <a:cs typeface="Roboto"/>
              </a:defRPr>
            </a:lvl6pPr>
            <a:lvl7pPr algn="l">
              <a:defRPr sz="2200" b="1">
                <a:solidFill>
                  <a:srgbClr val="822433"/>
                </a:solidFill>
                <a:latin typeface="Roboto"/>
                <a:ea typeface="Roboto"/>
                <a:cs typeface="Roboto"/>
              </a:defRPr>
            </a:lvl7pPr>
            <a:lvl8pPr algn="l">
              <a:defRPr sz="2200" b="1">
                <a:solidFill>
                  <a:srgbClr val="822433"/>
                </a:solidFill>
                <a:latin typeface="Roboto"/>
                <a:ea typeface="Roboto"/>
                <a:cs typeface="Roboto"/>
              </a:defRPr>
            </a:lvl8pPr>
            <a:lvl9pPr algn="l">
              <a:defRPr sz="2200" b="1">
                <a:solidFill>
                  <a:srgbClr val="822433"/>
                </a:solidFill>
                <a:latin typeface="Roboto"/>
                <a:ea typeface="Roboto"/>
                <a:cs typeface="Roboto"/>
              </a:defRPr>
            </a:lvl9pPr>
          </a:lstStyle>
          <a:p>
            <a:pPr algn="l">
              <a:defRPr sz="2200" b="1">
                <a:solidFill>
                  <a:srgbClr val="822433"/>
                </a:solidFill>
                <a:latin typeface="Roboto"/>
                <a:ea typeface="Roboto"/>
                <a:cs typeface="Roboto"/>
              </a:defRPr>
            </a:pPr>
            <a:r>
              <a:rPr sz="2200" b="1" dirty="0">
                <a:solidFill>
                  <a:srgbClr val="822433"/>
                </a:solidFill>
                <a:latin typeface="Roboto"/>
                <a:ea typeface="Roboto"/>
                <a:cs typeface="Roboto"/>
              </a:rPr>
              <a:t>Resolution and smoothing</a:t>
            </a:r>
          </a:p>
        </p:txBody>
      </p:sp>
      <p:sp>
        <p:nvSpPr>
          <p:cNvPr id="10" name="training-setup">
            <a:extLst>
              <a:ext uri="{FF2B5EF4-FFF2-40B4-BE49-F238E27FC236}">
                <a16:creationId xmlns:a16="http://schemas.microsoft.com/office/drawing/2014/main" id="{00B75B48-D820-47C6-991B-8E5B48A7480F}"/>
              </a:ext>
            </a:extLst>
          </p:cNvPr>
          <p:cNvSpPr>
            <a:spLocks noGrp="1"/>
          </p:cNvSpPr>
          <p:nvPr/>
        </p:nvSpPr>
        <p:spPr>
          <a:xfrm>
            <a:off x="762000" y="2120104"/>
            <a:ext cx="5143500" cy="257175"/>
          </a:xfrm>
          <a:prstGeom prst="rect">
            <a:avLst/>
          </a:prstGeom>
          <a:noFill/>
          <a:ln w="0">
            <a:noFill/>
          </a:ln>
        </p:spPr>
        <p:txBody>
          <a:bodyPr wrap="square" lIns="0" tIns="0" rIns="0" bIns="0" anchor="t">
            <a:noAutofit/>
          </a:bodyPr>
          <a:lstStyle>
            <a:defPPr algn="l">
              <a:defRPr sz="1400" b="0">
                <a:solidFill>
                  <a:srgbClr val="626975"/>
                </a:solidFill>
                <a:latin typeface="Roboto"/>
                <a:ea typeface="Roboto"/>
                <a:cs typeface="Roboto"/>
              </a:defRPr>
            </a:defPPr>
            <a:lvl1pPr algn="l">
              <a:defRPr sz="1400" b="0">
                <a:solidFill>
                  <a:srgbClr val="626975"/>
                </a:solidFill>
                <a:latin typeface="Roboto"/>
                <a:ea typeface="Roboto"/>
                <a:cs typeface="Roboto"/>
              </a:defRPr>
            </a:lvl1pPr>
            <a:lvl2pPr algn="l">
              <a:defRPr sz="1400" b="0">
                <a:solidFill>
                  <a:srgbClr val="626975"/>
                </a:solidFill>
                <a:latin typeface="Roboto"/>
                <a:ea typeface="Roboto"/>
                <a:cs typeface="Roboto"/>
              </a:defRPr>
            </a:lvl2pPr>
            <a:lvl3pPr algn="l">
              <a:defRPr sz="1400" b="0">
                <a:solidFill>
                  <a:srgbClr val="626975"/>
                </a:solidFill>
                <a:latin typeface="Roboto"/>
                <a:ea typeface="Roboto"/>
                <a:cs typeface="Roboto"/>
              </a:defRPr>
            </a:lvl3pPr>
            <a:lvl4pPr algn="l">
              <a:defRPr sz="1400" b="0">
                <a:solidFill>
                  <a:srgbClr val="626975"/>
                </a:solidFill>
                <a:latin typeface="Roboto"/>
                <a:ea typeface="Roboto"/>
                <a:cs typeface="Roboto"/>
              </a:defRPr>
            </a:lvl4pPr>
            <a:lvl5pPr algn="l">
              <a:defRPr sz="1400" b="0">
                <a:solidFill>
                  <a:srgbClr val="626975"/>
                </a:solidFill>
                <a:latin typeface="Roboto"/>
                <a:ea typeface="Roboto"/>
                <a:cs typeface="Roboto"/>
              </a:defRPr>
            </a:lvl5pPr>
            <a:lvl6pPr algn="l">
              <a:defRPr sz="1400" b="0">
                <a:solidFill>
                  <a:srgbClr val="626975"/>
                </a:solidFill>
                <a:latin typeface="Roboto"/>
                <a:ea typeface="Roboto"/>
                <a:cs typeface="Roboto"/>
              </a:defRPr>
            </a:lvl6pPr>
            <a:lvl7pPr algn="l">
              <a:defRPr sz="1400" b="0">
                <a:solidFill>
                  <a:srgbClr val="626975"/>
                </a:solidFill>
                <a:latin typeface="Roboto"/>
                <a:ea typeface="Roboto"/>
                <a:cs typeface="Roboto"/>
              </a:defRPr>
            </a:lvl7pPr>
            <a:lvl8pPr algn="l">
              <a:defRPr sz="1400" b="0">
                <a:solidFill>
                  <a:srgbClr val="626975"/>
                </a:solidFill>
                <a:latin typeface="Roboto"/>
                <a:ea typeface="Roboto"/>
                <a:cs typeface="Roboto"/>
              </a:defRPr>
            </a:lvl8pPr>
            <a:lvl9pPr algn="l">
              <a:defRPr sz="1400" b="0">
                <a:solidFill>
                  <a:srgbClr val="626975"/>
                </a:solidFill>
                <a:latin typeface="Roboto"/>
                <a:ea typeface="Roboto"/>
                <a:cs typeface="Roboto"/>
              </a:defRPr>
            </a:lvl9pPr>
          </a:lstStyle>
          <a:p>
            <a:pPr algn="l">
              <a:defRPr sz="1400" b="0">
                <a:solidFill>
                  <a:srgbClr val="626975"/>
                </a:solidFill>
                <a:latin typeface="Roboto"/>
                <a:ea typeface="Roboto"/>
                <a:cs typeface="Roboto"/>
              </a:defRPr>
            </a:pPr>
            <a:r>
              <a:rPr lang="it-IT" sz="1400" b="0" dirty="0">
                <a:solidFill>
                  <a:srgbClr val="626975"/>
                </a:solidFill>
                <a:latin typeface="Roboto"/>
                <a:ea typeface="Roboto"/>
                <a:cs typeface="Roboto"/>
              </a:rPr>
              <a:t>384</a:t>
            </a:r>
            <a:r>
              <a:rPr sz="1400" b="0" dirty="0">
                <a:solidFill>
                  <a:srgbClr val="626975"/>
                </a:solidFill>
                <a:latin typeface="Roboto"/>
                <a:ea typeface="Roboto"/>
                <a:cs typeface="Roboto"/>
              </a:rPr>
              <a:t> × </a:t>
            </a:r>
            <a:r>
              <a:rPr lang="it-IT" sz="1400" b="0" dirty="0">
                <a:solidFill>
                  <a:srgbClr val="626975"/>
                </a:solidFill>
                <a:latin typeface="Roboto"/>
                <a:ea typeface="Roboto"/>
                <a:cs typeface="Roboto"/>
              </a:rPr>
              <a:t>384</a:t>
            </a:r>
            <a:r>
              <a:rPr sz="1400" b="0" dirty="0">
                <a:solidFill>
                  <a:srgbClr val="626975"/>
                </a:solidFill>
                <a:latin typeface="Roboto"/>
                <a:ea typeface="Roboto"/>
                <a:cs typeface="Roboto"/>
              </a:rPr>
              <a:t> input</a:t>
            </a:r>
            <a:r>
              <a:rPr lang="it-IT" sz="1400" b="0" dirty="0">
                <a:solidFill>
                  <a:srgbClr val="626975"/>
                </a:solidFill>
                <a:latin typeface="Roboto"/>
                <a:ea typeface="Roboto"/>
                <a:cs typeface="Roboto"/>
              </a:rPr>
              <a:t>, 32 × 32 </a:t>
            </a:r>
            <a:r>
              <a:rPr lang="it-IT" sz="1400" b="0" dirty="0" err="1">
                <a:solidFill>
                  <a:srgbClr val="626975"/>
                </a:solidFill>
                <a:latin typeface="Roboto"/>
                <a:ea typeface="Roboto"/>
                <a:cs typeface="Roboto"/>
              </a:rPr>
              <a:t>grid</a:t>
            </a:r>
            <a:r>
              <a:rPr lang="it-IT" sz="1400" b="0" dirty="0">
                <a:solidFill>
                  <a:srgbClr val="626975"/>
                </a:solidFill>
                <a:latin typeface="Roboto"/>
                <a:ea typeface="Roboto"/>
                <a:cs typeface="Roboto"/>
              </a:rPr>
              <a:t>,</a:t>
            </a:r>
            <a:r>
              <a:rPr sz="1400" b="0" dirty="0">
                <a:solidFill>
                  <a:srgbClr val="626975"/>
                </a:solidFill>
                <a:latin typeface="Roboto"/>
                <a:ea typeface="Roboto"/>
                <a:cs typeface="Roboto"/>
              </a:rPr>
              <a:t> σ = 4</a:t>
            </a:r>
          </a:p>
        </p:txBody>
      </p:sp>
      <p:sp>
        <p:nvSpPr>
          <p:cNvPr id="11" name="spatial-setup">
            <a:extLst>
              <a:ext uri="{FF2B5EF4-FFF2-40B4-BE49-F238E27FC236}">
                <a16:creationId xmlns:a16="http://schemas.microsoft.com/office/drawing/2014/main" id="{E7BADCA8-E0A4-4315-A5E9-D999223D05CF}"/>
              </a:ext>
            </a:extLst>
          </p:cNvPr>
          <p:cNvSpPr>
            <a:spLocks noGrp="1"/>
          </p:cNvSpPr>
          <p:nvPr/>
        </p:nvSpPr>
        <p:spPr>
          <a:xfrm>
            <a:off x="6286500" y="2209800"/>
            <a:ext cx="5143500" cy="257175"/>
          </a:xfrm>
          <a:prstGeom prst="rect">
            <a:avLst/>
          </a:prstGeom>
          <a:noFill/>
          <a:ln w="0">
            <a:noFill/>
          </a:ln>
        </p:spPr>
        <p:txBody>
          <a:bodyPr wrap="square" lIns="0" tIns="0" rIns="0" bIns="0" anchor="t">
            <a:noAutofit/>
          </a:bodyPr>
          <a:lstStyle>
            <a:defPPr algn="l">
              <a:defRPr sz="1400" b="0">
                <a:solidFill>
                  <a:srgbClr val="626975"/>
                </a:solidFill>
                <a:latin typeface="Roboto"/>
                <a:ea typeface="Roboto"/>
                <a:cs typeface="Roboto"/>
              </a:defRPr>
            </a:defPPr>
            <a:lvl1pPr algn="l">
              <a:defRPr sz="1400" b="0">
                <a:solidFill>
                  <a:srgbClr val="626975"/>
                </a:solidFill>
                <a:latin typeface="Roboto"/>
                <a:ea typeface="Roboto"/>
                <a:cs typeface="Roboto"/>
              </a:defRPr>
            </a:lvl1pPr>
            <a:lvl2pPr algn="l">
              <a:defRPr sz="1400" b="0">
                <a:solidFill>
                  <a:srgbClr val="626975"/>
                </a:solidFill>
                <a:latin typeface="Roboto"/>
                <a:ea typeface="Roboto"/>
                <a:cs typeface="Roboto"/>
              </a:defRPr>
            </a:lvl2pPr>
            <a:lvl3pPr algn="l">
              <a:defRPr sz="1400" b="0">
                <a:solidFill>
                  <a:srgbClr val="626975"/>
                </a:solidFill>
                <a:latin typeface="Roboto"/>
                <a:ea typeface="Roboto"/>
                <a:cs typeface="Roboto"/>
              </a:defRPr>
            </a:lvl3pPr>
            <a:lvl4pPr algn="l">
              <a:defRPr sz="1400" b="0">
                <a:solidFill>
                  <a:srgbClr val="626975"/>
                </a:solidFill>
                <a:latin typeface="Roboto"/>
                <a:ea typeface="Roboto"/>
                <a:cs typeface="Roboto"/>
              </a:defRPr>
            </a:lvl4pPr>
            <a:lvl5pPr algn="l">
              <a:defRPr sz="1400" b="0">
                <a:solidFill>
                  <a:srgbClr val="626975"/>
                </a:solidFill>
                <a:latin typeface="Roboto"/>
                <a:ea typeface="Roboto"/>
                <a:cs typeface="Roboto"/>
              </a:defRPr>
            </a:lvl5pPr>
            <a:lvl6pPr algn="l">
              <a:defRPr sz="1400" b="0">
                <a:solidFill>
                  <a:srgbClr val="626975"/>
                </a:solidFill>
                <a:latin typeface="Roboto"/>
                <a:ea typeface="Roboto"/>
                <a:cs typeface="Roboto"/>
              </a:defRPr>
            </a:lvl6pPr>
            <a:lvl7pPr algn="l">
              <a:defRPr sz="1400" b="0">
                <a:solidFill>
                  <a:srgbClr val="626975"/>
                </a:solidFill>
                <a:latin typeface="Roboto"/>
                <a:ea typeface="Roboto"/>
                <a:cs typeface="Roboto"/>
              </a:defRPr>
            </a:lvl7pPr>
            <a:lvl8pPr algn="l">
              <a:defRPr sz="1400" b="0">
                <a:solidFill>
                  <a:srgbClr val="626975"/>
                </a:solidFill>
                <a:latin typeface="Roboto"/>
                <a:ea typeface="Roboto"/>
                <a:cs typeface="Roboto"/>
              </a:defRPr>
            </a:lvl8pPr>
            <a:lvl9pPr algn="l">
              <a:defRPr sz="1400" b="0">
                <a:solidFill>
                  <a:srgbClr val="626975"/>
                </a:solidFill>
                <a:latin typeface="Roboto"/>
                <a:ea typeface="Roboto"/>
                <a:cs typeface="Roboto"/>
              </a:defRPr>
            </a:lvl9pPr>
          </a:lstStyle>
          <a:p>
            <a:pPr algn="l">
              <a:defRPr sz="1400" b="0">
                <a:solidFill>
                  <a:srgbClr val="626975"/>
                </a:solidFill>
                <a:latin typeface="Roboto"/>
                <a:ea typeface="Roboto"/>
                <a:cs typeface="Roboto"/>
              </a:defRPr>
            </a:pPr>
            <a:r>
              <a:rPr sz="1400" b="0" dirty="0">
                <a:solidFill>
                  <a:srgbClr val="626975"/>
                </a:solidFill>
                <a:latin typeface="Roboto"/>
                <a:ea typeface="Roboto"/>
                <a:cs typeface="Roboto"/>
              </a:rPr>
              <a:t>Hole LAS: 70/25/5% small/medium/large</a:t>
            </a:r>
          </a:p>
        </p:txBody>
      </p:sp>
      <p:graphicFrame>
        <p:nvGraphicFramePr>
          <p:cNvPr id="12" name="Tabella 11">
            <a:extLst>
              <a:ext uri="{FF2B5EF4-FFF2-40B4-BE49-F238E27FC236}">
                <a16:creationId xmlns:a16="http://schemas.microsoft.com/office/drawing/2014/main" id="{711DD837-84A1-4D23-BD0A-932741FD9CA3}"/>
              </a:ext>
            </a:extLst>
          </p:cNvPr>
          <p:cNvGraphicFramePr/>
          <p:nvPr/>
        </p:nvGraphicFramePr>
        <p:xfrm>
          <a:off x="762000" y="2524125"/>
          <a:ext cx="5143500" cy="3143252"/>
        </p:xfrm>
        <a:graphic>
          <a:graphicData uri="http://schemas.openxmlformats.org/drawingml/2006/table">
            <a:tbl>
              <a:tblPr/>
              <a:tblGrid>
                <a:gridCol w="295275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gridCol w="1123950">
                  <a:extLst>
                    <a:ext uri="{9D8B030D-6E8A-4147-A177-3AD203B41FA5}">
                      <a16:colId xmlns:a16="http://schemas.microsoft.com/office/drawing/2014/main" val="20002"/>
                    </a:ext>
                  </a:extLst>
                </a:gridCol>
              </a:tblGrid>
              <a:tr h="571500">
                <a:tc>
                  <a:txBody>
                    <a:bodyPr/>
                    <a:lstStyle/>
                    <a:p>
                      <a:pPr algn="l"/>
                      <a:r>
                        <a:rPr sz="1600" b="1">
                          <a:solidFill>
                            <a:srgbClr val="FFFFFF"/>
                          </a:solidFill>
                          <a:latin typeface="Roboto"/>
                          <a:ea typeface="Roboto"/>
                          <a:cs typeface="Roboto"/>
                        </a:rPr>
                        <a:t>LAS setting</a:t>
                      </a:r>
                    </a:p>
                  </a:txBody>
                  <a:tcPr marL="76200" marR="76200" marT="38100" marB="38100" anchor="ctr">
                    <a:lnL w="953">
                      <a:solidFill>
                        <a:srgbClr val="FFFFFF"/>
                      </a:solidFill>
                      <a:prstDash val="soli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1600" b="1">
                          <a:solidFill>
                            <a:srgbClr val="FFFFFF"/>
                          </a:solidFill>
                          <a:latin typeface="Roboto"/>
                          <a:ea typeface="Roboto"/>
                          <a:cs typeface="Roboto"/>
                        </a:rPr>
                        <a:t>Image</a:t>
                      </a:r>
                    </a:p>
                    <a:p>
                      <a:pPr algn="ctr"/>
                      <a:r>
                        <a:rPr sz="1600" b="1">
                          <a:solidFill>
                            <a:srgbClr val="FFFFFF"/>
                          </a:solidFill>
                          <a:latin typeface="Roboto"/>
                          <a:ea typeface="Roboto"/>
                          <a:cs typeface="Roboto"/>
                        </a:rPr>
                        <a:t>AUROC</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1600" b="1">
                          <a:solidFill>
                            <a:srgbClr val="FFFFFF"/>
                          </a:solidFill>
                          <a:latin typeface="Roboto"/>
                          <a:ea typeface="Roboto"/>
                          <a:cs typeface="Roboto"/>
                        </a:rPr>
                        <a:t>Pixel</a:t>
                      </a:r>
                    </a:p>
                    <a:p>
                      <a:pPr algn="ctr"/>
                      <a:r>
                        <a:rPr sz="1600" b="1">
                          <a:solidFill>
                            <a:srgbClr val="FFFFFF"/>
                          </a:solidFill>
                          <a:latin typeface="Roboto"/>
                          <a:ea typeface="Roboto"/>
                          <a:cs typeface="Roboto"/>
                        </a:rPr>
                        <a:t>AP</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extLst>
                  <a:ext uri="{0D108BD9-81ED-4DB2-BD59-A6C34878D82A}">
                    <a16:rowId xmlns:a16="http://schemas.microsoft.com/office/drawing/2014/main" val="10000"/>
                  </a:ext>
                </a:extLst>
              </a:tr>
              <a:tr h="642938">
                <a:tc>
                  <a:txBody>
                    <a:bodyPr/>
                    <a:lstStyle/>
                    <a:p>
                      <a:pPr algn="l"/>
                      <a:r>
                        <a:rPr sz="1700">
                          <a:solidFill>
                            <a:srgbClr val="252525"/>
                          </a:solidFill>
                          <a:latin typeface="Roboto"/>
                          <a:ea typeface="Roboto"/>
                          <a:cs typeface="Roboto"/>
                        </a:rPr>
                        <a:t>Texture</a:t>
                      </a:r>
                    </a:p>
                  </a:txBody>
                  <a:tcPr marL="1143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66.78</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6.97</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extLst>
                  <a:ext uri="{0D108BD9-81ED-4DB2-BD59-A6C34878D82A}">
                    <a16:rowId xmlns:a16="http://schemas.microsoft.com/office/drawing/2014/main" val="10001"/>
                  </a:ext>
                </a:extLst>
              </a:tr>
              <a:tr h="642938">
                <a:tc>
                  <a:txBody>
                    <a:bodyPr/>
                    <a:lstStyle/>
                    <a:p>
                      <a:pPr algn="l"/>
                      <a:r>
                        <a:rPr sz="1700">
                          <a:solidFill>
                            <a:srgbClr val="252525"/>
                          </a:solidFill>
                          <a:latin typeface="Roboto"/>
                          <a:ea typeface="Roboto"/>
                          <a:cs typeface="Roboto"/>
                        </a:rPr>
                        <a:t>Hole (initial)</a:t>
                      </a:r>
                    </a:p>
                  </a:txBody>
                  <a:tcPr marL="1143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69.72</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11.46</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2"/>
                  </a:ext>
                </a:extLst>
              </a:tr>
              <a:tr h="642938">
                <a:tc>
                  <a:txBody>
                    <a:bodyPr/>
                    <a:lstStyle/>
                    <a:p>
                      <a:pPr algn="l"/>
                      <a:r>
                        <a:rPr sz="1700">
                          <a:solidFill>
                            <a:srgbClr val="252525"/>
                          </a:solidFill>
                          <a:latin typeface="Roboto"/>
                          <a:ea typeface="Roboto"/>
                          <a:cs typeface="Roboto"/>
                        </a:rPr>
                        <a:t>Hole (50/40/10%)</a:t>
                      </a:r>
                    </a:p>
                  </a:txBody>
                  <a:tcPr marL="1143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72.04</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b="1">
                          <a:solidFill>
                            <a:srgbClr val="822433"/>
                          </a:solidFill>
                          <a:latin typeface="Roboto"/>
                          <a:ea typeface="Roboto"/>
                          <a:cs typeface="Roboto"/>
                        </a:rPr>
                        <a:t>14.71</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extLst>
                  <a:ext uri="{0D108BD9-81ED-4DB2-BD59-A6C34878D82A}">
                    <a16:rowId xmlns:a16="http://schemas.microsoft.com/office/drawing/2014/main" val="10003"/>
                  </a:ext>
                </a:extLst>
              </a:tr>
              <a:tr h="642938">
                <a:tc>
                  <a:txBody>
                    <a:bodyPr/>
                    <a:lstStyle/>
                    <a:p>
                      <a:pPr algn="l"/>
                      <a:r>
                        <a:rPr sz="1700">
                          <a:solidFill>
                            <a:srgbClr val="252525"/>
                          </a:solidFill>
                          <a:latin typeface="Roboto"/>
                          <a:ea typeface="Roboto"/>
                          <a:cs typeface="Roboto"/>
                        </a:rPr>
                        <a:t>Hole (70/25/5%)</a:t>
                      </a:r>
                    </a:p>
                  </a:txBody>
                  <a:tcPr marL="1143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b="1">
                          <a:solidFill>
                            <a:srgbClr val="822433"/>
                          </a:solidFill>
                          <a:latin typeface="Roboto"/>
                          <a:ea typeface="Roboto"/>
                          <a:cs typeface="Roboto"/>
                        </a:rPr>
                        <a:t>72.55</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14.67</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graphicFrame>
        <p:nvGraphicFramePr>
          <p:cNvPr id="13" name="Tabella 12">
            <a:extLst>
              <a:ext uri="{FF2B5EF4-FFF2-40B4-BE49-F238E27FC236}">
                <a16:creationId xmlns:a16="http://schemas.microsoft.com/office/drawing/2014/main" id="{667A6C2F-A9DC-4762-A8ED-2C6A41221F69}"/>
              </a:ext>
            </a:extLst>
          </p:cNvPr>
          <p:cNvGraphicFramePr/>
          <p:nvPr/>
        </p:nvGraphicFramePr>
        <p:xfrm>
          <a:off x="6286500" y="2524125"/>
          <a:ext cx="5143500" cy="3143250"/>
        </p:xfrm>
        <a:graphic>
          <a:graphicData uri="http://schemas.openxmlformats.org/drawingml/2006/table">
            <a:tbl>
              <a:tblPr/>
              <a:tblGrid>
                <a:gridCol w="123825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gridCol w="1238250">
                  <a:extLst>
                    <a:ext uri="{9D8B030D-6E8A-4147-A177-3AD203B41FA5}">
                      <a16:colId xmlns:a16="http://schemas.microsoft.com/office/drawing/2014/main" val="20004"/>
                    </a:ext>
                  </a:extLst>
                </a:gridCol>
              </a:tblGrid>
              <a:tr h="571500">
                <a:tc>
                  <a:txBody>
                    <a:bodyPr/>
                    <a:lstStyle/>
                    <a:p>
                      <a:pPr algn="ctr"/>
                      <a:r>
                        <a:rPr sz="1600" b="1">
                          <a:solidFill>
                            <a:srgbClr val="FFFFFF"/>
                          </a:solidFill>
                          <a:latin typeface="Roboto"/>
                          <a:ea typeface="Roboto"/>
                          <a:cs typeface="Roboto"/>
                        </a:rPr>
                        <a:t>Input (px)</a:t>
                      </a:r>
                    </a:p>
                  </a:txBody>
                  <a:tcPr marL="76200" marR="76200" marT="38100" marB="38100" anchor="ctr">
                    <a:lnL w="953">
                      <a:solidFill>
                        <a:srgbClr val="FFFFFF"/>
                      </a:solidFill>
                      <a:prstDash val="soli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1600" b="1">
                          <a:solidFill>
                            <a:srgbClr val="FFFFFF"/>
                          </a:solidFill>
                          <a:latin typeface="Roboto"/>
                          <a:ea typeface="Roboto"/>
                          <a:cs typeface="Roboto"/>
                        </a:rPr>
                        <a:t>Grid</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1600" b="1">
                          <a:solidFill>
                            <a:srgbClr val="FFFFFF"/>
                          </a:solidFill>
                          <a:latin typeface="Roboto"/>
                          <a:ea typeface="Roboto"/>
                          <a:cs typeface="Roboto"/>
                        </a:rPr>
                        <a:t>σ</a:t>
                      </a:r>
                    </a:p>
                  </a:txBody>
                  <a:tcPr marL="38100" marR="381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1600" b="1">
                          <a:solidFill>
                            <a:srgbClr val="FFFFFF"/>
                          </a:solidFill>
                          <a:latin typeface="Roboto"/>
                          <a:ea typeface="Roboto"/>
                          <a:cs typeface="Roboto"/>
                        </a:rPr>
                        <a:t>Image</a:t>
                      </a:r>
                    </a:p>
                    <a:p>
                      <a:pPr algn="ctr"/>
                      <a:r>
                        <a:rPr sz="1600" b="1">
                          <a:solidFill>
                            <a:srgbClr val="FFFFFF"/>
                          </a:solidFill>
                          <a:latin typeface="Roboto"/>
                          <a:ea typeface="Roboto"/>
                          <a:cs typeface="Roboto"/>
                        </a:rPr>
                        <a:t>AUROC</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1600" b="1">
                          <a:solidFill>
                            <a:srgbClr val="FFFFFF"/>
                          </a:solidFill>
                          <a:latin typeface="Roboto"/>
                          <a:ea typeface="Roboto"/>
                          <a:cs typeface="Roboto"/>
                        </a:rPr>
                        <a:t>Pixel</a:t>
                      </a:r>
                    </a:p>
                    <a:p>
                      <a:pPr algn="ctr"/>
                      <a:r>
                        <a:rPr sz="1600" b="1">
                          <a:solidFill>
                            <a:srgbClr val="FFFFFF"/>
                          </a:solidFill>
                          <a:latin typeface="Roboto"/>
                          <a:ea typeface="Roboto"/>
                          <a:cs typeface="Roboto"/>
                        </a:rPr>
                        <a:t>AP</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extLst>
                  <a:ext uri="{0D108BD9-81ED-4DB2-BD59-A6C34878D82A}">
                    <a16:rowId xmlns:a16="http://schemas.microsoft.com/office/drawing/2014/main" val="10000"/>
                  </a:ext>
                </a:extLst>
              </a:tr>
              <a:tr h="514350">
                <a:tc>
                  <a:txBody>
                    <a:bodyPr/>
                    <a:lstStyle/>
                    <a:p>
                      <a:pPr algn="ctr"/>
                      <a:r>
                        <a:rPr sz="1700">
                          <a:solidFill>
                            <a:srgbClr val="252525"/>
                          </a:solidFill>
                          <a:latin typeface="Roboto"/>
                          <a:ea typeface="Roboto"/>
                          <a:cs typeface="Roboto"/>
                        </a:rPr>
                        <a:t>256×256</a:t>
                      </a:r>
                    </a:p>
                  </a:txBody>
                  <a:tcPr marL="762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32×32</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1</a:t>
                      </a:r>
                    </a:p>
                  </a:txBody>
                  <a:tcPr marL="38100" marR="381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72.55</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15.72</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extLst>
                  <a:ext uri="{0D108BD9-81ED-4DB2-BD59-A6C34878D82A}">
                    <a16:rowId xmlns:a16="http://schemas.microsoft.com/office/drawing/2014/main" val="10001"/>
                  </a:ext>
                </a:extLst>
              </a:tr>
              <a:tr h="514350">
                <a:tc>
                  <a:txBody>
                    <a:bodyPr/>
                    <a:lstStyle/>
                    <a:p>
                      <a:pPr algn="ctr"/>
                      <a:r>
                        <a:rPr sz="1700">
                          <a:solidFill>
                            <a:srgbClr val="252525"/>
                          </a:solidFill>
                          <a:latin typeface="Roboto"/>
                          <a:ea typeface="Roboto"/>
                          <a:cs typeface="Roboto"/>
                        </a:rPr>
                        <a:t>384×384</a:t>
                      </a:r>
                    </a:p>
                  </a:txBody>
                  <a:tcPr marL="762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48×48</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1</a:t>
                      </a:r>
                    </a:p>
                  </a:txBody>
                  <a:tcPr marL="38100" marR="381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b="1">
                          <a:solidFill>
                            <a:srgbClr val="822433"/>
                          </a:solidFill>
                          <a:latin typeface="Roboto"/>
                          <a:ea typeface="Roboto"/>
                          <a:cs typeface="Roboto"/>
                        </a:rPr>
                        <a:t>77.52</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25.48</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2"/>
                  </a:ext>
                </a:extLst>
              </a:tr>
              <a:tr h="514350">
                <a:tc>
                  <a:txBody>
                    <a:bodyPr/>
                    <a:lstStyle/>
                    <a:p>
                      <a:pPr algn="ctr"/>
                      <a:r>
                        <a:rPr sz="1700">
                          <a:solidFill>
                            <a:srgbClr val="252525"/>
                          </a:solidFill>
                          <a:latin typeface="Roboto"/>
                          <a:ea typeface="Roboto"/>
                          <a:cs typeface="Roboto"/>
                        </a:rPr>
                        <a:t>512×512</a:t>
                      </a:r>
                    </a:p>
                  </a:txBody>
                  <a:tcPr marL="762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64×64</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1</a:t>
                      </a:r>
                    </a:p>
                  </a:txBody>
                  <a:tcPr marL="38100" marR="381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73.81</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23.55</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extLst>
                  <a:ext uri="{0D108BD9-81ED-4DB2-BD59-A6C34878D82A}">
                    <a16:rowId xmlns:a16="http://schemas.microsoft.com/office/drawing/2014/main" val="10003"/>
                  </a:ext>
                </a:extLst>
              </a:tr>
              <a:tr h="514350">
                <a:tc>
                  <a:txBody>
                    <a:bodyPr/>
                    <a:lstStyle/>
                    <a:p>
                      <a:pPr algn="ctr"/>
                      <a:r>
                        <a:rPr sz="1700">
                          <a:solidFill>
                            <a:srgbClr val="252525"/>
                          </a:solidFill>
                          <a:latin typeface="Roboto"/>
                          <a:ea typeface="Roboto"/>
                          <a:cs typeface="Roboto"/>
                        </a:rPr>
                        <a:t>512×512</a:t>
                      </a:r>
                    </a:p>
                  </a:txBody>
                  <a:tcPr marL="762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32×32</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1</a:t>
                      </a:r>
                    </a:p>
                  </a:txBody>
                  <a:tcPr marL="38100" marR="381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77.33</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1700">
                          <a:solidFill>
                            <a:srgbClr val="252525"/>
                          </a:solidFill>
                          <a:latin typeface="Roboto"/>
                          <a:ea typeface="Roboto"/>
                          <a:cs typeface="Roboto"/>
                        </a:rPr>
                        <a:t>27.01</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extLst>
                  <a:ext uri="{0D108BD9-81ED-4DB2-BD59-A6C34878D82A}">
                    <a16:rowId xmlns:a16="http://schemas.microsoft.com/office/drawing/2014/main" val="10004"/>
                  </a:ext>
                </a:extLst>
              </a:tr>
              <a:tr h="514350">
                <a:tc>
                  <a:txBody>
                    <a:bodyPr/>
                    <a:lstStyle/>
                    <a:p>
                      <a:pPr algn="ctr"/>
                      <a:r>
                        <a:rPr sz="1700">
                          <a:solidFill>
                            <a:srgbClr val="252525"/>
                          </a:solidFill>
                          <a:latin typeface="Roboto"/>
                          <a:ea typeface="Roboto"/>
                          <a:cs typeface="Roboto"/>
                        </a:rPr>
                        <a:t>512×512</a:t>
                      </a:r>
                    </a:p>
                  </a:txBody>
                  <a:tcPr marL="76200" marR="76200" marT="38100" marB="38100"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32×32</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4</a:t>
                      </a:r>
                    </a:p>
                  </a:txBody>
                  <a:tcPr marL="38100" marR="381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a:solidFill>
                            <a:srgbClr val="252525"/>
                          </a:solidFill>
                          <a:latin typeface="Roboto"/>
                          <a:ea typeface="Roboto"/>
                          <a:cs typeface="Roboto"/>
                        </a:rPr>
                        <a:t>77.33</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1700" b="1">
                          <a:solidFill>
                            <a:srgbClr val="822433"/>
                          </a:solidFill>
                          <a:latin typeface="Roboto"/>
                          <a:ea typeface="Roboto"/>
                          <a:cs typeface="Roboto"/>
                        </a:rPr>
                        <a:t>27.59</a:t>
                      </a:r>
                    </a:p>
                  </a:txBody>
                  <a:tcPr marL="76200" marR="76200" marT="38100" marB="38100"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extLst>
                  <a:ext uri="{0D108BD9-81ED-4DB2-BD59-A6C34878D82A}">
                    <a16:rowId xmlns:a16="http://schemas.microsoft.com/office/drawing/2014/main" val="10005"/>
                  </a:ext>
                </a:extLst>
              </a:tr>
            </a:tbl>
          </a:graphicData>
        </a:graphic>
      </p:graphicFrame>
      <p:sp>
        <p:nvSpPr>
          <p:cNvPr id="14" name="training-takeaway">
            <a:extLst>
              <a:ext uri="{FF2B5EF4-FFF2-40B4-BE49-F238E27FC236}">
                <a16:creationId xmlns:a16="http://schemas.microsoft.com/office/drawing/2014/main" id="{3050BBD9-ABBA-4AE7-9099-5D571FEAC88F}"/>
              </a:ext>
            </a:extLst>
          </p:cNvPr>
          <p:cNvSpPr>
            <a:spLocks noGrp="1"/>
          </p:cNvSpPr>
          <p:nvPr/>
        </p:nvSpPr>
        <p:spPr>
          <a:xfrm>
            <a:off x="762000" y="5848350"/>
            <a:ext cx="5143500" cy="314325"/>
          </a:xfrm>
          <a:prstGeom prst="rect">
            <a:avLst/>
          </a:prstGeom>
          <a:noFill/>
          <a:ln w="0">
            <a:noFill/>
          </a:ln>
        </p:spPr>
        <p:txBody>
          <a:bodyPr wrap="square" lIns="0" tIns="0" rIns="0" bIns="0" anchor="t">
            <a:noAutofit/>
          </a:bodyPr>
          <a:lstStyle>
            <a:defPPr algn="l">
              <a:defRPr sz="1600" b="0">
                <a:solidFill>
                  <a:srgbClr val="252525"/>
                </a:solidFill>
                <a:latin typeface="Roboto"/>
                <a:ea typeface="Roboto"/>
                <a:cs typeface="Roboto"/>
              </a:defRPr>
            </a:defPPr>
            <a:lvl1pPr algn="l">
              <a:defRPr sz="1600" b="0">
                <a:solidFill>
                  <a:srgbClr val="252525"/>
                </a:solidFill>
                <a:latin typeface="Roboto"/>
                <a:ea typeface="Roboto"/>
                <a:cs typeface="Roboto"/>
              </a:defRPr>
            </a:lvl1pPr>
            <a:lvl2pPr algn="l">
              <a:defRPr sz="1600" b="0">
                <a:solidFill>
                  <a:srgbClr val="252525"/>
                </a:solidFill>
                <a:latin typeface="Roboto"/>
                <a:ea typeface="Roboto"/>
                <a:cs typeface="Roboto"/>
              </a:defRPr>
            </a:lvl2pPr>
            <a:lvl3pPr algn="l">
              <a:defRPr sz="1600" b="0">
                <a:solidFill>
                  <a:srgbClr val="252525"/>
                </a:solidFill>
                <a:latin typeface="Roboto"/>
                <a:ea typeface="Roboto"/>
                <a:cs typeface="Roboto"/>
              </a:defRPr>
            </a:lvl3pPr>
            <a:lvl4pPr algn="l">
              <a:defRPr sz="1600" b="0">
                <a:solidFill>
                  <a:srgbClr val="252525"/>
                </a:solidFill>
                <a:latin typeface="Roboto"/>
                <a:ea typeface="Roboto"/>
                <a:cs typeface="Roboto"/>
              </a:defRPr>
            </a:lvl4pPr>
            <a:lvl5pPr algn="l">
              <a:defRPr sz="1600" b="0">
                <a:solidFill>
                  <a:srgbClr val="252525"/>
                </a:solidFill>
                <a:latin typeface="Roboto"/>
                <a:ea typeface="Roboto"/>
                <a:cs typeface="Roboto"/>
              </a:defRPr>
            </a:lvl5pPr>
            <a:lvl6pPr algn="l">
              <a:defRPr sz="1600" b="0">
                <a:solidFill>
                  <a:srgbClr val="252525"/>
                </a:solidFill>
                <a:latin typeface="Roboto"/>
                <a:ea typeface="Roboto"/>
                <a:cs typeface="Roboto"/>
              </a:defRPr>
            </a:lvl6pPr>
            <a:lvl7pPr algn="l">
              <a:defRPr sz="1600" b="0">
                <a:solidFill>
                  <a:srgbClr val="252525"/>
                </a:solidFill>
                <a:latin typeface="Roboto"/>
                <a:ea typeface="Roboto"/>
                <a:cs typeface="Roboto"/>
              </a:defRPr>
            </a:lvl7pPr>
            <a:lvl8pPr algn="l">
              <a:defRPr sz="1600" b="0">
                <a:solidFill>
                  <a:srgbClr val="252525"/>
                </a:solidFill>
                <a:latin typeface="Roboto"/>
                <a:ea typeface="Roboto"/>
                <a:cs typeface="Roboto"/>
              </a:defRPr>
            </a:lvl8pPr>
            <a:lvl9pPr algn="l">
              <a:defRPr sz="1600" b="0">
                <a:solidFill>
                  <a:srgbClr val="252525"/>
                </a:solidFill>
                <a:latin typeface="Roboto"/>
                <a:ea typeface="Roboto"/>
                <a:cs typeface="Roboto"/>
              </a:defRPr>
            </a:lvl9pPr>
          </a:lstStyle>
          <a:p>
            <a:pPr algn="l">
              <a:defRPr sz="1600" b="0">
                <a:solidFill>
                  <a:srgbClr val="252525"/>
                </a:solidFill>
                <a:latin typeface="Roboto"/>
                <a:ea typeface="Roboto"/>
                <a:cs typeface="Roboto"/>
              </a:defRPr>
            </a:pPr>
            <a:r>
              <a:rPr sz="1600" b="0">
                <a:solidFill>
                  <a:srgbClr val="252525"/>
                </a:solidFill>
                <a:latin typeface="Roboto"/>
                <a:ea typeface="Roboto"/>
                <a:cs typeface="Roboto"/>
              </a:rPr>
              <a:t>Hole-like LAS improves localization.</a:t>
            </a:r>
          </a:p>
        </p:txBody>
      </p:sp>
      <p:sp>
        <p:nvSpPr>
          <p:cNvPr id="17" name="extra-page-number">
            <a:extLst>
              <a:ext uri="{FF2B5EF4-FFF2-40B4-BE49-F238E27FC236}">
                <a16:creationId xmlns:a16="http://schemas.microsoft.com/office/drawing/2014/main" id="{B7FA32DA-ABB6-4889-A98A-A91A9EF91F08}"/>
              </a:ext>
            </a:extLst>
          </p:cNvPr>
          <p:cNvSpPr>
            <a:spLocks noGrp="1"/>
          </p:cNvSpPr>
          <p:nvPr/>
        </p:nvSpPr>
        <p:spPr>
          <a:xfrm>
            <a:off x="10810875" y="6581775"/>
            <a:ext cx="914400" cy="219075"/>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56/25</a:t>
            </a:r>
          </a:p>
        </p:txBody>
      </p:sp>
    </p:spTree>
    <p:extLst>
      <p:ext uri="{BB962C8B-B14F-4D97-AF65-F5344CB8AC3E}">
        <p14:creationId xmlns:p14="http://schemas.microsoft.com/office/powerpoint/2010/main" val="287618806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03;p14">
            <a:extLst>
              <a:ext uri="{FF2B5EF4-FFF2-40B4-BE49-F238E27FC236}">
                <a16:creationId xmlns:a16="http://schemas.microsoft.com/office/drawing/2014/main" id="{504A17F8-E2ED-6EF8-07F5-9ABB93526B54}"/>
              </a:ext>
            </a:extLst>
          </p:cNvPr>
          <p:cNvSpPr>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a:solidFill>
                  <a:srgbClr val="822433"/>
                </a:solidFill>
                <a:latin typeface="Roboto"/>
                <a:ea typeface="Roboto"/>
                <a:cs typeface="Roboto"/>
              </a:rPr>
              <a:t>               Lightweight Scene Understanding and Synthetic Data-Driven Damage Inspection for Martian Rovers                                                                     27/10/2026</a:t>
            </a:r>
          </a:p>
        </p:txBody>
      </p:sp>
      <p:sp>
        <p:nvSpPr>
          <p:cNvPr id="6" name="Title 1">
            <a:extLst>
              <a:ext uri="{FF2B5EF4-FFF2-40B4-BE49-F238E27FC236}">
                <a16:creationId xmlns:a16="http://schemas.microsoft.com/office/drawing/2014/main" id="{A974E78B-6703-4C92-9DE9-199887A0BBBD}"/>
              </a:ext>
            </a:extLst>
          </p:cNvPr>
          <p:cNvSpPr>
            <a:spLocks noGrp="1"/>
          </p:cNvSpPr>
          <p:nvPr/>
        </p:nvSpPr>
        <p:spPr>
          <a:xfrm>
            <a:off x="952500" y="490538"/>
            <a:ext cx="9810750" cy="781050"/>
          </a:xfrm>
          <a:prstGeom prst="rect">
            <a:avLst/>
          </a:prstGeom>
          <a:noFill/>
          <a:ln w="0">
            <a:noFill/>
          </a:ln>
        </p:spPr>
        <p:txBody>
          <a:bodyPr wrap="square" lIns="0" tIns="0" rIns="0" bIns="0" anchor="t">
            <a:noAutofit/>
          </a:bodyPr>
          <a:lstStyle>
            <a:defPPr algn="l">
              <a:defRPr sz="4400" b="0">
                <a:solidFill>
                  <a:srgbClr val="822433"/>
                </a:solidFill>
                <a:latin typeface="Roboto"/>
                <a:ea typeface="Roboto"/>
                <a:cs typeface="Roboto"/>
              </a:defRPr>
            </a:defPPr>
            <a:lvl1pPr algn="l">
              <a:defRPr sz="4400" b="0">
                <a:solidFill>
                  <a:srgbClr val="822433"/>
                </a:solidFill>
                <a:latin typeface="Roboto"/>
                <a:ea typeface="Roboto"/>
                <a:cs typeface="Roboto"/>
              </a:defRPr>
            </a:lvl1pPr>
            <a:lvl2pPr algn="l">
              <a:defRPr sz="4400" b="0">
                <a:solidFill>
                  <a:srgbClr val="822433"/>
                </a:solidFill>
                <a:latin typeface="Roboto"/>
                <a:ea typeface="Roboto"/>
                <a:cs typeface="Roboto"/>
              </a:defRPr>
            </a:lvl2pPr>
            <a:lvl3pPr algn="l">
              <a:defRPr sz="4400" b="0">
                <a:solidFill>
                  <a:srgbClr val="822433"/>
                </a:solidFill>
                <a:latin typeface="Roboto"/>
                <a:ea typeface="Roboto"/>
                <a:cs typeface="Roboto"/>
              </a:defRPr>
            </a:lvl3pPr>
            <a:lvl4pPr algn="l">
              <a:defRPr sz="4400" b="0">
                <a:solidFill>
                  <a:srgbClr val="822433"/>
                </a:solidFill>
                <a:latin typeface="Roboto"/>
                <a:ea typeface="Roboto"/>
                <a:cs typeface="Roboto"/>
              </a:defRPr>
            </a:lvl4pPr>
            <a:lvl5pPr algn="l">
              <a:defRPr sz="4400" b="0">
                <a:solidFill>
                  <a:srgbClr val="822433"/>
                </a:solidFill>
                <a:latin typeface="Roboto"/>
                <a:ea typeface="Roboto"/>
                <a:cs typeface="Roboto"/>
              </a:defRPr>
            </a:lvl5pPr>
            <a:lvl6pPr algn="l">
              <a:defRPr sz="4400" b="0">
                <a:solidFill>
                  <a:srgbClr val="822433"/>
                </a:solidFill>
                <a:latin typeface="Roboto"/>
                <a:ea typeface="Roboto"/>
                <a:cs typeface="Roboto"/>
              </a:defRPr>
            </a:lvl6pPr>
            <a:lvl7pPr algn="l">
              <a:defRPr sz="4400" b="0">
                <a:solidFill>
                  <a:srgbClr val="822433"/>
                </a:solidFill>
                <a:latin typeface="Roboto"/>
                <a:ea typeface="Roboto"/>
                <a:cs typeface="Roboto"/>
              </a:defRPr>
            </a:lvl7pPr>
            <a:lvl8pPr algn="l">
              <a:defRPr sz="4400" b="0">
                <a:solidFill>
                  <a:srgbClr val="822433"/>
                </a:solidFill>
                <a:latin typeface="Roboto"/>
                <a:ea typeface="Roboto"/>
                <a:cs typeface="Roboto"/>
              </a:defRPr>
            </a:lvl8pPr>
            <a:lvl9pPr algn="l">
              <a:defRPr sz="4400" b="0">
                <a:solidFill>
                  <a:srgbClr val="822433"/>
                </a:solidFill>
                <a:latin typeface="Roboto"/>
                <a:ea typeface="Roboto"/>
                <a:cs typeface="Roboto"/>
              </a:defRPr>
            </a:lvl9pPr>
          </a:lstStyle>
          <a:p>
            <a:pPr algn="l">
              <a:defRPr sz="4400" b="0">
                <a:solidFill>
                  <a:srgbClr val="822433"/>
                </a:solidFill>
                <a:latin typeface="Roboto"/>
                <a:ea typeface="Roboto"/>
                <a:cs typeface="Roboto"/>
              </a:defRPr>
            </a:pPr>
            <a:r>
              <a:rPr sz="4400" b="0">
                <a:solidFill>
                  <a:srgbClr val="822433"/>
                </a:solidFill>
                <a:latin typeface="Roboto"/>
                <a:ea typeface="Roboto"/>
                <a:cs typeface="Roboto"/>
              </a:rPr>
              <a:t>Extra: Spatial anomaly maps</a:t>
            </a:r>
          </a:p>
        </p:txBody>
      </p:sp>
      <p:sp>
        <p:nvSpPr>
          <p:cNvPr id="7" name="comparison-context">
            <a:extLst>
              <a:ext uri="{FF2B5EF4-FFF2-40B4-BE49-F238E27FC236}">
                <a16:creationId xmlns:a16="http://schemas.microsoft.com/office/drawing/2014/main" id="{E0F5DA55-A43B-4C59-9BDA-DF3A9A8A3761}"/>
              </a:ext>
            </a:extLst>
          </p:cNvPr>
          <p:cNvSpPr>
            <a:spLocks noGrp="1"/>
          </p:cNvSpPr>
          <p:nvPr/>
        </p:nvSpPr>
        <p:spPr>
          <a:xfrm>
            <a:off x="952500" y="1362075"/>
            <a:ext cx="10287000" cy="276225"/>
          </a:xfrm>
          <a:prstGeom prst="rect">
            <a:avLst/>
          </a:prstGeom>
          <a:noFill/>
          <a:ln w="0">
            <a:noFill/>
          </a:ln>
        </p:spPr>
        <p:txBody>
          <a:bodyPr wrap="square" lIns="0" tIns="0" rIns="0" bIns="0" anchor="t">
            <a:noAutofit/>
          </a:bodyPr>
          <a:lstStyle>
            <a:defPPr algn="l">
              <a:defRPr sz="1600" b="0">
                <a:solidFill>
                  <a:srgbClr val="626975"/>
                </a:solidFill>
                <a:latin typeface="Roboto"/>
                <a:ea typeface="Roboto"/>
                <a:cs typeface="Roboto"/>
              </a:defRPr>
            </a:defPPr>
            <a:lvl1pPr algn="l">
              <a:defRPr sz="1600" b="0">
                <a:solidFill>
                  <a:srgbClr val="626975"/>
                </a:solidFill>
                <a:latin typeface="Roboto"/>
                <a:ea typeface="Roboto"/>
                <a:cs typeface="Roboto"/>
              </a:defRPr>
            </a:lvl1pPr>
            <a:lvl2pPr algn="l">
              <a:defRPr sz="1600" b="0">
                <a:solidFill>
                  <a:srgbClr val="626975"/>
                </a:solidFill>
                <a:latin typeface="Roboto"/>
                <a:ea typeface="Roboto"/>
                <a:cs typeface="Roboto"/>
              </a:defRPr>
            </a:lvl2pPr>
            <a:lvl3pPr algn="l">
              <a:defRPr sz="1600" b="0">
                <a:solidFill>
                  <a:srgbClr val="626975"/>
                </a:solidFill>
                <a:latin typeface="Roboto"/>
                <a:ea typeface="Roboto"/>
                <a:cs typeface="Roboto"/>
              </a:defRPr>
            </a:lvl3pPr>
            <a:lvl4pPr algn="l">
              <a:defRPr sz="1600" b="0">
                <a:solidFill>
                  <a:srgbClr val="626975"/>
                </a:solidFill>
                <a:latin typeface="Roboto"/>
                <a:ea typeface="Roboto"/>
                <a:cs typeface="Roboto"/>
              </a:defRPr>
            </a:lvl4pPr>
            <a:lvl5pPr algn="l">
              <a:defRPr sz="1600" b="0">
                <a:solidFill>
                  <a:srgbClr val="626975"/>
                </a:solidFill>
                <a:latin typeface="Roboto"/>
                <a:ea typeface="Roboto"/>
                <a:cs typeface="Roboto"/>
              </a:defRPr>
            </a:lvl5pPr>
            <a:lvl6pPr algn="l">
              <a:defRPr sz="1600" b="0">
                <a:solidFill>
                  <a:srgbClr val="626975"/>
                </a:solidFill>
                <a:latin typeface="Roboto"/>
                <a:ea typeface="Roboto"/>
                <a:cs typeface="Roboto"/>
              </a:defRPr>
            </a:lvl6pPr>
            <a:lvl7pPr algn="l">
              <a:defRPr sz="1600" b="0">
                <a:solidFill>
                  <a:srgbClr val="626975"/>
                </a:solidFill>
                <a:latin typeface="Roboto"/>
                <a:ea typeface="Roboto"/>
                <a:cs typeface="Roboto"/>
              </a:defRPr>
            </a:lvl7pPr>
            <a:lvl8pPr algn="l">
              <a:defRPr sz="1600" b="0">
                <a:solidFill>
                  <a:srgbClr val="626975"/>
                </a:solidFill>
                <a:latin typeface="Roboto"/>
                <a:ea typeface="Roboto"/>
                <a:cs typeface="Roboto"/>
              </a:defRPr>
            </a:lvl8pPr>
            <a:lvl9pPr algn="l">
              <a:defRPr sz="1600" b="0">
                <a:solidFill>
                  <a:srgbClr val="626975"/>
                </a:solidFill>
                <a:latin typeface="Roboto"/>
                <a:ea typeface="Roboto"/>
                <a:cs typeface="Roboto"/>
              </a:defRPr>
            </a:lvl9pPr>
          </a:lstStyle>
          <a:p>
            <a:pPr algn="l">
              <a:defRPr sz="1600" b="0">
                <a:solidFill>
                  <a:srgbClr val="626975"/>
                </a:solidFill>
                <a:latin typeface="Roboto"/>
                <a:ea typeface="Roboto"/>
                <a:cs typeface="Roboto"/>
              </a:defRPr>
            </a:pPr>
            <a:r>
              <a:rPr sz="1600" b="0">
                <a:solidFill>
                  <a:srgbClr val="626975"/>
                </a:solidFill>
                <a:latin typeface="Roboto"/>
                <a:ea typeface="Roboto"/>
                <a:cs typeface="Roboto"/>
              </a:rPr>
              <a:t>Same synthetic observation, six reference configurations</a:t>
            </a:r>
          </a:p>
        </p:txBody>
      </p:sp>
      <p:sp>
        <p:nvSpPr>
          <p:cNvPr id="8" name="label-0">
            <a:extLst>
              <a:ext uri="{FF2B5EF4-FFF2-40B4-BE49-F238E27FC236}">
                <a16:creationId xmlns:a16="http://schemas.microsoft.com/office/drawing/2014/main" id="{E7BE982B-A11E-4DD3-A4E5-65AAA6BBF259}"/>
              </a:ext>
            </a:extLst>
          </p:cNvPr>
          <p:cNvSpPr>
            <a:spLocks noGrp="1"/>
          </p:cNvSpPr>
          <p:nvPr/>
        </p:nvSpPr>
        <p:spPr>
          <a:xfrm>
            <a:off x="952500" y="1657350"/>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RGB image</a:t>
            </a:r>
          </a:p>
        </p:txBody>
      </p:sp>
      <p:pic>
        <p:nvPicPr>
          <p:cNvPr id="9" name="Immagine 8">
            <a:extLst>
              <a:ext uri="{FF2B5EF4-FFF2-40B4-BE49-F238E27FC236}">
                <a16:creationId xmlns:a16="http://schemas.microsoft.com/office/drawing/2014/main" id="{C09A6AB4-B217-4AF6-8DF4-4B2D6B5A96DC}"/>
              </a:ext>
            </a:extLst>
          </p:cNvPr>
          <p:cNvPicPr>
            <a:picLocks noChangeAspect="1"/>
          </p:cNvPicPr>
          <p:nvPr/>
        </p:nvPicPr>
        <p:blipFill>
          <a:blip r:embed="rId3"/>
          <a:srcRect l="2208" t="5038" r="76333" b="56316"/>
          <a:stretch/>
        </p:blipFill>
        <p:spPr>
          <a:xfrm>
            <a:off x="1214438" y="2000250"/>
            <a:ext cx="1762125" cy="1758703"/>
          </a:xfrm>
          <a:prstGeom prst="rect">
            <a:avLst/>
          </a:prstGeom>
        </p:spPr>
      </p:pic>
      <p:sp>
        <p:nvSpPr>
          <p:cNvPr id="10" name="label-1">
            <a:extLst>
              <a:ext uri="{FF2B5EF4-FFF2-40B4-BE49-F238E27FC236}">
                <a16:creationId xmlns:a16="http://schemas.microsoft.com/office/drawing/2014/main" id="{778DC030-319E-47F9-B12E-94EF24A19ACE}"/>
              </a:ext>
            </a:extLst>
          </p:cNvPr>
          <p:cNvSpPr>
            <a:spLocks noGrp="1"/>
          </p:cNvSpPr>
          <p:nvPr/>
        </p:nvSpPr>
        <p:spPr>
          <a:xfrm>
            <a:off x="3619500" y="1657350"/>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Ground-truth mask</a:t>
            </a:r>
          </a:p>
        </p:txBody>
      </p:sp>
      <p:pic>
        <p:nvPicPr>
          <p:cNvPr id="11" name="Immagine 10">
            <a:extLst>
              <a:ext uri="{FF2B5EF4-FFF2-40B4-BE49-F238E27FC236}">
                <a16:creationId xmlns:a16="http://schemas.microsoft.com/office/drawing/2014/main" id="{5717193F-CA26-4675-9990-C4769E84B3C3}"/>
              </a:ext>
            </a:extLst>
          </p:cNvPr>
          <p:cNvPicPr>
            <a:picLocks noChangeAspect="1"/>
          </p:cNvPicPr>
          <p:nvPr/>
        </p:nvPicPr>
        <p:blipFill>
          <a:blip r:embed="rId3"/>
          <a:srcRect l="26917" t="5038" r="51625" b="56316"/>
          <a:stretch/>
        </p:blipFill>
        <p:spPr>
          <a:xfrm>
            <a:off x="3881438" y="2000250"/>
            <a:ext cx="1762125" cy="1758703"/>
          </a:xfrm>
          <a:prstGeom prst="rect">
            <a:avLst/>
          </a:prstGeom>
        </p:spPr>
      </p:pic>
      <p:sp>
        <p:nvSpPr>
          <p:cNvPr id="12" name="label-2">
            <a:extLst>
              <a:ext uri="{FF2B5EF4-FFF2-40B4-BE49-F238E27FC236}">
                <a16:creationId xmlns:a16="http://schemas.microsoft.com/office/drawing/2014/main" id="{939B09CC-FBE9-482D-B4EB-6BB227E201C7}"/>
              </a:ext>
            </a:extLst>
          </p:cNvPr>
          <p:cNvSpPr>
            <a:spLocks noGrp="1"/>
          </p:cNvSpPr>
          <p:nvPr/>
        </p:nvSpPr>
        <p:spPr>
          <a:xfrm>
            <a:off x="6286500" y="1657350"/>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PatchCore-S</a:t>
            </a:r>
          </a:p>
        </p:txBody>
      </p:sp>
      <p:pic>
        <p:nvPicPr>
          <p:cNvPr id="13" name="Immagine 12">
            <a:extLst>
              <a:ext uri="{FF2B5EF4-FFF2-40B4-BE49-F238E27FC236}">
                <a16:creationId xmlns:a16="http://schemas.microsoft.com/office/drawing/2014/main" id="{CDA2F221-7FDD-4A7C-A254-1935CB6EB5CC}"/>
              </a:ext>
            </a:extLst>
          </p:cNvPr>
          <p:cNvPicPr>
            <a:picLocks noChangeAspect="1"/>
          </p:cNvPicPr>
          <p:nvPr/>
        </p:nvPicPr>
        <p:blipFill>
          <a:blip r:embed="rId3"/>
          <a:srcRect l="51625" t="5038" r="26917" b="56316"/>
          <a:stretch/>
        </p:blipFill>
        <p:spPr>
          <a:xfrm>
            <a:off x="6548438" y="2000250"/>
            <a:ext cx="1762125" cy="1758703"/>
          </a:xfrm>
          <a:prstGeom prst="rect">
            <a:avLst/>
          </a:prstGeom>
        </p:spPr>
      </p:pic>
      <p:sp>
        <p:nvSpPr>
          <p:cNvPr id="14" name="label-3">
            <a:extLst>
              <a:ext uri="{FF2B5EF4-FFF2-40B4-BE49-F238E27FC236}">
                <a16:creationId xmlns:a16="http://schemas.microsoft.com/office/drawing/2014/main" id="{B824D7C6-5DE6-450E-AA13-70BBCE9FDA76}"/>
              </a:ext>
            </a:extLst>
          </p:cNvPr>
          <p:cNvSpPr>
            <a:spLocks noGrp="1"/>
          </p:cNvSpPr>
          <p:nvPr/>
        </p:nvSpPr>
        <p:spPr>
          <a:xfrm>
            <a:off x="8953500" y="1657350"/>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PatchCore-L</a:t>
            </a:r>
          </a:p>
        </p:txBody>
      </p:sp>
      <p:pic>
        <p:nvPicPr>
          <p:cNvPr id="15" name="Immagine 14">
            <a:extLst>
              <a:ext uri="{FF2B5EF4-FFF2-40B4-BE49-F238E27FC236}">
                <a16:creationId xmlns:a16="http://schemas.microsoft.com/office/drawing/2014/main" id="{9D345BE9-153D-476E-972A-9317DACF98F1}"/>
              </a:ext>
            </a:extLst>
          </p:cNvPr>
          <p:cNvPicPr>
            <a:picLocks noChangeAspect="1"/>
          </p:cNvPicPr>
          <p:nvPr/>
        </p:nvPicPr>
        <p:blipFill>
          <a:blip r:embed="rId3"/>
          <a:srcRect l="76333" t="5038" r="2208" b="56316"/>
          <a:stretch/>
        </p:blipFill>
        <p:spPr>
          <a:xfrm>
            <a:off x="9215438" y="2000250"/>
            <a:ext cx="1762125" cy="1758703"/>
          </a:xfrm>
          <a:prstGeom prst="rect">
            <a:avLst/>
          </a:prstGeom>
        </p:spPr>
      </p:pic>
      <p:sp>
        <p:nvSpPr>
          <p:cNvPr id="16" name="label-4">
            <a:extLst>
              <a:ext uri="{FF2B5EF4-FFF2-40B4-BE49-F238E27FC236}">
                <a16:creationId xmlns:a16="http://schemas.microsoft.com/office/drawing/2014/main" id="{C02F236D-94F0-4A39-81FA-7C2B611F07DC}"/>
              </a:ext>
            </a:extLst>
          </p:cNvPr>
          <p:cNvSpPr>
            <a:spLocks noGrp="1"/>
          </p:cNvSpPr>
          <p:nvPr/>
        </p:nvSpPr>
        <p:spPr>
          <a:xfrm>
            <a:off x="952500" y="3895725"/>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EfficientAD-S</a:t>
            </a:r>
          </a:p>
        </p:txBody>
      </p:sp>
      <p:pic>
        <p:nvPicPr>
          <p:cNvPr id="17" name="Immagine 16">
            <a:extLst>
              <a:ext uri="{FF2B5EF4-FFF2-40B4-BE49-F238E27FC236}">
                <a16:creationId xmlns:a16="http://schemas.microsoft.com/office/drawing/2014/main" id="{146F2347-8096-4B48-9157-805AC645CEF2}"/>
              </a:ext>
            </a:extLst>
          </p:cNvPr>
          <p:cNvPicPr>
            <a:picLocks noChangeAspect="1"/>
          </p:cNvPicPr>
          <p:nvPr/>
        </p:nvPicPr>
        <p:blipFill>
          <a:blip r:embed="rId3"/>
          <a:srcRect l="2208" t="48346" r="76333" b="13008"/>
          <a:stretch/>
        </p:blipFill>
        <p:spPr>
          <a:xfrm>
            <a:off x="1214438" y="4238625"/>
            <a:ext cx="1762125" cy="1758703"/>
          </a:xfrm>
          <a:prstGeom prst="rect">
            <a:avLst/>
          </a:prstGeom>
        </p:spPr>
      </p:pic>
      <p:sp>
        <p:nvSpPr>
          <p:cNvPr id="18" name="label-5">
            <a:extLst>
              <a:ext uri="{FF2B5EF4-FFF2-40B4-BE49-F238E27FC236}">
                <a16:creationId xmlns:a16="http://schemas.microsoft.com/office/drawing/2014/main" id="{43C6E9ED-FEBF-4968-8325-948D000B7EE3}"/>
              </a:ext>
            </a:extLst>
          </p:cNvPr>
          <p:cNvSpPr>
            <a:spLocks noGrp="1"/>
          </p:cNvSpPr>
          <p:nvPr/>
        </p:nvSpPr>
        <p:spPr>
          <a:xfrm>
            <a:off x="3619500" y="3895725"/>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SuperSimpleNet</a:t>
            </a:r>
          </a:p>
        </p:txBody>
      </p:sp>
      <p:pic>
        <p:nvPicPr>
          <p:cNvPr id="19" name="Immagine 18">
            <a:extLst>
              <a:ext uri="{FF2B5EF4-FFF2-40B4-BE49-F238E27FC236}">
                <a16:creationId xmlns:a16="http://schemas.microsoft.com/office/drawing/2014/main" id="{6FF1B49F-5DFD-4392-B341-DC4975AA4DA2}"/>
              </a:ext>
            </a:extLst>
          </p:cNvPr>
          <p:cNvPicPr>
            <a:picLocks noChangeAspect="1"/>
          </p:cNvPicPr>
          <p:nvPr/>
        </p:nvPicPr>
        <p:blipFill>
          <a:blip r:embed="rId3"/>
          <a:srcRect l="26917" t="48346" r="51625" b="13008"/>
          <a:stretch/>
        </p:blipFill>
        <p:spPr>
          <a:xfrm>
            <a:off x="3881438" y="4238625"/>
            <a:ext cx="1762125" cy="1758703"/>
          </a:xfrm>
          <a:prstGeom prst="rect">
            <a:avLst/>
          </a:prstGeom>
        </p:spPr>
      </p:pic>
      <p:sp>
        <p:nvSpPr>
          <p:cNvPr id="20" name="label-6">
            <a:extLst>
              <a:ext uri="{FF2B5EF4-FFF2-40B4-BE49-F238E27FC236}">
                <a16:creationId xmlns:a16="http://schemas.microsoft.com/office/drawing/2014/main" id="{15A274A2-699A-4159-BE82-008D74FBFD9C}"/>
              </a:ext>
            </a:extLst>
          </p:cNvPr>
          <p:cNvSpPr>
            <a:spLocks noGrp="1"/>
          </p:cNvSpPr>
          <p:nvPr/>
        </p:nvSpPr>
        <p:spPr>
          <a:xfrm>
            <a:off x="6286500" y="3895725"/>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TinyGLASS-384</a:t>
            </a:r>
          </a:p>
        </p:txBody>
      </p:sp>
      <p:pic>
        <p:nvPicPr>
          <p:cNvPr id="21" name="Immagine 20">
            <a:extLst>
              <a:ext uri="{FF2B5EF4-FFF2-40B4-BE49-F238E27FC236}">
                <a16:creationId xmlns:a16="http://schemas.microsoft.com/office/drawing/2014/main" id="{F76304FA-AAC5-49EA-9BD4-80DA7FD657FD}"/>
              </a:ext>
            </a:extLst>
          </p:cNvPr>
          <p:cNvPicPr>
            <a:picLocks noChangeAspect="1"/>
          </p:cNvPicPr>
          <p:nvPr/>
        </p:nvPicPr>
        <p:blipFill>
          <a:blip r:embed="rId3"/>
          <a:srcRect l="51625" t="48346" r="26917" b="13008"/>
          <a:stretch/>
        </p:blipFill>
        <p:spPr>
          <a:xfrm>
            <a:off x="6548438" y="4238625"/>
            <a:ext cx="1762125" cy="1758703"/>
          </a:xfrm>
          <a:prstGeom prst="rect">
            <a:avLst/>
          </a:prstGeom>
        </p:spPr>
      </p:pic>
      <p:sp>
        <p:nvSpPr>
          <p:cNvPr id="22" name="label-7">
            <a:extLst>
              <a:ext uri="{FF2B5EF4-FFF2-40B4-BE49-F238E27FC236}">
                <a16:creationId xmlns:a16="http://schemas.microsoft.com/office/drawing/2014/main" id="{D57E5C19-FFE6-4226-A227-7AC9D81407FE}"/>
              </a:ext>
            </a:extLst>
          </p:cNvPr>
          <p:cNvSpPr>
            <a:spLocks noGrp="1"/>
          </p:cNvSpPr>
          <p:nvPr/>
        </p:nvSpPr>
        <p:spPr>
          <a:xfrm>
            <a:off x="8953500" y="3895725"/>
            <a:ext cx="2286000" cy="295275"/>
          </a:xfrm>
          <a:prstGeom prst="rect">
            <a:avLst/>
          </a:prstGeom>
          <a:noFill/>
          <a:ln w="0">
            <a:noFill/>
          </a:ln>
        </p:spPr>
        <p:txBody>
          <a:bodyPr wrap="square" lIns="0" tIns="0" rIns="0" bIns="0" anchor="t">
            <a:noAutofit/>
          </a:bodyPr>
          <a:lstStyle>
            <a:defPPr algn="ctr">
              <a:defRPr sz="1800" b="0">
                <a:solidFill>
                  <a:srgbClr val="252525"/>
                </a:solidFill>
                <a:latin typeface="Roboto"/>
                <a:ea typeface="Roboto"/>
                <a:cs typeface="Roboto"/>
              </a:defRPr>
            </a:defPPr>
            <a:lvl1pPr algn="ctr">
              <a:defRPr sz="1800" b="0">
                <a:solidFill>
                  <a:srgbClr val="252525"/>
                </a:solidFill>
                <a:latin typeface="Roboto"/>
                <a:ea typeface="Roboto"/>
                <a:cs typeface="Roboto"/>
              </a:defRPr>
            </a:lvl1pPr>
            <a:lvl2pPr algn="ctr">
              <a:defRPr sz="1800" b="0">
                <a:solidFill>
                  <a:srgbClr val="252525"/>
                </a:solidFill>
                <a:latin typeface="Roboto"/>
                <a:ea typeface="Roboto"/>
                <a:cs typeface="Roboto"/>
              </a:defRPr>
            </a:lvl2pPr>
            <a:lvl3pPr algn="ctr">
              <a:defRPr sz="1800" b="0">
                <a:solidFill>
                  <a:srgbClr val="252525"/>
                </a:solidFill>
                <a:latin typeface="Roboto"/>
                <a:ea typeface="Roboto"/>
                <a:cs typeface="Roboto"/>
              </a:defRPr>
            </a:lvl3pPr>
            <a:lvl4pPr algn="ctr">
              <a:defRPr sz="1800" b="0">
                <a:solidFill>
                  <a:srgbClr val="252525"/>
                </a:solidFill>
                <a:latin typeface="Roboto"/>
                <a:ea typeface="Roboto"/>
                <a:cs typeface="Roboto"/>
              </a:defRPr>
            </a:lvl4pPr>
            <a:lvl5pPr algn="ctr">
              <a:defRPr sz="1800" b="0">
                <a:solidFill>
                  <a:srgbClr val="252525"/>
                </a:solidFill>
                <a:latin typeface="Roboto"/>
                <a:ea typeface="Roboto"/>
                <a:cs typeface="Roboto"/>
              </a:defRPr>
            </a:lvl5pPr>
            <a:lvl6pPr algn="ctr">
              <a:defRPr sz="1800" b="0">
                <a:solidFill>
                  <a:srgbClr val="252525"/>
                </a:solidFill>
                <a:latin typeface="Roboto"/>
                <a:ea typeface="Roboto"/>
                <a:cs typeface="Roboto"/>
              </a:defRPr>
            </a:lvl6pPr>
            <a:lvl7pPr algn="ctr">
              <a:defRPr sz="1800" b="0">
                <a:solidFill>
                  <a:srgbClr val="252525"/>
                </a:solidFill>
                <a:latin typeface="Roboto"/>
                <a:ea typeface="Roboto"/>
                <a:cs typeface="Roboto"/>
              </a:defRPr>
            </a:lvl7pPr>
            <a:lvl8pPr algn="ctr">
              <a:defRPr sz="1800" b="0">
                <a:solidFill>
                  <a:srgbClr val="252525"/>
                </a:solidFill>
                <a:latin typeface="Roboto"/>
                <a:ea typeface="Roboto"/>
                <a:cs typeface="Roboto"/>
              </a:defRPr>
            </a:lvl8pPr>
            <a:lvl9pPr algn="ctr">
              <a:defRPr sz="1800" b="0">
                <a:solidFill>
                  <a:srgbClr val="252525"/>
                </a:solidFill>
                <a:latin typeface="Roboto"/>
                <a:ea typeface="Roboto"/>
                <a:cs typeface="Roboto"/>
              </a:defRPr>
            </a:lvl9pPr>
          </a:lstStyle>
          <a:p>
            <a:pPr algn="ctr">
              <a:defRPr sz="1800" b="0">
                <a:solidFill>
                  <a:srgbClr val="252525"/>
                </a:solidFill>
                <a:latin typeface="Roboto"/>
                <a:ea typeface="Roboto"/>
                <a:cs typeface="Roboto"/>
              </a:defRPr>
            </a:pPr>
            <a:r>
              <a:rPr sz="1800" b="0">
                <a:solidFill>
                  <a:srgbClr val="252525"/>
                </a:solidFill>
                <a:latin typeface="Roboto"/>
                <a:ea typeface="Roboto"/>
                <a:cs typeface="Roboto"/>
              </a:rPr>
              <a:t>TinyGLASS-512</a:t>
            </a:r>
          </a:p>
        </p:txBody>
      </p:sp>
      <p:pic>
        <p:nvPicPr>
          <p:cNvPr id="23" name="Immagine 22">
            <a:extLst>
              <a:ext uri="{FF2B5EF4-FFF2-40B4-BE49-F238E27FC236}">
                <a16:creationId xmlns:a16="http://schemas.microsoft.com/office/drawing/2014/main" id="{3681A613-26A9-4400-8AA1-E9C4D7E7D4C3}"/>
              </a:ext>
            </a:extLst>
          </p:cNvPr>
          <p:cNvPicPr>
            <a:picLocks noChangeAspect="1"/>
          </p:cNvPicPr>
          <p:nvPr/>
        </p:nvPicPr>
        <p:blipFill>
          <a:blip r:embed="rId3"/>
          <a:srcRect l="76333" t="48346" r="2208" b="13008"/>
          <a:stretch/>
        </p:blipFill>
        <p:spPr>
          <a:xfrm>
            <a:off x="9215438" y="4238625"/>
            <a:ext cx="1762125" cy="1758703"/>
          </a:xfrm>
          <a:prstGeom prst="rect">
            <a:avLst/>
          </a:prstGeom>
        </p:spPr>
      </p:pic>
      <p:sp>
        <p:nvSpPr>
          <p:cNvPr id="24" name="colorbar-label">
            <a:extLst>
              <a:ext uri="{FF2B5EF4-FFF2-40B4-BE49-F238E27FC236}">
                <a16:creationId xmlns:a16="http://schemas.microsoft.com/office/drawing/2014/main" id="{F5967DFC-66D6-47DA-8B73-7152C580F7BB}"/>
              </a:ext>
            </a:extLst>
          </p:cNvPr>
          <p:cNvSpPr>
            <a:spLocks noGrp="1"/>
          </p:cNvSpPr>
          <p:nvPr/>
        </p:nvSpPr>
        <p:spPr>
          <a:xfrm>
            <a:off x="2381250" y="6153150"/>
            <a:ext cx="3143250" cy="247650"/>
          </a:xfrm>
          <a:prstGeom prst="rect">
            <a:avLst/>
          </a:prstGeom>
          <a:noFill/>
          <a:ln w="0">
            <a:noFill/>
          </a:ln>
        </p:spPr>
        <p:txBody>
          <a:bodyPr wrap="square" lIns="0" tIns="0" rIns="0" bIns="0" anchor="t">
            <a:noAutofit/>
          </a:bodyPr>
          <a:lstStyle>
            <a:defPPr algn="l">
              <a:defRPr sz="1400" b="0">
                <a:solidFill>
                  <a:srgbClr val="626975"/>
                </a:solidFill>
                <a:latin typeface="Roboto"/>
                <a:ea typeface="Roboto"/>
                <a:cs typeface="Roboto"/>
              </a:defRPr>
            </a:defPPr>
            <a:lvl1pPr algn="l">
              <a:defRPr sz="1400" b="0">
                <a:solidFill>
                  <a:srgbClr val="626975"/>
                </a:solidFill>
                <a:latin typeface="Roboto"/>
                <a:ea typeface="Roboto"/>
                <a:cs typeface="Roboto"/>
              </a:defRPr>
            </a:lvl1pPr>
            <a:lvl2pPr algn="l">
              <a:defRPr sz="1400" b="0">
                <a:solidFill>
                  <a:srgbClr val="626975"/>
                </a:solidFill>
                <a:latin typeface="Roboto"/>
                <a:ea typeface="Roboto"/>
                <a:cs typeface="Roboto"/>
              </a:defRPr>
            </a:lvl2pPr>
            <a:lvl3pPr algn="l">
              <a:defRPr sz="1400" b="0">
                <a:solidFill>
                  <a:srgbClr val="626975"/>
                </a:solidFill>
                <a:latin typeface="Roboto"/>
                <a:ea typeface="Roboto"/>
                <a:cs typeface="Roboto"/>
              </a:defRPr>
            </a:lvl3pPr>
            <a:lvl4pPr algn="l">
              <a:defRPr sz="1400" b="0">
                <a:solidFill>
                  <a:srgbClr val="626975"/>
                </a:solidFill>
                <a:latin typeface="Roboto"/>
                <a:ea typeface="Roboto"/>
                <a:cs typeface="Roboto"/>
              </a:defRPr>
            </a:lvl4pPr>
            <a:lvl5pPr algn="l">
              <a:defRPr sz="1400" b="0">
                <a:solidFill>
                  <a:srgbClr val="626975"/>
                </a:solidFill>
                <a:latin typeface="Roboto"/>
                <a:ea typeface="Roboto"/>
                <a:cs typeface="Roboto"/>
              </a:defRPr>
            </a:lvl5pPr>
            <a:lvl6pPr algn="l">
              <a:defRPr sz="1400" b="0">
                <a:solidFill>
                  <a:srgbClr val="626975"/>
                </a:solidFill>
                <a:latin typeface="Roboto"/>
                <a:ea typeface="Roboto"/>
                <a:cs typeface="Roboto"/>
              </a:defRPr>
            </a:lvl6pPr>
            <a:lvl7pPr algn="l">
              <a:defRPr sz="1400" b="0">
                <a:solidFill>
                  <a:srgbClr val="626975"/>
                </a:solidFill>
                <a:latin typeface="Roboto"/>
                <a:ea typeface="Roboto"/>
                <a:cs typeface="Roboto"/>
              </a:defRPr>
            </a:lvl7pPr>
            <a:lvl8pPr algn="l">
              <a:defRPr sz="1400" b="0">
                <a:solidFill>
                  <a:srgbClr val="626975"/>
                </a:solidFill>
                <a:latin typeface="Roboto"/>
                <a:ea typeface="Roboto"/>
                <a:cs typeface="Roboto"/>
              </a:defRPr>
            </a:lvl8pPr>
            <a:lvl9pPr algn="l">
              <a:defRPr sz="1400" b="0">
                <a:solidFill>
                  <a:srgbClr val="626975"/>
                </a:solidFill>
                <a:latin typeface="Roboto"/>
                <a:ea typeface="Roboto"/>
                <a:cs typeface="Roboto"/>
              </a:defRPr>
            </a:lvl9pPr>
          </a:lstStyle>
          <a:p>
            <a:pPr algn="l">
              <a:defRPr sz="1400" b="0">
                <a:solidFill>
                  <a:srgbClr val="626975"/>
                </a:solidFill>
                <a:latin typeface="Roboto"/>
                <a:ea typeface="Roboto"/>
                <a:cs typeface="Roboto"/>
              </a:defRPr>
            </a:pPr>
            <a:r>
              <a:rPr sz="1400" b="0">
                <a:solidFill>
                  <a:srgbClr val="626975"/>
                </a:solidFill>
                <a:latin typeface="Roboto"/>
                <a:ea typeface="Roboto"/>
                <a:cs typeface="Roboto"/>
              </a:rPr>
              <a:t>Normalized anomaly score</a:t>
            </a:r>
          </a:p>
        </p:txBody>
      </p:sp>
      <p:pic>
        <p:nvPicPr>
          <p:cNvPr id="25" name="Immagine 24">
            <a:extLst>
              <a:ext uri="{FF2B5EF4-FFF2-40B4-BE49-F238E27FC236}">
                <a16:creationId xmlns:a16="http://schemas.microsoft.com/office/drawing/2014/main" id="{1D567F2E-EF8F-4B26-897B-6E6FEAFCB3EB}"/>
              </a:ext>
            </a:extLst>
          </p:cNvPr>
          <p:cNvPicPr>
            <a:picLocks noChangeAspect="1"/>
          </p:cNvPicPr>
          <p:nvPr/>
        </p:nvPicPr>
        <p:blipFill>
          <a:blip r:embed="rId3"/>
          <a:srcRect l="29917" t="92030" r="29917" b="5865"/>
          <a:stretch/>
        </p:blipFill>
        <p:spPr>
          <a:xfrm>
            <a:off x="5715000" y="6172200"/>
            <a:ext cx="3048000" cy="88531"/>
          </a:xfrm>
          <a:prstGeom prst="rect">
            <a:avLst/>
          </a:prstGeom>
        </p:spPr>
      </p:pic>
      <p:sp>
        <p:nvSpPr>
          <p:cNvPr id="26" name="colorbar-min">
            <a:extLst>
              <a:ext uri="{FF2B5EF4-FFF2-40B4-BE49-F238E27FC236}">
                <a16:creationId xmlns:a16="http://schemas.microsoft.com/office/drawing/2014/main" id="{61A32A17-3A59-4FC8-9E62-49FC7077C524}"/>
              </a:ext>
            </a:extLst>
          </p:cNvPr>
          <p:cNvSpPr>
            <a:spLocks noGrp="1"/>
          </p:cNvSpPr>
          <p:nvPr/>
        </p:nvSpPr>
        <p:spPr>
          <a:xfrm>
            <a:off x="5572125" y="6315075"/>
            <a:ext cx="285750" cy="200025"/>
          </a:xfrm>
          <a:prstGeom prst="rect">
            <a:avLst/>
          </a:prstGeom>
          <a:noFill/>
          <a:ln w="0">
            <a:noFill/>
          </a:ln>
        </p:spPr>
        <p:txBody>
          <a:bodyPr wrap="square" lIns="0" tIns="0" rIns="0" bIns="0" anchor="t">
            <a:noAutofit/>
          </a:bodyPr>
          <a:lstStyle>
            <a:defPPr algn="ctr">
              <a:defRPr sz="1200" b="0">
                <a:solidFill>
                  <a:srgbClr val="626975"/>
                </a:solidFill>
                <a:latin typeface="Roboto"/>
                <a:ea typeface="Roboto"/>
                <a:cs typeface="Roboto"/>
              </a:defRPr>
            </a:defPPr>
            <a:lvl1pPr algn="ctr">
              <a:defRPr sz="1200" b="0">
                <a:solidFill>
                  <a:srgbClr val="626975"/>
                </a:solidFill>
                <a:latin typeface="Roboto"/>
                <a:ea typeface="Roboto"/>
                <a:cs typeface="Roboto"/>
              </a:defRPr>
            </a:lvl1pPr>
            <a:lvl2pPr algn="ctr">
              <a:defRPr sz="1200" b="0">
                <a:solidFill>
                  <a:srgbClr val="626975"/>
                </a:solidFill>
                <a:latin typeface="Roboto"/>
                <a:ea typeface="Roboto"/>
                <a:cs typeface="Roboto"/>
              </a:defRPr>
            </a:lvl2pPr>
            <a:lvl3pPr algn="ctr">
              <a:defRPr sz="1200" b="0">
                <a:solidFill>
                  <a:srgbClr val="626975"/>
                </a:solidFill>
                <a:latin typeface="Roboto"/>
                <a:ea typeface="Roboto"/>
                <a:cs typeface="Roboto"/>
              </a:defRPr>
            </a:lvl3pPr>
            <a:lvl4pPr algn="ctr">
              <a:defRPr sz="1200" b="0">
                <a:solidFill>
                  <a:srgbClr val="626975"/>
                </a:solidFill>
                <a:latin typeface="Roboto"/>
                <a:ea typeface="Roboto"/>
                <a:cs typeface="Roboto"/>
              </a:defRPr>
            </a:lvl4pPr>
            <a:lvl5pPr algn="ctr">
              <a:defRPr sz="1200" b="0">
                <a:solidFill>
                  <a:srgbClr val="626975"/>
                </a:solidFill>
                <a:latin typeface="Roboto"/>
                <a:ea typeface="Roboto"/>
                <a:cs typeface="Roboto"/>
              </a:defRPr>
            </a:lvl5pPr>
            <a:lvl6pPr algn="ctr">
              <a:defRPr sz="1200" b="0">
                <a:solidFill>
                  <a:srgbClr val="626975"/>
                </a:solidFill>
                <a:latin typeface="Roboto"/>
                <a:ea typeface="Roboto"/>
                <a:cs typeface="Roboto"/>
              </a:defRPr>
            </a:lvl6pPr>
            <a:lvl7pPr algn="ctr">
              <a:defRPr sz="1200" b="0">
                <a:solidFill>
                  <a:srgbClr val="626975"/>
                </a:solidFill>
                <a:latin typeface="Roboto"/>
                <a:ea typeface="Roboto"/>
                <a:cs typeface="Roboto"/>
              </a:defRPr>
            </a:lvl7pPr>
            <a:lvl8pPr algn="ctr">
              <a:defRPr sz="1200" b="0">
                <a:solidFill>
                  <a:srgbClr val="626975"/>
                </a:solidFill>
                <a:latin typeface="Roboto"/>
                <a:ea typeface="Roboto"/>
                <a:cs typeface="Roboto"/>
              </a:defRPr>
            </a:lvl8pPr>
            <a:lvl9pPr algn="ctr">
              <a:defRPr sz="1200" b="0">
                <a:solidFill>
                  <a:srgbClr val="626975"/>
                </a:solidFill>
                <a:latin typeface="Roboto"/>
                <a:ea typeface="Roboto"/>
                <a:cs typeface="Roboto"/>
              </a:defRPr>
            </a:lvl9pPr>
          </a:lstStyle>
          <a:p>
            <a:pPr algn="ctr">
              <a:defRPr sz="1200" b="0">
                <a:solidFill>
                  <a:srgbClr val="626975"/>
                </a:solidFill>
                <a:latin typeface="Roboto"/>
                <a:ea typeface="Roboto"/>
                <a:cs typeface="Roboto"/>
              </a:defRPr>
            </a:pPr>
            <a:r>
              <a:rPr sz="1200" b="0">
                <a:solidFill>
                  <a:srgbClr val="626975"/>
                </a:solidFill>
                <a:latin typeface="Roboto"/>
                <a:ea typeface="Roboto"/>
                <a:cs typeface="Roboto"/>
              </a:rPr>
              <a:t>0</a:t>
            </a:r>
          </a:p>
        </p:txBody>
      </p:sp>
      <p:sp>
        <p:nvSpPr>
          <p:cNvPr id="27" name="colorbar-mid">
            <a:extLst>
              <a:ext uri="{FF2B5EF4-FFF2-40B4-BE49-F238E27FC236}">
                <a16:creationId xmlns:a16="http://schemas.microsoft.com/office/drawing/2014/main" id="{8860A3EE-2948-4DC3-AD04-FF6FE6208C96}"/>
              </a:ext>
            </a:extLst>
          </p:cNvPr>
          <p:cNvSpPr>
            <a:spLocks noGrp="1"/>
          </p:cNvSpPr>
          <p:nvPr/>
        </p:nvSpPr>
        <p:spPr>
          <a:xfrm>
            <a:off x="7048500" y="6315075"/>
            <a:ext cx="381000" cy="200025"/>
          </a:xfrm>
          <a:prstGeom prst="rect">
            <a:avLst/>
          </a:prstGeom>
          <a:noFill/>
          <a:ln w="0">
            <a:noFill/>
          </a:ln>
        </p:spPr>
        <p:txBody>
          <a:bodyPr wrap="square" lIns="0" tIns="0" rIns="0" bIns="0" anchor="t">
            <a:noAutofit/>
          </a:bodyPr>
          <a:lstStyle>
            <a:defPPr algn="ctr">
              <a:defRPr sz="1200" b="0">
                <a:solidFill>
                  <a:srgbClr val="626975"/>
                </a:solidFill>
                <a:latin typeface="Roboto"/>
                <a:ea typeface="Roboto"/>
                <a:cs typeface="Roboto"/>
              </a:defRPr>
            </a:defPPr>
            <a:lvl1pPr algn="ctr">
              <a:defRPr sz="1200" b="0">
                <a:solidFill>
                  <a:srgbClr val="626975"/>
                </a:solidFill>
                <a:latin typeface="Roboto"/>
                <a:ea typeface="Roboto"/>
                <a:cs typeface="Roboto"/>
              </a:defRPr>
            </a:lvl1pPr>
            <a:lvl2pPr algn="ctr">
              <a:defRPr sz="1200" b="0">
                <a:solidFill>
                  <a:srgbClr val="626975"/>
                </a:solidFill>
                <a:latin typeface="Roboto"/>
                <a:ea typeface="Roboto"/>
                <a:cs typeface="Roboto"/>
              </a:defRPr>
            </a:lvl2pPr>
            <a:lvl3pPr algn="ctr">
              <a:defRPr sz="1200" b="0">
                <a:solidFill>
                  <a:srgbClr val="626975"/>
                </a:solidFill>
                <a:latin typeface="Roboto"/>
                <a:ea typeface="Roboto"/>
                <a:cs typeface="Roboto"/>
              </a:defRPr>
            </a:lvl3pPr>
            <a:lvl4pPr algn="ctr">
              <a:defRPr sz="1200" b="0">
                <a:solidFill>
                  <a:srgbClr val="626975"/>
                </a:solidFill>
                <a:latin typeface="Roboto"/>
                <a:ea typeface="Roboto"/>
                <a:cs typeface="Roboto"/>
              </a:defRPr>
            </a:lvl4pPr>
            <a:lvl5pPr algn="ctr">
              <a:defRPr sz="1200" b="0">
                <a:solidFill>
                  <a:srgbClr val="626975"/>
                </a:solidFill>
                <a:latin typeface="Roboto"/>
                <a:ea typeface="Roboto"/>
                <a:cs typeface="Roboto"/>
              </a:defRPr>
            </a:lvl5pPr>
            <a:lvl6pPr algn="ctr">
              <a:defRPr sz="1200" b="0">
                <a:solidFill>
                  <a:srgbClr val="626975"/>
                </a:solidFill>
                <a:latin typeface="Roboto"/>
                <a:ea typeface="Roboto"/>
                <a:cs typeface="Roboto"/>
              </a:defRPr>
            </a:lvl6pPr>
            <a:lvl7pPr algn="ctr">
              <a:defRPr sz="1200" b="0">
                <a:solidFill>
                  <a:srgbClr val="626975"/>
                </a:solidFill>
                <a:latin typeface="Roboto"/>
                <a:ea typeface="Roboto"/>
                <a:cs typeface="Roboto"/>
              </a:defRPr>
            </a:lvl7pPr>
            <a:lvl8pPr algn="ctr">
              <a:defRPr sz="1200" b="0">
                <a:solidFill>
                  <a:srgbClr val="626975"/>
                </a:solidFill>
                <a:latin typeface="Roboto"/>
                <a:ea typeface="Roboto"/>
                <a:cs typeface="Roboto"/>
              </a:defRPr>
            </a:lvl8pPr>
            <a:lvl9pPr algn="ctr">
              <a:defRPr sz="1200" b="0">
                <a:solidFill>
                  <a:srgbClr val="626975"/>
                </a:solidFill>
                <a:latin typeface="Roboto"/>
                <a:ea typeface="Roboto"/>
                <a:cs typeface="Roboto"/>
              </a:defRPr>
            </a:lvl9pPr>
          </a:lstStyle>
          <a:p>
            <a:pPr algn="ctr">
              <a:defRPr sz="1200" b="0">
                <a:solidFill>
                  <a:srgbClr val="626975"/>
                </a:solidFill>
                <a:latin typeface="Roboto"/>
                <a:ea typeface="Roboto"/>
                <a:cs typeface="Roboto"/>
              </a:defRPr>
            </a:pPr>
            <a:r>
              <a:rPr sz="1200" b="0">
                <a:solidFill>
                  <a:srgbClr val="626975"/>
                </a:solidFill>
                <a:latin typeface="Roboto"/>
                <a:ea typeface="Roboto"/>
                <a:cs typeface="Roboto"/>
              </a:rPr>
              <a:t>0.5</a:t>
            </a:r>
          </a:p>
        </p:txBody>
      </p:sp>
      <p:sp>
        <p:nvSpPr>
          <p:cNvPr id="28" name="colorbar-max">
            <a:extLst>
              <a:ext uri="{FF2B5EF4-FFF2-40B4-BE49-F238E27FC236}">
                <a16:creationId xmlns:a16="http://schemas.microsoft.com/office/drawing/2014/main" id="{10800CBC-756A-47E2-9B08-DF5C5BC5F43D}"/>
              </a:ext>
            </a:extLst>
          </p:cNvPr>
          <p:cNvSpPr>
            <a:spLocks noGrp="1"/>
          </p:cNvSpPr>
          <p:nvPr/>
        </p:nvSpPr>
        <p:spPr>
          <a:xfrm>
            <a:off x="8620125" y="6315075"/>
            <a:ext cx="285750" cy="200025"/>
          </a:xfrm>
          <a:prstGeom prst="rect">
            <a:avLst/>
          </a:prstGeom>
          <a:noFill/>
          <a:ln w="0">
            <a:noFill/>
          </a:ln>
        </p:spPr>
        <p:txBody>
          <a:bodyPr wrap="square" lIns="0" tIns="0" rIns="0" bIns="0" anchor="t">
            <a:noAutofit/>
          </a:bodyPr>
          <a:lstStyle>
            <a:defPPr algn="ctr">
              <a:defRPr sz="1200" b="0">
                <a:solidFill>
                  <a:srgbClr val="626975"/>
                </a:solidFill>
                <a:latin typeface="Roboto"/>
                <a:ea typeface="Roboto"/>
                <a:cs typeface="Roboto"/>
              </a:defRPr>
            </a:defPPr>
            <a:lvl1pPr algn="ctr">
              <a:defRPr sz="1200" b="0">
                <a:solidFill>
                  <a:srgbClr val="626975"/>
                </a:solidFill>
                <a:latin typeface="Roboto"/>
                <a:ea typeface="Roboto"/>
                <a:cs typeface="Roboto"/>
              </a:defRPr>
            </a:lvl1pPr>
            <a:lvl2pPr algn="ctr">
              <a:defRPr sz="1200" b="0">
                <a:solidFill>
                  <a:srgbClr val="626975"/>
                </a:solidFill>
                <a:latin typeface="Roboto"/>
                <a:ea typeface="Roboto"/>
                <a:cs typeface="Roboto"/>
              </a:defRPr>
            </a:lvl2pPr>
            <a:lvl3pPr algn="ctr">
              <a:defRPr sz="1200" b="0">
                <a:solidFill>
                  <a:srgbClr val="626975"/>
                </a:solidFill>
                <a:latin typeface="Roboto"/>
                <a:ea typeface="Roboto"/>
                <a:cs typeface="Roboto"/>
              </a:defRPr>
            </a:lvl3pPr>
            <a:lvl4pPr algn="ctr">
              <a:defRPr sz="1200" b="0">
                <a:solidFill>
                  <a:srgbClr val="626975"/>
                </a:solidFill>
                <a:latin typeface="Roboto"/>
                <a:ea typeface="Roboto"/>
                <a:cs typeface="Roboto"/>
              </a:defRPr>
            </a:lvl4pPr>
            <a:lvl5pPr algn="ctr">
              <a:defRPr sz="1200" b="0">
                <a:solidFill>
                  <a:srgbClr val="626975"/>
                </a:solidFill>
                <a:latin typeface="Roboto"/>
                <a:ea typeface="Roboto"/>
                <a:cs typeface="Roboto"/>
              </a:defRPr>
            </a:lvl5pPr>
            <a:lvl6pPr algn="ctr">
              <a:defRPr sz="1200" b="0">
                <a:solidFill>
                  <a:srgbClr val="626975"/>
                </a:solidFill>
                <a:latin typeface="Roboto"/>
                <a:ea typeface="Roboto"/>
                <a:cs typeface="Roboto"/>
              </a:defRPr>
            </a:lvl6pPr>
            <a:lvl7pPr algn="ctr">
              <a:defRPr sz="1200" b="0">
                <a:solidFill>
                  <a:srgbClr val="626975"/>
                </a:solidFill>
                <a:latin typeface="Roboto"/>
                <a:ea typeface="Roboto"/>
                <a:cs typeface="Roboto"/>
              </a:defRPr>
            </a:lvl7pPr>
            <a:lvl8pPr algn="ctr">
              <a:defRPr sz="1200" b="0">
                <a:solidFill>
                  <a:srgbClr val="626975"/>
                </a:solidFill>
                <a:latin typeface="Roboto"/>
                <a:ea typeface="Roboto"/>
                <a:cs typeface="Roboto"/>
              </a:defRPr>
            </a:lvl8pPr>
            <a:lvl9pPr algn="ctr">
              <a:defRPr sz="1200" b="0">
                <a:solidFill>
                  <a:srgbClr val="626975"/>
                </a:solidFill>
                <a:latin typeface="Roboto"/>
                <a:ea typeface="Roboto"/>
                <a:cs typeface="Roboto"/>
              </a:defRPr>
            </a:lvl9pPr>
          </a:lstStyle>
          <a:p>
            <a:pPr algn="ctr">
              <a:defRPr sz="1200" b="0">
                <a:solidFill>
                  <a:srgbClr val="626975"/>
                </a:solidFill>
                <a:latin typeface="Roboto"/>
                <a:ea typeface="Roboto"/>
                <a:cs typeface="Roboto"/>
              </a:defRPr>
            </a:pPr>
            <a:r>
              <a:rPr sz="1200" b="0">
                <a:solidFill>
                  <a:srgbClr val="626975"/>
                </a:solidFill>
                <a:latin typeface="Roboto"/>
                <a:ea typeface="Roboto"/>
                <a:cs typeface="Roboto"/>
              </a:rPr>
              <a:t>1</a:t>
            </a:r>
          </a:p>
        </p:txBody>
      </p:sp>
      <p:sp>
        <p:nvSpPr>
          <p:cNvPr id="29" name="extra-page-number">
            <a:extLst>
              <a:ext uri="{FF2B5EF4-FFF2-40B4-BE49-F238E27FC236}">
                <a16:creationId xmlns:a16="http://schemas.microsoft.com/office/drawing/2014/main" id="{1FE6D48B-1A56-4AD8-A0D2-D0B120564F19}"/>
              </a:ext>
            </a:extLst>
          </p:cNvPr>
          <p:cNvSpPr>
            <a:spLocks noGrp="1"/>
          </p:cNvSpPr>
          <p:nvPr/>
        </p:nvSpPr>
        <p:spPr>
          <a:xfrm>
            <a:off x="10810875" y="6581775"/>
            <a:ext cx="914400" cy="219075"/>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57/25</a:t>
            </a:r>
          </a:p>
        </p:txBody>
      </p:sp>
    </p:spTree>
    <p:extLst>
      <p:ext uri="{BB962C8B-B14F-4D97-AF65-F5344CB8AC3E}">
        <p14:creationId xmlns:p14="http://schemas.microsoft.com/office/powerpoint/2010/main" val="36545819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Google Shape;103;p14">
            <a:extLst>
              <a:ext uri="{FF2B5EF4-FFF2-40B4-BE49-F238E27FC236}">
                <a16:creationId xmlns:a16="http://schemas.microsoft.com/office/drawing/2014/main" id="{504A17F8-E2ED-6EF8-07F5-9ABB93526B54}"/>
              </a:ext>
            </a:extLst>
          </p:cNvPr>
          <p:cNvSpPr>
            <a:spLocks noGrp="1"/>
          </p:cNvSpPr>
          <p:nvPr>
            <p:ph type="ftr" idx="11"/>
          </p:nvPr>
        </p:nvSpPr>
        <p:spPr>
          <a:xfrm>
            <a:off x="4119" y="6461660"/>
            <a:ext cx="11353800" cy="396240"/>
          </a:xfrm>
          <a:prstGeom prst="rect">
            <a:avLst/>
          </a:prstGeom>
          <a:noFill/>
          <a:ln>
            <a:noFill/>
          </a:ln>
        </p:spPr>
        <p:txBody>
          <a:bodyPr spcFirstLastPara="1" wrap="square" lIns="91425" tIns="45700" rIns="91425" bIns="45700" anchor="ctr">
            <a:noAutofit/>
          </a:bodyPr>
          <a:lstStyle/>
          <a:p>
            <a:pPr lvl="0" algn="l">
              <a:buClr>
                <a:schemeClr val="dk1"/>
              </a:buClr>
              <a:buNone/>
            </a:pPr>
            <a:r>
              <a:rPr sz="1000">
                <a:solidFill>
                  <a:srgbClr val="822433"/>
                </a:solidFill>
                <a:latin typeface="Roboto"/>
                <a:ea typeface="Roboto"/>
                <a:cs typeface="Roboto"/>
              </a:rPr>
              <a:t>               Lightweight Scene Understanding and Synthetic Data-Driven Damage Inspection for Martian Rovers                                                                     27/10/2026</a:t>
            </a:r>
          </a:p>
        </p:txBody>
      </p:sp>
      <p:sp>
        <p:nvSpPr>
          <p:cNvPr id="6" name="Title 1">
            <a:extLst>
              <a:ext uri="{FF2B5EF4-FFF2-40B4-BE49-F238E27FC236}">
                <a16:creationId xmlns:a16="http://schemas.microsoft.com/office/drawing/2014/main" id="{2D934C9C-861C-48FD-819B-2DAA55C30738}"/>
              </a:ext>
            </a:extLst>
          </p:cNvPr>
          <p:cNvSpPr>
            <a:spLocks noGrp="1"/>
          </p:cNvSpPr>
          <p:nvPr/>
        </p:nvSpPr>
        <p:spPr>
          <a:xfrm>
            <a:off x="952500" y="490538"/>
            <a:ext cx="9810750" cy="781050"/>
          </a:xfrm>
          <a:prstGeom prst="rect">
            <a:avLst/>
          </a:prstGeom>
          <a:noFill/>
          <a:ln w="0">
            <a:noFill/>
          </a:ln>
        </p:spPr>
        <p:txBody>
          <a:bodyPr wrap="square" lIns="0" tIns="0" rIns="0" bIns="0" anchor="t">
            <a:noAutofit/>
          </a:bodyPr>
          <a:lstStyle>
            <a:defPPr algn="l">
              <a:defRPr sz="4400" b="0">
                <a:solidFill>
                  <a:srgbClr val="822433"/>
                </a:solidFill>
                <a:latin typeface="Roboto"/>
                <a:ea typeface="Roboto"/>
                <a:cs typeface="Roboto"/>
              </a:defRPr>
            </a:defPPr>
            <a:lvl1pPr algn="l">
              <a:defRPr sz="4400" b="0">
                <a:solidFill>
                  <a:srgbClr val="822433"/>
                </a:solidFill>
                <a:latin typeface="Roboto"/>
                <a:ea typeface="Roboto"/>
                <a:cs typeface="Roboto"/>
              </a:defRPr>
            </a:lvl1pPr>
            <a:lvl2pPr algn="l">
              <a:defRPr sz="4400" b="0">
                <a:solidFill>
                  <a:srgbClr val="822433"/>
                </a:solidFill>
                <a:latin typeface="Roboto"/>
                <a:ea typeface="Roboto"/>
                <a:cs typeface="Roboto"/>
              </a:defRPr>
            </a:lvl2pPr>
            <a:lvl3pPr algn="l">
              <a:defRPr sz="4400" b="0">
                <a:solidFill>
                  <a:srgbClr val="822433"/>
                </a:solidFill>
                <a:latin typeface="Roboto"/>
                <a:ea typeface="Roboto"/>
                <a:cs typeface="Roboto"/>
              </a:defRPr>
            </a:lvl3pPr>
            <a:lvl4pPr algn="l">
              <a:defRPr sz="4400" b="0">
                <a:solidFill>
                  <a:srgbClr val="822433"/>
                </a:solidFill>
                <a:latin typeface="Roboto"/>
                <a:ea typeface="Roboto"/>
                <a:cs typeface="Roboto"/>
              </a:defRPr>
            </a:lvl4pPr>
            <a:lvl5pPr algn="l">
              <a:defRPr sz="4400" b="0">
                <a:solidFill>
                  <a:srgbClr val="822433"/>
                </a:solidFill>
                <a:latin typeface="Roboto"/>
                <a:ea typeface="Roboto"/>
                <a:cs typeface="Roboto"/>
              </a:defRPr>
            </a:lvl5pPr>
            <a:lvl6pPr algn="l">
              <a:defRPr sz="4400" b="0">
                <a:solidFill>
                  <a:srgbClr val="822433"/>
                </a:solidFill>
                <a:latin typeface="Roboto"/>
                <a:ea typeface="Roboto"/>
                <a:cs typeface="Roboto"/>
              </a:defRPr>
            </a:lvl6pPr>
            <a:lvl7pPr algn="l">
              <a:defRPr sz="4400" b="0">
                <a:solidFill>
                  <a:srgbClr val="822433"/>
                </a:solidFill>
                <a:latin typeface="Roboto"/>
                <a:ea typeface="Roboto"/>
                <a:cs typeface="Roboto"/>
              </a:defRPr>
            </a:lvl7pPr>
            <a:lvl8pPr algn="l">
              <a:defRPr sz="4400" b="0">
                <a:solidFill>
                  <a:srgbClr val="822433"/>
                </a:solidFill>
                <a:latin typeface="Roboto"/>
                <a:ea typeface="Roboto"/>
                <a:cs typeface="Roboto"/>
              </a:defRPr>
            </a:lvl8pPr>
            <a:lvl9pPr algn="l">
              <a:defRPr sz="4400" b="0">
                <a:solidFill>
                  <a:srgbClr val="822433"/>
                </a:solidFill>
                <a:latin typeface="Roboto"/>
                <a:ea typeface="Roboto"/>
                <a:cs typeface="Roboto"/>
              </a:defRPr>
            </a:lvl9pPr>
          </a:lstStyle>
          <a:p>
            <a:pPr algn="l">
              <a:defRPr sz="4400" b="0">
                <a:solidFill>
                  <a:srgbClr val="822433"/>
                </a:solidFill>
                <a:latin typeface="Roboto"/>
                <a:ea typeface="Roboto"/>
                <a:cs typeface="Roboto"/>
              </a:defRPr>
            </a:pPr>
            <a:r>
              <a:rPr sz="4400" b="0">
                <a:solidFill>
                  <a:srgbClr val="822433"/>
                </a:solidFill>
                <a:latin typeface="Roboto"/>
                <a:ea typeface="Roboto"/>
                <a:cs typeface="Roboto"/>
              </a:rPr>
              <a:t>Extra: SSN pose and crop</a:t>
            </a:r>
          </a:p>
        </p:txBody>
      </p:sp>
      <p:graphicFrame>
        <p:nvGraphicFramePr>
          <p:cNvPr id="8" name="Tabella 7">
            <a:extLst>
              <a:ext uri="{FF2B5EF4-FFF2-40B4-BE49-F238E27FC236}">
                <a16:creationId xmlns:a16="http://schemas.microsoft.com/office/drawing/2014/main" id="{C6DE4C96-0CA8-4C28-9305-B6BC2DFEA851}"/>
              </a:ext>
            </a:extLst>
          </p:cNvPr>
          <p:cNvGraphicFramePr/>
          <p:nvPr/>
        </p:nvGraphicFramePr>
        <p:xfrm>
          <a:off x="952500" y="2143125"/>
          <a:ext cx="10287000" cy="3000374"/>
        </p:xfrm>
        <a:graphic>
          <a:graphicData uri="http://schemas.openxmlformats.org/drawingml/2006/table">
            <a:tbl>
              <a:tblPr/>
              <a:tblGrid>
                <a:gridCol w="323850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762125">
                  <a:extLst>
                    <a:ext uri="{9D8B030D-6E8A-4147-A177-3AD203B41FA5}">
                      <a16:colId xmlns:a16="http://schemas.microsoft.com/office/drawing/2014/main" val="20002"/>
                    </a:ext>
                  </a:extLst>
                </a:gridCol>
                <a:gridCol w="1762125">
                  <a:extLst>
                    <a:ext uri="{9D8B030D-6E8A-4147-A177-3AD203B41FA5}">
                      <a16:colId xmlns:a16="http://schemas.microsoft.com/office/drawing/2014/main" val="20003"/>
                    </a:ext>
                  </a:extLst>
                </a:gridCol>
                <a:gridCol w="1762125">
                  <a:extLst>
                    <a:ext uri="{9D8B030D-6E8A-4147-A177-3AD203B41FA5}">
                      <a16:colId xmlns:a16="http://schemas.microsoft.com/office/drawing/2014/main" val="20004"/>
                    </a:ext>
                  </a:extLst>
                </a:gridCol>
              </a:tblGrid>
              <a:tr h="742950">
                <a:tc>
                  <a:txBody>
                    <a:bodyPr/>
                    <a:lstStyle/>
                    <a:p>
                      <a:pPr algn="l"/>
                      <a:r>
                        <a:rPr sz="2000" b="1">
                          <a:solidFill>
                            <a:srgbClr val="FFFFFF"/>
                          </a:solidFill>
                          <a:latin typeface="Roboto"/>
                          <a:ea typeface="Roboto"/>
                          <a:cs typeface="Roboto"/>
                        </a:rPr>
                        <a:t>Metric (%)</a:t>
                      </a:r>
                    </a:p>
                  </a:txBody>
                  <a:tcPr marL="114300" marR="114300" marT="47625" marB="47625" anchor="ctr">
                    <a:lnL w="953">
                      <a:solidFill>
                        <a:srgbClr val="FFFFFF"/>
                      </a:solidFill>
                      <a:prstDash val="soli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2000" b="1">
                          <a:solidFill>
                            <a:srgbClr val="FFFFFF"/>
                          </a:solidFill>
                          <a:latin typeface="Roboto"/>
                          <a:ea typeface="Roboto"/>
                          <a:cs typeface="Roboto"/>
                        </a:rPr>
                        <a:t>All poses</a:t>
                      </a:r>
                    </a:p>
                    <a:p>
                      <a:pPr algn="ctr"/>
                      <a:r>
                        <a:rPr sz="2000" b="1">
                          <a:solidFill>
                            <a:srgbClr val="FFFFFF"/>
                          </a:solidFill>
                          <a:latin typeface="Roboto"/>
                          <a:ea typeface="Roboto"/>
                          <a:cs typeface="Roboto"/>
                        </a:rPr>
                        <a:t>No crop</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2000" b="1">
                          <a:solidFill>
                            <a:srgbClr val="FFFFFF"/>
                          </a:solidFill>
                          <a:latin typeface="Roboto"/>
                          <a:ea typeface="Roboto"/>
                          <a:cs typeface="Roboto"/>
                        </a:rPr>
                        <a:t>All poses</a:t>
                      </a:r>
                    </a:p>
                    <a:p>
                      <a:pPr algn="ctr"/>
                      <a:r>
                        <a:rPr sz="2000" b="1">
                          <a:solidFill>
                            <a:srgbClr val="FFFFFF"/>
                          </a:solidFill>
                          <a:latin typeface="Roboto"/>
                          <a:ea typeface="Roboto"/>
                          <a:cs typeface="Roboto"/>
                        </a:rPr>
                        <a:t>Crop</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2000" b="1">
                          <a:solidFill>
                            <a:srgbClr val="FFFFFF"/>
                          </a:solidFill>
                          <a:latin typeface="Roboto"/>
                          <a:ea typeface="Roboto"/>
                          <a:cs typeface="Roboto"/>
                        </a:rPr>
                        <a:t>Pose A</a:t>
                      </a:r>
                    </a:p>
                    <a:p>
                      <a:pPr algn="ctr"/>
                      <a:r>
                        <a:rPr sz="2000" b="1">
                          <a:solidFill>
                            <a:srgbClr val="FFFFFF"/>
                          </a:solidFill>
                          <a:latin typeface="Roboto"/>
                          <a:ea typeface="Roboto"/>
                          <a:cs typeface="Roboto"/>
                        </a:rPr>
                        <a:t>No crop</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tc>
                  <a:txBody>
                    <a:bodyPr/>
                    <a:lstStyle/>
                    <a:p>
                      <a:pPr algn="ctr"/>
                      <a:r>
                        <a:rPr sz="2000" b="1">
                          <a:solidFill>
                            <a:srgbClr val="FFFFFF"/>
                          </a:solidFill>
                          <a:latin typeface="Roboto"/>
                          <a:ea typeface="Roboto"/>
                          <a:cs typeface="Roboto"/>
                        </a:rPr>
                        <a:t>Pose A</a:t>
                      </a:r>
                    </a:p>
                    <a:p>
                      <a:pPr algn="ctr"/>
                      <a:r>
                        <a:rPr sz="2000" b="1">
                          <a:solidFill>
                            <a:srgbClr val="FFFFFF"/>
                          </a:solidFill>
                          <a:latin typeface="Roboto"/>
                          <a:ea typeface="Roboto"/>
                          <a:cs typeface="Roboto"/>
                        </a:rPr>
                        <a:t>Crop</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a:solidFill>
                        <a:srgbClr val="FFFFFF"/>
                      </a:solidFill>
                      <a:prstDash val="solid"/>
                    </a:lnT>
                    <a:lnB w="953">
                      <a:solidFill>
                        <a:srgbClr val="FFFFFF"/>
                      </a:solidFill>
                      <a:prstDash val="solid"/>
                    </a:lnB>
                    <a:solidFill>
                      <a:srgbClr val="822433"/>
                    </a:solidFill>
                  </a:tcPr>
                </a:tc>
                <a:extLst>
                  <a:ext uri="{0D108BD9-81ED-4DB2-BD59-A6C34878D82A}">
                    <a16:rowId xmlns:a16="http://schemas.microsoft.com/office/drawing/2014/main" val="10000"/>
                  </a:ext>
                </a:extLst>
              </a:tr>
              <a:tr h="564356">
                <a:tc>
                  <a:txBody>
                    <a:bodyPr/>
                    <a:lstStyle/>
                    <a:p>
                      <a:pPr algn="l"/>
                      <a:r>
                        <a:rPr sz="2200">
                          <a:solidFill>
                            <a:srgbClr val="252525"/>
                          </a:solidFill>
                          <a:latin typeface="Roboto"/>
                          <a:ea typeface="Roboto"/>
                          <a:cs typeface="Roboto"/>
                        </a:rPr>
                        <a:t>Val Image AUROC</a:t>
                      </a:r>
                    </a:p>
                  </a:txBody>
                  <a:tcPr marL="114300" marR="114300" marT="47625" marB="47625"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a:solidFill>
                            <a:srgbClr val="252525"/>
                          </a:solidFill>
                          <a:latin typeface="Roboto"/>
                          <a:ea typeface="Roboto"/>
                          <a:cs typeface="Roboto"/>
                        </a:rPr>
                        <a:t>56.63</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a:solidFill>
                            <a:srgbClr val="252525"/>
                          </a:solidFill>
                          <a:latin typeface="Roboto"/>
                          <a:ea typeface="Roboto"/>
                          <a:cs typeface="Roboto"/>
                        </a:rPr>
                        <a:t>59.15</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a:solidFill>
                            <a:srgbClr val="252525"/>
                          </a:solidFill>
                          <a:latin typeface="Roboto"/>
                          <a:ea typeface="Roboto"/>
                          <a:cs typeface="Roboto"/>
                        </a:rPr>
                        <a:t>77.64</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b="1">
                          <a:solidFill>
                            <a:srgbClr val="822433"/>
                          </a:solidFill>
                          <a:latin typeface="Roboto"/>
                          <a:ea typeface="Roboto"/>
                          <a:cs typeface="Roboto"/>
                        </a:rPr>
                        <a:t>84.07</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7ECEE"/>
                    </a:solidFill>
                  </a:tcPr>
                </a:tc>
                <a:extLst>
                  <a:ext uri="{0D108BD9-81ED-4DB2-BD59-A6C34878D82A}">
                    <a16:rowId xmlns:a16="http://schemas.microsoft.com/office/drawing/2014/main" val="10001"/>
                  </a:ext>
                </a:extLst>
              </a:tr>
              <a:tr h="564356">
                <a:tc>
                  <a:txBody>
                    <a:bodyPr/>
                    <a:lstStyle/>
                    <a:p>
                      <a:pPr algn="l"/>
                      <a:r>
                        <a:rPr sz="2200">
                          <a:solidFill>
                            <a:srgbClr val="252525"/>
                          </a:solidFill>
                          <a:latin typeface="Roboto"/>
                          <a:ea typeface="Roboto"/>
                          <a:cs typeface="Roboto"/>
                        </a:rPr>
                        <a:t>Val Pixel AP</a:t>
                      </a:r>
                    </a:p>
                  </a:txBody>
                  <a:tcPr marL="114300" marR="114300" marT="47625" marB="47625"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a:solidFill>
                            <a:srgbClr val="252525"/>
                          </a:solidFill>
                          <a:latin typeface="Roboto"/>
                          <a:ea typeface="Roboto"/>
                          <a:cs typeface="Roboto"/>
                        </a:rPr>
                        <a:t>8.77</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a:solidFill>
                            <a:srgbClr val="252525"/>
                          </a:solidFill>
                          <a:latin typeface="Roboto"/>
                          <a:ea typeface="Roboto"/>
                          <a:cs typeface="Roboto"/>
                        </a:rPr>
                        <a:t>11.62</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a:solidFill>
                            <a:srgbClr val="252525"/>
                          </a:solidFill>
                          <a:latin typeface="Roboto"/>
                          <a:ea typeface="Roboto"/>
                          <a:cs typeface="Roboto"/>
                        </a:rPr>
                        <a:t>9.18</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b="1">
                          <a:solidFill>
                            <a:srgbClr val="822433"/>
                          </a:solidFill>
                          <a:latin typeface="Roboto"/>
                          <a:ea typeface="Roboto"/>
                          <a:cs typeface="Roboto"/>
                        </a:rPr>
                        <a:t>18.44</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7ECEE"/>
                    </a:solidFill>
                  </a:tcPr>
                </a:tc>
                <a:extLst>
                  <a:ext uri="{0D108BD9-81ED-4DB2-BD59-A6C34878D82A}">
                    <a16:rowId xmlns:a16="http://schemas.microsoft.com/office/drawing/2014/main" val="10002"/>
                  </a:ext>
                </a:extLst>
              </a:tr>
              <a:tr h="564356">
                <a:tc>
                  <a:txBody>
                    <a:bodyPr/>
                    <a:lstStyle/>
                    <a:p>
                      <a:pPr algn="l"/>
                      <a:r>
                        <a:rPr sz="2200">
                          <a:solidFill>
                            <a:srgbClr val="252525"/>
                          </a:solidFill>
                          <a:latin typeface="Roboto"/>
                          <a:ea typeface="Roboto"/>
                          <a:cs typeface="Roboto"/>
                        </a:rPr>
                        <a:t>Test Image AUROC</a:t>
                      </a:r>
                    </a:p>
                  </a:txBody>
                  <a:tcPr marL="114300" marR="114300" marT="47625" marB="47625"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a:solidFill>
                            <a:srgbClr val="252525"/>
                          </a:solidFill>
                          <a:latin typeface="Roboto"/>
                          <a:ea typeface="Roboto"/>
                          <a:cs typeface="Roboto"/>
                        </a:rPr>
                        <a:t>54.05</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a:solidFill>
                            <a:srgbClr val="252525"/>
                          </a:solidFill>
                          <a:latin typeface="Roboto"/>
                          <a:ea typeface="Roboto"/>
                          <a:cs typeface="Roboto"/>
                        </a:rPr>
                        <a:t>54.95</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a:solidFill>
                            <a:srgbClr val="252525"/>
                          </a:solidFill>
                          <a:latin typeface="Roboto"/>
                          <a:ea typeface="Roboto"/>
                          <a:cs typeface="Roboto"/>
                        </a:rPr>
                        <a:t>65.26</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2F2F2"/>
                    </a:solidFill>
                  </a:tcPr>
                </a:tc>
                <a:tc>
                  <a:txBody>
                    <a:bodyPr/>
                    <a:lstStyle/>
                    <a:p>
                      <a:pPr algn="ctr"/>
                      <a:r>
                        <a:rPr sz="2200" b="1">
                          <a:solidFill>
                            <a:srgbClr val="822433"/>
                          </a:solidFill>
                          <a:latin typeface="Roboto"/>
                          <a:ea typeface="Roboto"/>
                          <a:cs typeface="Roboto"/>
                        </a:rPr>
                        <a:t>69.74</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7ECEE"/>
                    </a:solidFill>
                  </a:tcPr>
                </a:tc>
                <a:extLst>
                  <a:ext uri="{0D108BD9-81ED-4DB2-BD59-A6C34878D82A}">
                    <a16:rowId xmlns:a16="http://schemas.microsoft.com/office/drawing/2014/main" val="10003"/>
                  </a:ext>
                </a:extLst>
              </a:tr>
              <a:tr h="564356">
                <a:tc>
                  <a:txBody>
                    <a:bodyPr/>
                    <a:lstStyle/>
                    <a:p>
                      <a:pPr algn="l"/>
                      <a:r>
                        <a:rPr sz="2200">
                          <a:solidFill>
                            <a:srgbClr val="252525"/>
                          </a:solidFill>
                          <a:latin typeface="Roboto"/>
                          <a:ea typeface="Roboto"/>
                          <a:cs typeface="Roboto"/>
                        </a:rPr>
                        <a:t>Test Pixel AP</a:t>
                      </a:r>
                    </a:p>
                  </a:txBody>
                  <a:tcPr marL="114300" marR="114300" marT="47625" marB="47625" anchor="ctr">
                    <a:lnL w="953">
                      <a:solidFill>
                        <a:srgbClr val="FFFFFF"/>
                      </a:solidFill>
                      <a:prstDash val="soli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a:solidFill>
                            <a:srgbClr val="252525"/>
                          </a:solidFill>
                          <a:latin typeface="Roboto"/>
                          <a:ea typeface="Roboto"/>
                          <a:cs typeface="Roboto"/>
                        </a:rPr>
                        <a:t>8.33</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a:solidFill>
                            <a:srgbClr val="252525"/>
                          </a:solidFill>
                          <a:latin typeface="Roboto"/>
                          <a:ea typeface="Roboto"/>
                          <a:cs typeface="Roboto"/>
                        </a:rPr>
                        <a:t>11.40</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a:solidFill>
                            <a:srgbClr val="252525"/>
                          </a:solidFill>
                          <a:latin typeface="Roboto"/>
                          <a:ea typeface="Roboto"/>
                          <a:cs typeface="Roboto"/>
                        </a:rPr>
                        <a:t>7.27</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FFFFF"/>
                    </a:solidFill>
                  </a:tcPr>
                </a:tc>
                <a:tc>
                  <a:txBody>
                    <a:bodyPr/>
                    <a:lstStyle/>
                    <a:p>
                      <a:pPr algn="ctr"/>
                      <a:r>
                        <a:rPr sz="2200" b="1">
                          <a:solidFill>
                            <a:srgbClr val="822433"/>
                          </a:solidFill>
                          <a:latin typeface="Roboto"/>
                          <a:ea typeface="Roboto"/>
                          <a:cs typeface="Roboto"/>
                        </a:rPr>
                        <a:t>19.49</a:t>
                      </a:r>
                    </a:p>
                  </a:txBody>
                  <a:tcPr marL="114300" marR="114300" marT="47625" marB="47625" anchor="ctr">
                    <a:lnL w="953" cap="flat" cmpd="sng" algn="ctr">
                      <a:solidFill>
                        <a:srgbClr val="FFFFFF"/>
                      </a:solidFill>
                      <a:prstDash val="solid"/>
                      <a:round/>
                      <a:headEnd type="none" w="med" len="med"/>
                      <a:tailEnd type="none" w="med" len="med"/>
                    </a:lnL>
                    <a:lnR w="953">
                      <a:solidFill>
                        <a:srgbClr val="FFFFFF"/>
                      </a:solidFill>
                      <a:prstDash val="solid"/>
                    </a:lnR>
                    <a:lnT w="953" cap="flat" cmpd="sng" algn="ctr">
                      <a:solidFill>
                        <a:srgbClr val="FFFFFF"/>
                      </a:solidFill>
                      <a:prstDash val="solid"/>
                      <a:round/>
                      <a:headEnd type="none" w="med" len="med"/>
                      <a:tailEnd type="none" w="med" len="med"/>
                    </a:lnT>
                    <a:lnB w="953">
                      <a:solidFill>
                        <a:srgbClr val="FFFFFF"/>
                      </a:solidFill>
                      <a:prstDash val="solid"/>
                    </a:lnB>
                    <a:solidFill>
                      <a:srgbClr val="F7ECEE"/>
                    </a:solidFill>
                  </a:tcPr>
                </a:tc>
                <a:extLst>
                  <a:ext uri="{0D108BD9-81ED-4DB2-BD59-A6C34878D82A}">
                    <a16:rowId xmlns:a16="http://schemas.microsoft.com/office/drawing/2014/main" val="10004"/>
                  </a:ext>
                </a:extLst>
              </a:tr>
            </a:tbl>
          </a:graphicData>
        </a:graphic>
      </p:graphicFrame>
      <p:sp>
        <p:nvSpPr>
          <p:cNvPr id="9" name="cropping-takeaway">
            <a:extLst>
              <a:ext uri="{FF2B5EF4-FFF2-40B4-BE49-F238E27FC236}">
                <a16:creationId xmlns:a16="http://schemas.microsoft.com/office/drawing/2014/main" id="{8BF5869B-1BE6-4396-A161-080BD1A91C87}"/>
              </a:ext>
            </a:extLst>
          </p:cNvPr>
          <p:cNvSpPr>
            <a:spLocks noGrp="1"/>
          </p:cNvSpPr>
          <p:nvPr/>
        </p:nvSpPr>
        <p:spPr>
          <a:xfrm>
            <a:off x="952500" y="5429250"/>
            <a:ext cx="10287000" cy="400050"/>
          </a:xfrm>
          <a:prstGeom prst="rect">
            <a:avLst/>
          </a:prstGeom>
          <a:noFill/>
          <a:ln w="0">
            <a:noFill/>
          </a:ln>
        </p:spPr>
        <p:txBody>
          <a:bodyPr wrap="square" lIns="0" tIns="0" rIns="0" bIns="0" anchor="t">
            <a:noAutofit/>
          </a:bodyPr>
          <a:lstStyle>
            <a:defPPr algn="l">
              <a:defRPr sz="2000" b="1">
                <a:solidFill>
                  <a:srgbClr val="822433"/>
                </a:solidFill>
                <a:latin typeface="Roboto"/>
                <a:ea typeface="Roboto"/>
                <a:cs typeface="Roboto"/>
              </a:defRPr>
            </a:defPPr>
            <a:lvl1pPr algn="l">
              <a:defRPr sz="2000" b="1">
                <a:solidFill>
                  <a:srgbClr val="822433"/>
                </a:solidFill>
                <a:latin typeface="Roboto"/>
                <a:ea typeface="Roboto"/>
                <a:cs typeface="Roboto"/>
              </a:defRPr>
            </a:lvl1pPr>
            <a:lvl2pPr algn="l">
              <a:defRPr sz="2000" b="1">
                <a:solidFill>
                  <a:srgbClr val="822433"/>
                </a:solidFill>
                <a:latin typeface="Roboto"/>
                <a:ea typeface="Roboto"/>
                <a:cs typeface="Roboto"/>
              </a:defRPr>
            </a:lvl2pPr>
            <a:lvl3pPr algn="l">
              <a:defRPr sz="2000" b="1">
                <a:solidFill>
                  <a:srgbClr val="822433"/>
                </a:solidFill>
                <a:latin typeface="Roboto"/>
                <a:ea typeface="Roboto"/>
                <a:cs typeface="Roboto"/>
              </a:defRPr>
            </a:lvl3pPr>
            <a:lvl4pPr algn="l">
              <a:defRPr sz="2000" b="1">
                <a:solidFill>
                  <a:srgbClr val="822433"/>
                </a:solidFill>
                <a:latin typeface="Roboto"/>
                <a:ea typeface="Roboto"/>
                <a:cs typeface="Roboto"/>
              </a:defRPr>
            </a:lvl4pPr>
            <a:lvl5pPr algn="l">
              <a:defRPr sz="2000" b="1">
                <a:solidFill>
                  <a:srgbClr val="822433"/>
                </a:solidFill>
                <a:latin typeface="Roboto"/>
                <a:ea typeface="Roboto"/>
                <a:cs typeface="Roboto"/>
              </a:defRPr>
            </a:lvl5pPr>
            <a:lvl6pPr algn="l">
              <a:defRPr sz="2000" b="1">
                <a:solidFill>
                  <a:srgbClr val="822433"/>
                </a:solidFill>
                <a:latin typeface="Roboto"/>
                <a:ea typeface="Roboto"/>
                <a:cs typeface="Roboto"/>
              </a:defRPr>
            </a:lvl6pPr>
            <a:lvl7pPr algn="l">
              <a:defRPr sz="2000" b="1">
                <a:solidFill>
                  <a:srgbClr val="822433"/>
                </a:solidFill>
                <a:latin typeface="Roboto"/>
                <a:ea typeface="Roboto"/>
                <a:cs typeface="Roboto"/>
              </a:defRPr>
            </a:lvl7pPr>
            <a:lvl8pPr algn="l">
              <a:defRPr sz="2000" b="1">
                <a:solidFill>
                  <a:srgbClr val="822433"/>
                </a:solidFill>
                <a:latin typeface="Roboto"/>
                <a:ea typeface="Roboto"/>
                <a:cs typeface="Roboto"/>
              </a:defRPr>
            </a:lvl8pPr>
            <a:lvl9pPr algn="l">
              <a:defRPr sz="2000" b="1">
                <a:solidFill>
                  <a:srgbClr val="822433"/>
                </a:solidFill>
                <a:latin typeface="Roboto"/>
                <a:ea typeface="Roboto"/>
                <a:cs typeface="Roboto"/>
              </a:defRPr>
            </a:lvl9pPr>
          </a:lstStyle>
          <a:p>
            <a:pPr algn="l">
              <a:defRPr sz="2000" b="1">
                <a:solidFill>
                  <a:srgbClr val="822433"/>
                </a:solidFill>
                <a:latin typeface="Roboto"/>
                <a:ea typeface="Roboto"/>
                <a:cs typeface="Roboto"/>
              </a:defRPr>
            </a:pPr>
            <a:r>
              <a:rPr sz="2000" b="1" dirty="0">
                <a:solidFill>
                  <a:srgbClr val="822433"/>
                </a:solidFill>
                <a:latin typeface="Roboto"/>
                <a:ea typeface="Roboto"/>
                <a:cs typeface="Roboto"/>
              </a:rPr>
              <a:t>Pose A: test Pixel AP rises from 7.27% to 19.49%</a:t>
            </a:r>
          </a:p>
        </p:txBody>
      </p:sp>
      <p:sp>
        <p:nvSpPr>
          <p:cNvPr id="11" name="extra-page-number">
            <a:extLst>
              <a:ext uri="{FF2B5EF4-FFF2-40B4-BE49-F238E27FC236}">
                <a16:creationId xmlns:a16="http://schemas.microsoft.com/office/drawing/2014/main" id="{0E967B84-602C-40A6-AA2E-8DFCC6F3BF0A}"/>
              </a:ext>
            </a:extLst>
          </p:cNvPr>
          <p:cNvSpPr>
            <a:spLocks noGrp="1"/>
          </p:cNvSpPr>
          <p:nvPr/>
        </p:nvSpPr>
        <p:spPr>
          <a:xfrm>
            <a:off x="10810875" y="6581775"/>
            <a:ext cx="914400" cy="219075"/>
          </a:xfrm>
          <a:prstGeom prst="rect">
            <a:avLst/>
          </a:prstGeom>
          <a:noFill/>
          <a:ln w="0">
            <a:noFill/>
          </a:ln>
        </p:spPr>
        <p:txBody>
          <a:bodyPr wrap="square" lIns="0" tIns="0" rIns="0" bIns="0" anchor="t">
            <a:noAutofit/>
          </a:bodyPr>
          <a:lstStyle>
            <a:defPPr algn="r">
              <a:defRPr sz="1000" b="0">
                <a:solidFill>
                  <a:srgbClr val="822433"/>
                </a:solidFill>
                <a:latin typeface="Roboto"/>
                <a:ea typeface="Roboto"/>
                <a:cs typeface="Roboto"/>
              </a:defRPr>
            </a:defPPr>
            <a:lvl1pPr algn="r">
              <a:defRPr sz="1000" b="0">
                <a:solidFill>
                  <a:srgbClr val="822433"/>
                </a:solidFill>
                <a:latin typeface="Roboto"/>
                <a:ea typeface="Roboto"/>
                <a:cs typeface="Roboto"/>
              </a:defRPr>
            </a:lvl1pPr>
            <a:lvl2pPr algn="r">
              <a:defRPr sz="1000" b="0">
                <a:solidFill>
                  <a:srgbClr val="822433"/>
                </a:solidFill>
                <a:latin typeface="Roboto"/>
                <a:ea typeface="Roboto"/>
                <a:cs typeface="Roboto"/>
              </a:defRPr>
            </a:lvl2pPr>
            <a:lvl3pPr algn="r">
              <a:defRPr sz="1000" b="0">
                <a:solidFill>
                  <a:srgbClr val="822433"/>
                </a:solidFill>
                <a:latin typeface="Roboto"/>
                <a:ea typeface="Roboto"/>
                <a:cs typeface="Roboto"/>
              </a:defRPr>
            </a:lvl3pPr>
            <a:lvl4pPr algn="r">
              <a:defRPr sz="1000" b="0">
                <a:solidFill>
                  <a:srgbClr val="822433"/>
                </a:solidFill>
                <a:latin typeface="Roboto"/>
                <a:ea typeface="Roboto"/>
                <a:cs typeface="Roboto"/>
              </a:defRPr>
            </a:lvl4pPr>
            <a:lvl5pPr algn="r">
              <a:defRPr sz="1000" b="0">
                <a:solidFill>
                  <a:srgbClr val="822433"/>
                </a:solidFill>
                <a:latin typeface="Roboto"/>
                <a:ea typeface="Roboto"/>
                <a:cs typeface="Roboto"/>
              </a:defRPr>
            </a:lvl5pPr>
            <a:lvl6pPr algn="r">
              <a:defRPr sz="1000" b="0">
                <a:solidFill>
                  <a:srgbClr val="822433"/>
                </a:solidFill>
                <a:latin typeface="Roboto"/>
                <a:ea typeface="Roboto"/>
                <a:cs typeface="Roboto"/>
              </a:defRPr>
            </a:lvl6pPr>
            <a:lvl7pPr algn="r">
              <a:defRPr sz="1000" b="0">
                <a:solidFill>
                  <a:srgbClr val="822433"/>
                </a:solidFill>
                <a:latin typeface="Roboto"/>
                <a:ea typeface="Roboto"/>
                <a:cs typeface="Roboto"/>
              </a:defRPr>
            </a:lvl7pPr>
            <a:lvl8pPr algn="r">
              <a:defRPr sz="1000" b="0">
                <a:solidFill>
                  <a:srgbClr val="822433"/>
                </a:solidFill>
                <a:latin typeface="Roboto"/>
                <a:ea typeface="Roboto"/>
                <a:cs typeface="Roboto"/>
              </a:defRPr>
            </a:lvl8pPr>
            <a:lvl9pPr algn="r">
              <a:defRPr sz="1000" b="0">
                <a:solidFill>
                  <a:srgbClr val="822433"/>
                </a:solidFill>
                <a:latin typeface="Roboto"/>
                <a:ea typeface="Roboto"/>
                <a:cs typeface="Roboto"/>
              </a:defRPr>
            </a:lvl9pPr>
          </a:lstStyle>
          <a:p>
            <a:pPr algn="r">
              <a:defRPr sz="1000" b="0">
                <a:solidFill>
                  <a:srgbClr val="822433"/>
                </a:solidFill>
                <a:latin typeface="Roboto"/>
                <a:ea typeface="Roboto"/>
                <a:cs typeface="Roboto"/>
              </a:defRPr>
            </a:pPr>
            <a:r>
              <a:rPr sz="1000" b="0">
                <a:solidFill>
                  <a:srgbClr val="822433"/>
                </a:solidFill>
                <a:latin typeface="Roboto"/>
                <a:ea typeface="Roboto"/>
                <a:cs typeface="Roboto"/>
              </a:rPr>
              <a:t>58/25</a:t>
            </a:r>
          </a:p>
        </p:txBody>
      </p:sp>
    </p:spTree>
    <p:extLst>
      <p:ext uri="{BB962C8B-B14F-4D97-AF65-F5344CB8AC3E}">
        <p14:creationId xmlns:p14="http://schemas.microsoft.com/office/powerpoint/2010/main" val="1790462653"/>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2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DBA696D-3D8F-4102-B0B0-DDBF0E9F0366}">
  <we:reference id="WA200004052" version="1.0.0.2" store="Omex" storeType="OMEX"/>
  <we:alternateReferences>
    <we:reference id="WA200004052" version="1.0.0.2" store="WA200004052"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2876</TotalTime>
  <Words>15105</Words>
  <Application>Microsoft Office PowerPoint</Application>
  <PresentationFormat>Widescreen</PresentationFormat>
  <Paragraphs>1682</Paragraphs>
  <Slides>58</Slides>
  <Notes>58</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58</vt:i4>
      </vt:variant>
    </vt:vector>
  </HeadingPairs>
  <TitlesOfParts>
    <vt:vector size="63" baseType="lpstr">
      <vt:lpstr>Aptos</vt:lpstr>
      <vt:lpstr>Arial</vt:lpstr>
      <vt:lpstr>Calibri</vt:lpstr>
      <vt:lpstr>Roboto</vt:lpstr>
      <vt:lpstr>Tema di Office</vt:lpstr>
      <vt:lpstr>Lightweight Scene Understanding and Synthetic Data-Driven Damage Inspection for Martian Rovers</vt:lpstr>
      <vt:lpstr>Introduction</vt:lpstr>
      <vt:lpstr>The challenge</vt:lpstr>
      <vt:lpstr>The challenge</vt:lpstr>
      <vt:lpstr>Research objective</vt:lpstr>
      <vt:lpstr>Lightweight Scene Understanding</vt:lpstr>
      <vt:lpstr>Semantic Segmentation</vt:lpstr>
      <vt:lpstr>Datasets</vt:lpstr>
      <vt:lpstr>Model Architectures</vt:lpstr>
      <vt:lpstr>Training procedure</vt:lpstr>
      <vt:lpstr>Synthetic Dataset Generation</vt:lpstr>
      <vt:lpstr>Design Requirements</vt:lpstr>
      <vt:lpstr>Blender Scene</vt:lpstr>
      <vt:lpstr>Synthetic Damage</vt:lpstr>
      <vt:lpstr>Domain Randomization</vt:lpstr>
      <vt:lpstr>Dataset Composition</vt:lpstr>
      <vt:lpstr>Synthetic Damage Inspection</vt:lpstr>
      <vt:lpstr>Anomaly Detection</vt:lpstr>
      <vt:lpstr>Model Architectures</vt:lpstr>
      <vt:lpstr>Model Architectures</vt:lpstr>
      <vt:lpstr>Preprocessing</vt:lpstr>
      <vt:lpstr>Results</vt:lpstr>
      <vt:lpstr>Semantic Segmentation: Quality</vt:lpstr>
      <vt:lpstr>Cross-generalization</vt:lpstr>
      <vt:lpstr>Semantic Segmentation: Efficiency</vt:lpstr>
      <vt:lpstr>Damage Inspection: Detection</vt:lpstr>
      <vt:lpstr>Damage Inspection: Efficiency</vt:lpstr>
      <vt:lpstr>Damage Inspection: Localization</vt:lpstr>
      <vt:lpstr>Conclusions</vt:lpstr>
      <vt:lpstr>Conclusions</vt:lpstr>
      <vt:lpstr>Future Work</vt:lpstr>
      <vt:lpstr>Thank you for your attention</vt:lpstr>
      <vt:lpstr>Presentazione standard di PowerPoint</vt:lpstr>
      <vt:lpstr>Presentazione standard di PowerPoint</vt:lpstr>
      <vt:lpstr>Presentazione standard di PowerPoint</vt:lpstr>
      <vt:lpstr>Presentazione standard di PowerPoint</vt:lpstr>
      <vt:lpstr>Extra: variations</vt:lpstr>
      <vt:lpstr>Extra: variations</vt:lpstr>
      <vt:lpstr>Extra: Loss function ablation</vt:lpstr>
      <vt:lpstr>Extra: Preprocessing</vt:lpstr>
      <vt:lpstr>Extra: SegFormer IoU per class</vt:lpstr>
      <vt:lpstr>Extra: Mars-Bench</vt:lpstr>
      <vt:lpstr>Extra: Full Quantization results</vt:lpstr>
      <vt:lpstr>Extra: Anomaly Detection Results </vt:lpstr>
      <vt:lpstr>Extra: Localization Results</vt:lpstr>
      <vt:lpstr>Presentazione standard di PowerPoint</vt:lpstr>
      <vt:lpstr>Extra: U-Net </vt:lpstr>
      <vt:lpstr>Extra: DeepLabV3</vt:lpstr>
      <vt:lpstr>Extra: DeepLabV3+</vt:lpstr>
      <vt:lpstr>Extra: SegFormer</vt:lpstr>
      <vt:lpstr>Extra: LCNet</vt:lpstr>
      <vt:lpstr>Extra: PatchCore</vt:lpstr>
      <vt:lpstr>Extra: EfficientAD</vt:lpstr>
      <vt:lpstr>Extra: SuperSimpleNet</vt:lpstr>
      <vt:lpstr>Extra: TinyGLASS</vt:lpstr>
      <vt:lpstr>Presentazione standard di PowerPoint</vt:lpstr>
      <vt:lpstr>Presentazione standard di PowerPoint</vt:lpstr>
      <vt:lpstr>Presentazione standard di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Marco Raoul Marini</dc:creator>
  <cp:lastModifiedBy>Daniele Venturini</cp:lastModifiedBy>
  <cp:revision>48</cp:revision>
  <dcterms:created xsi:type="dcterms:W3CDTF">2022-06-29T08:38:04Z</dcterms:created>
  <dcterms:modified xsi:type="dcterms:W3CDTF">2026-10-26T21:12:42Z</dcterms:modified>
</cp:coreProperties>
</file>