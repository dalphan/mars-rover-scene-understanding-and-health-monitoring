
<file path=[Content_Types].xml><?xml version="1.0" encoding="utf-8"?>
<Types xmlns="http://schemas.openxmlformats.org/package/2006/content-types">
  <Default Extension="jpeg" ContentType="image/jpeg"/>
  <Default Extension="png" ContentType="image/png"/>
  <Default Extension="png&amp;f=1&amp;nofb=1&amp;ipt=1d8b35d30c3c4514a8382011224255d3e91fd46be4d31d385c751fa891630fa4&amp;ipo=images" ContentType="image/png"/>
  <Default Extension="png&amp;f=1&amp;nofb=1&amp;ipt=30001d8961b3b03add39ad967c319e0f168863eedd2c6ba8d6018adb4711fb1d&amp;ipo=images" ContentType="image/png"/>
  <Default Extension="png&amp;f=1&amp;nofb=1&amp;ipt=d99a559a2fe29f1924e30a5219f177b5e9da9d4501e897b9834310b79af4a48b&amp;ipo=images" ContentType="image/png"/>
  <Default Extension="rels" ContentType="application/vnd.openxmlformats-package.relationships+xml"/>
  <Default Extension="xlsx" ContentType="application/vnd.openxmlformats-officedocument.spreadsheetml.sheet"/>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charts/chart1.xml" ContentType="application/vnd.openxmlformats-officedocument.drawingml.chart+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charts/chart2.xml" ContentType="application/vnd.openxmlformats-officedocument.drawingml.chart+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charts/chart3.xml" ContentType="application/vnd.openxmlformats-officedocument.drawingml.chart+xml"/>
  <Override PartName="/ppt/notesSlides/notesSlide40.xml" ContentType="application/vnd.openxmlformats-officedocument.presentationml.notesSlide+xml"/>
  <Override PartName="/ppt/charts/chart4.xml" ContentType="application/vnd.openxmlformats-officedocument.drawingml.chart+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56"/>
  </p:notesMasterIdLst>
  <p:sldIdLst>
    <p:sldId id="256" r:id="rId2"/>
    <p:sldId id="259" r:id="rId3"/>
    <p:sldId id="257" r:id="rId4"/>
    <p:sldId id="261" r:id="rId5"/>
    <p:sldId id="258" r:id="rId6"/>
    <p:sldId id="262" r:id="rId7"/>
    <p:sldId id="263" r:id="rId8"/>
    <p:sldId id="282" r:id="rId9"/>
    <p:sldId id="283" r:id="rId10"/>
    <p:sldId id="284" r:id="rId11"/>
    <p:sldId id="293" r:id="rId12"/>
    <p:sldId id="285" r:id="rId13"/>
    <p:sldId id="286" r:id="rId14"/>
    <p:sldId id="287" r:id="rId15"/>
    <p:sldId id="288" r:id="rId16"/>
    <p:sldId id="289" r:id="rId17"/>
    <p:sldId id="294" r:id="rId18"/>
    <p:sldId id="291" r:id="rId19"/>
    <p:sldId id="303" r:id="rId20"/>
    <p:sldId id="304" r:id="rId21"/>
    <p:sldId id="292" r:id="rId22"/>
    <p:sldId id="300" r:id="rId23"/>
    <p:sldId id="309" r:id="rId24"/>
    <p:sldId id="310" r:id="rId25"/>
    <p:sldId id="307" r:id="rId26"/>
    <p:sldId id="312" r:id="rId27"/>
    <p:sldId id="317" r:id="rId28"/>
    <p:sldId id="311" r:id="rId29"/>
    <p:sldId id="302" r:id="rId30"/>
    <p:sldId id="343" r:id="rId31"/>
    <p:sldId id="308" r:id="rId32"/>
    <p:sldId id="260" r:id="rId33"/>
    <p:sldId id="281" r:id="rId34"/>
    <p:sldId id="298" r:id="rId35"/>
    <p:sldId id="299" r:id="rId36"/>
    <p:sldId id="306" r:id="rId37"/>
    <p:sldId id="295" r:id="rId38"/>
    <p:sldId id="290" r:id="rId39"/>
    <p:sldId id="315" r:id="rId40"/>
    <p:sldId id="316" r:id="rId41"/>
    <p:sldId id="342" r:id="rId42"/>
    <p:sldId id="341" r:id="rId43"/>
    <p:sldId id="319" r:id="rId44"/>
    <p:sldId id="329" r:id="rId45"/>
    <p:sldId id="330" r:id="rId46"/>
    <p:sldId id="331" r:id="rId47"/>
    <p:sldId id="332" r:id="rId48"/>
    <p:sldId id="335" r:id="rId49"/>
    <p:sldId id="333" r:id="rId50"/>
    <p:sldId id="334" r:id="rId51"/>
    <p:sldId id="336" r:id="rId52"/>
    <p:sldId id="337" r:id="rId53"/>
    <p:sldId id="338" r:id="rId54"/>
    <p:sldId id="339" r:id="rId55"/>
  </p:sldIdLst>
  <p:sldSz cx="12192000" cy="6858000"/>
  <p:notesSz cx="6858000" cy="9144000"/>
  <p:defaultText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82243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9022" autoAdjust="0"/>
    <p:restoredTop sz="86847" autoAdjust="0"/>
  </p:normalViewPr>
  <p:slideViewPr>
    <p:cSldViewPr snapToGrid="0">
      <p:cViewPr varScale="1">
        <p:scale>
          <a:sx n="138" d="100"/>
          <a:sy n="138" d="100"/>
        </p:scale>
        <p:origin x="876" y="12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Test mIoU (%)</c:v>
          </c:tx>
          <c:spPr>
            <a:solidFill>
              <a:srgbClr val="D7DDE2"/>
            </a:solidFill>
          </c:spPr>
          <c:invertIfNegative val="0"/>
          <c:dPt>
            <c:idx val="5"/>
            <c:invertIfNegative val="0"/>
            <c:bubble3D val="0"/>
            <c:spPr>
              <a:solidFill>
                <a:srgbClr val="2C8390"/>
              </a:solidFill>
            </c:spPr>
            <c:extLst>
              <c:ext xmlns:c16="http://schemas.microsoft.com/office/drawing/2014/chart" uri="{C3380CC4-5D6E-409C-BE32-E72D297353CC}">
                <c16:uniqueId val="{00000001-9BA7-495B-BC66-190F257B0CA5}"/>
              </c:ext>
            </c:extLst>
          </c:dPt>
          <c:dPt>
            <c:idx val="6"/>
            <c:invertIfNegative val="0"/>
            <c:bubble3D val="0"/>
            <c:spPr>
              <a:solidFill>
                <a:srgbClr val="822433"/>
              </a:solidFill>
            </c:spPr>
            <c:extLst>
              <c:ext xmlns:c16="http://schemas.microsoft.com/office/drawing/2014/chart" uri="{C3380CC4-5D6E-409C-BE32-E72D297353CC}">
                <c16:uniqueId val="{00000003-9BA7-495B-BC66-190F257B0CA5}"/>
              </c:ext>
            </c:extLst>
          </c:dPt>
          <c:dLbls>
            <c:dLbl>
              <c:idx val="0"/>
              <c:tx>
                <c:rich>
                  <a:bodyPr/>
                  <a:lstStyle/>
                  <a:p>
                    <a:r>
                      <a:rPr lang="en-US" sz="1650" dirty="0">
                        <a:solidFill>
                          <a:srgbClr val="202124"/>
                        </a:solidFill>
                        <a:latin typeface="Roboto"/>
                        <a:ea typeface="Roboto"/>
                        <a:cs typeface="Roboto"/>
                      </a:rPr>
                      <a:t>57.89%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9BA7-495B-BC66-190F257B0CA5}"/>
                </c:ext>
              </c:extLst>
            </c:dLbl>
            <c:dLbl>
              <c:idx val="1"/>
              <c:tx>
                <c:rich>
                  <a:bodyPr/>
                  <a:lstStyle/>
                  <a:p>
                    <a:r>
                      <a:rPr lang="en-US" sz="1650" dirty="0">
                        <a:solidFill>
                          <a:srgbClr val="202124"/>
                        </a:solidFill>
                        <a:latin typeface="Roboto"/>
                        <a:ea typeface="Roboto"/>
                        <a:cs typeface="Roboto"/>
                      </a:rPr>
                      <a:t>59.11%</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9BA7-495B-BC66-190F257B0CA5}"/>
                </c:ext>
              </c:extLst>
            </c:dLbl>
            <c:dLbl>
              <c:idx val="2"/>
              <c:tx>
                <c:rich>
                  <a:bodyPr/>
                  <a:lstStyle/>
                  <a:p>
                    <a:r>
                      <a:rPr lang="en-US" sz="1650" dirty="0">
                        <a:solidFill>
                          <a:srgbClr val="202124"/>
                        </a:solidFill>
                        <a:latin typeface="Roboto"/>
                        <a:ea typeface="Roboto"/>
                        <a:cs typeface="Roboto"/>
                      </a:rPr>
                      <a:t>64.07%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9BA7-495B-BC66-190F257B0CA5}"/>
                </c:ext>
              </c:extLst>
            </c:dLbl>
            <c:dLbl>
              <c:idx val="3"/>
              <c:tx>
                <c:rich>
                  <a:bodyPr/>
                  <a:lstStyle/>
                  <a:p>
                    <a:r>
                      <a:rPr lang="en-US" sz="1650" dirty="0">
                        <a:solidFill>
                          <a:srgbClr val="202124"/>
                        </a:solidFill>
                        <a:latin typeface="Roboto"/>
                        <a:ea typeface="Roboto"/>
                        <a:cs typeface="Roboto"/>
                      </a:rPr>
                      <a:t>64.55%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9BA7-495B-BC66-190F257B0CA5}"/>
                </c:ext>
              </c:extLst>
            </c:dLbl>
            <c:dLbl>
              <c:idx val="4"/>
              <c:tx>
                <c:rich>
                  <a:bodyPr/>
                  <a:lstStyle/>
                  <a:p>
                    <a:r>
                      <a:rPr lang="en-US" sz="1650" dirty="0">
                        <a:solidFill>
                          <a:srgbClr val="202124"/>
                        </a:solidFill>
                        <a:latin typeface="Roboto"/>
                        <a:ea typeface="Roboto"/>
                        <a:cs typeface="Roboto"/>
                      </a:rPr>
                      <a:t>64.57%</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9BA7-495B-BC66-190F257B0CA5}"/>
                </c:ext>
              </c:extLst>
            </c:dLbl>
            <c:dLbl>
              <c:idx val="5"/>
              <c:tx>
                <c:rich>
                  <a:bodyPr/>
                  <a:lstStyle/>
                  <a:p>
                    <a:r>
                      <a:rPr lang="en-US" sz="1650" dirty="0">
                        <a:solidFill>
                          <a:srgbClr val="202124"/>
                        </a:solidFill>
                        <a:latin typeface="Roboto"/>
                        <a:ea typeface="Roboto"/>
                        <a:cs typeface="Roboto"/>
                      </a:rPr>
                      <a:t>73.79%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9BA7-495B-BC66-190F257B0CA5}"/>
                </c:ext>
              </c:extLst>
            </c:dLbl>
            <c:dLbl>
              <c:idx val="6"/>
              <c:tx>
                <c:rich>
                  <a:bodyPr/>
                  <a:lstStyle/>
                  <a:p>
                    <a:r>
                      <a:rPr lang="en-US" sz="1650" dirty="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9BA7-495B-BC66-190F257B0CA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Data'!$A$2:$A$8</c:f>
              <c:strCache>
                <c:ptCount val="7"/>
                <c:pt idx="0">
                  <c:v>LCNet 3,7</c:v>
                </c:pt>
                <c:pt idx="1">
                  <c:v>LCNet 3,11</c:v>
                </c:pt>
                <c:pt idx="2">
                  <c:v>DeepLabV3+ MV2</c:v>
                </c:pt>
                <c:pt idx="3">
                  <c:v>U-Net R34</c:v>
                </c:pt>
                <c:pt idx="4">
                  <c:v>U-Net MV2</c:v>
                </c:pt>
                <c:pt idx="5">
                  <c:v>DeepLabV3 R34</c:v>
                </c:pt>
                <c:pt idx="6">
                  <c:v>SegFormer-B0</c:v>
                </c:pt>
              </c:strCache>
            </c:strRef>
          </c:cat>
          <c:val>
            <c:numRef>
              <c:f>'Chart Data'!$B$2:$B$8</c:f>
              <c:numCache>
                <c:formatCode>General</c:formatCode>
                <c:ptCount val="7"/>
                <c:pt idx="0">
                  <c:v>57.89</c:v>
                </c:pt>
                <c:pt idx="1">
                  <c:v>59.11</c:v>
                </c:pt>
                <c:pt idx="2">
                  <c:v>64.069999999999993</c:v>
                </c:pt>
                <c:pt idx="3">
                  <c:v>64.55</c:v>
                </c:pt>
                <c:pt idx="4">
                  <c:v>64.569999999999993</c:v>
                </c:pt>
                <c:pt idx="5">
                  <c:v>73.790000000000006</c:v>
                </c:pt>
                <c:pt idx="6">
                  <c:v>75.55</c:v>
                </c:pt>
              </c:numCache>
            </c:numRef>
          </c:val>
          <c:extLst>
            <c:ext xmlns:c16="http://schemas.microsoft.com/office/drawing/2014/chart" uri="{C3380CC4-5D6E-409C-BE32-E72D297353CC}">
              <c16:uniqueId val="{00000009-9BA7-495B-BC66-190F257B0CA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Image AUROC (%)</c:v>
          </c:tx>
          <c:spPr>
            <a:solidFill>
              <a:srgbClr val="D7DDE2"/>
            </a:solidFill>
          </c:spPr>
          <c:invertIfNegative val="0"/>
          <c:dPt>
            <c:idx val="4"/>
            <c:invertIfNegative val="0"/>
            <c:bubble3D val="0"/>
            <c:spPr>
              <a:solidFill>
                <a:srgbClr val="2C8390"/>
              </a:solidFill>
            </c:spPr>
            <c:extLst>
              <c:ext xmlns:c16="http://schemas.microsoft.com/office/drawing/2014/chart" uri="{C3380CC4-5D6E-409C-BE32-E72D297353CC}">
                <c16:uniqueId val="{00000001-0F1E-4BEB-BA5C-43D58947F805}"/>
              </c:ext>
            </c:extLst>
          </c:dPt>
          <c:dPt>
            <c:idx val="5"/>
            <c:invertIfNegative val="0"/>
            <c:bubble3D val="0"/>
            <c:spPr>
              <a:solidFill>
                <a:srgbClr val="822433"/>
              </a:solidFill>
            </c:spPr>
            <c:extLst>
              <c:ext xmlns:c16="http://schemas.microsoft.com/office/drawing/2014/chart" uri="{C3380CC4-5D6E-409C-BE32-E72D297353CC}">
                <c16:uniqueId val="{00000003-0F1E-4BEB-BA5C-43D58947F805}"/>
              </c:ext>
            </c:extLst>
          </c:dPt>
          <c:dLbls>
            <c:dLbl>
              <c:idx val="0"/>
              <c:tx>
                <c:rich>
                  <a:bodyPr/>
                  <a:lstStyle/>
                  <a:p>
                    <a:r>
                      <a:rPr lang="en-US" sz="1650" dirty="0">
                        <a:solidFill>
                          <a:srgbClr val="202124"/>
                        </a:solidFill>
                        <a:latin typeface="Roboto"/>
                        <a:ea typeface="Roboto"/>
                        <a:cs typeface="Roboto"/>
                      </a:rPr>
                      <a:t>66.50%</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4-0F1E-4BEB-BA5C-43D58947F805}"/>
                </c:ext>
              </c:extLst>
            </c:dLbl>
            <c:dLbl>
              <c:idx val="1"/>
              <c:tx>
                <c:rich>
                  <a:bodyPr/>
                  <a:lstStyle/>
                  <a:p>
                    <a:r>
                      <a:rPr lang="en-US" sz="1650" dirty="0">
                        <a:solidFill>
                          <a:srgbClr val="202124"/>
                        </a:solidFill>
                        <a:latin typeface="Roboto"/>
                        <a:ea typeface="Roboto"/>
                        <a:cs typeface="Roboto"/>
                      </a:rPr>
                      <a:t>77.33%</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0147148069905894"/>
                      <c:h val="6.9900503816333295E-2"/>
                    </c:manualLayout>
                  </c15:layout>
                  <c15:showDataLabelsRange val="0"/>
                </c:ext>
                <c:ext xmlns:c16="http://schemas.microsoft.com/office/drawing/2014/chart" uri="{C3380CC4-5D6E-409C-BE32-E72D297353CC}">
                  <c16:uniqueId val="{00000005-0F1E-4BEB-BA5C-43D58947F805}"/>
                </c:ext>
              </c:extLst>
            </c:dLbl>
            <c:dLbl>
              <c:idx val="2"/>
              <c:tx>
                <c:rich>
                  <a:bodyPr/>
                  <a:lstStyle/>
                  <a:p>
                    <a:r>
                      <a:rPr lang="en-US" sz="1650" dirty="0">
                        <a:solidFill>
                          <a:srgbClr val="202124"/>
                        </a:solidFill>
                        <a:latin typeface="Roboto"/>
                        <a:ea typeface="Roboto"/>
                        <a:cs typeface="Roboto"/>
                      </a:rPr>
                      <a:t>77.52%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122757826003456"/>
                      <c:h val="6.9900503816333295E-2"/>
                    </c:manualLayout>
                  </c15:layout>
                  <c15:showDataLabelsRange val="0"/>
                </c:ext>
                <c:ext xmlns:c16="http://schemas.microsoft.com/office/drawing/2014/chart" uri="{C3380CC4-5D6E-409C-BE32-E72D297353CC}">
                  <c16:uniqueId val="{00000006-0F1E-4BEB-BA5C-43D58947F805}"/>
                </c:ext>
              </c:extLst>
            </c:dLbl>
            <c:dLbl>
              <c:idx val="3"/>
              <c:tx>
                <c:rich>
                  <a:bodyPr/>
                  <a:lstStyle/>
                  <a:p>
                    <a:r>
                      <a:rPr lang="en-US" sz="1650" dirty="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0.11447961078035976"/>
                      <c:h val="6.9900503816333295E-2"/>
                    </c:manualLayout>
                  </c15:layout>
                  <c15:showDataLabelsRange val="0"/>
                </c:ext>
                <c:ext xmlns:c16="http://schemas.microsoft.com/office/drawing/2014/chart" uri="{C3380CC4-5D6E-409C-BE32-E72D297353CC}">
                  <c16:uniqueId val="{00000007-0F1E-4BEB-BA5C-43D58947F805}"/>
                </c:ext>
              </c:extLst>
            </c:dLbl>
            <c:dLbl>
              <c:idx val="4"/>
              <c:tx>
                <c:rich>
                  <a:bodyPr/>
                  <a:lstStyle/>
                  <a:p>
                    <a:r>
                      <a:rPr lang="en-US" sz="1650" dirty="0">
                        <a:solidFill>
                          <a:srgbClr val="202124"/>
                        </a:solidFill>
                        <a:latin typeface="Roboto"/>
                        <a:ea typeface="Roboto"/>
                        <a:cs typeface="Roboto"/>
                      </a:rPr>
                      <a:t>82.72%</a:t>
                    </a:r>
                  </a:p>
                </c:rich>
              </c:tx>
              <c:spPr/>
              <c:dLblPos val="outEnd"/>
              <c:showLegendKey val="1"/>
              <c:showVal val="0"/>
              <c:showCatName val="1"/>
              <c:showSerName val="1"/>
              <c:showPercent val="1"/>
              <c:showBubbleSize val="1"/>
              <c:extLst>
                <c:ext xmlns:c15="http://schemas.microsoft.com/office/drawing/2012/chart" uri="{CE6537A1-D6FC-4f65-9D91-7224C49458BB}">
                  <c15:layout>
                    <c:manualLayout>
                      <c:w val="9.8219448178733737E-2"/>
                      <c:h val="6.9900503816333295E-2"/>
                    </c:manualLayout>
                  </c15:layout>
                  <c15:showDataLabelsRange val="0"/>
                </c:ext>
                <c:ext xmlns:c16="http://schemas.microsoft.com/office/drawing/2014/chart" uri="{C3380CC4-5D6E-409C-BE32-E72D297353CC}">
                  <c16:uniqueId val="{00000001-0F1E-4BEB-BA5C-43D58947F805}"/>
                </c:ext>
              </c:extLst>
            </c:dLbl>
            <c:dLbl>
              <c:idx val="5"/>
              <c:tx>
                <c:rich>
                  <a:bodyPr/>
                  <a:lstStyle/>
                  <a:p>
                    <a:r>
                      <a:rPr lang="en-US" sz="1650" dirty="0">
                        <a:solidFill>
                          <a:srgbClr val="202124"/>
                        </a:solidFill>
                        <a:latin typeface="Roboto"/>
                        <a:ea typeface="Roboto"/>
                        <a:cs typeface="Roboto"/>
                      </a:rPr>
                      <a:t>86.43%</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0F1E-4BEB-BA5C-43D58947F805}"/>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Data'!$A$2:$A$7</c:f>
              <c:strCache>
                <c:ptCount val="6"/>
                <c:pt idx="0">
                  <c:v>EfficientAD-S</c:v>
                </c:pt>
                <c:pt idx="1">
                  <c:v>TinyGLASS-512</c:v>
                </c:pt>
                <c:pt idx="2">
                  <c:v>TinyGLASS-384</c:v>
                </c:pt>
                <c:pt idx="3">
                  <c:v>PatchCore-S</c:v>
                </c:pt>
                <c:pt idx="4">
                  <c:v>SuperSimpleNet</c:v>
                </c:pt>
                <c:pt idx="5">
                  <c:v>PatchCore-L</c:v>
                </c:pt>
              </c:strCache>
            </c:strRef>
          </c:cat>
          <c:val>
            <c:numRef>
              <c:f>'Chart Data'!$B$2:$B$7</c:f>
              <c:numCache>
                <c:formatCode>General</c:formatCode>
                <c:ptCount val="6"/>
                <c:pt idx="0">
                  <c:v>66.5</c:v>
                </c:pt>
                <c:pt idx="1">
                  <c:v>77.33</c:v>
                </c:pt>
                <c:pt idx="2">
                  <c:v>77.52</c:v>
                </c:pt>
                <c:pt idx="3">
                  <c:v>79.28</c:v>
                </c:pt>
                <c:pt idx="4">
                  <c:v>82.72</c:v>
                </c:pt>
                <c:pt idx="5">
                  <c:v>86.43</c:v>
                </c:pt>
              </c:numCache>
            </c:numRef>
          </c:val>
          <c:extLst>
            <c:ext xmlns:c16="http://schemas.microsoft.com/office/drawing/2014/chart" uri="{C3380CC4-5D6E-409C-BE32-E72D297353CC}">
              <c16:uniqueId val="{00000008-0F1E-4BEB-BA5C-43D58947F805}"/>
            </c:ext>
          </c:extLst>
        </c:ser>
        <c:dLbls>
          <c:dLblPos val="outEnd"/>
          <c:showLegendKey val="0"/>
          <c:showVal val="1"/>
          <c:showCatName val="0"/>
          <c:showSerName val="0"/>
          <c:showPercent val="0"/>
          <c:showBubbleSize val="0"/>
        </c:dLbls>
        <c:gapWidth val="7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725">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plotVisOnly val="1"/>
    <c:dispBlanksAs val="zero"/>
    <c:showDLblsOverMax val="1"/>
  </c:chart>
  <c:spPr>
    <a:solidFill>
      <a:srgbClr val="FFFFFF"/>
    </a:solidFill>
    <a:ln w="0">
      <a:noFill/>
    </a:ln>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CE</c:v>
          </c:tx>
          <c:spPr>
            <a:solidFill>
              <a:srgbClr val="D7DDE2"/>
            </a:solidFill>
          </c:spPr>
          <c:invertIfNegative val="0"/>
          <c:dLbls>
            <c:dLbl>
              <c:idx val="0"/>
              <c:tx>
                <c:rich>
                  <a:bodyPr/>
                  <a:lstStyle/>
                  <a:p>
                    <a:r>
                      <a:rPr lang="en-US" sz="1650">
                        <a:solidFill>
                          <a:srgbClr val="202124"/>
                        </a:solidFill>
                        <a:latin typeface="Roboto"/>
                        <a:ea typeface="Roboto"/>
                        <a:cs typeface="Roboto"/>
                      </a:rPr>
                      <a:t>59.5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187-41D8-85DC-321ADDCFCAC4}"/>
                </c:ext>
              </c:extLst>
            </c:dLbl>
            <c:dLbl>
              <c:idx val="1"/>
              <c:tx>
                <c:rich>
                  <a:bodyPr/>
                  <a:lstStyle/>
                  <a:p>
                    <a:r>
                      <a:rPr lang="en-US" sz="1650">
                        <a:solidFill>
                          <a:srgbClr val="202124"/>
                        </a:solidFill>
                        <a:latin typeface="Roboto"/>
                        <a:ea typeface="Roboto"/>
                        <a:cs typeface="Roboto"/>
                      </a:rPr>
                      <a:t>69.2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Data'!$A$2:$A$3</c:f>
              <c:strCache>
                <c:ptCount val="2"/>
                <c:pt idx="0">
                  <c:v>U-Net R34</c:v>
                </c:pt>
                <c:pt idx="1">
                  <c:v>SegFormer-B0</c:v>
                </c:pt>
              </c:strCache>
            </c:strRef>
          </c:cat>
          <c:val>
            <c:numRef>
              <c:f>'Chart Data'!$B$2:$B$3</c:f>
              <c:numCache>
                <c:formatCode>General</c:formatCode>
                <c:ptCount val="2"/>
                <c:pt idx="0">
                  <c:v>59.5</c:v>
                </c:pt>
                <c:pt idx="1">
                  <c:v>69.2</c:v>
                </c:pt>
              </c:numCache>
            </c:numRef>
          </c:val>
          <c:extLst>
            <c:ext xmlns:c16="http://schemas.microsoft.com/office/drawing/2014/chart" uri="{C3380CC4-5D6E-409C-BE32-E72D297353CC}">
              <c16:uniqueId val="{00000002-C187-41D8-85DC-321ADDCFCAC4}"/>
            </c:ext>
          </c:extLst>
        </c:ser>
        <c:ser>
          <c:idx val="1"/>
          <c:order val="1"/>
          <c:tx>
            <c:v>CE + GDL</c:v>
          </c:tx>
          <c:spPr>
            <a:solidFill>
              <a:srgbClr val="822433"/>
            </a:solidFill>
          </c:spPr>
          <c:invertIfNegative val="0"/>
          <c:dLbls>
            <c:dLbl>
              <c:idx val="0"/>
              <c:tx>
                <c:rich>
                  <a:bodyPr/>
                  <a:lstStyle/>
                  <a:p>
                    <a:r>
                      <a:rPr lang="en-US" sz="1650">
                        <a:solidFill>
                          <a:srgbClr val="202124"/>
                        </a:solidFill>
                        <a:latin typeface="Roboto"/>
                        <a:ea typeface="Roboto"/>
                        <a:cs typeface="Roboto"/>
                      </a:rPr>
                      <a:t>64.5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187-41D8-85DC-321ADDCFCAC4}"/>
                </c:ext>
              </c:extLst>
            </c:dLbl>
            <c:dLbl>
              <c:idx val="1"/>
              <c:tx>
                <c:rich>
                  <a:bodyPr/>
                  <a:lstStyle/>
                  <a:p>
                    <a:r>
                      <a:rPr lang="en-US" sz="1650">
                        <a:solidFill>
                          <a:srgbClr val="202124"/>
                        </a:solidFill>
                        <a:latin typeface="Roboto"/>
                        <a:ea typeface="Roboto"/>
                        <a:cs typeface="Roboto"/>
                      </a:rPr>
                      <a:t>75.5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4-C187-41D8-85DC-321ADDCFCAC4}"/>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Data'!$C$2:$C$3</c:f>
              <c:strCache>
                <c:ptCount val="2"/>
                <c:pt idx="0">
                  <c:v>U-Net R34</c:v>
                </c:pt>
                <c:pt idx="1">
                  <c:v>SegFormer-B0</c:v>
                </c:pt>
              </c:strCache>
            </c:strRef>
          </c:cat>
          <c:val>
            <c:numRef>
              <c:f>'Chart Data'!$D$2:$D$3</c:f>
              <c:numCache>
                <c:formatCode>General</c:formatCode>
                <c:ptCount val="2"/>
                <c:pt idx="0">
                  <c:v>64.5</c:v>
                </c:pt>
                <c:pt idx="1">
                  <c:v>75.5</c:v>
                </c:pt>
              </c:numCache>
            </c:numRef>
          </c:val>
          <c:extLst>
            <c:ext xmlns:c16="http://schemas.microsoft.com/office/drawing/2014/chart" uri="{C3380CC4-5D6E-409C-BE32-E72D297353CC}">
              <c16:uniqueId val="{00000005-C187-41D8-85DC-321ADDCFCAC4}"/>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it-IT"/>
  <c:roundedCorners val="1"/>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bar"/>
        <c:grouping val="clustered"/>
        <c:varyColors val="0"/>
        <c:ser>
          <c:idx val="0"/>
          <c:order val="0"/>
          <c:tx>
            <c:v>Validation</c:v>
          </c:tx>
          <c:spPr>
            <a:solidFill>
              <a:srgbClr val="D7DDE2"/>
            </a:solidFill>
          </c:spPr>
          <c:invertIfNegative val="0"/>
          <c:dLbls>
            <c:dLbl>
              <c:idx val="0"/>
              <c:tx>
                <c:rich>
                  <a:bodyPr/>
                  <a:lstStyle/>
                  <a:p>
                    <a:r>
                      <a:rPr lang="en-US" sz="1650">
                        <a:solidFill>
                          <a:srgbClr val="202124"/>
                        </a:solidFill>
                        <a:latin typeface="Roboto"/>
                        <a:ea typeface="Roboto"/>
                        <a:cs typeface="Roboto"/>
                      </a:rPr>
                      <a:t>79.28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0-CFBC-419C-B6FD-F97CF0A7E360}"/>
                </c:ext>
              </c:extLst>
            </c:dLbl>
            <c:dLbl>
              <c:idx val="1"/>
              <c:tx>
                <c:rich>
                  <a:bodyPr/>
                  <a:lstStyle/>
                  <a:p>
                    <a:r>
                      <a:rPr lang="en-US" sz="1650">
                        <a:solidFill>
                          <a:srgbClr val="202124"/>
                        </a:solidFill>
                        <a:latin typeface="Roboto"/>
                        <a:ea typeface="Roboto"/>
                        <a:cs typeface="Roboto"/>
                      </a:rPr>
                      <a:t>70.64</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1-CFBC-419C-B6FD-F97CF0A7E360}"/>
                </c:ext>
              </c:extLst>
            </c:dLbl>
            <c:dLbl>
              <c:idx val="2"/>
              <c:tx>
                <c:rich>
                  <a:bodyPr/>
                  <a:lstStyle/>
                  <a:p>
                    <a:r>
                      <a:rPr lang="en-US" sz="1650">
                        <a:solidFill>
                          <a:srgbClr val="202124"/>
                        </a:solidFill>
                        <a:latin typeface="Roboto"/>
                        <a:ea typeface="Roboto"/>
                        <a:cs typeface="Roboto"/>
                      </a:rPr>
                      <a:t>73.99</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2-CFBC-419C-B6FD-F97CF0A7E360}"/>
                </c:ext>
              </c:extLst>
            </c:dLbl>
            <c:dLbl>
              <c:idx val="3"/>
              <c:tx>
                <c:rich>
                  <a:bodyPr/>
                  <a:lstStyle/>
                  <a:p>
                    <a:r>
                      <a:rPr lang="en-US" sz="1650">
                        <a:solidFill>
                          <a:srgbClr val="202124"/>
                        </a:solidFill>
                        <a:latin typeface="Roboto"/>
                        <a:ea typeface="Roboto"/>
                        <a:cs typeface="Roboto"/>
                      </a:rPr>
                      <a:t>80.28</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3-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Data'!$A$2:$A$5</c:f>
              <c:strCache>
                <c:ptCount val="4"/>
                <c:pt idx="0">
                  <c:v>Oversampling, uniform</c:v>
                </c:pt>
                <c:pt idx="1">
                  <c:v>Oversampling, square</c:v>
                </c:pt>
                <c:pt idx="2">
                  <c:v>Geometric augmentation</c:v>
                </c:pt>
                <c:pt idx="3">
                  <c:v>Default</c:v>
                </c:pt>
              </c:strCache>
            </c:strRef>
          </c:cat>
          <c:val>
            <c:numRef>
              <c:f>'Chart Data'!$B$2:$B$5</c:f>
              <c:numCache>
                <c:formatCode>General</c:formatCode>
                <c:ptCount val="4"/>
                <c:pt idx="0">
                  <c:v>79.28</c:v>
                </c:pt>
                <c:pt idx="1">
                  <c:v>70.64</c:v>
                </c:pt>
                <c:pt idx="2">
                  <c:v>73.989999999999995</c:v>
                </c:pt>
                <c:pt idx="3">
                  <c:v>80.28</c:v>
                </c:pt>
              </c:numCache>
            </c:numRef>
          </c:val>
          <c:extLst>
            <c:ext xmlns:c16="http://schemas.microsoft.com/office/drawing/2014/chart" uri="{C3380CC4-5D6E-409C-BE32-E72D297353CC}">
              <c16:uniqueId val="{00000004-CFBC-419C-B6FD-F97CF0A7E360}"/>
            </c:ext>
          </c:extLst>
        </c:ser>
        <c:ser>
          <c:idx val="1"/>
          <c:order val="1"/>
          <c:tx>
            <c:v>Test</c:v>
          </c:tx>
          <c:spPr>
            <a:solidFill>
              <a:srgbClr val="822433"/>
            </a:solidFill>
          </c:spPr>
          <c:invertIfNegative val="0"/>
          <c:dLbls>
            <c:dLbl>
              <c:idx val="0"/>
              <c:tx>
                <c:rich>
                  <a:bodyPr/>
                  <a:lstStyle/>
                  <a:p>
                    <a:r>
                      <a:rPr lang="en-US" sz="1650">
                        <a:solidFill>
                          <a:srgbClr val="202124"/>
                        </a:solidFill>
                        <a:latin typeface="Roboto"/>
                        <a:ea typeface="Roboto"/>
                        <a:cs typeface="Roboto"/>
                      </a:rPr>
                      <a:t>72.90</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5-CFBC-419C-B6FD-F97CF0A7E360}"/>
                </c:ext>
              </c:extLst>
            </c:dLbl>
            <c:dLbl>
              <c:idx val="1"/>
              <c:tx>
                <c:rich>
                  <a:bodyPr/>
                  <a:lstStyle/>
                  <a:p>
                    <a:r>
                      <a:rPr lang="en-US" sz="1650">
                        <a:solidFill>
                          <a:srgbClr val="202124"/>
                        </a:solidFill>
                        <a:latin typeface="Roboto"/>
                        <a:ea typeface="Roboto"/>
                        <a:cs typeface="Roboto"/>
                      </a:rPr>
                      <a:t>71.02</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6-CFBC-419C-B6FD-F97CF0A7E360}"/>
                </c:ext>
              </c:extLst>
            </c:dLbl>
            <c:dLbl>
              <c:idx val="2"/>
              <c:tx>
                <c:rich>
                  <a:bodyPr/>
                  <a:lstStyle/>
                  <a:p>
                    <a:r>
                      <a:rPr lang="en-US" sz="1650">
                        <a:solidFill>
                          <a:srgbClr val="202124"/>
                        </a:solidFill>
                        <a:latin typeface="Roboto"/>
                        <a:ea typeface="Roboto"/>
                        <a:cs typeface="Roboto"/>
                      </a:rPr>
                      <a:t>66.86</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7-CFBC-419C-B6FD-F97CF0A7E360}"/>
                </c:ext>
              </c:extLst>
            </c:dLbl>
            <c:dLbl>
              <c:idx val="3"/>
              <c:tx>
                <c:rich>
                  <a:bodyPr/>
                  <a:lstStyle/>
                  <a:p>
                    <a:r>
                      <a:rPr lang="en-US" sz="1650">
                        <a:solidFill>
                          <a:srgbClr val="202124"/>
                        </a:solidFill>
                        <a:latin typeface="Roboto"/>
                        <a:ea typeface="Roboto"/>
                        <a:cs typeface="Roboto"/>
                      </a:rPr>
                      <a:t>75.55</a:t>
                    </a:r>
                  </a:p>
                </c:rich>
              </c:tx>
              <c:spPr/>
              <c:dLblPos val="outEnd"/>
              <c:showLegendKey val="1"/>
              <c:showVal val="0"/>
              <c:showCatName val="1"/>
              <c:showSerName val="1"/>
              <c:showPercent val="1"/>
              <c:showBubbleSize val="1"/>
              <c:extLst>
                <c:ext xmlns:c15="http://schemas.microsoft.com/office/drawing/2012/chart" uri="{CE6537A1-D6FC-4f65-9D91-7224C49458BB}">
                  <c15:showDataLabelsRange val="0"/>
                </c:ext>
                <c:ext xmlns:c16="http://schemas.microsoft.com/office/drawing/2014/chart" uri="{C3380CC4-5D6E-409C-BE32-E72D297353CC}">
                  <c16:uniqueId val="{00000008-CFBC-419C-B6FD-F97CF0A7E360}"/>
                </c:ext>
              </c:extLst>
            </c:dLbl>
            <c:spPr>
              <a:noFill/>
              <a:ln>
                <a:noFill/>
              </a:ln>
              <a:effectLst/>
            </c:spPr>
            <c:showLegendKey val="1"/>
            <c:showVal val="1"/>
            <c:showCatName val="1"/>
            <c:showSerName val="1"/>
            <c:showPercent val="1"/>
            <c:showBubbleSize val="1"/>
            <c:showLeaderLines val="0"/>
            <c:extLst>
              <c:ext xmlns:c15="http://schemas.microsoft.com/office/drawing/2012/chart" uri="{CE6537A1-D6FC-4f65-9D91-7224C49458BB}">
                <c15:showLeaderLines val="0"/>
              </c:ext>
            </c:extLst>
          </c:dLbls>
          <c:cat>
            <c:strRef>
              <c:f>'Chart Data'!$C$2:$C$5</c:f>
              <c:strCache>
                <c:ptCount val="4"/>
                <c:pt idx="0">
                  <c:v>Oversampling, uniform</c:v>
                </c:pt>
                <c:pt idx="1">
                  <c:v>Oversampling, square</c:v>
                </c:pt>
                <c:pt idx="2">
                  <c:v>Geometric augmentation</c:v>
                </c:pt>
                <c:pt idx="3">
                  <c:v>Default</c:v>
                </c:pt>
              </c:strCache>
            </c:strRef>
          </c:cat>
          <c:val>
            <c:numRef>
              <c:f>'Chart Data'!$D$2:$D$5</c:f>
              <c:numCache>
                <c:formatCode>General</c:formatCode>
                <c:ptCount val="4"/>
                <c:pt idx="0">
                  <c:v>72.900000000000006</c:v>
                </c:pt>
                <c:pt idx="1">
                  <c:v>71.02</c:v>
                </c:pt>
                <c:pt idx="2">
                  <c:v>66.86</c:v>
                </c:pt>
                <c:pt idx="3">
                  <c:v>75.55</c:v>
                </c:pt>
              </c:numCache>
            </c:numRef>
          </c:val>
          <c:extLst>
            <c:ext xmlns:c16="http://schemas.microsoft.com/office/drawing/2014/chart" uri="{C3380CC4-5D6E-409C-BE32-E72D297353CC}">
              <c16:uniqueId val="{00000009-CFBC-419C-B6FD-F97CF0A7E360}"/>
            </c:ext>
          </c:extLst>
        </c:ser>
        <c:dLbls>
          <c:dLblPos val="outEnd"/>
          <c:showLegendKey val="0"/>
          <c:showVal val="1"/>
          <c:showCatName val="0"/>
          <c:showSerName val="0"/>
          <c:showPercent val="0"/>
          <c:showBubbleSize val="0"/>
        </c:dLbls>
        <c:gapWidth val="80"/>
        <c:axId val="48650112"/>
        <c:axId val="48672768"/>
      </c:barChart>
      <c:catAx>
        <c:axId val="48650112"/>
        <c:scaling>
          <c:orientation val="minMax"/>
        </c:scaling>
        <c:delete val="0"/>
        <c:axPos val="l"/>
        <c:numFmt formatCode="General" sourceLinked="1"/>
        <c:majorTickMark val="none"/>
        <c:minorTickMark val="none"/>
        <c:tickLblPos val="nextTo"/>
        <c:spPr>
          <a:ln w="6668">
            <a:solidFill>
              <a:srgbClr val="C7CDD2"/>
            </a:solidFill>
          </a:ln>
        </c:spPr>
        <c:txPr>
          <a:bodyPr anchorCtr="1"/>
          <a:lstStyle/>
          <a:p>
            <a:pPr>
              <a:defRPr sz="1600">
                <a:solidFill>
                  <a:srgbClr val="656B73"/>
                </a:solidFill>
                <a:latin typeface="Roboto"/>
                <a:ea typeface="Roboto"/>
                <a:cs typeface="Roboto"/>
              </a:defRPr>
            </a:pPr>
            <a:endParaRPr lang="en-US"/>
          </a:p>
        </c:txPr>
        <c:crossAx val="48672768"/>
        <c:crosses val="autoZero"/>
        <c:auto val="1"/>
        <c:lblAlgn val="ctr"/>
        <c:lblOffset val="100"/>
        <c:tickLblSkip val="1"/>
        <c:tickMarkSkip val="1"/>
        <c:noMultiLvlLbl val="1"/>
      </c:catAx>
      <c:valAx>
        <c:axId val="48672768"/>
        <c:scaling>
          <c:orientation val="minMax"/>
          <c:max val="100"/>
          <c:min val="0"/>
        </c:scaling>
        <c:delete val="0"/>
        <c:axPos val="b"/>
        <c:numFmt formatCode="General" sourceLinked="1"/>
        <c:majorTickMark val="none"/>
        <c:minorTickMark val="none"/>
        <c:tickLblPos val="nextTo"/>
        <c:spPr>
          <a:ln w="0">
            <a:noFill/>
          </a:ln>
        </c:spPr>
        <c:txPr>
          <a:bodyPr anchorCtr="1"/>
          <a:lstStyle/>
          <a:p>
            <a:pPr>
              <a:defRPr sz="1650">
                <a:solidFill>
                  <a:srgbClr val="656B73"/>
                </a:solidFill>
                <a:latin typeface="Roboto"/>
                <a:ea typeface="Roboto"/>
                <a:cs typeface="Roboto"/>
              </a:defRPr>
            </a:pPr>
            <a:endParaRPr lang="en-US"/>
          </a:p>
        </c:txPr>
        <c:crossAx val="48650112"/>
        <c:crosses val="autoZero"/>
        <c:crossBetween val="between"/>
        <c:majorUnit val="20"/>
      </c:valAx>
      <c:spPr>
        <a:solidFill>
          <a:srgbClr val="FFFFFF"/>
        </a:solidFill>
        <a:ln w="0">
          <a:noFill/>
        </a:ln>
      </c:spPr>
    </c:plotArea>
    <c:legend>
      <c:legendPos val="b"/>
      <c:overlay val="0"/>
      <c:txPr>
        <a:bodyPr anchorCtr="1"/>
        <a:lstStyle/>
        <a:p>
          <a:pPr>
            <a:defRPr sz="1650">
              <a:solidFill>
                <a:srgbClr val="656B73"/>
              </a:solidFill>
              <a:latin typeface="Roboto"/>
              <a:ea typeface="Roboto"/>
              <a:cs typeface="Roboto"/>
            </a:defRPr>
          </a:pPr>
          <a:endParaRPr lang="en-US"/>
        </a:p>
      </c:txPr>
    </c:legend>
    <c:plotVisOnly val="1"/>
    <c:dispBlanksAs val="zero"/>
    <c:showDLblsOverMax val="1"/>
  </c:chart>
  <c:spPr>
    <a:solidFill>
      <a:srgbClr val="FFFFFF"/>
    </a:solidFill>
    <a:ln w="0">
      <a:noFill/>
    </a:ln>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intestazion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it-IT"/>
          </a:p>
        </p:txBody>
      </p:sp>
      <p:sp>
        <p:nvSpPr>
          <p:cNvPr id="3" name="Segnaposto dat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70C1239-0725-46DB-A966-8FDB2DE1064C}" type="datetimeFigureOut">
              <a:rPr lang="it-IT" smtClean="0"/>
              <a:t>25/10/2026</a:t>
            </a:fld>
            <a:endParaRPr lang="it-IT"/>
          </a:p>
        </p:txBody>
      </p:sp>
      <p:sp>
        <p:nvSpPr>
          <p:cNvPr id="4" name="Segnaposto immagin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it-IT"/>
          </a:p>
        </p:txBody>
      </p:sp>
      <p:sp>
        <p:nvSpPr>
          <p:cNvPr id="5" name="Segnaposto note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6" name="Segnaposto piè di pa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it-IT"/>
          </a:p>
        </p:txBody>
      </p:sp>
      <p:sp>
        <p:nvSpPr>
          <p:cNvPr id="7" name="Segnaposto numero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8FF6D0F-8D8B-42DD-BAAB-92498700177C}" type="slidenum">
              <a:rPr lang="it-IT" smtClean="0"/>
              <a:t>‹N›</a:t>
            </a:fld>
            <a:endParaRPr lang="it-IT"/>
          </a:p>
        </p:txBody>
      </p:sp>
    </p:spTree>
    <p:extLst>
      <p:ext uri="{BB962C8B-B14F-4D97-AF65-F5344CB8AC3E}">
        <p14:creationId xmlns:p14="http://schemas.microsoft.com/office/powerpoint/2010/main" val="29934772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15–25 seconds.]</a:t>
            </a:r>
          </a:p>
          <a:p>
            <a:endParaRPr lang="en-US" dirty="0"/>
          </a:p>
          <a:p>
            <a:r>
              <a:rPr lang="en-US" dirty="0"/>
              <a:t>Good morning, my name is Daniele Venturini. My thesis focuses on two aspects of visual perception for Mars rovers: understanding the surrounding terrain and identifying possible wheel damage, while taking limited computing resources into account.</a:t>
            </a:r>
          </a:p>
          <a:p>
            <a:endParaRPr lang="en-US" dirty="0"/>
          </a:p>
          <a:p>
            <a:r>
              <a:rPr lang="en-US" dirty="0"/>
              <a:t>[Supporting sources, not to be read aloud: Thesis, title and </a:t>
            </a:r>
            <a:r>
              <a:rPr lang="en-US"/>
              <a:t>introduction.]</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1</a:t>
            </a:fld>
            <a:endParaRPr lang="it-IT"/>
          </a:p>
        </p:txBody>
      </p:sp>
    </p:spTree>
    <p:extLst>
      <p:ext uri="{BB962C8B-B14F-4D97-AF65-F5344CB8AC3E}">
        <p14:creationId xmlns:p14="http://schemas.microsoft.com/office/powerpoint/2010/main" val="411501281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10–20 seconds.]</a:t>
            </a:r>
          </a:p>
          <a:p>
            <a:endParaRPr lang="en-US" dirty="0"/>
          </a:p>
          <a:p>
            <a:r>
              <a:rPr lang="en-US" dirty="0"/>
              <a:t>I will begin with the problem and the objectives. I will then present semantic segmentation, synthetic dataset generation and wheel inspection, followed by the results and conclusions.</a:t>
            </a:r>
          </a:p>
          <a:p>
            <a:endParaRPr lang="en-US" dirty="0"/>
          </a:p>
          <a:p>
            <a:r>
              <a:rPr lang="en-US" dirty="0"/>
              <a:t>[Supporting sources, not to be read aloud: Presentation </a:t>
            </a:r>
            <a:r>
              <a:rPr lang="en-US"/>
              <a:t>outline.]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2</a:t>
            </a:fld>
            <a:endParaRPr lang="it-IT"/>
          </a:p>
        </p:txBody>
      </p:sp>
    </p:spTree>
    <p:extLst>
      <p:ext uri="{BB962C8B-B14F-4D97-AF65-F5344CB8AC3E}">
        <p14:creationId xmlns:p14="http://schemas.microsoft.com/office/powerpoint/2010/main" val="159385309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Many rover operations are planned and supervised from Earth. A signal takes approximately four to twenty-two minutes to reach Mars, so real-time intervention is not possible. The rover carries out the plan and reports the outcome, or requests assistance. Improving its ability to interpret images locally could reduce this dependence and support more autonomous decisions.</a:t>
            </a:r>
          </a:p>
          <a:p>
            <a:endParaRPr lang="en-US" dirty="0"/>
          </a:p>
          <a:p>
            <a:r>
              <a:rPr lang="en-US" dirty="0"/>
              <a:t>[Supporting sources, not to be read aloud: Thesis, Chapter 1; reference [</a:t>
            </a:r>
            <a:r>
              <a:rPr lang="en-US"/>
              <a:t>1].]</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a:t>
            </a:fld>
            <a:endParaRPr lang="it-IT"/>
          </a:p>
        </p:txBody>
      </p:sp>
    </p:spTree>
    <p:extLst>
      <p:ext uri="{BB962C8B-B14F-4D97-AF65-F5344CB8AC3E}">
        <p14:creationId xmlns:p14="http://schemas.microsoft.com/office/powerpoint/2010/main" val="381489560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20–30 seconds.]</a:t>
            </a:r>
          </a:p>
          <a:p>
            <a:endParaRPr lang="en-US" dirty="0"/>
          </a:p>
          <a:p>
            <a:r>
              <a:rPr lang="en-US" dirty="0"/>
              <a:t>Mobility also depends on the rover's condition. This image shows a real example of perforations in a Curiosity wheel. These conditions are currently monitored through periodic image inspections. An automatic system could flag suspicious observations and highlight areas to examine, helping to track damage over time and plan targeted inspections.</a:t>
            </a:r>
          </a:p>
          <a:p>
            <a:endParaRPr lang="en-US" dirty="0"/>
          </a:p>
          <a:p>
            <a:r>
              <a:rPr lang="en-US" dirty="0"/>
              <a:t>[Supporting sources, not to be read aloud: Thesis, Chapter 1; references [2] and [</a:t>
            </a:r>
            <a:r>
              <a:rPr lang="en-US"/>
              <a:t>3].]</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4</a:t>
            </a:fld>
            <a:endParaRPr lang="it-IT"/>
          </a:p>
        </p:txBody>
      </p:sp>
    </p:spTree>
    <p:extLst>
      <p:ext uri="{BB962C8B-B14F-4D97-AF65-F5344CB8AC3E}">
        <p14:creationId xmlns:p14="http://schemas.microsoft.com/office/powerpoint/2010/main" val="37894528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The objective is to study visual tools that support autonomy, considering both quality and efficiency. I developed two research branches: semantic segmentation of real Mars images to describe the scene, and wheel anomaly detection, for which I built a synthetic dataset. I evaluated the two branches separately. Integrating them is a direction for future work.</a:t>
            </a:r>
          </a:p>
          <a:p>
            <a:endParaRPr lang="en-US" dirty="0"/>
          </a:p>
          <a:p>
            <a:r>
              <a:rPr lang="en-US" dirty="0"/>
              <a:t>[Supporting sources, not to be read aloud: Thesis, Chapters 1 and </a:t>
            </a:r>
            <a:r>
              <a:rPr lang="en-US"/>
              <a:t>8.]</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5</a:t>
            </a:fld>
            <a:endParaRPr lang="it-IT"/>
          </a:p>
        </p:txBody>
      </p:sp>
    </p:spTree>
    <p:extLst>
      <p:ext uri="{BB962C8B-B14F-4D97-AF65-F5344CB8AC3E}">
        <p14:creationId xmlns:p14="http://schemas.microsoft.com/office/powerpoint/2010/main" val="275592483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start with the first branch: scene understanding using lightweight segmentation models.</a:t>
            </a:r>
          </a:p>
          <a:p>
            <a:endParaRPr lang="en-US" dirty="0"/>
          </a:p>
          <a:p>
            <a:r>
              <a:rPr lang="en-US" dirty="0"/>
              <a:t>[Supporting sources, not to be read aloud: Transition </a:t>
            </a:r>
            <a:r>
              <a:rPr lang="en-US"/>
              <a:t>slide.]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6</a:t>
            </a:fld>
            <a:endParaRPr lang="it-IT"/>
          </a:p>
        </p:txBody>
      </p:sp>
    </p:spTree>
    <p:extLst>
      <p:ext uri="{BB962C8B-B14F-4D97-AF65-F5344CB8AC3E}">
        <p14:creationId xmlns:p14="http://schemas.microsoft.com/office/powerpoint/2010/main" val="220595369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r>
              <a:rPr lang="en-US" dirty="0"/>
              <a:t>[Main presentation. Approximate time: 25–35 seconds.]</a:t>
            </a:r>
          </a:p>
          <a:p>
            <a:endParaRPr lang="en-US" dirty="0"/>
          </a:p>
          <a:p>
            <a:r>
              <a:rPr lang="en-US" dirty="0"/>
              <a:t>Semantic segmentation assigns a class to every pixel. Starting from an RGB image, we want to distinguish regions such as rocks, sand and bedrock. The reference mask allows us to evaluate the prediction. The main metric is mean Intersection over Union, or </a:t>
            </a:r>
            <a:r>
              <a:rPr lang="en-US" dirty="0" err="1"/>
              <a:t>mIoU</a:t>
            </a:r>
            <a:r>
              <a:rPr lang="en-US" dirty="0"/>
              <a:t>, which measures the average overlap between predicted and annotated regions across the different classes.</a:t>
            </a:r>
          </a:p>
          <a:p>
            <a:endParaRPr lang="en-US" dirty="0"/>
          </a:p>
          <a:p>
            <a:r>
              <a:rPr lang="en-US" dirty="0"/>
              <a:t>[Supporting sources, not to be read aloud: Thesis, Chapter 2, task </a:t>
            </a:r>
            <a:r>
              <a:rPr lang="en-US"/>
              <a:t>definition.]</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7</a:t>
            </a:fld>
            <a:endParaRPr lang="it-IT"/>
          </a:p>
        </p:txBody>
      </p:sp>
    </p:spTree>
    <p:extLst>
      <p:ext uri="{BB962C8B-B14F-4D97-AF65-F5344CB8AC3E}">
        <p14:creationId xmlns:p14="http://schemas.microsoft.com/office/powerpoint/2010/main" val="48970725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txBody>
          <a:bodyPr/>
          <a:lstStyle/>
          <a:p>
            <a:endParaRPr lang="it-IT"/>
          </a:p>
        </p:txBody>
      </p:sp>
      <p:sp>
        <p:nvSpPr>
          <p:cNvPr id="3" name="Segnaposto note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main dataset is the version of S5Mars provided by Mars-Bench: real Curiosity images with nine classes, including Rover. I kept the training, validation and test splits shown here. To study generalization, I also used MarsSeg, which has seven classes and two domains: MSL, meaning Curiosity, and MER, meaning Spirit and Opportunity. Here, the aim is to understand what happens when the mission changes.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datasets; references [4] and [</a:t>
            </a:r>
            <a:r>
              <a:rPr lang="en-US"/>
              <a:t>5].]</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8</a:t>
            </a:fld>
            <a:endParaRPr lang="it-IT"/>
          </a:p>
        </p:txBody>
      </p:sp>
    </p:spTree>
    <p:extLst>
      <p:ext uri="{BB962C8B-B14F-4D97-AF65-F5344CB8AC3E}">
        <p14:creationId xmlns:p14="http://schemas.microsoft.com/office/powerpoint/2010/main" val="262650334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5A177D-E449-8957-F5EF-D1DFE5F6490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6246E1C-C04E-3900-A01C-0B44C3A109D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1607AB5-E319-4593-B1AF-164B854892F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compared seven configurations, ranging from U-Net and </a:t>
            </a:r>
            <a:r>
              <a:rPr lang="en-US" dirty="0" err="1"/>
              <a:t>DeepLab</a:t>
            </a:r>
            <a:r>
              <a:rPr lang="en-US" dirty="0"/>
              <a:t> CNNs to the lightweight </a:t>
            </a:r>
            <a:r>
              <a:rPr lang="en-US" dirty="0" err="1"/>
              <a:t>LCNet</a:t>
            </a:r>
            <a:r>
              <a:rPr lang="en-US" dirty="0"/>
              <a:t> variants and the SegFormer-B0 transformer. Changing the encoder lets us assess the relationship between model capacity and parameter count. </a:t>
            </a:r>
            <a:r>
              <a:rPr lang="en-US" dirty="0" err="1"/>
              <a:t>SegFormer</a:t>
            </a:r>
            <a:r>
              <a:rPr lang="en-US" dirty="0"/>
              <a:t> has about 3.7 million parameters, while </a:t>
            </a:r>
            <a:r>
              <a:rPr lang="en-US" dirty="0" err="1"/>
              <a:t>LCNet</a:t>
            </a:r>
            <a:r>
              <a:rPr lang="en-US" dirty="0"/>
              <a:t> has fewer than one million. Initialization also differs: </a:t>
            </a:r>
            <a:r>
              <a:rPr lang="en-US" dirty="0" err="1"/>
              <a:t>LCNet</a:t>
            </a:r>
            <a:r>
              <a:rPr lang="en-US" dirty="0"/>
              <a:t> starts from scratch, while the other models use pretrained weights.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architectures; references [6]–[</a:t>
            </a:r>
            <a:r>
              <a:rPr lang="en-US"/>
              <a:t>10].]</a:t>
            </a:r>
            <a:endParaRPr lang="en-US" dirty="0"/>
          </a:p>
        </p:txBody>
      </p:sp>
      <p:sp>
        <p:nvSpPr>
          <p:cNvPr id="4" name="Segnaposto numero diapositiva 3">
            <a:extLst>
              <a:ext uri="{FF2B5EF4-FFF2-40B4-BE49-F238E27FC236}">
                <a16:creationId xmlns:a16="http://schemas.microsoft.com/office/drawing/2014/main" id="{0E8B3DB5-B3A0-8676-EAC6-941E982A3A0E}"/>
              </a:ext>
            </a:extLst>
          </p:cNvPr>
          <p:cNvSpPr>
            <a:spLocks noGrp="1"/>
          </p:cNvSpPr>
          <p:nvPr>
            <p:ph type="sldNum" sz="quarter" idx="5"/>
          </p:nvPr>
        </p:nvSpPr>
        <p:spPr/>
        <p:txBody>
          <a:bodyPr/>
          <a:lstStyle/>
          <a:p>
            <a:fld id="{98FF6D0F-8D8B-42DD-BAAB-92498700177C}" type="slidenum">
              <a:rPr lang="it-IT" smtClean="0"/>
              <a:t>9</a:t>
            </a:fld>
            <a:endParaRPr lang="it-IT"/>
          </a:p>
        </p:txBody>
      </p:sp>
    </p:spTree>
    <p:extLst>
      <p:ext uri="{BB962C8B-B14F-4D97-AF65-F5344CB8AC3E}">
        <p14:creationId xmlns:p14="http://schemas.microsoft.com/office/powerpoint/2010/main" val="24811603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C4CDD4-00F9-26CF-C7F0-93CC3C28FC8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5384C7-A7BF-AD93-2819-4C57BB1B840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20E47D-6297-B0AB-7E79-542D06F18B1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Training uses images of 512 by 512 pixels, a batch size of 32 and thirty epochs, extended to sixty for </a:t>
            </a:r>
            <a:r>
              <a:rPr lang="en-US" dirty="0" err="1"/>
              <a:t>LCNet</a:t>
            </a:r>
            <a:r>
              <a:rPr lang="en-US" dirty="0"/>
              <a:t>. The loss combines cross-entropy and Generalized Dice with equal weights, bringing together pixel classification and region overlap. I use </a:t>
            </a:r>
            <a:r>
              <a:rPr lang="en-US" dirty="0" err="1"/>
              <a:t>AdamW</a:t>
            </a:r>
            <a:r>
              <a:rPr lang="en-US" dirty="0"/>
              <a:t> with warm-up and learning-rate decay. After training, I compare FP32, FP16, post-training quantization and quantization-aware training, which adapts the model to the effects of reduced precision.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training and quantization; reference [</a:t>
            </a:r>
            <a:r>
              <a:rPr lang="en-US"/>
              <a:t>11].]</a:t>
            </a:r>
            <a:endParaRPr lang="en-US" dirty="0"/>
          </a:p>
        </p:txBody>
      </p:sp>
      <p:sp>
        <p:nvSpPr>
          <p:cNvPr id="4" name="Segnaposto numero diapositiva 3">
            <a:extLst>
              <a:ext uri="{FF2B5EF4-FFF2-40B4-BE49-F238E27FC236}">
                <a16:creationId xmlns:a16="http://schemas.microsoft.com/office/drawing/2014/main" id="{72D62289-B215-823E-FEA8-14EAE30D2157}"/>
              </a:ext>
            </a:extLst>
          </p:cNvPr>
          <p:cNvSpPr>
            <a:spLocks noGrp="1"/>
          </p:cNvSpPr>
          <p:nvPr>
            <p:ph type="sldNum" sz="quarter" idx="5"/>
          </p:nvPr>
        </p:nvSpPr>
        <p:spPr/>
        <p:txBody>
          <a:bodyPr/>
          <a:lstStyle/>
          <a:p>
            <a:fld id="{98FF6D0F-8D8B-42DD-BAAB-92498700177C}" type="slidenum">
              <a:rPr lang="it-IT" smtClean="0"/>
              <a:t>10</a:t>
            </a:fld>
            <a:endParaRPr lang="it-IT"/>
          </a:p>
        </p:txBody>
      </p:sp>
    </p:spTree>
    <p:extLst>
      <p:ext uri="{BB962C8B-B14F-4D97-AF65-F5344CB8AC3E}">
        <p14:creationId xmlns:p14="http://schemas.microsoft.com/office/powerpoint/2010/main" val="410811180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move on to the synthetic dataset, which makes it possible to study the second branch.</a:t>
            </a:r>
          </a:p>
          <a:p>
            <a:endParaRPr lang="en-US" dirty="0"/>
          </a:p>
          <a:p>
            <a:r>
              <a:rPr lang="en-US" dirty="0"/>
              <a:t>[Supporting sources, not to be read aloud: Transition </a:t>
            </a:r>
            <a:r>
              <a:rPr lang="en-US"/>
              <a:t>slide.]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11</a:t>
            </a:fld>
            <a:endParaRPr lang="it-IT"/>
          </a:p>
        </p:txBody>
      </p:sp>
    </p:spTree>
    <p:extLst>
      <p:ext uri="{BB962C8B-B14F-4D97-AF65-F5344CB8AC3E}">
        <p14:creationId xmlns:p14="http://schemas.microsoft.com/office/powerpoint/2010/main" val="323070082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F7BE01-9E3F-8CD5-321D-7EEF6F13DBEC}"/>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CAD429A-573A-2D25-D24F-5A0ECA53356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DD6CFBD-F38A-E0A7-2FE5-337CB99ACB9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Wheel inspection required data with specific perforation annotations. Among the resources I examined, I did not find a ready-to-use benchmark with these annotations. I therefore built a pilot study on Curiosity, limited to this damage type. Training contains only wheels without perforations. Dust and ordinary surface wear remain part of the normal appearance that the model must learn.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1 and Chapter 3, </a:t>
            </a:r>
            <a:r>
              <a:rPr lang="en-US"/>
              <a:t>requirements.]</a:t>
            </a:r>
            <a:endParaRPr lang="en-US" dirty="0"/>
          </a:p>
        </p:txBody>
      </p:sp>
      <p:sp>
        <p:nvSpPr>
          <p:cNvPr id="4" name="Segnaposto numero diapositiva 3">
            <a:extLst>
              <a:ext uri="{FF2B5EF4-FFF2-40B4-BE49-F238E27FC236}">
                <a16:creationId xmlns:a16="http://schemas.microsoft.com/office/drawing/2014/main" id="{0CAE6047-DDE8-73BD-A22F-1B745CE4CC28}"/>
              </a:ext>
            </a:extLst>
          </p:cNvPr>
          <p:cNvSpPr>
            <a:spLocks noGrp="1"/>
          </p:cNvSpPr>
          <p:nvPr>
            <p:ph type="sldNum" sz="quarter" idx="5"/>
          </p:nvPr>
        </p:nvSpPr>
        <p:spPr/>
        <p:txBody>
          <a:bodyPr/>
          <a:lstStyle/>
          <a:p>
            <a:fld id="{98FF6D0F-8D8B-42DD-BAAB-92498700177C}" type="slidenum">
              <a:rPr lang="it-IT" smtClean="0"/>
              <a:t>12</a:t>
            </a:fld>
            <a:endParaRPr lang="it-IT"/>
          </a:p>
        </p:txBody>
      </p:sp>
    </p:spTree>
    <p:extLst>
      <p:ext uri="{BB962C8B-B14F-4D97-AF65-F5344CB8AC3E}">
        <p14:creationId xmlns:p14="http://schemas.microsoft.com/office/powerpoint/2010/main" val="1347614794"/>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CF9091-C758-1612-5521-FCB9CDA0092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3D2B614-0D8C-D648-955B-D8240BD26C3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BF6F856-FD58-4E79-F5B3-0A32C39A4A5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 built the scene in Blender using NASA's Curiosity model, separating the six wheels so that I could control them individually. The terrain comes from HiRISE data of Gale Crater. For close-up views, I added procedural details such as small surface variations and rocks. Keeping the rest of the rover also preserves shadows and occlusions that are consistent with the scene.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scene preparation; references [12] and [</a:t>
            </a:r>
            <a:r>
              <a:rPr lang="en-US"/>
              <a:t>13].]</a:t>
            </a:r>
            <a:endParaRPr lang="en-US" dirty="0"/>
          </a:p>
        </p:txBody>
      </p:sp>
      <p:sp>
        <p:nvSpPr>
          <p:cNvPr id="4" name="Segnaposto numero diapositiva 3">
            <a:extLst>
              <a:ext uri="{FF2B5EF4-FFF2-40B4-BE49-F238E27FC236}">
                <a16:creationId xmlns:a16="http://schemas.microsoft.com/office/drawing/2014/main" id="{3449AC4E-DA16-2053-181B-C50E7A03DD78}"/>
              </a:ext>
            </a:extLst>
          </p:cNvPr>
          <p:cNvSpPr>
            <a:spLocks noGrp="1"/>
          </p:cNvSpPr>
          <p:nvPr>
            <p:ph type="sldNum" sz="quarter" idx="5"/>
          </p:nvPr>
        </p:nvSpPr>
        <p:spPr/>
        <p:txBody>
          <a:bodyPr/>
          <a:lstStyle/>
          <a:p>
            <a:fld id="{98FF6D0F-8D8B-42DD-BAAB-92498700177C}" type="slidenum">
              <a:rPr lang="it-IT" smtClean="0"/>
              <a:t>13</a:t>
            </a:fld>
            <a:endParaRPr lang="it-IT"/>
          </a:p>
        </p:txBody>
      </p:sp>
    </p:spTree>
    <p:extLst>
      <p:ext uri="{BB962C8B-B14F-4D97-AF65-F5344CB8AC3E}">
        <p14:creationId xmlns:p14="http://schemas.microsoft.com/office/powerpoint/2010/main" val="31305384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4DA3ED-C9AA-E3C1-E69A-67C700C9D5F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F110E46-A6F5-3E70-CD80-4912D1E9F4A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709A8E31-2922-E596-1B27-52C5C68F098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each damaged observation, I generate a normal counterpart with the same camera, lighting and surface parameters. The intended difference is the hole. The damage mask is generated automatically. Holes fall into three size ranges: small, medium and large. Both images in a pair always stay in the same split, preventing nearly identical scenes from appearing in both training and test data.</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synthetic damage and data </a:t>
            </a:r>
            <a:r>
              <a:rPr lang="en-US"/>
              <a:t>splits.]</a:t>
            </a:r>
            <a:endParaRPr lang="en-US" dirty="0"/>
          </a:p>
        </p:txBody>
      </p:sp>
      <p:sp>
        <p:nvSpPr>
          <p:cNvPr id="4" name="Segnaposto numero diapositiva 3">
            <a:extLst>
              <a:ext uri="{FF2B5EF4-FFF2-40B4-BE49-F238E27FC236}">
                <a16:creationId xmlns:a16="http://schemas.microsoft.com/office/drawing/2014/main" id="{23ECD19A-F3F3-D498-35E9-9E0FD758089A}"/>
              </a:ext>
            </a:extLst>
          </p:cNvPr>
          <p:cNvSpPr>
            <a:spLocks noGrp="1"/>
          </p:cNvSpPr>
          <p:nvPr>
            <p:ph type="sldNum" sz="quarter" idx="5"/>
          </p:nvPr>
        </p:nvSpPr>
        <p:spPr/>
        <p:txBody>
          <a:bodyPr/>
          <a:lstStyle/>
          <a:p>
            <a:fld id="{98FF6D0F-8D8B-42DD-BAAB-92498700177C}" type="slidenum">
              <a:rPr lang="it-IT" smtClean="0"/>
              <a:t>14</a:t>
            </a:fld>
            <a:endParaRPr lang="it-IT"/>
          </a:p>
        </p:txBody>
      </p:sp>
    </p:spTree>
    <p:extLst>
      <p:ext uri="{BB962C8B-B14F-4D97-AF65-F5344CB8AC3E}">
        <p14:creationId xmlns:p14="http://schemas.microsoft.com/office/powerpoint/2010/main" val="5107220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918EE8-8C26-AD1A-11F7-44CBDC26C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3A629C1-A28D-9DE1-6123-23272702DAC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0C0A0750-00D9-C5BD-BEDF-80BF2B0D4C2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To diversify the appearance of the observations, I vary lighting, dust, wear and viewpoint. The percentages describe the chosen dataset composition: dusty conditions are more frequent, and there are four wheel views. Varying wear is particularly important because the detector must distinguish a perforation from a simple surface change. This diversification alone, however, does not demonstrate transfer to real images.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randomization; reference [</a:t>
            </a:r>
            <a:r>
              <a:rPr lang="en-US"/>
              <a:t>14].]</a:t>
            </a:r>
            <a:endParaRPr lang="en-US" dirty="0"/>
          </a:p>
        </p:txBody>
      </p:sp>
      <p:sp>
        <p:nvSpPr>
          <p:cNvPr id="4" name="Segnaposto numero diapositiva 3">
            <a:extLst>
              <a:ext uri="{FF2B5EF4-FFF2-40B4-BE49-F238E27FC236}">
                <a16:creationId xmlns:a16="http://schemas.microsoft.com/office/drawing/2014/main" id="{F748388F-D16A-B13D-0968-6E460E05D5FC}"/>
              </a:ext>
            </a:extLst>
          </p:cNvPr>
          <p:cNvSpPr>
            <a:spLocks noGrp="1"/>
          </p:cNvSpPr>
          <p:nvPr>
            <p:ph type="sldNum" sz="quarter" idx="5"/>
          </p:nvPr>
        </p:nvSpPr>
        <p:spPr/>
        <p:txBody>
          <a:bodyPr/>
          <a:lstStyle/>
          <a:p>
            <a:fld id="{98FF6D0F-8D8B-42DD-BAAB-92498700177C}" type="slidenum">
              <a:rPr lang="it-IT" smtClean="0"/>
              <a:t>15</a:t>
            </a:fld>
            <a:endParaRPr lang="it-IT"/>
          </a:p>
        </p:txBody>
      </p:sp>
    </p:spTree>
    <p:extLst>
      <p:ext uri="{BB962C8B-B14F-4D97-AF65-F5344CB8AC3E}">
        <p14:creationId xmlns:p14="http://schemas.microsoft.com/office/powerpoint/2010/main" val="380206667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909CEA-4B8A-2ED9-DFF4-BE2AA8FBA068}"/>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BC62F6C-7740-727E-20E4-5593348E01B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655DDF8-6B4E-BCB5-0F37-D223306CCDD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result is a dataset of ten thousand images, at 1200 by 900 pixels, covering all six wheels. Seven thousand normal images are reserved for training. Validation contains one thousand images, including 250 damaged images. The test set contains two thousand images, balanced between normal and damaged observations. The dataset is also available on Kaggle.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final dataset </a:t>
            </a:r>
            <a:r>
              <a:rPr lang="en-US"/>
              <a:t>composition.]</a:t>
            </a:r>
            <a:endParaRPr lang="en-US" dirty="0"/>
          </a:p>
        </p:txBody>
      </p:sp>
      <p:sp>
        <p:nvSpPr>
          <p:cNvPr id="4" name="Segnaposto numero diapositiva 3">
            <a:extLst>
              <a:ext uri="{FF2B5EF4-FFF2-40B4-BE49-F238E27FC236}">
                <a16:creationId xmlns:a16="http://schemas.microsoft.com/office/drawing/2014/main" id="{01AE88DD-982D-E08B-03EC-2A050D660996}"/>
              </a:ext>
            </a:extLst>
          </p:cNvPr>
          <p:cNvSpPr>
            <a:spLocks noGrp="1"/>
          </p:cNvSpPr>
          <p:nvPr>
            <p:ph type="sldNum" sz="quarter" idx="5"/>
          </p:nvPr>
        </p:nvSpPr>
        <p:spPr/>
        <p:txBody>
          <a:bodyPr/>
          <a:lstStyle/>
          <a:p>
            <a:fld id="{98FF6D0F-8D8B-42DD-BAAB-92498700177C}" type="slidenum">
              <a:rPr lang="it-IT" smtClean="0"/>
              <a:t>16</a:t>
            </a:fld>
            <a:endParaRPr lang="it-IT"/>
          </a:p>
        </p:txBody>
      </p:sp>
    </p:spTree>
    <p:extLst>
      <p:ext uri="{BB962C8B-B14F-4D97-AF65-F5344CB8AC3E}">
        <p14:creationId xmlns:p14="http://schemas.microsoft.com/office/powerpoint/2010/main" val="385536594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show how I used these data for automatic wheel inspection.</a:t>
            </a:r>
          </a:p>
          <a:p>
            <a:endParaRPr lang="en-US" dirty="0"/>
          </a:p>
          <a:p>
            <a:r>
              <a:rPr lang="en-US" dirty="0"/>
              <a:t>[Supporting sources, not to be read aloud: Transition </a:t>
            </a:r>
            <a:r>
              <a:rPr lang="en-US"/>
              <a:t>slide.]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17</a:t>
            </a:fld>
            <a:endParaRPr lang="it-IT"/>
          </a:p>
        </p:txBody>
      </p:sp>
    </p:spTree>
    <p:extLst>
      <p:ext uri="{BB962C8B-B14F-4D97-AF65-F5344CB8AC3E}">
        <p14:creationId xmlns:p14="http://schemas.microsoft.com/office/powerpoint/2010/main" val="46722643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A92DEA-DEFC-DACF-EC21-F5ED0AFAA9A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612349B-F96A-4375-6DF8-B50177510174}"/>
              </a:ext>
            </a:extLst>
          </p:cNvPr>
          <p:cNvSpPr>
            <a:spLocks noGrp="1" noRot="1" noChangeAspect="1"/>
          </p:cNvSpPr>
          <p:nvPr>
            <p:ph type="sldImg"/>
          </p:nvPr>
        </p:nvSpPr>
        <p:spPr/>
        <p:txBody>
          <a:bodyPr/>
          <a:lstStyle/>
          <a:p>
            <a:endParaRPr lang="it-IT" dirty="0"/>
          </a:p>
        </p:txBody>
      </p:sp>
      <p:sp>
        <p:nvSpPr>
          <p:cNvPr id="3" name="Segnaposto note 2">
            <a:extLst>
              <a:ext uri="{FF2B5EF4-FFF2-40B4-BE49-F238E27FC236}">
                <a16:creationId xmlns:a16="http://schemas.microsoft.com/office/drawing/2014/main" id="{85D995D5-9994-260F-5B3C-CC1A5ABF48B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20–30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Anomaly detection starts by learning the normal appearance of the wheel, using only images without perforations during training. At inference, it produces two outputs: a score for the whole image, indicating how suspicious it is, and a spatial map, indicating where to look for possible damage. Detection and localization therefore answer different questions and need to be evaluated separately.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task and metrics; reference [</a:t>
            </a:r>
            <a:r>
              <a:rPr lang="en-US"/>
              <a:t>15].]</a:t>
            </a:r>
            <a:endParaRPr lang="en-US" dirty="0"/>
          </a:p>
        </p:txBody>
      </p:sp>
      <p:sp>
        <p:nvSpPr>
          <p:cNvPr id="4" name="Segnaposto numero diapositiva 3">
            <a:extLst>
              <a:ext uri="{FF2B5EF4-FFF2-40B4-BE49-F238E27FC236}">
                <a16:creationId xmlns:a16="http://schemas.microsoft.com/office/drawing/2014/main" id="{F6DA54FC-F320-211B-ED68-5A2027B9AFE0}"/>
              </a:ext>
            </a:extLst>
          </p:cNvPr>
          <p:cNvSpPr>
            <a:spLocks noGrp="1"/>
          </p:cNvSpPr>
          <p:nvPr>
            <p:ph type="sldNum" sz="quarter" idx="5"/>
          </p:nvPr>
        </p:nvSpPr>
        <p:spPr/>
        <p:txBody>
          <a:bodyPr/>
          <a:lstStyle/>
          <a:p>
            <a:fld id="{98FF6D0F-8D8B-42DD-BAAB-92498700177C}" type="slidenum">
              <a:rPr lang="it-IT" smtClean="0"/>
              <a:t>18</a:t>
            </a:fld>
            <a:endParaRPr lang="it-IT" dirty="0"/>
          </a:p>
        </p:txBody>
      </p:sp>
    </p:spTree>
    <p:extLst>
      <p:ext uri="{BB962C8B-B14F-4D97-AF65-F5344CB8AC3E}">
        <p14:creationId xmlns:p14="http://schemas.microsoft.com/office/powerpoint/2010/main" val="388950587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6EA165-DEFD-9ECA-8F53-3CBC777A649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C68403F-B0CE-9564-50F7-86A39EE3C8C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F62B687-DF61-100D-FDA8-19F91898E40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PatchCore stores local descriptors from normal images and measures how far the descriptors of a new image are from these references. I considered a Small version with ResNet18 and a Large version with WideResNet50. EfficientAD-S instead uses a student network that learns to reproduce the features of a fixed teacher. Their disagreement signals local anomalies, while an autoencoder branch adds global information. The comparison includes both quality and computational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PatchCore and EfficientAD; references [16] and [</a:t>
            </a:r>
            <a:r>
              <a:rPr lang="en-US"/>
              <a:t>17].]</a:t>
            </a:r>
            <a:endParaRPr lang="en-US" dirty="0"/>
          </a:p>
        </p:txBody>
      </p:sp>
      <p:sp>
        <p:nvSpPr>
          <p:cNvPr id="4" name="Segnaposto numero diapositiva 3">
            <a:extLst>
              <a:ext uri="{FF2B5EF4-FFF2-40B4-BE49-F238E27FC236}">
                <a16:creationId xmlns:a16="http://schemas.microsoft.com/office/drawing/2014/main" id="{F42F8E76-1DBA-5B55-11B2-523AC1E7FE13}"/>
              </a:ext>
            </a:extLst>
          </p:cNvPr>
          <p:cNvSpPr>
            <a:spLocks noGrp="1"/>
          </p:cNvSpPr>
          <p:nvPr>
            <p:ph type="sldNum" sz="quarter" idx="5"/>
          </p:nvPr>
        </p:nvSpPr>
        <p:spPr/>
        <p:txBody>
          <a:bodyPr/>
          <a:lstStyle/>
          <a:p>
            <a:fld id="{98FF6D0F-8D8B-42DD-BAAB-92498700177C}" type="slidenum">
              <a:rPr lang="it-IT" smtClean="0"/>
              <a:t>19</a:t>
            </a:fld>
            <a:endParaRPr lang="it-IT"/>
          </a:p>
        </p:txBody>
      </p:sp>
    </p:spTree>
    <p:extLst>
      <p:ext uri="{BB962C8B-B14F-4D97-AF65-F5344CB8AC3E}">
        <p14:creationId xmlns:p14="http://schemas.microsoft.com/office/powerpoint/2010/main" val="16337537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5C1CCE-A2E6-4E08-40B2-AD08E19BD8A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8E167D3-2C15-B8A5-6661-AE1EB7B9C5A6}"/>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177634C2-501B-190E-3CF3-5FE2B5DE8FA9}"/>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SuperSimpleNet</a:t>
            </a:r>
            <a:r>
              <a:rPr lang="en-US" dirty="0"/>
              <a:t> creates localized perturbations in normal features and learns to distinguish them, with outputs for detection and localization. TinyGLASS uses a compact backbone and combines image alterations with feature perturbations. In our adaptation, some alterations imitate the appearance of holes. These artificial examples are created during training from normal images. The damaged images rendered in Blender remain reserved for evaluation.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SSN and TinyGLASS; references [18]–[</a:t>
            </a:r>
            <a:r>
              <a:rPr lang="en-US"/>
              <a:t>20].]</a:t>
            </a:r>
            <a:endParaRPr lang="en-US" dirty="0"/>
          </a:p>
        </p:txBody>
      </p:sp>
      <p:sp>
        <p:nvSpPr>
          <p:cNvPr id="4" name="Segnaposto numero diapositiva 3">
            <a:extLst>
              <a:ext uri="{FF2B5EF4-FFF2-40B4-BE49-F238E27FC236}">
                <a16:creationId xmlns:a16="http://schemas.microsoft.com/office/drawing/2014/main" id="{D3AB0937-1082-6B13-447F-20F4C59E48F2}"/>
              </a:ext>
            </a:extLst>
          </p:cNvPr>
          <p:cNvSpPr>
            <a:spLocks noGrp="1"/>
          </p:cNvSpPr>
          <p:nvPr>
            <p:ph type="sldNum" sz="quarter" idx="5"/>
          </p:nvPr>
        </p:nvSpPr>
        <p:spPr/>
        <p:txBody>
          <a:bodyPr/>
          <a:lstStyle/>
          <a:p>
            <a:fld id="{98FF6D0F-8D8B-42DD-BAAB-92498700177C}" type="slidenum">
              <a:rPr lang="it-IT" smtClean="0"/>
              <a:t>20</a:t>
            </a:fld>
            <a:endParaRPr lang="it-IT"/>
          </a:p>
        </p:txBody>
      </p:sp>
    </p:spTree>
    <p:extLst>
      <p:ext uri="{BB962C8B-B14F-4D97-AF65-F5344CB8AC3E}">
        <p14:creationId xmlns:p14="http://schemas.microsoft.com/office/powerpoint/2010/main" val="2744900686"/>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02E98F-23C0-2A57-6E4E-F86B7BBF55A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08CBC26-F9F5-F491-0ADB-92FAE30EC7A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D82F584-9BC8-4ADA-5315-FD8F7DD17FA7}"/>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preliminary experiments led us to focus the main comparison on pose A and a fixed crop of 720 by 720 pixels. This reduces the background and preserves more wheel detail before resizing to each model's required input. The crop does not use the damage mask. We retain variations in lighting, wear and wheel identity, while controlling the viewpoint.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preprocessing; Chapter 6, experimental </a:t>
            </a:r>
            <a:r>
              <a:rPr lang="en-US"/>
              <a:t>setup.]</a:t>
            </a:r>
            <a:endParaRPr lang="en-US" dirty="0"/>
          </a:p>
        </p:txBody>
      </p:sp>
      <p:sp>
        <p:nvSpPr>
          <p:cNvPr id="4" name="Segnaposto numero diapositiva 3">
            <a:extLst>
              <a:ext uri="{FF2B5EF4-FFF2-40B4-BE49-F238E27FC236}">
                <a16:creationId xmlns:a16="http://schemas.microsoft.com/office/drawing/2014/main" id="{C4A56992-C101-C68D-5576-1664B875FB32}"/>
              </a:ext>
            </a:extLst>
          </p:cNvPr>
          <p:cNvSpPr>
            <a:spLocks noGrp="1"/>
          </p:cNvSpPr>
          <p:nvPr>
            <p:ph type="sldNum" sz="quarter" idx="5"/>
          </p:nvPr>
        </p:nvSpPr>
        <p:spPr/>
        <p:txBody>
          <a:bodyPr/>
          <a:lstStyle/>
          <a:p>
            <a:fld id="{98FF6D0F-8D8B-42DD-BAAB-92498700177C}" type="slidenum">
              <a:rPr lang="it-IT" smtClean="0"/>
              <a:t>21</a:t>
            </a:fld>
            <a:endParaRPr lang="it-IT"/>
          </a:p>
        </p:txBody>
      </p:sp>
    </p:spTree>
    <p:extLst>
      <p:ext uri="{BB962C8B-B14F-4D97-AF65-F5344CB8AC3E}">
        <p14:creationId xmlns:p14="http://schemas.microsoft.com/office/powerpoint/2010/main" val="342116110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5–15 seconds.]</a:t>
            </a:r>
          </a:p>
          <a:p>
            <a:endParaRPr lang="en-US" dirty="0"/>
          </a:p>
          <a:p>
            <a:r>
              <a:rPr lang="en-US" dirty="0"/>
              <a:t>I will now present the results, starting with segmentation and then moving on to wheel inspection.</a:t>
            </a:r>
          </a:p>
          <a:p>
            <a:endParaRPr lang="en-US" dirty="0"/>
          </a:p>
          <a:p>
            <a:r>
              <a:rPr lang="en-US" dirty="0"/>
              <a:t>[Supporting sources, not to be read aloud: Transition </a:t>
            </a:r>
            <a:r>
              <a:rPr lang="en-US"/>
              <a:t>slide.]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22</a:t>
            </a:fld>
            <a:endParaRPr lang="it-IT"/>
          </a:p>
        </p:txBody>
      </p:sp>
    </p:spTree>
    <p:extLst>
      <p:ext uri="{BB962C8B-B14F-4D97-AF65-F5344CB8AC3E}">
        <p14:creationId xmlns:p14="http://schemas.microsoft.com/office/powerpoint/2010/main" val="142124300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BE55FCB-D526-92D1-0C3A-3FBD2B0C9F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3AA0D97-01FB-63D3-7393-4C944F73D6C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C1DF883-31DA-5050-AA98-C52747DE863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FP32, SegFormer-B0 achieves the highest </a:t>
            </a:r>
            <a:r>
              <a:rPr lang="en-US" dirty="0" err="1"/>
              <a:t>mIoU</a:t>
            </a:r>
            <a:r>
              <a:rPr lang="en-US" dirty="0"/>
              <a:t> on the S5Mars test set, at 75.55 percent, with about 3.72 million parameters. It therefore also outperforms DeepLabV3 with ResNet34, which has many more parameters. </a:t>
            </a:r>
            <a:r>
              <a:rPr lang="en-US" dirty="0" err="1"/>
              <a:t>LCNet</a:t>
            </a:r>
            <a:r>
              <a:rPr lang="en-US" dirty="0"/>
              <a:t> is more compact, but its quality is lower. Parameter count is only one aspect of efficiency, however. We also need to measure the actual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segmentation </a:t>
            </a:r>
            <a:r>
              <a:rPr lang="en-US"/>
              <a:t>accuracy.]</a:t>
            </a:r>
            <a:endParaRPr lang="en-US" dirty="0"/>
          </a:p>
        </p:txBody>
      </p:sp>
      <p:sp>
        <p:nvSpPr>
          <p:cNvPr id="4" name="Segnaposto numero diapositiva 3">
            <a:extLst>
              <a:ext uri="{FF2B5EF4-FFF2-40B4-BE49-F238E27FC236}">
                <a16:creationId xmlns:a16="http://schemas.microsoft.com/office/drawing/2014/main" id="{4C6D28DB-15B8-A06A-1680-B1844F1D21B2}"/>
              </a:ext>
            </a:extLst>
          </p:cNvPr>
          <p:cNvSpPr>
            <a:spLocks noGrp="1"/>
          </p:cNvSpPr>
          <p:nvPr>
            <p:ph type="sldNum" sz="quarter" idx="5"/>
          </p:nvPr>
        </p:nvSpPr>
        <p:spPr/>
        <p:txBody>
          <a:bodyPr/>
          <a:lstStyle/>
          <a:p>
            <a:fld id="{98FF6D0F-8D8B-42DD-BAAB-92498700177C}" type="slidenum">
              <a:rPr lang="it-IT" smtClean="0"/>
              <a:t>23</a:t>
            </a:fld>
            <a:endParaRPr lang="it-IT"/>
          </a:p>
        </p:txBody>
      </p:sp>
    </p:spTree>
    <p:extLst>
      <p:ext uri="{BB962C8B-B14F-4D97-AF65-F5344CB8AC3E}">
        <p14:creationId xmlns:p14="http://schemas.microsoft.com/office/powerpoint/2010/main" val="161060087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8DA3F6-A6FF-9A8E-49B1-CCF4B2519B3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F7F6DE8D-897F-1585-CD83-DC6920930F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4B49934-BD49-5BBA-8DEB-36146F94518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 consider separate training runs on MarsSeg, without fine-tuning on the target domain. </a:t>
            </a:r>
            <a:r>
              <a:rPr lang="en-US" dirty="0" err="1"/>
              <a:t>SegFormer</a:t>
            </a:r>
            <a:r>
              <a:rPr lang="en-US" dirty="0"/>
              <a:t> retains about 52 percent </a:t>
            </a:r>
            <a:r>
              <a:rPr lang="en-US" dirty="0" err="1"/>
              <a:t>mIoU</a:t>
            </a:r>
            <a:r>
              <a:rPr lang="en-US" dirty="0"/>
              <a:t> when moving from MSL to MER, and 48 percent in the opposite direction, while the CNNs considered show larger drops. Even </a:t>
            </a:r>
            <a:r>
              <a:rPr lang="en-US" dirty="0" err="1"/>
              <a:t>SegFormer</a:t>
            </a:r>
            <a:r>
              <a:rPr lang="en-US" dirty="0"/>
              <a:t> remains below the reference models trained on the test domain. Transferring models between missions therefore remains an open problem.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cross-mission generalization on </a:t>
            </a:r>
            <a:r>
              <a:rPr lang="en-US"/>
              <a:t>MarsSeg.]</a:t>
            </a:r>
            <a:endParaRPr lang="en-US" dirty="0"/>
          </a:p>
        </p:txBody>
      </p:sp>
      <p:sp>
        <p:nvSpPr>
          <p:cNvPr id="4" name="Segnaposto numero diapositiva 3">
            <a:extLst>
              <a:ext uri="{FF2B5EF4-FFF2-40B4-BE49-F238E27FC236}">
                <a16:creationId xmlns:a16="http://schemas.microsoft.com/office/drawing/2014/main" id="{6AFDD141-59E8-41CE-642B-090CB46FC1CF}"/>
              </a:ext>
            </a:extLst>
          </p:cNvPr>
          <p:cNvSpPr>
            <a:spLocks noGrp="1"/>
          </p:cNvSpPr>
          <p:nvPr>
            <p:ph type="sldNum" sz="quarter" idx="5"/>
          </p:nvPr>
        </p:nvSpPr>
        <p:spPr/>
        <p:txBody>
          <a:bodyPr/>
          <a:lstStyle/>
          <a:p>
            <a:fld id="{98FF6D0F-8D8B-42DD-BAAB-92498700177C}" type="slidenum">
              <a:rPr lang="it-IT" smtClean="0"/>
              <a:t>24</a:t>
            </a:fld>
            <a:endParaRPr lang="it-IT"/>
          </a:p>
        </p:txBody>
      </p:sp>
    </p:spTree>
    <p:extLst>
      <p:ext uri="{BB962C8B-B14F-4D97-AF65-F5344CB8AC3E}">
        <p14:creationId xmlns:p14="http://schemas.microsoft.com/office/powerpoint/2010/main" val="188610727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Quantization highlights two trade-offs. </a:t>
            </a:r>
            <a:r>
              <a:rPr lang="en-US" dirty="0" err="1"/>
              <a:t>SegFormer</a:t>
            </a:r>
            <a:r>
              <a:rPr lang="en-US" dirty="0"/>
              <a:t> with QAT reaches 76.93 percent </a:t>
            </a:r>
            <a:r>
              <a:rPr lang="en-US" dirty="0" err="1"/>
              <a:t>mIoU</a:t>
            </a:r>
            <a:r>
              <a:rPr lang="en-US" dirty="0"/>
              <a:t> and reduces latency from 11.88 to 5.66 milliseconds. DeepLabV3+ with MobileNetV2 and QAT instead prioritizes cost: about three milliseconds and 115 millijoules per image, with lower quality. PTQ does not always preserve accuracy. Here, INT8 means selective mixed precision. These measurements cover inference on a T4 and exclude preprocessing. They do not yet represent a complete onboard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quantization </a:t>
            </a:r>
            <a:r>
              <a:rPr lang="en-US"/>
              <a:t>results.]</a:t>
            </a:r>
            <a:endParaRPr lang="en-US" dirty="0"/>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25</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555EE6-6425-4F9C-8BD6-89DC240D078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08066BAF-5FE8-901B-EDC1-65FD0E7E173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658CBD19-F153-5BC6-0165-0539E2BE5E44}"/>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detection, PatchCore-L achieves the best result, with an Image AUROC of 86.43 percent, followed by </a:t>
            </a:r>
            <a:r>
              <a:rPr lang="en-US" dirty="0" err="1"/>
              <a:t>SuperSimpleNet</a:t>
            </a:r>
            <a:r>
              <a:rPr lang="en-US" dirty="0"/>
              <a:t>. AUROC measures how well the score separates normal and damaged images across different thresholds. It does not mean that this percentage of images was classified correctly. This result concerns the synthetic test set in pose A and should be considered together with cost and localization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detection on pose </a:t>
            </a:r>
            <a:r>
              <a:rPr lang="en-US"/>
              <a:t>A.]</a:t>
            </a:r>
            <a:endParaRPr lang="en-US" dirty="0"/>
          </a:p>
        </p:txBody>
      </p:sp>
      <p:sp>
        <p:nvSpPr>
          <p:cNvPr id="4" name="Segnaposto numero diapositiva 3">
            <a:extLst>
              <a:ext uri="{FF2B5EF4-FFF2-40B4-BE49-F238E27FC236}">
                <a16:creationId xmlns:a16="http://schemas.microsoft.com/office/drawing/2014/main" id="{E3D277CA-0620-7070-C9E4-A70B9B0C507A}"/>
              </a:ext>
            </a:extLst>
          </p:cNvPr>
          <p:cNvSpPr>
            <a:spLocks noGrp="1"/>
          </p:cNvSpPr>
          <p:nvPr>
            <p:ph type="sldNum" sz="quarter" idx="5"/>
          </p:nvPr>
        </p:nvSpPr>
        <p:spPr/>
        <p:txBody>
          <a:bodyPr/>
          <a:lstStyle/>
          <a:p>
            <a:fld id="{98FF6D0F-8D8B-42DD-BAAB-92498700177C}" type="slidenum">
              <a:rPr lang="it-IT" smtClean="0"/>
              <a:t>26</a:t>
            </a:fld>
            <a:endParaRPr lang="it-IT"/>
          </a:p>
        </p:txBody>
      </p:sp>
    </p:spTree>
    <p:extLst>
      <p:ext uri="{BB962C8B-B14F-4D97-AF65-F5344CB8AC3E}">
        <p14:creationId xmlns:p14="http://schemas.microsoft.com/office/powerpoint/2010/main" val="419186110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56F6C9-29A3-B5EA-27DE-786D4F920C7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20DD32-7C33-14FA-C124-A713C6A9AD4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567E87F-7839-9400-93CE-EB438377D52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inference cost, TinyGLASS-384 has the advantage: 5.13 milliseconds and 0.239 joules per image. PatchCore-L instead requires about 63 milliseconds and 4.12 joules, although it offers better detection. There is therefore no winner across all objectives. Here too, we measure inference alone on a T4, with the input already on the GPU. Resolution and configuration are part of the trade-off being evaluated.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detector </a:t>
            </a:r>
            <a:r>
              <a:rPr lang="en-US"/>
              <a:t>efficiency.]</a:t>
            </a:r>
            <a:endParaRPr lang="en-US" dirty="0"/>
          </a:p>
        </p:txBody>
      </p:sp>
      <p:sp>
        <p:nvSpPr>
          <p:cNvPr id="4" name="Segnaposto numero diapositiva 3">
            <a:extLst>
              <a:ext uri="{FF2B5EF4-FFF2-40B4-BE49-F238E27FC236}">
                <a16:creationId xmlns:a16="http://schemas.microsoft.com/office/drawing/2014/main" id="{B94AA8AB-CFDD-D9F7-4BEA-7D72BD5C24BC}"/>
              </a:ext>
            </a:extLst>
          </p:cNvPr>
          <p:cNvSpPr>
            <a:spLocks noGrp="1"/>
          </p:cNvSpPr>
          <p:nvPr>
            <p:ph type="sldNum" sz="quarter" idx="5"/>
          </p:nvPr>
        </p:nvSpPr>
        <p:spPr/>
        <p:txBody>
          <a:bodyPr/>
          <a:lstStyle/>
          <a:p>
            <a:fld id="{98FF6D0F-8D8B-42DD-BAAB-92498700177C}" type="slidenum">
              <a:rPr lang="it-IT" smtClean="0"/>
              <a:t>27</a:t>
            </a:fld>
            <a:endParaRPr lang="it-IT"/>
          </a:p>
        </p:txBody>
      </p:sp>
    </p:spTree>
    <p:extLst>
      <p:ext uri="{BB962C8B-B14F-4D97-AF65-F5344CB8AC3E}">
        <p14:creationId xmlns:p14="http://schemas.microsoft.com/office/powerpoint/2010/main" val="13541747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E95282-0D08-3029-FAA2-79B3252A3070}"/>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359451BB-5D03-E65E-9FFB-6971E89C6033}"/>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3085B16-1906-00C7-F8D0-BDEA9BCEBAD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30–40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Localization shows why the image score alone is not enough. In this example, </a:t>
            </a:r>
            <a:r>
              <a:rPr lang="en-US" dirty="0" err="1"/>
              <a:t>SuperSimpleNet</a:t>
            </a:r>
            <a:r>
              <a:rPr lang="en-US" dirty="0"/>
              <a:t> produces a more diffuse response, while TinyGLASS-512 concentrates its response closer to the hole. The Pixel AP values shown below, 19.10 and 27.59 percent, are measurements over the entire test set, rather than just the image shown. A model with better detection can therefore be less precise at locating damage, especially when the defect occupies only a few pixels.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localization and qualitative </a:t>
            </a:r>
            <a:r>
              <a:rPr lang="en-US"/>
              <a:t>example.]</a:t>
            </a:r>
            <a:endParaRPr lang="en-US" dirty="0"/>
          </a:p>
        </p:txBody>
      </p:sp>
      <p:sp>
        <p:nvSpPr>
          <p:cNvPr id="4" name="Segnaposto numero diapositiva 3">
            <a:extLst>
              <a:ext uri="{FF2B5EF4-FFF2-40B4-BE49-F238E27FC236}">
                <a16:creationId xmlns:a16="http://schemas.microsoft.com/office/drawing/2014/main" id="{9C6E0B49-DCD5-33C7-2A4D-547013D15F5C}"/>
              </a:ext>
            </a:extLst>
          </p:cNvPr>
          <p:cNvSpPr>
            <a:spLocks noGrp="1"/>
          </p:cNvSpPr>
          <p:nvPr>
            <p:ph type="sldNum" sz="quarter" idx="5"/>
          </p:nvPr>
        </p:nvSpPr>
        <p:spPr/>
        <p:txBody>
          <a:bodyPr/>
          <a:lstStyle/>
          <a:p>
            <a:fld id="{98FF6D0F-8D8B-42DD-BAAB-92498700177C}" type="slidenum">
              <a:rPr lang="it-IT" smtClean="0"/>
              <a:t>28</a:t>
            </a:fld>
            <a:endParaRPr lang="it-IT"/>
          </a:p>
        </p:txBody>
      </p:sp>
    </p:spTree>
    <p:extLst>
      <p:ext uri="{BB962C8B-B14F-4D97-AF65-F5344CB8AC3E}">
        <p14:creationId xmlns:p14="http://schemas.microsoft.com/office/powerpoint/2010/main" val="79469116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I will conclude by summarizing the contributions and the main directions that remain to be explored.</a:t>
            </a:r>
          </a:p>
          <a:p>
            <a:endParaRPr lang="en-US" dirty="0"/>
          </a:p>
          <a:p>
            <a:r>
              <a:rPr lang="en-US" dirty="0"/>
              <a:t>[Supporting sources, not to be read aloud: Transition </a:t>
            </a:r>
            <a:r>
              <a:rPr lang="en-US"/>
              <a:t>slide.]</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29</a:t>
            </a:fld>
            <a:endParaRPr lang="it-IT"/>
          </a:p>
        </p:txBody>
      </p:sp>
    </p:spTree>
    <p:extLst>
      <p:ext uri="{BB962C8B-B14F-4D97-AF65-F5344CB8AC3E}">
        <p14:creationId xmlns:p14="http://schemas.microsoft.com/office/powerpoint/2010/main" val="37641612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Approximate speaking time: about 40–45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To conclude, this work has produced three main contributions. The first concerns segmentation: lightweight models achieved promising results and, in the selected configurations, quantization reduced inference costs while preserving accuracy.</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 second contribution is a synthetic dataset of ten thousand annotated images for wheel inspection. This is a pilot study: automatic generation provides control over the damage, while the visual realism can be improved further.</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Finally, we compared four model families for anomaly detection and localization, adapting their configurations to the wheel inspection problem. This comparison provides a basis for further developments.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Scope of the results: the effects of quantization depend on the model and method. INT8 means selective mixed-precision execution. Cost measurements concern T4 inference, excluding preprocessing, CPU operations and data transfers. The anomaly detection comparison concerns the synthetic pose A subset from a single Curiosity asset. Transfer to real images remains to be validated.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Content source: Daniele Venturini, Lightweight Scene Understanding and Synthetic Data-Driven Damage Inspection for Martian Rovers, thesis, Chapter 8, Conclusions and Future Work, thesis/latex/Chapters/8 Conclusions and Future </a:t>
            </a:r>
            <a:r>
              <a:rPr lang="en-US" dirty="0" err="1"/>
              <a:t>Work.tex</a:t>
            </a:r>
            <a:r>
              <a:rPr lang="en-US" dirty="0"/>
              <a:t>. The results come from the thesis experiments. The </a:t>
            </a:r>
            <a:r>
              <a:rPr lang="en-US" dirty="0" err="1"/>
              <a:t>VisionLab</a:t>
            </a:r>
            <a:r>
              <a:rPr lang="en-US" dirty="0"/>
              <a:t> template and branding come from the presentation supplied by the </a:t>
            </a:r>
            <a:r>
              <a:rPr lang="en-US"/>
              <a:t>user.</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6805B2-D6FA-8208-0C25-0D39CBBB40E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18F12E4A-0F02-1AED-9B52-8A94F93A1EB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3D54D219-E8B6-A156-CF36-2C246FA559C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[Main presentation. Approximate time: 25–35 seconds.]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possible development is to connect the two branches: the Rover region could guide a wheel localizer, followed by damage inspection. The semantic mask alone does not identify individual wheels. I would also like to explore lighter models and augmentation methods suited to Mars images. Wheel inspection requires validation on real images, greater synthetic variability and additional damage types, so that we can assess how well these results generalize.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8, future </a:t>
            </a:r>
            <a:r>
              <a:rPr lang="en-US"/>
              <a:t>work.]</a:t>
            </a:r>
            <a:endParaRPr lang="en-US" dirty="0"/>
          </a:p>
        </p:txBody>
      </p:sp>
      <p:sp>
        <p:nvSpPr>
          <p:cNvPr id="4" name="Segnaposto numero diapositiva 3">
            <a:extLst>
              <a:ext uri="{FF2B5EF4-FFF2-40B4-BE49-F238E27FC236}">
                <a16:creationId xmlns:a16="http://schemas.microsoft.com/office/drawing/2014/main" id="{D930044B-4124-FB63-32E2-22BCF67B5507}"/>
              </a:ext>
            </a:extLst>
          </p:cNvPr>
          <p:cNvSpPr>
            <a:spLocks noGrp="1"/>
          </p:cNvSpPr>
          <p:nvPr>
            <p:ph type="sldNum" sz="quarter" idx="5"/>
          </p:nvPr>
        </p:nvSpPr>
        <p:spPr/>
        <p:txBody>
          <a:bodyPr/>
          <a:lstStyle/>
          <a:p>
            <a:fld id="{98FF6D0F-8D8B-42DD-BAAB-92498700177C}" type="slidenum">
              <a:rPr lang="it-IT" smtClean="0"/>
              <a:t>31</a:t>
            </a:fld>
            <a:endParaRPr lang="it-IT"/>
          </a:p>
        </p:txBody>
      </p:sp>
    </p:spTree>
    <p:extLst>
      <p:ext uri="{BB962C8B-B14F-4D97-AF65-F5344CB8AC3E}">
        <p14:creationId xmlns:p14="http://schemas.microsoft.com/office/powerpoint/2010/main" val="948037510"/>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[Main presentation. Approximate time: 5–10 seconds.]</a:t>
            </a:r>
          </a:p>
          <a:p>
            <a:endParaRPr lang="en-US" dirty="0"/>
          </a:p>
          <a:p>
            <a:r>
              <a:rPr lang="en-US" dirty="0"/>
              <a:t>Thank you for your attention. I am happy to take any questions.</a:t>
            </a:r>
          </a:p>
          <a:p>
            <a:endParaRPr lang="en-US" dirty="0"/>
          </a:p>
          <a:p>
            <a:r>
              <a:rPr lang="en-US" dirty="0"/>
              <a:t>[Supporting sources, not to be read aloud: Final slide of the main </a:t>
            </a:r>
            <a:r>
              <a:rPr lang="en-US"/>
              <a:t>presentation.]</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32</a:t>
            </a:fld>
            <a:endParaRPr lang="it-IT"/>
          </a:p>
        </p:txBody>
      </p:sp>
    </p:spTree>
    <p:extLst>
      <p:ext uri="{BB962C8B-B14F-4D97-AF65-F5344CB8AC3E}">
        <p14:creationId xmlns:p14="http://schemas.microsoft.com/office/powerpoint/2010/main" val="390615310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collects the sources on the operational context of rovers, Curiosity wheel inspections and the real segmentation datasets used as references for this work.</a:t>
            </a:r>
          </a:p>
          <a:p>
            <a:endParaRPr lang="en-US" dirty="0"/>
          </a:p>
          <a:p>
            <a:r>
              <a:rPr lang="en-US" dirty="0"/>
              <a:t>[Supporting sources, not to be read aloud: Presentation bibliography, references [1]–[</a:t>
            </a:r>
            <a:r>
              <a:rPr lang="en-US"/>
              <a:t>5].]</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33</a:t>
            </a:fld>
            <a:endParaRPr lang="it-IT"/>
          </a:p>
        </p:txBody>
      </p:sp>
    </p:spTree>
    <p:extLst>
      <p:ext uri="{BB962C8B-B14F-4D97-AF65-F5344CB8AC3E}">
        <p14:creationId xmlns:p14="http://schemas.microsoft.com/office/powerpoint/2010/main" val="120579952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original papers for the segmentation families compared: U-Net, DeepLabV3, DeepLabV3+, </a:t>
            </a:r>
            <a:r>
              <a:rPr lang="en-US" dirty="0" err="1"/>
              <a:t>SegFormer</a:t>
            </a:r>
            <a:r>
              <a:rPr lang="en-US" dirty="0"/>
              <a:t> and </a:t>
            </a:r>
            <a:r>
              <a:rPr lang="en-US" dirty="0" err="1"/>
              <a:t>LCNet</a:t>
            </a:r>
            <a:r>
              <a:rPr lang="en-US" dirty="0"/>
              <a:t>. The encoder variants used in the experiments are specified on the slide dedicated to the models.</a:t>
            </a:r>
          </a:p>
          <a:p>
            <a:endParaRPr lang="en-US" dirty="0"/>
          </a:p>
          <a:p>
            <a:r>
              <a:rPr lang="en-US" dirty="0"/>
              <a:t>[Supporting sources, not to be read aloud: Presentation bibliography, references [6]–[</a:t>
            </a:r>
            <a:r>
              <a:rPr lang="en-US"/>
              <a:t>10].]</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34</a:t>
            </a:fld>
            <a:endParaRPr lang="it-IT"/>
          </a:p>
        </p:txBody>
      </p:sp>
    </p:spTree>
    <p:extLst>
      <p:ext uri="{BB962C8B-B14F-4D97-AF65-F5344CB8AC3E}">
        <p14:creationId xmlns:p14="http://schemas.microsoft.com/office/powerpoint/2010/main" val="257572711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These references cover quantization, NASA's three-dimensional model and the HiRISE data used to build the scene, domain randomization and the normal-only anomaly detection protocol.</a:t>
            </a:r>
          </a:p>
          <a:p>
            <a:endParaRPr lang="en-US" dirty="0"/>
          </a:p>
          <a:p>
            <a:r>
              <a:rPr lang="en-US" dirty="0"/>
              <a:t>[Supporting sources, not to be read aloud: Presentation bibliography, references [11]–[</a:t>
            </a:r>
            <a:r>
              <a:rPr lang="en-US"/>
              <a:t>15].]</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35</a:t>
            </a:fld>
            <a:endParaRPr lang="it-IT"/>
          </a:p>
        </p:txBody>
      </p:sp>
    </p:spTree>
    <p:extLst>
      <p:ext uri="{BB962C8B-B14F-4D97-AF65-F5344CB8AC3E}">
        <p14:creationId xmlns:p14="http://schemas.microsoft.com/office/powerpoint/2010/main" val="3411617614"/>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egnaposto immagine diapositiva 1"/>
          <p:cNvSpPr>
            <a:spLocks noGrp="1" noRot="1" noChangeAspect="1"/>
          </p:cNvSpPr>
          <p:nvPr>
            <p:ph type="sldImg"/>
          </p:nvPr>
        </p:nvSpPr>
        <p:spPr/>
      </p:sp>
      <p:sp>
        <p:nvSpPr>
          <p:cNvPr id="3" name="Segnaposto note 2"/>
          <p:cNvSpPr>
            <a:spLocks noGrp="1"/>
          </p:cNvSpPr>
          <p:nvPr>
            <p:ph type="body" idx="1"/>
          </p:nvPr>
        </p:nvSpPr>
        <p:spPr/>
        <p:txBody>
          <a:bodyPr/>
          <a:lstStyle/>
          <a:p>
            <a:r>
              <a:rPr lang="en-US" dirty="0"/>
              <a:t>[References. No remarks are needed during the main presentation. If necessary:]</a:t>
            </a:r>
          </a:p>
          <a:p>
            <a:endParaRPr lang="en-US" dirty="0"/>
          </a:p>
          <a:p>
            <a:r>
              <a:rPr lang="en-US" dirty="0"/>
              <a:t>This page lists the reference papers for PatchCore, EfficientAD, </a:t>
            </a:r>
            <a:r>
              <a:rPr lang="en-US" dirty="0" err="1"/>
              <a:t>SuperSimpleNet</a:t>
            </a:r>
            <a:r>
              <a:rPr lang="en-US" dirty="0"/>
              <a:t> and TinyGLASS. For </a:t>
            </a:r>
            <a:r>
              <a:rPr lang="en-US" dirty="0" err="1"/>
              <a:t>SuperSimpleNet</a:t>
            </a:r>
            <a:r>
              <a:rPr lang="en-US" dirty="0"/>
              <a:t>, it includes both the initial paper and the extended formulation, which also provides the architecture diagram in the extra slides.</a:t>
            </a:r>
          </a:p>
          <a:p>
            <a:endParaRPr lang="en-US" dirty="0"/>
          </a:p>
          <a:p>
            <a:r>
              <a:rPr lang="en-US" dirty="0"/>
              <a:t>[Supporting sources, not to be read aloud: Presentation bibliography, references [16]–[</a:t>
            </a:r>
            <a:r>
              <a:rPr lang="en-US"/>
              <a:t>20].]</a:t>
            </a:r>
            <a:endParaRPr lang="en-US" dirty="0"/>
          </a:p>
        </p:txBody>
      </p:sp>
      <p:sp>
        <p:nvSpPr>
          <p:cNvPr id="4" name="Segnaposto numero diapositiva 3"/>
          <p:cNvSpPr>
            <a:spLocks noGrp="1"/>
          </p:cNvSpPr>
          <p:nvPr>
            <p:ph type="sldNum" sz="quarter" idx="5"/>
          </p:nvPr>
        </p:nvSpPr>
        <p:spPr/>
        <p:txBody>
          <a:bodyPr/>
          <a:lstStyle/>
          <a:p>
            <a:fld id="{98FF6D0F-8D8B-42DD-BAAB-92498700177C}" type="slidenum">
              <a:rPr lang="it-IT" smtClean="0"/>
              <a:t>36</a:t>
            </a:fld>
            <a:endParaRPr lang="it-IT"/>
          </a:p>
        </p:txBody>
      </p:sp>
    </p:spTree>
    <p:extLst>
      <p:ext uri="{BB962C8B-B14F-4D97-AF65-F5344CB8AC3E}">
        <p14:creationId xmlns:p14="http://schemas.microsoft.com/office/powerpoint/2010/main" val="3398016315"/>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236119-74F7-323F-A112-07E17F0A7E21}"/>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1EEE92F-AE7A-EADD-5AEB-7F62FBCD38E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9B7FB79-EB9D-70CE-0B66-799CD1C910C5}"/>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examples show the variations considered normal. Seventy-five percent of the dataset uses the dusty preset and twenty-five percent uses the clear preset. For wear, twenty percent retains the surface without added wear, forty-five percent introduces light wear and thirty-five percent introduces visible wear. An image can therefore be normal even if the wheel looks dirty or scratched. The anomaly being modeled is a perforation.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domain </a:t>
            </a:r>
            <a:r>
              <a:rPr lang="en-US"/>
              <a:t>randomization.]</a:t>
            </a:r>
            <a:endParaRPr lang="en-US" dirty="0"/>
          </a:p>
        </p:txBody>
      </p:sp>
      <p:sp>
        <p:nvSpPr>
          <p:cNvPr id="4" name="Segnaposto numero diapositiva 3">
            <a:extLst>
              <a:ext uri="{FF2B5EF4-FFF2-40B4-BE49-F238E27FC236}">
                <a16:creationId xmlns:a16="http://schemas.microsoft.com/office/drawing/2014/main" id="{28E65330-8BBE-C00D-394A-E0F3FDA9A774}"/>
              </a:ext>
            </a:extLst>
          </p:cNvPr>
          <p:cNvSpPr>
            <a:spLocks noGrp="1"/>
          </p:cNvSpPr>
          <p:nvPr>
            <p:ph type="sldNum" sz="quarter" idx="5"/>
          </p:nvPr>
        </p:nvSpPr>
        <p:spPr/>
        <p:txBody>
          <a:bodyPr/>
          <a:lstStyle/>
          <a:p>
            <a:fld id="{98FF6D0F-8D8B-42DD-BAAB-92498700177C}" type="slidenum">
              <a:rPr lang="it-IT" smtClean="0"/>
              <a:t>37</a:t>
            </a:fld>
            <a:endParaRPr lang="it-IT"/>
          </a:p>
        </p:txBody>
      </p:sp>
    </p:spTree>
    <p:extLst>
      <p:ext uri="{BB962C8B-B14F-4D97-AF65-F5344CB8AC3E}">
        <p14:creationId xmlns:p14="http://schemas.microsoft.com/office/powerpoint/2010/main" val="5243028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CC9785-F828-6665-00FB-6A21C8811F45}"/>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803BCFA-A9BC-E0F2-8ACC-883608ABAD8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614706D-FAE3-24EB-3A5C-B88D4E49839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four views have different frequencies: pose A accounts for forty percent, the two oblique views for 27.5 percent each, and the upper detail view for five percent. Among anomalous images only, small holes account for fifty percent, medium holes for forty percent and large holes for ten percent. The ranges in centimeters describe the generated geometry, rather than a classification of mechanical risk. These percentages concern the dataset, rather than the artificial perturbations used to train TinyGLASS.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3, views and geometric hole </a:t>
            </a:r>
            <a:r>
              <a:rPr lang="en-US"/>
              <a:t>sizes.]</a:t>
            </a:r>
            <a:endParaRPr lang="en-US" dirty="0"/>
          </a:p>
        </p:txBody>
      </p:sp>
      <p:sp>
        <p:nvSpPr>
          <p:cNvPr id="4" name="Segnaposto numero diapositiva 3">
            <a:extLst>
              <a:ext uri="{FF2B5EF4-FFF2-40B4-BE49-F238E27FC236}">
                <a16:creationId xmlns:a16="http://schemas.microsoft.com/office/drawing/2014/main" id="{15F89852-7142-6364-CF58-337D42A36682}"/>
              </a:ext>
            </a:extLst>
          </p:cNvPr>
          <p:cNvSpPr>
            <a:spLocks noGrp="1"/>
          </p:cNvSpPr>
          <p:nvPr>
            <p:ph type="sldNum" sz="quarter" idx="5"/>
          </p:nvPr>
        </p:nvSpPr>
        <p:spPr/>
        <p:txBody>
          <a:bodyPr/>
          <a:lstStyle/>
          <a:p>
            <a:fld id="{98FF6D0F-8D8B-42DD-BAAB-92498700177C}" type="slidenum">
              <a:rPr lang="it-IT" smtClean="0"/>
              <a:t>38</a:t>
            </a:fld>
            <a:endParaRPr lang="it-IT"/>
          </a:p>
        </p:txBody>
      </p:sp>
    </p:spTree>
    <p:extLst>
      <p:ext uri="{BB962C8B-B14F-4D97-AF65-F5344CB8AC3E}">
        <p14:creationId xmlns:p14="http://schemas.microsoft.com/office/powerpoint/2010/main" val="99615640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72CFA-204B-EADB-D7F8-185F7FAEB8BB}"/>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DAEE8CCE-FF44-A42D-B25D-72C6D89F62A5}"/>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C76ADEFB-F3F0-0680-6C17-E6BAC88ED01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These exploratory experiments motivated the combined loss. Moving from cross-entropy alone to cross-entropy plus Generalized Dice increases </a:t>
            </a:r>
            <a:r>
              <a:rPr lang="en-US" dirty="0" err="1"/>
              <a:t>mIoU</a:t>
            </a:r>
            <a:r>
              <a:rPr lang="en-US" dirty="0"/>
              <a:t> from about 59.5 to 64.5 percent for U-Net ResNet34, and from 69.2 to 75.5 percent for </a:t>
            </a:r>
            <a:r>
              <a:rPr lang="en-US" dirty="0" err="1"/>
              <a:t>SegFormer</a:t>
            </a:r>
            <a:r>
              <a:rPr lang="en-US" dirty="0"/>
              <a:t>. For U-Net, Dice weighting by the inverse squared class volume works better than the alternatives shown. The weights depend on the class pixel counts in the batch and increase the contribution of less represented regions. These results should not be extended automatically to every architecture.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loss and Dice-weight </a:t>
            </a:r>
            <a:r>
              <a:rPr lang="en-US"/>
              <a:t>ablations.]</a:t>
            </a:r>
            <a:endParaRPr lang="en-US" dirty="0"/>
          </a:p>
        </p:txBody>
      </p:sp>
      <p:sp>
        <p:nvSpPr>
          <p:cNvPr id="4" name="Segnaposto numero diapositiva 3">
            <a:extLst>
              <a:ext uri="{FF2B5EF4-FFF2-40B4-BE49-F238E27FC236}">
                <a16:creationId xmlns:a16="http://schemas.microsoft.com/office/drawing/2014/main" id="{22BBFC16-6E93-E335-DC27-53A6610ACF9E}"/>
              </a:ext>
            </a:extLst>
          </p:cNvPr>
          <p:cNvSpPr>
            <a:spLocks noGrp="1"/>
          </p:cNvSpPr>
          <p:nvPr>
            <p:ph type="sldNum" sz="quarter" idx="5"/>
          </p:nvPr>
        </p:nvSpPr>
        <p:spPr/>
        <p:txBody>
          <a:bodyPr/>
          <a:lstStyle/>
          <a:p>
            <a:fld id="{98FF6D0F-8D8B-42DD-BAAB-92498700177C}" type="slidenum">
              <a:rPr lang="it-IT" smtClean="0"/>
              <a:t>39</a:t>
            </a:fld>
            <a:endParaRPr lang="it-IT"/>
          </a:p>
        </p:txBody>
      </p:sp>
    </p:spTree>
    <p:extLst>
      <p:ext uri="{BB962C8B-B14F-4D97-AF65-F5344CB8AC3E}">
        <p14:creationId xmlns:p14="http://schemas.microsoft.com/office/powerpoint/2010/main" val="54303046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657D2F-65D2-BD4F-4A7D-5537091E5F66}"/>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B3A4950-A67B-D5B1-FC12-3198EEFE7A32}"/>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DFA96DD3-8859-3168-7427-0E0C01C0010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a:t>
            </a:r>
            <a:r>
              <a:rPr lang="en-US" dirty="0" err="1"/>
              <a:t>SegFormer</a:t>
            </a:r>
            <a:r>
              <a:rPr lang="en-US" dirty="0"/>
              <a:t>, the geometric transformations tested, namely flips and ninety-degree rotations, reduce test </a:t>
            </a:r>
            <a:r>
              <a:rPr lang="en-US" dirty="0" err="1"/>
              <a:t>mIoU</a:t>
            </a:r>
            <a:r>
              <a:rPr lang="en-US" dirty="0"/>
              <a:t> from 75.55 to 66.86 percent. Oversampling also remains below the reference: it reaches 71.02 with inverse-squared Dice weights and 72.90 with uniform weights. Here, uniform and square refer to the Dice loss weights, rather than the sampling probabilities. These experiments support the baseline configuration adopted, but do not demonstrate that every form of augmentation is harmful.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5, augmentation and oversampling; Chapter 2, sampling </a:t>
            </a:r>
            <a:r>
              <a:rPr lang="en-US"/>
              <a:t>definition.]</a:t>
            </a:r>
            <a:endParaRPr lang="en-US" dirty="0"/>
          </a:p>
        </p:txBody>
      </p:sp>
      <p:sp>
        <p:nvSpPr>
          <p:cNvPr id="4" name="Segnaposto numero diapositiva 3">
            <a:extLst>
              <a:ext uri="{FF2B5EF4-FFF2-40B4-BE49-F238E27FC236}">
                <a16:creationId xmlns:a16="http://schemas.microsoft.com/office/drawing/2014/main" id="{0FCAC24B-268F-2F77-865C-A35E418EED19}"/>
              </a:ext>
            </a:extLst>
          </p:cNvPr>
          <p:cNvSpPr>
            <a:spLocks noGrp="1"/>
          </p:cNvSpPr>
          <p:nvPr>
            <p:ph type="sldNum" sz="quarter" idx="5"/>
          </p:nvPr>
        </p:nvSpPr>
        <p:spPr/>
        <p:txBody>
          <a:bodyPr/>
          <a:lstStyle/>
          <a:p>
            <a:fld id="{98FF6D0F-8D8B-42DD-BAAB-92498700177C}" type="slidenum">
              <a:rPr lang="it-IT" smtClean="0"/>
              <a:t>40</a:t>
            </a:fld>
            <a:endParaRPr lang="it-IT"/>
          </a:p>
        </p:txBody>
      </p:sp>
    </p:spTree>
    <p:extLst>
      <p:ext uri="{BB962C8B-B14F-4D97-AF65-F5344CB8AC3E}">
        <p14:creationId xmlns:p14="http://schemas.microsoft.com/office/powerpoint/2010/main" val="2181431735"/>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Optional explanation, about 40 seconds, outside the 15-minute presentation.]</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examines the scene segmentation results in more detail. Moving from FP32 to FP16 leaves quality almost unchanged. PTQ also remains very close to the baseline. With QAT, however, every class improves: the largest gains are for Rock, about 4.38 percentage points, and Hole, about 1.81. Overall </a:t>
            </a:r>
            <a:r>
              <a:rPr lang="en-US" dirty="0" err="1"/>
              <a:t>mIoU</a:t>
            </a:r>
            <a:r>
              <a:rPr lang="en-US" dirty="0"/>
              <a:t> increases from 75.55 to 76.93 percent. Rock nevertheless remains the most difficult class. The improvement includes fine-tuning and distillation, so it should not be attributed to reduced precision alone.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[Details and sources, not to be read aloud.]</a:t>
            </a:r>
          </a:p>
          <a:p>
            <a:pPr marL="0" marR="0" lvl="0" indent="0" algn="l" defTabSz="914400">
              <a:lnSpc>
                <a:spcPct val="100000"/>
              </a:lnSpc>
              <a:spcBef>
                <a:spcPts val="0"/>
              </a:spcBef>
              <a:spcAft>
                <a:spcPts val="0"/>
              </a:spcAft>
              <a:buClrTx/>
              <a:buSzTx/>
              <a:buFontTx/>
              <a:buNone/>
            </a:pPr>
            <a:r>
              <a:rPr lang="en-US" dirty="0"/>
              <a:t>All configurations are evaluated on the same 800 S5Mars test images, with 512 x 512 inputs. The eight rows report per-class </a:t>
            </a:r>
            <a:r>
              <a:rPr lang="en-US" dirty="0" err="1"/>
              <a:t>IoU</a:t>
            </a:r>
            <a:r>
              <a:rPr lang="en-US" dirty="0"/>
              <a:t>. </a:t>
            </a:r>
            <a:r>
              <a:rPr lang="en-US" dirty="0" err="1"/>
              <a:t>mIoU</a:t>
            </a:r>
            <a:r>
              <a:rPr lang="en-US" dirty="0"/>
              <a:t> is the mean over the eight annotated categories. Background is excluded from the mean. These are not validation results. INT8 is selective and Conv-only: convolutions are quantized, while other operations remain in floating point. The QAT result reported here is from the final </a:t>
            </a:r>
            <a:r>
              <a:rPr lang="en-US" dirty="0" err="1"/>
              <a:t>TensorRT</a:t>
            </a:r>
            <a:r>
              <a:rPr lang="en-US" dirty="0"/>
              <a:t> engine, rather than the fake-quantization simulation in </a:t>
            </a:r>
            <a:r>
              <a:rPr lang="en-US" dirty="0" err="1"/>
              <a:t>PyTorch</a:t>
            </a:r>
            <a:r>
              <a:rPr lang="en-US" dirty="0"/>
              <a: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FP32, FP16 and PTQ: git object 10f4b53:semantic_segmentation/docs/quantization/onnx_ptq_results.md, subsection '</a:t>
            </a:r>
            <a:r>
              <a:rPr lang="en-US" dirty="0" err="1"/>
              <a:t>SegFormer</a:t>
            </a:r>
            <a:r>
              <a:rPr lang="en-US" dirty="0"/>
              <a:t> Conv-only </a:t>
            </a:r>
            <a:r>
              <a:rPr lang="en-US" dirty="0" err="1"/>
              <a:t>sul</a:t>
            </a:r>
            <a:r>
              <a:rPr lang="en-US" dirty="0"/>
              <a:t> test set'. The table reports final results on the 800 images, with configurations selected on validation. Original </a:t>
            </a:r>
            <a:r>
              <a:rPr lang="en-US" dirty="0" err="1"/>
              <a:t>mIoU</a:t>
            </a:r>
            <a:r>
              <a:rPr lang="en-US" dirty="0"/>
              <a:t> values: FP32 0.755519684, FP16 0.755540537, PTQ 0.756030374.</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QAT: outputs/drive_audit_20261010/</a:t>
            </a:r>
            <a:r>
              <a:rPr lang="en-US" dirty="0" err="1"/>
              <a:t>report_summaries.json</a:t>
            </a:r>
            <a:r>
              <a:rPr lang="en-US" dirty="0"/>
              <a:t>, entry 1Kq-yIOds3hbGkVQPjJ8wi-uDNuhLpPyE, s5mars_qat_modelopt_segformer_b0_int8_conv_only_qdq/</a:t>
            </a:r>
            <a:r>
              <a:rPr lang="en-US" dirty="0" err="1"/>
              <a:t>results.json</a:t>
            </a:r>
            <a:r>
              <a:rPr lang="en-US" dirty="0"/>
              <a:t>, test_metrics.onnx_modelopt_qat_int8_tensorrt. Original </a:t>
            </a:r>
            <a:r>
              <a:rPr lang="en-US" dirty="0" err="1"/>
              <a:t>mIoU</a:t>
            </a:r>
            <a:r>
              <a:rPr lang="en-US" dirty="0"/>
              <a:t> 0.7692888447846535; split test, samples 800. Original Drive file: https://drive.google.com/file/d/1Kq-yIOds3hbGkVQPjJ8wi-uDNuhLpPyE/view . The local copy was used because the connector did not make that file available at the time.</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All table values are percentages with two decimal places. Gains are expressed in percentage points and calculated from the source values before display rounding. The experiments include differences in training and backend, so they do not isolate the effect of bit width </a:t>
            </a:r>
            <a:r>
              <a:rPr lang="en-US"/>
              <a:t>alone.</a:t>
            </a:r>
            <a:endParaRPr lang="en-US"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a:lnSpc>
                <a:spcPct val="100000"/>
              </a:lnSpc>
              <a:spcBef>
                <a:spcPts val="0"/>
              </a:spcBef>
              <a:spcAft>
                <a:spcPts val="0"/>
              </a:spcAft>
              <a:buClrTx/>
              <a:buSzTx/>
              <a:buFontTx/>
              <a:buNone/>
            </a:pPr>
            <a:r>
              <a:rPr lang="en-US" dirty="0"/>
              <a:t>[Extra slide, outside the 15-minute presentation. Optional remarks, about 45–55 seconds.]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This table places the two selected trade-offs from the thesis alongside the public Mars-Bench baselines. SegFormer-B0 with QAT prioritizes quality, while DeepLabV3+ MobileNetV2 with QAT prioritizes cost. Both have fewer than five million parameters. The Mars-Bench counts are estimates of total parameters, including frozen encoders. The scores come from the authors' leaderboard, but the CSV does not document the corresponding protocol. We therefore cannot attribute the </a:t>
            </a:r>
            <a:r>
              <a:rPr lang="en-US" dirty="0" err="1"/>
              <a:t>mIoU</a:t>
            </a:r>
            <a:r>
              <a:rPr lang="en-US" dirty="0"/>
              <a:t> difference to architecture alone or interpret it as a controlled ranking.</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and method, not to be read aloud.]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Thesis, Chapters 2 and 5: SegFormer-B0 QAT </a:t>
            </a:r>
            <a:r>
              <a:rPr lang="en-US" dirty="0" err="1"/>
              <a:t>mIoU</a:t>
            </a:r>
            <a:r>
              <a:rPr lang="en-US" dirty="0"/>
              <a:t> 76.93%, 3.72M parameters; DeepLabV3+ MobileNetV2 QAT </a:t>
            </a:r>
            <a:r>
              <a:rPr lang="en-US" dirty="0" err="1"/>
              <a:t>mIoU</a:t>
            </a:r>
            <a:r>
              <a:rPr lang="en-US" dirty="0"/>
              <a:t> 65.63%, 4.38M parameters. Quantization changes weight precision, rather than the reference architectural parameter count.</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[5] M. Purohit et al., Mars-Bench: A Benchmark for Evaluating Foundation Models for Mars Science Tasks, </a:t>
            </a:r>
            <a:r>
              <a:rPr lang="en-US" dirty="0" err="1"/>
              <a:t>NeurIPS</a:t>
            </a:r>
            <a:r>
              <a:rPr lang="en-US" dirty="0"/>
              <a:t> Datasets and Benchmarks, 2025. https://arxiv.org/abs/2510.24010 . The numerical values reported here come from the public leaderboard CSV, rather than a visual estimate from the violin plots: https://huggingface.co/spaces/Mirali33/Mars-Bench/blob/main/data/segmentation.csv . S5Mars </a:t>
            </a:r>
            <a:r>
              <a:rPr lang="en-US" dirty="0" err="1"/>
              <a:t>IoU</a:t>
            </a:r>
            <a:r>
              <a:rPr lang="en-US" dirty="0"/>
              <a:t>: U-Net 0.1777; DeepLabV3+ 0.1674; </a:t>
            </a:r>
            <a:r>
              <a:rPr lang="en-US" dirty="0" err="1"/>
              <a:t>SegFormer</a:t>
            </a:r>
            <a:r>
              <a:rPr lang="en-US" dirty="0"/>
              <a:t> 0.1606; DPT 0.1806. The CSV does not specify the training regime, checkpoint selection or seed aggregation. The public code averages per-class </a:t>
            </a:r>
            <a:r>
              <a:rPr lang="en-US" dirty="0" err="1"/>
              <a:t>IoUs</a:t>
            </a:r>
            <a:r>
              <a:rPr lang="en-US" dirty="0"/>
              <a:t>. Before a controlled comparison, training, preprocessing, class encoding and the handling of unannotated pixels must be aligned.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Parameter estimates: public configurations at commit 8df5c160528d64778a53afaf07a63fba305f65b9, https://github.com/kerner-lab/Mars-Bench/tree/8df5c160528d64778a53afaf07a63fba305f65b9/marsbench/configs/model/segmentation ; implementations https://github.com/kerner-lab/Mars-Bench/tree/8df5c160528d64778a53afaf07a63fba305f65b9/marsbench/models/segmentation . U-Net, DeepLabV3+ and </a:t>
            </a:r>
            <a:r>
              <a:rPr lang="en-US" dirty="0" err="1"/>
              <a:t>SegFormer</a:t>
            </a:r>
            <a:r>
              <a:rPr lang="en-US" dirty="0"/>
              <a:t> use ResNet34 in the released files. Do not assume that the </a:t>
            </a:r>
            <a:r>
              <a:rPr lang="en-US" dirty="0" err="1"/>
              <a:t>SegFormer</a:t>
            </a:r>
            <a:r>
              <a:rPr lang="en-US" dirty="0"/>
              <a:t> in that code is MiT-B0. DPT uses tu-vit_base_patch16_224.augreg_in21k.</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Architectural calculation using SMP v0.5.0 defaults and 9 output channels: https://smp.readthedocs.io/en/v0.5.0/models.html . U-Net approximately 24.438M; DeepLabV3+ approximately 22.440M; </a:t>
            </a:r>
            <a:r>
              <a:rPr lang="en-US" dirty="0" err="1"/>
              <a:t>SegFormer</a:t>
            </a:r>
            <a:r>
              <a:rPr lang="en-US" dirty="0"/>
              <a:t> approximately 21.879M; DPT approximately 137.808M. These are estimates based on the configurations, rather than counts taken from the replica checkpoints. They include frozen weights and affine normalization parameters, and exclude buffers.</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DPT clarification: SMP v0.5.0's </a:t>
            </a:r>
            <a:r>
              <a:rPr lang="en-US" dirty="0" err="1"/>
              <a:t>TimmViTEncoder</a:t>
            </a:r>
            <a:r>
              <a:rPr lang="en-US" dirty="0"/>
              <a:t> retains the ImageNet-21k classification head registered by the </a:t>
            </a:r>
            <a:r>
              <a:rPr lang="en-US" dirty="0" err="1"/>
              <a:t>ViT</a:t>
            </a:r>
            <a:r>
              <a:rPr lang="en-US" dirty="0"/>
              <a:t>. The </a:t>
            </a:r>
            <a:r>
              <a:rPr lang="en-US" dirty="0" err="1"/>
              <a:t>timm</a:t>
            </a:r>
            <a:r>
              <a:rPr lang="en-US" dirty="0"/>
              <a:t> configuration confirms 21,843 classes: https://huggingface.co/timm/vit_base_patch16_224.augreg_in21k/blob/main/config.json . The segmentation path does not use this head, but the registered total includes it. Removing it would reduce the count to about 121.0M. The displayed estimate remains about 137.8M for the model as constructed.</a:t>
            </a:r>
          </a:p>
          <a:p>
            <a:pPr marL="0" marR="0" lvl="0" indent="0" algn="l" defTabSz="914400">
              <a:lnSpc>
                <a:spcPct val="100000"/>
              </a:lnSpc>
              <a:spcBef>
                <a:spcPts val="0"/>
              </a:spcBef>
              <a:spcAft>
                <a:spcPts val="0"/>
              </a:spcAft>
              <a:buClrTx/>
              <a:buSzTx/>
              <a:buFontTx/>
              <a:buNone/>
            </a:pPr>
            <a:endParaRPr lang="en-US" dirty="0"/>
          </a:p>
          <a:p>
            <a:pPr marL="0" marR="0" lvl="0" indent="0" algn="l" defTabSz="914400">
              <a:lnSpc>
                <a:spcPct val="100000"/>
              </a:lnSpc>
              <a:spcBef>
                <a:spcPts val="0"/>
              </a:spcBef>
              <a:spcAft>
                <a:spcPts val="0"/>
              </a:spcAft>
              <a:buClrTx/>
              <a:buSzTx/>
              <a:buFontTx/>
              <a:buNone/>
            </a:pPr>
            <a:r>
              <a:rPr lang="en-US" dirty="0"/>
              <a:t>Sources consulted on 20 October </a:t>
            </a:r>
            <a:r>
              <a:rPr lang="en-US"/>
              <a:t>2026.</a:t>
            </a:r>
            <a:endParaRPr lang="en-US" dirty="0"/>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6239490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C40418-822D-56A7-CF06-8142F31A6B69}"/>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6018E62E-0105-BEF7-01C1-7F23B9F098E4}"/>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B922D827-6CBD-9441-8112-34502DCC07BB}"/>
              </a:ext>
            </a:extLst>
          </p:cNvPr>
          <p:cNvSpPr>
            <a:spLocks noGrp="1"/>
          </p:cNvSpPr>
          <p:nvPr>
            <p:ph type="body" idx="1"/>
          </p:nvPr>
        </p:nvSpPr>
        <p:spPr/>
        <p:txBody>
          <a:bodyPr/>
          <a:lstStyle/>
          <a:p>
            <a:r>
              <a:rPr lang="en-US" dirty="0"/>
              <a:t>[Extra slide. Optional remarks for the Q&amp;A, outside the 15-minute presentation.]</a:t>
            </a:r>
          </a:p>
          <a:p>
            <a:endParaRPr lang="en-US" dirty="0"/>
          </a:p>
          <a:p>
            <a:r>
              <a:rPr lang="en-US" dirty="0"/>
              <a:t>The full table shows that the benefit of reduced precision depends on the configuration. QAT </a:t>
            </a:r>
            <a:r>
              <a:rPr lang="en-US" dirty="0" err="1"/>
              <a:t>SegFormer</a:t>
            </a:r>
            <a:r>
              <a:rPr lang="en-US" dirty="0"/>
              <a:t> achieves the highest </a:t>
            </a:r>
            <a:r>
              <a:rPr lang="en-US" dirty="0" err="1"/>
              <a:t>mIoU</a:t>
            </a:r>
            <a:r>
              <a:rPr lang="en-US" dirty="0"/>
              <a:t>, while QAT DeepLabV3+ MobileNetV2 has the lowest energy consumption. There are exceptions to a general preference for QAT, however: DeepLabV3 ResNet34 with PTQ has lower latency and energy consumption than its QAT version. The execution backends also differ, so we are comparing complete deployment configurations. INT8 is selective and, for </a:t>
            </a:r>
            <a:r>
              <a:rPr lang="en-US" dirty="0" err="1"/>
              <a:t>SegFormer</a:t>
            </a:r>
            <a:r>
              <a:rPr lang="en-US" dirty="0"/>
              <a:t>, limited to convolutions. Energy refers to the GPU during inference and is expressed here in millijoules per image.</a:t>
            </a:r>
          </a:p>
          <a:p>
            <a:endParaRPr lang="en-US" dirty="0"/>
          </a:p>
          <a:p>
            <a:r>
              <a:rPr lang="en-US" dirty="0"/>
              <a:t>[Supporting sources, not to be read aloud: Thesis, Chapter 5, full quantization table; Chapter 2, deployment </a:t>
            </a:r>
            <a:r>
              <a:rPr lang="en-US"/>
              <a:t>configurations.]</a:t>
            </a:r>
            <a:endParaRPr lang="en-US" dirty="0"/>
          </a:p>
        </p:txBody>
      </p:sp>
      <p:sp>
        <p:nvSpPr>
          <p:cNvPr id="4" name="Segnaposto numero diapositiva 3">
            <a:extLst>
              <a:ext uri="{FF2B5EF4-FFF2-40B4-BE49-F238E27FC236}">
                <a16:creationId xmlns:a16="http://schemas.microsoft.com/office/drawing/2014/main" id="{68FD75B6-2DE2-E8B8-A886-B09506C73BC2}"/>
              </a:ext>
            </a:extLst>
          </p:cNvPr>
          <p:cNvSpPr>
            <a:spLocks noGrp="1"/>
          </p:cNvSpPr>
          <p:nvPr>
            <p:ph type="sldNum" sz="quarter" idx="5"/>
          </p:nvPr>
        </p:nvSpPr>
        <p:spPr/>
        <p:txBody>
          <a:bodyPr/>
          <a:lstStyle/>
          <a:p>
            <a:fld id="{98FF6D0F-8D8B-42DD-BAAB-92498700177C}" type="slidenum">
              <a:rPr lang="it-IT" smtClean="0"/>
              <a:t>43</a:t>
            </a:fld>
            <a:endParaRPr lang="it-IT"/>
          </a:p>
        </p:txBody>
      </p:sp>
    </p:spTree>
    <p:extLst>
      <p:ext uri="{BB962C8B-B14F-4D97-AF65-F5344CB8AC3E}">
        <p14:creationId xmlns:p14="http://schemas.microsoft.com/office/powerpoint/2010/main" val="236639041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179817-3CA5-FAB7-0378-F8000A35F02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71184B6-8B89-B591-6CF3-E6163F5C56E1}"/>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5EA137F3-05DF-FCB9-8D17-4BE9B32E931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This is the full image-level evaluation on the 808 test observations in pose A, corresponding to 404 normal-damaged pairs. PatchCore-L ranks first for both AUROC, at 86.43 percent, and Average Precision, at 88.63 percent. </a:t>
            </a:r>
            <a:r>
              <a:rPr lang="en-US" dirty="0" err="1"/>
              <a:t>SuperSimpleNet</a:t>
            </a:r>
            <a:r>
              <a:rPr lang="en-US" dirty="0"/>
              <a:t> is second, while the two TinyGLASS variants have very similar AUROC values. These metrics describe the ordering of scores across thresholds. For operational use, thresholds would need to be selected on validation data, with false alarms and missed damage measured on an independent test set.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6, full detection results </a:t>
            </a:r>
            <a:r>
              <a:rPr lang="en-US"/>
              <a:t>table.]</a:t>
            </a:r>
            <a:endParaRPr lang="en-US" dirty="0"/>
          </a:p>
        </p:txBody>
      </p:sp>
      <p:sp>
        <p:nvSpPr>
          <p:cNvPr id="4" name="Segnaposto numero diapositiva 3">
            <a:extLst>
              <a:ext uri="{FF2B5EF4-FFF2-40B4-BE49-F238E27FC236}">
                <a16:creationId xmlns:a16="http://schemas.microsoft.com/office/drawing/2014/main" id="{6A0BDDAF-C2F7-D60F-21A2-FEBF55243E72}"/>
              </a:ext>
            </a:extLst>
          </p:cNvPr>
          <p:cNvSpPr>
            <a:spLocks noGrp="1"/>
          </p:cNvSpPr>
          <p:nvPr>
            <p:ph type="sldNum" sz="quarter" idx="5"/>
          </p:nvPr>
        </p:nvSpPr>
        <p:spPr/>
        <p:txBody>
          <a:bodyPr/>
          <a:lstStyle/>
          <a:p>
            <a:fld id="{98FF6D0F-8D8B-42DD-BAAB-92498700177C}" type="slidenum">
              <a:rPr lang="it-IT" smtClean="0"/>
              <a:t>44</a:t>
            </a:fld>
            <a:endParaRPr lang="it-IT"/>
          </a:p>
        </p:txBody>
      </p:sp>
    </p:spTree>
    <p:extLst>
      <p:ext uri="{BB962C8B-B14F-4D97-AF65-F5344CB8AC3E}">
        <p14:creationId xmlns:p14="http://schemas.microsoft.com/office/powerpoint/2010/main" val="1461529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D2B15-8604-6B70-FBF1-A4B82C29563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273EAE82-6ACC-99E4-A972-75EC79F538EB}"/>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2CB144E0-84D1-9B00-7968-E9F70B57176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spatial metrics reveal differences from image-level detection alone. PatchCore-L achieves the highest Pixel AP, at 42.89 percent, while PatchCore-S leads in Pixel AUROC and AUPRO. AUPRO measures the coverage of anomalous regions as the false-positive rate varies, and is normalized up to the limit shown in each column. With small defects, even a low false-positive rate can correspond to many incorrectly flagged pixels. This is why very high Pixel AUROC can coexist with limited precision. AP, AUPRO and qualitative maps should therefore be considered together.</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metrics; Chapter 6, full localization </a:t>
            </a:r>
            <a:r>
              <a:rPr lang="en-US"/>
              <a:t>table.]</a:t>
            </a:r>
            <a:endParaRPr lang="en-US" dirty="0"/>
          </a:p>
        </p:txBody>
      </p:sp>
      <p:sp>
        <p:nvSpPr>
          <p:cNvPr id="4" name="Segnaposto numero diapositiva 3">
            <a:extLst>
              <a:ext uri="{FF2B5EF4-FFF2-40B4-BE49-F238E27FC236}">
                <a16:creationId xmlns:a16="http://schemas.microsoft.com/office/drawing/2014/main" id="{EFA79960-8929-661B-DDE2-2947423ED95E}"/>
              </a:ext>
            </a:extLst>
          </p:cNvPr>
          <p:cNvSpPr>
            <a:spLocks noGrp="1"/>
          </p:cNvSpPr>
          <p:nvPr>
            <p:ph type="sldNum" sz="quarter" idx="5"/>
          </p:nvPr>
        </p:nvSpPr>
        <p:spPr/>
        <p:txBody>
          <a:bodyPr/>
          <a:lstStyle/>
          <a:p>
            <a:fld id="{98FF6D0F-8D8B-42DD-BAAB-92498700177C}" type="slidenum">
              <a:rPr lang="it-IT" smtClean="0"/>
              <a:t>45</a:t>
            </a:fld>
            <a:endParaRPr lang="it-IT"/>
          </a:p>
        </p:txBody>
      </p:sp>
    </p:spTree>
    <p:extLst>
      <p:ext uri="{BB962C8B-B14F-4D97-AF65-F5344CB8AC3E}">
        <p14:creationId xmlns:p14="http://schemas.microsoft.com/office/powerpoint/2010/main" val="345039278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4CB2D9-9399-6B82-B61E-4031BFD809F3}"/>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6D65609-112B-8850-8F8C-A389C393420A}"/>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3FD0546-55AE-450B-B508-658C32C7584C}"/>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U-Net combines a contracting path, which extracts semantic information, with a decoder that recovers spatial resolution. Connections between corresponding levels help preserve details that are useful at class boundaries. This is the original figure for the model family. In the thesis experiments, ResNet34 or MobileNetV2 replaces the encoding path. The comparison therefore also assesses how much we can reduce the encoder's size while preserving quality.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U-Net; original figure from reference [</a:t>
            </a:r>
            <a:r>
              <a:rPr lang="en-US"/>
              <a:t>6].]</a:t>
            </a:r>
            <a:endParaRPr lang="en-US" dirty="0"/>
          </a:p>
        </p:txBody>
      </p:sp>
      <p:sp>
        <p:nvSpPr>
          <p:cNvPr id="4" name="Segnaposto numero diapositiva 3">
            <a:extLst>
              <a:ext uri="{FF2B5EF4-FFF2-40B4-BE49-F238E27FC236}">
                <a16:creationId xmlns:a16="http://schemas.microsoft.com/office/drawing/2014/main" id="{9D36198E-03B6-028F-4CBB-7615ACB5D21F}"/>
              </a:ext>
            </a:extLst>
          </p:cNvPr>
          <p:cNvSpPr>
            <a:spLocks noGrp="1"/>
          </p:cNvSpPr>
          <p:nvPr>
            <p:ph type="sldNum" sz="quarter" idx="5"/>
          </p:nvPr>
        </p:nvSpPr>
        <p:spPr/>
        <p:txBody>
          <a:bodyPr/>
          <a:lstStyle/>
          <a:p>
            <a:fld id="{98FF6D0F-8D8B-42DD-BAAB-92498700177C}" type="slidenum">
              <a:rPr lang="it-IT" smtClean="0"/>
              <a:t>46</a:t>
            </a:fld>
            <a:endParaRPr lang="it-IT"/>
          </a:p>
        </p:txBody>
      </p:sp>
    </p:spTree>
    <p:extLst>
      <p:ext uri="{BB962C8B-B14F-4D97-AF65-F5344CB8AC3E}">
        <p14:creationId xmlns:p14="http://schemas.microsoft.com/office/powerpoint/2010/main" val="333839921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6D36A7-32F8-2BDA-D72C-743E0298D8E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ABD8AB8C-0AB9-C858-38F4-6DA2DA39FCD0}"/>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F25224F5-6BE0-857C-7BFD-F744EDD6553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uses dilated convolutions to increase the receptive field without further reducing feature resolution. The ASPP module combines branches with different dilation rates and a global context contribution. This helps describe objects and regions at different scales. In the thesis, I evaluated the configuration with ResNet34. Its good segmentation performance needs to be considered alongside its higher inference cost.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a:t>
            </a:r>
            <a:r>
              <a:rPr lang="en-US"/>
              <a:t>7].]</a:t>
            </a:r>
            <a:endParaRPr lang="en-US" dirty="0"/>
          </a:p>
        </p:txBody>
      </p:sp>
      <p:sp>
        <p:nvSpPr>
          <p:cNvPr id="4" name="Segnaposto numero diapositiva 3">
            <a:extLst>
              <a:ext uri="{FF2B5EF4-FFF2-40B4-BE49-F238E27FC236}">
                <a16:creationId xmlns:a16="http://schemas.microsoft.com/office/drawing/2014/main" id="{F4C356D1-910D-165B-1017-5F2C0C37A1C3}"/>
              </a:ext>
            </a:extLst>
          </p:cNvPr>
          <p:cNvSpPr>
            <a:spLocks noGrp="1"/>
          </p:cNvSpPr>
          <p:nvPr>
            <p:ph type="sldNum" sz="quarter" idx="5"/>
          </p:nvPr>
        </p:nvSpPr>
        <p:spPr/>
        <p:txBody>
          <a:bodyPr/>
          <a:lstStyle/>
          <a:p>
            <a:fld id="{98FF6D0F-8D8B-42DD-BAAB-92498700177C}" type="slidenum">
              <a:rPr lang="it-IT" smtClean="0"/>
              <a:t>47</a:t>
            </a:fld>
            <a:endParaRPr lang="it-IT"/>
          </a:p>
        </p:txBody>
      </p:sp>
    </p:spTree>
    <p:extLst>
      <p:ext uri="{BB962C8B-B14F-4D97-AF65-F5344CB8AC3E}">
        <p14:creationId xmlns:p14="http://schemas.microsoft.com/office/powerpoint/2010/main" val="237230029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E65F938-C1B6-C7F1-901A-1FC381B5F60E}"/>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50EB30F4-35C0-7405-BFE7-6563EF9E961F}"/>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AC439B20-C7F4-3EEF-3BDF-018648537EF1}"/>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DeepLabV3+ retains </a:t>
            </a:r>
            <a:r>
              <a:rPr lang="en-US" dirty="0" err="1"/>
              <a:t>DeepLab's</a:t>
            </a:r>
            <a:r>
              <a:rPr lang="en-US" dirty="0"/>
              <a:t> multiscale feature extraction and adds a decoder that combines semantic context with higher-resolution features. Separable convolutions help contain the cost. The figure describes the general architecture. In the experiments, I use MobileNetV2 as the backbone. This configuration is particularly interesting for efficiency: with QAT, it has the lowest GPU energy per image among the segmentation models reported.</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DeepLabV3+; original figure from reference [</a:t>
            </a:r>
            <a:r>
              <a:rPr lang="en-US"/>
              <a:t>8].]</a:t>
            </a:r>
            <a:endParaRPr lang="en-US" dirty="0"/>
          </a:p>
        </p:txBody>
      </p:sp>
      <p:sp>
        <p:nvSpPr>
          <p:cNvPr id="4" name="Segnaposto numero diapositiva 3">
            <a:extLst>
              <a:ext uri="{FF2B5EF4-FFF2-40B4-BE49-F238E27FC236}">
                <a16:creationId xmlns:a16="http://schemas.microsoft.com/office/drawing/2014/main" id="{290257FE-1F61-F506-9E0C-7A8AAEDEFABF}"/>
              </a:ext>
            </a:extLst>
          </p:cNvPr>
          <p:cNvSpPr>
            <a:spLocks noGrp="1"/>
          </p:cNvSpPr>
          <p:nvPr>
            <p:ph type="sldNum" sz="quarter" idx="5"/>
          </p:nvPr>
        </p:nvSpPr>
        <p:spPr/>
        <p:txBody>
          <a:bodyPr/>
          <a:lstStyle/>
          <a:p>
            <a:fld id="{98FF6D0F-8D8B-42DD-BAAB-92498700177C}" type="slidenum">
              <a:rPr lang="it-IT" smtClean="0"/>
              <a:t>48</a:t>
            </a:fld>
            <a:endParaRPr lang="it-IT"/>
          </a:p>
        </p:txBody>
      </p:sp>
    </p:spTree>
    <p:extLst>
      <p:ext uri="{BB962C8B-B14F-4D97-AF65-F5344CB8AC3E}">
        <p14:creationId xmlns:p14="http://schemas.microsoft.com/office/powerpoint/2010/main" val="842359494"/>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CB4F1-FF5E-2D6F-510D-0FD008FB845F}"/>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93CCB99E-753F-3E16-CDA9-E40B2C566CBC}"/>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4D1C46F-D949-0C8C-026A-6CD814E4C8E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SegFormer</a:t>
            </a:r>
            <a:r>
              <a:rPr lang="en-US" dirty="0"/>
              <a:t> uses a hierarchical transformer encoder, which produces features at multiple resolutions, and a relatively simple MLP decoder to combine them. The B0 variant keeps the model compact, with about 3.7 million parameters. In our comparison, it offers the highest test </a:t>
            </a:r>
            <a:r>
              <a:rPr lang="en-US" dirty="0" err="1"/>
              <a:t>mIoU</a:t>
            </a:r>
            <a:r>
              <a:rPr lang="en-US" dirty="0"/>
              <a:t> and better generalization between the two MarsSeg domains than the CNNs considered. The quantization tested remains selective, however: attention, linear projections and some other operations do not all become INT8.</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SegFormer</a:t>
            </a:r>
            <a:r>
              <a:rPr lang="en-US" dirty="0"/>
              <a:t>; original figure from reference [</a:t>
            </a:r>
            <a:r>
              <a:rPr lang="en-US"/>
              <a:t>9].]</a:t>
            </a:r>
            <a:endParaRPr lang="en-US" dirty="0"/>
          </a:p>
        </p:txBody>
      </p:sp>
      <p:sp>
        <p:nvSpPr>
          <p:cNvPr id="4" name="Segnaposto numero diapositiva 3">
            <a:extLst>
              <a:ext uri="{FF2B5EF4-FFF2-40B4-BE49-F238E27FC236}">
                <a16:creationId xmlns:a16="http://schemas.microsoft.com/office/drawing/2014/main" id="{BC6905F3-DDDC-AE8A-0013-B25212C67F59}"/>
              </a:ext>
            </a:extLst>
          </p:cNvPr>
          <p:cNvSpPr>
            <a:spLocks noGrp="1"/>
          </p:cNvSpPr>
          <p:nvPr>
            <p:ph type="sldNum" sz="quarter" idx="5"/>
          </p:nvPr>
        </p:nvSpPr>
        <p:spPr/>
        <p:txBody>
          <a:bodyPr/>
          <a:lstStyle/>
          <a:p>
            <a:fld id="{98FF6D0F-8D8B-42DD-BAAB-92498700177C}" type="slidenum">
              <a:rPr lang="it-IT" smtClean="0"/>
              <a:t>49</a:t>
            </a:fld>
            <a:endParaRPr lang="it-IT"/>
          </a:p>
        </p:txBody>
      </p:sp>
    </p:spTree>
    <p:extLst>
      <p:ext uri="{BB962C8B-B14F-4D97-AF65-F5344CB8AC3E}">
        <p14:creationId xmlns:p14="http://schemas.microsoft.com/office/powerpoint/2010/main" val="1535407190"/>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0A4B0B-1BDB-05EA-E7E8-AEB829F1F0CD}"/>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5FC4910-8404-9EAC-B63E-810F8AF0B939}"/>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9E79C577-4AAF-AEE7-4117-7B4415FAE5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err="1"/>
              <a:t>LCNet</a:t>
            </a:r>
            <a:r>
              <a:rPr lang="en-US" dirty="0"/>
              <a:t> is designed for lightweight segmentation. It restricts some transformations to selected channels, aiming to preserve contextual information with fewer parameters. I tested configurations (3,7) and (3,11), with about 0.51 and 0.73 million parameters respectively. They are trained from scratch and for more epochs than the other models. The results show that, in the configurations tested, this high degree of compactness comes with lower </a:t>
            </a:r>
            <a:r>
              <a:rPr lang="en-US" dirty="0" err="1"/>
              <a:t>mIoU</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2, </a:t>
            </a:r>
            <a:r>
              <a:rPr lang="en-US" dirty="0" err="1"/>
              <a:t>LCNet</a:t>
            </a:r>
            <a:r>
              <a:rPr lang="en-US" dirty="0"/>
              <a:t>; original figure from reference [</a:t>
            </a:r>
            <a:r>
              <a:rPr lang="en-US"/>
              <a:t>10].]</a:t>
            </a:r>
            <a:endParaRPr lang="en-US" dirty="0"/>
          </a:p>
        </p:txBody>
      </p:sp>
      <p:sp>
        <p:nvSpPr>
          <p:cNvPr id="4" name="Segnaposto numero diapositiva 3">
            <a:extLst>
              <a:ext uri="{FF2B5EF4-FFF2-40B4-BE49-F238E27FC236}">
                <a16:creationId xmlns:a16="http://schemas.microsoft.com/office/drawing/2014/main" id="{45A0D0ED-F71B-4905-5E9D-2DFEF45988F5}"/>
              </a:ext>
            </a:extLst>
          </p:cNvPr>
          <p:cNvSpPr>
            <a:spLocks noGrp="1"/>
          </p:cNvSpPr>
          <p:nvPr>
            <p:ph type="sldNum" sz="quarter" idx="5"/>
          </p:nvPr>
        </p:nvSpPr>
        <p:spPr/>
        <p:txBody>
          <a:bodyPr/>
          <a:lstStyle/>
          <a:p>
            <a:fld id="{98FF6D0F-8D8B-42DD-BAAB-92498700177C}" type="slidenum">
              <a:rPr lang="it-IT" smtClean="0"/>
              <a:t>50</a:t>
            </a:fld>
            <a:endParaRPr lang="it-IT"/>
          </a:p>
        </p:txBody>
      </p:sp>
    </p:spTree>
    <p:extLst>
      <p:ext uri="{BB962C8B-B14F-4D97-AF65-F5344CB8AC3E}">
        <p14:creationId xmlns:p14="http://schemas.microsoft.com/office/powerpoint/2010/main" val="398774161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310AAE-E522-D608-A08A-404B8E2E7604}"/>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7DF988BD-A3FB-36EC-F84C-198F7DA9CEC7}"/>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2FA2037-C44E-CF0A-8CBA-25FE625FFE3A}"/>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In PatchCore, a fixed pretrained extractor produces descriptors of normal patches. A representative subset forms the memory bank. During inference, the distance to the nearest descriptors generates the local scores and the image score. In the thesis, the bank contains fifty thousand descriptors for both versions. Cost also depends on the number of patches to compare: the Small configuration uses a denser grid and, despite its smaller backbone, is slower than the Large configuration.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PatchCore; original figure from reference [</a:t>
            </a:r>
            <a:r>
              <a:rPr lang="en-US"/>
              <a:t>16].]</a:t>
            </a:r>
            <a:endParaRPr lang="en-US" dirty="0"/>
          </a:p>
        </p:txBody>
      </p:sp>
      <p:sp>
        <p:nvSpPr>
          <p:cNvPr id="4" name="Segnaposto numero diapositiva 3">
            <a:extLst>
              <a:ext uri="{FF2B5EF4-FFF2-40B4-BE49-F238E27FC236}">
                <a16:creationId xmlns:a16="http://schemas.microsoft.com/office/drawing/2014/main" id="{FBCABB7E-DCC0-E3EA-E16A-CDC46A446EDC}"/>
              </a:ext>
            </a:extLst>
          </p:cNvPr>
          <p:cNvSpPr>
            <a:spLocks noGrp="1"/>
          </p:cNvSpPr>
          <p:nvPr>
            <p:ph type="sldNum" sz="quarter" idx="5"/>
          </p:nvPr>
        </p:nvSpPr>
        <p:spPr/>
        <p:txBody>
          <a:bodyPr/>
          <a:lstStyle/>
          <a:p>
            <a:fld id="{98FF6D0F-8D8B-42DD-BAAB-92498700177C}" type="slidenum">
              <a:rPr lang="it-IT" smtClean="0"/>
              <a:t>51</a:t>
            </a:fld>
            <a:endParaRPr lang="it-IT"/>
          </a:p>
        </p:txBody>
      </p:sp>
    </p:spTree>
    <p:extLst>
      <p:ext uri="{BB962C8B-B14F-4D97-AF65-F5344CB8AC3E}">
        <p14:creationId xmlns:p14="http://schemas.microsoft.com/office/powerpoint/2010/main" val="2788854850"/>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C3A216-8690-F4CE-4AEF-DE7ED001C457}"/>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41B5BD75-2A03-EB81-5F62-907F3D6BD09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EC4A8DE8-BB2E-B406-6669-67705248D4F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EfficientAD combines a fixed teacher with a student trained on normal images. If the student does not reproduce the teacher's features well in a region, that difference contributes to the anomaly map. An autoencoder adds a check on global context, and the contributions are calibrated on normal validation data. The figure illustrates the general method, including structural and logical anomalies. Our application instead concerns perforations and does not reproduce all the scenarios in the original work.</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EfficientAD-S; original figure from reference [</a:t>
            </a:r>
            <a:r>
              <a:rPr lang="en-US"/>
              <a:t>17].]</a:t>
            </a:r>
            <a:endParaRPr lang="en-US" dirty="0"/>
          </a:p>
        </p:txBody>
      </p:sp>
      <p:sp>
        <p:nvSpPr>
          <p:cNvPr id="4" name="Segnaposto numero diapositiva 3">
            <a:extLst>
              <a:ext uri="{FF2B5EF4-FFF2-40B4-BE49-F238E27FC236}">
                <a16:creationId xmlns:a16="http://schemas.microsoft.com/office/drawing/2014/main" id="{65B6D6D2-A756-6E0B-A781-73D54E6CED06}"/>
              </a:ext>
            </a:extLst>
          </p:cNvPr>
          <p:cNvSpPr>
            <a:spLocks noGrp="1"/>
          </p:cNvSpPr>
          <p:nvPr>
            <p:ph type="sldNum" sz="quarter" idx="5"/>
          </p:nvPr>
        </p:nvSpPr>
        <p:spPr/>
        <p:txBody>
          <a:bodyPr/>
          <a:lstStyle/>
          <a:p>
            <a:fld id="{98FF6D0F-8D8B-42DD-BAAB-92498700177C}" type="slidenum">
              <a:rPr lang="it-IT" smtClean="0"/>
              <a:t>52</a:t>
            </a:fld>
            <a:endParaRPr lang="it-IT"/>
          </a:p>
        </p:txBody>
      </p:sp>
    </p:spTree>
    <p:extLst>
      <p:ext uri="{BB962C8B-B14F-4D97-AF65-F5344CB8AC3E}">
        <p14:creationId xmlns:p14="http://schemas.microsoft.com/office/powerpoint/2010/main" val="434152326"/>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E152DC-140A-6CF8-F70F-6577D63EB36A}"/>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BB2EF72C-F8EB-421D-8A7E-B37BF03B81B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8712F8DB-07A9-1DF5-0AC1-1F429E6970A0}"/>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The diagram shows feature extraction and the creation of artificial anomalies during training. The model jointly learns to produce a map and an image score. The general formulation supports multiple supervision settings, but in the thesis I use only normal data and synthetic feature perturbations. The WideResNet50 backbone is fixed. For the main result, the image score comes from the mean of the highest one percent of values in the raw map, rather than just the classification head's output.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 4, </a:t>
            </a:r>
            <a:r>
              <a:rPr lang="en-US" dirty="0" err="1"/>
              <a:t>SuperSimpleNet</a:t>
            </a:r>
            <a:r>
              <a:rPr lang="en-US" dirty="0"/>
              <a:t>; figure from the extended formulation, reference [</a:t>
            </a:r>
            <a:r>
              <a:rPr lang="en-US"/>
              <a:t>19].]</a:t>
            </a:r>
            <a:endParaRPr lang="en-US" dirty="0"/>
          </a:p>
        </p:txBody>
      </p:sp>
      <p:sp>
        <p:nvSpPr>
          <p:cNvPr id="4" name="Segnaposto numero diapositiva 3">
            <a:extLst>
              <a:ext uri="{FF2B5EF4-FFF2-40B4-BE49-F238E27FC236}">
                <a16:creationId xmlns:a16="http://schemas.microsoft.com/office/drawing/2014/main" id="{82315368-2230-6083-DD82-23ED0DAEB30F}"/>
              </a:ext>
            </a:extLst>
          </p:cNvPr>
          <p:cNvSpPr>
            <a:spLocks noGrp="1"/>
          </p:cNvSpPr>
          <p:nvPr>
            <p:ph type="sldNum" sz="quarter" idx="5"/>
          </p:nvPr>
        </p:nvSpPr>
        <p:spPr/>
        <p:txBody>
          <a:bodyPr/>
          <a:lstStyle/>
          <a:p>
            <a:fld id="{98FF6D0F-8D8B-42DD-BAAB-92498700177C}" type="slidenum">
              <a:rPr lang="it-IT" smtClean="0"/>
              <a:t>53</a:t>
            </a:fld>
            <a:endParaRPr lang="it-IT"/>
          </a:p>
        </p:txBody>
      </p:sp>
    </p:spTree>
    <p:extLst>
      <p:ext uri="{BB962C8B-B14F-4D97-AF65-F5344CB8AC3E}">
        <p14:creationId xmlns:p14="http://schemas.microsoft.com/office/powerpoint/2010/main" val="63298845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F753AB-0C4C-4158-90DE-A2670C3BDEB2}"/>
            </a:ext>
          </a:extLst>
        </p:cNvPr>
        <p:cNvGrpSpPr/>
        <p:nvPr/>
      </p:nvGrpSpPr>
      <p:grpSpPr>
        <a:xfrm>
          <a:off x="0" y="0"/>
          <a:ext cx="0" cy="0"/>
          <a:chOff x="0" y="0"/>
          <a:chExt cx="0" cy="0"/>
        </a:xfrm>
      </p:grpSpPr>
      <p:sp>
        <p:nvSpPr>
          <p:cNvPr id="2" name="Segnaposto immagine diapositiva 1">
            <a:extLst>
              <a:ext uri="{FF2B5EF4-FFF2-40B4-BE49-F238E27FC236}">
                <a16:creationId xmlns:a16="http://schemas.microsoft.com/office/drawing/2014/main" id="{E5AA9D39-1D13-339D-1A82-631ED0CC3368}"/>
              </a:ext>
            </a:extLst>
          </p:cNvPr>
          <p:cNvSpPr>
            <a:spLocks noGrp="1" noRot="1" noChangeAspect="1"/>
          </p:cNvSpPr>
          <p:nvPr>
            <p:ph type="sldImg"/>
          </p:nvPr>
        </p:nvSpPr>
        <p:spPr/>
        <p:txBody>
          <a:bodyPr/>
          <a:lstStyle/>
          <a:p>
            <a:endParaRPr lang="it-IT"/>
          </a:p>
        </p:txBody>
      </p:sp>
      <p:sp>
        <p:nvSpPr>
          <p:cNvPr id="3" name="Segnaposto note 2">
            <a:extLst>
              <a:ext uri="{FF2B5EF4-FFF2-40B4-BE49-F238E27FC236}">
                <a16:creationId xmlns:a16="http://schemas.microsoft.com/office/drawing/2014/main" id="{40CB0C66-FB26-43BE-9711-2FB4F11802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[Extra slide. Optional remarks for the Q&amp;A, outside the 15-minute presentation.]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TinyGLASS combines local anomalies synthesized in image space with guided perturbations in feature space. These mechanisms are used during training. Inference retains a direct prediction path. This is the original figure. In our implementation, the ResNet18 backbone is fixed, and I use feature pooling without the separate trainable adapter shown in the diagram. The 384- and 512-pixel variants also differ in their feature grids and smoothing. Their comparison therefore concerns complete configurations, rather than the effect of resolution alone.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[Supporting sources, not to be read aloud: Thesis, Chapters 4 and 6, TinyGLASS; original figure from reference [20], CC BY </a:t>
            </a:r>
            <a:r>
              <a:rPr lang="en-US"/>
              <a:t>4.0.]</a:t>
            </a:r>
            <a:endParaRPr lang="en-US" dirty="0"/>
          </a:p>
        </p:txBody>
      </p:sp>
      <p:sp>
        <p:nvSpPr>
          <p:cNvPr id="4" name="Segnaposto numero diapositiva 3">
            <a:extLst>
              <a:ext uri="{FF2B5EF4-FFF2-40B4-BE49-F238E27FC236}">
                <a16:creationId xmlns:a16="http://schemas.microsoft.com/office/drawing/2014/main" id="{1C0096FB-8A97-C1AF-6F9E-003C48F97828}"/>
              </a:ext>
            </a:extLst>
          </p:cNvPr>
          <p:cNvSpPr>
            <a:spLocks noGrp="1"/>
          </p:cNvSpPr>
          <p:nvPr>
            <p:ph type="sldNum" sz="quarter" idx="5"/>
          </p:nvPr>
        </p:nvSpPr>
        <p:spPr/>
        <p:txBody>
          <a:bodyPr/>
          <a:lstStyle/>
          <a:p>
            <a:fld id="{98FF6D0F-8D8B-42DD-BAAB-92498700177C}" type="slidenum">
              <a:rPr lang="it-IT" smtClean="0"/>
              <a:t>54</a:t>
            </a:fld>
            <a:endParaRPr lang="it-IT"/>
          </a:p>
        </p:txBody>
      </p:sp>
    </p:spTree>
    <p:extLst>
      <p:ext uri="{BB962C8B-B14F-4D97-AF65-F5344CB8AC3E}">
        <p14:creationId xmlns:p14="http://schemas.microsoft.com/office/powerpoint/2010/main" val="1445959401"/>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6F803789-FAE9-AE5F-D149-3256DF9141E0}"/>
              </a:ext>
            </a:extLst>
          </p:cNvPr>
          <p:cNvSpPr>
            <a:spLocks noGrp="1"/>
          </p:cNvSpPr>
          <p:nvPr>
            <p:ph type="ctrTitle"/>
          </p:nvPr>
        </p:nvSpPr>
        <p:spPr>
          <a:xfrm>
            <a:off x="1524000" y="1122363"/>
            <a:ext cx="9144000" cy="2387600"/>
          </a:xfrm>
        </p:spPr>
        <p:txBody>
          <a:bodyPr anchor="b"/>
          <a:lstStyle>
            <a:lvl1pPr algn="ctr">
              <a:defRPr sz="6000"/>
            </a:lvl1pPr>
          </a:lstStyle>
          <a:p>
            <a:r>
              <a:rPr lang="it-IT"/>
              <a:t>Fare clic per modificare lo stile del titolo dello schema</a:t>
            </a:r>
          </a:p>
        </p:txBody>
      </p:sp>
      <p:sp>
        <p:nvSpPr>
          <p:cNvPr id="3" name="Sottotitolo 2">
            <a:extLst>
              <a:ext uri="{FF2B5EF4-FFF2-40B4-BE49-F238E27FC236}">
                <a16:creationId xmlns:a16="http://schemas.microsoft.com/office/drawing/2014/main" id="{BC36B48D-A499-6D9B-42D3-F50BA2FF774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it-IT"/>
              <a:t>Fare clic per modificare lo stile del sottotitolo dello schema</a:t>
            </a:r>
          </a:p>
        </p:txBody>
      </p:sp>
      <p:sp>
        <p:nvSpPr>
          <p:cNvPr id="4" name="Segnaposto data 3">
            <a:extLst>
              <a:ext uri="{FF2B5EF4-FFF2-40B4-BE49-F238E27FC236}">
                <a16:creationId xmlns:a16="http://schemas.microsoft.com/office/drawing/2014/main" id="{A6F88E66-1BB0-C228-8C64-9FEA351E50C1}"/>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5" name="Segnaposto piè di pagina 4">
            <a:extLst>
              <a:ext uri="{FF2B5EF4-FFF2-40B4-BE49-F238E27FC236}">
                <a16:creationId xmlns:a16="http://schemas.microsoft.com/office/drawing/2014/main" id="{2486D332-8FF2-D84A-E2CB-2C81A93D1447}"/>
              </a:ext>
            </a:extLst>
          </p:cNvPr>
          <p:cNvSpPr>
            <a:spLocks noGrp="1"/>
          </p:cNvSpPr>
          <p:nvPr>
            <p:ph type="ftr" sz="quarter" idx="11"/>
          </p:nvPr>
        </p:nvSpPr>
        <p:spPr/>
        <p:txBody>
          <a:bodyPr/>
          <a:lstStyle/>
          <a:p>
            <a:endParaRPr lang="it-IT" dirty="0"/>
          </a:p>
        </p:txBody>
      </p:sp>
      <p:sp>
        <p:nvSpPr>
          <p:cNvPr id="6" name="Segnaposto numero diapositiva 5">
            <a:extLst>
              <a:ext uri="{FF2B5EF4-FFF2-40B4-BE49-F238E27FC236}">
                <a16:creationId xmlns:a16="http://schemas.microsoft.com/office/drawing/2014/main" id="{154B3687-79F3-A13F-A26B-1C87C3B8AFAA}"/>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9" name="Rettangolo 8">
            <a:extLst>
              <a:ext uri="{FF2B5EF4-FFF2-40B4-BE49-F238E27FC236}">
                <a16:creationId xmlns:a16="http://schemas.microsoft.com/office/drawing/2014/main" id="{E4DE5787-B0C3-9C56-C213-8B1D226F51A3}"/>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7" name="Immagine 6">
            <a:extLst>
              <a:ext uri="{FF2B5EF4-FFF2-40B4-BE49-F238E27FC236}">
                <a16:creationId xmlns:a16="http://schemas.microsoft.com/office/drawing/2014/main" id="{6CEC2B1D-479D-0F04-3FAF-302109770D23}"/>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5322193"/>
            <a:ext cx="969764" cy="969764"/>
          </a:xfrm>
          <a:prstGeom prst="rect">
            <a:avLst/>
          </a:prstGeom>
        </p:spPr>
      </p:pic>
    </p:spTree>
    <p:extLst>
      <p:ext uri="{BB962C8B-B14F-4D97-AF65-F5344CB8AC3E}">
        <p14:creationId xmlns:p14="http://schemas.microsoft.com/office/powerpoint/2010/main" val="20199839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olo e contenu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5816B67F-545E-F2F3-1CFA-1F8C9A68EC59}"/>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D6620FFD-C026-E867-AD63-592D79EC4840}"/>
              </a:ext>
            </a:extLst>
          </p:cNvPr>
          <p:cNvSpPr>
            <a:spLocks noGrp="1"/>
          </p:cNvSpPr>
          <p:nvPr>
            <p:ph idx="1"/>
          </p:nvPr>
        </p:nvSpPr>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E1B5E04-C24B-D5D6-3D0A-F62E12A77008}"/>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5" name="Segnaposto piè di pagina 4">
            <a:extLst>
              <a:ext uri="{FF2B5EF4-FFF2-40B4-BE49-F238E27FC236}">
                <a16:creationId xmlns:a16="http://schemas.microsoft.com/office/drawing/2014/main" id="{D7FE94B9-F6E8-7619-0111-44A9CEE12AE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F5710BEB-E9FE-213D-7360-C53330E52266}"/>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0295118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Intestazione sezion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B1D697E-21B5-1000-78EF-4B3ACD5CD864}"/>
              </a:ext>
            </a:extLst>
          </p:cNvPr>
          <p:cNvSpPr>
            <a:spLocks noGrp="1"/>
          </p:cNvSpPr>
          <p:nvPr>
            <p:ph type="title"/>
          </p:nvPr>
        </p:nvSpPr>
        <p:spPr>
          <a:xfrm>
            <a:off x="831850" y="1709738"/>
            <a:ext cx="10515600" cy="2852737"/>
          </a:xfrm>
        </p:spPr>
        <p:txBody>
          <a:bodyPr anchor="b"/>
          <a:lstStyle>
            <a:lvl1pPr>
              <a:defRPr sz="6000"/>
            </a:lvl1pPr>
          </a:lstStyle>
          <a:p>
            <a:r>
              <a:rPr lang="it-IT"/>
              <a:t>Fare clic per modificare lo stile del titolo dello schema</a:t>
            </a:r>
          </a:p>
        </p:txBody>
      </p:sp>
      <p:sp>
        <p:nvSpPr>
          <p:cNvPr id="3" name="Segnaposto testo 2">
            <a:extLst>
              <a:ext uri="{FF2B5EF4-FFF2-40B4-BE49-F238E27FC236}">
                <a16:creationId xmlns:a16="http://schemas.microsoft.com/office/drawing/2014/main" id="{3812CEF4-17FB-B235-08C1-23524B552A7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it-IT"/>
              <a:t>Fare clic per modificare gli stili del testo dello schema</a:t>
            </a:r>
          </a:p>
        </p:txBody>
      </p:sp>
      <p:sp>
        <p:nvSpPr>
          <p:cNvPr id="4" name="Segnaposto data 3">
            <a:extLst>
              <a:ext uri="{FF2B5EF4-FFF2-40B4-BE49-F238E27FC236}">
                <a16:creationId xmlns:a16="http://schemas.microsoft.com/office/drawing/2014/main" id="{CC4A0313-0298-1377-47B1-B5F20B24602F}"/>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5" name="Segnaposto piè di pagina 4">
            <a:extLst>
              <a:ext uri="{FF2B5EF4-FFF2-40B4-BE49-F238E27FC236}">
                <a16:creationId xmlns:a16="http://schemas.microsoft.com/office/drawing/2014/main" id="{4A9ABFBA-FFEB-FB63-FB52-7A183CD3312B}"/>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E7B181C-3C54-EFD2-F1F5-95C0D20EEB2F}"/>
              </a:ext>
            </a:extLst>
          </p:cNvPr>
          <p:cNvSpPr>
            <a:spLocks noGrp="1"/>
          </p:cNvSpPr>
          <p:nvPr>
            <p:ph type="sldNum" sz="quarter" idx="12"/>
          </p:nvPr>
        </p:nvSpPr>
        <p:spPr/>
        <p:txBody>
          <a:bodyPr/>
          <a:lstStyle/>
          <a:p>
            <a:fld id="{F6BC9DE0-E148-4F27-888A-35D29D0A8254}" type="slidenum">
              <a:rPr lang="it-IT" smtClean="0"/>
              <a:t>‹N›</a:t>
            </a:fld>
            <a:endParaRPr lang="it-IT"/>
          </a:p>
        </p:txBody>
      </p:sp>
      <p:sp>
        <p:nvSpPr>
          <p:cNvPr id="7" name="Rettangolo 6">
            <a:extLst>
              <a:ext uri="{FF2B5EF4-FFF2-40B4-BE49-F238E27FC236}">
                <a16:creationId xmlns:a16="http://schemas.microsoft.com/office/drawing/2014/main" id="{95B49CF1-81D8-D18F-93BB-B1AB52586C7C}"/>
              </a:ext>
            </a:extLst>
          </p:cNvPr>
          <p:cNvSpPr/>
          <p:nvPr userDrawn="1"/>
        </p:nvSpPr>
        <p:spPr>
          <a:xfrm>
            <a:off x="10938617" y="68366"/>
            <a:ext cx="1153682" cy="1145137"/>
          </a:xfrm>
          <a:prstGeom prst="rect">
            <a:avLst/>
          </a:prstGeom>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it-IT"/>
          </a:p>
        </p:txBody>
      </p:sp>
      <p:pic>
        <p:nvPicPr>
          <p:cNvPr id="10" name="Immagine 9">
            <a:extLst>
              <a:ext uri="{FF2B5EF4-FFF2-40B4-BE49-F238E27FC236}">
                <a16:creationId xmlns:a16="http://schemas.microsoft.com/office/drawing/2014/main" id="{7740D457-6C56-B3BB-5833-F6AD883A0B5B}"/>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611118" y="156052"/>
            <a:ext cx="969764" cy="969764"/>
          </a:xfrm>
          <a:prstGeom prst="rect">
            <a:avLst/>
          </a:prstGeom>
        </p:spPr>
      </p:pic>
    </p:spTree>
    <p:extLst>
      <p:ext uri="{BB962C8B-B14F-4D97-AF65-F5344CB8AC3E}">
        <p14:creationId xmlns:p14="http://schemas.microsoft.com/office/powerpoint/2010/main" val="2157897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e contenuti">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43A99D72-CA11-3389-C4A3-05808F01F9FC}"/>
              </a:ext>
            </a:extLst>
          </p:cNvPr>
          <p:cNvSpPr>
            <a:spLocks noGrp="1"/>
          </p:cNvSpPr>
          <p:nvPr>
            <p:ph type="title"/>
          </p:nvPr>
        </p:nvSpPr>
        <p:spPr/>
        <p:txBody>
          <a:body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FD8BE8CD-CFBF-788D-048C-6E627945DA03}"/>
              </a:ext>
            </a:extLst>
          </p:cNvPr>
          <p:cNvSpPr>
            <a:spLocks noGrp="1"/>
          </p:cNvSpPr>
          <p:nvPr>
            <p:ph sz="half" idx="1"/>
          </p:nvPr>
        </p:nvSpPr>
        <p:spPr>
          <a:xfrm>
            <a:off x="838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contenuto 3">
            <a:extLst>
              <a:ext uri="{FF2B5EF4-FFF2-40B4-BE49-F238E27FC236}">
                <a16:creationId xmlns:a16="http://schemas.microsoft.com/office/drawing/2014/main" id="{8ECF094A-0AD8-118A-5A5F-2BBBA770C48D}"/>
              </a:ext>
            </a:extLst>
          </p:cNvPr>
          <p:cNvSpPr>
            <a:spLocks noGrp="1"/>
          </p:cNvSpPr>
          <p:nvPr>
            <p:ph sz="half" idx="2"/>
          </p:nvPr>
        </p:nvSpPr>
        <p:spPr>
          <a:xfrm>
            <a:off x="6172200" y="1825625"/>
            <a:ext cx="5181600" cy="435133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data 4">
            <a:extLst>
              <a:ext uri="{FF2B5EF4-FFF2-40B4-BE49-F238E27FC236}">
                <a16:creationId xmlns:a16="http://schemas.microsoft.com/office/drawing/2014/main" id="{9096324B-A6ED-6C5C-45F5-F6534A8EDBEA}"/>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6" name="Segnaposto piè di pagina 5">
            <a:extLst>
              <a:ext uri="{FF2B5EF4-FFF2-40B4-BE49-F238E27FC236}">
                <a16:creationId xmlns:a16="http://schemas.microsoft.com/office/drawing/2014/main" id="{EF3AAECC-D6F8-D811-47C2-817A1745C4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BDD2689F-0EF0-256D-67D0-F67F8B2DB49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38868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nfront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F0BF4958-39EE-101C-CCB9-38505F5D46CB}"/>
              </a:ext>
            </a:extLst>
          </p:cNvPr>
          <p:cNvSpPr>
            <a:spLocks noGrp="1"/>
          </p:cNvSpPr>
          <p:nvPr>
            <p:ph type="title"/>
          </p:nvPr>
        </p:nvSpPr>
        <p:spPr>
          <a:xfrm>
            <a:off x="839788" y="365125"/>
            <a:ext cx="8478383" cy="1325563"/>
          </a:xfrm>
        </p:spPr>
        <p:txBody>
          <a:bodyPr/>
          <a:lstStyle/>
          <a:p>
            <a:r>
              <a:rPr lang="it-IT"/>
              <a:t>Fare clic per modificare lo stile del titolo dello schema</a:t>
            </a:r>
          </a:p>
        </p:txBody>
      </p:sp>
      <p:sp>
        <p:nvSpPr>
          <p:cNvPr id="3" name="Segnaposto testo 2">
            <a:extLst>
              <a:ext uri="{FF2B5EF4-FFF2-40B4-BE49-F238E27FC236}">
                <a16:creationId xmlns:a16="http://schemas.microsoft.com/office/drawing/2014/main" id="{FF6A501A-F474-9F9A-AD00-6351FF50FB2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4" name="Segnaposto contenuto 3">
            <a:extLst>
              <a:ext uri="{FF2B5EF4-FFF2-40B4-BE49-F238E27FC236}">
                <a16:creationId xmlns:a16="http://schemas.microsoft.com/office/drawing/2014/main" id="{4DF36407-53B3-8A58-720F-D63BD3F3805E}"/>
              </a:ext>
            </a:extLst>
          </p:cNvPr>
          <p:cNvSpPr>
            <a:spLocks noGrp="1"/>
          </p:cNvSpPr>
          <p:nvPr>
            <p:ph sz="half" idx="2"/>
          </p:nvPr>
        </p:nvSpPr>
        <p:spPr>
          <a:xfrm>
            <a:off x="839788" y="2505075"/>
            <a:ext cx="5157787"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5" name="Segnaposto testo 4">
            <a:extLst>
              <a:ext uri="{FF2B5EF4-FFF2-40B4-BE49-F238E27FC236}">
                <a16:creationId xmlns:a16="http://schemas.microsoft.com/office/drawing/2014/main" id="{50CE85B8-DB21-8BE8-3B07-85429916EEA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it-IT"/>
              <a:t>Fare clic per modificare gli stili del testo dello schema</a:t>
            </a:r>
          </a:p>
        </p:txBody>
      </p:sp>
      <p:sp>
        <p:nvSpPr>
          <p:cNvPr id="6" name="Segnaposto contenuto 5">
            <a:extLst>
              <a:ext uri="{FF2B5EF4-FFF2-40B4-BE49-F238E27FC236}">
                <a16:creationId xmlns:a16="http://schemas.microsoft.com/office/drawing/2014/main" id="{FDACF0FB-80C3-8913-D169-E7E322010910}"/>
              </a:ext>
            </a:extLst>
          </p:cNvPr>
          <p:cNvSpPr>
            <a:spLocks noGrp="1"/>
          </p:cNvSpPr>
          <p:nvPr>
            <p:ph sz="quarter" idx="4"/>
          </p:nvPr>
        </p:nvSpPr>
        <p:spPr>
          <a:xfrm>
            <a:off x="6172200" y="2505075"/>
            <a:ext cx="5183188" cy="3684588"/>
          </a:xfrm>
        </p:spPr>
        <p:txBody>
          <a:body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7" name="Segnaposto data 6">
            <a:extLst>
              <a:ext uri="{FF2B5EF4-FFF2-40B4-BE49-F238E27FC236}">
                <a16:creationId xmlns:a16="http://schemas.microsoft.com/office/drawing/2014/main" id="{90D540B9-2A9E-CB1D-AB07-1CD8B277A533}"/>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8" name="Segnaposto piè di pagina 7">
            <a:extLst>
              <a:ext uri="{FF2B5EF4-FFF2-40B4-BE49-F238E27FC236}">
                <a16:creationId xmlns:a16="http://schemas.microsoft.com/office/drawing/2014/main" id="{5EB473A4-1A5D-100C-EA7B-D0F10495EC5C}"/>
              </a:ext>
            </a:extLst>
          </p:cNvPr>
          <p:cNvSpPr>
            <a:spLocks noGrp="1"/>
          </p:cNvSpPr>
          <p:nvPr>
            <p:ph type="ftr" sz="quarter" idx="11"/>
          </p:nvPr>
        </p:nvSpPr>
        <p:spPr/>
        <p:txBody>
          <a:bodyPr/>
          <a:lstStyle/>
          <a:p>
            <a:endParaRPr lang="it-IT"/>
          </a:p>
        </p:txBody>
      </p:sp>
      <p:sp>
        <p:nvSpPr>
          <p:cNvPr id="9" name="Segnaposto numero diapositiva 8">
            <a:extLst>
              <a:ext uri="{FF2B5EF4-FFF2-40B4-BE49-F238E27FC236}">
                <a16:creationId xmlns:a16="http://schemas.microsoft.com/office/drawing/2014/main" id="{4CF45C13-8344-AF21-0AB7-1E553E903179}"/>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79270271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titolo">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D8BC0E6F-1AB5-2269-4DB4-F107B259AA89}"/>
              </a:ext>
            </a:extLst>
          </p:cNvPr>
          <p:cNvSpPr>
            <a:spLocks noGrp="1"/>
          </p:cNvSpPr>
          <p:nvPr>
            <p:ph type="title"/>
          </p:nvPr>
        </p:nvSpPr>
        <p:spPr/>
        <p:txBody>
          <a:bodyPr/>
          <a:lstStyle/>
          <a:p>
            <a:r>
              <a:rPr lang="it-IT"/>
              <a:t>Fare clic per modificare lo stile del titolo dello schema</a:t>
            </a:r>
          </a:p>
        </p:txBody>
      </p:sp>
      <p:sp>
        <p:nvSpPr>
          <p:cNvPr id="3" name="Segnaposto data 2">
            <a:extLst>
              <a:ext uri="{FF2B5EF4-FFF2-40B4-BE49-F238E27FC236}">
                <a16:creationId xmlns:a16="http://schemas.microsoft.com/office/drawing/2014/main" id="{EDA4CCE2-C60D-5859-1B94-A3690983CF98}"/>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4" name="Segnaposto piè di pagina 3">
            <a:extLst>
              <a:ext uri="{FF2B5EF4-FFF2-40B4-BE49-F238E27FC236}">
                <a16:creationId xmlns:a16="http://schemas.microsoft.com/office/drawing/2014/main" id="{7770B1B2-CD1D-2504-DF02-2F5F8557C374}"/>
              </a:ext>
            </a:extLst>
          </p:cNvPr>
          <p:cNvSpPr>
            <a:spLocks noGrp="1"/>
          </p:cNvSpPr>
          <p:nvPr>
            <p:ph type="ftr" sz="quarter" idx="11"/>
          </p:nvPr>
        </p:nvSpPr>
        <p:spPr/>
        <p:txBody>
          <a:bodyPr/>
          <a:lstStyle/>
          <a:p>
            <a:endParaRPr lang="it-IT"/>
          </a:p>
        </p:txBody>
      </p:sp>
      <p:sp>
        <p:nvSpPr>
          <p:cNvPr id="5" name="Segnaposto numero diapositiva 4">
            <a:extLst>
              <a:ext uri="{FF2B5EF4-FFF2-40B4-BE49-F238E27FC236}">
                <a16:creationId xmlns:a16="http://schemas.microsoft.com/office/drawing/2014/main" id="{B7879D81-A00C-5E90-ADAE-AF1FD0C13F6A}"/>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24009379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uota">
    <p:spTree>
      <p:nvGrpSpPr>
        <p:cNvPr id="1" name=""/>
        <p:cNvGrpSpPr/>
        <p:nvPr/>
      </p:nvGrpSpPr>
      <p:grpSpPr>
        <a:xfrm>
          <a:off x="0" y="0"/>
          <a:ext cx="0" cy="0"/>
          <a:chOff x="0" y="0"/>
          <a:chExt cx="0" cy="0"/>
        </a:xfrm>
      </p:grpSpPr>
      <p:sp>
        <p:nvSpPr>
          <p:cNvPr id="2" name="Segnaposto data 1">
            <a:extLst>
              <a:ext uri="{FF2B5EF4-FFF2-40B4-BE49-F238E27FC236}">
                <a16:creationId xmlns:a16="http://schemas.microsoft.com/office/drawing/2014/main" id="{9DF40DD6-905A-20F5-B57A-190C04CED086}"/>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3" name="Segnaposto piè di pagina 2">
            <a:extLst>
              <a:ext uri="{FF2B5EF4-FFF2-40B4-BE49-F238E27FC236}">
                <a16:creationId xmlns:a16="http://schemas.microsoft.com/office/drawing/2014/main" id="{35E58C8C-4759-000A-C7C3-3B7E8F622502}"/>
              </a:ext>
            </a:extLst>
          </p:cNvPr>
          <p:cNvSpPr>
            <a:spLocks noGrp="1"/>
          </p:cNvSpPr>
          <p:nvPr>
            <p:ph type="ftr" sz="quarter" idx="11"/>
          </p:nvPr>
        </p:nvSpPr>
        <p:spPr/>
        <p:txBody>
          <a:bodyPr/>
          <a:lstStyle/>
          <a:p>
            <a:endParaRPr lang="it-IT"/>
          </a:p>
        </p:txBody>
      </p:sp>
      <p:sp>
        <p:nvSpPr>
          <p:cNvPr id="4" name="Segnaposto numero diapositiva 3">
            <a:extLst>
              <a:ext uri="{FF2B5EF4-FFF2-40B4-BE49-F238E27FC236}">
                <a16:creationId xmlns:a16="http://schemas.microsoft.com/office/drawing/2014/main" id="{B43FC90F-6229-5816-E211-B7EF3D86A197}"/>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5327095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to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64C02A9-1669-E800-77AA-97376C1DDB3F}"/>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contenuto 2">
            <a:extLst>
              <a:ext uri="{FF2B5EF4-FFF2-40B4-BE49-F238E27FC236}">
                <a16:creationId xmlns:a16="http://schemas.microsoft.com/office/drawing/2014/main" id="{918BEF98-B068-A61E-D5B8-4557933C10D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testo 3">
            <a:extLst>
              <a:ext uri="{FF2B5EF4-FFF2-40B4-BE49-F238E27FC236}">
                <a16:creationId xmlns:a16="http://schemas.microsoft.com/office/drawing/2014/main" id="{0242C958-5A6C-F3A1-B573-9356F4F01A0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1551D153-C103-17AA-3434-4DACDDB383B3}"/>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6" name="Segnaposto piè di pagina 5">
            <a:extLst>
              <a:ext uri="{FF2B5EF4-FFF2-40B4-BE49-F238E27FC236}">
                <a16:creationId xmlns:a16="http://schemas.microsoft.com/office/drawing/2014/main" id="{E48790FD-852A-D077-B247-87F825C8C068}"/>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9BE65289-4B7C-6539-7CFF-5E0ED20D11B4}"/>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41340779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magine con didascalia">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14DF4F45-9948-E60D-7EB6-990A66FCEA6C}"/>
              </a:ext>
            </a:extLst>
          </p:cNvPr>
          <p:cNvSpPr>
            <a:spLocks noGrp="1"/>
          </p:cNvSpPr>
          <p:nvPr>
            <p:ph type="title"/>
          </p:nvPr>
        </p:nvSpPr>
        <p:spPr>
          <a:xfrm>
            <a:off x="839788" y="457200"/>
            <a:ext cx="3932237" cy="1600200"/>
          </a:xfrm>
        </p:spPr>
        <p:txBody>
          <a:bodyPr anchor="b"/>
          <a:lstStyle>
            <a:lvl1pPr>
              <a:defRPr sz="3200"/>
            </a:lvl1pPr>
          </a:lstStyle>
          <a:p>
            <a:r>
              <a:rPr lang="it-IT"/>
              <a:t>Fare clic per modificare lo stile del titolo dello schema</a:t>
            </a:r>
          </a:p>
        </p:txBody>
      </p:sp>
      <p:sp>
        <p:nvSpPr>
          <p:cNvPr id="3" name="Segnaposto immagine 2">
            <a:extLst>
              <a:ext uri="{FF2B5EF4-FFF2-40B4-BE49-F238E27FC236}">
                <a16:creationId xmlns:a16="http://schemas.microsoft.com/office/drawing/2014/main" id="{FFC80E67-55C5-5534-23CC-172522A3E79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it-IT"/>
          </a:p>
        </p:txBody>
      </p:sp>
      <p:sp>
        <p:nvSpPr>
          <p:cNvPr id="4" name="Segnaposto testo 3">
            <a:extLst>
              <a:ext uri="{FF2B5EF4-FFF2-40B4-BE49-F238E27FC236}">
                <a16:creationId xmlns:a16="http://schemas.microsoft.com/office/drawing/2014/main" id="{7C131917-E449-3A79-2FA7-6F05DBABBAE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it-IT"/>
              <a:t>Fare clic per modificare gli stili del testo dello schema</a:t>
            </a:r>
          </a:p>
        </p:txBody>
      </p:sp>
      <p:sp>
        <p:nvSpPr>
          <p:cNvPr id="5" name="Segnaposto data 4">
            <a:extLst>
              <a:ext uri="{FF2B5EF4-FFF2-40B4-BE49-F238E27FC236}">
                <a16:creationId xmlns:a16="http://schemas.microsoft.com/office/drawing/2014/main" id="{262198FA-7549-8435-0AE1-1D52FC5848D1}"/>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6" name="Segnaposto piè di pagina 5">
            <a:extLst>
              <a:ext uri="{FF2B5EF4-FFF2-40B4-BE49-F238E27FC236}">
                <a16:creationId xmlns:a16="http://schemas.microsoft.com/office/drawing/2014/main" id="{17C7C673-A166-AA42-CDE7-D1159F5081BF}"/>
              </a:ext>
            </a:extLst>
          </p:cNvPr>
          <p:cNvSpPr>
            <a:spLocks noGrp="1"/>
          </p:cNvSpPr>
          <p:nvPr>
            <p:ph type="ftr" sz="quarter" idx="11"/>
          </p:nvPr>
        </p:nvSpPr>
        <p:spPr/>
        <p:txBody>
          <a:bodyPr/>
          <a:lstStyle/>
          <a:p>
            <a:endParaRPr lang="it-IT"/>
          </a:p>
        </p:txBody>
      </p:sp>
      <p:sp>
        <p:nvSpPr>
          <p:cNvPr id="7" name="Segnaposto numero diapositiva 6">
            <a:extLst>
              <a:ext uri="{FF2B5EF4-FFF2-40B4-BE49-F238E27FC236}">
                <a16:creationId xmlns:a16="http://schemas.microsoft.com/office/drawing/2014/main" id="{DA54695C-3ADA-F079-EAAE-295E7403DD1F}"/>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336027232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olo e testo verticale">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E83D9E4F-171B-27B6-8C6E-A7901D437023}"/>
              </a:ext>
            </a:extLst>
          </p:cNvPr>
          <p:cNvSpPr>
            <a:spLocks noGrp="1"/>
          </p:cNvSpPr>
          <p:nvPr>
            <p:ph type="title"/>
          </p:nvPr>
        </p:nvSpPr>
        <p:spPr/>
        <p:txBody>
          <a:bodyPr/>
          <a:lstStyle/>
          <a:p>
            <a:r>
              <a:rPr lang="it-IT"/>
              <a:t>Fare clic per modificare lo stile del titolo dello schema</a:t>
            </a:r>
          </a:p>
        </p:txBody>
      </p:sp>
      <p:sp>
        <p:nvSpPr>
          <p:cNvPr id="3" name="Segnaposto testo verticale 2">
            <a:extLst>
              <a:ext uri="{FF2B5EF4-FFF2-40B4-BE49-F238E27FC236}">
                <a16:creationId xmlns:a16="http://schemas.microsoft.com/office/drawing/2014/main" id="{A935340E-B08B-AB7E-A2B9-50E7CC3497E1}"/>
              </a:ext>
            </a:extLst>
          </p:cNvPr>
          <p:cNvSpPr>
            <a:spLocks noGrp="1"/>
          </p:cNvSpPr>
          <p:nvPr>
            <p:ph type="body" orient="vert" idx="1"/>
          </p:nvPr>
        </p:nvSpPr>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34E9258E-C845-3A11-BA80-25E3AFF231F8}"/>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5" name="Segnaposto piè di pagina 4">
            <a:extLst>
              <a:ext uri="{FF2B5EF4-FFF2-40B4-BE49-F238E27FC236}">
                <a16:creationId xmlns:a16="http://schemas.microsoft.com/office/drawing/2014/main" id="{E2B94E76-43A8-D6DF-7418-DBD244FC8703}"/>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1DF37EAE-02D5-2031-35AB-D79C34BDBF45}"/>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1954006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1_Titolo e testo verticale">
    <p:spTree>
      <p:nvGrpSpPr>
        <p:cNvPr id="1" name=""/>
        <p:cNvGrpSpPr/>
        <p:nvPr/>
      </p:nvGrpSpPr>
      <p:grpSpPr>
        <a:xfrm>
          <a:off x="0" y="0"/>
          <a:ext cx="0" cy="0"/>
          <a:chOff x="0" y="0"/>
          <a:chExt cx="0" cy="0"/>
        </a:xfrm>
      </p:grpSpPr>
      <p:sp>
        <p:nvSpPr>
          <p:cNvPr id="2" name="Titolo verticale 1">
            <a:extLst>
              <a:ext uri="{FF2B5EF4-FFF2-40B4-BE49-F238E27FC236}">
                <a16:creationId xmlns:a16="http://schemas.microsoft.com/office/drawing/2014/main" id="{DB20921E-52EE-B765-0819-45540691F6A9}"/>
              </a:ext>
            </a:extLst>
          </p:cNvPr>
          <p:cNvSpPr>
            <a:spLocks noGrp="1"/>
          </p:cNvSpPr>
          <p:nvPr>
            <p:ph type="title" orient="vert"/>
          </p:nvPr>
        </p:nvSpPr>
        <p:spPr>
          <a:xfrm>
            <a:off x="8724900" y="1053737"/>
            <a:ext cx="2628900" cy="5123226"/>
          </a:xfrm>
        </p:spPr>
        <p:txBody>
          <a:bodyPr vert="eaVert"/>
          <a:lstStyle/>
          <a:p>
            <a:r>
              <a:rPr lang="it-IT" dirty="0"/>
              <a:t>Fare clic per modificare lo stile del titolo dello schema</a:t>
            </a:r>
          </a:p>
        </p:txBody>
      </p:sp>
      <p:sp>
        <p:nvSpPr>
          <p:cNvPr id="3" name="Segnaposto testo verticale 2">
            <a:extLst>
              <a:ext uri="{FF2B5EF4-FFF2-40B4-BE49-F238E27FC236}">
                <a16:creationId xmlns:a16="http://schemas.microsoft.com/office/drawing/2014/main" id="{F41F3A47-FCF9-78D6-41FE-4E9712B013B9}"/>
              </a:ext>
            </a:extLst>
          </p:cNvPr>
          <p:cNvSpPr>
            <a:spLocks noGrp="1"/>
          </p:cNvSpPr>
          <p:nvPr>
            <p:ph type="body" orient="vert" idx="1"/>
          </p:nvPr>
        </p:nvSpPr>
        <p:spPr>
          <a:xfrm>
            <a:off x="838200" y="365125"/>
            <a:ext cx="7734300" cy="5811838"/>
          </a:xfrm>
        </p:spPr>
        <p:txBody>
          <a:bodyPr vert="eaVert"/>
          <a:lstStyle/>
          <a:p>
            <a:pPr lvl="0"/>
            <a:r>
              <a:rPr lang="it-IT"/>
              <a:t>Fare clic per modificare gli stili del testo dello schema</a:t>
            </a:r>
          </a:p>
          <a:p>
            <a:pPr lvl="1"/>
            <a:r>
              <a:rPr lang="it-IT"/>
              <a:t>Secondo livello</a:t>
            </a:r>
          </a:p>
          <a:p>
            <a:pPr lvl="2"/>
            <a:r>
              <a:rPr lang="it-IT"/>
              <a:t>Terzo livello</a:t>
            </a:r>
          </a:p>
          <a:p>
            <a:pPr lvl="3"/>
            <a:r>
              <a:rPr lang="it-IT"/>
              <a:t>Quarto livello</a:t>
            </a:r>
          </a:p>
          <a:p>
            <a:pPr lvl="4"/>
            <a:r>
              <a:rPr lang="it-IT"/>
              <a:t>Quinto livello</a:t>
            </a:r>
          </a:p>
        </p:txBody>
      </p:sp>
      <p:sp>
        <p:nvSpPr>
          <p:cNvPr id="4" name="Segnaposto data 3">
            <a:extLst>
              <a:ext uri="{FF2B5EF4-FFF2-40B4-BE49-F238E27FC236}">
                <a16:creationId xmlns:a16="http://schemas.microsoft.com/office/drawing/2014/main" id="{EA47E077-5D91-6763-FB8F-67027502A154}"/>
              </a:ext>
            </a:extLst>
          </p:cNvPr>
          <p:cNvSpPr>
            <a:spLocks noGrp="1"/>
          </p:cNvSpPr>
          <p:nvPr>
            <p:ph type="dt" sz="half" idx="10"/>
          </p:nvPr>
        </p:nvSpPr>
        <p:spPr/>
        <p:txBody>
          <a:bodyPr/>
          <a:lstStyle/>
          <a:p>
            <a:fld id="{79A8DD84-C996-4DFC-A6C4-7C5817C05F19}" type="datetimeFigureOut">
              <a:rPr lang="it-IT" smtClean="0"/>
              <a:t>25/10/2026</a:t>
            </a:fld>
            <a:endParaRPr lang="it-IT"/>
          </a:p>
        </p:txBody>
      </p:sp>
      <p:sp>
        <p:nvSpPr>
          <p:cNvPr id="5" name="Segnaposto piè di pagina 4">
            <a:extLst>
              <a:ext uri="{FF2B5EF4-FFF2-40B4-BE49-F238E27FC236}">
                <a16:creationId xmlns:a16="http://schemas.microsoft.com/office/drawing/2014/main" id="{03F9C29B-1A24-82CD-09FB-A9CDF8EC80A7}"/>
              </a:ext>
            </a:extLst>
          </p:cNvPr>
          <p:cNvSpPr>
            <a:spLocks noGrp="1"/>
          </p:cNvSpPr>
          <p:nvPr>
            <p:ph type="ftr" sz="quarter" idx="11"/>
          </p:nvPr>
        </p:nvSpPr>
        <p:spPr/>
        <p:txBody>
          <a:bodyPr/>
          <a:lstStyle/>
          <a:p>
            <a:endParaRPr lang="it-IT"/>
          </a:p>
        </p:txBody>
      </p:sp>
      <p:sp>
        <p:nvSpPr>
          <p:cNvPr id="6" name="Segnaposto numero diapositiva 5">
            <a:extLst>
              <a:ext uri="{FF2B5EF4-FFF2-40B4-BE49-F238E27FC236}">
                <a16:creationId xmlns:a16="http://schemas.microsoft.com/office/drawing/2014/main" id="{6C09C3D8-828F-5F53-C9A0-6361273FDDDD}"/>
              </a:ext>
            </a:extLst>
          </p:cNvPr>
          <p:cNvSpPr>
            <a:spLocks noGrp="1"/>
          </p:cNvSpPr>
          <p:nvPr>
            <p:ph type="sldNum" sz="quarter" idx="12"/>
          </p:nvPr>
        </p:nvSpPr>
        <p:spPr/>
        <p:txBody>
          <a:bodyPr/>
          <a:lstStyle/>
          <a:p>
            <a:fld id="{F6BC9DE0-E148-4F27-888A-35D29D0A8254}" type="slidenum">
              <a:rPr lang="it-IT" smtClean="0"/>
              <a:t>‹N›</a:t>
            </a:fld>
            <a:endParaRPr lang="it-IT"/>
          </a:p>
        </p:txBody>
      </p:sp>
    </p:spTree>
    <p:extLst>
      <p:ext uri="{BB962C8B-B14F-4D97-AF65-F5344CB8AC3E}">
        <p14:creationId xmlns:p14="http://schemas.microsoft.com/office/powerpoint/2010/main" val="14843031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egnaposto titolo 1">
            <a:extLst>
              <a:ext uri="{FF2B5EF4-FFF2-40B4-BE49-F238E27FC236}">
                <a16:creationId xmlns:a16="http://schemas.microsoft.com/office/drawing/2014/main" id="{28F9C211-565C-7446-42B4-063F1DDD44B1}"/>
              </a:ext>
            </a:extLst>
          </p:cNvPr>
          <p:cNvSpPr>
            <a:spLocks noGrp="1"/>
          </p:cNvSpPr>
          <p:nvPr>
            <p:ph type="title"/>
          </p:nvPr>
        </p:nvSpPr>
        <p:spPr>
          <a:xfrm>
            <a:off x="838200" y="365125"/>
            <a:ext cx="8384177" cy="1325563"/>
          </a:xfrm>
          <a:prstGeom prst="rect">
            <a:avLst/>
          </a:prstGeom>
        </p:spPr>
        <p:txBody>
          <a:bodyPr vert="horz" lIns="91440" tIns="45720" rIns="91440" bIns="45720" rtlCol="0" anchor="ctr">
            <a:normAutofit/>
          </a:bodyPr>
          <a:lstStyle/>
          <a:p>
            <a:r>
              <a:rPr lang="it-IT" dirty="0"/>
              <a:t>Fare clic per modificare lo stile del titolo dello schema</a:t>
            </a:r>
          </a:p>
        </p:txBody>
      </p:sp>
      <p:sp>
        <p:nvSpPr>
          <p:cNvPr id="3" name="Segnaposto testo 2">
            <a:extLst>
              <a:ext uri="{FF2B5EF4-FFF2-40B4-BE49-F238E27FC236}">
                <a16:creationId xmlns:a16="http://schemas.microsoft.com/office/drawing/2014/main" id="{E0FBABD3-A8AF-4F53-2D97-2679239C52E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it-IT" dirty="0"/>
              <a:t>Fare clic per modificare gli stili del testo dello schema</a:t>
            </a:r>
          </a:p>
          <a:p>
            <a:pPr lvl="1"/>
            <a:r>
              <a:rPr lang="it-IT" dirty="0"/>
              <a:t>Secondo livello</a:t>
            </a:r>
          </a:p>
          <a:p>
            <a:pPr lvl="2"/>
            <a:r>
              <a:rPr lang="it-IT" dirty="0"/>
              <a:t>Terzo livello</a:t>
            </a:r>
          </a:p>
          <a:p>
            <a:pPr lvl="3"/>
            <a:r>
              <a:rPr lang="it-IT" dirty="0"/>
              <a:t>Quarto livello</a:t>
            </a:r>
          </a:p>
          <a:p>
            <a:pPr lvl="4"/>
            <a:r>
              <a:rPr lang="it-IT" dirty="0"/>
              <a:t>Quinto livello</a:t>
            </a:r>
          </a:p>
        </p:txBody>
      </p:sp>
      <p:sp>
        <p:nvSpPr>
          <p:cNvPr id="4" name="Segnaposto data 3">
            <a:extLst>
              <a:ext uri="{FF2B5EF4-FFF2-40B4-BE49-F238E27FC236}">
                <a16:creationId xmlns:a16="http://schemas.microsoft.com/office/drawing/2014/main" id="{61D962FE-354C-2325-C79F-CC79DE0593E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9A8DD84-C996-4DFC-A6C4-7C5817C05F19}" type="datetimeFigureOut">
              <a:rPr lang="it-IT" smtClean="0"/>
              <a:t>25/10/2026</a:t>
            </a:fld>
            <a:endParaRPr lang="it-IT" dirty="0"/>
          </a:p>
        </p:txBody>
      </p:sp>
      <p:sp>
        <p:nvSpPr>
          <p:cNvPr id="5" name="Segnaposto piè di pagina 4">
            <a:extLst>
              <a:ext uri="{FF2B5EF4-FFF2-40B4-BE49-F238E27FC236}">
                <a16:creationId xmlns:a16="http://schemas.microsoft.com/office/drawing/2014/main" id="{706614F3-3B6C-86DA-A785-ECCA30B6D40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it-IT" dirty="0" err="1"/>
              <a:t>Visionlab</a:t>
            </a:r>
            <a:r>
              <a:rPr lang="it-IT" dirty="0"/>
              <a:t> – Computer Vision </a:t>
            </a:r>
            <a:r>
              <a:rPr lang="it-IT" dirty="0" err="1"/>
              <a:t>Laboratory</a:t>
            </a:r>
            <a:r>
              <a:rPr lang="it-IT" dirty="0"/>
              <a:t> – Sapienza</a:t>
            </a:r>
          </a:p>
          <a:p>
            <a:r>
              <a:rPr lang="it-IT" dirty="0"/>
              <a:t>Via Salaria 113, 00198, Rome – Third </a:t>
            </a:r>
            <a:r>
              <a:rPr lang="it-IT" dirty="0" err="1"/>
              <a:t>Floor</a:t>
            </a:r>
            <a:r>
              <a:rPr lang="it-IT" dirty="0"/>
              <a:t>, Room 309</a:t>
            </a:r>
          </a:p>
        </p:txBody>
      </p:sp>
      <p:sp>
        <p:nvSpPr>
          <p:cNvPr id="6" name="Segnaposto numero diapositiva 5">
            <a:extLst>
              <a:ext uri="{FF2B5EF4-FFF2-40B4-BE49-F238E27FC236}">
                <a16:creationId xmlns:a16="http://schemas.microsoft.com/office/drawing/2014/main" id="{DFAD2367-DA27-BF1C-D722-5F0C6250B792}"/>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6BC9DE0-E148-4F27-888A-35D29D0A8254}" type="slidenum">
              <a:rPr lang="it-IT" smtClean="0"/>
              <a:t>‹N›</a:t>
            </a:fld>
            <a:endParaRPr lang="it-IT"/>
          </a:p>
        </p:txBody>
      </p:sp>
      <p:pic>
        <p:nvPicPr>
          <p:cNvPr id="10" name="Immagine 9">
            <a:extLst>
              <a:ext uri="{FF2B5EF4-FFF2-40B4-BE49-F238E27FC236}">
                <a16:creationId xmlns:a16="http://schemas.microsoft.com/office/drawing/2014/main" id="{60374C98-E13C-8AA6-64A0-C1F1BC6DF9B7}"/>
              </a:ext>
            </a:extLst>
          </p:cNvPr>
          <p:cNvPicPr>
            <a:picLocks noChangeAspect="1"/>
          </p:cNvPicPr>
          <p:nvPr userDrawn="1"/>
        </p:nvPicPr>
        <p:blipFill>
          <a:blip r:embed="rId13">
            <a:alphaModFix amt="10000"/>
            <a:extLst>
              <a:ext uri="{28A0092B-C50C-407E-A947-70E740481C1C}">
                <a14:useLocalDpi xmlns:a14="http://schemas.microsoft.com/office/drawing/2010/main" val="0"/>
              </a:ext>
            </a:extLst>
          </a:blip>
          <a:stretch>
            <a:fillRect/>
          </a:stretch>
        </p:blipFill>
        <p:spPr>
          <a:xfrm flipH="1">
            <a:off x="9091749" y="1233082"/>
            <a:ext cx="3100251" cy="4769711"/>
          </a:xfrm>
          <a:prstGeom prst="rect">
            <a:avLst/>
          </a:prstGeom>
        </p:spPr>
      </p:pic>
      <p:sp>
        <p:nvSpPr>
          <p:cNvPr id="12" name="Striscia diagonale 11">
            <a:extLst>
              <a:ext uri="{FF2B5EF4-FFF2-40B4-BE49-F238E27FC236}">
                <a16:creationId xmlns:a16="http://schemas.microsoft.com/office/drawing/2014/main" id="{36E41B77-6243-9A06-B22D-1DDE56864FB1}"/>
              </a:ext>
            </a:extLst>
          </p:cNvPr>
          <p:cNvSpPr/>
          <p:nvPr userDrawn="1"/>
        </p:nvSpPr>
        <p:spPr>
          <a:xfrm>
            <a:off x="0" y="0"/>
            <a:ext cx="360000" cy="360000"/>
          </a:xfrm>
          <a:prstGeom prst="diagStripe">
            <a:avLst>
              <a:gd name="adj" fmla="val 7579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3" name="Striscia diagonale 12">
            <a:extLst>
              <a:ext uri="{FF2B5EF4-FFF2-40B4-BE49-F238E27FC236}">
                <a16:creationId xmlns:a16="http://schemas.microsoft.com/office/drawing/2014/main" id="{3906131B-CD34-FC06-2AE0-D5BFFB41216D}"/>
              </a:ext>
            </a:extLst>
          </p:cNvPr>
          <p:cNvSpPr/>
          <p:nvPr userDrawn="1"/>
        </p:nvSpPr>
        <p:spPr>
          <a:xfrm>
            <a:off x="0" y="0"/>
            <a:ext cx="540000" cy="540000"/>
          </a:xfrm>
          <a:prstGeom prst="diagStripe">
            <a:avLst>
              <a:gd name="adj" fmla="val 83292"/>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4" name="Rettangolo 13">
            <a:extLst>
              <a:ext uri="{FF2B5EF4-FFF2-40B4-BE49-F238E27FC236}">
                <a16:creationId xmlns:a16="http://schemas.microsoft.com/office/drawing/2014/main" id="{05CFF721-6631-1D68-8373-4422D99FEEB4}"/>
              </a:ext>
            </a:extLst>
          </p:cNvPr>
          <p:cNvSpPr/>
          <p:nvPr userDrawn="1"/>
        </p:nvSpPr>
        <p:spPr>
          <a:xfrm>
            <a:off x="401888" y="1943100"/>
            <a:ext cx="79200" cy="491490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5" name="Rettangolo 14">
            <a:extLst>
              <a:ext uri="{FF2B5EF4-FFF2-40B4-BE49-F238E27FC236}">
                <a16:creationId xmlns:a16="http://schemas.microsoft.com/office/drawing/2014/main" id="{9947DF62-9937-FE90-1BB1-1C9C31A8ACCD}"/>
              </a:ext>
            </a:extLst>
          </p:cNvPr>
          <p:cNvSpPr/>
          <p:nvPr userDrawn="1"/>
        </p:nvSpPr>
        <p:spPr>
          <a:xfrm>
            <a:off x="241253" y="1441450"/>
            <a:ext cx="79200" cy="5416550"/>
          </a:xfrm>
          <a:prstGeom prst="rect">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dirty="0"/>
          </a:p>
        </p:txBody>
      </p:sp>
      <p:sp>
        <p:nvSpPr>
          <p:cNvPr id="16" name="Arco a tutto sesto 15">
            <a:extLst>
              <a:ext uri="{FF2B5EF4-FFF2-40B4-BE49-F238E27FC236}">
                <a16:creationId xmlns:a16="http://schemas.microsoft.com/office/drawing/2014/main" id="{4684E799-00FD-E481-86E2-1EE57BBF0997}"/>
              </a:ext>
            </a:extLst>
          </p:cNvPr>
          <p:cNvSpPr/>
          <p:nvPr userDrawn="1"/>
        </p:nvSpPr>
        <p:spPr>
          <a:xfrm>
            <a:off x="11922000" y="6590359"/>
            <a:ext cx="540000" cy="540000"/>
          </a:xfrm>
          <a:prstGeom prst="blockArc">
            <a:avLst>
              <a:gd name="adj1" fmla="val 10825804"/>
              <a:gd name="adj2" fmla="val 16232134"/>
              <a:gd name="adj3" fmla="val 13566"/>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sp>
        <p:nvSpPr>
          <p:cNvPr id="17" name="Arco a tutto sesto 16">
            <a:extLst>
              <a:ext uri="{FF2B5EF4-FFF2-40B4-BE49-F238E27FC236}">
                <a16:creationId xmlns:a16="http://schemas.microsoft.com/office/drawing/2014/main" id="{C7F59C59-6D08-CAE9-1107-3C400A7AEBBD}"/>
              </a:ext>
            </a:extLst>
          </p:cNvPr>
          <p:cNvSpPr/>
          <p:nvPr userDrawn="1"/>
        </p:nvSpPr>
        <p:spPr>
          <a:xfrm>
            <a:off x="11742000" y="6408000"/>
            <a:ext cx="900000" cy="900000"/>
          </a:xfrm>
          <a:prstGeom prst="blockArc">
            <a:avLst>
              <a:gd name="adj1" fmla="val 10778727"/>
              <a:gd name="adj2" fmla="val 16191509"/>
              <a:gd name="adj3" fmla="val 9334"/>
            </a:avLst>
          </a:prstGeom>
          <a:solidFill>
            <a:srgbClr val="822433">
              <a:alpha val="8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it-IT">
              <a:solidFill>
                <a:schemeClr val="tx1"/>
              </a:solidFill>
            </a:endParaRPr>
          </a:p>
        </p:txBody>
      </p:sp>
      <p:pic>
        <p:nvPicPr>
          <p:cNvPr id="8" name="Immagine 7">
            <a:extLst>
              <a:ext uri="{FF2B5EF4-FFF2-40B4-BE49-F238E27FC236}">
                <a16:creationId xmlns:a16="http://schemas.microsoft.com/office/drawing/2014/main" id="{C6CFC2AB-66E6-4288-9ECC-C88FAA0EDFD3}"/>
              </a:ext>
            </a:extLst>
          </p:cNvPr>
          <p:cNvPicPr>
            <a:picLocks noChangeAspect="1"/>
          </p:cNvPicPr>
          <p:nvPr userDrawn="1"/>
        </p:nvPicPr>
        <p:blipFill>
          <a:blip r:embed="rId14">
            <a:extLst>
              <a:ext uri="{28A0092B-C50C-407E-A947-70E740481C1C}">
                <a14:useLocalDpi xmlns:a14="http://schemas.microsoft.com/office/drawing/2010/main" val="0"/>
              </a:ext>
            </a:extLst>
          </a:blip>
          <a:stretch>
            <a:fillRect/>
          </a:stretch>
        </p:blipFill>
        <p:spPr>
          <a:xfrm>
            <a:off x="11054714" y="136525"/>
            <a:ext cx="969764" cy="969764"/>
          </a:xfrm>
          <a:prstGeom prst="rect">
            <a:avLst/>
          </a:prstGeom>
        </p:spPr>
      </p:pic>
    </p:spTree>
    <p:extLst>
      <p:ext uri="{BB962C8B-B14F-4D97-AF65-F5344CB8AC3E}">
        <p14:creationId xmlns:p14="http://schemas.microsoft.com/office/powerpoint/2010/main" val="49414914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100000"/>
        </a:lnSpc>
        <a:spcBef>
          <a:spcPct val="0"/>
        </a:spcBef>
        <a:buNone/>
        <a:defRPr sz="4400" kern="1200">
          <a:solidFill>
            <a:schemeClr val="tx1"/>
          </a:solidFill>
          <a:latin typeface="Roboto" panose="02000000000000000000" pitchFamily="2" charset="0"/>
          <a:ea typeface="Roboto" panose="02000000000000000000" pitchFamily="2" charset="0"/>
          <a:cs typeface="Roboto" panose="02000000000000000000" pitchFamily="2" charset="0"/>
        </a:defRPr>
      </a:lvl1pPr>
    </p:titleStyle>
    <p:body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it-IT"/>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3" Type="http://schemas.openxmlformats.org/officeDocument/2006/relationships/image" Target="../media/image4.png"/><Relationship Id="rId7"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image" Target="../media/image7.png"/><Relationship Id="rId5" Type="http://schemas.openxmlformats.org/officeDocument/2006/relationships/image" Target="../media/image6.png"/><Relationship Id="rId10" Type="http://schemas.openxmlformats.org/officeDocument/2006/relationships/image" Target="../media/image11.png"/><Relationship Id="rId4" Type="http://schemas.openxmlformats.org/officeDocument/2006/relationships/image" Target="../media/image5.png"/><Relationship Id="rId9" Type="http://schemas.openxmlformats.org/officeDocument/2006/relationships/image" Target="../media/image10.png"/></Relationships>
</file>

<file path=ppt/slides/_rels/slide4.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7.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3" Type="http://schemas.openxmlformats.org/officeDocument/2006/relationships/image" Target="../media/image16.png&amp;f=1&amp;nofb=1&amp;ipt=30001d8961b3b03add39ad967c319e0f168863eedd2c6ba8d6018adb4711fb1d&amp;ipo=images"/><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18.png&amp;f=1&amp;nofb=1&amp;ipt=1d8b35d30c3c4514a8382011224255d3e91fd46be4d31d385c751fa891630fa4&amp;ipo=images"/><Relationship Id="rId4" Type="http://schemas.openxmlformats.org/officeDocument/2006/relationships/image" Target="../media/image17.png&amp;f=1&amp;nofb=1&amp;ipt=d99a559a2fe29f1924e30a5219f177b5e9da9d4501e897b9834310b79af4a48b&amp;ipo=images"/></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21.png"/></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24.png"/></Relationships>
</file>

<file path=ppt/slides/_rels/slide16.xml.rels><?xml version="1.0" encoding="UTF-8" standalone="yes"?>
<Relationships xmlns="http://schemas.openxmlformats.org/package/2006/relationships"><Relationship Id="rId3" Type="http://schemas.openxmlformats.org/officeDocument/2006/relationships/hyperlink" Target="https://www.kaggle.com/datasets/dalphan01/curiosity-wheel-anomaly-detection/settings" TargetMode="External"/><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28.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33.png"/></Relationships>
</file>

<file path=ppt/slides/_rels/slide33.xml.rels><?xml version="1.0" encoding="UTF-8" standalone="yes"?>
<Relationships xmlns="http://schemas.openxmlformats.org/package/2006/relationships"><Relationship Id="rId3" Type="http://schemas.openxmlformats.org/officeDocument/2006/relationships/hyperlink" Target="https://www.jpl.nasa.gov/podcasts/on-a-mission-season-1/season-4-mars-rovers/episode-8-how-to-drive-a-mars-rover/" TargetMode="External"/><Relationship Id="rId7" Type="http://schemas.openxmlformats.org/officeDocument/2006/relationships/hyperlink" Target="https://doi.org/10.52202/085713-4098" TargetMode="External"/><Relationship Id="rId2" Type="http://schemas.openxmlformats.org/officeDocument/2006/relationships/notesSlide" Target="../notesSlides/notesSlide33.xml"/><Relationship Id="rId1" Type="http://schemas.openxmlformats.org/officeDocument/2006/relationships/slideLayout" Target="../slideLayouts/slideLayout2.xml"/><Relationship Id="rId6" Type="http://schemas.openxmlformats.org/officeDocument/2006/relationships/hyperlink" Target="https://doi.org/10.1109/TGRS.2024.3386756" TargetMode="External"/><Relationship Id="rId5" Type="http://schemas.openxmlformats.org/officeDocument/2006/relationships/hyperlink" Target="https://science.nasa.gov/resource/routine-inspection-of-rover-wheel-wear-and-tear/" TargetMode="External"/><Relationship Id="rId4" Type="http://schemas.openxmlformats.org/officeDocument/2006/relationships/hyperlink" Target="https://robotics.jpl.nasa.gov/media/documents/fmwi-rankin-2022-0225-final.pdf" TargetMode="External"/></Relationships>
</file>

<file path=ppt/slides/_rels/slide34.xml.rels><?xml version="1.0" encoding="UTF-8" standalone="yes"?>
<Relationships xmlns="http://schemas.openxmlformats.org/package/2006/relationships"><Relationship Id="rId3" Type="http://schemas.openxmlformats.org/officeDocument/2006/relationships/hyperlink" Target="https://doi.org/10.1007/978-3-319-24574-4_28" TargetMode="External"/><Relationship Id="rId7" Type="http://schemas.openxmlformats.org/officeDocument/2006/relationships/hyperlink" Target="https://doi.org/10.1109/TITS.2023.3348631" TargetMode="External"/><Relationship Id="rId2" Type="http://schemas.openxmlformats.org/officeDocument/2006/relationships/notesSlide" Target="../notesSlides/notesSlide34.xml"/><Relationship Id="rId1" Type="http://schemas.openxmlformats.org/officeDocument/2006/relationships/slideLayout" Target="../slideLayouts/slideLayout2.xml"/><Relationship Id="rId6" Type="http://schemas.openxmlformats.org/officeDocument/2006/relationships/hyperlink" Target="https://arxiv.org/abs/2105.15203" TargetMode="External"/><Relationship Id="rId5" Type="http://schemas.openxmlformats.org/officeDocument/2006/relationships/hyperlink" Target="https://doi.org/10.1007/978-3-030-01234-2_49" TargetMode="External"/><Relationship Id="rId4" Type="http://schemas.openxmlformats.org/officeDocument/2006/relationships/hyperlink" Target="https://arxiv.org/abs/1706.05587" TargetMode="External"/></Relationships>
</file>

<file path=ppt/slides/_rels/slide35.xml.rels><?xml version="1.0" encoding="UTF-8" standalone="yes"?>
<Relationships xmlns="http://schemas.openxmlformats.org/package/2006/relationships"><Relationship Id="rId3" Type="http://schemas.openxmlformats.org/officeDocument/2006/relationships/hyperlink" Target="https://arxiv.org/abs/1712.05877" TargetMode="External"/><Relationship Id="rId7" Type="http://schemas.openxmlformats.org/officeDocument/2006/relationships/hyperlink" Target="https://doi.org/10.1109/CVPR.2019.00982" TargetMode="External"/><Relationship Id="rId2" Type="http://schemas.openxmlformats.org/officeDocument/2006/relationships/notesSlide" Target="../notesSlides/notesSlide35.xml"/><Relationship Id="rId1" Type="http://schemas.openxmlformats.org/officeDocument/2006/relationships/slideLayout" Target="../slideLayouts/slideLayout2.xml"/><Relationship Id="rId6" Type="http://schemas.openxmlformats.org/officeDocument/2006/relationships/hyperlink" Target="https://doi.org/10.1109/IROS.2017.8202133" TargetMode="External"/><Relationship Id="rId5" Type="http://schemas.openxmlformats.org/officeDocument/2006/relationships/hyperlink" Target="https://hirise.lpl.arizona.edu/dtm/dtm.php?ID=PSP_010573_1755" TargetMode="External"/><Relationship Id="rId4" Type="http://schemas.openxmlformats.org/officeDocument/2006/relationships/hyperlink" Target="https://science.nasa.gov/resource/curiosity-3d-model/" TargetMode="External"/></Relationships>
</file>

<file path=ppt/slides/_rels/slide36.xml.rels><?xml version="1.0" encoding="UTF-8" standalone="yes"?>
<Relationships xmlns="http://schemas.openxmlformats.org/package/2006/relationships"><Relationship Id="rId3" Type="http://schemas.openxmlformats.org/officeDocument/2006/relationships/hyperlink" Target="https://arxiv.org/abs/2106.08265" TargetMode="External"/><Relationship Id="rId7" Type="http://schemas.openxmlformats.org/officeDocument/2006/relationships/hyperlink" Target="https://arxiv.org/abs/2603.16451v3" TargetMode="External"/><Relationship Id="rId2" Type="http://schemas.openxmlformats.org/officeDocument/2006/relationships/notesSlide" Target="../notesSlides/notesSlide36.xml"/><Relationship Id="rId1" Type="http://schemas.openxmlformats.org/officeDocument/2006/relationships/slideLayout" Target="../slideLayouts/slideLayout2.xml"/><Relationship Id="rId6" Type="http://schemas.openxmlformats.org/officeDocument/2006/relationships/hyperlink" Target="https://doi.org/10.1007/s10845-025-02680-8" TargetMode="External"/><Relationship Id="rId5" Type="http://schemas.openxmlformats.org/officeDocument/2006/relationships/hyperlink" Target="https://doi.org/10.1007/978-3-031-78192-6_4" TargetMode="External"/><Relationship Id="rId4" Type="http://schemas.openxmlformats.org/officeDocument/2006/relationships/hyperlink" Target="https://arxiv.org/abs/2303.14535" TargetMode="External"/></Relationships>
</file>

<file path=ppt/slides/_rels/slide37.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34.png"/><Relationship Id="rId4" Type="http://schemas.openxmlformats.org/officeDocument/2006/relationships/image" Target="../media/image23.png"/></Relationships>
</file>

<file path=ppt/slides/_rels/slide3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26.png"/><Relationship Id="rId7"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6" Type="http://schemas.openxmlformats.org/officeDocument/2006/relationships/image" Target="../media/image25.png"/><Relationship Id="rId5" Type="http://schemas.openxmlformats.org/officeDocument/2006/relationships/image" Target="../media/image36.png"/><Relationship Id="rId4" Type="http://schemas.openxmlformats.org/officeDocument/2006/relationships/image" Target="../media/image35.png"/><Relationship Id="rId9" Type="http://schemas.openxmlformats.org/officeDocument/2006/relationships/image" Target="../media/image39.png"/></Relationships>
</file>

<file path=ppt/slides/_rels/slide39.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7353CAEA-7F71-2F30-10DD-58B9AE8117FA}"/>
              </a:ext>
            </a:extLst>
          </p:cNvPr>
          <p:cNvSpPr>
            <a:spLocks noGrp="1"/>
          </p:cNvSpPr>
          <p:nvPr>
            <p:ph type="ctrTitle"/>
          </p:nvPr>
        </p:nvSpPr>
        <p:spPr>
          <a:xfrm>
            <a:off x="1524000" y="1122363"/>
            <a:ext cx="9144000" cy="1602549"/>
          </a:xfrm>
        </p:spPr>
        <p:txBody>
          <a:bodyPr>
            <a:normAutofit/>
          </a:bodyPr>
          <a:lstStyle/>
          <a:p>
            <a:r>
              <a:rPr lang="en-US" sz="3000" b="1" dirty="0">
                <a:solidFill>
                  <a:srgbClr val="822433"/>
                </a:solidFill>
              </a:rPr>
              <a:t>Lightweight Scene Understanding and Synthetic Data-Driven Damage Inspection for Martian Rovers</a:t>
            </a:r>
            <a:endParaRPr lang="it-IT" sz="3000" b="1" dirty="0">
              <a:solidFill>
                <a:srgbClr val="822433"/>
              </a:solidFill>
            </a:endParaRPr>
          </a:p>
        </p:txBody>
      </p:sp>
      <p:sp>
        <p:nvSpPr>
          <p:cNvPr id="3" name="Sottotitolo 2">
            <a:extLst>
              <a:ext uri="{FF2B5EF4-FFF2-40B4-BE49-F238E27FC236}">
                <a16:creationId xmlns:a16="http://schemas.microsoft.com/office/drawing/2014/main" id="{28D78800-4D63-418C-4E5E-F22E3136D82A}"/>
              </a:ext>
            </a:extLst>
          </p:cNvPr>
          <p:cNvSpPr>
            <a:spLocks noGrp="1"/>
          </p:cNvSpPr>
          <p:nvPr>
            <p:ph type="subTitle" idx="1"/>
          </p:nvPr>
        </p:nvSpPr>
        <p:spPr>
          <a:xfrm>
            <a:off x="2731008" y="2883408"/>
            <a:ext cx="6729984" cy="2374392"/>
          </a:xfrm>
        </p:spPr>
        <p:txBody>
          <a:bodyPr>
            <a:normAutofit/>
          </a:bodyPr>
          <a:lstStyle/>
          <a:p>
            <a:r>
              <a:rPr lang="en-US" sz="1600" dirty="0">
                <a:solidFill>
                  <a:srgbClr val="822433"/>
                </a:solidFill>
              </a:rPr>
              <a:t>Faculty of Information Engineering, Informatics, and Statistics</a:t>
            </a:r>
            <a:br>
              <a:rPr lang="en-US" sz="1600" dirty="0">
                <a:solidFill>
                  <a:srgbClr val="822433"/>
                </a:solidFill>
              </a:rPr>
            </a:br>
            <a:r>
              <a:rPr lang="en-US" sz="1600" dirty="0">
                <a:solidFill>
                  <a:srgbClr val="822433"/>
                </a:solidFill>
              </a:rPr>
              <a:t>Master’s Degree in Computer Science</a:t>
            </a:r>
          </a:p>
          <a:p>
            <a:endParaRPr lang="en-US" sz="1600" dirty="0">
              <a:solidFill>
                <a:srgbClr val="822433"/>
              </a:solidFill>
            </a:endParaRPr>
          </a:p>
          <a:p>
            <a:pPr algn="l"/>
            <a:r>
              <a:rPr lang="en-US" sz="1600" b="1" dirty="0"/>
              <a:t>Venturini Daniele </a:t>
            </a:r>
            <a:r>
              <a:rPr lang="en-US" sz="1600" dirty="0"/>
              <a:t>1991255</a:t>
            </a:r>
          </a:p>
          <a:p>
            <a:pPr algn="l"/>
            <a:endParaRPr lang="en-US" sz="1600" dirty="0"/>
          </a:p>
          <a:p>
            <a:r>
              <a:rPr lang="en-US" sz="1200" dirty="0"/>
              <a:t>Academic Year 2025/2026</a:t>
            </a:r>
          </a:p>
        </p:txBody>
      </p:sp>
      <p:sp>
        <p:nvSpPr>
          <p:cNvPr id="5" name="CasellaDiTesto 4">
            <a:extLst>
              <a:ext uri="{FF2B5EF4-FFF2-40B4-BE49-F238E27FC236}">
                <a16:creationId xmlns:a16="http://schemas.microsoft.com/office/drawing/2014/main" id="{D37F6418-D425-2C7C-A304-D79E057EED07}"/>
              </a:ext>
            </a:extLst>
          </p:cNvPr>
          <p:cNvSpPr txBox="1"/>
          <p:nvPr/>
        </p:nvSpPr>
        <p:spPr>
          <a:xfrm>
            <a:off x="5279136" y="3626453"/>
            <a:ext cx="4181856" cy="584775"/>
          </a:xfrm>
          <a:prstGeom prst="rect">
            <a:avLst/>
          </a:prstGeom>
          <a:noFill/>
        </p:spPr>
        <p:txBody>
          <a:bodyPr wrap="square" rtlCol="0">
            <a:spAutoFit/>
          </a:bodyPr>
          <a:lstStyle/>
          <a:p>
            <a:pPr algn="r"/>
            <a:r>
              <a:rPr lang="it-IT" sz="1600" b="1" dirty="0">
                <a:latin typeface="Roboto" panose="02000000000000000000" pitchFamily="2" charset="0"/>
                <a:ea typeface="Roboto" panose="02000000000000000000" pitchFamily="2" charset="0"/>
              </a:rPr>
              <a:t>Advisor</a:t>
            </a:r>
          </a:p>
          <a:p>
            <a:pPr algn="r"/>
            <a:r>
              <a:rPr lang="it-IT" sz="1600" dirty="0">
                <a:latin typeface="Roboto" panose="02000000000000000000" pitchFamily="2" charset="0"/>
                <a:ea typeface="Roboto" panose="02000000000000000000" pitchFamily="2" charset="0"/>
              </a:rPr>
              <a:t>Prof. Marco Raoul Marini</a:t>
            </a:r>
          </a:p>
        </p:txBody>
      </p:sp>
    </p:spTree>
    <p:extLst>
      <p:ext uri="{BB962C8B-B14F-4D97-AF65-F5344CB8AC3E}">
        <p14:creationId xmlns:p14="http://schemas.microsoft.com/office/powerpoint/2010/main" val="332509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Curiosity's First “Selfie” of 2015 – Lights in the Dark">
            <a:extLst>
              <a:ext uri="{FF2B5EF4-FFF2-40B4-BE49-F238E27FC236}">
                <a16:creationId xmlns:a16="http://schemas.microsoft.com/office/drawing/2014/main" id="{9571C0A8-F617-6C03-2A9D-9AD4347A50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rot="201485">
            <a:off x="5621967" y="1860801"/>
            <a:ext cx="6196100" cy="3983799"/>
          </a:xfrm>
          <a:prstGeom prst="rect">
            <a:avLst/>
          </a:prstGeom>
          <a:noFill/>
          <a:effectLst>
            <a:outerShdw blurRad="50800" dist="38100" dir="2700000" algn="tl" rotWithShape="0">
              <a:prstClr val="black">
                <a:alpha val="40000"/>
              </a:prstClr>
            </a:outerShdw>
          </a:effectLst>
          <a:extLst>
            <a:ext uri="{909E8E84-426E-40DD-AFC4-6F175D3DCCD1}">
              <a14:hiddenFill xmlns:a14="http://schemas.microsoft.com/office/drawing/2010/main">
                <a:solidFill>
                  <a:srgbClr val="FFFFFF"/>
                </a:solidFill>
              </a14:hiddenFill>
            </a:ext>
          </a:extLst>
        </p:spPr>
      </p:pic>
      <p:sp>
        <p:nvSpPr>
          <p:cNvPr id="2" name="Titolo 1">
            <a:extLst>
              <a:ext uri="{FF2B5EF4-FFF2-40B4-BE49-F238E27FC236}">
                <a16:creationId xmlns:a16="http://schemas.microsoft.com/office/drawing/2014/main" id="{9B52D358-3BB3-2296-825B-8BBD69653EEF}"/>
              </a:ext>
            </a:extLst>
          </p:cNvPr>
          <p:cNvSpPr>
            <a:spLocks noGrp="1"/>
          </p:cNvSpPr>
          <p:nvPr>
            <p:ph type="title"/>
          </p:nvPr>
        </p:nvSpPr>
        <p:spPr/>
        <p:txBody>
          <a:bodyPr/>
          <a:lstStyle/>
          <a:p>
            <a:r>
              <a:rPr lang="en-US" noProof="0" dirty="0">
                <a:solidFill>
                  <a:srgbClr val="822433"/>
                </a:solidFill>
              </a:rPr>
              <a:t>Introduction</a:t>
            </a:r>
          </a:p>
        </p:txBody>
      </p:sp>
      <p:sp>
        <p:nvSpPr>
          <p:cNvPr id="3" name="Segnaposto testo 2">
            <a:extLst>
              <a:ext uri="{FF2B5EF4-FFF2-40B4-BE49-F238E27FC236}">
                <a16:creationId xmlns:a16="http://schemas.microsoft.com/office/drawing/2014/main" id="{226DA549-BCE0-5CE0-D8D7-C1E9922EA508}"/>
              </a:ext>
            </a:extLst>
          </p:cNvPr>
          <p:cNvSpPr>
            <a:spLocks noGrp="1"/>
          </p:cNvSpPr>
          <p:nvPr>
            <p:ph type="body" idx="1"/>
          </p:nvPr>
        </p:nvSpPr>
        <p:spPr>
          <a:xfrm>
            <a:off x="831850" y="4589463"/>
            <a:ext cx="10515600" cy="1872097"/>
          </a:xfrm>
        </p:spPr>
        <p:txBody>
          <a:bodyPr>
            <a:normAutofit lnSpcReduction="10000"/>
          </a:bodyPr>
          <a:lstStyle/>
          <a:p>
            <a:r>
              <a:rPr lang="en-US" noProof="0" dirty="0"/>
              <a:t>Lightweight Scene Understanding</a:t>
            </a:r>
            <a:br>
              <a:rPr lang="en-US" noProof="0" dirty="0"/>
            </a:br>
            <a:r>
              <a:rPr lang="en-US" noProof="0" dirty="0"/>
              <a:t>Synthetic Dataset Generation</a:t>
            </a:r>
            <a:br>
              <a:rPr lang="en-US" noProof="0" dirty="0"/>
            </a:br>
            <a:r>
              <a:rPr lang="en-US" noProof="0" dirty="0"/>
              <a:t>Synthetic Damage Inspection</a:t>
            </a:r>
            <a:br>
              <a:rPr lang="en-US" noProof="0" dirty="0"/>
            </a:br>
            <a:r>
              <a:rPr lang="en-US" noProof="0" dirty="0"/>
              <a:t>Results</a:t>
            </a:r>
            <a:br>
              <a:rPr lang="en-US" noProof="0" dirty="0"/>
            </a:br>
            <a:r>
              <a:rPr lang="en-US" noProof="0" dirty="0"/>
              <a:t>Conclusions</a:t>
            </a:r>
          </a:p>
        </p:txBody>
      </p:sp>
      <p:sp>
        <p:nvSpPr>
          <p:cNvPr id="4" name="Google Shape;102;p14">
            <a:extLst>
              <a:ext uri="{FF2B5EF4-FFF2-40B4-BE49-F238E27FC236}">
                <a16:creationId xmlns:a16="http://schemas.microsoft.com/office/drawing/2014/main" id="{A5EC5082-5C7A-8132-61EE-2CA078BECC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8D7A1F3-9163-9483-BD49-DAC8669715F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176480238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0" name="Immagine 49">
            <a:extLst>
              <a:ext uri="{FF2B5EF4-FFF2-40B4-BE49-F238E27FC236}">
                <a16:creationId xmlns:a16="http://schemas.microsoft.com/office/drawing/2014/main" id="{2AD18066-4A8C-0450-E897-874B8C247E59}"/>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7094297" y="2239335"/>
            <a:ext cx="2545194" cy="740947"/>
          </a:xfrm>
          <a:prstGeom prst="rect">
            <a:avLst/>
          </a:prstGeom>
        </p:spPr>
      </p:pic>
      <p:sp>
        <p:nvSpPr>
          <p:cNvPr id="2" name="Titolo 1">
            <a:extLst>
              <a:ext uri="{FF2B5EF4-FFF2-40B4-BE49-F238E27FC236}">
                <a16:creationId xmlns:a16="http://schemas.microsoft.com/office/drawing/2014/main" id="{A6740B86-965C-3E84-7583-A05B80D19DBC}"/>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sp>
        <p:nvSpPr>
          <p:cNvPr id="4" name="Google Shape;102;p14">
            <a:extLst>
              <a:ext uri="{FF2B5EF4-FFF2-40B4-BE49-F238E27FC236}">
                <a16:creationId xmlns:a16="http://schemas.microsoft.com/office/drawing/2014/main" id="{1A639B77-9BDA-EAD0-49CB-91203DA67E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98F8B1C-CA64-FD18-C859-3CA0976F6CD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8" name="Segnaposto contenuto 17">
            <a:extLst>
              <a:ext uri="{FF2B5EF4-FFF2-40B4-BE49-F238E27FC236}">
                <a16:creationId xmlns:a16="http://schemas.microsoft.com/office/drawing/2014/main" id="{B72055A5-B844-AB30-1C2C-C55422CCE58C}"/>
              </a:ext>
            </a:extLst>
          </p:cNvPr>
          <p:cNvSpPr>
            <a:spLocks noGrp="1"/>
          </p:cNvSpPr>
          <p:nvPr>
            <p:ph idx="1"/>
          </p:nvPr>
        </p:nvSpPr>
        <p:spPr>
          <a:xfrm>
            <a:off x="795643" y="2668467"/>
            <a:ext cx="4088180" cy="2538853"/>
          </a:xfrm>
        </p:spPr>
        <p:txBody>
          <a:bodyPr/>
          <a:lstStyle/>
          <a:p>
            <a:r>
              <a:rPr lang="en-US" noProof="0" dirty="0"/>
              <a:t>Mars rover operations require </a:t>
            </a:r>
            <a:r>
              <a:rPr lang="en-US" b="1" noProof="0" dirty="0">
                <a:solidFill>
                  <a:srgbClr val="822433"/>
                </a:solidFill>
              </a:rPr>
              <a:t>constant</a:t>
            </a:r>
            <a:r>
              <a:rPr lang="en-US" noProof="0" dirty="0"/>
              <a:t> supervision from Earth</a:t>
            </a:r>
          </a:p>
          <a:p>
            <a:endParaRPr lang="en-US" noProof="0" dirty="0"/>
          </a:p>
        </p:txBody>
      </p:sp>
      <p:pic>
        <p:nvPicPr>
          <p:cNvPr id="20" name="Immagine 19">
            <a:extLst>
              <a:ext uri="{FF2B5EF4-FFF2-40B4-BE49-F238E27FC236}">
                <a16:creationId xmlns:a16="http://schemas.microsoft.com/office/drawing/2014/main" id="{61DFB798-FB46-D3F8-1B0C-9A2600A420BC}"/>
              </a:ext>
            </a:extLst>
          </p:cNvPr>
          <p:cNvPicPr>
            <a:picLocks noChangeAspect="1"/>
          </p:cNvPicPr>
          <p:nvPr/>
        </p:nvPicPr>
        <p:blipFill>
          <a:blip r:embed="rId4"/>
          <a:stretch>
            <a:fillRect/>
          </a:stretch>
        </p:blipFill>
        <p:spPr>
          <a:xfrm>
            <a:off x="10659120" y="4905358"/>
            <a:ext cx="793048" cy="793048"/>
          </a:xfrm>
          <a:prstGeom prst="rect">
            <a:avLst/>
          </a:prstGeom>
          <a:effectLst>
            <a:outerShdw blurRad="50800" dist="38100" dir="2700000" algn="tl" rotWithShape="0">
              <a:prstClr val="black">
                <a:alpha val="40000"/>
              </a:prstClr>
            </a:outerShdw>
          </a:effectLst>
        </p:spPr>
      </p:pic>
      <p:pic>
        <p:nvPicPr>
          <p:cNvPr id="8" name="Immagine 7">
            <a:extLst>
              <a:ext uri="{FF2B5EF4-FFF2-40B4-BE49-F238E27FC236}">
                <a16:creationId xmlns:a16="http://schemas.microsoft.com/office/drawing/2014/main" id="{AE9BEB5E-267F-2203-D48A-25DE09E522C8}"/>
              </a:ext>
            </a:extLst>
          </p:cNvPr>
          <p:cNvPicPr>
            <a:picLocks noChangeAspect="1"/>
          </p:cNvPicPr>
          <p:nvPr/>
        </p:nvPicPr>
        <p:blipFill>
          <a:blip r:embed="rId5"/>
          <a:stretch>
            <a:fillRect/>
          </a:stretch>
        </p:blipFill>
        <p:spPr>
          <a:xfrm>
            <a:off x="10872467" y="4599963"/>
            <a:ext cx="354163" cy="354163"/>
          </a:xfrm>
          <a:prstGeom prst="rect">
            <a:avLst/>
          </a:prstGeom>
        </p:spPr>
      </p:pic>
      <p:cxnSp>
        <p:nvCxnSpPr>
          <p:cNvPr id="22" name="Connettore 2 21">
            <a:extLst>
              <a:ext uri="{FF2B5EF4-FFF2-40B4-BE49-F238E27FC236}">
                <a16:creationId xmlns:a16="http://schemas.microsoft.com/office/drawing/2014/main" id="{9251BC44-4C1D-5D71-C0EE-CA9A3724D910}"/>
              </a:ext>
            </a:extLst>
          </p:cNvPr>
          <p:cNvCxnSpPr/>
          <p:nvPr/>
        </p:nvCxnSpPr>
        <p:spPr>
          <a:xfrm>
            <a:off x="6136829" y="5332578"/>
            <a:ext cx="4315968" cy="0"/>
          </a:xfrm>
          <a:prstGeom prst="straightConnector1">
            <a:avLst/>
          </a:prstGeom>
          <a:ln w="28575" cap="flat" cmpd="sng" algn="ctr">
            <a:solidFill>
              <a:schemeClr val="dk1"/>
            </a:solidFill>
            <a:prstDash val="solid"/>
            <a:round/>
            <a:headEnd type="arrow" w="med" len="med"/>
            <a:tailEnd type="arrow" w="med" len="med"/>
          </a:ln>
          <a:effectLst>
            <a:outerShdw blurRad="50800" dist="38100" dir="2700000" algn="tl" rotWithShape="0">
              <a:prstClr val="black">
                <a:alpha val="40000"/>
              </a:prstClr>
            </a:outerShdw>
          </a:effectLst>
        </p:spPr>
        <p:style>
          <a:lnRef idx="0">
            <a:scrgbClr r="0" g="0" b="0"/>
          </a:lnRef>
          <a:fillRef idx="0">
            <a:scrgbClr r="0" g="0" b="0"/>
          </a:fillRef>
          <a:effectRef idx="0">
            <a:scrgbClr r="0" g="0" b="0"/>
          </a:effectRef>
          <a:fontRef idx="minor">
            <a:schemeClr val="tx1"/>
          </a:fontRef>
        </p:style>
      </p:cxnSp>
      <p:sp>
        <p:nvSpPr>
          <p:cNvPr id="23" name="CasellaDiTesto 22">
            <a:extLst>
              <a:ext uri="{FF2B5EF4-FFF2-40B4-BE49-F238E27FC236}">
                <a16:creationId xmlns:a16="http://schemas.microsoft.com/office/drawing/2014/main" id="{2AFD2FFA-39F9-497B-FE58-1811A084F844}"/>
              </a:ext>
            </a:extLst>
          </p:cNvPr>
          <p:cNvSpPr txBox="1"/>
          <p:nvPr/>
        </p:nvSpPr>
        <p:spPr>
          <a:xfrm>
            <a:off x="7295126" y="5024701"/>
            <a:ext cx="2143536" cy="307777"/>
          </a:xfrm>
          <a:prstGeom prst="rect">
            <a:avLst/>
          </a:prstGeom>
          <a:noFill/>
        </p:spPr>
        <p:txBody>
          <a:bodyPr wrap="none" rtlCol="0">
            <a:spAutoFit/>
          </a:bodyPr>
          <a:lstStyle/>
          <a:p>
            <a:r>
              <a:rPr lang="en-US" sz="1400" noProof="0" dirty="0">
                <a:latin typeface="Roboto" panose="02000000000000000000" pitchFamily="2" charset="0"/>
                <a:ea typeface="Roboto" panose="02000000000000000000" pitchFamily="2" charset="0"/>
              </a:rPr>
              <a:t>~4 - 22 minutes one way</a:t>
            </a:r>
          </a:p>
        </p:txBody>
      </p:sp>
      <p:pic>
        <p:nvPicPr>
          <p:cNvPr id="25" name="Immagine 24">
            <a:extLst>
              <a:ext uri="{FF2B5EF4-FFF2-40B4-BE49-F238E27FC236}">
                <a16:creationId xmlns:a16="http://schemas.microsoft.com/office/drawing/2014/main" id="{44760693-E853-A8A7-7EE4-8FA6B2F806CD}"/>
              </a:ext>
            </a:extLst>
          </p:cNvPr>
          <p:cNvPicPr>
            <a:picLocks noChangeAspect="1"/>
          </p:cNvPicPr>
          <p:nvPr/>
        </p:nvPicPr>
        <p:blipFill>
          <a:blip r:embed="rId6"/>
          <a:stretch>
            <a:fillRect/>
          </a:stretch>
        </p:blipFill>
        <p:spPr>
          <a:xfrm>
            <a:off x="4864478" y="4768868"/>
            <a:ext cx="1066028" cy="1066028"/>
          </a:xfrm>
          <a:prstGeom prst="rect">
            <a:avLst/>
          </a:prstGeom>
        </p:spPr>
      </p:pic>
      <p:sp>
        <p:nvSpPr>
          <p:cNvPr id="30" name="Rettangolo con angoli arrotondati 29">
            <a:extLst>
              <a:ext uri="{FF2B5EF4-FFF2-40B4-BE49-F238E27FC236}">
                <a16:creationId xmlns:a16="http://schemas.microsoft.com/office/drawing/2014/main" id="{428ED2EA-849C-787B-E74B-418ECD6A93DF}"/>
              </a:ext>
            </a:extLst>
          </p:cNvPr>
          <p:cNvSpPr/>
          <p:nvPr/>
        </p:nvSpPr>
        <p:spPr>
          <a:xfrm>
            <a:off x="4788588" y="1929378"/>
            <a:ext cx="1283770" cy="369331"/>
          </a:xfrm>
          <a:prstGeom prst="roundRect">
            <a:avLst/>
          </a:prstGeom>
          <a:effectLst>
            <a:outerShdw blurRad="50800" dist="38100" dir="2700000" algn="tl" rotWithShape="0">
              <a:prstClr val="black">
                <a:alpha val="40000"/>
              </a:prstClr>
            </a:outerShdw>
          </a:effectLst>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r"/>
            <a:r>
              <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Planning</a:t>
            </a:r>
          </a:p>
        </p:txBody>
      </p:sp>
      <p:pic>
        <p:nvPicPr>
          <p:cNvPr id="34" name="Immagine 33">
            <a:extLst>
              <a:ext uri="{FF2B5EF4-FFF2-40B4-BE49-F238E27FC236}">
                <a16:creationId xmlns:a16="http://schemas.microsoft.com/office/drawing/2014/main" id="{BA6BB3D8-8A43-E7B1-E9B9-0F2223B8077C}"/>
              </a:ext>
            </a:extLst>
          </p:cNvPr>
          <p:cNvPicPr>
            <a:picLocks noChangeAspect="1"/>
          </p:cNvPicPr>
          <p:nvPr/>
        </p:nvPicPr>
        <p:blipFill>
          <a:blip r:embed="rId7"/>
          <a:stretch>
            <a:fillRect/>
          </a:stretch>
        </p:blipFill>
        <p:spPr>
          <a:xfrm>
            <a:off x="4614614" y="1887234"/>
            <a:ext cx="453618" cy="453618"/>
          </a:xfrm>
          <a:prstGeom prst="rect">
            <a:avLst/>
          </a:prstGeom>
          <a:effectLst>
            <a:outerShdw blurRad="50800" dist="38100" dir="2700000" algn="tl" rotWithShape="0">
              <a:prstClr val="black">
                <a:alpha val="40000"/>
              </a:prstClr>
            </a:outerShdw>
          </a:effectLst>
        </p:spPr>
      </p:pic>
      <p:pic>
        <p:nvPicPr>
          <p:cNvPr id="38" name="Immagine 37">
            <a:extLst>
              <a:ext uri="{FF2B5EF4-FFF2-40B4-BE49-F238E27FC236}">
                <a16:creationId xmlns:a16="http://schemas.microsoft.com/office/drawing/2014/main" id="{0F62A17F-73DF-7D02-241C-633094ECEF6D}"/>
              </a:ext>
            </a:extLst>
          </p:cNvPr>
          <p:cNvPicPr>
            <a:picLocks noChangeAspect="1"/>
          </p:cNvPicPr>
          <p:nvPr/>
        </p:nvPicPr>
        <p:blipFill>
          <a:blip r:embed="rId8"/>
          <a:stretch>
            <a:fillRect/>
          </a:stretch>
        </p:blipFill>
        <p:spPr>
          <a:xfrm>
            <a:off x="6761528" y="2215962"/>
            <a:ext cx="764320" cy="764320"/>
          </a:xfrm>
          <a:prstGeom prst="rect">
            <a:avLst/>
          </a:prstGeom>
          <a:effectLst>
            <a:outerShdw blurRad="50800" dist="38100" dir="2700000" algn="tl" rotWithShape="0">
              <a:prstClr val="black">
                <a:alpha val="40000"/>
              </a:prstClr>
            </a:outerShdw>
          </a:effectLst>
        </p:spPr>
      </p:pic>
      <p:sp>
        <p:nvSpPr>
          <p:cNvPr id="40" name="Rettangolo con angoli arrotondati 39">
            <a:extLst>
              <a:ext uri="{FF2B5EF4-FFF2-40B4-BE49-F238E27FC236}">
                <a16:creationId xmlns:a16="http://schemas.microsoft.com/office/drawing/2014/main" id="{21ED2DED-3422-378F-5E90-2EC5D1887E79}"/>
              </a:ext>
            </a:extLst>
          </p:cNvPr>
          <p:cNvSpPr/>
          <p:nvPr/>
        </p:nvSpPr>
        <p:spPr>
          <a:xfrm>
            <a:off x="9744430" y="3193656"/>
            <a:ext cx="2359203" cy="369331"/>
          </a:xfrm>
          <a:prstGeom prst="roundRect">
            <a:avLst/>
          </a:prstGeom>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r"/>
            <a:r>
              <a:rPr lang="en-US" b="1" dirty="0">
                <a:effectLst>
                  <a:outerShdw blurRad="38100" dist="38100" dir="2700000" algn="tl">
                    <a:srgbClr val="000000">
                      <a:alpha val="43137"/>
                    </a:srgbClr>
                  </a:outerShdw>
                </a:effectLst>
                <a:latin typeface="Roboto" panose="02000000000000000000" pitchFamily="2" charset="0"/>
                <a:ea typeface="Roboto" panose="02000000000000000000" pitchFamily="2" charset="0"/>
              </a:rPr>
              <a:t>On-board execution</a:t>
            </a:r>
            <a:endParaRPr lang="en-US" b="1" noProof="0" dirty="0">
              <a:effectLst>
                <a:outerShdw blurRad="38100" dist="38100" dir="2700000" algn="tl">
                  <a:srgbClr val="000000">
                    <a:alpha val="43137"/>
                  </a:srgbClr>
                </a:outerShdw>
              </a:effectLst>
              <a:latin typeface="Roboto" panose="02000000000000000000" pitchFamily="2" charset="0"/>
              <a:ea typeface="Roboto" panose="02000000000000000000" pitchFamily="2" charset="0"/>
            </a:endParaRPr>
          </a:p>
        </p:txBody>
      </p:sp>
      <p:pic>
        <p:nvPicPr>
          <p:cNvPr id="42" name="Immagine 41">
            <a:extLst>
              <a:ext uri="{FF2B5EF4-FFF2-40B4-BE49-F238E27FC236}">
                <a16:creationId xmlns:a16="http://schemas.microsoft.com/office/drawing/2014/main" id="{A617BEE9-1F4A-4964-2D49-565BC00D5CE7}"/>
              </a:ext>
            </a:extLst>
          </p:cNvPr>
          <p:cNvPicPr>
            <a:picLocks noChangeAspect="1"/>
          </p:cNvPicPr>
          <p:nvPr/>
        </p:nvPicPr>
        <p:blipFill>
          <a:blip r:embed="rId9"/>
          <a:stretch>
            <a:fillRect/>
          </a:stretch>
        </p:blipFill>
        <p:spPr>
          <a:xfrm>
            <a:off x="9502035" y="3048874"/>
            <a:ext cx="637954" cy="637954"/>
          </a:xfrm>
          <a:prstGeom prst="rect">
            <a:avLst/>
          </a:prstGeom>
        </p:spPr>
      </p:pic>
      <p:sp>
        <p:nvSpPr>
          <p:cNvPr id="46" name="Rettangolo con angoli arrotondati 45">
            <a:extLst>
              <a:ext uri="{FF2B5EF4-FFF2-40B4-BE49-F238E27FC236}">
                <a16:creationId xmlns:a16="http://schemas.microsoft.com/office/drawing/2014/main" id="{7C7B2047-877F-A90F-36BA-FA0F72DDAF8F}"/>
              </a:ext>
            </a:extLst>
          </p:cNvPr>
          <p:cNvSpPr/>
          <p:nvPr/>
        </p:nvSpPr>
        <p:spPr>
          <a:xfrm>
            <a:off x="6912248" y="4145904"/>
            <a:ext cx="2756892" cy="659025"/>
          </a:xfrm>
          <a:prstGeom prst="roundRect">
            <a:avLst/>
          </a:prstGeom>
          <a:effectLst>
            <a:outerShdw blurRad="50800" dist="38100" dir="2700000" algn="tl" rotWithShape="0">
              <a:prstClr val="black">
                <a:alpha val="40000"/>
              </a:prstClr>
            </a:outerShdw>
          </a:effectLst>
        </p:spPr>
        <p:style>
          <a:lnRef idx="2">
            <a:schemeClr val="accent3">
              <a:shade val="15000"/>
            </a:schemeClr>
          </a:lnRef>
          <a:fillRef idx="1">
            <a:schemeClr val="accent3"/>
          </a:fillRef>
          <a:effectRef idx="0">
            <a:schemeClr val="accent3"/>
          </a:effectRef>
          <a:fontRef idx="minor">
            <a:schemeClr val="lt1"/>
          </a:fontRef>
        </p:style>
        <p:txBody>
          <a:bodyPr lIns="396000" rtlCol="0" anchor="ctr"/>
          <a:lstStyle/>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a Report completion</a:t>
            </a:r>
          </a:p>
          <a:p>
            <a:r>
              <a:rPr lang="en-US" b="1" dirty="0">
                <a:effectLst>
                  <a:outerShdw blurRad="50800" dist="38100" dir="2700000" algn="tl" rotWithShape="0">
                    <a:prstClr val="black">
                      <a:alpha val="40000"/>
                    </a:prstClr>
                  </a:outerShdw>
                </a:effectLst>
                <a:latin typeface="Roboto" panose="02000000000000000000" pitchFamily="2" charset="0"/>
                <a:ea typeface="Roboto" panose="02000000000000000000" pitchFamily="2" charset="0"/>
              </a:rPr>
              <a:t>b Request assistance</a:t>
            </a:r>
          </a:p>
        </p:txBody>
      </p:sp>
      <p:pic>
        <p:nvPicPr>
          <p:cNvPr id="44" name="Immagine 43">
            <a:extLst>
              <a:ext uri="{FF2B5EF4-FFF2-40B4-BE49-F238E27FC236}">
                <a16:creationId xmlns:a16="http://schemas.microsoft.com/office/drawing/2014/main" id="{C8B78D56-50E7-38AE-1DBC-B42E01F686DD}"/>
              </a:ext>
            </a:extLst>
          </p:cNvPr>
          <p:cNvPicPr>
            <a:picLocks noChangeAspect="1"/>
          </p:cNvPicPr>
          <p:nvPr/>
        </p:nvPicPr>
        <p:blipFill>
          <a:blip r:embed="rId10"/>
          <a:stretch>
            <a:fillRect/>
          </a:stretch>
        </p:blipFill>
        <p:spPr>
          <a:xfrm>
            <a:off x="6328622" y="3903139"/>
            <a:ext cx="1167251" cy="1167251"/>
          </a:xfrm>
          <a:prstGeom prst="rect">
            <a:avLst/>
          </a:prstGeom>
        </p:spPr>
      </p:pic>
      <p:sp>
        <p:nvSpPr>
          <p:cNvPr id="54" name="source-citations">
            <a:extLst>
              <a:ext uri="{FF2B5EF4-FFF2-40B4-BE49-F238E27FC236}">
                <a16:creationId xmlns:a16="http://schemas.microsoft.com/office/drawing/2014/main" id="{9951E79D-3029-563E-2F5F-6E43657F1F0F}"/>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a:t>
            </a:r>
            <a:r>
              <a:rPr lang="en-US" dirty="0"/>
              <a:t>1</a:t>
            </a:r>
            <a:r>
              <a:rPr lang="en-US" sz="1125" b="0" dirty="0">
                <a:solidFill>
                  <a:srgbClr val="656B73"/>
                </a:solidFill>
                <a:latin typeface="Roboto"/>
                <a:ea typeface="Roboto"/>
                <a:cs typeface="Roboto"/>
              </a:rPr>
              <a:t>]</a:t>
            </a:r>
          </a:p>
        </p:txBody>
      </p:sp>
    </p:spTree>
    <p:extLst>
      <p:ext uri="{BB962C8B-B14F-4D97-AF65-F5344CB8AC3E}">
        <p14:creationId xmlns:p14="http://schemas.microsoft.com/office/powerpoint/2010/main" val="295062521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2F3DB-B36D-71F2-642D-6A23F399E1A4}"/>
            </a:ext>
          </a:extLst>
        </p:cNvPr>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AB640CF2-E36A-F5AD-8E25-93D0FA59F2C2}"/>
              </a:ext>
            </a:extLst>
          </p:cNvPr>
          <p:cNvSpPr>
            <a:spLocks noGrp="1"/>
          </p:cNvSpPr>
          <p:nvPr>
            <p:ph idx="1"/>
          </p:nvPr>
        </p:nvSpPr>
        <p:spPr>
          <a:xfrm>
            <a:off x="914400" y="2153285"/>
            <a:ext cx="4602480" cy="3912235"/>
          </a:xfrm>
        </p:spPr>
        <p:txBody>
          <a:bodyPr>
            <a:normAutofit/>
          </a:bodyPr>
          <a:lstStyle/>
          <a:p>
            <a:r>
              <a:rPr lang="en-US" sz="2400" noProof="0" dirty="0"/>
              <a:t>Its </a:t>
            </a:r>
            <a:r>
              <a:rPr lang="en-US" sz="2400" b="1" noProof="0" dirty="0">
                <a:solidFill>
                  <a:srgbClr val="822433"/>
                </a:solidFill>
              </a:rPr>
              <a:t>mobility</a:t>
            </a:r>
            <a:r>
              <a:rPr lang="en-US" sz="2400" noProof="0" dirty="0"/>
              <a:t> depends also on its </a:t>
            </a:r>
            <a:r>
              <a:rPr lang="en-US" sz="2400" b="1" noProof="0" dirty="0">
                <a:solidFill>
                  <a:srgbClr val="822433"/>
                </a:solidFill>
              </a:rPr>
              <a:t>conditions</a:t>
            </a:r>
          </a:p>
          <a:p>
            <a:endParaRPr lang="en-US" sz="2400" noProof="0" dirty="0"/>
          </a:p>
          <a:p>
            <a:r>
              <a:rPr lang="en-US" sz="2400" noProof="0" dirty="0"/>
              <a:t>Periodic </a:t>
            </a:r>
            <a:r>
              <a:rPr lang="en-US" sz="2400" b="1" noProof="0" dirty="0">
                <a:solidFill>
                  <a:srgbClr val="822433"/>
                </a:solidFill>
              </a:rPr>
              <a:t>manual</a:t>
            </a:r>
            <a:r>
              <a:rPr lang="en-US" sz="2400" noProof="0" dirty="0"/>
              <a:t> inspection are performed, with large </a:t>
            </a:r>
            <a:r>
              <a:rPr lang="en-US" sz="2400" b="1" noProof="0" dirty="0">
                <a:solidFill>
                  <a:srgbClr val="822433"/>
                </a:solidFill>
              </a:rPr>
              <a:t>perforations</a:t>
            </a:r>
            <a:r>
              <a:rPr lang="en-US" sz="2400" noProof="0" dirty="0"/>
              <a:t> already detected</a:t>
            </a:r>
          </a:p>
        </p:txBody>
      </p:sp>
      <p:sp>
        <p:nvSpPr>
          <p:cNvPr id="4" name="Google Shape;102;p14">
            <a:extLst>
              <a:ext uri="{FF2B5EF4-FFF2-40B4-BE49-F238E27FC236}">
                <a16:creationId xmlns:a16="http://schemas.microsoft.com/office/drawing/2014/main" id="{E2BE8079-4E8F-9609-C6F4-0B05A66D098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DB01F4C4-041D-4899-9D83-3B148618486D}"/>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EDDF8B73-D22E-B220-A76C-AE9C753B54BA}"/>
              </a:ext>
            </a:extLst>
          </p:cNvPr>
          <p:cNvSpPr>
            <a:spLocks noGrp="1"/>
          </p:cNvSpPr>
          <p:nvPr>
            <p:ph type="title"/>
          </p:nvPr>
        </p:nvSpPr>
        <p:spPr>
          <a:xfrm>
            <a:off x="838200" y="365125"/>
            <a:ext cx="8384177" cy="835787"/>
          </a:xfrm>
        </p:spPr>
        <p:txBody>
          <a:bodyPr/>
          <a:lstStyle/>
          <a:p>
            <a:r>
              <a:rPr lang="en-US" noProof="0" dirty="0">
                <a:solidFill>
                  <a:srgbClr val="822433"/>
                </a:solidFill>
              </a:rPr>
              <a:t>The challenge</a:t>
            </a:r>
          </a:p>
        </p:txBody>
      </p:sp>
      <p:pic>
        <p:nvPicPr>
          <p:cNvPr id="8" name="Immagine 7">
            <a:extLst>
              <a:ext uri="{FF2B5EF4-FFF2-40B4-BE49-F238E27FC236}">
                <a16:creationId xmlns:a16="http://schemas.microsoft.com/office/drawing/2014/main" id="{3C460DA3-1734-BF4B-7776-5558C594A522}"/>
              </a:ext>
            </a:extLst>
          </p:cNvPr>
          <p:cNvPicPr>
            <a:picLocks noChangeAspect="1"/>
          </p:cNvPicPr>
          <p:nvPr/>
        </p:nvPicPr>
        <p:blipFill>
          <a:blip r:embed="rId3"/>
          <a:stretch/>
        </p:blipFill>
        <p:spPr>
          <a:xfrm>
            <a:off x="5629521" y="1522095"/>
            <a:ext cx="6129798" cy="4286250"/>
          </a:xfrm>
          <a:prstGeom prst="rect">
            <a:avLst/>
          </a:prstGeom>
        </p:spPr>
      </p:pic>
      <p:sp>
        <p:nvSpPr>
          <p:cNvPr id="10" name="image-credit">
            <a:extLst>
              <a:ext uri="{FF2B5EF4-FFF2-40B4-BE49-F238E27FC236}">
                <a16:creationId xmlns:a16="http://schemas.microsoft.com/office/drawing/2014/main" id="{81AA6C63-374D-166A-5A5F-0C3346B8CA40}"/>
              </a:ext>
            </a:extLst>
          </p:cNvPr>
          <p:cNvSpPr>
            <a:spLocks noGrp="1"/>
          </p:cNvSpPr>
          <p:nvPr/>
        </p:nvSpPr>
        <p:spPr>
          <a:xfrm>
            <a:off x="6055995" y="5817870"/>
            <a:ext cx="5476875" cy="247650"/>
          </a:xfrm>
          <a:prstGeom prst="rect">
            <a:avLst/>
          </a:prstGeom>
          <a:noFill/>
          <a:ln w="0">
            <a:noFill/>
          </a:ln>
        </p:spPr>
        <p:txBody>
          <a:bodyPr wrap="square" lIns="0" tIns="0" rIns="0" bIns="0" anchor="t">
            <a:noAutofit/>
          </a:bodyPr>
          <a:lstStyle>
            <a:defPPr algn="ctr">
              <a:defRPr sz="1275" b="0">
                <a:solidFill>
                  <a:srgbClr val="62666B"/>
                </a:solidFill>
                <a:latin typeface="Roboto"/>
                <a:ea typeface="Roboto"/>
                <a:cs typeface="Roboto"/>
              </a:defRPr>
            </a:defPPr>
            <a:lvl1pPr algn="ctr">
              <a:defRPr sz="1275" b="0">
                <a:solidFill>
                  <a:srgbClr val="62666B"/>
                </a:solidFill>
                <a:latin typeface="Roboto"/>
                <a:ea typeface="Roboto"/>
                <a:cs typeface="Roboto"/>
              </a:defRPr>
            </a:lvl1pPr>
            <a:lvl2pPr algn="ctr">
              <a:defRPr sz="1275" b="0">
                <a:solidFill>
                  <a:srgbClr val="62666B"/>
                </a:solidFill>
                <a:latin typeface="Roboto"/>
                <a:ea typeface="Roboto"/>
                <a:cs typeface="Roboto"/>
              </a:defRPr>
            </a:lvl2pPr>
            <a:lvl3pPr algn="ctr">
              <a:defRPr sz="1275" b="0">
                <a:solidFill>
                  <a:srgbClr val="62666B"/>
                </a:solidFill>
                <a:latin typeface="Roboto"/>
                <a:ea typeface="Roboto"/>
                <a:cs typeface="Roboto"/>
              </a:defRPr>
            </a:lvl3pPr>
            <a:lvl4pPr algn="ctr">
              <a:defRPr sz="1275" b="0">
                <a:solidFill>
                  <a:srgbClr val="62666B"/>
                </a:solidFill>
                <a:latin typeface="Roboto"/>
                <a:ea typeface="Roboto"/>
                <a:cs typeface="Roboto"/>
              </a:defRPr>
            </a:lvl4pPr>
            <a:lvl5pPr algn="ctr">
              <a:defRPr sz="1275" b="0">
                <a:solidFill>
                  <a:srgbClr val="62666B"/>
                </a:solidFill>
                <a:latin typeface="Roboto"/>
                <a:ea typeface="Roboto"/>
                <a:cs typeface="Roboto"/>
              </a:defRPr>
            </a:lvl5pPr>
            <a:lvl6pPr algn="ctr">
              <a:defRPr sz="1275" b="0">
                <a:solidFill>
                  <a:srgbClr val="62666B"/>
                </a:solidFill>
                <a:latin typeface="Roboto"/>
                <a:ea typeface="Roboto"/>
                <a:cs typeface="Roboto"/>
              </a:defRPr>
            </a:lvl6pPr>
            <a:lvl7pPr algn="ctr">
              <a:defRPr sz="1275" b="0">
                <a:solidFill>
                  <a:srgbClr val="62666B"/>
                </a:solidFill>
                <a:latin typeface="Roboto"/>
                <a:ea typeface="Roboto"/>
                <a:cs typeface="Roboto"/>
              </a:defRPr>
            </a:lvl7pPr>
            <a:lvl8pPr algn="ctr">
              <a:defRPr sz="1275" b="0">
                <a:solidFill>
                  <a:srgbClr val="62666B"/>
                </a:solidFill>
                <a:latin typeface="Roboto"/>
                <a:ea typeface="Roboto"/>
                <a:cs typeface="Roboto"/>
              </a:defRPr>
            </a:lvl8pPr>
            <a:lvl9pPr algn="ctr">
              <a:defRPr sz="1275" b="0">
                <a:solidFill>
                  <a:srgbClr val="62666B"/>
                </a:solidFill>
                <a:latin typeface="Roboto"/>
                <a:ea typeface="Roboto"/>
                <a:cs typeface="Roboto"/>
              </a:defRPr>
            </a:lvl9pPr>
          </a:lstStyle>
          <a:p>
            <a:pPr algn="ctr">
              <a:defRPr sz="1275" b="0">
                <a:solidFill>
                  <a:srgbClr val="62666B"/>
                </a:solidFill>
                <a:latin typeface="Roboto"/>
                <a:ea typeface="Roboto"/>
                <a:cs typeface="Roboto"/>
              </a:defRPr>
            </a:pPr>
            <a:r>
              <a:rPr sz="1275" b="0" dirty="0">
                <a:solidFill>
                  <a:srgbClr val="62666B"/>
                </a:solidFill>
                <a:latin typeface="Roboto"/>
                <a:ea typeface="Roboto"/>
                <a:cs typeface="Roboto"/>
              </a:rPr>
              <a:t>NASA/JPL-Caltech/MSSS, sol 1315</a:t>
            </a:r>
          </a:p>
        </p:txBody>
      </p:sp>
      <p:sp>
        <p:nvSpPr>
          <p:cNvPr id="7" name="source-citations">
            <a:extLst>
              <a:ext uri="{FF2B5EF4-FFF2-40B4-BE49-F238E27FC236}">
                <a16:creationId xmlns:a16="http://schemas.microsoft.com/office/drawing/2014/main" id="{F403CAFB-45FE-3346-D51B-044908DE6AC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[2] [3]</a:t>
            </a:r>
          </a:p>
        </p:txBody>
      </p:sp>
    </p:spTree>
    <p:extLst>
      <p:ext uri="{BB962C8B-B14F-4D97-AF65-F5344CB8AC3E}">
        <p14:creationId xmlns:p14="http://schemas.microsoft.com/office/powerpoint/2010/main" val="222127167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egnaposto contenuto 2">
            <a:extLst>
              <a:ext uri="{FF2B5EF4-FFF2-40B4-BE49-F238E27FC236}">
                <a16:creationId xmlns:a16="http://schemas.microsoft.com/office/drawing/2014/main" id="{634BA60C-D53C-33C1-F026-069C0579B451}"/>
              </a:ext>
            </a:extLst>
          </p:cNvPr>
          <p:cNvSpPr>
            <a:spLocks noGrp="1"/>
          </p:cNvSpPr>
          <p:nvPr>
            <p:ph idx="1"/>
          </p:nvPr>
        </p:nvSpPr>
        <p:spPr>
          <a:xfrm>
            <a:off x="1611938" y="3059768"/>
            <a:ext cx="4008121" cy="3058995"/>
          </a:xfrm>
        </p:spPr>
        <p:txBody>
          <a:bodyPr/>
          <a:lstStyle/>
          <a:p>
            <a:pPr marL="0" indent="0">
              <a:buNone/>
            </a:pPr>
            <a:r>
              <a:rPr lang="en-US" b="1" u="sng" noProof="0" dirty="0">
                <a:solidFill>
                  <a:srgbClr val="822433"/>
                </a:solidFill>
              </a:rPr>
              <a:t>1 Sce</a:t>
            </a:r>
            <a:r>
              <a:rPr lang="en-US" b="1" u="sng" dirty="0">
                <a:solidFill>
                  <a:srgbClr val="822433"/>
                </a:solidFill>
              </a:rPr>
              <a:t>ne Understanding</a:t>
            </a:r>
          </a:p>
          <a:p>
            <a:pPr marL="0" indent="0">
              <a:buNone/>
            </a:pPr>
            <a:endParaRPr lang="en-US" noProof="0" dirty="0"/>
          </a:p>
          <a:p>
            <a:pPr marL="0" indent="0">
              <a:buNone/>
            </a:pPr>
            <a:r>
              <a:rPr lang="en-US" sz="2200" dirty="0"/>
              <a:t>Semantic segmentation of real Mars rover images</a:t>
            </a:r>
          </a:p>
          <a:p>
            <a:pPr marL="0" indent="0">
              <a:buNone/>
            </a:pPr>
            <a:r>
              <a:rPr lang="en-US" sz="2200" noProof="0" dirty="0"/>
              <a:t>To support navigation</a:t>
            </a:r>
          </a:p>
        </p:txBody>
      </p:sp>
      <p:sp>
        <p:nvSpPr>
          <p:cNvPr id="4" name="Google Shape;102;p14">
            <a:extLst>
              <a:ext uri="{FF2B5EF4-FFF2-40B4-BE49-F238E27FC236}">
                <a16:creationId xmlns:a16="http://schemas.microsoft.com/office/drawing/2014/main" id="{289212E4-ADA7-A6A4-054D-7A25F5585AC7}"/>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6751F937-567F-6642-FDCE-3DFED7334C6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0E23B25A-177E-3C6C-A6B9-E17838168E67}"/>
              </a:ext>
            </a:extLst>
          </p:cNvPr>
          <p:cNvSpPr>
            <a:spLocks noGrp="1"/>
          </p:cNvSpPr>
          <p:nvPr>
            <p:ph type="title"/>
          </p:nvPr>
        </p:nvSpPr>
        <p:spPr>
          <a:xfrm>
            <a:off x="838200" y="365125"/>
            <a:ext cx="8384177" cy="835787"/>
          </a:xfrm>
        </p:spPr>
        <p:txBody>
          <a:bodyPr/>
          <a:lstStyle/>
          <a:p>
            <a:r>
              <a:rPr lang="en-US" dirty="0">
                <a:solidFill>
                  <a:srgbClr val="822433"/>
                </a:solidFill>
              </a:rPr>
              <a:t>Research objective</a:t>
            </a:r>
            <a:endParaRPr lang="en-US" noProof="0" dirty="0">
              <a:solidFill>
                <a:srgbClr val="822433"/>
              </a:solidFill>
            </a:endParaRPr>
          </a:p>
        </p:txBody>
      </p:sp>
      <p:sp>
        <p:nvSpPr>
          <p:cNvPr id="11" name="Segnaposto contenuto 2">
            <a:extLst>
              <a:ext uri="{FF2B5EF4-FFF2-40B4-BE49-F238E27FC236}">
                <a16:creationId xmlns:a16="http://schemas.microsoft.com/office/drawing/2014/main" id="{97E7D6F9-E995-40A1-F543-8EC613B4C195}"/>
              </a:ext>
            </a:extLst>
          </p:cNvPr>
          <p:cNvSpPr txBox="1">
            <a:spLocks/>
          </p:cNvSpPr>
          <p:nvPr/>
        </p:nvSpPr>
        <p:spPr>
          <a:xfrm>
            <a:off x="6675119" y="3070122"/>
            <a:ext cx="4248913" cy="318904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b="1" u="sng" dirty="0">
                <a:solidFill>
                  <a:srgbClr val="822433"/>
                </a:solidFill>
              </a:rPr>
              <a:t>2 Wheel Inspection</a:t>
            </a:r>
          </a:p>
          <a:p>
            <a:pPr marL="0" indent="0">
              <a:buNone/>
            </a:pPr>
            <a:endParaRPr lang="en-US" sz="2200" b="1" u="sng" dirty="0">
              <a:solidFill>
                <a:srgbClr val="822433"/>
              </a:solidFill>
            </a:endParaRPr>
          </a:p>
          <a:p>
            <a:pPr marL="0" indent="0">
              <a:buNone/>
            </a:pPr>
            <a:r>
              <a:rPr lang="en-US" sz="2200" dirty="0"/>
              <a:t>Anomaly Detection using a synthetically generated dataset</a:t>
            </a:r>
          </a:p>
          <a:p>
            <a:pPr marL="0" indent="0">
              <a:buNone/>
            </a:pPr>
            <a:r>
              <a:rPr lang="en-US" sz="2200" noProof="0" dirty="0"/>
              <a:t>To prevent further damage</a:t>
            </a:r>
          </a:p>
        </p:txBody>
      </p:sp>
      <p:grpSp>
        <p:nvGrpSpPr>
          <p:cNvPr id="16" name="Gruppo 15">
            <a:extLst>
              <a:ext uri="{FF2B5EF4-FFF2-40B4-BE49-F238E27FC236}">
                <a16:creationId xmlns:a16="http://schemas.microsoft.com/office/drawing/2014/main" id="{9DC70907-1725-B8AC-9511-304555C4CF88}"/>
              </a:ext>
            </a:extLst>
          </p:cNvPr>
          <p:cNvGrpSpPr/>
          <p:nvPr/>
        </p:nvGrpSpPr>
        <p:grpSpPr>
          <a:xfrm>
            <a:off x="1051560" y="1592054"/>
            <a:ext cx="9356815" cy="829997"/>
            <a:chOff x="1051560" y="1592054"/>
            <a:chExt cx="9356815" cy="829997"/>
          </a:xfrm>
        </p:grpSpPr>
        <p:sp>
          <p:nvSpPr>
            <p:cNvPr id="12" name="Segnaposto contenuto 2">
              <a:extLst>
                <a:ext uri="{FF2B5EF4-FFF2-40B4-BE49-F238E27FC236}">
                  <a16:creationId xmlns:a16="http://schemas.microsoft.com/office/drawing/2014/main" id="{BE704A8C-B264-41F2-916E-C29042E0E019}"/>
                </a:ext>
              </a:extLst>
            </p:cNvPr>
            <p:cNvSpPr txBox="1">
              <a:spLocks/>
            </p:cNvSpPr>
            <p:nvPr/>
          </p:nvSpPr>
          <p:spPr>
            <a:xfrm>
              <a:off x="3307623" y="1592054"/>
              <a:ext cx="7100752" cy="829997"/>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ctr">
                <a:buNone/>
              </a:pPr>
              <a:r>
                <a:rPr lang="en-US" sz="2400" noProof="0" dirty="0"/>
                <a:t>Support autonomous operations</a:t>
              </a:r>
              <a:r>
                <a:rPr lang="en-US" sz="2400" dirty="0"/>
                <a:t> while </a:t>
              </a:r>
              <a:r>
                <a:rPr lang="en-US" sz="2400" noProof="0" dirty="0"/>
                <a:t>evaluating the trade-off between accuracy and efficiency</a:t>
              </a:r>
            </a:p>
          </p:txBody>
        </p:sp>
        <p:sp>
          <p:nvSpPr>
            <p:cNvPr id="13" name="Rettangolo con angoli arrotondati 12">
              <a:extLst>
                <a:ext uri="{FF2B5EF4-FFF2-40B4-BE49-F238E27FC236}">
                  <a16:creationId xmlns:a16="http://schemas.microsoft.com/office/drawing/2014/main" id="{71EDF741-FD85-D6EE-C4DB-AF84B65AD4BD}"/>
                </a:ext>
              </a:extLst>
            </p:cNvPr>
            <p:cNvSpPr/>
            <p:nvPr/>
          </p:nvSpPr>
          <p:spPr>
            <a:xfrm>
              <a:off x="1051560" y="1798869"/>
              <a:ext cx="2545080" cy="426720"/>
            </a:xfrm>
            <a:prstGeom prst="roundRect">
              <a:avLst/>
            </a:prstGeom>
            <a:noFill/>
            <a:ln>
              <a:noFill/>
            </a:ln>
          </p:spPr>
          <p:style>
            <a:lnRef idx="0">
              <a:scrgbClr r="0" g="0" b="0"/>
            </a:lnRef>
            <a:fillRef idx="0">
              <a:scrgbClr r="0" g="0" b="0"/>
            </a:fillRef>
            <a:effectRef idx="0">
              <a:scrgbClr r="0" g="0" b="0"/>
            </a:effectRef>
            <a:fontRef idx="minor">
              <a:schemeClr val="accent1"/>
            </a:fontRef>
          </p:style>
          <p:txBody>
            <a:bodyPr rtlCol="0" anchor="ctr"/>
            <a:lstStyle/>
            <a:p>
              <a:pPr algn="ctr"/>
              <a:r>
                <a:rPr lang="en-US" sz="2400" b="1" u="sng" noProof="0" dirty="0">
                  <a:solidFill>
                    <a:srgbClr val="822433"/>
                  </a:solidFill>
                  <a:latin typeface="Roboto" panose="02000000000000000000" pitchFamily="2" charset="0"/>
                  <a:ea typeface="Roboto" panose="02000000000000000000" pitchFamily="2" charset="0"/>
                </a:rPr>
                <a:t>Main Objective:</a:t>
              </a:r>
            </a:p>
          </p:txBody>
        </p:sp>
      </p:grpSp>
      <p:cxnSp>
        <p:nvCxnSpPr>
          <p:cNvPr id="15" name="Connettore diritto 14">
            <a:extLst>
              <a:ext uri="{FF2B5EF4-FFF2-40B4-BE49-F238E27FC236}">
                <a16:creationId xmlns:a16="http://schemas.microsoft.com/office/drawing/2014/main" id="{77D9676C-38F9-2A8D-7609-719A38AE19C4}"/>
              </a:ext>
            </a:extLst>
          </p:cNvPr>
          <p:cNvCxnSpPr>
            <a:cxnSpLocks/>
          </p:cNvCxnSpPr>
          <p:nvPr/>
        </p:nvCxnSpPr>
        <p:spPr>
          <a:xfrm>
            <a:off x="952500" y="2746086"/>
            <a:ext cx="10287000" cy="0"/>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2" name="Connettore diritto 14">
            <a:extLst>
              <a:ext uri="{FF2B5EF4-FFF2-40B4-BE49-F238E27FC236}">
                <a16:creationId xmlns:a16="http://schemas.microsoft.com/office/drawing/2014/main" id="{FD9376E7-C567-B4D5-DC36-24C9BF0A5E63}"/>
              </a:ext>
            </a:extLst>
          </p:cNvPr>
          <p:cNvCxnSpPr>
            <a:cxnSpLocks/>
          </p:cNvCxnSpPr>
          <p:nvPr/>
        </p:nvCxnSpPr>
        <p:spPr>
          <a:xfrm>
            <a:off x="6096000" y="2952750"/>
            <a:ext cx="0" cy="2714625"/>
          </a:xfrm>
          <a:prstGeom prst="line">
            <a:avLst/>
          </a:prstGeom>
          <a:ln w="28575">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2343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BD9DC1-FC24-E459-7A5E-590238C9909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3398E57-68D8-3449-9EA5-E189F2610AA4}"/>
              </a:ext>
            </a:extLst>
          </p:cNvPr>
          <p:cNvSpPr>
            <a:spLocks noGrp="1"/>
          </p:cNvSpPr>
          <p:nvPr>
            <p:ph type="title"/>
          </p:nvPr>
        </p:nvSpPr>
        <p:spPr/>
        <p:txBody>
          <a:bodyPr>
            <a:normAutofit/>
          </a:bodyPr>
          <a:lstStyle/>
          <a:p>
            <a:r>
              <a:rPr lang="it-IT" sz="5400" dirty="0" err="1">
                <a:solidFill>
                  <a:srgbClr val="822433"/>
                </a:solidFill>
              </a:rPr>
              <a:t>Lightweight</a:t>
            </a:r>
            <a:r>
              <a:rPr lang="it-IT" sz="5400" dirty="0">
                <a:solidFill>
                  <a:srgbClr val="822433"/>
                </a:solidFill>
              </a:rPr>
              <a:t> Scene </a:t>
            </a:r>
            <a:r>
              <a:rPr lang="it-IT" sz="5400" dirty="0" err="1">
                <a:solidFill>
                  <a:srgbClr val="822433"/>
                </a:solidFill>
              </a:rPr>
              <a:t>Understanding</a:t>
            </a:r>
            <a:endParaRPr lang="it-IT" sz="5400" dirty="0">
              <a:solidFill>
                <a:srgbClr val="822433"/>
              </a:solidFill>
            </a:endParaRPr>
          </a:p>
        </p:txBody>
      </p:sp>
      <p:sp>
        <p:nvSpPr>
          <p:cNvPr id="3" name="Segnaposto testo 2">
            <a:extLst>
              <a:ext uri="{FF2B5EF4-FFF2-40B4-BE49-F238E27FC236}">
                <a16:creationId xmlns:a16="http://schemas.microsoft.com/office/drawing/2014/main" id="{9FF8C077-08F7-ABFC-1C23-781287469965}"/>
              </a:ext>
            </a:extLst>
          </p:cNvPr>
          <p:cNvSpPr>
            <a:spLocks noGrp="1"/>
          </p:cNvSpPr>
          <p:nvPr>
            <p:ph type="body" idx="1"/>
          </p:nvPr>
        </p:nvSpPr>
        <p:spPr>
          <a:xfrm>
            <a:off x="844550" y="3322320"/>
            <a:ext cx="10515600" cy="466090"/>
          </a:xfrm>
        </p:spPr>
        <p:txBody>
          <a:bodyPr/>
          <a:lstStyle/>
          <a:p>
            <a:r>
              <a:rPr lang="it-IT" dirty="0" err="1"/>
              <a:t>Introduction</a:t>
            </a:r>
            <a:endParaRPr lang="it-IT" dirty="0"/>
          </a:p>
        </p:txBody>
      </p:sp>
      <p:sp>
        <p:nvSpPr>
          <p:cNvPr id="4" name="Google Shape;102;p14">
            <a:extLst>
              <a:ext uri="{FF2B5EF4-FFF2-40B4-BE49-F238E27FC236}">
                <a16:creationId xmlns:a16="http://schemas.microsoft.com/office/drawing/2014/main" id="{0DA9B12F-F05D-2B3C-CF9A-C423929A0C9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6</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652D18F-50DB-3CB9-74C4-FB954482CB2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1643E970-55F9-1B32-2F4A-03CB791398BC}"/>
              </a:ext>
            </a:extLst>
          </p:cNvPr>
          <p:cNvSpPr txBox="1">
            <a:spLocks/>
          </p:cNvSpPr>
          <p:nvPr/>
        </p:nvSpPr>
        <p:spPr>
          <a:xfrm>
            <a:off x="844550" y="4562475"/>
            <a:ext cx="10515600" cy="1544003"/>
          </a:xfrm>
          <a:prstGeom prst="rect">
            <a:avLst/>
          </a:prstGeom>
        </p:spPr>
        <p:txBody>
          <a:bodyPr vert="horz" lIns="91440" tIns="45720" rIns="91440" bIns="45720" rtlCol="0">
            <a:normAutofit lnSpcReduction="10000"/>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Dataset Generation</a:t>
            </a:r>
            <a:br>
              <a:rPr lang="en-US" dirty="0"/>
            </a:br>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2882784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CBDE15-2EC3-5B81-9131-12F4F356265E}"/>
            </a:ext>
          </a:extLst>
        </p:cNvPr>
        <p:cNvGrpSpPr/>
        <p:nvPr/>
      </p:nvGrpSpPr>
      <p:grpSpPr>
        <a:xfrm>
          <a:off x="0" y="0"/>
          <a:ext cx="0" cy="0"/>
          <a:chOff x="0" y="0"/>
          <a:chExt cx="0" cy="0"/>
        </a:xfrm>
      </p:grpSpPr>
      <p:sp>
        <p:nvSpPr>
          <p:cNvPr id="4" name="Google Shape;102;p14">
            <a:extLst>
              <a:ext uri="{FF2B5EF4-FFF2-40B4-BE49-F238E27FC236}">
                <a16:creationId xmlns:a16="http://schemas.microsoft.com/office/drawing/2014/main" id="{9A02A468-36B8-2AD1-4F16-532FACD2F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838F9F36-E922-47DD-82F5-1C0DEF15327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6" name="Titolo 1">
            <a:extLst>
              <a:ext uri="{FF2B5EF4-FFF2-40B4-BE49-F238E27FC236}">
                <a16:creationId xmlns:a16="http://schemas.microsoft.com/office/drawing/2014/main" id="{508A5B33-C04C-C1B1-345F-4459DA70F9D7}"/>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a:t>
            </a:r>
            <a:endParaRPr lang="en-US" noProof="0" dirty="0">
              <a:solidFill>
                <a:srgbClr val="822433"/>
              </a:solidFill>
            </a:endParaRPr>
          </a:p>
        </p:txBody>
      </p:sp>
      <p:sp>
        <p:nvSpPr>
          <p:cNvPr id="9" name="label-s5mars-rgb.png">
            <a:extLst>
              <a:ext uri="{FF2B5EF4-FFF2-40B4-BE49-F238E27FC236}">
                <a16:creationId xmlns:a16="http://schemas.microsoft.com/office/drawing/2014/main" id="{12BAE005-0076-88ED-9DF3-B48160278A3B}"/>
              </a:ext>
            </a:extLst>
          </p:cNvPr>
          <p:cNvSpPr>
            <a:spLocks noGrp="1"/>
          </p:cNvSpPr>
          <p:nvPr/>
        </p:nvSpPr>
        <p:spPr>
          <a:xfrm>
            <a:off x="1410272"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a:solidFill>
                  <a:srgbClr val="202124"/>
                </a:solidFill>
                <a:latin typeface="Roboto"/>
                <a:ea typeface="Roboto"/>
                <a:cs typeface="Roboto"/>
              </a:rPr>
              <a:t>RGB observation</a:t>
            </a:r>
          </a:p>
        </p:txBody>
      </p:sp>
      <p:pic>
        <p:nvPicPr>
          <p:cNvPr id="14" name="Immagine 13">
            <a:extLst>
              <a:ext uri="{FF2B5EF4-FFF2-40B4-BE49-F238E27FC236}">
                <a16:creationId xmlns:a16="http://schemas.microsoft.com/office/drawing/2014/main" id="{51C1090F-2023-3CE3-3D08-16BC58660DDA}"/>
              </a:ext>
            </a:extLst>
          </p:cNvPr>
          <p:cNvPicPr>
            <a:picLocks noChangeAspect="1"/>
          </p:cNvPicPr>
          <p:nvPr/>
        </p:nvPicPr>
        <p:blipFill>
          <a:blip r:embed="rId3"/>
          <a:stretch/>
        </p:blipFill>
        <p:spPr>
          <a:xfrm>
            <a:off x="1410272" y="2195793"/>
            <a:ext cx="3095625" cy="3095625"/>
          </a:xfrm>
          <a:prstGeom prst="rect">
            <a:avLst/>
          </a:prstGeom>
          <a:effectLst>
            <a:outerShdw blurRad="50800" dist="38100" dir="2700000" algn="tl" rotWithShape="0">
              <a:prstClr val="black">
                <a:alpha val="40000"/>
              </a:prstClr>
            </a:outerShdw>
          </a:effectLst>
        </p:spPr>
      </p:pic>
      <p:sp>
        <p:nvSpPr>
          <p:cNvPr id="18" name="label-s5mars-ground-truth.png">
            <a:extLst>
              <a:ext uri="{FF2B5EF4-FFF2-40B4-BE49-F238E27FC236}">
                <a16:creationId xmlns:a16="http://schemas.microsoft.com/office/drawing/2014/main" id="{D046D544-3F35-663A-DCC2-31BC5E9B921D}"/>
              </a:ext>
            </a:extLst>
          </p:cNvPr>
          <p:cNvSpPr>
            <a:spLocks noGrp="1"/>
          </p:cNvSpPr>
          <p:nvPr/>
        </p:nvSpPr>
        <p:spPr>
          <a:xfrm>
            <a:off x="6513195" y="1624293"/>
            <a:ext cx="3095625" cy="381000"/>
          </a:xfrm>
          <a:prstGeom prst="rect">
            <a:avLst/>
          </a:prstGeom>
          <a:noFill/>
          <a:ln w="0">
            <a:noFill/>
          </a:ln>
        </p:spPr>
        <p:txBody>
          <a:bodyPr wrap="square" lIns="0" tIns="0" rIns="0" bIns="0" anchor="t">
            <a:noAutofit/>
          </a:bodyPr>
          <a:lstStyle>
            <a:defPPr algn="ctr">
              <a:defRPr lang="en-US" sz="2100" b="1">
                <a:solidFill>
                  <a:srgbClr val="202124"/>
                </a:solidFill>
                <a:latin typeface="Roboto"/>
                <a:ea typeface="Roboto"/>
                <a:cs typeface="Roboto"/>
              </a:defRPr>
            </a:defPPr>
            <a:lvl1pPr algn="ctr">
              <a:defRPr lang="en-US" sz="2100" b="1">
                <a:solidFill>
                  <a:srgbClr val="202124"/>
                </a:solidFill>
                <a:latin typeface="Roboto"/>
                <a:ea typeface="Roboto"/>
                <a:cs typeface="Roboto"/>
              </a:defRPr>
            </a:lvl1pPr>
            <a:lvl2pPr algn="ctr">
              <a:defRPr lang="en-US" sz="2100" b="1">
                <a:solidFill>
                  <a:srgbClr val="202124"/>
                </a:solidFill>
                <a:latin typeface="Roboto"/>
                <a:ea typeface="Roboto"/>
                <a:cs typeface="Roboto"/>
              </a:defRPr>
            </a:lvl2pPr>
            <a:lvl3pPr algn="ctr">
              <a:defRPr lang="en-US" sz="2100" b="1">
                <a:solidFill>
                  <a:srgbClr val="202124"/>
                </a:solidFill>
                <a:latin typeface="Roboto"/>
                <a:ea typeface="Roboto"/>
                <a:cs typeface="Roboto"/>
              </a:defRPr>
            </a:lvl3pPr>
            <a:lvl4pPr algn="ctr">
              <a:defRPr lang="en-US" sz="2100" b="1">
                <a:solidFill>
                  <a:srgbClr val="202124"/>
                </a:solidFill>
                <a:latin typeface="Roboto"/>
                <a:ea typeface="Roboto"/>
                <a:cs typeface="Roboto"/>
              </a:defRPr>
            </a:lvl4pPr>
            <a:lvl5pPr algn="ctr">
              <a:defRPr lang="en-US" sz="2100" b="1">
                <a:solidFill>
                  <a:srgbClr val="202124"/>
                </a:solidFill>
                <a:latin typeface="Roboto"/>
                <a:ea typeface="Roboto"/>
                <a:cs typeface="Roboto"/>
              </a:defRPr>
            </a:lvl5pPr>
            <a:lvl6pPr algn="ctr">
              <a:defRPr lang="en-US" sz="2100" b="1">
                <a:solidFill>
                  <a:srgbClr val="202124"/>
                </a:solidFill>
                <a:latin typeface="Roboto"/>
                <a:ea typeface="Roboto"/>
                <a:cs typeface="Roboto"/>
              </a:defRPr>
            </a:lvl6pPr>
            <a:lvl7pPr algn="ctr">
              <a:defRPr lang="en-US" sz="2100" b="1">
                <a:solidFill>
                  <a:srgbClr val="202124"/>
                </a:solidFill>
                <a:latin typeface="Roboto"/>
                <a:ea typeface="Roboto"/>
                <a:cs typeface="Roboto"/>
              </a:defRPr>
            </a:lvl7pPr>
            <a:lvl8pPr algn="ctr">
              <a:defRPr lang="en-US" sz="2100" b="1">
                <a:solidFill>
                  <a:srgbClr val="202124"/>
                </a:solidFill>
                <a:latin typeface="Roboto"/>
                <a:ea typeface="Roboto"/>
                <a:cs typeface="Roboto"/>
              </a:defRPr>
            </a:lvl8pPr>
            <a:lvl9pPr algn="ctr">
              <a:defRPr lang="en-US" sz="2100" b="1">
                <a:solidFill>
                  <a:srgbClr val="202124"/>
                </a:solidFill>
                <a:latin typeface="Roboto"/>
                <a:ea typeface="Roboto"/>
                <a:cs typeface="Roboto"/>
              </a:defRPr>
            </a:lvl9pPr>
          </a:lstStyle>
          <a:p>
            <a:pPr algn="ctr">
              <a:defRPr lang="en-US" sz="2100" b="1">
                <a:solidFill>
                  <a:srgbClr val="202124"/>
                </a:solidFill>
                <a:latin typeface="Roboto"/>
                <a:ea typeface="Roboto"/>
                <a:cs typeface="Roboto"/>
              </a:defRPr>
            </a:pPr>
            <a:r>
              <a:rPr lang="en-US" sz="2100" b="1" dirty="0">
                <a:solidFill>
                  <a:srgbClr val="202124"/>
                </a:solidFill>
                <a:latin typeface="Roboto"/>
                <a:ea typeface="Roboto"/>
                <a:cs typeface="Roboto"/>
              </a:rPr>
              <a:t>Ground truth</a:t>
            </a:r>
          </a:p>
        </p:txBody>
      </p:sp>
      <p:pic>
        <p:nvPicPr>
          <p:cNvPr id="20" name="Immagine 19">
            <a:extLst>
              <a:ext uri="{FF2B5EF4-FFF2-40B4-BE49-F238E27FC236}">
                <a16:creationId xmlns:a16="http://schemas.microsoft.com/office/drawing/2014/main" id="{FB42439D-B7EC-B646-B7CA-66FE67A787FB}"/>
              </a:ext>
            </a:extLst>
          </p:cNvPr>
          <p:cNvPicPr>
            <a:picLocks noChangeAspect="1"/>
          </p:cNvPicPr>
          <p:nvPr/>
        </p:nvPicPr>
        <p:blipFill>
          <a:blip r:embed="rId4"/>
          <a:stretch/>
        </p:blipFill>
        <p:spPr>
          <a:xfrm>
            <a:off x="6513195" y="2195793"/>
            <a:ext cx="3095625" cy="3095625"/>
          </a:xfrm>
          <a:prstGeom prst="rect">
            <a:avLst/>
          </a:prstGeom>
          <a:effectLst>
            <a:outerShdw blurRad="50800" dist="38100" dir="2700000" algn="tl" rotWithShape="0">
              <a:prstClr val="black">
                <a:alpha val="40000"/>
              </a:prstClr>
            </a:outerShdw>
          </a:effectLst>
        </p:spPr>
      </p:pic>
      <p:sp>
        <p:nvSpPr>
          <p:cNvPr id="22" name="bedrock-label">
            <a:extLst>
              <a:ext uri="{FF2B5EF4-FFF2-40B4-BE49-F238E27FC236}">
                <a16:creationId xmlns:a16="http://schemas.microsoft.com/office/drawing/2014/main" id="{060BA734-702C-9AB5-4E6D-626385854CDB}"/>
              </a:ext>
            </a:extLst>
          </p:cNvPr>
          <p:cNvSpPr>
            <a:spLocks noGrp="1"/>
          </p:cNvSpPr>
          <p:nvPr/>
        </p:nvSpPr>
        <p:spPr>
          <a:xfrm>
            <a:off x="9982200" y="3270214"/>
            <a:ext cx="1905000" cy="333375"/>
          </a:xfrm>
          <a:prstGeom prst="rect">
            <a:avLst/>
          </a:prstGeom>
          <a:noFill/>
          <a:ln w="0">
            <a:noFill/>
          </a:ln>
        </p:spPr>
        <p:txBody>
          <a:bodyPr wrap="square" lIns="0" tIns="0" rIns="0" bIns="0" anchor="t">
            <a:noAutofit/>
          </a:bodyPr>
          <a:lstStyle>
            <a:defPPr algn="ctr">
              <a:defRPr lang="en-US" sz="1875" b="1">
                <a:solidFill>
                  <a:srgbClr val="A67A1B"/>
                </a:solidFill>
                <a:latin typeface="Roboto"/>
                <a:ea typeface="Roboto"/>
                <a:cs typeface="Roboto"/>
              </a:defRPr>
            </a:defPPr>
            <a:lvl1pPr algn="ctr">
              <a:defRPr lang="en-US" sz="1875" b="1">
                <a:solidFill>
                  <a:srgbClr val="A67A1B"/>
                </a:solidFill>
                <a:latin typeface="Roboto"/>
                <a:ea typeface="Roboto"/>
                <a:cs typeface="Roboto"/>
              </a:defRPr>
            </a:lvl1pPr>
            <a:lvl2pPr algn="ctr">
              <a:defRPr lang="en-US" sz="1875" b="1">
                <a:solidFill>
                  <a:srgbClr val="A67A1B"/>
                </a:solidFill>
                <a:latin typeface="Roboto"/>
                <a:ea typeface="Roboto"/>
                <a:cs typeface="Roboto"/>
              </a:defRPr>
            </a:lvl2pPr>
            <a:lvl3pPr algn="ctr">
              <a:defRPr lang="en-US" sz="1875" b="1">
                <a:solidFill>
                  <a:srgbClr val="A67A1B"/>
                </a:solidFill>
                <a:latin typeface="Roboto"/>
                <a:ea typeface="Roboto"/>
                <a:cs typeface="Roboto"/>
              </a:defRPr>
            </a:lvl3pPr>
            <a:lvl4pPr algn="ctr">
              <a:defRPr lang="en-US" sz="1875" b="1">
                <a:solidFill>
                  <a:srgbClr val="A67A1B"/>
                </a:solidFill>
                <a:latin typeface="Roboto"/>
                <a:ea typeface="Roboto"/>
                <a:cs typeface="Roboto"/>
              </a:defRPr>
            </a:lvl4pPr>
            <a:lvl5pPr algn="ctr">
              <a:defRPr lang="en-US" sz="1875" b="1">
                <a:solidFill>
                  <a:srgbClr val="A67A1B"/>
                </a:solidFill>
                <a:latin typeface="Roboto"/>
                <a:ea typeface="Roboto"/>
                <a:cs typeface="Roboto"/>
              </a:defRPr>
            </a:lvl5pPr>
            <a:lvl6pPr algn="ctr">
              <a:defRPr lang="en-US" sz="1875" b="1">
                <a:solidFill>
                  <a:srgbClr val="A67A1B"/>
                </a:solidFill>
                <a:latin typeface="Roboto"/>
                <a:ea typeface="Roboto"/>
                <a:cs typeface="Roboto"/>
              </a:defRPr>
            </a:lvl6pPr>
            <a:lvl7pPr algn="ctr">
              <a:defRPr lang="en-US" sz="1875" b="1">
                <a:solidFill>
                  <a:srgbClr val="A67A1B"/>
                </a:solidFill>
                <a:latin typeface="Roboto"/>
                <a:ea typeface="Roboto"/>
                <a:cs typeface="Roboto"/>
              </a:defRPr>
            </a:lvl7pPr>
            <a:lvl8pPr algn="ctr">
              <a:defRPr lang="en-US" sz="1875" b="1">
                <a:solidFill>
                  <a:srgbClr val="A67A1B"/>
                </a:solidFill>
                <a:latin typeface="Roboto"/>
                <a:ea typeface="Roboto"/>
                <a:cs typeface="Roboto"/>
              </a:defRPr>
            </a:lvl8pPr>
            <a:lvl9pPr algn="ctr">
              <a:defRPr lang="en-US" sz="1875" b="1">
                <a:solidFill>
                  <a:srgbClr val="A67A1B"/>
                </a:solidFill>
                <a:latin typeface="Roboto"/>
                <a:ea typeface="Roboto"/>
                <a:cs typeface="Roboto"/>
              </a:defRPr>
            </a:lvl9pPr>
          </a:lstStyle>
          <a:p>
            <a:pPr algn="l">
              <a:defRPr lang="en-US" sz="1875" b="1">
                <a:solidFill>
                  <a:srgbClr val="A67A1B"/>
                </a:solidFill>
                <a:latin typeface="Roboto"/>
                <a:ea typeface="Roboto"/>
                <a:cs typeface="Roboto"/>
              </a:defRPr>
            </a:pPr>
            <a:r>
              <a:rPr lang="en-US" sz="1875" b="1" dirty="0">
                <a:solidFill>
                  <a:srgbClr val="A67A1B"/>
                </a:solidFill>
                <a:latin typeface="Roboto"/>
                <a:ea typeface="Roboto"/>
                <a:cs typeface="Roboto"/>
              </a:rPr>
              <a:t>Bedrock</a:t>
            </a:r>
          </a:p>
        </p:txBody>
      </p:sp>
      <p:sp>
        <p:nvSpPr>
          <p:cNvPr id="24" name="sand-label">
            <a:extLst>
              <a:ext uri="{FF2B5EF4-FFF2-40B4-BE49-F238E27FC236}">
                <a16:creationId xmlns:a16="http://schemas.microsoft.com/office/drawing/2014/main" id="{9070F048-44B2-EAFA-32AE-2015D750BBC4}"/>
              </a:ext>
            </a:extLst>
          </p:cNvPr>
          <p:cNvSpPr>
            <a:spLocks noGrp="1"/>
          </p:cNvSpPr>
          <p:nvPr/>
        </p:nvSpPr>
        <p:spPr>
          <a:xfrm>
            <a:off x="9982200" y="3603689"/>
            <a:ext cx="1905000" cy="333375"/>
          </a:xfrm>
          <a:prstGeom prst="rect">
            <a:avLst/>
          </a:prstGeom>
          <a:noFill/>
          <a:ln w="0">
            <a:noFill/>
          </a:ln>
        </p:spPr>
        <p:txBody>
          <a:bodyPr wrap="square" lIns="0" tIns="0" rIns="0" bIns="0" anchor="t">
            <a:noAutofit/>
          </a:bodyPr>
          <a:lstStyle>
            <a:defPPr algn="ctr">
              <a:defRPr lang="en-US" sz="1875" b="1">
                <a:solidFill>
                  <a:srgbClr val="279D96"/>
                </a:solidFill>
                <a:latin typeface="Roboto"/>
                <a:ea typeface="Roboto"/>
                <a:cs typeface="Roboto"/>
              </a:defRPr>
            </a:defPPr>
            <a:lvl1pPr algn="ctr">
              <a:defRPr lang="en-US" sz="1875" b="1">
                <a:solidFill>
                  <a:srgbClr val="279D96"/>
                </a:solidFill>
                <a:latin typeface="Roboto"/>
                <a:ea typeface="Roboto"/>
                <a:cs typeface="Roboto"/>
              </a:defRPr>
            </a:lvl1pPr>
            <a:lvl2pPr algn="ctr">
              <a:defRPr lang="en-US" sz="1875" b="1">
                <a:solidFill>
                  <a:srgbClr val="279D96"/>
                </a:solidFill>
                <a:latin typeface="Roboto"/>
                <a:ea typeface="Roboto"/>
                <a:cs typeface="Roboto"/>
              </a:defRPr>
            </a:lvl2pPr>
            <a:lvl3pPr algn="ctr">
              <a:defRPr lang="en-US" sz="1875" b="1">
                <a:solidFill>
                  <a:srgbClr val="279D96"/>
                </a:solidFill>
                <a:latin typeface="Roboto"/>
                <a:ea typeface="Roboto"/>
                <a:cs typeface="Roboto"/>
              </a:defRPr>
            </a:lvl3pPr>
            <a:lvl4pPr algn="ctr">
              <a:defRPr lang="en-US" sz="1875" b="1">
                <a:solidFill>
                  <a:srgbClr val="279D96"/>
                </a:solidFill>
                <a:latin typeface="Roboto"/>
                <a:ea typeface="Roboto"/>
                <a:cs typeface="Roboto"/>
              </a:defRPr>
            </a:lvl4pPr>
            <a:lvl5pPr algn="ctr">
              <a:defRPr lang="en-US" sz="1875" b="1">
                <a:solidFill>
                  <a:srgbClr val="279D96"/>
                </a:solidFill>
                <a:latin typeface="Roboto"/>
                <a:ea typeface="Roboto"/>
                <a:cs typeface="Roboto"/>
              </a:defRPr>
            </a:lvl5pPr>
            <a:lvl6pPr algn="ctr">
              <a:defRPr lang="en-US" sz="1875" b="1">
                <a:solidFill>
                  <a:srgbClr val="279D96"/>
                </a:solidFill>
                <a:latin typeface="Roboto"/>
                <a:ea typeface="Roboto"/>
                <a:cs typeface="Roboto"/>
              </a:defRPr>
            </a:lvl6pPr>
            <a:lvl7pPr algn="ctr">
              <a:defRPr lang="en-US" sz="1875" b="1">
                <a:solidFill>
                  <a:srgbClr val="279D96"/>
                </a:solidFill>
                <a:latin typeface="Roboto"/>
                <a:ea typeface="Roboto"/>
                <a:cs typeface="Roboto"/>
              </a:defRPr>
            </a:lvl7pPr>
            <a:lvl8pPr algn="ctr">
              <a:defRPr lang="en-US" sz="1875" b="1">
                <a:solidFill>
                  <a:srgbClr val="279D96"/>
                </a:solidFill>
                <a:latin typeface="Roboto"/>
                <a:ea typeface="Roboto"/>
                <a:cs typeface="Roboto"/>
              </a:defRPr>
            </a:lvl8pPr>
            <a:lvl9pPr algn="ctr">
              <a:defRPr lang="en-US" sz="1875" b="1">
                <a:solidFill>
                  <a:srgbClr val="279D96"/>
                </a:solidFill>
                <a:latin typeface="Roboto"/>
                <a:ea typeface="Roboto"/>
                <a:cs typeface="Roboto"/>
              </a:defRPr>
            </a:lvl9pPr>
          </a:lstStyle>
          <a:p>
            <a:pPr algn="l">
              <a:defRPr lang="en-US" sz="1875" b="1">
                <a:solidFill>
                  <a:srgbClr val="279D96"/>
                </a:solidFill>
                <a:latin typeface="Roboto"/>
                <a:ea typeface="Roboto"/>
                <a:cs typeface="Roboto"/>
              </a:defRPr>
            </a:pPr>
            <a:r>
              <a:rPr lang="en-US" sz="1875" b="1" dirty="0">
                <a:solidFill>
                  <a:srgbClr val="279D96"/>
                </a:solidFill>
                <a:latin typeface="Roboto"/>
                <a:ea typeface="Roboto"/>
                <a:cs typeface="Roboto"/>
              </a:rPr>
              <a:t>Sand / Soil</a:t>
            </a:r>
          </a:p>
        </p:txBody>
      </p:sp>
      <p:sp>
        <p:nvSpPr>
          <p:cNvPr id="26" name="rock-label">
            <a:extLst>
              <a:ext uri="{FF2B5EF4-FFF2-40B4-BE49-F238E27FC236}">
                <a16:creationId xmlns:a16="http://schemas.microsoft.com/office/drawing/2014/main" id="{364FCDEC-42F1-DC3B-41A2-EC3294B6F42B}"/>
              </a:ext>
            </a:extLst>
          </p:cNvPr>
          <p:cNvSpPr>
            <a:spLocks noGrp="1"/>
          </p:cNvSpPr>
          <p:nvPr/>
        </p:nvSpPr>
        <p:spPr>
          <a:xfrm>
            <a:off x="9982200" y="3937064"/>
            <a:ext cx="1905000" cy="333375"/>
          </a:xfrm>
          <a:prstGeom prst="rect">
            <a:avLst/>
          </a:prstGeom>
          <a:noFill/>
          <a:ln w="0">
            <a:noFill/>
          </a:ln>
        </p:spPr>
        <p:txBody>
          <a:bodyPr wrap="square" lIns="0" tIns="0" rIns="0" bIns="0" anchor="t">
            <a:noAutofit/>
          </a:bodyPr>
          <a:lstStyle>
            <a:defPPr algn="ctr">
              <a:defRPr lang="en-US" sz="1875" b="1">
                <a:solidFill>
                  <a:srgbClr val="E8324A"/>
                </a:solidFill>
                <a:latin typeface="Roboto"/>
                <a:ea typeface="Roboto"/>
                <a:cs typeface="Roboto"/>
              </a:defRPr>
            </a:defPPr>
            <a:lvl1pPr algn="ctr">
              <a:defRPr lang="en-US" sz="1875" b="1">
                <a:solidFill>
                  <a:srgbClr val="E8324A"/>
                </a:solidFill>
                <a:latin typeface="Roboto"/>
                <a:ea typeface="Roboto"/>
                <a:cs typeface="Roboto"/>
              </a:defRPr>
            </a:lvl1pPr>
            <a:lvl2pPr algn="ctr">
              <a:defRPr lang="en-US" sz="1875" b="1">
                <a:solidFill>
                  <a:srgbClr val="E8324A"/>
                </a:solidFill>
                <a:latin typeface="Roboto"/>
                <a:ea typeface="Roboto"/>
                <a:cs typeface="Roboto"/>
              </a:defRPr>
            </a:lvl2pPr>
            <a:lvl3pPr algn="ctr">
              <a:defRPr lang="en-US" sz="1875" b="1">
                <a:solidFill>
                  <a:srgbClr val="E8324A"/>
                </a:solidFill>
                <a:latin typeface="Roboto"/>
                <a:ea typeface="Roboto"/>
                <a:cs typeface="Roboto"/>
              </a:defRPr>
            </a:lvl3pPr>
            <a:lvl4pPr algn="ctr">
              <a:defRPr lang="en-US" sz="1875" b="1">
                <a:solidFill>
                  <a:srgbClr val="E8324A"/>
                </a:solidFill>
                <a:latin typeface="Roboto"/>
                <a:ea typeface="Roboto"/>
                <a:cs typeface="Roboto"/>
              </a:defRPr>
            </a:lvl4pPr>
            <a:lvl5pPr algn="ctr">
              <a:defRPr lang="en-US" sz="1875" b="1">
                <a:solidFill>
                  <a:srgbClr val="E8324A"/>
                </a:solidFill>
                <a:latin typeface="Roboto"/>
                <a:ea typeface="Roboto"/>
                <a:cs typeface="Roboto"/>
              </a:defRPr>
            </a:lvl5pPr>
            <a:lvl6pPr algn="ctr">
              <a:defRPr lang="en-US" sz="1875" b="1">
                <a:solidFill>
                  <a:srgbClr val="E8324A"/>
                </a:solidFill>
                <a:latin typeface="Roboto"/>
                <a:ea typeface="Roboto"/>
                <a:cs typeface="Roboto"/>
              </a:defRPr>
            </a:lvl6pPr>
            <a:lvl7pPr algn="ctr">
              <a:defRPr lang="en-US" sz="1875" b="1">
                <a:solidFill>
                  <a:srgbClr val="E8324A"/>
                </a:solidFill>
                <a:latin typeface="Roboto"/>
                <a:ea typeface="Roboto"/>
                <a:cs typeface="Roboto"/>
              </a:defRPr>
            </a:lvl7pPr>
            <a:lvl8pPr algn="ctr">
              <a:defRPr lang="en-US" sz="1875" b="1">
                <a:solidFill>
                  <a:srgbClr val="E8324A"/>
                </a:solidFill>
                <a:latin typeface="Roboto"/>
                <a:ea typeface="Roboto"/>
                <a:cs typeface="Roboto"/>
              </a:defRPr>
            </a:lvl8pPr>
            <a:lvl9pPr algn="ctr">
              <a:defRPr lang="en-US" sz="1875" b="1">
                <a:solidFill>
                  <a:srgbClr val="E8324A"/>
                </a:solidFill>
                <a:latin typeface="Roboto"/>
                <a:ea typeface="Roboto"/>
                <a:cs typeface="Roboto"/>
              </a:defRPr>
            </a:lvl9pPr>
          </a:lstStyle>
          <a:p>
            <a:pPr algn="l">
              <a:defRPr lang="en-US" sz="1875" b="1">
                <a:solidFill>
                  <a:srgbClr val="E8324A"/>
                </a:solidFill>
                <a:latin typeface="Roboto"/>
                <a:ea typeface="Roboto"/>
                <a:cs typeface="Roboto"/>
              </a:defRPr>
            </a:pPr>
            <a:r>
              <a:rPr lang="en-US" sz="1875" b="1" dirty="0">
                <a:solidFill>
                  <a:srgbClr val="E8324A"/>
                </a:solidFill>
                <a:latin typeface="Roboto"/>
                <a:ea typeface="Roboto"/>
                <a:cs typeface="Roboto"/>
              </a:rPr>
              <a:t>Rock</a:t>
            </a:r>
          </a:p>
        </p:txBody>
      </p:sp>
      <p:sp>
        <p:nvSpPr>
          <p:cNvPr id="27" name="Freccia destra con strisce 26">
            <a:extLst>
              <a:ext uri="{FF2B5EF4-FFF2-40B4-BE49-F238E27FC236}">
                <a16:creationId xmlns:a16="http://schemas.microsoft.com/office/drawing/2014/main" id="{4BCDD231-02F5-4425-1986-20535CFEC86F}"/>
              </a:ext>
            </a:extLst>
          </p:cNvPr>
          <p:cNvSpPr/>
          <p:nvPr/>
        </p:nvSpPr>
        <p:spPr>
          <a:xfrm>
            <a:off x="4816412" y="3529198"/>
            <a:ext cx="1417320" cy="271844"/>
          </a:xfrm>
          <a:prstGeom prst="stripedRightArrow">
            <a:avLst/>
          </a:prstGeom>
          <a:solidFill>
            <a:srgbClr val="C00000"/>
          </a:solidFill>
          <a:ln>
            <a:solidFill>
              <a:srgbClr val="82243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Tree>
    <p:extLst>
      <p:ext uri="{BB962C8B-B14F-4D97-AF65-F5344CB8AC3E}">
        <p14:creationId xmlns:p14="http://schemas.microsoft.com/office/powerpoint/2010/main" val="288875302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871A55-B809-6799-6B7A-E3681589530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139C048-34BF-7B5A-6163-91841FF0DC88}"/>
              </a:ext>
            </a:extLst>
          </p:cNvPr>
          <p:cNvSpPr>
            <a:spLocks noGrp="1"/>
          </p:cNvSpPr>
          <p:nvPr>
            <p:ph type="title"/>
          </p:nvPr>
        </p:nvSpPr>
        <p:spPr>
          <a:xfrm>
            <a:off x="838200" y="365125"/>
            <a:ext cx="8384177" cy="835787"/>
          </a:xfrm>
        </p:spPr>
        <p:txBody>
          <a:bodyPr/>
          <a:lstStyle/>
          <a:p>
            <a:r>
              <a:rPr lang="en-US" noProof="0" dirty="0">
                <a:solidFill>
                  <a:srgbClr val="822433"/>
                </a:solidFill>
              </a:rPr>
              <a:t>Datasets</a:t>
            </a:r>
          </a:p>
        </p:txBody>
      </p:sp>
      <p:sp>
        <p:nvSpPr>
          <p:cNvPr id="4" name="Google Shape;102;p14">
            <a:extLst>
              <a:ext uri="{FF2B5EF4-FFF2-40B4-BE49-F238E27FC236}">
                <a16:creationId xmlns:a16="http://schemas.microsoft.com/office/drawing/2014/main" id="{D152C583-A5BE-E053-2769-61991AF408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7866418-312D-42E0-1E6B-9EDDEA88963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74D087B9-A578-27C1-1F1E-846EE9572A21}"/>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[4] [5]</a:t>
            </a:r>
          </a:p>
        </p:txBody>
      </p:sp>
      <p:sp>
        <p:nvSpPr>
          <p:cNvPr id="10" name="codex-datasets-s5-heading">
            <a:extLst>
              <a:ext uri="{FF2B5EF4-FFF2-40B4-BE49-F238E27FC236}">
                <a16:creationId xmlns:a16="http://schemas.microsoft.com/office/drawing/2014/main" id="{BFB28B05-D79A-181D-CD65-AEA1AD1847EF}"/>
              </a:ext>
            </a:extLst>
          </p:cNvPr>
          <p:cNvSpPr>
            <a:spLocks noGrp="1"/>
          </p:cNvSpPr>
          <p:nvPr/>
        </p:nvSpPr>
        <p:spPr>
          <a:xfrm>
            <a:off x="924791" y="2364719"/>
            <a:ext cx="4905375"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defRPr sz="2600" b="1">
                <a:solidFill>
                  <a:srgbClr val="822433"/>
                </a:solidFill>
                <a:latin typeface="Roboto"/>
                <a:ea typeface="Roboto"/>
                <a:cs typeface="Roboto"/>
              </a:defRPr>
            </a:pPr>
            <a:r>
              <a:rPr sz="2600" b="1" dirty="0">
                <a:solidFill>
                  <a:srgbClr val="822433"/>
                </a:solidFill>
                <a:latin typeface="Roboto"/>
                <a:ea typeface="Roboto"/>
                <a:cs typeface="Roboto"/>
              </a:rPr>
              <a:t>S</a:t>
            </a:r>
            <a:r>
              <a:rPr lang="en-US" baseline="30000" dirty="0"/>
              <a:t>5</a:t>
            </a:r>
            <a:r>
              <a:rPr sz="2600" b="1" dirty="0">
                <a:solidFill>
                  <a:srgbClr val="822433"/>
                </a:solidFill>
                <a:latin typeface="Roboto"/>
                <a:ea typeface="Roboto"/>
                <a:cs typeface="Roboto"/>
              </a:rPr>
              <a:t>Mars</a:t>
            </a:r>
          </a:p>
        </p:txBody>
      </p:sp>
      <p:sp>
        <p:nvSpPr>
          <p:cNvPr id="12" name="codex-datasets-s5-description">
            <a:extLst>
              <a:ext uri="{FF2B5EF4-FFF2-40B4-BE49-F238E27FC236}">
                <a16:creationId xmlns:a16="http://schemas.microsoft.com/office/drawing/2014/main" id="{4483A951-DE38-64A9-DFED-2EA94E5D4302}"/>
              </a:ext>
            </a:extLst>
          </p:cNvPr>
          <p:cNvSpPr>
            <a:spLocks noGrp="1"/>
          </p:cNvSpPr>
          <p:nvPr/>
        </p:nvSpPr>
        <p:spPr>
          <a:xfrm>
            <a:off x="924791" y="2793344"/>
            <a:ext cx="4905375" cy="11525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Main segmentation dataset</a:t>
            </a:r>
            <a:endParaRPr lang="it-IT" dirty="0"/>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Curiosity </a:t>
            </a:r>
            <a:r>
              <a:rPr sz="2000" b="0" dirty="0" err="1">
                <a:solidFill>
                  <a:srgbClr val="202024"/>
                </a:solidFill>
                <a:latin typeface="Roboto"/>
                <a:ea typeface="Roboto"/>
                <a:cs typeface="Roboto"/>
              </a:rPr>
              <a:t>Mastcam</a:t>
            </a:r>
            <a:r>
              <a:rPr sz="2000" b="0" dirty="0">
                <a:solidFill>
                  <a:srgbClr val="202024"/>
                </a:solidFill>
                <a:latin typeface="Roboto"/>
                <a:ea typeface="Roboto"/>
                <a:cs typeface="Roboto"/>
              </a:rPr>
              <a:t> images</a:t>
            </a: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9 classes,</a:t>
            </a:r>
            <a:endParaRPr lang="it-IT" dirty="0"/>
          </a:p>
          <a:p>
            <a:pPr algn="l">
              <a:defRPr sz="2000" b="0">
                <a:solidFill>
                  <a:srgbClr val="202024"/>
                </a:solidFill>
                <a:latin typeface="Roboto"/>
                <a:ea typeface="Roboto"/>
                <a:cs typeface="Roboto"/>
              </a:defRPr>
            </a:pPr>
            <a:r>
              <a:rPr sz="2000" b="0" dirty="0">
                <a:solidFill>
                  <a:srgbClr val="202024"/>
                </a:solidFill>
                <a:latin typeface="Roboto"/>
                <a:ea typeface="Roboto"/>
                <a:cs typeface="Roboto"/>
              </a:rPr>
              <a:t>including Rover</a:t>
            </a:r>
          </a:p>
        </p:txBody>
      </p:sp>
      <p:sp>
        <p:nvSpPr>
          <p:cNvPr id="13" name="codex-datasets-marsseg-heading">
            <a:extLst>
              <a:ext uri="{FF2B5EF4-FFF2-40B4-BE49-F238E27FC236}">
                <a16:creationId xmlns:a16="http://schemas.microsoft.com/office/drawing/2014/main" id="{6793C23A-39A0-1658-2B4C-4FAFABD6974C}"/>
              </a:ext>
            </a:extLst>
          </p:cNvPr>
          <p:cNvSpPr>
            <a:spLocks noGrp="1"/>
          </p:cNvSpPr>
          <p:nvPr/>
        </p:nvSpPr>
        <p:spPr>
          <a:xfrm>
            <a:off x="6163541" y="2364719"/>
            <a:ext cx="48577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algn="l">
              <a:defRPr sz="2600" b="1">
                <a:solidFill>
                  <a:srgbClr val="822433"/>
                </a:solidFill>
                <a:latin typeface="Roboto"/>
                <a:ea typeface="Roboto"/>
                <a:cs typeface="Roboto"/>
              </a:defRPr>
            </a:pPr>
            <a:r>
              <a:rPr sz="2600" b="1" dirty="0">
                <a:solidFill>
                  <a:srgbClr val="822433"/>
                </a:solidFill>
                <a:latin typeface="Roboto"/>
                <a:ea typeface="Roboto"/>
                <a:cs typeface="Roboto"/>
              </a:rPr>
              <a:t>MarsSeg MER / MSL</a:t>
            </a:r>
          </a:p>
        </p:txBody>
      </p:sp>
      <p:sp>
        <p:nvSpPr>
          <p:cNvPr id="16" name="codex-datasets-marsseg-description">
            <a:extLst>
              <a:ext uri="{FF2B5EF4-FFF2-40B4-BE49-F238E27FC236}">
                <a16:creationId xmlns:a16="http://schemas.microsoft.com/office/drawing/2014/main" id="{04A5DD20-67DC-0FC3-2889-12A1CC5E6CDC}"/>
              </a:ext>
            </a:extLst>
          </p:cNvPr>
          <p:cNvSpPr>
            <a:spLocks noGrp="1"/>
          </p:cNvSpPr>
          <p:nvPr/>
        </p:nvSpPr>
        <p:spPr>
          <a:xfrm>
            <a:off x="6163541" y="2793344"/>
            <a:ext cx="4857750" cy="885825"/>
          </a:xfrm>
          <a:prstGeom prst="rect">
            <a:avLst/>
          </a:prstGeom>
          <a:noFill/>
          <a:ln w="0">
            <a:noFill/>
          </a:ln>
        </p:spPr>
        <p:txBody>
          <a:bodyPr wrap="square" lIns="0" tIns="0" rIns="0" bIns="0" anchor="t">
            <a:noAutofit/>
          </a:bodyPr>
          <a:lstStyle>
            <a:defPPr algn="l">
              <a:defRPr sz="2000" b="0">
                <a:solidFill>
                  <a:srgbClr val="202024"/>
                </a:solidFill>
                <a:latin typeface="Roboto"/>
                <a:ea typeface="Roboto"/>
                <a:cs typeface="Roboto"/>
              </a:defRPr>
            </a:defPPr>
            <a:lvl1pPr algn="l">
              <a:defRPr sz="2000" b="0">
                <a:solidFill>
                  <a:srgbClr val="202024"/>
                </a:solidFill>
                <a:latin typeface="Roboto"/>
                <a:ea typeface="Roboto"/>
                <a:cs typeface="Roboto"/>
              </a:defRPr>
            </a:lvl1pPr>
            <a:lvl2pPr algn="l">
              <a:defRPr sz="2000" b="0">
                <a:solidFill>
                  <a:srgbClr val="202024"/>
                </a:solidFill>
                <a:latin typeface="Roboto"/>
                <a:ea typeface="Roboto"/>
                <a:cs typeface="Roboto"/>
              </a:defRPr>
            </a:lvl2pPr>
            <a:lvl3pPr algn="l">
              <a:defRPr sz="2000" b="0">
                <a:solidFill>
                  <a:srgbClr val="202024"/>
                </a:solidFill>
                <a:latin typeface="Roboto"/>
                <a:ea typeface="Roboto"/>
                <a:cs typeface="Roboto"/>
              </a:defRPr>
            </a:lvl3pPr>
            <a:lvl4pPr algn="l">
              <a:defRPr sz="2000" b="0">
                <a:solidFill>
                  <a:srgbClr val="202024"/>
                </a:solidFill>
                <a:latin typeface="Roboto"/>
                <a:ea typeface="Roboto"/>
                <a:cs typeface="Roboto"/>
              </a:defRPr>
            </a:lvl4pPr>
            <a:lvl5pPr algn="l">
              <a:defRPr sz="2000" b="0">
                <a:solidFill>
                  <a:srgbClr val="202024"/>
                </a:solidFill>
                <a:latin typeface="Roboto"/>
                <a:ea typeface="Roboto"/>
                <a:cs typeface="Roboto"/>
              </a:defRPr>
            </a:lvl5pPr>
            <a:lvl6pPr algn="l">
              <a:defRPr sz="2000" b="0">
                <a:solidFill>
                  <a:srgbClr val="202024"/>
                </a:solidFill>
                <a:latin typeface="Roboto"/>
                <a:ea typeface="Roboto"/>
                <a:cs typeface="Roboto"/>
              </a:defRPr>
            </a:lvl6pPr>
            <a:lvl7pPr algn="l">
              <a:defRPr sz="2000" b="0">
                <a:solidFill>
                  <a:srgbClr val="202024"/>
                </a:solidFill>
                <a:latin typeface="Roboto"/>
                <a:ea typeface="Roboto"/>
                <a:cs typeface="Roboto"/>
              </a:defRPr>
            </a:lvl7pPr>
            <a:lvl8pPr algn="l">
              <a:defRPr sz="2000" b="0">
                <a:solidFill>
                  <a:srgbClr val="202024"/>
                </a:solidFill>
                <a:latin typeface="Roboto"/>
                <a:ea typeface="Roboto"/>
                <a:cs typeface="Roboto"/>
              </a:defRPr>
            </a:lvl8pPr>
            <a:lvl9pPr algn="l">
              <a:defRPr sz="2000" b="0">
                <a:solidFill>
                  <a:srgbClr val="202024"/>
                </a:solidFill>
                <a:latin typeface="Roboto"/>
                <a:ea typeface="Roboto"/>
                <a:cs typeface="Roboto"/>
              </a:defRPr>
            </a:lvl9pPr>
          </a:lstStyle>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Cross-mission generalization</a:t>
            </a:r>
          </a:p>
          <a:p>
            <a:pPr algn="l">
              <a:defRPr sz="2000" b="0">
                <a:solidFill>
                  <a:srgbClr val="202024"/>
                </a:solidFill>
                <a:latin typeface="Roboto"/>
                <a:ea typeface="Roboto"/>
                <a:cs typeface="Roboto"/>
              </a:defRPr>
            </a:pPr>
            <a:r>
              <a:rPr lang="it-IT" sz="2000" b="0" dirty="0">
                <a:solidFill>
                  <a:srgbClr val="202024"/>
                </a:solidFill>
                <a:latin typeface="Roboto"/>
                <a:ea typeface="Roboto"/>
                <a:cs typeface="Roboto"/>
              </a:rPr>
              <a:t>- </a:t>
            </a:r>
            <a:r>
              <a:rPr sz="2000" b="0" dirty="0">
                <a:solidFill>
                  <a:srgbClr val="202024"/>
                </a:solidFill>
                <a:latin typeface="Roboto"/>
                <a:ea typeface="Roboto"/>
                <a:cs typeface="Roboto"/>
              </a:rPr>
              <a:t>7 classes in both domains</a:t>
            </a:r>
          </a:p>
        </p:txBody>
      </p:sp>
      <p:graphicFrame>
        <p:nvGraphicFramePr>
          <p:cNvPr id="18" name="codex-datasets-split-table">
            <a:extLst>
              <a:ext uri="{FF2B5EF4-FFF2-40B4-BE49-F238E27FC236}">
                <a16:creationId xmlns:a16="http://schemas.microsoft.com/office/drawing/2014/main" id="{24DE2C40-1F86-00F6-EEB4-8DA5BA026073}"/>
              </a:ext>
            </a:extLst>
          </p:cNvPr>
          <p:cNvGraphicFramePr/>
          <p:nvPr>
            <p:extLst>
              <p:ext uri="{D42A27DB-BD31-4B8C-83A1-F6EECF244321}">
                <p14:modId xmlns:p14="http://schemas.microsoft.com/office/powerpoint/2010/main" val="4175656818"/>
              </p:ext>
            </p:extLst>
          </p:nvPr>
        </p:nvGraphicFramePr>
        <p:xfrm>
          <a:off x="924791" y="3925087"/>
          <a:ext cx="9810750" cy="2076450"/>
        </p:xfrm>
        <a:graphic>
          <a:graphicData uri="http://schemas.openxmlformats.org/drawingml/2006/table">
            <a:tbl>
              <a:tblPr/>
              <a:tblGrid>
                <a:gridCol w="4000500">
                  <a:extLst>
                    <a:ext uri="{9D8B030D-6E8A-4147-A177-3AD203B41FA5}">
                      <a16:colId xmlns:a16="http://schemas.microsoft.com/office/drawing/2014/main" val="20000"/>
                    </a:ext>
                  </a:extLst>
                </a:gridCol>
                <a:gridCol w="2000250">
                  <a:extLst>
                    <a:ext uri="{9D8B030D-6E8A-4147-A177-3AD203B41FA5}">
                      <a16:colId xmlns:a16="http://schemas.microsoft.com/office/drawing/2014/main" val="20001"/>
                    </a:ext>
                  </a:extLst>
                </a:gridCol>
                <a:gridCol w="2190750">
                  <a:extLst>
                    <a:ext uri="{9D8B030D-6E8A-4147-A177-3AD203B41FA5}">
                      <a16:colId xmlns:a16="http://schemas.microsoft.com/office/drawing/2014/main" val="20002"/>
                    </a:ext>
                  </a:extLst>
                </a:gridCol>
                <a:gridCol w="1619250">
                  <a:extLst>
                    <a:ext uri="{9D8B030D-6E8A-4147-A177-3AD203B41FA5}">
                      <a16:colId xmlns:a16="http://schemas.microsoft.com/office/drawing/2014/main" val="20003"/>
                    </a:ext>
                  </a:extLst>
                </a:gridCol>
              </a:tblGrid>
              <a:tr h="476250">
                <a:tc>
                  <a:txBody>
                    <a:bodyPr/>
                    <a:lstStyle/>
                    <a:p>
                      <a:pPr algn="l"/>
                      <a:r>
                        <a:rPr sz="2000" b="1" dirty="0">
                          <a:solidFill>
                            <a:schemeClr val="bg1"/>
                          </a:solidFill>
                          <a:latin typeface="Roboto"/>
                          <a:ea typeface="Roboto"/>
                          <a:cs typeface="Roboto"/>
                        </a:rPr>
                        <a:t>Dataset</a:t>
                      </a:r>
                    </a:p>
                  </a:txBody>
                  <a:tcPr marL="152400" marR="152400" marT="63500" marB="63500" anchor="ctr">
                    <a:lnL w="0">
                      <a:solidFill>
                        <a:srgbClr val="FFFFFF"/>
                      </a:solidFill>
                      <a:prstDash val="soli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Training</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Validation</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tc>
                  <a:txBody>
                    <a:bodyPr/>
                    <a:lstStyle/>
                    <a:p>
                      <a:pPr algn="r"/>
                      <a:r>
                        <a:rPr sz="2000" b="1" dirty="0">
                          <a:solidFill>
                            <a:schemeClr val="bg1"/>
                          </a:solidFill>
                          <a:latin typeface="Roboto"/>
                          <a:ea typeface="Roboto"/>
                          <a:cs typeface="Roboto"/>
                        </a:rPr>
                        <a:t>Test</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0">
                      <a:solidFill>
                        <a:srgbClr val="FFFFFF"/>
                      </a:solidFill>
                      <a:prstDash val="solid"/>
                    </a:lnT>
                    <a:lnB w="15875">
                      <a:solidFill>
                        <a:srgbClr val="822433"/>
                      </a:solidFill>
                      <a:prstDash val="solid"/>
                    </a:lnB>
                    <a:solidFill>
                      <a:srgbClr val="822433"/>
                    </a:solidFill>
                  </a:tcPr>
                </a:tc>
                <a:extLst>
                  <a:ext uri="{0D108BD9-81ED-4DB2-BD59-A6C34878D82A}">
                    <a16:rowId xmlns:a16="http://schemas.microsoft.com/office/drawing/2014/main" val="10000"/>
                  </a:ext>
                </a:extLst>
              </a:tr>
              <a:tr h="533400">
                <a:tc>
                  <a:txBody>
                    <a:bodyPr/>
                    <a:lstStyle/>
                    <a:p>
                      <a:pPr algn="l"/>
                      <a:r>
                        <a:rPr sz="2000" b="1" dirty="0">
                          <a:solidFill>
                            <a:srgbClr val="202024"/>
                          </a:solidFill>
                          <a:latin typeface="Roboto"/>
                          <a:ea typeface="Roboto"/>
                          <a:cs typeface="Roboto"/>
                        </a:rPr>
                        <a:t>S5Mars</a:t>
                      </a:r>
                    </a:p>
                  </a:txBody>
                  <a:tcPr marL="152400" marR="152400" marT="63500" marB="63500" anchor="ctr">
                    <a:lnL w="0">
                      <a:solidFill>
                        <a:srgbClr val="FFFFFF"/>
                      </a:solidFill>
                      <a:prstDash val="soli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dirty="0">
                          <a:solidFill>
                            <a:srgbClr val="202024"/>
                          </a:solidFill>
                          <a:latin typeface="Roboto"/>
                          <a:ea typeface="Roboto"/>
                          <a:cs typeface="Roboto"/>
                        </a:rPr>
                        <a:t>4,997</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200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tc>
                  <a:txBody>
                    <a:bodyPr/>
                    <a:lstStyle/>
                    <a:p>
                      <a:pPr algn="r"/>
                      <a:r>
                        <a:rPr sz="2000" b="0">
                          <a:solidFill>
                            <a:srgbClr val="202024"/>
                          </a:solidFill>
                          <a:latin typeface="Roboto"/>
                          <a:ea typeface="Roboto"/>
                          <a:cs typeface="Roboto"/>
                        </a:rPr>
                        <a:t>800</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15875" cap="flat" cmpd="sng" algn="ctr">
                      <a:solidFill>
                        <a:srgbClr val="822433"/>
                      </a:solidFill>
                      <a:prstDash val="solid"/>
                      <a:round/>
                      <a:headEnd type="none" w="med" len="med"/>
                      <a:tailEnd type="none" w="med" len="med"/>
                    </a:lnT>
                    <a:lnB w="6350">
                      <a:solidFill>
                        <a:srgbClr val="D9D9D9"/>
                      </a:solidFill>
                      <a:prstDash val="solid"/>
                    </a:lnB>
                    <a:solidFill>
                      <a:srgbClr val="F7EAED"/>
                    </a:solidFill>
                  </a:tcPr>
                </a:tc>
                <a:extLst>
                  <a:ext uri="{0D108BD9-81ED-4DB2-BD59-A6C34878D82A}">
                    <a16:rowId xmlns:a16="http://schemas.microsoft.com/office/drawing/2014/main" val="10001"/>
                  </a:ext>
                </a:extLst>
              </a:tr>
              <a:tr h="533400">
                <a:tc>
                  <a:txBody>
                    <a:bodyPr/>
                    <a:lstStyle/>
                    <a:p>
                      <a:pPr algn="l"/>
                      <a:r>
                        <a:rPr sz="2000" b="1" dirty="0">
                          <a:solidFill>
                            <a:srgbClr val="202024"/>
                          </a:solidFill>
                          <a:latin typeface="Roboto"/>
                          <a:ea typeface="Roboto"/>
                          <a:cs typeface="Roboto"/>
                        </a:rPr>
                        <a:t>MarsSeg MER</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2,893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413</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828</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2"/>
                  </a:ext>
                </a:extLst>
              </a:tr>
              <a:tr h="533400">
                <a:tc>
                  <a:txBody>
                    <a:bodyPr/>
                    <a:lstStyle/>
                    <a:p>
                      <a:pPr algn="l"/>
                      <a:r>
                        <a:rPr sz="2000" b="1" dirty="0">
                          <a:solidFill>
                            <a:srgbClr val="202024"/>
                          </a:solidFill>
                          <a:latin typeface="Roboto"/>
                          <a:ea typeface="Roboto"/>
                          <a:cs typeface="Roboto"/>
                        </a:rPr>
                        <a:t>MarsSeg MSL</a:t>
                      </a:r>
                    </a:p>
                  </a:txBody>
                  <a:tcPr marL="152400" marR="152400" marT="63500" marB="63500" anchor="ctr">
                    <a:lnL w="0">
                      <a:solidFill>
                        <a:srgbClr val="FFFFFF"/>
                      </a:solidFill>
                      <a:prstDash val="soli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744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a:solidFill>
                            <a:srgbClr val="202024"/>
                          </a:solidFill>
                          <a:latin typeface="Roboto"/>
                          <a:ea typeface="Roboto"/>
                          <a:cs typeface="Roboto"/>
                        </a:rPr>
                        <a:t>106</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tc>
                  <a:txBody>
                    <a:bodyPr/>
                    <a:lstStyle/>
                    <a:p>
                      <a:pPr algn="r"/>
                      <a:r>
                        <a:rPr sz="2000" b="0" dirty="0">
                          <a:solidFill>
                            <a:srgbClr val="202024"/>
                          </a:solidFill>
                          <a:latin typeface="Roboto"/>
                          <a:ea typeface="Roboto"/>
                          <a:cs typeface="Roboto"/>
                        </a:rPr>
                        <a:t>214</a:t>
                      </a:r>
                    </a:p>
                  </a:txBody>
                  <a:tcPr marL="152400" marR="152400" marT="63500" marB="63500" anchor="ctr">
                    <a:lnL w="0" cap="flat" cmpd="sng" algn="ctr">
                      <a:solidFill>
                        <a:srgbClr val="FFFFFF"/>
                      </a:solidFill>
                      <a:prstDash val="solid"/>
                      <a:round/>
                      <a:headEnd type="none" w="med" len="med"/>
                      <a:tailEnd type="none" w="med" len="med"/>
                    </a:lnL>
                    <a:lnR w="0">
                      <a:solidFill>
                        <a:srgbClr val="FFFFFF"/>
                      </a:solidFill>
                      <a:prstDash val="solid"/>
                    </a:lnR>
                    <a:lnT w="6350" cap="flat" cmpd="sng" algn="ctr">
                      <a:solidFill>
                        <a:srgbClr val="D9D9D9"/>
                      </a:solidFill>
                      <a:prstDash val="solid"/>
                      <a:round/>
                      <a:headEnd type="none" w="med" len="med"/>
                      <a:tailEnd type="none" w="med" len="med"/>
                    </a:lnT>
                    <a:lnB w="6350">
                      <a:solidFill>
                        <a:srgbClr val="D9D9D9"/>
                      </a:solidFill>
                      <a:prstDash val="solid"/>
                    </a:lnB>
                    <a:solidFill>
                      <a:srgbClr val="FFFFFF"/>
                    </a:solidFill>
                  </a:tcPr>
                </a:tc>
                <a:extLst>
                  <a:ext uri="{0D108BD9-81ED-4DB2-BD59-A6C34878D82A}">
                    <a16:rowId xmlns:a16="http://schemas.microsoft.com/office/drawing/2014/main" val="10003"/>
                  </a:ext>
                </a:extLst>
              </a:tr>
            </a:tbl>
          </a:graphicData>
        </a:graphic>
      </p:graphicFrame>
      <p:sp>
        <p:nvSpPr>
          <p:cNvPr id="6" name="CasellaDiTesto 5">
            <a:extLst>
              <a:ext uri="{FF2B5EF4-FFF2-40B4-BE49-F238E27FC236}">
                <a16:creationId xmlns:a16="http://schemas.microsoft.com/office/drawing/2014/main" id="{AAB01B56-9AAB-24BF-FCE6-541BAFB65003}"/>
              </a:ext>
            </a:extLst>
          </p:cNvPr>
          <p:cNvSpPr txBox="1"/>
          <p:nvPr/>
        </p:nvSpPr>
        <p:spPr>
          <a:xfrm>
            <a:off x="838200" y="1628362"/>
            <a:ext cx="9497291" cy="523220"/>
          </a:xfrm>
          <a:prstGeom prst="rect">
            <a:avLst/>
          </a:prstGeom>
          <a:noFill/>
        </p:spPr>
        <p:txBody>
          <a:bodyPr wrap="square">
            <a:spAutoFit/>
          </a:bodyPr>
          <a:lstStyle/>
          <a:p>
            <a:r>
              <a:rPr lang="en-US" sz="2800" b="1" noProof="0" dirty="0">
                <a:solidFill>
                  <a:srgbClr val="822433"/>
                </a:solidFill>
                <a:latin typeface="Roboto" panose="02000000000000000000" pitchFamily="2" charset="0"/>
                <a:ea typeface="Roboto" panose="02000000000000000000" pitchFamily="2" charset="0"/>
              </a:rPr>
              <a:t>Mars-Bench</a:t>
            </a:r>
            <a:r>
              <a:rPr lang="en-US" sz="2800" noProof="0" dirty="0">
                <a:latin typeface="Roboto" panose="02000000000000000000" pitchFamily="2" charset="0"/>
                <a:ea typeface="Roboto" panose="02000000000000000000" pitchFamily="2" charset="0"/>
              </a:rPr>
              <a:t> is the </a:t>
            </a:r>
            <a:r>
              <a:rPr lang="en-US" sz="2800" noProof="0" dirty="0">
                <a:solidFill>
                  <a:srgbClr val="822433"/>
                </a:solidFill>
                <a:latin typeface="Roboto" panose="02000000000000000000" pitchFamily="2" charset="0"/>
                <a:ea typeface="Roboto" panose="02000000000000000000" pitchFamily="2" charset="0"/>
              </a:rPr>
              <a:t>first</a:t>
            </a:r>
            <a:r>
              <a:rPr lang="en-US" sz="2800" noProof="0" dirty="0">
                <a:latin typeface="Roboto" panose="02000000000000000000" pitchFamily="2" charset="0"/>
                <a:ea typeface="Roboto" panose="02000000000000000000" pitchFamily="2" charset="0"/>
              </a:rPr>
              <a:t> benchmark for Mars-related tasks.</a:t>
            </a:r>
            <a:endParaRPr lang="it-IT" dirty="0">
              <a:latin typeface="Roboto" panose="02000000000000000000" pitchFamily="2" charset="0"/>
              <a:ea typeface="Roboto" panose="02000000000000000000" pitchFamily="2" charset="0"/>
            </a:endParaRPr>
          </a:p>
        </p:txBody>
      </p:sp>
    </p:spTree>
    <p:extLst>
      <p:ext uri="{BB962C8B-B14F-4D97-AF65-F5344CB8AC3E}">
        <p14:creationId xmlns:p14="http://schemas.microsoft.com/office/powerpoint/2010/main" val="342086365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B1DD1F-8768-17B2-FB9B-19CCF028059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97CDCEC-E3E4-4F48-5467-BB58096DABE4}"/>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A415486C-73B6-A808-48E2-C8E26D861B0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D26EAC2-C8C4-E54E-FB2C-7C41DED30C9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333B2CA8-9696-5F1E-A9E7-3551C66E469A}"/>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[6] [7]</a:t>
            </a:r>
            <a:r>
              <a:rPr lang="en-US" dirty="0"/>
              <a:t> [8] [9] [10]</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226E4830-E866-D7E3-6457-3D28EB7CBD77}"/>
              </a:ext>
            </a:extLst>
          </p:cNvPr>
          <p:cNvPicPr>
            <a:picLocks noChangeAspect="1"/>
          </p:cNvPicPr>
          <p:nvPr/>
        </p:nvPicPr>
        <p:blipFill>
          <a:blip r:embed="rId3"/>
          <a:stretch>
            <a:fillRect/>
          </a:stretch>
        </p:blipFill>
        <p:spPr>
          <a:xfrm>
            <a:off x="1953491" y="2049811"/>
            <a:ext cx="8667328" cy="3254586"/>
          </a:xfrm>
          <a:prstGeom prst="rect">
            <a:avLst/>
          </a:prstGeom>
          <a:effectLst>
            <a:outerShdw blurRad="50800" dist="38100" dir="2700000" algn="tl" rotWithShape="0">
              <a:prstClr val="black">
                <a:alpha val="40000"/>
              </a:prstClr>
            </a:outerShdw>
          </a:effectLst>
        </p:spPr>
      </p:pic>
    </p:spTree>
    <p:extLst>
      <p:ext uri="{BB962C8B-B14F-4D97-AF65-F5344CB8AC3E}">
        <p14:creationId xmlns:p14="http://schemas.microsoft.com/office/powerpoint/2010/main" val="226088537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6D0B5E-FD6C-96CB-384F-BEF7C2B5500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363AF57-0B7F-AF05-A35B-ECE71E8E26A8}"/>
              </a:ext>
            </a:extLst>
          </p:cNvPr>
          <p:cNvSpPr>
            <a:spLocks noGrp="1"/>
          </p:cNvSpPr>
          <p:nvPr>
            <p:ph type="title"/>
          </p:nvPr>
        </p:nvSpPr>
        <p:spPr>
          <a:xfrm>
            <a:off x="838200" y="365125"/>
            <a:ext cx="8384177" cy="835787"/>
          </a:xfrm>
        </p:spPr>
        <p:txBody>
          <a:bodyPr/>
          <a:lstStyle/>
          <a:p>
            <a:r>
              <a:rPr lang="en-US" noProof="0" dirty="0">
                <a:solidFill>
                  <a:srgbClr val="822433"/>
                </a:solidFill>
              </a:rPr>
              <a:t>Training procedure</a:t>
            </a:r>
          </a:p>
        </p:txBody>
      </p:sp>
      <p:sp>
        <p:nvSpPr>
          <p:cNvPr id="4" name="Google Shape;102;p14">
            <a:extLst>
              <a:ext uri="{FF2B5EF4-FFF2-40B4-BE49-F238E27FC236}">
                <a16:creationId xmlns:a16="http://schemas.microsoft.com/office/drawing/2014/main" id="{1C1878B4-6C3D-E18B-961D-071A041F812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75C1E4-7668-9E8F-8052-F1A06FED99B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3" name="training10-setup-heading">
            <a:extLst>
              <a:ext uri="{FF2B5EF4-FFF2-40B4-BE49-F238E27FC236}">
                <a16:creationId xmlns:a16="http://schemas.microsoft.com/office/drawing/2014/main" id="{976272DE-AE14-4A90-AA99-B977F68CA0A8}"/>
              </a:ext>
            </a:extLst>
          </p:cNvPr>
          <p:cNvSpPr>
            <a:spLocks noGrp="1"/>
          </p:cNvSpPr>
          <p:nvPr/>
        </p:nvSpPr>
        <p:spPr>
          <a:xfrm>
            <a:off x="1073727" y="2191615"/>
            <a:ext cx="29527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Training setup</a:t>
            </a:r>
          </a:p>
        </p:txBody>
      </p:sp>
      <p:sp>
        <p:nvSpPr>
          <p:cNvPr id="104" name="training10-loss-heading">
            <a:extLst>
              <a:ext uri="{FF2B5EF4-FFF2-40B4-BE49-F238E27FC236}">
                <a16:creationId xmlns:a16="http://schemas.microsoft.com/office/drawing/2014/main" id="{5410843E-6112-4025-83DC-325457FC1D5A}"/>
              </a:ext>
            </a:extLst>
          </p:cNvPr>
          <p:cNvSpPr>
            <a:spLocks noGrp="1"/>
          </p:cNvSpPr>
          <p:nvPr/>
        </p:nvSpPr>
        <p:spPr>
          <a:xfrm>
            <a:off x="4236027" y="2192480"/>
            <a:ext cx="3676650"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Loss and optimization</a:t>
            </a:r>
          </a:p>
        </p:txBody>
      </p:sp>
      <p:sp>
        <p:nvSpPr>
          <p:cNvPr id="105" name="training10-selection-heading">
            <a:extLst>
              <a:ext uri="{FF2B5EF4-FFF2-40B4-BE49-F238E27FC236}">
                <a16:creationId xmlns:a16="http://schemas.microsoft.com/office/drawing/2014/main" id="{CD4A2BA6-9C72-42D9-81DB-10C04175DCFC}"/>
              </a:ext>
            </a:extLst>
          </p:cNvPr>
          <p:cNvSpPr>
            <a:spLocks noGrp="1"/>
          </p:cNvSpPr>
          <p:nvPr/>
        </p:nvSpPr>
        <p:spPr>
          <a:xfrm>
            <a:off x="8322252" y="2191615"/>
            <a:ext cx="3209925" cy="466725"/>
          </a:xfrm>
          <a:prstGeom prst="rect">
            <a:avLst/>
          </a:prstGeom>
          <a:noFill/>
          <a:ln w="0">
            <a:noFill/>
          </a:ln>
        </p:spPr>
        <p:txBody>
          <a:bodyPr wrap="square" lIns="0" tIns="0" rIns="0" bIns="0" anchor="t">
            <a:noAutofit/>
          </a:bodyPr>
          <a:lstStyle>
            <a:defPPr algn="ctr">
              <a:defRPr lang="en-US" sz="2400" b="1">
                <a:solidFill>
                  <a:srgbClr val="822433"/>
                </a:solidFill>
                <a:latin typeface="Roboto"/>
                <a:ea typeface="Roboto"/>
                <a:cs typeface="Roboto"/>
              </a:defRPr>
            </a:defPPr>
            <a:lvl1pPr algn="ctr">
              <a:defRPr lang="en-US" sz="2400" b="1">
                <a:solidFill>
                  <a:srgbClr val="822433"/>
                </a:solidFill>
                <a:latin typeface="Roboto"/>
                <a:ea typeface="Roboto"/>
                <a:cs typeface="Roboto"/>
              </a:defRPr>
            </a:lvl1pPr>
            <a:lvl2pPr algn="ctr">
              <a:defRPr lang="en-US" sz="2400" b="1">
                <a:solidFill>
                  <a:srgbClr val="822433"/>
                </a:solidFill>
                <a:latin typeface="Roboto"/>
                <a:ea typeface="Roboto"/>
                <a:cs typeface="Roboto"/>
              </a:defRPr>
            </a:lvl2pPr>
            <a:lvl3pPr algn="ctr">
              <a:defRPr lang="en-US" sz="2400" b="1">
                <a:solidFill>
                  <a:srgbClr val="822433"/>
                </a:solidFill>
                <a:latin typeface="Roboto"/>
                <a:ea typeface="Roboto"/>
                <a:cs typeface="Roboto"/>
              </a:defRPr>
            </a:lvl3pPr>
            <a:lvl4pPr algn="ctr">
              <a:defRPr lang="en-US" sz="2400" b="1">
                <a:solidFill>
                  <a:srgbClr val="822433"/>
                </a:solidFill>
                <a:latin typeface="Roboto"/>
                <a:ea typeface="Roboto"/>
                <a:cs typeface="Roboto"/>
              </a:defRPr>
            </a:lvl4pPr>
            <a:lvl5pPr algn="ctr">
              <a:defRPr lang="en-US" sz="2400" b="1">
                <a:solidFill>
                  <a:srgbClr val="822433"/>
                </a:solidFill>
                <a:latin typeface="Roboto"/>
                <a:ea typeface="Roboto"/>
                <a:cs typeface="Roboto"/>
              </a:defRPr>
            </a:lvl5pPr>
            <a:lvl6pPr algn="ctr">
              <a:defRPr lang="en-US" sz="2400" b="1">
                <a:solidFill>
                  <a:srgbClr val="822433"/>
                </a:solidFill>
                <a:latin typeface="Roboto"/>
                <a:ea typeface="Roboto"/>
                <a:cs typeface="Roboto"/>
              </a:defRPr>
            </a:lvl6pPr>
            <a:lvl7pPr algn="ctr">
              <a:defRPr lang="en-US" sz="2400" b="1">
                <a:solidFill>
                  <a:srgbClr val="822433"/>
                </a:solidFill>
                <a:latin typeface="Roboto"/>
                <a:ea typeface="Roboto"/>
                <a:cs typeface="Roboto"/>
              </a:defRPr>
            </a:lvl7pPr>
            <a:lvl8pPr algn="ctr">
              <a:defRPr lang="en-US" sz="2400" b="1">
                <a:solidFill>
                  <a:srgbClr val="822433"/>
                </a:solidFill>
                <a:latin typeface="Roboto"/>
                <a:ea typeface="Roboto"/>
                <a:cs typeface="Roboto"/>
              </a:defRPr>
            </a:lvl8pPr>
            <a:lvl9pPr algn="ctr">
              <a:defRPr lang="en-US" sz="2400" b="1">
                <a:solidFill>
                  <a:srgbClr val="822433"/>
                </a:solidFill>
                <a:latin typeface="Roboto"/>
                <a:ea typeface="Roboto"/>
                <a:cs typeface="Roboto"/>
              </a:defRPr>
            </a:lvl9pPr>
          </a:lstStyle>
          <a:p>
            <a:pPr algn="l">
              <a:defRPr lang="en-US" sz="2400" b="1">
                <a:solidFill>
                  <a:srgbClr val="822433"/>
                </a:solidFill>
                <a:latin typeface="Roboto"/>
                <a:ea typeface="Roboto"/>
                <a:cs typeface="Roboto"/>
              </a:defRPr>
            </a:pPr>
            <a:r>
              <a:rPr lang="en-US" sz="2400" b="1" dirty="0">
                <a:solidFill>
                  <a:srgbClr val="822433"/>
                </a:solidFill>
                <a:latin typeface="Roboto"/>
                <a:ea typeface="Roboto"/>
                <a:cs typeface="Roboto"/>
              </a:rPr>
              <a:t>Quantization</a:t>
            </a:r>
          </a:p>
        </p:txBody>
      </p:sp>
      <p:sp>
        <p:nvSpPr>
          <p:cNvPr id="106" name="training10-resolution">
            <a:extLst>
              <a:ext uri="{FF2B5EF4-FFF2-40B4-BE49-F238E27FC236}">
                <a16:creationId xmlns:a16="http://schemas.microsoft.com/office/drawing/2014/main" id="{20BB474D-270B-4C37-8C56-EB8A6702C5D2}"/>
              </a:ext>
            </a:extLst>
          </p:cNvPr>
          <p:cNvSpPr>
            <a:spLocks noGrp="1"/>
          </p:cNvSpPr>
          <p:nvPr/>
        </p:nvSpPr>
        <p:spPr>
          <a:xfrm>
            <a:off x="1130877" y="2925040"/>
            <a:ext cx="3105150" cy="40005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512 × 512 input</a:t>
            </a:r>
          </a:p>
        </p:txBody>
      </p:sp>
      <p:sp>
        <p:nvSpPr>
          <p:cNvPr id="107" name="training10-batch">
            <a:extLst>
              <a:ext uri="{FF2B5EF4-FFF2-40B4-BE49-F238E27FC236}">
                <a16:creationId xmlns:a16="http://schemas.microsoft.com/office/drawing/2014/main" id="{6575BD82-DA6F-4837-9764-096BECF3EABB}"/>
              </a:ext>
            </a:extLst>
          </p:cNvPr>
          <p:cNvSpPr>
            <a:spLocks noGrp="1"/>
          </p:cNvSpPr>
          <p:nvPr/>
        </p:nvSpPr>
        <p:spPr>
          <a:xfrm>
            <a:off x="1130877" y="3391765"/>
            <a:ext cx="3105150" cy="40005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Batch size: 32</a:t>
            </a:r>
          </a:p>
        </p:txBody>
      </p:sp>
      <p:sp>
        <p:nvSpPr>
          <p:cNvPr id="108" name="training10-epochs">
            <a:extLst>
              <a:ext uri="{FF2B5EF4-FFF2-40B4-BE49-F238E27FC236}">
                <a16:creationId xmlns:a16="http://schemas.microsoft.com/office/drawing/2014/main" id="{C92598D6-B88F-4A79-AC45-9C0A87B1A8B3}"/>
              </a:ext>
            </a:extLst>
          </p:cNvPr>
          <p:cNvSpPr>
            <a:spLocks noGrp="1"/>
          </p:cNvSpPr>
          <p:nvPr/>
        </p:nvSpPr>
        <p:spPr>
          <a:xfrm>
            <a:off x="1130877" y="3868015"/>
            <a:ext cx="3105150" cy="571500"/>
          </a:xfrm>
          <a:prstGeom prst="rect">
            <a:avLst/>
          </a:prstGeom>
          <a:noFill/>
          <a:ln w="0">
            <a:noFill/>
          </a:ln>
        </p:spPr>
        <p:txBody>
          <a:bodyPr wrap="square" lIns="0" tIns="0" rIns="0" bIns="0" anchor="t">
            <a:noAutofit/>
          </a:bodyPr>
          <a:lstStyle>
            <a:defPPr algn="l">
              <a:defRPr lang="en-US" sz="3000" b="1">
                <a:solidFill>
                  <a:srgbClr val="822433"/>
                </a:solidFill>
                <a:latin typeface="Roboto"/>
                <a:ea typeface="Roboto"/>
                <a:cs typeface="Roboto"/>
              </a:defRPr>
            </a:defPPr>
            <a:lvl1pPr algn="l">
              <a:defRPr lang="en-US" sz="3000" b="1">
                <a:solidFill>
                  <a:srgbClr val="822433"/>
                </a:solidFill>
                <a:latin typeface="Roboto"/>
                <a:ea typeface="Roboto"/>
                <a:cs typeface="Roboto"/>
              </a:defRPr>
            </a:lvl1pPr>
            <a:lvl2pPr algn="l">
              <a:defRPr lang="en-US" sz="3000" b="1">
                <a:solidFill>
                  <a:srgbClr val="822433"/>
                </a:solidFill>
                <a:latin typeface="Roboto"/>
                <a:ea typeface="Roboto"/>
                <a:cs typeface="Roboto"/>
              </a:defRPr>
            </a:lvl2pPr>
            <a:lvl3pPr algn="l">
              <a:defRPr lang="en-US" sz="3000" b="1">
                <a:solidFill>
                  <a:srgbClr val="822433"/>
                </a:solidFill>
                <a:latin typeface="Roboto"/>
                <a:ea typeface="Roboto"/>
                <a:cs typeface="Roboto"/>
              </a:defRPr>
            </a:lvl3pPr>
            <a:lvl4pPr algn="l">
              <a:defRPr lang="en-US" sz="3000" b="1">
                <a:solidFill>
                  <a:srgbClr val="822433"/>
                </a:solidFill>
                <a:latin typeface="Roboto"/>
                <a:ea typeface="Roboto"/>
                <a:cs typeface="Roboto"/>
              </a:defRPr>
            </a:lvl4pPr>
            <a:lvl5pPr algn="l">
              <a:defRPr lang="en-US" sz="3000" b="1">
                <a:solidFill>
                  <a:srgbClr val="822433"/>
                </a:solidFill>
                <a:latin typeface="Roboto"/>
                <a:ea typeface="Roboto"/>
                <a:cs typeface="Roboto"/>
              </a:defRPr>
            </a:lvl5pPr>
            <a:lvl6pPr algn="l">
              <a:defRPr lang="en-US" sz="3000" b="1">
                <a:solidFill>
                  <a:srgbClr val="822433"/>
                </a:solidFill>
                <a:latin typeface="Roboto"/>
                <a:ea typeface="Roboto"/>
                <a:cs typeface="Roboto"/>
              </a:defRPr>
            </a:lvl6pPr>
            <a:lvl7pPr algn="l">
              <a:defRPr lang="en-US" sz="3000" b="1">
                <a:solidFill>
                  <a:srgbClr val="822433"/>
                </a:solidFill>
                <a:latin typeface="Roboto"/>
                <a:ea typeface="Roboto"/>
                <a:cs typeface="Roboto"/>
              </a:defRPr>
            </a:lvl7pPr>
            <a:lvl8pPr algn="l">
              <a:defRPr lang="en-US" sz="3000" b="1">
                <a:solidFill>
                  <a:srgbClr val="822433"/>
                </a:solidFill>
                <a:latin typeface="Roboto"/>
                <a:ea typeface="Roboto"/>
                <a:cs typeface="Roboto"/>
              </a:defRPr>
            </a:lvl8pPr>
            <a:lvl9pPr algn="l">
              <a:defRPr lang="en-US" sz="3000" b="1">
                <a:solidFill>
                  <a:srgbClr val="822433"/>
                </a:solidFill>
                <a:latin typeface="Roboto"/>
                <a:ea typeface="Roboto"/>
                <a:cs typeface="Roboto"/>
              </a:defRPr>
            </a:lvl9pPr>
          </a:lstStyle>
          <a:p>
            <a:pPr algn="l">
              <a:defRPr lang="en-US" sz="3000" b="1">
                <a:solidFill>
                  <a:srgbClr val="822433"/>
                </a:solidFill>
                <a:latin typeface="Roboto"/>
                <a:ea typeface="Roboto"/>
                <a:cs typeface="Roboto"/>
              </a:defRPr>
            </a:pPr>
            <a:r>
              <a:rPr lang="en-US" sz="2400" b="1" dirty="0">
                <a:solidFill>
                  <a:srgbClr val="822433"/>
                </a:solidFill>
                <a:latin typeface="Roboto"/>
                <a:ea typeface="Roboto"/>
                <a:cs typeface="Roboto"/>
              </a:rPr>
              <a:t>30 epochs</a:t>
            </a:r>
          </a:p>
        </p:txBody>
      </p:sp>
      <p:sp>
        <p:nvSpPr>
          <p:cNvPr id="109" name="training10-lcnet-epochs">
            <a:extLst>
              <a:ext uri="{FF2B5EF4-FFF2-40B4-BE49-F238E27FC236}">
                <a16:creationId xmlns:a16="http://schemas.microsoft.com/office/drawing/2014/main" id="{B021DAA4-4C67-464E-8D47-15C450274ABF}"/>
              </a:ext>
            </a:extLst>
          </p:cNvPr>
          <p:cNvSpPr>
            <a:spLocks noGrp="1"/>
          </p:cNvSpPr>
          <p:nvPr/>
        </p:nvSpPr>
        <p:spPr>
          <a:xfrm>
            <a:off x="1130877" y="4249015"/>
            <a:ext cx="3105150" cy="400050"/>
          </a:xfrm>
          <a:prstGeom prst="rect">
            <a:avLst/>
          </a:prstGeom>
          <a:noFill/>
          <a:ln w="0">
            <a:noFill/>
          </a:ln>
        </p:spPr>
        <p:txBody>
          <a:bodyPr wrap="square" lIns="0" tIns="0" rIns="0" bIns="0" anchor="t">
            <a:noAutofit/>
          </a:bodyPr>
          <a:lstStyle>
            <a:defPPr algn="l">
              <a:defRPr lang="en-US" sz="2000" b="0">
                <a:solidFill>
                  <a:srgbClr val="656B73"/>
                </a:solidFill>
                <a:latin typeface="Roboto"/>
                <a:ea typeface="Roboto"/>
                <a:cs typeface="Roboto"/>
              </a:defRPr>
            </a:defPPr>
            <a:lvl1pPr algn="l">
              <a:defRPr lang="en-US" sz="2000" b="0">
                <a:solidFill>
                  <a:srgbClr val="656B73"/>
                </a:solidFill>
                <a:latin typeface="Roboto"/>
                <a:ea typeface="Roboto"/>
                <a:cs typeface="Roboto"/>
              </a:defRPr>
            </a:lvl1pPr>
            <a:lvl2pPr algn="l">
              <a:defRPr lang="en-US" sz="2000" b="0">
                <a:solidFill>
                  <a:srgbClr val="656B73"/>
                </a:solidFill>
                <a:latin typeface="Roboto"/>
                <a:ea typeface="Roboto"/>
                <a:cs typeface="Roboto"/>
              </a:defRPr>
            </a:lvl2pPr>
            <a:lvl3pPr algn="l">
              <a:defRPr lang="en-US" sz="2000" b="0">
                <a:solidFill>
                  <a:srgbClr val="656B73"/>
                </a:solidFill>
                <a:latin typeface="Roboto"/>
                <a:ea typeface="Roboto"/>
                <a:cs typeface="Roboto"/>
              </a:defRPr>
            </a:lvl3pPr>
            <a:lvl4pPr algn="l">
              <a:defRPr lang="en-US" sz="2000" b="0">
                <a:solidFill>
                  <a:srgbClr val="656B73"/>
                </a:solidFill>
                <a:latin typeface="Roboto"/>
                <a:ea typeface="Roboto"/>
                <a:cs typeface="Roboto"/>
              </a:defRPr>
            </a:lvl4pPr>
            <a:lvl5pPr algn="l">
              <a:defRPr lang="en-US" sz="2000" b="0">
                <a:solidFill>
                  <a:srgbClr val="656B73"/>
                </a:solidFill>
                <a:latin typeface="Roboto"/>
                <a:ea typeface="Roboto"/>
                <a:cs typeface="Roboto"/>
              </a:defRPr>
            </a:lvl5pPr>
            <a:lvl6pPr algn="l">
              <a:defRPr lang="en-US" sz="2000" b="0">
                <a:solidFill>
                  <a:srgbClr val="656B73"/>
                </a:solidFill>
                <a:latin typeface="Roboto"/>
                <a:ea typeface="Roboto"/>
                <a:cs typeface="Roboto"/>
              </a:defRPr>
            </a:lvl6pPr>
            <a:lvl7pPr algn="l">
              <a:defRPr lang="en-US" sz="2000" b="0">
                <a:solidFill>
                  <a:srgbClr val="656B73"/>
                </a:solidFill>
                <a:latin typeface="Roboto"/>
                <a:ea typeface="Roboto"/>
                <a:cs typeface="Roboto"/>
              </a:defRPr>
            </a:lvl7pPr>
            <a:lvl8pPr algn="l">
              <a:defRPr lang="en-US" sz="2000" b="0">
                <a:solidFill>
                  <a:srgbClr val="656B73"/>
                </a:solidFill>
                <a:latin typeface="Roboto"/>
                <a:ea typeface="Roboto"/>
                <a:cs typeface="Roboto"/>
              </a:defRPr>
            </a:lvl8pPr>
            <a:lvl9pPr algn="l">
              <a:defRPr lang="en-US" sz="2000" b="0">
                <a:solidFill>
                  <a:srgbClr val="656B73"/>
                </a:solidFill>
                <a:latin typeface="Roboto"/>
                <a:ea typeface="Roboto"/>
                <a:cs typeface="Roboto"/>
              </a:defRPr>
            </a:lvl9pPr>
          </a:lstStyle>
          <a:p>
            <a:pPr algn="l">
              <a:defRPr lang="en-US" sz="2000" b="0">
                <a:solidFill>
                  <a:srgbClr val="656B73"/>
                </a:solidFill>
                <a:latin typeface="Roboto"/>
                <a:ea typeface="Roboto"/>
                <a:cs typeface="Roboto"/>
              </a:defRPr>
            </a:pPr>
            <a:r>
              <a:rPr lang="en-US" sz="1800" b="0" dirty="0">
                <a:solidFill>
                  <a:srgbClr val="656B73"/>
                </a:solidFill>
                <a:latin typeface="Roboto"/>
                <a:ea typeface="Roboto"/>
                <a:cs typeface="Roboto"/>
              </a:rPr>
              <a:t>(60 for </a:t>
            </a:r>
            <a:r>
              <a:rPr lang="en-US" sz="1800" b="0" dirty="0" err="1">
                <a:solidFill>
                  <a:srgbClr val="656B73"/>
                </a:solidFill>
                <a:latin typeface="Roboto"/>
                <a:ea typeface="Roboto"/>
                <a:cs typeface="Roboto"/>
              </a:rPr>
              <a:t>LCNet</a:t>
            </a:r>
            <a:r>
              <a:rPr lang="en-US" sz="1800" b="0" dirty="0">
                <a:solidFill>
                  <a:srgbClr val="656B73"/>
                </a:solidFill>
                <a:latin typeface="Roboto"/>
                <a:ea typeface="Roboto"/>
                <a:cs typeface="Roboto"/>
              </a:rPr>
              <a:t>)</a:t>
            </a:r>
          </a:p>
        </p:txBody>
      </p:sp>
      <p:sp>
        <p:nvSpPr>
          <p:cNvPr id="110" name="training10-end-to-end">
            <a:extLst>
              <a:ext uri="{FF2B5EF4-FFF2-40B4-BE49-F238E27FC236}">
                <a16:creationId xmlns:a16="http://schemas.microsoft.com/office/drawing/2014/main" id="{660EDAE0-A2AC-4201-B112-4AB80EA83907}"/>
              </a:ext>
            </a:extLst>
          </p:cNvPr>
          <p:cNvSpPr>
            <a:spLocks noGrp="1"/>
          </p:cNvSpPr>
          <p:nvPr/>
        </p:nvSpPr>
        <p:spPr>
          <a:xfrm>
            <a:off x="1130877" y="4717162"/>
            <a:ext cx="3105150"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dirty="0">
                <a:solidFill>
                  <a:srgbClr val="202124"/>
                </a:solidFill>
                <a:latin typeface="Roboto"/>
                <a:ea typeface="Roboto"/>
                <a:cs typeface="Roboto"/>
              </a:rPr>
              <a:t>End-to-end training</a:t>
            </a:r>
          </a:p>
        </p:txBody>
      </p:sp>
      <p:sp>
        <p:nvSpPr>
          <p:cNvPr id="111" name="training10-loss-formula">
            <a:extLst>
              <a:ext uri="{FF2B5EF4-FFF2-40B4-BE49-F238E27FC236}">
                <a16:creationId xmlns:a16="http://schemas.microsoft.com/office/drawing/2014/main" id="{6F878C80-3805-42F8-8B85-7B57C77764F4}"/>
              </a:ext>
            </a:extLst>
          </p:cNvPr>
          <p:cNvSpPr>
            <a:spLocks noGrp="1"/>
          </p:cNvSpPr>
          <p:nvPr/>
        </p:nvSpPr>
        <p:spPr>
          <a:xfrm>
            <a:off x="4236027" y="2897330"/>
            <a:ext cx="3562350" cy="571500"/>
          </a:xfrm>
          <a:prstGeom prst="rect">
            <a:avLst/>
          </a:prstGeom>
          <a:noFill/>
          <a:ln w="0">
            <a:noFill/>
          </a:ln>
        </p:spPr>
        <p:txBody>
          <a:bodyPr wrap="square" lIns="0" tIns="0" rIns="0" bIns="0" anchor="t">
            <a:noAutofit/>
          </a:bodyPr>
          <a:lstStyle>
            <a:defPPr algn="l">
              <a:defRPr lang="en-US" sz="2400" b="0">
                <a:solidFill>
                  <a:srgbClr val="202124"/>
                </a:solidFill>
                <a:latin typeface="Roboto"/>
                <a:ea typeface="Roboto"/>
                <a:cs typeface="Roboto"/>
              </a:defRPr>
            </a:defPPr>
            <a:lvl1pPr algn="l">
              <a:defRPr lang="en-US" sz="2400" b="0">
                <a:solidFill>
                  <a:srgbClr val="202124"/>
                </a:solidFill>
                <a:latin typeface="Roboto"/>
                <a:ea typeface="Roboto"/>
                <a:cs typeface="Roboto"/>
              </a:defRPr>
            </a:lvl1pPr>
            <a:lvl2pPr algn="l">
              <a:defRPr lang="en-US" sz="2400" b="0">
                <a:solidFill>
                  <a:srgbClr val="202124"/>
                </a:solidFill>
                <a:latin typeface="Roboto"/>
                <a:ea typeface="Roboto"/>
                <a:cs typeface="Roboto"/>
              </a:defRPr>
            </a:lvl2pPr>
            <a:lvl3pPr algn="l">
              <a:defRPr lang="en-US" sz="2400" b="0">
                <a:solidFill>
                  <a:srgbClr val="202124"/>
                </a:solidFill>
                <a:latin typeface="Roboto"/>
                <a:ea typeface="Roboto"/>
                <a:cs typeface="Roboto"/>
              </a:defRPr>
            </a:lvl3pPr>
            <a:lvl4pPr algn="l">
              <a:defRPr lang="en-US" sz="2400" b="0">
                <a:solidFill>
                  <a:srgbClr val="202124"/>
                </a:solidFill>
                <a:latin typeface="Roboto"/>
                <a:ea typeface="Roboto"/>
                <a:cs typeface="Roboto"/>
              </a:defRPr>
            </a:lvl4pPr>
            <a:lvl5pPr algn="l">
              <a:defRPr lang="en-US" sz="2400" b="0">
                <a:solidFill>
                  <a:srgbClr val="202124"/>
                </a:solidFill>
                <a:latin typeface="Roboto"/>
                <a:ea typeface="Roboto"/>
                <a:cs typeface="Roboto"/>
              </a:defRPr>
            </a:lvl5pPr>
            <a:lvl6pPr algn="l">
              <a:defRPr lang="en-US" sz="2400" b="0">
                <a:solidFill>
                  <a:srgbClr val="202124"/>
                </a:solidFill>
                <a:latin typeface="Roboto"/>
                <a:ea typeface="Roboto"/>
                <a:cs typeface="Roboto"/>
              </a:defRPr>
            </a:lvl6pPr>
            <a:lvl7pPr algn="l">
              <a:defRPr lang="en-US" sz="2400" b="0">
                <a:solidFill>
                  <a:srgbClr val="202124"/>
                </a:solidFill>
                <a:latin typeface="Roboto"/>
                <a:ea typeface="Roboto"/>
                <a:cs typeface="Roboto"/>
              </a:defRPr>
            </a:lvl7pPr>
            <a:lvl8pPr algn="l">
              <a:defRPr lang="en-US" sz="2400" b="0">
                <a:solidFill>
                  <a:srgbClr val="202124"/>
                </a:solidFill>
                <a:latin typeface="Roboto"/>
                <a:ea typeface="Roboto"/>
                <a:cs typeface="Roboto"/>
              </a:defRPr>
            </a:lvl8pPr>
            <a:lvl9pPr algn="l">
              <a:defRPr lang="en-US" sz="2400" b="0">
                <a:solidFill>
                  <a:srgbClr val="202124"/>
                </a:solidFill>
                <a:latin typeface="Roboto"/>
                <a:ea typeface="Roboto"/>
                <a:cs typeface="Roboto"/>
              </a:defRPr>
            </a:lvl9pPr>
          </a:lstStyle>
          <a:p>
            <a:pPr algn="l">
              <a:defRPr lang="en-US" sz="2400" b="0">
                <a:solidFill>
                  <a:srgbClr val="202124"/>
                </a:solidFill>
                <a:latin typeface="Roboto"/>
                <a:ea typeface="Roboto"/>
                <a:cs typeface="Roboto"/>
              </a:defRPr>
            </a:pPr>
            <a:r>
              <a:rPr lang="en-US" sz="2400" b="0" dirty="0">
                <a:solidFill>
                  <a:srgbClr val="202124"/>
                </a:solidFill>
                <a:latin typeface="Roboto"/>
                <a:ea typeface="Roboto"/>
                <a:cs typeface="Roboto"/>
              </a:rPr>
              <a:t>ℒ = 0.5ℒ</a:t>
            </a:r>
            <a:r>
              <a:rPr lang="en-US" sz="1600" b="0" baseline="-25000" dirty="0">
                <a:solidFill>
                  <a:srgbClr val="202124"/>
                </a:solidFill>
                <a:latin typeface="Roboto"/>
                <a:ea typeface="Roboto"/>
                <a:cs typeface="Roboto"/>
              </a:rPr>
              <a:t>CE</a:t>
            </a:r>
            <a:r>
              <a:rPr lang="en-US" sz="2400" b="0" dirty="0">
                <a:solidFill>
                  <a:srgbClr val="202124"/>
                </a:solidFill>
                <a:latin typeface="Roboto"/>
                <a:ea typeface="Roboto"/>
                <a:cs typeface="Roboto"/>
              </a:rPr>
              <a:t> + 0.5ℒ</a:t>
            </a:r>
            <a:r>
              <a:rPr lang="en-US" sz="1600" b="0" baseline="-25000" dirty="0">
                <a:solidFill>
                  <a:srgbClr val="202124"/>
                </a:solidFill>
                <a:latin typeface="Roboto"/>
                <a:ea typeface="Roboto"/>
                <a:cs typeface="Roboto"/>
              </a:rPr>
              <a:t>GDL</a:t>
            </a:r>
          </a:p>
        </p:txBody>
      </p:sp>
      <p:sp>
        <p:nvSpPr>
          <p:cNvPr id="112" name="training10-optimizer">
            <a:extLst>
              <a:ext uri="{FF2B5EF4-FFF2-40B4-BE49-F238E27FC236}">
                <a16:creationId xmlns:a16="http://schemas.microsoft.com/office/drawing/2014/main" id="{EEF7085D-EA8E-4624-9154-B29D565C3AEA}"/>
              </a:ext>
            </a:extLst>
          </p:cNvPr>
          <p:cNvSpPr>
            <a:spLocks noGrp="1"/>
          </p:cNvSpPr>
          <p:nvPr/>
        </p:nvSpPr>
        <p:spPr>
          <a:xfrm>
            <a:off x="4236027" y="3324636"/>
            <a:ext cx="3667125" cy="669492"/>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lnSpc>
                <a:spcPct val="150000"/>
              </a:lnSpc>
              <a:defRPr lang="en-US" sz="2000" b="0">
                <a:solidFill>
                  <a:srgbClr val="202124"/>
                </a:solidFill>
                <a:latin typeface="Roboto"/>
                <a:ea typeface="Roboto"/>
                <a:cs typeface="Roboto"/>
              </a:defRPr>
            </a:pPr>
            <a:r>
              <a:rPr lang="en-US" sz="2000" b="0" dirty="0" err="1">
                <a:solidFill>
                  <a:srgbClr val="202124"/>
                </a:solidFill>
                <a:latin typeface="Roboto"/>
                <a:ea typeface="Roboto"/>
                <a:cs typeface="Roboto"/>
              </a:rPr>
              <a:t>AdamW</a:t>
            </a:r>
            <a:endParaRPr lang="en-US" dirty="0"/>
          </a:p>
          <a:p>
            <a:pPr algn="l">
              <a:lnSpc>
                <a:spcPct val="150000"/>
              </a:lnSpc>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LR: 10⁻⁴</a:t>
            </a:r>
          </a:p>
        </p:txBody>
      </p:sp>
      <p:sp>
        <p:nvSpPr>
          <p:cNvPr id="113" name="training10-warmup">
            <a:extLst>
              <a:ext uri="{FF2B5EF4-FFF2-40B4-BE49-F238E27FC236}">
                <a16:creationId xmlns:a16="http://schemas.microsoft.com/office/drawing/2014/main" id="{50E3D12E-20BD-489A-9B1B-F87BAB3289D4}"/>
              </a:ext>
            </a:extLst>
          </p:cNvPr>
          <p:cNvSpPr>
            <a:spLocks noGrp="1"/>
          </p:cNvSpPr>
          <p:nvPr/>
        </p:nvSpPr>
        <p:spPr>
          <a:xfrm>
            <a:off x="4236027" y="4262250"/>
            <a:ext cx="3667125" cy="419100"/>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dirty="0"/>
              <a:t>3</a:t>
            </a:r>
            <a:r>
              <a:rPr lang="en-US" sz="2100" b="0" dirty="0">
                <a:solidFill>
                  <a:srgbClr val="202124"/>
                </a:solidFill>
                <a:latin typeface="Roboto"/>
                <a:ea typeface="Roboto"/>
                <a:cs typeface="Roboto"/>
              </a:rPr>
              <a:t>-epoch warm-up</a:t>
            </a:r>
          </a:p>
        </p:txBody>
      </p:sp>
      <p:sp>
        <p:nvSpPr>
          <p:cNvPr id="114" name="training10-cosine">
            <a:extLst>
              <a:ext uri="{FF2B5EF4-FFF2-40B4-BE49-F238E27FC236}">
                <a16:creationId xmlns:a16="http://schemas.microsoft.com/office/drawing/2014/main" id="{6D276118-4CED-4B6C-82AB-4B6771E8FE83}"/>
              </a:ext>
            </a:extLst>
          </p:cNvPr>
          <p:cNvSpPr>
            <a:spLocks noGrp="1"/>
          </p:cNvSpPr>
          <p:nvPr/>
        </p:nvSpPr>
        <p:spPr>
          <a:xfrm>
            <a:off x="4236027" y="4738500"/>
            <a:ext cx="3667125" cy="419100"/>
          </a:xfrm>
          <a:prstGeom prst="rect">
            <a:avLst/>
          </a:prstGeom>
          <a:noFill/>
          <a:ln w="0">
            <a:noFill/>
          </a:ln>
        </p:spPr>
        <p:txBody>
          <a:bodyPr wrap="square" lIns="0" tIns="0" rIns="0" bIns="0" anchor="t">
            <a:noAutofit/>
          </a:bodyPr>
          <a:lstStyle>
            <a:defPPr algn="l">
              <a:defRPr lang="en-US" sz="2000" b="0">
                <a:solidFill>
                  <a:srgbClr val="202124"/>
                </a:solidFill>
                <a:latin typeface="Roboto"/>
                <a:ea typeface="Roboto"/>
                <a:cs typeface="Roboto"/>
              </a:defRPr>
            </a:defPPr>
            <a:lvl1pPr algn="l">
              <a:defRPr lang="en-US" sz="2000" b="0">
                <a:solidFill>
                  <a:srgbClr val="202124"/>
                </a:solidFill>
                <a:latin typeface="Roboto"/>
                <a:ea typeface="Roboto"/>
                <a:cs typeface="Roboto"/>
              </a:defRPr>
            </a:lvl1pPr>
            <a:lvl2pPr algn="l">
              <a:defRPr lang="en-US" sz="2000" b="0">
                <a:solidFill>
                  <a:srgbClr val="202124"/>
                </a:solidFill>
                <a:latin typeface="Roboto"/>
                <a:ea typeface="Roboto"/>
                <a:cs typeface="Roboto"/>
              </a:defRPr>
            </a:lvl2pPr>
            <a:lvl3pPr algn="l">
              <a:defRPr lang="en-US" sz="2000" b="0">
                <a:solidFill>
                  <a:srgbClr val="202124"/>
                </a:solidFill>
                <a:latin typeface="Roboto"/>
                <a:ea typeface="Roboto"/>
                <a:cs typeface="Roboto"/>
              </a:defRPr>
            </a:lvl3pPr>
            <a:lvl4pPr algn="l">
              <a:defRPr lang="en-US" sz="2000" b="0">
                <a:solidFill>
                  <a:srgbClr val="202124"/>
                </a:solidFill>
                <a:latin typeface="Roboto"/>
                <a:ea typeface="Roboto"/>
                <a:cs typeface="Roboto"/>
              </a:defRPr>
            </a:lvl4pPr>
            <a:lvl5pPr algn="l">
              <a:defRPr lang="en-US" sz="2000" b="0">
                <a:solidFill>
                  <a:srgbClr val="202124"/>
                </a:solidFill>
                <a:latin typeface="Roboto"/>
                <a:ea typeface="Roboto"/>
                <a:cs typeface="Roboto"/>
              </a:defRPr>
            </a:lvl5pPr>
            <a:lvl6pPr algn="l">
              <a:defRPr lang="en-US" sz="2000" b="0">
                <a:solidFill>
                  <a:srgbClr val="202124"/>
                </a:solidFill>
                <a:latin typeface="Roboto"/>
                <a:ea typeface="Roboto"/>
                <a:cs typeface="Roboto"/>
              </a:defRPr>
            </a:lvl6pPr>
            <a:lvl7pPr algn="l">
              <a:defRPr lang="en-US" sz="2000" b="0">
                <a:solidFill>
                  <a:srgbClr val="202124"/>
                </a:solidFill>
                <a:latin typeface="Roboto"/>
                <a:ea typeface="Roboto"/>
                <a:cs typeface="Roboto"/>
              </a:defRPr>
            </a:lvl7pPr>
            <a:lvl8pPr algn="l">
              <a:defRPr lang="en-US" sz="2000" b="0">
                <a:solidFill>
                  <a:srgbClr val="202124"/>
                </a:solidFill>
                <a:latin typeface="Roboto"/>
                <a:ea typeface="Roboto"/>
                <a:cs typeface="Roboto"/>
              </a:defRPr>
            </a:lvl8pPr>
            <a:lvl9pPr algn="l">
              <a:defRPr lang="en-US" sz="2000" b="0">
                <a:solidFill>
                  <a:srgbClr val="202124"/>
                </a:solidFill>
                <a:latin typeface="Roboto"/>
                <a:ea typeface="Roboto"/>
                <a:cs typeface="Roboto"/>
              </a:defRPr>
            </a:lvl9pPr>
          </a:lstStyle>
          <a:p>
            <a:pPr algn="l">
              <a:defRPr lang="en-US" sz="2000" b="0">
                <a:solidFill>
                  <a:srgbClr val="202124"/>
                </a:solidFill>
                <a:latin typeface="Roboto"/>
                <a:ea typeface="Roboto"/>
                <a:cs typeface="Roboto"/>
              </a:defRPr>
            </a:pPr>
            <a:r>
              <a:rPr lang="en-US" sz="2000" b="0" dirty="0">
                <a:solidFill>
                  <a:srgbClr val="202124"/>
                </a:solidFill>
                <a:latin typeface="Roboto"/>
                <a:ea typeface="Roboto"/>
                <a:cs typeface="Roboto"/>
              </a:rPr>
              <a:t>Cosine LR decay</a:t>
            </a:r>
          </a:p>
        </p:txBody>
      </p:sp>
      <p:sp>
        <p:nvSpPr>
          <p:cNvPr id="115" name="training10-best-metric">
            <a:extLst>
              <a:ext uri="{FF2B5EF4-FFF2-40B4-BE49-F238E27FC236}">
                <a16:creationId xmlns:a16="http://schemas.microsoft.com/office/drawing/2014/main" id="{DBA40154-5503-45ED-9670-4C3E6B9CE8E3}"/>
              </a:ext>
            </a:extLst>
          </p:cNvPr>
          <p:cNvSpPr>
            <a:spLocks noGrp="1"/>
          </p:cNvSpPr>
          <p:nvPr/>
        </p:nvSpPr>
        <p:spPr>
          <a:xfrm>
            <a:off x="8341302" y="2888259"/>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algn="l">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Base models are in FP32</a:t>
            </a:r>
          </a:p>
        </p:txBody>
      </p:sp>
      <p:sp>
        <p:nvSpPr>
          <p:cNvPr id="6" name="training10-best-metric">
            <a:extLst>
              <a:ext uri="{FF2B5EF4-FFF2-40B4-BE49-F238E27FC236}">
                <a16:creationId xmlns:a16="http://schemas.microsoft.com/office/drawing/2014/main" id="{D614CF7F-78B2-B829-DDDC-2A1EC47B7F5B}"/>
              </a:ext>
            </a:extLst>
          </p:cNvPr>
          <p:cNvSpPr>
            <a:spLocks noGrp="1"/>
          </p:cNvSpPr>
          <p:nvPr/>
        </p:nvSpPr>
        <p:spPr>
          <a:xfrm>
            <a:off x="8341302" y="3429000"/>
            <a:ext cx="3228975" cy="428625"/>
          </a:xfrm>
          <a:prstGeom prst="rect">
            <a:avLst/>
          </a:prstGeom>
          <a:noFill/>
          <a:ln w="0">
            <a:noFill/>
          </a:ln>
        </p:spPr>
        <p:txBody>
          <a:bodyPr wrap="square" lIns="0" tIns="0" rIns="0" bIns="0" anchor="t">
            <a:noAutofit/>
          </a:bodyPr>
          <a:lstStyle>
            <a:defPPr algn="l">
              <a:defRPr lang="en-US" sz="2100" b="1">
                <a:solidFill>
                  <a:srgbClr val="822433"/>
                </a:solidFill>
                <a:latin typeface="Roboto"/>
                <a:ea typeface="Roboto"/>
                <a:cs typeface="Roboto"/>
              </a:defRPr>
            </a:defPPr>
            <a:lvl1pPr algn="l">
              <a:defRPr lang="en-US" sz="2100" b="1">
                <a:solidFill>
                  <a:srgbClr val="822433"/>
                </a:solidFill>
                <a:latin typeface="Roboto"/>
                <a:ea typeface="Roboto"/>
                <a:cs typeface="Roboto"/>
              </a:defRPr>
            </a:lvl1pPr>
            <a:lvl2pPr algn="l">
              <a:defRPr lang="en-US" sz="2100" b="1">
                <a:solidFill>
                  <a:srgbClr val="822433"/>
                </a:solidFill>
                <a:latin typeface="Roboto"/>
                <a:ea typeface="Roboto"/>
                <a:cs typeface="Roboto"/>
              </a:defRPr>
            </a:lvl2pPr>
            <a:lvl3pPr algn="l">
              <a:defRPr lang="en-US" sz="2100" b="1">
                <a:solidFill>
                  <a:srgbClr val="822433"/>
                </a:solidFill>
                <a:latin typeface="Roboto"/>
                <a:ea typeface="Roboto"/>
                <a:cs typeface="Roboto"/>
              </a:defRPr>
            </a:lvl3pPr>
            <a:lvl4pPr algn="l">
              <a:defRPr lang="en-US" sz="2100" b="1">
                <a:solidFill>
                  <a:srgbClr val="822433"/>
                </a:solidFill>
                <a:latin typeface="Roboto"/>
                <a:ea typeface="Roboto"/>
                <a:cs typeface="Roboto"/>
              </a:defRPr>
            </a:lvl4pPr>
            <a:lvl5pPr algn="l">
              <a:defRPr lang="en-US" sz="2100" b="1">
                <a:solidFill>
                  <a:srgbClr val="822433"/>
                </a:solidFill>
                <a:latin typeface="Roboto"/>
                <a:ea typeface="Roboto"/>
                <a:cs typeface="Roboto"/>
              </a:defRPr>
            </a:lvl5pPr>
            <a:lvl6pPr algn="l">
              <a:defRPr lang="en-US" sz="2100" b="1">
                <a:solidFill>
                  <a:srgbClr val="822433"/>
                </a:solidFill>
                <a:latin typeface="Roboto"/>
                <a:ea typeface="Roboto"/>
                <a:cs typeface="Roboto"/>
              </a:defRPr>
            </a:lvl6pPr>
            <a:lvl7pPr algn="l">
              <a:defRPr lang="en-US" sz="2100" b="1">
                <a:solidFill>
                  <a:srgbClr val="822433"/>
                </a:solidFill>
                <a:latin typeface="Roboto"/>
                <a:ea typeface="Roboto"/>
                <a:cs typeface="Roboto"/>
              </a:defRPr>
            </a:lvl7pPr>
            <a:lvl8pPr algn="l">
              <a:defRPr lang="en-US" sz="2100" b="1">
                <a:solidFill>
                  <a:srgbClr val="822433"/>
                </a:solidFill>
                <a:latin typeface="Roboto"/>
                <a:ea typeface="Roboto"/>
                <a:cs typeface="Roboto"/>
              </a:defRPr>
            </a:lvl8pPr>
            <a:lvl9pPr algn="l">
              <a:defRPr lang="en-US" sz="2100" b="1">
                <a:solidFill>
                  <a:srgbClr val="822433"/>
                </a:solidFill>
                <a:latin typeface="Roboto"/>
                <a:ea typeface="Roboto"/>
                <a:cs typeface="Roboto"/>
              </a:defRPr>
            </a:lvl9pPr>
          </a:lstStyle>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FP16</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PTQ INT8</a:t>
            </a:r>
          </a:p>
          <a:p>
            <a:pPr marL="342900" indent="-342900" algn="l">
              <a:buFont typeface="Arial" panose="020B0604020202020204" pitchFamily="34" charset="0"/>
              <a:buChar char="•"/>
              <a:defRPr lang="en-US" sz="2100" b="1">
                <a:solidFill>
                  <a:srgbClr val="822433"/>
                </a:solidFill>
                <a:latin typeface="Roboto"/>
                <a:ea typeface="Roboto"/>
                <a:cs typeface="Roboto"/>
              </a:defRPr>
            </a:pPr>
            <a:endParaRPr lang="en-US" b="0" dirty="0">
              <a:solidFill>
                <a:schemeClr val="tx1"/>
              </a:solidFill>
            </a:endParaRPr>
          </a:p>
          <a:p>
            <a:pPr marL="342900" indent="-342900" algn="l">
              <a:buFont typeface="Arial" panose="020B0604020202020204" pitchFamily="34" charset="0"/>
              <a:buChar char="•"/>
              <a:defRPr lang="en-US" sz="2100" b="1">
                <a:solidFill>
                  <a:srgbClr val="822433"/>
                </a:solidFill>
                <a:latin typeface="Roboto"/>
                <a:ea typeface="Roboto"/>
                <a:cs typeface="Roboto"/>
              </a:defRPr>
            </a:pPr>
            <a:r>
              <a:rPr lang="en-US" sz="2100" b="0" dirty="0">
                <a:solidFill>
                  <a:schemeClr val="tx1"/>
                </a:solidFill>
                <a:latin typeface="Roboto"/>
                <a:ea typeface="Roboto"/>
                <a:cs typeface="Roboto"/>
              </a:rPr>
              <a:t>QAT INT8</a:t>
            </a:r>
          </a:p>
        </p:txBody>
      </p:sp>
      <p:cxnSp>
        <p:nvCxnSpPr>
          <p:cNvPr id="8" name="Connettore diritto 7">
            <a:extLst>
              <a:ext uri="{FF2B5EF4-FFF2-40B4-BE49-F238E27FC236}">
                <a16:creationId xmlns:a16="http://schemas.microsoft.com/office/drawing/2014/main" id="{860C4971-2384-C68F-618B-07B452E1EEA1}"/>
              </a:ext>
            </a:extLst>
          </p:cNvPr>
          <p:cNvCxnSpPr>
            <a:cxnSpLocks/>
          </p:cNvCxnSpPr>
          <p:nvPr/>
        </p:nvCxnSpPr>
        <p:spPr>
          <a:xfrm flipV="1">
            <a:off x="3733800"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cxnSp>
        <p:nvCxnSpPr>
          <p:cNvPr id="12" name="Connettore diritto 11">
            <a:extLst>
              <a:ext uri="{FF2B5EF4-FFF2-40B4-BE49-F238E27FC236}">
                <a16:creationId xmlns:a16="http://schemas.microsoft.com/office/drawing/2014/main" id="{0FB6FBB0-091D-00D3-A59D-82B189730255}"/>
              </a:ext>
            </a:extLst>
          </p:cNvPr>
          <p:cNvCxnSpPr>
            <a:cxnSpLocks/>
          </p:cNvCxnSpPr>
          <p:nvPr/>
        </p:nvCxnSpPr>
        <p:spPr>
          <a:xfrm flipV="1">
            <a:off x="7798377" y="2286000"/>
            <a:ext cx="0" cy="2770909"/>
          </a:xfrm>
          <a:prstGeom prst="line">
            <a:avLst/>
          </a:prstGeom>
          <a:ln w="19050">
            <a:solidFill>
              <a:srgbClr val="82243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727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0CF514-51FB-0831-F607-CB0746B6F3CF}"/>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64EB2A-DB37-5AF4-8B49-A070B465FCF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Dataset Generation</a:t>
            </a:r>
          </a:p>
        </p:txBody>
      </p:sp>
      <p:sp>
        <p:nvSpPr>
          <p:cNvPr id="3" name="Segnaposto testo 2">
            <a:extLst>
              <a:ext uri="{FF2B5EF4-FFF2-40B4-BE49-F238E27FC236}">
                <a16:creationId xmlns:a16="http://schemas.microsoft.com/office/drawing/2014/main" id="{1F097CE2-62C2-7482-DA69-541CE1388B8A}"/>
              </a:ext>
            </a:extLst>
          </p:cNvPr>
          <p:cNvSpPr>
            <a:spLocks noGrp="1"/>
          </p:cNvSpPr>
          <p:nvPr>
            <p:ph type="body" idx="1"/>
          </p:nvPr>
        </p:nvSpPr>
        <p:spPr>
          <a:xfrm>
            <a:off x="844550" y="2968740"/>
            <a:ext cx="10515600" cy="920520"/>
          </a:xfrm>
        </p:spPr>
        <p:txBody>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FE8401AB-8BDF-C7D0-201F-A40255D162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11</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9BD8D4ED-5213-8DBD-F4D2-272CBA1006B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724A29BA-4CB0-A2B7-BD16-921F2DB6D40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Synthetic Damage Inspection</a:t>
            </a:r>
            <a:br>
              <a:rPr lang="en-US" dirty="0"/>
            </a:br>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32765106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C9132F-3D6A-E774-458D-4DF1F3BFF3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3BDF087-0FFC-462A-2244-85E7C89FEDAB}"/>
              </a:ext>
            </a:extLst>
          </p:cNvPr>
          <p:cNvSpPr>
            <a:spLocks noGrp="1"/>
          </p:cNvSpPr>
          <p:nvPr>
            <p:ph type="title"/>
          </p:nvPr>
        </p:nvSpPr>
        <p:spPr>
          <a:xfrm>
            <a:off x="838200" y="365125"/>
            <a:ext cx="8384177" cy="835787"/>
          </a:xfrm>
        </p:spPr>
        <p:txBody>
          <a:bodyPr/>
          <a:lstStyle/>
          <a:p>
            <a:r>
              <a:rPr lang="en-US" noProof="0" dirty="0">
                <a:solidFill>
                  <a:srgbClr val="822433"/>
                </a:solidFill>
              </a:rPr>
              <a:t>Design Requirements</a:t>
            </a:r>
          </a:p>
        </p:txBody>
      </p:sp>
      <p:sp>
        <p:nvSpPr>
          <p:cNvPr id="4" name="Google Shape;102;p14">
            <a:extLst>
              <a:ext uri="{FF2B5EF4-FFF2-40B4-BE49-F238E27FC236}">
                <a16:creationId xmlns:a16="http://schemas.microsoft.com/office/drawing/2014/main" id="{35F5CFE7-CBCB-E20C-A36B-49AB1798BD2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FF09CC6-77B6-F436-740B-C1A896A4156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7D764894-6FF9-6CDB-0D56-C02EFB4D66D5}"/>
              </a:ext>
            </a:extLst>
          </p:cNvPr>
          <p:cNvSpPr>
            <a:spLocks noGrp="1"/>
          </p:cNvSpPr>
          <p:nvPr>
            <p:ph idx="1"/>
          </p:nvPr>
        </p:nvSpPr>
        <p:spPr>
          <a:xfrm>
            <a:off x="838200" y="2053122"/>
            <a:ext cx="10515600" cy="4351338"/>
          </a:xfrm>
        </p:spPr>
        <p:txBody>
          <a:bodyPr/>
          <a:lstStyle/>
          <a:p>
            <a:r>
              <a:rPr lang="it-IT" dirty="0"/>
              <a:t>Target Rover: </a:t>
            </a:r>
            <a:r>
              <a:rPr lang="it-IT" dirty="0">
                <a:solidFill>
                  <a:srgbClr val="822433"/>
                </a:solidFill>
              </a:rPr>
              <a:t>Curiosity</a:t>
            </a:r>
          </a:p>
          <a:p>
            <a:r>
              <a:rPr lang="it-IT" b="1" u="sng" dirty="0">
                <a:solidFill>
                  <a:srgbClr val="822433"/>
                </a:solidFill>
              </a:rPr>
              <a:t>1</a:t>
            </a:r>
            <a:r>
              <a:rPr lang="it-IT" sz="3600" b="1" dirty="0">
                <a:solidFill>
                  <a:srgbClr val="822433"/>
                </a:solidFill>
              </a:rPr>
              <a:t> </a:t>
            </a:r>
            <a:r>
              <a:rPr lang="it-IT" dirty="0" err="1"/>
              <a:t>anomaly</a:t>
            </a:r>
            <a:r>
              <a:rPr lang="it-IT" dirty="0"/>
              <a:t> class: wheel </a:t>
            </a:r>
            <a:r>
              <a:rPr lang="it-IT" dirty="0" err="1"/>
              <a:t>perforations</a:t>
            </a:r>
            <a:endParaRPr lang="it-IT" dirty="0"/>
          </a:p>
          <a:p>
            <a:r>
              <a:rPr lang="it-IT" dirty="0"/>
              <a:t>Training </a:t>
            </a:r>
            <a:r>
              <a:rPr lang="it-IT" dirty="0" err="1">
                <a:solidFill>
                  <a:srgbClr val="822433"/>
                </a:solidFill>
              </a:rPr>
              <a:t>normal-only</a:t>
            </a:r>
            <a:endParaRPr lang="it-IT" dirty="0">
              <a:solidFill>
                <a:srgbClr val="822433"/>
              </a:solidFill>
            </a:endParaRPr>
          </a:p>
          <a:p>
            <a:r>
              <a:rPr lang="it-IT" dirty="0">
                <a:solidFill>
                  <a:srgbClr val="822433"/>
                </a:solidFill>
              </a:rPr>
              <a:t>Domain </a:t>
            </a:r>
            <a:r>
              <a:rPr lang="it-IT" dirty="0" err="1">
                <a:solidFill>
                  <a:srgbClr val="822433"/>
                </a:solidFill>
              </a:rPr>
              <a:t>randomization</a:t>
            </a:r>
            <a:r>
              <a:rPr lang="it-IT" dirty="0">
                <a:solidFill>
                  <a:srgbClr val="822433"/>
                </a:solidFill>
              </a:rPr>
              <a:t> </a:t>
            </a:r>
            <a:r>
              <a:rPr lang="it-IT" dirty="0"/>
              <a:t>to </a:t>
            </a:r>
            <a:r>
              <a:rPr lang="it-IT" dirty="0" err="1"/>
              <a:t>prevent</a:t>
            </a:r>
            <a:r>
              <a:rPr lang="it-IT" dirty="0"/>
              <a:t> </a:t>
            </a:r>
            <a:r>
              <a:rPr lang="it-IT" dirty="0" err="1"/>
              <a:t>overfitting</a:t>
            </a:r>
            <a:endParaRPr lang="it-IT" dirty="0"/>
          </a:p>
          <a:p>
            <a:r>
              <a:rPr lang="it-IT" dirty="0">
                <a:solidFill>
                  <a:srgbClr val="822433"/>
                </a:solidFill>
              </a:rPr>
              <a:t>Pilot</a:t>
            </a:r>
            <a:r>
              <a:rPr lang="it-IT" dirty="0"/>
              <a:t> study</a:t>
            </a:r>
          </a:p>
        </p:txBody>
      </p:sp>
      <p:pic>
        <p:nvPicPr>
          <p:cNvPr id="8" name="Immagine 7" descr="NASA PNG Image">
            <a:extLst>
              <a:ext uri="{FF2B5EF4-FFF2-40B4-BE49-F238E27FC236}">
                <a16:creationId xmlns:a16="http://schemas.microsoft.com/office/drawing/2014/main" id="{2A6F564C-90FC-5442-BB5F-F87BCF43EE8A}"/>
              </a:ext>
            </a:extLst>
          </p:cNvPr>
          <p:cNvPicPr>
            <a:picLocks noChangeAspect="1"/>
          </p:cNvPicPr>
          <p:nvPr/>
        </p:nvPicPr>
        <p:blipFill>
          <a:blip r:embed="rId3"/>
          <a:stretch>
            <a:fillRect/>
          </a:stretch>
        </p:blipFill>
        <p:spPr>
          <a:xfrm rot="21050343">
            <a:off x="8783271" y="3128055"/>
            <a:ext cx="1067616" cy="907473"/>
          </a:xfrm>
          <a:prstGeom prst="rect">
            <a:avLst/>
          </a:prstGeom>
        </p:spPr>
      </p:pic>
      <p:pic>
        <p:nvPicPr>
          <p:cNvPr id="10" name="Immagine 9" descr="Blender Logo PNG Images Transparent Free Download">
            <a:extLst>
              <a:ext uri="{FF2B5EF4-FFF2-40B4-BE49-F238E27FC236}">
                <a16:creationId xmlns:a16="http://schemas.microsoft.com/office/drawing/2014/main" id="{9AAA2D60-D946-F0AC-4FA1-3E44811C04E9}"/>
              </a:ext>
            </a:extLst>
          </p:cNvPr>
          <p:cNvPicPr>
            <a:picLocks noChangeAspect="1"/>
          </p:cNvPicPr>
          <p:nvPr/>
        </p:nvPicPr>
        <p:blipFill>
          <a:blip r:embed="rId4"/>
          <a:stretch>
            <a:fillRect/>
          </a:stretch>
        </p:blipFill>
        <p:spPr>
          <a:xfrm rot="944221">
            <a:off x="9957495" y="3236881"/>
            <a:ext cx="1087584" cy="889100"/>
          </a:xfrm>
          <a:prstGeom prst="rect">
            <a:avLst/>
          </a:prstGeom>
        </p:spPr>
      </p:pic>
      <p:pic>
        <p:nvPicPr>
          <p:cNvPr id="11" name="Immagine 10" descr="Download Mars 2020 Rover - Mars Curiosity Rover Transparent - Full Size ...">
            <a:extLst>
              <a:ext uri="{FF2B5EF4-FFF2-40B4-BE49-F238E27FC236}">
                <a16:creationId xmlns:a16="http://schemas.microsoft.com/office/drawing/2014/main" id="{8E83AFDA-685F-DCF9-090A-CE79E623900B}"/>
              </a:ext>
            </a:extLst>
          </p:cNvPr>
          <p:cNvPicPr>
            <a:picLocks noChangeAspect="1"/>
          </p:cNvPicPr>
          <p:nvPr/>
        </p:nvPicPr>
        <p:blipFill>
          <a:blip r:embed="rId5"/>
          <a:stretch>
            <a:fillRect/>
          </a:stretch>
        </p:blipFill>
        <p:spPr>
          <a:xfrm>
            <a:off x="8776854" y="3818175"/>
            <a:ext cx="2043546" cy="1076446"/>
          </a:xfrm>
          <a:prstGeom prst="rect">
            <a:avLst/>
          </a:prstGeom>
        </p:spPr>
      </p:pic>
    </p:spTree>
    <p:extLst>
      <p:ext uri="{BB962C8B-B14F-4D97-AF65-F5344CB8AC3E}">
        <p14:creationId xmlns:p14="http://schemas.microsoft.com/office/powerpoint/2010/main" val="28875451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1847C44-8558-93D8-2F7C-66168671E90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6DBEF219-9FB1-D74B-788C-EDAE6421A376}"/>
              </a:ext>
            </a:extLst>
          </p:cNvPr>
          <p:cNvSpPr>
            <a:spLocks noGrp="1"/>
          </p:cNvSpPr>
          <p:nvPr>
            <p:ph type="title"/>
          </p:nvPr>
        </p:nvSpPr>
        <p:spPr>
          <a:xfrm>
            <a:off x="838200" y="365125"/>
            <a:ext cx="8384177" cy="835787"/>
          </a:xfrm>
        </p:spPr>
        <p:txBody>
          <a:bodyPr/>
          <a:lstStyle/>
          <a:p>
            <a:r>
              <a:rPr lang="en-US" noProof="0" dirty="0">
                <a:solidFill>
                  <a:srgbClr val="822433"/>
                </a:solidFill>
              </a:rPr>
              <a:t>Blender Scene</a:t>
            </a:r>
          </a:p>
        </p:txBody>
      </p:sp>
      <p:sp>
        <p:nvSpPr>
          <p:cNvPr id="4" name="Google Shape;102;p14">
            <a:extLst>
              <a:ext uri="{FF2B5EF4-FFF2-40B4-BE49-F238E27FC236}">
                <a16:creationId xmlns:a16="http://schemas.microsoft.com/office/drawing/2014/main" id="{A1F79FAC-68C4-89F7-07F1-EFD308CEC47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0ABAD18-070C-BCA4-1F33-EB2F21F7692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9837E98-4A42-EA03-9AD8-58309A1247B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[12] [13]</a:t>
            </a:r>
          </a:p>
        </p:txBody>
      </p:sp>
      <p:pic>
        <p:nvPicPr>
          <p:cNvPr id="10" name="Immagine 9">
            <a:extLst>
              <a:ext uri="{FF2B5EF4-FFF2-40B4-BE49-F238E27FC236}">
                <a16:creationId xmlns:a16="http://schemas.microsoft.com/office/drawing/2014/main" id="{8EDCBB45-C010-1E14-DABB-34F69BE94EC6}"/>
              </a:ext>
            </a:extLst>
          </p:cNvPr>
          <p:cNvPicPr>
            <a:picLocks noChangeAspect="1"/>
          </p:cNvPicPr>
          <p:nvPr/>
        </p:nvPicPr>
        <p:blipFill>
          <a:blip r:embed="rId3"/>
          <a:stretch/>
        </p:blipFill>
        <p:spPr>
          <a:xfrm>
            <a:off x="1390650" y="1476375"/>
            <a:ext cx="5791200" cy="4343400"/>
          </a:xfrm>
          <a:prstGeom prst="rect">
            <a:avLst/>
          </a:prstGeom>
          <a:effectLst>
            <a:outerShdw blurRad="50800" dist="38100" dir="2700000" algn="tl" rotWithShape="0">
              <a:prstClr val="black">
                <a:alpha val="40000"/>
              </a:prstClr>
            </a:outerShdw>
          </a:effectLst>
        </p:spPr>
      </p:pic>
      <p:sp>
        <p:nvSpPr>
          <p:cNvPr id="12" name="nasa-asset">
            <a:extLst>
              <a:ext uri="{FF2B5EF4-FFF2-40B4-BE49-F238E27FC236}">
                <a16:creationId xmlns:a16="http://schemas.microsoft.com/office/drawing/2014/main" id="{A3FE5B3F-4BB9-8B59-7340-0D1D3A088244}"/>
              </a:ext>
            </a:extLst>
          </p:cNvPr>
          <p:cNvSpPr>
            <a:spLocks noGrp="1"/>
          </p:cNvSpPr>
          <p:nvPr/>
        </p:nvSpPr>
        <p:spPr>
          <a:xfrm>
            <a:off x="7787987" y="228253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NASA </a:t>
            </a:r>
            <a:r>
              <a:rPr lang="en-US" sz="2175" b="1" dirty="0">
                <a:solidFill>
                  <a:schemeClr val="tx1"/>
                </a:solidFill>
                <a:latin typeface="Roboto"/>
                <a:ea typeface="Roboto"/>
                <a:cs typeface="Roboto"/>
              </a:rPr>
              <a:t>Curiosity asset</a:t>
            </a:r>
          </a:p>
        </p:txBody>
      </p:sp>
      <p:sp>
        <p:nvSpPr>
          <p:cNvPr id="14" name="nasa-asset">
            <a:extLst>
              <a:ext uri="{FF2B5EF4-FFF2-40B4-BE49-F238E27FC236}">
                <a16:creationId xmlns:a16="http://schemas.microsoft.com/office/drawing/2014/main" id="{A88FC7D0-0AB6-E6B2-655D-717732940BF3}"/>
              </a:ext>
            </a:extLst>
          </p:cNvPr>
          <p:cNvSpPr>
            <a:spLocks noGrp="1"/>
          </p:cNvSpPr>
          <p:nvPr/>
        </p:nvSpPr>
        <p:spPr>
          <a:xfrm>
            <a:off x="7787987" y="3179726"/>
            <a:ext cx="3333750" cy="396240"/>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Gale Crater </a:t>
            </a:r>
            <a:r>
              <a:rPr lang="en-US" sz="2175" b="1" dirty="0">
                <a:solidFill>
                  <a:schemeClr val="tx1"/>
                </a:solidFill>
                <a:latin typeface="Roboto"/>
                <a:ea typeface="Roboto"/>
                <a:cs typeface="Roboto"/>
              </a:rPr>
              <a:t>terrain (HiRISE)</a:t>
            </a:r>
          </a:p>
        </p:txBody>
      </p:sp>
      <p:sp>
        <p:nvSpPr>
          <p:cNvPr id="16" name="nasa-asset">
            <a:extLst>
              <a:ext uri="{FF2B5EF4-FFF2-40B4-BE49-F238E27FC236}">
                <a16:creationId xmlns:a16="http://schemas.microsoft.com/office/drawing/2014/main" id="{62823DE0-D3AD-66FA-7C79-475E9C6ABA82}"/>
              </a:ext>
            </a:extLst>
          </p:cNvPr>
          <p:cNvSpPr>
            <a:spLocks noGrp="1"/>
          </p:cNvSpPr>
          <p:nvPr/>
        </p:nvSpPr>
        <p:spPr>
          <a:xfrm>
            <a:off x="7787987" y="4076916"/>
            <a:ext cx="3333750" cy="668266"/>
          </a:xfrm>
          <a:prstGeom prst="rect">
            <a:avLst/>
          </a:prstGeom>
          <a:noFill/>
          <a:ln w="0">
            <a:noFill/>
          </a:ln>
          <a:effectLst/>
        </p:spPr>
        <p:txBody>
          <a:bodyPr wrap="square" lIns="0" tIns="0" rIns="0" bIns="0" anchor="t">
            <a:noAutofit/>
          </a:bodyPr>
          <a:lstStyle>
            <a:defPPr algn="ctr">
              <a:defRPr lang="en-US" sz="2175" b="1">
                <a:solidFill>
                  <a:srgbClr val="822433"/>
                </a:solidFill>
                <a:latin typeface="Roboto"/>
                <a:ea typeface="Roboto"/>
                <a:cs typeface="Roboto"/>
              </a:defRPr>
            </a:defPPr>
            <a:lvl1pPr algn="ctr">
              <a:defRPr lang="en-US" sz="2175" b="1">
                <a:solidFill>
                  <a:srgbClr val="822433"/>
                </a:solidFill>
                <a:latin typeface="Roboto"/>
                <a:ea typeface="Roboto"/>
                <a:cs typeface="Roboto"/>
              </a:defRPr>
            </a:lvl1pPr>
            <a:lvl2pPr algn="ctr">
              <a:defRPr lang="en-US" sz="2175" b="1">
                <a:solidFill>
                  <a:srgbClr val="822433"/>
                </a:solidFill>
                <a:latin typeface="Roboto"/>
                <a:ea typeface="Roboto"/>
                <a:cs typeface="Roboto"/>
              </a:defRPr>
            </a:lvl2pPr>
            <a:lvl3pPr algn="ctr">
              <a:defRPr lang="en-US" sz="2175" b="1">
                <a:solidFill>
                  <a:srgbClr val="822433"/>
                </a:solidFill>
                <a:latin typeface="Roboto"/>
                <a:ea typeface="Roboto"/>
                <a:cs typeface="Roboto"/>
              </a:defRPr>
            </a:lvl3pPr>
            <a:lvl4pPr algn="ctr">
              <a:defRPr lang="en-US" sz="2175" b="1">
                <a:solidFill>
                  <a:srgbClr val="822433"/>
                </a:solidFill>
                <a:latin typeface="Roboto"/>
                <a:ea typeface="Roboto"/>
                <a:cs typeface="Roboto"/>
              </a:defRPr>
            </a:lvl4pPr>
            <a:lvl5pPr algn="ctr">
              <a:defRPr lang="en-US" sz="2175" b="1">
                <a:solidFill>
                  <a:srgbClr val="822433"/>
                </a:solidFill>
                <a:latin typeface="Roboto"/>
                <a:ea typeface="Roboto"/>
                <a:cs typeface="Roboto"/>
              </a:defRPr>
            </a:lvl5pPr>
            <a:lvl6pPr algn="ctr">
              <a:defRPr lang="en-US" sz="2175" b="1">
                <a:solidFill>
                  <a:srgbClr val="822433"/>
                </a:solidFill>
                <a:latin typeface="Roboto"/>
                <a:ea typeface="Roboto"/>
                <a:cs typeface="Roboto"/>
              </a:defRPr>
            </a:lvl6pPr>
            <a:lvl7pPr algn="ctr">
              <a:defRPr lang="en-US" sz="2175" b="1">
                <a:solidFill>
                  <a:srgbClr val="822433"/>
                </a:solidFill>
                <a:latin typeface="Roboto"/>
                <a:ea typeface="Roboto"/>
                <a:cs typeface="Roboto"/>
              </a:defRPr>
            </a:lvl7pPr>
            <a:lvl8pPr algn="ctr">
              <a:defRPr lang="en-US" sz="2175" b="1">
                <a:solidFill>
                  <a:srgbClr val="822433"/>
                </a:solidFill>
                <a:latin typeface="Roboto"/>
                <a:ea typeface="Roboto"/>
                <a:cs typeface="Roboto"/>
              </a:defRPr>
            </a:lvl8pPr>
            <a:lvl9pPr algn="ctr">
              <a:defRPr lang="en-US" sz="2175" b="1">
                <a:solidFill>
                  <a:srgbClr val="822433"/>
                </a:solidFill>
                <a:latin typeface="Roboto"/>
                <a:ea typeface="Roboto"/>
                <a:cs typeface="Roboto"/>
              </a:defRPr>
            </a:lvl9pPr>
          </a:lstStyle>
          <a:p>
            <a:pPr algn="ctr">
              <a:defRPr lang="en-US" sz="2175" b="1">
                <a:solidFill>
                  <a:srgbClr val="822433"/>
                </a:solidFill>
                <a:latin typeface="Roboto"/>
                <a:ea typeface="Roboto"/>
                <a:cs typeface="Roboto"/>
              </a:defRPr>
            </a:pPr>
            <a:r>
              <a:rPr lang="en-US" sz="2175" b="1" dirty="0">
                <a:solidFill>
                  <a:srgbClr val="822433"/>
                </a:solidFill>
                <a:latin typeface="Roboto"/>
                <a:ea typeface="Roboto"/>
                <a:cs typeface="Roboto"/>
              </a:rPr>
              <a:t>Procedurally generated </a:t>
            </a:r>
            <a:r>
              <a:rPr lang="en-US" sz="2175" b="1" dirty="0">
                <a:solidFill>
                  <a:schemeClr val="tx1"/>
                </a:solidFill>
                <a:latin typeface="Roboto"/>
                <a:ea typeface="Roboto"/>
                <a:cs typeface="Roboto"/>
              </a:rPr>
              <a:t>local terrain details</a:t>
            </a:r>
          </a:p>
        </p:txBody>
      </p:sp>
    </p:spTree>
    <p:extLst>
      <p:ext uri="{BB962C8B-B14F-4D97-AF65-F5344CB8AC3E}">
        <p14:creationId xmlns:p14="http://schemas.microsoft.com/office/powerpoint/2010/main" val="359393324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A2EA06-8DED-AFB0-ADDE-C8EF7A6309C7}"/>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C1BE008-05A5-9AFB-03FE-DB68BF358F21}"/>
              </a:ext>
            </a:extLst>
          </p:cNvPr>
          <p:cNvSpPr>
            <a:spLocks noGrp="1"/>
          </p:cNvSpPr>
          <p:nvPr>
            <p:ph type="title"/>
          </p:nvPr>
        </p:nvSpPr>
        <p:spPr>
          <a:xfrm>
            <a:off x="838200" y="365125"/>
            <a:ext cx="8384177" cy="835787"/>
          </a:xfrm>
        </p:spPr>
        <p:txBody>
          <a:bodyPr/>
          <a:lstStyle/>
          <a:p>
            <a:r>
              <a:rPr lang="en-US" noProof="0" dirty="0">
                <a:solidFill>
                  <a:srgbClr val="822433"/>
                </a:solidFill>
              </a:rPr>
              <a:t>Synthetic Damage</a:t>
            </a:r>
          </a:p>
        </p:txBody>
      </p:sp>
      <p:sp>
        <p:nvSpPr>
          <p:cNvPr id="4" name="Google Shape;102;p14">
            <a:extLst>
              <a:ext uri="{FF2B5EF4-FFF2-40B4-BE49-F238E27FC236}">
                <a16:creationId xmlns:a16="http://schemas.microsoft.com/office/drawing/2014/main" id="{87C39705-A017-E958-C58F-1F8E8151E15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268C275-1E3A-6C00-E5E1-DEE86E15F97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10" name="label-paired-normal.png">
            <a:extLst>
              <a:ext uri="{FF2B5EF4-FFF2-40B4-BE49-F238E27FC236}">
                <a16:creationId xmlns:a16="http://schemas.microsoft.com/office/drawing/2014/main" id="{2B329D36-DA00-AEE9-463E-CD0C89C92564}"/>
              </a:ext>
            </a:extLst>
          </p:cNvPr>
          <p:cNvSpPr>
            <a:spLocks noGrp="1"/>
          </p:cNvSpPr>
          <p:nvPr/>
        </p:nvSpPr>
        <p:spPr>
          <a:xfrm>
            <a:off x="90487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a:solidFill>
                  <a:srgbClr val="822433"/>
                </a:solidFill>
                <a:latin typeface="Roboto"/>
                <a:ea typeface="Roboto"/>
                <a:cs typeface="Roboto"/>
              </a:rPr>
              <a:t>Normal</a:t>
            </a:r>
            <a:endParaRPr sz="2025" b="1" dirty="0">
              <a:solidFill>
                <a:srgbClr val="822433"/>
              </a:solidFill>
              <a:latin typeface="Roboto"/>
              <a:ea typeface="Roboto"/>
              <a:cs typeface="Roboto"/>
            </a:endParaRPr>
          </a:p>
        </p:txBody>
      </p:sp>
      <p:pic>
        <p:nvPicPr>
          <p:cNvPr id="12" name="Immagine 11">
            <a:extLst>
              <a:ext uri="{FF2B5EF4-FFF2-40B4-BE49-F238E27FC236}">
                <a16:creationId xmlns:a16="http://schemas.microsoft.com/office/drawing/2014/main" id="{7002725D-0B8E-AD71-78F7-BA71D85E114D}"/>
              </a:ext>
            </a:extLst>
          </p:cNvPr>
          <p:cNvPicPr>
            <a:picLocks noChangeAspect="1"/>
          </p:cNvPicPr>
          <p:nvPr/>
        </p:nvPicPr>
        <p:blipFill>
          <a:blip r:embed="rId3"/>
          <a:stretch/>
        </p:blipFill>
        <p:spPr>
          <a:xfrm>
            <a:off x="904875" y="2270522"/>
            <a:ext cx="3190875" cy="2393156"/>
          </a:xfrm>
          <a:prstGeom prst="rect">
            <a:avLst/>
          </a:prstGeom>
          <a:effectLst>
            <a:outerShdw blurRad="50800" dist="38100" dir="2700000" algn="tl" rotWithShape="0">
              <a:prstClr val="black">
                <a:alpha val="40000"/>
              </a:prstClr>
            </a:outerShdw>
          </a:effectLst>
        </p:spPr>
      </p:pic>
      <p:sp>
        <p:nvSpPr>
          <p:cNvPr id="14" name="label-paired-hole.png">
            <a:extLst>
              <a:ext uri="{FF2B5EF4-FFF2-40B4-BE49-F238E27FC236}">
                <a16:creationId xmlns:a16="http://schemas.microsoft.com/office/drawing/2014/main" id="{D1094802-5BD2-ED2B-253A-A6C22BEBF8EA}"/>
              </a:ext>
            </a:extLst>
          </p:cNvPr>
          <p:cNvSpPr>
            <a:spLocks noGrp="1"/>
          </p:cNvSpPr>
          <p:nvPr/>
        </p:nvSpPr>
        <p:spPr>
          <a:xfrm>
            <a:off x="4362450"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dirty="0" err="1"/>
              <a:t>Damaged</a:t>
            </a:r>
            <a:endParaRPr sz="2025" b="1" dirty="0">
              <a:solidFill>
                <a:srgbClr val="822433"/>
              </a:solidFill>
              <a:latin typeface="Roboto"/>
              <a:ea typeface="Roboto"/>
              <a:cs typeface="Roboto"/>
            </a:endParaRPr>
          </a:p>
        </p:txBody>
      </p:sp>
      <p:pic>
        <p:nvPicPr>
          <p:cNvPr id="16" name="Immagine 15">
            <a:extLst>
              <a:ext uri="{FF2B5EF4-FFF2-40B4-BE49-F238E27FC236}">
                <a16:creationId xmlns:a16="http://schemas.microsoft.com/office/drawing/2014/main" id="{0EC45F1E-5397-0AFB-B887-A4229FDAEFDC}"/>
              </a:ext>
            </a:extLst>
          </p:cNvPr>
          <p:cNvPicPr>
            <a:picLocks noChangeAspect="1"/>
          </p:cNvPicPr>
          <p:nvPr/>
        </p:nvPicPr>
        <p:blipFill>
          <a:blip r:embed="rId4"/>
          <a:stretch/>
        </p:blipFill>
        <p:spPr>
          <a:xfrm>
            <a:off x="4362450" y="2270522"/>
            <a:ext cx="3190875" cy="2393156"/>
          </a:xfrm>
          <a:prstGeom prst="rect">
            <a:avLst/>
          </a:prstGeom>
          <a:effectLst>
            <a:outerShdw blurRad="50800" dist="38100" dir="2700000" algn="tl" rotWithShape="0">
              <a:prstClr val="black">
                <a:alpha val="40000"/>
              </a:prstClr>
            </a:outerShdw>
          </a:effectLst>
        </p:spPr>
      </p:pic>
      <p:sp>
        <p:nvSpPr>
          <p:cNvPr id="18" name="label-paired-hole-mask.png">
            <a:extLst>
              <a:ext uri="{FF2B5EF4-FFF2-40B4-BE49-F238E27FC236}">
                <a16:creationId xmlns:a16="http://schemas.microsoft.com/office/drawing/2014/main" id="{35D45323-43D2-78B7-F103-C1DBBF71D7CF}"/>
              </a:ext>
            </a:extLst>
          </p:cNvPr>
          <p:cNvSpPr>
            <a:spLocks noGrp="1"/>
          </p:cNvSpPr>
          <p:nvPr/>
        </p:nvSpPr>
        <p:spPr>
          <a:xfrm>
            <a:off x="7820025" y="1581150"/>
            <a:ext cx="3190875" cy="381000"/>
          </a:xfrm>
          <a:prstGeom prst="rect">
            <a:avLst/>
          </a:prstGeom>
          <a:noFill/>
          <a:ln w="0">
            <a:noFill/>
          </a:ln>
        </p:spPr>
        <p:txBody>
          <a:bodyPr wrap="square" lIns="0" tIns="0" rIns="0" bIns="0" anchor="t">
            <a:noAutofit/>
          </a:bodyPr>
          <a:lstStyle>
            <a:defPPr algn="ctr">
              <a:defRPr sz="2025" b="1">
                <a:solidFill>
                  <a:srgbClr val="822433"/>
                </a:solidFill>
                <a:latin typeface="Roboto"/>
                <a:ea typeface="Roboto"/>
                <a:cs typeface="Roboto"/>
              </a:defRPr>
            </a:defPPr>
            <a:lvl1pPr algn="ctr">
              <a:defRPr sz="2025" b="1">
                <a:solidFill>
                  <a:srgbClr val="822433"/>
                </a:solidFill>
                <a:latin typeface="Roboto"/>
                <a:ea typeface="Roboto"/>
                <a:cs typeface="Roboto"/>
              </a:defRPr>
            </a:lvl1pPr>
            <a:lvl2pPr algn="ctr">
              <a:defRPr sz="2025" b="1">
                <a:solidFill>
                  <a:srgbClr val="822433"/>
                </a:solidFill>
                <a:latin typeface="Roboto"/>
                <a:ea typeface="Roboto"/>
                <a:cs typeface="Roboto"/>
              </a:defRPr>
            </a:lvl2pPr>
            <a:lvl3pPr algn="ctr">
              <a:defRPr sz="2025" b="1">
                <a:solidFill>
                  <a:srgbClr val="822433"/>
                </a:solidFill>
                <a:latin typeface="Roboto"/>
                <a:ea typeface="Roboto"/>
                <a:cs typeface="Roboto"/>
              </a:defRPr>
            </a:lvl3pPr>
            <a:lvl4pPr algn="ctr">
              <a:defRPr sz="2025" b="1">
                <a:solidFill>
                  <a:srgbClr val="822433"/>
                </a:solidFill>
                <a:latin typeface="Roboto"/>
                <a:ea typeface="Roboto"/>
                <a:cs typeface="Roboto"/>
              </a:defRPr>
            </a:lvl4pPr>
            <a:lvl5pPr algn="ctr">
              <a:defRPr sz="2025" b="1">
                <a:solidFill>
                  <a:srgbClr val="822433"/>
                </a:solidFill>
                <a:latin typeface="Roboto"/>
                <a:ea typeface="Roboto"/>
                <a:cs typeface="Roboto"/>
              </a:defRPr>
            </a:lvl5pPr>
            <a:lvl6pPr algn="ctr">
              <a:defRPr sz="2025" b="1">
                <a:solidFill>
                  <a:srgbClr val="822433"/>
                </a:solidFill>
                <a:latin typeface="Roboto"/>
                <a:ea typeface="Roboto"/>
                <a:cs typeface="Roboto"/>
              </a:defRPr>
            </a:lvl6pPr>
            <a:lvl7pPr algn="ctr">
              <a:defRPr sz="2025" b="1">
                <a:solidFill>
                  <a:srgbClr val="822433"/>
                </a:solidFill>
                <a:latin typeface="Roboto"/>
                <a:ea typeface="Roboto"/>
                <a:cs typeface="Roboto"/>
              </a:defRPr>
            </a:lvl7pPr>
            <a:lvl8pPr algn="ctr">
              <a:defRPr sz="2025" b="1">
                <a:solidFill>
                  <a:srgbClr val="822433"/>
                </a:solidFill>
                <a:latin typeface="Roboto"/>
                <a:ea typeface="Roboto"/>
                <a:cs typeface="Roboto"/>
              </a:defRPr>
            </a:lvl8pPr>
            <a:lvl9pPr algn="ctr">
              <a:defRPr sz="2025" b="1">
                <a:solidFill>
                  <a:srgbClr val="822433"/>
                </a:solidFill>
                <a:latin typeface="Roboto"/>
                <a:ea typeface="Roboto"/>
                <a:cs typeface="Roboto"/>
              </a:defRPr>
            </a:lvl9pPr>
          </a:lstStyle>
          <a:p>
            <a:pPr algn="ctr">
              <a:defRPr sz="2025" b="1">
                <a:solidFill>
                  <a:srgbClr val="822433"/>
                </a:solidFill>
                <a:latin typeface="Roboto"/>
                <a:ea typeface="Roboto"/>
                <a:cs typeface="Roboto"/>
              </a:defRPr>
            </a:pPr>
            <a:r>
              <a:rPr lang="it-IT" sz="2025" b="1" dirty="0" err="1">
                <a:solidFill>
                  <a:srgbClr val="822433"/>
                </a:solidFill>
                <a:latin typeface="Roboto"/>
                <a:ea typeface="Roboto"/>
                <a:cs typeface="Roboto"/>
              </a:rPr>
              <a:t>Damage</a:t>
            </a:r>
            <a:r>
              <a:rPr lang="it-IT" sz="2025" b="1" dirty="0">
                <a:solidFill>
                  <a:srgbClr val="822433"/>
                </a:solidFill>
                <a:latin typeface="Roboto"/>
                <a:ea typeface="Roboto"/>
                <a:cs typeface="Roboto"/>
              </a:rPr>
              <a:t> mask</a:t>
            </a:r>
            <a:endParaRPr sz="2025" b="1" dirty="0">
              <a:solidFill>
                <a:srgbClr val="822433"/>
              </a:solidFill>
              <a:latin typeface="Roboto"/>
              <a:ea typeface="Roboto"/>
              <a:cs typeface="Roboto"/>
            </a:endParaRPr>
          </a:p>
        </p:txBody>
      </p:sp>
      <p:pic>
        <p:nvPicPr>
          <p:cNvPr id="20" name="Immagine 19">
            <a:extLst>
              <a:ext uri="{FF2B5EF4-FFF2-40B4-BE49-F238E27FC236}">
                <a16:creationId xmlns:a16="http://schemas.microsoft.com/office/drawing/2014/main" id="{08B2B7F6-019F-E2BA-849F-4C0EB751C22E}"/>
              </a:ext>
            </a:extLst>
          </p:cNvPr>
          <p:cNvPicPr>
            <a:picLocks noChangeAspect="1"/>
          </p:cNvPicPr>
          <p:nvPr/>
        </p:nvPicPr>
        <p:blipFill>
          <a:blip r:embed="rId5"/>
          <a:stretch/>
        </p:blipFill>
        <p:spPr>
          <a:xfrm>
            <a:off x="7820025" y="2270522"/>
            <a:ext cx="3190875" cy="2393156"/>
          </a:xfrm>
          <a:prstGeom prst="rect">
            <a:avLst/>
          </a:prstGeom>
          <a:effectLst>
            <a:outerShdw blurRad="50800" dist="38100" dir="2700000" algn="tl" rotWithShape="0">
              <a:prstClr val="black">
                <a:alpha val="40000"/>
              </a:prstClr>
            </a:outerShdw>
          </a:effectLst>
        </p:spPr>
      </p:pic>
      <p:sp>
        <p:nvSpPr>
          <p:cNvPr id="22" name="paired-controls">
            <a:extLst>
              <a:ext uri="{FF2B5EF4-FFF2-40B4-BE49-F238E27FC236}">
                <a16:creationId xmlns:a16="http://schemas.microsoft.com/office/drawing/2014/main" id="{61F9908C-9F76-ACE3-2599-E9BD1BD1DA75}"/>
              </a:ext>
            </a:extLst>
          </p:cNvPr>
          <p:cNvSpPr>
            <a:spLocks noGrp="1"/>
          </p:cNvSpPr>
          <p:nvPr/>
        </p:nvSpPr>
        <p:spPr>
          <a:xfrm>
            <a:off x="652895" y="5471822"/>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0" dirty="0">
                <a:solidFill>
                  <a:srgbClr val="202124"/>
                </a:solidFill>
                <a:latin typeface="Roboto"/>
                <a:ea typeface="Roboto"/>
                <a:cs typeface="Roboto"/>
              </a:rPr>
              <a:t>Both images in the </a:t>
            </a:r>
            <a:r>
              <a:rPr lang="en-US" sz="2000" b="0" dirty="0">
                <a:solidFill>
                  <a:srgbClr val="822433"/>
                </a:solidFill>
                <a:latin typeface="Roboto"/>
                <a:ea typeface="Roboto"/>
                <a:cs typeface="Roboto"/>
              </a:rPr>
              <a:t>same split</a:t>
            </a:r>
            <a:r>
              <a:rPr lang="en-US" sz="2000" b="0" dirty="0">
                <a:solidFill>
                  <a:srgbClr val="202124"/>
                </a:solidFill>
                <a:latin typeface="Roboto"/>
                <a:ea typeface="Roboto"/>
                <a:cs typeface="Roboto"/>
              </a:rPr>
              <a:t>                       Comparison of normal and damaged observation</a:t>
            </a:r>
          </a:p>
        </p:txBody>
      </p:sp>
      <p:sp>
        <p:nvSpPr>
          <p:cNvPr id="23" name="Freccia a destra 22">
            <a:extLst>
              <a:ext uri="{FF2B5EF4-FFF2-40B4-BE49-F238E27FC236}">
                <a16:creationId xmlns:a16="http://schemas.microsoft.com/office/drawing/2014/main" id="{CF5D802E-0777-985F-BD16-42AA5214CA43}"/>
              </a:ext>
            </a:extLst>
          </p:cNvPr>
          <p:cNvSpPr/>
          <p:nvPr/>
        </p:nvSpPr>
        <p:spPr>
          <a:xfrm>
            <a:off x="4590183" y="5575731"/>
            <a:ext cx="914400" cy="124691"/>
          </a:xfrm>
          <a:prstGeom prst="rightArrow">
            <a:avLst/>
          </a:prstGeom>
          <a:solidFill>
            <a:srgbClr val="822433"/>
          </a:solidFill>
          <a:ln>
            <a:solidFill>
              <a:srgbClr val="822433"/>
            </a:solidFill>
          </a:ln>
          <a:effectLst>
            <a:outerShdw blurRad="50800" dist="38100" dir="2700000" algn="tl"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it-IT"/>
          </a:p>
        </p:txBody>
      </p:sp>
      <p:sp>
        <p:nvSpPr>
          <p:cNvPr id="25" name="paired-controls">
            <a:extLst>
              <a:ext uri="{FF2B5EF4-FFF2-40B4-BE49-F238E27FC236}">
                <a16:creationId xmlns:a16="http://schemas.microsoft.com/office/drawing/2014/main" id="{76FC8607-32B3-3203-A211-FAC2449CDB23}"/>
              </a:ext>
            </a:extLst>
          </p:cNvPr>
          <p:cNvSpPr>
            <a:spLocks noGrp="1"/>
          </p:cNvSpPr>
          <p:nvPr/>
        </p:nvSpPr>
        <p:spPr>
          <a:xfrm>
            <a:off x="652894" y="5118431"/>
            <a:ext cx="10886209" cy="457200"/>
          </a:xfrm>
          <a:prstGeom prst="rect">
            <a:avLst/>
          </a:prstGeom>
          <a:noFill/>
          <a:ln w="0">
            <a:noFill/>
          </a:ln>
        </p:spPr>
        <p:txBody>
          <a:bodyPr wrap="square" lIns="0" tIns="0" rIns="0" bIns="0" anchor="t">
            <a:noAutofit/>
          </a:bodyPr>
          <a:lstStyle>
            <a:defPPr algn="ctr">
              <a:defRPr sz="2250" b="0">
                <a:solidFill>
                  <a:srgbClr val="202124"/>
                </a:solidFill>
                <a:latin typeface="Roboto"/>
                <a:ea typeface="Roboto"/>
                <a:cs typeface="Roboto"/>
              </a:defRPr>
            </a:defPPr>
            <a:lvl1pPr algn="ctr">
              <a:defRPr sz="2250" b="0">
                <a:solidFill>
                  <a:srgbClr val="202124"/>
                </a:solidFill>
                <a:latin typeface="Roboto"/>
                <a:ea typeface="Roboto"/>
                <a:cs typeface="Roboto"/>
              </a:defRPr>
            </a:lvl1pPr>
            <a:lvl2pPr algn="ctr">
              <a:defRPr sz="2250" b="0">
                <a:solidFill>
                  <a:srgbClr val="202124"/>
                </a:solidFill>
                <a:latin typeface="Roboto"/>
                <a:ea typeface="Roboto"/>
                <a:cs typeface="Roboto"/>
              </a:defRPr>
            </a:lvl2pPr>
            <a:lvl3pPr algn="ctr">
              <a:defRPr sz="2250" b="0">
                <a:solidFill>
                  <a:srgbClr val="202124"/>
                </a:solidFill>
                <a:latin typeface="Roboto"/>
                <a:ea typeface="Roboto"/>
                <a:cs typeface="Roboto"/>
              </a:defRPr>
            </a:lvl3pPr>
            <a:lvl4pPr algn="ctr">
              <a:defRPr sz="2250" b="0">
                <a:solidFill>
                  <a:srgbClr val="202124"/>
                </a:solidFill>
                <a:latin typeface="Roboto"/>
                <a:ea typeface="Roboto"/>
                <a:cs typeface="Roboto"/>
              </a:defRPr>
            </a:lvl4pPr>
            <a:lvl5pPr algn="ctr">
              <a:defRPr sz="2250" b="0">
                <a:solidFill>
                  <a:srgbClr val="202124"/>
                </a:solidFill>
                <a:latin typeface="Roboto"/>
                <a:ea typeface="Roboto"/>
                <a:cs typeface="Roboto"/>
              </a:defRPr>
            </a:lvl5pPr>
            <a:lvl6pPr algn="ctr">
              <a:defRPr sz="2250" b="0">
                <a:solidFill>
                  <a:srgbClr val="202124"/>
                </a:solidFill>
                <a:latin typeface="Roboto"/>
                <a:ea typeface="Roboto"/>
                <a:cs typeface="Roboto"/>
              </a:defRPr>
            </a:lvl6pPr>
            <a:lvl7pPr algn="ctr">
              <a:defRPr sz="2250" b="0">
                <a:solidFill>
                  <a:srgbClr val="202124"/>
                </a:solidFill>
                <a:latin typeface="Roboto"/>
                <a:ea typeface="Roboto"/>
                <a:cs typeface="Roboto"/>
              </a:defRPr>
            </a:lvl7pPr>
            <a:lvl8pPr algn="ctr">
              <a:defRPr sz="2250" b="0">
                <a:solidFill>
                  <a:srgbClr val="202124"/>
                </a:solidFill>
                <a:latin typeface="Roboto"/>
                <a:ea typeface="Roboto"/>
                <a:cs typeface="Roboto"/>
              </a:defRPr>
            </a:lvl8pPr>
            <a:lvl9pPr algn="ctr">
              <a:defRPr sz="2250" b="0">
                <a:solidFill>
                  <a:srgbClr val="202124"/>
                </a:solidFill>
                <a:latin typeface="Roboto"/>
                <a:ea typeface="Roboto"/>
                <a:cs typeface="Roboto"/>
              </a:defRPr>
            </a:lvl9pPr>
          </a:lstStyle>
          <a:p>
            <a:pPr algn="ctr">
              <a:defRPr sz="2250" b="0">
                <a:solidFill>
                  <a:srgbClr val="202124"/>
                </a:solidFill>
                <a:latin typeface="Roboto"/>
                <a:ea typeface="Roboto"/>
                <a:cs typeface="Roboto"/>
              </a:defRPr>
            </a:pPr>
            <a:r>
              <a:rPr lang="en-US" sz="2000" b="1" u="sng" dirty="0">
                <a:solidFill>
                  <a:srgbClr val="822433"/>
                </a:solidFill>
              </a:rPr>
              <a:t>3</a:t>
            </a:r>
            <a:r>
              <a:rPr lang="en-US" sz="2000" dirty="0"/>
              <a:t> perforation levels by size: </a:t>
            </a:r>
            <a:r>
              <a:rPr lang="en-US" sz="2000" dirty="0">
                <a:solidFill>
                  <a:srgbClr val="822433"/>
                </a:solidFill>
              </a:rPr>
              <a:t>Small</a:t>
            </a:r>
            <a:r>
              <a:rPr lang="en-US" sz="2000" dirty="0"/>
              <a:t>, </a:t>
            </a:r>
            <a:r>
              <a:rPr lang="en-US" sz="2000" dirty="0">
                <a:solidFill>
                  <a:srgbClr val="822433"/>
                </a:solidFill>
              </a:rPr>
              <a:t>Medium</a:t>
            </a:r>
            <a:r>
              <a:rPr lang="en-US" sz="2000" dirty="0"/>
              <a:t> and </a:t>
            </a:r>
            <a:r>
              <a:rPr lang="en-US" sz="2000" dirty="0">
                <a:solidFill>
                  <a:srgbClr val="822433"/>
                </a:solidFill>
              </a:rPr>
              <a:t>Large</a:t>
            </a:r>
            <a:endParaRPr lang="en-US" sz="2000" b="0" dirty="0">
              <a:solidFill>
                <a:srgbClr val="822433"/>
              </a:solidFill>
              <a:latin typeface="Roboto"/>
              <a:ea typeface="Roboto"/>
              <a:cs typeface="Roboto"/>
            </a:endParaRPr>
          </a:p>
        </p:txBody>
      </p:sp>
    </p:spTree>
    <p:extLst>
      <p:ext uri="{BB962C8B-B14F-4D97-AF65-F5344CB8AC3E}">
        <p14:creationId xmlns:p14="http://schemas.microsoft.com/office/powerpoint/2010/main" val="40312411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F78E-2E75-56B3-AEE6-B0E24FE5647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CEFDBDD-FB58-CA2A-6B23-A3A07E7D7C24}"/>
              </a:ext>
            </a:extLst>
          </p:cNvPr>
          <p:cNvSpPr>
            <a:spLocks noGrp="1"/>
          </p:cNvSpPr>
          <p:nvPr>
            <p:ph type="title"/>
          </p:nvPr>
        </p:nvSpPr>
        <p:spPr>
          <a:xfrm>
            <a:off x="838200" y="365125"/>
            <a:ext cx="8384177" cy="835787"/>
          </a:xfrm>
        </p:spPr>
        <p:txBody>
          <a:bodyPr/>
          <a:lstStyle/>
          <a:p>
            <a:r>
              <a:rPr lang="en-US" noProof="0" dirty="0">
                <a:solidFill>
                  <a:srgbClr val="822433"/>
                </a:solidFill>
              </a:rPr>
              <a:t>Domain Randomization</a:t>
            </a:r>
          </a:p>
        </p:txBody>
      </p:sp>
      <p:sp>
        <p:nvSpPr>
          <p:cNvPr id="4" name="Google Shape;102;p14">
            <a:extLst>
              <a:ext uri="{FF2B5EF4-FFF2-40B4-BE49-F238E27FC236}">
                <a16:creationId xmlns:a16="http://schemas.microsoft.com/office/drawing/2014/main" id="{7C1776EE-3F55-C714-1960-B2BCB800748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D54CB8-9501-AA7C-79CB-3D9A42572BA3}"/>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088FEC76-8E6B-A884-8112-A7833EBA857C}"/>
              </a:ext>
            </a:extLst>
          </p:cNvPr>
          <p:cNvSpPr>
            <a:spLocks noGrp="1"/>
          </p:cNvSpPr>
          <p:nvPr/>
        </p:nvSpPr>
        <p:spPr>
          <a:xfrm>
            <a:off x="1038225" y="4257171"/>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dirty="0"/>
              <a:t>                               Clear                            			Evident wear                                                                              D: Upper detail</a:t>
            </a:r>
            <a:endParaRPr lang="en-US" sz="1125" b="0" dirty="0">
              <a:solidFill>
                <a:srgbClr val="656B73"/>
              </a:solidFill>
              <a:latin typeface="Roboto"/>
              <a:ea typeface="Roboto"/>
              <a:cs typeface="Roboto"/>
            </a:endParaRPr>
          </a:p>
        </p:txBody>
      </p:sp>
      <p:pic>
        <p:nvPicPr>
          <p:cNvPr id="10" name="Immagine 9">
            <a:extLst>
              <a:ext uri="{FF2B5EF4-FFF2-40B4-BE49-F238E27FC236}">
                <a16:creationId xmlns:a16="http://schemas.microsoft.com/office/drawing/2014/main" id="{A58F344A-DCDD-936D-D98F-983B54CC54EE}"/>
              </a:ext>
            </a:extLst>
          </p:cNvPr>
          <p:cNvPicPr>
            <a:picLocks noChangeAspect="1"/>
          </p:cNvPicPr>
          <p:nvPr/>
        </p:nvPicPr>
        <p:blipFill>
          <a:blip r:embed="rId3"/>
          <a:stretch/>
        </p:blipFill>
        <p:spPr>
          <a:xfrm>
            <a:off x="838200" y="1842697"/>
            <a:ext cx="3158114" cy="2368586"/>
          </a:xfrm>
          <a:prstGeom prst="rect">
            <a:avLst/>
          </a:prstGeom>
          <a:effectLst>
            <a:outerShdw blurRad="50800" dist="38100" dir="2700000" algn="tl" rotWithShape="0">
              <a:prstClr val="black">
                <a:alpha val="40000"/>
              </a:prstClr>
            </a:outerShdw>
          </a:effectLst>
        </p:spPr>
      </p:pic>
      <p:pic>
        <p:nvPicPr>
          <p:cNvPr id="12" name="Immagine 11">
            <a:extLst>
              <a:ext uri="{FF2B5EF4-FFF2-40B4-BE49-F238E27FC236}">
                <a16:creationId xmlns:a16="http://schemas.microsoft.com/office/drawing/2014/main" id="{06C2076E-5370-3A8A-8ABC-6D9793B390EB}"/>
              </a:ext>
            </a:extLst>
          </p:cNvPr>
          <p:cNvPicPr>
            <a:picLocks noChangeAspect="1"/>
          </p:cNvPicPr>
          <p:nvPr/>
        </p:nvPicPr>
        <p:blipFill>
          <a:blip r:embed="rId4"/>
          <a:stretch/>
        </p:blipFill>
        <p:spPr>
          <a:xfrm>
            <a:off x="4438650" y="1842697"/>
            <a:ext cx="3158114" cy="2368586"/>
          </a:xfrm>
          <a:prstGeom prst="rect">
            <a:avLst/>
          </a:prstGeom>
          <a:effectLst>
            <a:outerShdw blurRad="50800" dist="38100" dir="2700000" algn="tl" rotWithShape="0">
              <a:prstClr val="black">
                <a:alpha val="40000"/>
              </a:prstClr>
            </a:outerShdw>
          </a:effectLst>
        </p:spPr>
      </p:pic>
      <p:pic>
        <p:nvPicPr>
          <p:cNvPr id="14" name="Immagine 13">
            <a:extLst>
              <a:ext uri="{FF2B5EF4-FFF2-40B4-BE49-F238E27FC236}">
                <a16:creationId xmlns:a16="http://schemas.microsoft.com/office/drawing/2014/main" id="{6AC8D9D2-1EF9-95F5-CC94-589CD1DC5077}"/>
              </a:ext>
            </a:extLst>
          </p:cNvPr>
          <p:cNvPicPr>
            <a:picLocks noChangeAspect="1"/>
          </p:cNvPicPr>
          <p:nvPr/>
        </p:nvPicPr>
        <p:blipFill>
          <a:blip r:embed="rId5"/>
          <a:stretch/>
        </p:blipFill>
        <p:spPr>
          <a:xfrm>
            <a:off x="8039100" y="1842697"/>
            <a:ext cx="3158114" cy="2368586"/>
          </a:xfrm>
          <a:prstGeom prst="rect">
            <a:avLst/>
          </a:prstGeom>
          <a:effectLst>
            <a:outerShdw blurRad="50800" dist="38100" dir="2700000" algn="tl" rotWithShape="0">
              <a:prstClr val="black">
                <a:alpha val="40000"/>
              </a:prstClr>
            </a:outerShdw>
          </a:effectLst>
        </p:spPr>
      </p:pic>
      <p:sp>
        <p:nvSpPr>
          <p:cNvPr id="16" name="variation12-label-0-0">
            <a:extLst>
              <a:ext uri="{FF2B5EF4-FFF2-40B4-BE49-F238E27FC236}">
                <a16:creationId xmlns:a16="http://schemas.microsoft.com/office/drawing/2014/main" id="{C828AE87-F594-C59C-F2B8-24EE7F9CF067}"/>
              </a:ext>
            </a:extLst>
          </p:cNvPr>
          <p:cNvSpPr>
            <a:spLocks noGrp="1"/>
          </p:cNvSpPr>
          <p:nvPr/>
        </p:nvSpPr>
        <p:spPr>
          <a:xfrm>
            <a:off x="9334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Dusty</a:t>
            </a:r>
          </a:p>
        </p:txBody>
      </p:sp>
      <p:sp>
        <p:nvSpPr>
          <p:cNvPr id="18" name="variation12-share-0-0">
            <a:extLst>
              <a:ext uri="{FF2B5EF4-FFF2-40B4-BE49-F238E27FC236}">
                <a16:creationId xmlns:a16="http://schemas.microsoft.com/office/drawing/2014/main" id="{EBFB5BA4-9CB4-552F-4FE9-88423B188913}"/>
              </a:ext>
            </a:extLst>
          </p:cNvPr>
          <p:cNvSpPr>
            <a:spLocks noGrp="1"/>
          </p:cNvSpPr>
          <p:nvPr/>
        </p:nvSpPr>
        <p:spPr>
          <a:xfrm>
            <a:off x="31242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75%</a:t>
            </a:r>
          </a:p>
        </p:txBody>
      </p:sp>
      <p:sp>
        <p:nvSpPr>
          <p:cNvPr id="20" name="variation12-label-0-1">
            <a:extLst>
              <a:ext uri="{FF2B5EF4-FFF2-40B4-BE49-F238E27FC236}">
                <a16:creationId xmlns:a16="http://schemas.microsoft.com/office/drawing/2014/main" id="{ACF3ECDA-C4D8-3518-7375-B952321458FA}"/>
              </a:ext>
            </a:extLst>
          </p:cNvPr>
          <p:cNvSpPr>
            <a:spLocks noGrp="1"/>
          </p:cNvSpPr>
          <p:nvPr/>
        </p:nvSpPr>
        <p:spPr>
          <a:xfrm>
            <a:off x="9334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Clear</a:t>
            </a:r>
          </a:p>
        </p:txBody>
      </p:sp>
      <p:sp>
        <p:nvSpPr>
          <p:cNvPr id="22" name="variation12-share-0-1">
            <a:extLst>
              <a:ext uri="{FF2B5EF4-FFF2-40B4-BE49-F238E27FC236}">
                <a16:creationId xmlns:a16="http://schemas.microsoft.com/office/drawing/2014/main" id="{C368179D-6B26-238C-1272-AFB7FAB36A11}"/>
              </a:ext>
            </a:extLst>
          </p:cNvPr>
          <p:cNvSpPr>
            <a:spLocks noGrp="1"/>
          </p:cNvSpPr>
          <p:nvPr/>
        </p:nvSpPr>
        <p:spPr>
          <a:xfrm>
            <a:off x="31242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dirty="0">
                <a:solidFill>
                  <a:srgbClr val="822433"/>
                </a:solidFill>
                <a:latin typeface="Roboto"/>
                <a:ea typeface="Roboto"/>
                <a:cs typeface="Roboto"/>
              </a:rPr>
              <a:t>25%</a:t>
            </a:r>
          </a:p>
        </p:txBody>
      </p:sp>
      <p:sp>
        <p:nvSpPr>
          <p:cNvPr id="24" name="variation12-label-1-0">
            <a:extLst>
              <a:ext uri="{FF2B5EF4-FFF2-40B4-BE49-F238E27FC236}">
                <a16:creationId xmlns:a16="http://schemas.microsoft.com/office/drawing/2014/main" id="{ED37DD8A-FE8A-B5B1-A743-B051EFB86EC5}"/>
              </a:ext>
            </a:extLst>
          </p:cNvPr>
          <p:cNvSpPr>
            <a:spLocks noGrp="1"/>
          </p:cNvSpPr>
          <p:nvPr/>
        </p:nvSpPr>
        <p:spPr>
          <a:xfrm>
            <a:off x="453390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No extra wear</a:t>
            </a:r>
          </a:p>
        </p:txBody>
      </p:sp>
      <p:sp>
        <p:nvSpPr>
          <p:cNvPr id="26" name="variation12-share-1-0">
            <a:extLst>
              <a:ext uri="{FF2B5EF4-FFF2-40B4-BE49-F238E27FC236}">
                <a16:creationId xmlns:a16="http://schemas.microsoft.com/office/drawing/2014/main" id="{74C300FF-239B-827A-F1D9-90E653856414}"/>
              </a:ext>
            </a:extLst>
          </p:cNvPr>
          <p:cNvSpPr>
            <a:spLocks noGrp="1"/>
          </p:cNvSpPr>
          <p:nvPr/>
        </p:nvSpPr>
        <p:spPr>
          <a:xfrm>
            <a:off x="672465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20%</a:t>
            </a:r>
          </a:p>
        </p:txBody>
      </p:sp>
      <p:sp>
        <p:nvSpPr>
          <p:cNvPr id="28" name="variation12-label-1-1">
            <a:extLst>
              <a:ext uri="{FF2B5EF4-FFF2-40B4-BE49-F238E27FC236}">
                <a16:creationId xmlns:a16="http://schemas.microsoft.com/office/drawing/2014/main" id="{4EC5CCDB-A13E-B497-50F7-8840F3748300}"/>
              </a:ext>
            </a:extLst>
          </p:cNvPr>
          <p:cNvSpPr>
            <a:spLocks noGrp="1"/>
          </p:cNvSpPr>
          <p:nvPr/>
        </p:nvSpPr>
        <p:spPr>
          <a:xfrm>
            <a:off x="453390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Light wear</a:t>
            </a:r>
          </a:p>
        </p:txBody>
      </p:sp>
      <p:sp>
        <p:nvSpPr>
          <p:cNvPr id="30" name="variation12-share-1-1">
            <a:extLst>
              <a:ext uri="{FF2B5EF4-FFF2-40B4-BE49-F238E27FC236}">
                <a16:creationId xmlns:a16="http://schemas.microsoft.com/office/drawing/2014/main" id="{B38AB69A-9FBB-F2DE-0F8A-A8E82F20ADDF}"/>
              </a:ext>
            </a:extLst>
          </p:cNvPr>
          <p:cNvSpPr>
            <a:spLocks noGrp="1"/>
          </p:cNvSpPr>
          <p:nvPr/>
        </p:nvSpPr>
        <p:spPr>
          <a:xfrm>
            <a:off x="672465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45%</a:t>
            </a:r>
          </a:p>
        </p:txBody>
      </p:sp>
      <p:sp>
        <p:nvSpPr>
          <p:cNvPr id="32" name="variation12-label-1-2">
            <a:extLst>
              <a:ext uri="{FF2B5EF4-FFF2-40B4-BE49-F238E27FC236}">
                <a16:creationId xmlns:a16="http://schemas.microsoft.com/office/drawing/2014/main" id="{2F0304B3-7A68-E53B-99BB-D349F67AE0C7}"/>
              </a:ext>
            </a:extLst>
          </p:cNvPr>
          <p:cNvSpPr>
            <a:spLocks noGrp="1"/>
          </p:cNvSpPr>
          <p:nvPr/>
        </p:nvSpPr>
        <p:spPr>
          <a:xfrm>
            <a:off x="453390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Evident wear</a:t>
            </a:r>
          </a:p>
        </p:txBody>
      </p:sp>
      <p:sp>
        <p:nvSpPr>
          <p:cNvPr id="34" name="variation12-share-1-2">
            <a:extLst>
              <a:ext uri="{FF2B5EF4-FFF2-40B4-BE49-F238E27FC236}">
                <a16:creationId xmlns:a16="http://schemas.microsoft.com/office/drawing/2014/main" id="{C49F127B-79BB-A0A6-55D4-FA351B9087D7}"/>
              </a:ext>
            </a:extLst>
          </p:cNvPr>
          <p:cNvSpPr>
            <a:spLocks noGrp="1"/>
          </p:cNvSpPr>
          <p:nvPr/>
        </p:nvSpPr>
        <p:spPr>
          <a:xfrm>
            <a:off x="672465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35%</a:t>
            </a:r>
          </a:p>
        </p:txBody>
      </p:sp>
      <p:sp>
        <p:nvSpPr>
          <p:cNvPr id="36" name="variation12-label-2-0">
            <a:extLst>
              <a:ext uri="{FF2B5EF4-FFF2-40B4-BE49-F238E27FC236}">
                <a16:creationId xmlns:a16="http://schemas.microsoft.com/office/drawing/2014/main" id="{5E05A911-63D5-5D9D-F833-E077225BEDBF}"/>
              </a:ext>
            </a:extLst>
          </p:cNvPr>
          <p:cNvSpPr>
            <a:spLocks noGrp="1"/>
          </p:cNvSpPr>
          <p:nvPr/>
        </p:nvSpPr>
        <p:spPr>
          <a:xfrm>
            <a:off x="8134350" y="464585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A: Overhead</a:t>
            </a:r>
          </a:p>
        </p:txBody>
      </p:sp>
      <p:sp>
        <p:nvSpPr>
          <p:cNvPr id="38" name="variation12-share-2-0">
            <a:extLst>
              <a:ext uri="{FF2B5EF4-FFF2-40B4-BE49-F238E27FC236}">
                <a16:creationId xmlns:a16="http://schemas.microsoft.com/office/drawing/2014/main" id="{B4E9A15D-758A-4B87-6FA7-9E58209B6E91}"/>
              </a:ext>
            </a:extLst>
          </p:cNvPr>
          <p:cNvSpPr>
            <a:spLocks noGrp="1"/>
          </p:cNvSpPr>
          <p:nvPr/>
        </p:nvSpPr>
        <p:spPr>
          <a:xfrm>
            <a:off x="10325100" y="464585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40%</a:t>
            </a:r>
          </a:p>
        </p:txBody>
      </p:sp>
      <p:sp>
        <p:nvSpPr>
          <p:cNvPr id="40" name="variation12-label-2-1">
            <a:extLst>
              <a:ext uri="{FF2B5EF4-FFF2-40B4-BE49-F238E27FC236}">
                <a16:creationId xmlns:a16="http://schemas.microsoft.com/office/drawing/2014/main" id="{9DC8C06E-EB5F-A0AD-E291-1F87581F3506}"/>
              </a:ext>
            </a:extLst>
          </p:cNvPr>
          <p:cNvSpPr>
            <a:spLocks noGrp="1"/>
          </p:cNvSpPr>
          <p:nvPr/>
        </p:nvSpPr>
        <p:spPr>
          <a:xfrm>
            <a:off x="8134350" y="496018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C1: Leading</a:t>
            </a:r>
          </a:p>
        </p:txBody>
      </p:sp>
      <p:sp>
        <p:nvSpPr>
          <p:cNvPr id="42" name="variation12-share-2-1">
            <a:extLst>
              <a:ext uri="{FF2B5EF4-FFF2-40B4-BE49-F238E27FC236}">
                <a16:creationId xmlns:a16="http://schemas.microsoft.com/office/drawing/2014/main" id="{5965B414-5EC6-8E79-9CF8-27DAE16FC60F}"/>
              </a:ext>
            </a:extLst>
          </p:cNvPr>
          <p:cNvSpPr>
            <a:spLocks noGrp="1"/>
          </p:cNvSpPr>
          <p:nvPr/>
        </p:nvSpPr>
        <p:spPr>
          <a:xfrm>
            <a:off x="10325100" y="496018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4" name="variation12-label-2-2">
            <a:extLst>
              <a:ext uri="{FF2B5EF4-FFF2-40B4-BE49-F238E27FC236}">
                <a16:creationId xmlns:a16="http://schemas.microsoft.com/office/drawing/2014/main" id="{AE57C499-06E0-308C-53AD-D1B7F7EEC148}"/>
              </a:ext>
            </a:extLst>
          </p:cNvPr>
          <p:cNvSpPr>
            <a:spLocks noGrp="1"/>
          </p:cNvSpPr>
          <p:nvPr/>
        </p:nvSpPr>
        <p:spPr>
          <a:xfrm>
            <a:off x="8134350" y="5274509"/>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C2: Trailing</a:t>
            </a:r>
          </a:p>
        </p:txBody>
      </p:sp>
      <p:sp>
        <p:nvSpPr>
          <p:cNvPr id="46" name="variation12-share-2-2">
            <a:extLst>
              <a:ext uri="{FF2B5EF4-FFF2-40B4-BE49-F238E27FC236}">
                <a16:creationId xmlns:a16="http://schemas.microsoft.com/office/drawing/2014/main" id="{35AE90B3-6D18-EEF9-5714-75028E6CBAED}"/>
              </a:ext>
            </a:extLst>
          </p:cNvPr>
          <p:cNvSpPr>
            <a:spLocks noGrp="1"/>
          </p:cNvSpPr>
          <p:nvPr/>
        </p:nvSpPr>
        <p:spPr>
          <a:xfrm>
            <a:off x="10325100" y="5274509"/>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27.5%</a:t>
            </a:r>
          </a:p>
        </p:txBody>
      </p:sp>
      <p:sp>
        <p:nvSpPr>
          <p:cNvPr id="48" name="variation12-label-2-3">
            <a:extLst>
              <a:ext uri="{FF2B5EF4-FFF2-40B4-BE49-F238E27FC236}">
                <a16:creationId xmlns:a16="http://schemas.microsoft.com/office/drawing/2014/main" id="{2F865993-FD2F-8201-7020-4B228EC15C2D}"/>
              </a:ext>
            </a:extLst>
          </p:cNvPr>
          <p:cNvSpPr>
            <a:spLocks noGrp="1"/>
          </p:cNvSpPr>
          <p:nvPr/>
        </p:nvSpPr>
        <p:spPr>
          <a:xfrm>
            <a:off x="8134350" y="5588834"/>
            <a:ext cx="2181225" cy="323850"/>
          </a:xfrm>
          <a:prstGeom prst="rect">
            <a:avLst/>
          </a:prstGeom>
          <a:noFill/>
          <a:ln w="0">
            <a:noFill/>
          </a:ln>
        </p:spPr>
        <p:txBody>
          <a:bodyPr wrap="square" lIns="0" tIns="0" rIns="0" bIns="0" anchor="t">
            <a:noAutofit/>
          </a:bodyPr>
          <a:lstStyle>
            <a:defPPr algn="l">
              <a:defRPr sz="1875" b="0">
                <a:solidFill>
                  <a:srgbClr val="202124"/>
                </a:solidFill>
                <a:latin typeface="Roboto"/>
                <a:ea typeface="Roboto"/>
                <a:cs typeface="Roboto"/>
              </a:defRPr>
            </a:defPPr>
            <a:lvl1pPr algn="l">
              <a:defRPr sz="1875" b="0">
                <a:solidFill>
                  <a:srgbClr val="202124"/>
                </a:solidFill>
                <a:latin typeface="Roboto"/>
                <a:ea typeface="Roboto"/>
                <a:cs typeface="Roboto"/>
              </a:defRPr>
            </a:lvl1pPr>
            <a:lvl2pPr algn="l">
              <a:defRPr sz="1875" b="0">
                <a:solidFill>
                  <a:srgbClr val="202124"/>
                </a:solidFill>
                <a:latin typeface="Roboto"/>
                <a:ea typeface="Roboto"/>
                <a:cs typeface="Roboto"/>
              </a:defRPr>
            </a:lvl2pPr>
            <a:lvl3pPr algn="l">
              <a:defRPr sz="1875" b="0">
                <a:solidFill>
                  <a:srgbClr val="202124"/>
                </a:solidFill>
                <a:latin typeface="Roboto"/>
                <a:ea typeface="Roboto"/>
                <a:cs typeface="Roboto"/>
              </a:defRPr>
            </a:lvl3pPr>
            <a:lvl4pPr algn="l">
              <a:defRPr sz="1875" b="0">
                <a:solidFill>
                  <a:srgbClr val="202124"/>
                </a:solidFill>
                <a:latin typeface="Roboto"/>
                <a:ea typeface="Roboto"/>
                <a:cs typeface="Roboto"/>
              </a:defRPr>
            </a:lvl4pPr>
            <a:lvl5pPr algn="l">
              <a:defRPr sz="1875" b="0">
                <a:solidFill>
                  <a:srgbClr val="202124"/>
                </a:solidFill>
                <a:latin typeface="Roboto"/>
                <a:ea typeface="Roboto"/>
                <a:cs typeface="Roboto"/>
              </a:defRPr>
            </a:lvl5pPr>
            <a:lvl6pPr algn="l">
              <a:defRPr sz="1875" b="0">
                <a:solidFill>
                  <a:srgbClr val="202124"/>
                </a:solidFill>
                <a:latin typeface="Roboto"/>
                <a:ea typeface="Roboto"/>
                <a:cs typeface="Roboto"/>
              </a:defRPr>
            </a:lvl6pPr>
            <a:lvl7pPr algn="l">
              <a:defRPr sz="1875" b="0">
                <a:solidFill>
                  <a:srgbClr val="202124"/>
                </a:solidFill>
                <a:latin typeface="Roboto"/>
                <a:ea typeface="Roboto"/>
                <a:cs typeface="Roboto"/>
              </a:defRPr>
            </a:lvl7pPr>
            <a:lvl8pPr algn="l">
              <a:defRPr sz="1875" b="0">
                <a:solidFill>
                  <a:srgbClr val="202124"/>
                </a:solidFill>
                <a:latin typeface="Roboto"/>
                <a:ea typeface="Roboto"/>
                <a:cs typeface="Roboto"/>
              </a:defRPr>
            </a:lvl8pPr>
            <a:lvl9pPr algn="l">
              <a:defRPr sz="1875" b="0">
                <a:solidFill>
                  <a:srgbClr val="202124"/>
                </a:solidFill>
                <a:latin typeface="Roboto"/>
                <a:ea typeface="Roboto"/>
                <a:cs typeface="Roboto"/>
              </a:defRPr>
            </a:lvl9pPr>
          </a:lstStyle>
          <a:p>
            <a:pPr algn="l">
              <a:defRPr sz="1875" b="0">
                <a:solidFill>
                  <a:srgbClr val="202124"/>
                </a:solidFill>
                <a:latin typeface="Roboto"/>
                <a:ea typeface="Roboto"/>
                <a:cs typeface="Roboto"/>
              </a:defRPr>
            </a:pPr>
            <a:r>
              <a:rPr sz="1875" b="0">
                <a:solidFill>
                  <a:srgbClr val="202124"/>
                </a:solidFill>
                <a:latin typeface="Roboto"/>
                <a:ea typeface="Roboto"/>
                <a:cs typeface="Roboto"/>
              </a:rPr>
              <a:t>D: Upper detail</a:t>
            </a:r>
          </a:p>
        </p:txBody>
      </p:sp>
      <p:sp>
        <p:nvSpPr>
          <p:cNvPr id="50" name="variation12-share-2-3">
            <a:extLst>
              <a:ext uri="{FF2B5EF4-FFF2-40B4-BE49-F238E27FC236}">
                <a16:creationId xmlns:a16="http://schemas.microsoft.com/office/drawing/2014/main" id="{1769C892-7288-7966-FDC5-E338C523FC3C}"/>
              </a:ext>
            </a:extLst>
          </p:cNvPr>
          <p:cNvSpPr>
            <a:spLocks noGrp="1"/>
          </p:cNvSpPr>
          <p:nvPr/>
        </p:nvSpPr>
        <p:spPr>
          <a:xfrm>
            <a:off x="10325100" y="5588834"/>
            <a:ext cx="809625" cy="323850"/>
          </a:xfrm>
          <a:prstGeom prst="rect">
            <a:avLst/>
          </a:prstGeom>
          <a:noFill/>
          <a:ln w="0">
            <a:noFill/>
          </a:ln>
        </p:spPr>
        <p:txBody>
          <a:bodyPr wrap="square" lIns="0" tIns="0" rIns="0" bIns="0" anchor="t">
            <a:noAutofit/>
          </a:bodyPr>
          <a:lstStyle>
            <a:defPPr algn="r">
              <a:defRPr sz="1875" b="1">
                <a:solidFill>
                  <a:srgbClr val="822433"/>
                </a:solidFill>
                <a:latin typeface="Roboto"/>
                <a:ea typeface="Roboto"/>
                <a:cs typeface="Roboto"/>
              </a:defRPr>
            </a:defPPr>
            <a:lvl1pPr algn="r">
              <a:defRPr sz="1875" b="1">
                <a:solidFill>
                  <a:srgbClr val="822433"/>
                </a:solidFill>
                <a:latin typeface="Roboto"/>
                <a:ea typeface="Roboto"/>
                <a:cs typeface="Roboto"/>
              </a:defRPr>
            </a:lvl1pPr>
            <a:lvl2pPr algn="r">
              <a:defRPr sz="1875" b="1">
                <a:solidFill>
                  <a:srgbClr val="822433"/>
                </a:solidFill>
                <a:latin typeface="Roboto"/>
                <a:ea typeface="Roboto"/>
                <a:cs typeface="Roboto"/>
              </a:defRPr>
            </a:lvl2pPr>
            <a:lvl3pPr algn="r">
              <a:defRPr sz="1875" b="1">
                <a:solidFill>
                  <a:srgbClr val="822433"/>
                </a:solidFill>
                <a:latin typeface="Roboto"/>
                <a:ea typeface="Roboto"/>
                <a:cs typeface="Roboto"/>
              </a:defRPr>
            </a:lvl3pPr>
            <a:lvl4pPr algn="r">
              <a:defRPr sz="1875" b="1">
                <a:solidFill>
                  <a:srgbClr val="822433"/>
                </a:solidFill>
                <a:latin typeface="Roboto"/>
                <a:ea typeface="Roboto"/>
                <a:cs typeface="Roboto"/>
              </a:defRPr>
            </a:lvl4pPr>
            <a:lvl5pPr algn="r">
              <a:defRPr sz="1875" b="1">
                <a:solidFill>
                  <a:srgbClr val="822433"/>
                </a:solidFill>
                <a:latin typeface="Roboto"/>
                <a:ea typeface="Roboto"/>
                <a:cs typeface="Roboto"/>
              </a:defRPr>
            </a:lvl5pPr>
            <a:lvl6pPr algn="r">
              <a:defRPr sz="1875" b="1">
                <a:solidFill>
                  <a:srgbClr val="822433"/>
                </a:solidFill>
                <a:latin typeface="Roboto"/>
                <a:ea typeface="Roboto"/>
                <a:cs typeface="Roboto"/>
              </a:defRPr>
            </a:lvl6pPr>
            <a:lvl7pPr algn="r">
              <a:defRPr sz="1875" b="1">
                <a:solidFill>
                  <a:srgbClr val="822433"/>
                </a:solidFill>
                <a:latin typeface="Roboto"/>
                <a:ea typeface="Roboto"/>
                <a:cs typeface="Roboto"/>
              </a:defRPr>
            </a:lvl7pPr>
            <a:lvl8pPr algn="r">
              <a:defRPr sz="1875" b="1">
                <a:solidFill>
                  <a:srgbClr val="822433"/>
                </a:solidFill>
                <a:latin typeface="Roboto"/>
                <a:ea typeface="Roboto"/>
                <a:cs typeface="Roboto"/>
              </a:defRPr>
            </a:lvl8pPr>
            <a:lvl9pPr algn="r">
              <a:defRPr sz="1875" b="1">
                <a:solidFill>
                  <a:srgbClr val="822433"/>
                </a:solidFill>
                <a:latin typeface="Roboto"/>
                <a:ea typeface="Roboto"/>
                <a:cs typeface="Roboto"/>
              </a:defRPr>
            </a:lvl9pPr>
          </a:lstStyle>
          <a:p>
            <a:pPr algn="r">
              <a:defRPr sz="1875" b="1">
                <a:solidFill>
                  <a:srgbClr val="822433"/>
                </a:solidFill>
                <a:latin typeface="Roboto"/>
                <a:ea typeface="Roboto"/>
                <a:cs typeface="Roboto"/>
              </a:defRPr>
            </a:pPr>
            <a:r>
              <a:rPr sz="1875" b="1">
                <a:solidFill>
                  <a:srgbClr val="822433"/>
                </a:solidFill>
                <a:latin typeface="Roboto"/>
                <a:ea typeface="Roboto"/>
                <a:cs typeface="Roboto"/>
              </a:rPr>
              <a:t>5%</a:t>
            </a:r>
          </a:p>
        </p:txBody>
      </p:sp>
      <p:sp>
        <p:nvSpPr>
          <p:cNvPr id="54" name="source-citations">
            <a:extLst>
              <a:ext uri="{FF2B5EF4-FFF2-40B4-BE49-F238E27FC236}">
                <a16:creationId xmlns:a16="http://schemas.microsoft.com/office/drawing/2014/main" id="{002CD51F-28ED-4B5A-E67E-9FFAA44F7DF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[14]</a:t>
            </a:r>
          </a:p>
        </p:txBody>
      </p:sp>
    </p:spTree>
    <p:extLst>
      <p:ext uri="{BB962C8B-B14F-4D97-AF65-F5344CB8AC3E}">
        <p14:creationId xmlns:p14="http://schemas.microsoft.com/office/powerpoint/2010/main" val="40535940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CE4D9F-3155-055A-38C5-60B758E2E18A}"/>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7D24C4A-5FF0-D8EC-4305-FC8A8B7BEA37}"/>
              </a:ext>
            </a:extLst>
          </p:cNvPr>
          <p:cNvSpPr>
            <a:spLocks noGrp="1"/>
          </p:cNvSpPr>
          <p:nvPr>
            <p:ph type="title"/>
          </p:nvPr>
        </p:nvSpPr>
        <p:spPr>
          <a:xfrm>
            <a:off x="838200" y="365125"/>
            <a:ext cx="8384177" cy="835787"/>
          </a:xfrm>
        </p:spPr>
        <p:txBody>
          <a:bodyPr/>
          <a:lstStyle/>
          <a:p>
            <a:r>
              <a:rPr lang="en-US" noProof="0" dirty="0">
                <a:solidFill>
                  <a:srgbClr val="822433"/>
                </a:solidFill>
              </a:rPr>
              <a:t>Dataset Composition</a:t>
            </a:r>
          </a:p>
        </p:txBody>
      </p:sp>
      <p:sp>
        <p:nvSpPr>
          <p:cNvPr id="4" name="Google Shape;102;p14">
            <a:extLst>
              <a:ext uri="{FF2B5EF4-FFF2-40B4-BE49-F238E27FC236}">
                <a16:creationId xmlns:a16="http://schemas.microsoft.com/office/drawing/2014/main" id="{AE760294-A9ED-6852-FE55-D254453DA5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E6BD4C08-CCAD-C9DB-7D7D-8D6559A8131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4D3A9B68-C251-B335-8A60-AC3AAE2A2262}"/>
              </a:ext>
            </a:extLst>
          </p:cNvPr>
          <p:cNvSpPr>
            <a:spLocks noGrp="1"/>
          </p:cNvSpPr>
          <p:nvPr>
            <p:ph idx="1"/>
          </p:nvPr>
        </p:nvSpPr>
        <p:spPr>
          <a:xfrm>
            <a:off x="838200" y="1825625"/>
            <a:ext cx="10515600" cy="3717925"/>
          </a:xfrm>
        </p:spPr>
        <p:txBody>
          <a:bodyPr/>
          <a:lstStyle/>
          <a:p>
            <a:pPr marL="0" indent="0">
              <a:buNone/>
            </a:pPr>
            <a:r>
              <a:rPr lang="en-US" sz="3600" b="1" noProof="0" dirty="0">
                <a:solidFill>
                  <a:srgbClr val="822433"/>
                </a:solidFill>
              </a:rPr>
              <a:t>10,000</a:t>
            </a:r>
            <a:r>
              <a:rPr lang="en-US" noProof="0" dirty="0"/>
              <a:t> RGB images across all 6 wheels</a:t>
            </a:r>
          </a:p>
          <a:p>
            <a:pPr marL="0" indent="0">
              <a:buNone/>
            </a:pPr>
            <a:r>
              <a:rPr lang="en-US" dirty="0"/>
              <a:t>1200 </a:t>
            </a:r>
            <a:r>
              <a:rPr lang="en-US" dirty="0">
                <a:solidFill>
                  <a:srgbClr val="202124"/>
                </a:solidFill>
                <a:latin typeface="Roboto"/>
                <a:ea typeface="Roboto"/>
                <a:cs typeface="Roboto"/>
              </a:rPr>
              <a:t>×</a:t>
            </a:r>
            <a:r>
              <a:rPr lang="en-US" dirty="0"/>
              <a:t> 900 resolution</a:t>
            </a:r>
          </a:p>
          <a:p>
            <a:pPr marL="0" indent="0">
              <a:buNone/>
            </a:pPr>
            <a:endParaRPr lang="en-US" noProof="0" dirty="0"/>
          </a:p>
          <a:p>
            <a:pPr>
              <a:buFontTx/>
              <a:buChar char="-"/>
            </a:pPr>
            <a:r>
              <a:rPr lang="en-US" noProof="0" dirty="0"/>
              <a:t>Training: 		</a:t>
            </a:r>
            <a:r>
              <a:rPr lang="en-US" b="1" noProof="0" dirty="0">
                <a:solidFill>
                  <a:srgbClr val="822433"/>
                </a:solidFill>
              </a:rPr>
              <a:t>7,000</a:t>
            </a:r>
            <a:r>
              <a:rPr lang="en-US" noProof="0" dirty="0"/>
              <a:t> normal </a:t>
            </a:r>
          </a:p>
          <a:p>
            <a:pPr>
              <a:buFontTx/>
              <a:buChar char="-"/>
            </a:pPr>
            <a:r>
              <a:rPr lang="en-US" noProof="0" dirty="0"/>
              <a:t>Validation	:	   </a:t>
            </a:r>
            <a:r>
              <a:rPr lang="en-US" b="1" noProof="0" dirty="0">
                <a:solidFill>
                  <a:srgbClr val="822433"/>
                </a:solidFill>
              </a:rPr>
              <a:t>750</a:t>
            </a:r>
            <a:r>
              <a:rPr lang="en-US" noProof="0" dirty="0"/>
              <a:t> normal       </a:t>
            </a:r>
            <a:r>
              <a:rPr lang="en-US" b="1" noProof="0" dirty="0">
                <a:solidFill>
                  <a:srgbClr val="822433"/>
                </a:solidFill>
              </a:rPr>
              <a:t>250</a:t>
            </a:r>
            <a:r>
              <a:rPr lang="en-US" noProof="0" dirty="0"/>
              <a:t> perforated</a:t>
            </a:r>
          </a:p>
          <a:p>
            <a:pPr>
              <a:buFontTx/>
              <a:buChar char="-"/>
            </a:pPr>
            <a:r>
              <a:rPr lang="en-US" noProof="0" dirty="0"/>
              <a:t>Test:		</a:t>
            </a:r>
            <a:r>
              <a:rPr lang="en-US" b="1" noProof="0" dirty="0">
                <a:solidFill>
                  <a:srgbClr val="822433"/>
                </a:solidFill>
              </a:rPr>
              <a:t>1,000</a:t>
            </a:r>
            <a:r>
              <a:rPr lang="en-US" noProof="0" dirty="0"/>
              <a:t> normal    </a:t>
            </a:r>
            <a:r>
              <a:rPr lang="en-US" b="1" noProof="0" dirty="0">
                <a:solidFill>
                  <a:srgbClr val="822433"/>
                </a:solidFill>
              </a:rPr>
              <a:t>1,000</a:t>
            </a:r>
            <a:r>
              <a:rPr lang="en-US" noProof="0" dirty="0"/>
              <a:t> perforated</a:t>
            </a:r>
          </a:p>
        </p:txBody>
      </p:sp>
      <p:sp>
        <p:nvSpPr>
          <p:cNvPr id="3" name="TextBox 2">
            <a:extLst>
              <a:ext uri="{FF2B5EF4-FFF2-40B4-BE49-F238E27FC236}">
                <a16:creationId xmlns:a16="http://schemas.microsoft.com/office/drawing/2014/main" id="{877139A3-B9A6-CEED-2633-12DF0C656C08}"/>
              </a:ext>
            </a:extLst>
          </p:cNvPr>
          <p:cNvSpPr txBox="1"/>
          <p:nvPr/>
        </p:nvSpPr>
        <p:spPr>
          <a:xfrm>
            <a:off x="838200" y="5915025"/>
            <a:ext cx="2255746" cy="369332"/>
          </a:xfrm>
          <a:prstGeom prst="rect">
            <a:avLst/>
          </a:prstGeom>
          <a:noFill/>
        </p:spPr>
        <p:txBody>
          <a:bodyPr wrap="none" rtlCol="0">
            <a:spAutoFit/>
          </a:bodyPr>
          <a:lstStyle/>
          <a:p>
            <a:r>
              <a:rPr lang="en-GB" dirty="0">
                <a:solidFill>
                  <a:schemeClr val="tx1">
                    <a:lumMod val="50000"/>
                    <a:lumOff val="50000"/>
                  </a:schemeClr>
                </a:solidFill>
                <a:latin typeface="Roboto" panose="02000000000000000000" pitchFamily="2" charset="0"/>
                <a:ea typeface="Roboto" panose="02000000000000000000" pitchFamily="2" charset="0"/>
                <a:cs typeface="Roboto" panose="02000000000000000000" pitchFamily="2" charset="0"/>
              </a:rPr>
              <a:t>Available on </a:t>
            </a:r>
            <a:r>
              <a:rPr lang="en-GB" dirty="0">
                <a:solidFill>
                  <a:srgbClr val="822433"/>
                </a:solidFill>
                <a:latin typeface="Roboto" panose="02000000000000000000" pitchFamily="2" charset="0"/>
                <a:ea typeface="Roboto" panose="02000000000000000000" pitchFamily="2" charset="0"/>
                <a:cs typeface="Roboto" panose="02000000000000000000" pitchFamily="2" charset="0"/>
                <a:hlinkClick r:id="rId3">
                  <a:extLst>
                    <a:ext uri="{A12FA001-AC4F-418D-AE19-62706E023703}">
                      <ahyp:hlinkClr xmlns:ahyp="http://schemas.microsoft.com/office/drawing/2018/hyperlinkcolor" val="tx"/>
                    </a:ext>
                  </a:extLst>
                </a:hlinkClick>
              </a:rPr>
              <a:t>Kaggle</a:t>
            </a:r>
            <a:endParaRPr lang="en-GB" dirty="0">
              <a:solidFill>
                <a:srgbClr val="822433"/>
              </a:solidFill>
              <a:latin typeface="Roboto" panose="02000000000000000000" pitchFamily="2" charset="0"/>
              <a:ea typeface="Roboto" panose="02000000000000000000" pitchFamily="2" charset="0"/>
              <a:cs typeface="Roboto" panose="02000000000000000000" pitchFamily="2" charset="0"/>
            </a:endParaRPr>
          </a:p>
        </p:txBody>
      </p:sp>
    </p:spTree>
    <p:extLst>
      <p:ext uri="{BB962C8B-B14F-4D97-AF65-F5344CB8AC3E}">
        <p14:creationId xmlns:p14="http://schemas.microsoft.com/office/powerpoint/2010/main" val="233086835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A917CD-A89E-8C54-997C-BA0E00DE8D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20EAFFA2-E325-B7EB-A1DF-65A026D25762}"/>
              </a:ext>
            </a:extLst>
          </p:cNvPr>
          <p:cNvSpPr>
            <a:spLocks noGrp="1"/>
          </p:cNvSpPr>
          <p:nvPr>
            <p:ph type="title"/>
          </p:nvPr>
        </p:nvSpPr>
        <p:spPr/>
        <p:txBody>
          <a:bodyPr>
            <a:normAutofit/>
          </a:bodyPr>
          <a:lstStyle/>
          <a:p>
            <a:r>
              <a:rPr lang="it-IT" sz="5400" dirty="0" err="1">
                <a:solidFill>
                  <a:srgbClr val="822433"/>
                </a:solidFill>
              </a:rPr>
              <a:t>Synthetic</a:t>
            </a:r>
            <a:r>
              <a:rPr lang="it-IT" sz="5400" dirty="0">
                <a:solidFill>
                  <a:srgbClr val="822433"/>
                </a:solidFill>
              </a:rPr>
              <a:t> </a:t>
            </a:r>
            <a:r>
              <a:rPr lang="it-IT" sz="5400" dirty="0" err="1">
                <a:solidFill>
                  <a:srgbClr val="822433"/>
                </a:solidFill>
              </a:rPr>
              <a:t>Damage</a:t>
            </a:r>
            <a:r>
              <a:rPr lang="it-IT" sz="5400" dirty="0">
                <a:solidFill>
                  <a:srgbClr val="822433"/>
                </a:solidFill>
              </a:rPr>
              <a:t> </a:t>
            </a:r>
            <a:r>
              <a:rPr lang="it-IT" sz="5400" dirty="0" err="1">
                <a:solidFill>
                  <a:srgbClr val="822433"/>
                </a:solidFill>
              </a:rPr>
              <a:t>Inspection</a:t>
            </a:r>
            <a:endParaRPr lang="it-IT" sz="5400" dirty="0">
              <a:solidFill>
                <a:srgbClr val="822433"/>
              </a:solidFill>
            </a:endParaRPr>
          </a:p>
        </p:txBody>
      </p:sp>
      <p:sp>
        <p:nvSpPr>
          <p:cNvPr id="3" name="Segnaposto testo 2">
            <a:extLst>
              <a:ext uri="{FF2B5EF4-FFF2-40B4-BE49-F238E27FC236}">
                <a16:creationId xmlns:a16="http://schemas.microsoft.com/office/drawing/2014/main" id="{013F41C7-15DC-0FAD-374D-EE5514064876}"/>
              </a:ext>
            </a:extLst>
          </p:cNvPr>
          <p:cNvSpPr>
            <a:spLocks noGrp="1"/>
          </p:cNvSpPr>
          <p:nvPr>
            <p:ph type="body" idx="1"/>
          </p:nvPr>
        </p:nvSpPr>
        <p:spPr>
          <a:xfrm>
            <a:off x="844550" y="2576945"/>
            <a:ext cx="10515600" cy="1312315"/>
          </a:xfrm>
        </p:spPr>
        <p:txBody>
          <a:bodyPr>
            <a:normAutofit/>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p>
        </p:txBody>
      </p:sp>
      <p:sp>
        <p:nvSpPr>
          <p:cNvPr id="4" name="Google Shape;102;p14">
            <a:extLst>
              <a:ext uri="{FF2B5EF4-FFF2-40B4-BE49-F238E27FC236}">
                <a16:creationId xmlns:a16="http://schemas.microsoft.com/office/drawing/2014/main" id="{9CB9DC0C-587C-2A06-FF6D-CEE1DE16D59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17</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BBA62F15-ABE4-D939-594E-7BF8AE0DD10E}"/>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87B65971-BB8B-0232-30D8-0A7A53F2F3E4}"/>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Results</a:t>
            </a:r>
            <a:br>
              <a:rPr lang="en-US" dirty="0"/>
            </a:br>
            <a:r>
              <a:rPr lang="en-US" dirty="0"/>
              <a:t>Conclusions</a:t>
            </a:r>
            <a:endParaRPr lang="it-IT" dirty="0"/>
          </a:p>
        </p:txBody>
      </p:sp>
    </p:spTree>
    <p:extLst>
      <p:ext uri="{BB962C8B-B14F-4D97-AF65-F5344CB8AC3E}">
        <p14:creationId xmlns:p14="http://schemas.microsoft.com/office/powerpoint/2010/main" val="77004061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316F0C-E1DC-9135-A3BF-202EE79596B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FFF0E92-6318-FF12-9E93-A6E0A7A4DDAF}"/>
              </a:ext>
            </a:extLst>
          </p:cNvPr>
          <p:cNvSpPr>
            <a:spLocks noGrp="1"/>
          </p:cNvSpPr>
          <p:nvPr>
            <p:ph type="title"/>
          </p:nvPr>
        </p:nvSpPr>
        <p:spPr>
          <a:xfrm>
            <a:off x="838200" y="365125"/>
            <a:ext cx="8384177" cy="835787"/>
          </a:xfrm>
        </p:spPr>
        <p:txBody>
          <a:bodyPr/>
          <a:lstStyle/>
          <a:p>
            <a:r>
              <a:rPr lang="en-US" noProof="0" dirty="0">
                <a:solidFill>
                  <a:srgbClr val="822433"/>
                </a:solidFill>
              </a:rPr>
              <a:t>Anomaly Detection</a:t>
            </a:r>
          </a:p>
        </p:txBody>
      </p:sp>
      <p:sp>
        <p:nvSpPr>
          <p:cNvPr id="4" name="Google Shape;102;p14">
            <a:extLst>
              <a:ext uri="{FF2B5EF4-FFF2-40B4-BE49-F238E27FC236}">
                <a16:creationId xmlns:a16="http://schemas.microsoft.com/office/drawing/2014/main" id="{2B2751E7-11E9-9F59-E07F-6E1D66D2EA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BFF42B6-9D65-E0FA-FC28-94072484696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9EA4E498-8EC1-FA09-BF6A-B2B5235B71C2}"/>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[15]</a:t>
            </a:r>
          </a:p>
        </p:txBody>
      </p:sp>
      <p:pic>
        <p:nvPicPr>
          <p:cNvPr id="10" name="Immagine 9">
            <a:extLst>
              <a:ext uri="{FF2B5EF4-FFF2-40B4-BE49-F238E27FC236}">
                <a16:creationId xmlns:a16="http://schemas.microsoft.com/office/drawing/2014/main" id="{6AADA56E-B9AC-B244-2673-968B448EB2AB}"/>
              </a:ext>
            </a:extLst>
          </p:cNvPr>
          <p:cNvPicPr>
            <a:picLocks noChangeAspect="1"/>
          </p:cNvPicPr>
          <p:nvPr/>
        </p:nvPicPr>
        <p:blipFill>
          <a:blip r:embed="rId3"/>
          <a:stretch/>
        </p:blipFill>
        <p:spPr>
          <a:xfrm>
            <a:off x="1047750" y="1543050"/>
            <a:ext cx="5524500" cy="4143375"/>
          </a:xfrm>
          <a:prstGeom prst="rect">
            <a:avLst/>
          </a:prstGeom>
        </p:spPr>
      </p:pic>
      <p:sp>
        <p:nvSpPr>
          <p:cNvPr id="11" name="CasellaDiTesto 10">
            <a:extLst>
              <a:ext uri="{FF2B5EF4-FFF2-40B4-BE49-F238E27FC236}">
                <a16:creationId xmlns:a16="http://schemas.microsoft.com/office/drawing/2014/main" id="{5CAAC85F-4061-995C-5E1B-6CC36B47291C}"/>
              </a:ext>
            </a:extLst>
          </p:cNvPr>
          <p:cNvSpPr txBox="1"/>
          <p:nvPr/>
        </p:nvSpPr>
        <p:spPr>
          <a:xfrm>
            <a:off x="6890892" y="1835094"/>
            <a:ext cx="3780202" cy="2246769"/>
          </a:xfrm>
          <a:prstGeom prst="rect">
            <a:avLst/>
          </a:prstGeom>
          <a:noFill/>
        </p:spPr>
        <p:txBody>
          <a:bodyPr wrap="none" rtlCol="0">
            <a:spAutoFit/>
          </a:bodyPr>
          <a:lstStyle/>
          <a:p>
            <a:r>
              <a:rPr lang="en-US" sz="2000" noProof="0" dirty="0">
                <a:latin typeface="Roboto" panose="02000000000000000000" pitchFamily="2" charset="0"/>
                <a:ea typeface="Roboto" panose="02000000000000000000" pitchFamily="2" charset="0"/>
              </a:rPr>
              <a:t>Aims to learn the normal </a:t>
            </a:r>
            <a:r>
              <a:rPr lang="en-US" sz="2000" noProof="0" dirty="0">
                <a:solidFill>
                  <a:srgbClr val="822433"/>
                </a:solidFill>
                <a:latin typeface="Roboto" panose="02000000000000000000" pitchFamily="2" charset="0"/>
                <a:ea typeface="Roboto" panose="02000000000000000000" pitchFamily="2" charset="0"/>
              </a:rPr>
              <a:t>wheel</a:t>
            </a:r>
            <a:r>
              <a:rPr lang="en-US" sz="2000" noProof="0" dirty="0">
                <a:latin typeface="Roboto" panose="02000000000000000000" pitchFamily="2" charset="0"/>
                <a:ea typeface="Roboto" panose="02000000000000000000" pitchFamily="2" charset="0"/>
              </a:rPr>
              <a:t> </a:t>
            </a:r>
          </a:p>
          <a:p>
            <a:r>
              <a:rPr lang="en-US" sz="2000" noProof="0" dirty="0">
                <a:solidFill>
                  <a:srgbClr val="822433"/>
                </a:solidFill>
                <a:latin typeface="Roboto" panose="02000000000000000000" pitchFamily="2" charset="0"/>
                <a:ea typeface="Roboto" panose="02000000000000000000" pitchFamily="2" charset="0"/>
              </a:rPr>
              <a:t>appearance</a:t>
            </a:r>
            <a:r>
              <a:rPr lang="en-US" sz="2000" noProof="0" dirty="0">
                <a:latin typeface="Roboto" panose="02000000000000000000" pitchFamily="2" charset="0"/>
                <a:ea typeface="Roboto" panose="02000000000000000000" pitchFamily="2" charset="0"/>
              </a:rPr>
              <a:t> </a:t>
            </a:r>
            <a:r>
              <a:rPr lang="en-US" sz="2000" dirty="0">
                <a:latin typeface="Roboto" panose="02000000000000000000" pitchFamily="2" charset="0"/>
                <a:ea typeface="Roboto" panose="02000000000000000000" pitchFamily="2" charset="0"/>
              </a:rPr>
              <a:t>to detect and</a:t>
            </a:r>
          </a:p>
          <a:p>
            <a:r>
              <a:rPr lang="en-US" sz="2000" dirty="0">
                <a:latin typeface="Roboto" panose="02000000000000000000" pitchFamily="2" charset="0"/>
                <a:ea typeface="Roboto" panose="02000000000000000000" pitchFamily="2" charset="0"/>
              </a:rPr>
              <a:t>localize </a:t>
            </a:r>
            <a:r>
              <a:rPr lang="en-US" sz="2000" dirty="0">
                <a:solidFill>
                  <a:srgbClr val="822433"/>
                </a:solidFill>
                <a:latin typeface="Roboto" panose="02000000000000000000" pitchFamily="2" charset="0"/>
                <a:ea typeface="Roboto" panose="02000000000000000000" pitchFamily="2" charset="0"/>
              </a:rPr>
              <a:t>potential damage</a:t>
            </a:r>
            <a:endParaRPr lang="en-US" sz="2000" noProof="0" dirty="0">
              <a:solidFill>
                <a:srgbClr val="822433"/>
              </a:solidFill>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noProof="0" dirty="0">
              <a:latin typeface="Roboto" panose="02000000000000000000" pitchFamily="2" charset="0"/>
              <a:ea typeface="Roboto" panose="02000000000000000000" pitchFamily="2" charset="0"/>
            </a:endParaRPr>
          </a:p>
          <a:p>
            <a:endParaRPr lang="en-US" sz="2000" b="1" noProof="0" dirty="0">
              <a:latin typeface="Roboto" panose="02000000000000000000" pitchFamily="2" charset="0"/>
              <a:ea typeface="Roboto" panose="02000000000000000000" pitchFamily="2" charset="0"/>
            </a:endParaRPr>
          </a:p>
          <a:p>
            <a:r>
              <a:rPr lang="en-US" sz="2000" b="1" noProof="0" dirty="0">
                <a:solidFill>
                  <a:srgbClr val="822433"/>
                </a:solidFill>
                <a:latin typeface="Roboto" panose="02000000000000000000" pitchFamily="2" charset="0"/>
                <a:ea typeface="Roboto" panose="02000000000000000000" pitchFamily="2" charset="0"/>
              </a:rPr>
              <a:t>Normal-only training</a:t>
            </a:r>
          </a:p>
        </p:txBody>
      </p:sp>
      <p:sp>
        <p:nvSpPr>
          <p:cNvPr id="24" name="CasellaDiTesto 23">
            <a:extLst>
              <a:ext uri="{FF2B5EF4-FFF2-40B4-BE49-F238E27FC236}">
                <a16:creationId xmlns:a16="http://schemas.microsoft.com/office/drawing/2014/main" id="{0F20E36A-F169-7BCF-59DC-369F250C84F9}"/>
              </a:ext>
            </a:extLst>
          </p:cNvPr>
          <p:cNvSpPr txBox="1"/>
          <p:nvPr/>
        </p:nvSpPr>
        <p:spPr>
          <a:xfrm>
            <a:off x="7334477" y="4090490"/>
            <a:ext cx="3789820"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Detection</a:t>
            </a:r>
            <a:r>
              <a:rPr lang="en-US" noProof="0" dirty="0">
                <a:latin typeface="Roboto" panose="02000000000000000000" pitchFamily="2" charset="0"/>
                <a:ea typeface="Roboto" panose="02000000000000000000" pitchFamily="2" charset="0"/>
              </a:rPr>
              <a:t>:     Image anomaly score</a:t>
            </a:r>
          </a:p>
        </p:txBody>
      </p:sp>
      <p:sp>
        <p:nvSpPr>
          <p:cNvPr id="25" name="CasellaDiTesto 24">
            <a:extLst>
              <a:ext uri="{FF2B5EF4-FFF2-40B4-BE49-F238E27FC236}">
                <a16:creationId xmlns:a16="http://schemas.microsoft.com/office/drawing/2014/main" id="{A357012D-A4A3-3CBD-B604-3126495629FF}"/>
              </a:ext>
            </a:extLst>
          </p:cNvPr>
          <p:cNvSpPr txBox="1"/>
          <p:nvPr/>
        </p:nvSpPr>
        <p:spPr>
          <a:xfrm>
            <a:off x="7334477" y="4603199"/>
            <a:ext cx="3671198" cy="369332"/>
          </a:xfrm>
          <a:prstGeom prst="rect">
            <a:avLst/>
          </a:prstGeom>
          <a:noFill/>
        </p:spPr>
        <p:txBody>
          <a:bodyPr wrap="none" rtlCol="0">
            <a:spAutoFit/>
          </a:bodyPr>
          <a:lstStyle/>
          <a:p>
            <a:r>
              <a:rPr lang="en-US" b="1" noProof="0" dirty="0">
                <a:solidFill>
                  <a:srgbClr val="822433"/>
                </a:solidFill>
                <a:latin typeface="Roboto" panose="02000000000000000000" pitchFamily="2" charset="0"/>
                <a:ea typeface="Roboto" panose="02000000000000000000" pitchFamily="2" charset="0"/>
              </a:rPr>
              <a:t>Localization</a:t>
            </a:r>
            <a:r>
              <a:rPr lang="en-US" noProof="0" dirty="0">
                <a:latin typeface="Roboto" panose="02000000000000000000" pitchFamily="2" charset="0"/>
                <a:ea typeface="Roboto" panose="02000000000000000000" pitchFamily="2" charset="0"/>
              </a:rPr>
              <a:t>: Spatial anomaly map</a:t>
            </a:r>
          </a:p>
        </p:txBody>
      </p:sp>
      <p:pic>
        <p:nvPicPr>
          <p:cNvPr id="27" name="Immagine 26">
            <a:extLst>
              <a:ext uri="{FF2B5EF4-FFF2-40B4-BE49-F238E27FC236}">
                <a16:creationId xmlns:a16="http://schemas.microsoft.com/office/drawing/2014/main" id="{92B89F20-AF53-04D8-798E-7EC7CF633F68}"/>
              </a:ext>
            </a:extLst>
          </p:cNvPr>
          <p:cNvPicPr>
            <a:picLocks noChangeAspect="1"/>
          </p:cNvPicPr>
          <p:nvPr/>
        </p:nvPicPr>
        <p:blipFill>
          <a:blip r:embed="rId4">
            <a:duotone>
              <a:schemeClr val="accent2">
                <a:shade val="45000"/>
                <a:satMod val="135000"/>
              </a:schemeClr>
              <a:prstClr val="white"/>
            </a:duotone>
          </a:blip>
          <a:stretch>
            <a:fillRect/>
          </a:stretch>
        </p:blipFill>
        <p:spPr>
          <a:xfrm>
            <a:off x="7036016" y="4144524"/>
            <a:ext cx="298461" cy="298461"/>
          </a:xfrm>
          <a:prstGeom prst="rect">
            <a:avLst/>
          </a:prstGeom>
          <a:effectLst>
            <a:outerShdw blurRad="50800" dist="38100" dir="2700000" algn="tl" rotWithShape="0">
              <a:prstClr val="black">
                <a:alpha val="40000"/>
              </a:prstClr>
            </a:outerShdw>
          </a:effectLst>
        </p:spPr>
      </p:pic>
      <p:pic>
        <p:nvPicPr>
          <p:cNvPr id="29" name="Immagine 28">
            <a:extLst>
              <a:ext uri="{FF2B5EF4-FFF2-40B4-BE49-F238E27FC236}">
                <a16:creationId xmlns:a16="http://schemas.microsoft.com/office/drawing/2014/main" id="{54E61213-F313-8AE1-BFE9-5D328EBA6F83}"/>
              </a:ext>
            </a:extLst>
          </p:cNvPr>
          <p:cNvPicPr>
            <a:picLocks noChangeAspect="1"/>
          </p:cNvPicPr>
          <p:nvPr/>
        </p:nvPicPr>
        <p:blipFill>
          <a:blip r:embed="rId5">
            <a:duotone>
              <a:schemeClr val="accent2">
                <a:shade val="45000"/>
                <a:satMod val="135000"/>
              </a:schemeClr>
              <a:prstClr val="white"/>
            </a:duotone>
          </a:blip>
          <a:stretch>
            <a:fillRect/>
          </a:stretch>
        </p:blipFill>
        <p:spPr>
          <a:xfrm>
            <a:off x="6926874" y="4527005"/>
            <a:ext cx="502890" cy="502890"/>
          </a:xfrm>
          <a:prstGeom prst="rect">
            <a:avLst/>
          </a:prstGeom>
          <a:effectLst>
            <a:outerShdw blurRad="50800" dist="38100" dir="2700000" algn="tl" rotWithShape="0">
              <a:prstClr val="black">
                <a:alpha val="40000"/>
              </a:prstClr>
            </a:outerShdw>
          </a:effectLst>
        </p:spPr>
      </p:pic>
      <p:sp>
        <p:nvSpPr>
          <p:cNvPr id="30" name="CasellaDiTesto 29">
            <a:extLst>
              <a:ext uri="{FF2B5EF4-FFF2-40B4-BE49-F238E27FC236}">
                <a16:creationId xmlns:a16="http://schemas.microsoft.com/office/drawing/2014/main" id="{27283E1F-1155-CFB6-BE3B-6E7818FC4B55}"/>
              </a:ext>
            </a:extLst>
          </p:cNvPr>
          <p:cNvSpPr txBox="1"/>
          <p:nvPr/>
        </p:nvSpPr>
        <p:spPr>
          <a:xfrm>
            <a:off x="2554468" y="5662325"/>
            <a:ext cx="2327881" cy="276999"/>
          </a:xfrm>
          <a:prstGeom prst="rect">
            <a:avLst/>
          </a:prstGeom>
          <a:noFill/>
        </p:spPr>
        <p:txBody>
          <a:bodyPr wrap="none" rtlCol="0">
            <a:spAutoFit/>
          </a:bodyPr>
          <a:lstStyle/>
          <a:p>
            <a:r>
              <a:rPr lang="it-IT" sz="1200" dirty="0">
                <a:solidFill>
                  <a:schemeClr val="bg1">
                    <a:lumMod val="50000"/>
                  </a:schemeClr>
                </a:solidFill>
                <a:latin typeface="Roboto" panose="02000000000000000000" pitchFamily="2" charset="0"/>
                <a:ea typeface="Roboto" panose="02000000000000000000" pitchFamily="2" charset="0"/>
              </a:rPr>
              <a:t>Normal </a:t>
            </a:r>
            <a:r>
              <a:rPr lang="en-US" sz="1200" dirty="0">
                <a:solidFill>
                  <a:schemeClr val="bg1">
                    <a:lumMod val="50000"/>
                  </a:schemeClr>
                </a:solidFill>
                <a:latin typeface="Roboto" panose="02000000000000000000" pitchFamily="2" charset="0"/>
                <a:ea typeface="Roboto" panose="02000000000000000000" pitchFamily="2" charset="0"/>
              </a:rPr>
              <a:t>synthetic</a:t>
            </a:r>
            <a:r>
              <a:rPr lang="it-IT" sz="1200" dirty="0">
                <a:solidFill>
                  <a:schemeClr val="bg1">
                    <a:lumMod val="50000"/>
                  </a:schemeClr>
                </a:solidFill>
                <a:latin typeface="Roboto" panose="02000000000000000000" pitchFamily="2" charset="0"/>
                <a:ea typeface="Roboto" panose="02000000000000000000" pitchFamily="2" charset="0"/>
              </a:rPr>
              <a:t> wheel sample</a:t>
            </a:r>
          </a:p>
        </p:txBody>
      </p:sp>
    </p:spTree>
    <p:extLst>
      <p:ext uri="{BB962C8B-B14F-4D97-AF65-F5344CB8AC3E}">
        <p14:creationId xmlns:p14="http://schemas.microsoft.com/office/powerpoint/2010/main" val="229075958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529E9-8DAA-19EB-DA9B-9BD50D3B65D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B21507F-6DC3-4D1C-B079-DC6ABD8EC1C1}"/>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2676A94E-8046-6200-5EA9-30266E8EEC2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19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9FC8543-76DD-1F73-D96A-3CE0E7C051F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Segnaposto contenuto 5">
            <a:extLst>
              <a:ext uri="{FF2B5EF4-FFF2-40B4-BE49-F238E27FC236}">
                <a16:creationId xmlns:a16="http://schemas.microsoft.com/office/drawing/2014/main" id="{DB63DC6A-2AFE-6443-0785-55F1EA05A94B}"/>
              </a:ext>
            </a:extLst>
          </p:cNvPr>
          <p:cNvSpPr>
            <a:spLocks noGrp="1"/>
          </p:cNvSpPr>
          <p:nvPr>
            <p:ph idx="1"/>
          </p:nvPr>
        </p:nvSpPr>
        <p:spPr>
          <a:xfrm>
            <a:off x="1184564" y="2407517"/>
            <a:ext cx="4572000" cy="4351338"/>
          </a:xfrm>
        </p:spPr>
        <p:txBody>
          <a:bodyPr/>
          <a:lstStyle/>
          <a:p>
            <a:pPr marL="0" indent="0">
              <a:buNone/>
            </a:pPr>
            <a:r>
              <a:rPr lang="en-US" noProof="0" dirty="0"/>
              <a:t>1 </a:t>
            </a:r>
            <a:r>
              <a:rPr lang="en-US" b="1" noProof="0" dirty="0">
                <a:solidFill>
                  <a:srgbClr val="822433"/>
                </a:solidFill>
              </a:rPr>
              <a:t>PatchCore</a:t>
            </a:r>
            <a:br>
              <a:rPr lang="en-US" b="1" noProof="0" dirty="0">
                <a:solidFill>
                  <a:srgbClr val="822433"/>
                </a:solidFill>
              </a:rPr>
            </a:br>
            <a:r>
              <a:rPr lang="en-US" sz="2200" b="1" noProof="0" dirty="0">
                <a:solidFill>
                  <a:srgbClr val="822433"/>
                </a:solidFill>
              </a:rPr>
              <a:t>- </a:t>
            </a:r>
            <a:r>
              <a:rPr lang="en-US" sz="2200" noProof="0" dirty="0"/>
              <a:t>Stores normal patch features</a:t>
            </a:r>
            <a:br>
              <a:rPr lang="en-US" sz="2200" noProof="0" dirty="0"/>
            </a:br>
            <a:r>
              <a:rPr lang="en-US" sz="2200" noProof="0" dirty="0"/>
              <a:t>  in a </a:t>
            </a:r>
            <a:r>
              <a:rPr lang="en-US" sz="2200" noProof="0" dirty="0">
                <a:solidFill>
                  <a:srgbClr val="822433"/>
                </a:solidFill>
              </a:rPr>
              <a:t>memory bank</a:t>
            </a:r>
          </a:p>
          <a:p>
            <a:pPr marL="0" indent="0">
              <a:buNone/>
            </a:pPr>
            <a:r>
              <a:rPr lang="en-US" sz="2200" noProof="0" dirty="0">
                <a:solidFill>
                  <a:srgbClr val="822433"/>
                </a:solidFill>
              </a:rPr>
              <a:t>-</a:t>
            </a:r>
            <a:r>
              <a:rPr lang="en-US" sz="2200" noProof="0" dirty="0"/>
              <a:t> Detects anomalies through</a:t>
            </a:r>
            <a:br>
              <a:rPr lang="en-US" sz="2200" noProof="0" dirty="0"/>
            </a:br>
            <a:r>
              <a:rPr lang="en-US" sz="2200" noProof="0" dirty="0"/>
              <a:t>  </a:t>
            </a:r>
            <a:r>
              <a:rPr lang="en-US" sz="2200" noProof="0" dirty="0">
                <a:solidFill>
                  <a:srgbClr val="822433"/>
                </a:solidFill>
              </a:rPr>
              <a:t>nearest-neighbor</a:t>
            </a:r>
            <a:r>
              <a:rPr lang="en-US" sz="2200" noProof="0" dirty="0"/>
              <a:t> feature</a:t>
            </a:r>
            <a:br>
              <a:rPr lang="en-US" sz="2200" noProof="0" dirty="0"/>
            </a:br>
            <a:r>
              <a:rPr lang="en-US" sz="2200" noProof="0" dirty="0"/>
              <a:t>  distances</a:t>
            </a:r>
          </a:p>
          <a:p>
            <a:pPr marL="0" inden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Two backbones: ResNet18</a:t>
            </a:r>
            <a:br>
              <a:rPr lang="en-US" sz="2200" noProof="0" dirty="0">
                <a:solidFill>
                  <a:schemeClr val="tx1">
                    <a:lumMod val="95000"/>
                    <a:lumOff val="5000"/>
                  </a:schemeClr>
                </a:solidFill>
              </a:rPr>
            </a:br>
            <a:r>
              <a:rPr lang="en-US" sz="2200" noProof="0" dirty="0">
                <a:solidFill>
                  <a:schemeClr val="tx1">
                    <a:lumMod val="95000"/>
                    <a:lumOff val="5000"/>
                  </a:schemeClr>
                </a:solidFill>
              </a:rPr>
              <a:t>  (</a:t>
            </a:r>
            <a:r>
              <a:rPr lang="en-US" sz="2200" noProof="0" dirty="0">
                <a:solidFill>
                  <a:srgbClr val="822433"/>
                </a:solidFill>
              </a:rPr>
              <a:t>PC-S</a:t>
            </a:r>
            <a:r>
              <a:rPr lang="en-US" sz="2200" noProof="0" dirty="0">
                <a:solidFill>
                  <a:schemeClr val="tx1">
                    <a:lumMod val="95000"/>
                    <a:lumOff val="5000"/>
                  </a:schemeClr>
                </a:solidFill>
              </a:rPr>
              <a:t>) or WideResNet50-2 (</a:t>
            </a:r>
            <a:r>
              <a:rPr lang="en-US" sz="2200" noProof="0" dirty="0">
                <a:solidFill>
                  <a:srgbClr val="822433"/>
                </a:solidFill>
              </a:rPr>
              <a:t>PC-L</a:t>
            </a:r>
            <a:r>
              <a:rPr lang="en-US" sz="2200" noProof="0" dirty="0">
                <a:solidFill>
                  <a:schemeClr val="tx1">
                    <a:lumMod val="95000"/>
                    <a:lumOff val="5000"/>
                  </a:schemeClr>
                </a:solidFill>
              </a:rPr>
              <a:t>)</a:t>
            </a:r>
            <a:br>
              <a:rPr lang="en-US" noProof="0" dirty="0"/>
            </a:br>
            <a:endParaRPr lang="en-US" noProof="0" dirty="0"/>
          </a:p>
        </p:txBody>
      </p:sp>
      <p:sp>
        <p:nvSpPr>
          <p:cNvPr id="9" name="source-citations">
            <a:extLst>
              <a:ext uri="{FF2B5EF4-FFF2-40B4-BE49-F238E27FC236}">
                <a16:creationId xmlns:a16="http://schemas.microsoft.com/office/drawing/2014/main" id="{FF0C7D20-FDBE-3097-DEBF-FC6DFE09DA5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[16] [17]</a:t>
            </a:r>
          </a:p>
        </p:txBody>
      </p:sp>
      <p:sp>
        <p:nvSpPr>
          <p:cNvPr id="3" name="Segnaposto contenuto 5">
            <a:extLst>
              <a:ext uri="{FF2B5EF4-FFF2-40B4-BE49-F238E27FC236}">
                <a16:creationId xmlns:a16="http://schemas.microsoft.com/office/drawing/2014/main" id="{404C3DFA-4218-8A1C-DD93-995D60F71277}"/>
              </a:ext>
            </a:extLst>
          </p:cNvPr>
          <p:cNvSpPr txBox="1">
            <a:spLocks/>
          </p:cNvSpPr>
          <p:nvPr/>
        </p:nvSpPr>
        <p:spPr>
          <a:xfrm>
            <a:off x="6352032" y="2407517"/>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EfficientAD-S</a:t>
            </a:r>
            <a:br>
              <a:rPr lang="en-US" b="1" noProof="0" dirty="0">
                <a:solidFill>
                  <a:srgbClr val="822433"/>
                </a:solidFill>
              </a:rPr>
            </a:br>
            <a:r>
              <a:rPr lang="en-US" sz="2200" b="1" noProof="0" dirty="0">
                <a:solidFill>
                  <a:srgbClr val="822433"/>
                </a:solidFill>
              </a:rPr>
              <a:t>- </a:t>
            </a:r>
            <a:r>
              <a:rPr lang="en-US" sz="2200" noProof="0" dirty="0"/>
              <a:t>A </a:t>
            </a:r>
            <a:r>
              <a:rPr lang="en-US" sz="2200" noProof="0" dirty="0">
                <a:solidFill>
                  <a:srgbClr val="822433"/>
                </a:solidFill>
              </a:rPr>
              <a:t>students</a:t>
            </a:r>
            <a:r>
              <a:rPr lang="en-US" sz="2200" noProof="0" dirty="0"/>
              <a:t> learns to reproduce a</a:t>
            </a:r>
            <a:br>
              <a:rPr lang="en-US" sz="2200" noProof="0" dirty="0"/>
            </a:br>
            <a:r>
              <a:rPr lang="en-US" sz="2200" noProof="0" dirty="0"/>
              <a:t>  </a:t>
            </a:r>
            <a:r>
              <a:rPr lang="en-US" sz="2200" noProof="0" dirty="0">
                <a:solidFill>
                  <a:srgbClr val="822433"/>
                </a:solidFill>
              </a:rPr>
              <a:t>frozen</a:t>
            </a:r>
            <a:r>
              <a:rPr lang="en-US" sz="2200" noProof="0" dirty="0"/>
              <a:t> </a:t>
            </a:r>
            <a:r>
              <a:rPr lang="en-US" sz="2200" noProof="0" dirty="0">
                <a:solidFill>
                  <a:srgbClr val="822433"/>
                </a:solidFill>
              </a:rPr>
              <a:t>teacher</a:t>
            </a:r>
            <a:r>
              <a:rPr lang="en-US" sz="2200" noProof="0" dirty="0"/>
              <a:t>’s normal features</a:t>
            </a:r>
          </a:p>
          <a:p>
            <a:pPr marL="0" indent="0">
              <a:buFont typeface="Arial" panose="020B0604020202020204" pitchFamily="34" charset="0"/>
              <a:buNone/>
            </a:pPr>
            <a:r>
              <a:rPr lang="en-US" sz="2200" noProof="0" dirty="0">
                <a:solidFill>
                  <a:srgbClr val="822433"/>
                </a:solidFill>
              </a:rPr>
              <a:t>-</a:t>
            </a:r>
            <a:r>
              <a:rPr lang="en-US" sz="2200" noProof="0" dirty="0"/>
              <a:t> Teacher-student </a:t>
            </a:r>
            <a:r>
              <a:rPr lang="en-US" sz="2200" noProof="0" dirty="0">
                <a:solidFill>
                  <a:srgbClr val="822433"/>
                </a:solidFill>
              </a:rPr>
              <a:t>disagreement</a:t>
            </a:r>
            <a:br>
              <a:rPr lang="en-US" sz="2200" noProof="0" dirty="0"/>
            </a:br>
            <a:r>
              <a:rPr lang="en-US" sz="2200" noProof="0" dirty="0"/>
              <a:t>  highlights local anomalies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chemeClr val="tx1">
                    <a:lumMod val="95000"/>
                    <a:lumOff val="5000"/>
                  </a:schemeClr>
                </a:solidFill>
              </a:rPr>
              <a:t>An </a:t>
            </a:r>
            <a:r>
              <a:rPr lang="en-US" sz="2200" noProof="0" dirty="0">
                <a:solidFill>
                  <a:srgbClr val="822433"/>
                </a:solidFill>
              </a:rPr>
              <a:t>autoencoder</a:t>
            </a:r>
            <a:r>
              <a:rPr lang="en-US" sz="2200" noProof="0" dirty="0">
                <a:solidFill>
                  <a:schemeClr val="tx1">
                    <a:lumMod val="95000"/>
                    <a:lumOff val="5000"/>
                  </a:schemeClr>
                </a:solidFill>
              </a:rPr>
              <a:t> branch captures</a:t>
            </a:r>
            <a:br>
              <a:rPr lang="en-US" sz="2200" noProof="0" dirty="0">
                <a:solidFill>
                  <a:schemeClr val="tx1">
                    <a:lumMod val="95000"/>
                    <a:lumOff val="5000"/>
                  </a:schemeClr>
                </a:solidFill>
              </a:rPr>
            </a:br>
            <a:r>
              <a:rPr lang="en-US" sz="2200" noProof="0" dirty="0">
                <a:solidFill>
                  <a:schemeClr val="tx1">
                    <a:lumMod val="95000"/>
                    <a:lumOff val="5000"/>
                  </a:schemeClr>
                </a:solidFill>
              </a:rPr>
              <a:t>  global context</a:t>
            </a:r>
            <a:br>
              <a:rPr lang="en-US" noProof="0" dirty="0"/>
            </a:br>
            <a:endParaRPr lang="en-US" noProof="0" dirty="0"/>
          </a:p>
        </p:txBody>
      </p:sp>
      <p:sp>
        <p:nvSpPr>
          <p:cNvPr id="7" name="CasellaDiTesto 6">
            <a:extLst>
              <a:ext uri="{FF2B5EF4-FFF2-40B4-BE49-F238E27FC236}">
                <a16:creationId xmlns:a16="http://schemas.microsoft.com/office/drawing/2014/main" id="{D8518CC0-C9C1-6B3F-78A8-3BE43E7C1EF9}"/>
              </a:ext>
            </a:extLst>
          </p:cNvPr>
          <p:cNvSpPr txBox="1"/>
          <p:nvPr/>
        </p:nvSpPr>
        <p:spPr>
          <a:xfrm>
            <a:off x="1184564" y="1604159"/>
            <a:ext cx="9587345" cy="400110"/>
          </a:xfrm>
          <a:prstGeom prst="rect">
            <a:avLst/>
          </a:prstGeom>
          <a:noFill/>
        </p:spPr>
        <p:txBody>
          <a:bodyPr wrap="square" rtlCol="0">
            <a:spAutoFit/>
          </a:bodyPr>
          <a:lstStyle/>
          <a:p>
            <a:r>
              <a:rPr lang="en-US" sz="2000" b="1">
                <a:solidFill>
                  <a:srgbClr val="822433"/>
                </a:solidFill>
                <a:latin typeface="Roboto" panose="02000000000000000000" pitchFamily="2" charset="0"/>
                <a:ea typeface="Roboto" panose="02000000000000000000" pitchFamily="2" charset="0"/>
              </a:rPr>
              <a:t>Goal: </a:t>
            </a:r>
            <a:r>
              <a:rPr lang="en-US" sz="2000">
                <a:latin typeface="Roboto" panose="02000000000000000000" pitchFamily="2" charset="0"/>
                <a:ea typeface="Roboto" panose="02000000000000000000" pitchFamily="2" charset="0"/>
              </a:rPr>
              <a:t>Compare AD approaches in term of accuracy and computational cost</a:t>
            </a:r>
          </a:p>
        </p:txBody>
      </p:sp>
    </p:spTree>
    <p:extLst>
      <p:ext uri="{BB962C8B-B14F-4D97-AF65-F5344CB8AC3E}">
        <p14:creationId xmlns:p14="http://schemas.microsoft.com/office/powerpoint/2010/main" val="12157211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508974-67DD-D80F-AEA4-3E47C2D06A25}"/>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D336D46-549D-8DD1-8542-7F2A5323BA99}"/>
              </a:ext>
            </a:extLst>
          </p:cNvPr>
          <p:cNvSpPr>
            <a:spLocks noGrp="1"/>
          </p:cNvSpPr>
          <p:nvPr>
            <p:ph type="title"/>
          </p:nvPr>
        </p:nvSpPr>
        <p:spPr>
          <a:xfrm>
            <a:off x="838200" y="365125"/>
            <a:ext cx="8384177" cy="835787"/>
          </a:xfrm>
        </p:spPr>
        <p:txBody>
          <a:bodyPr/>
          <a:lstStyle/>
          <a:p>
            <a:r>
              <a:rPr lang="en-US" noProof="0" dirty="0">
                <a:solidFill>
                  <a:srgbClr val="822433"/>
                </a:solidFill>
              </a:rPr>
              <a:t>Model Architectures</a:t>
            </a:r>
          </a:p>
        </p:txBody>
      </p:sp>
      <p:sp>
        <p:nvSpPr>
          <p:cNvPr id="4" name="Google Shape;102;p14">
            <a:extLst>
              <a:ext uri="{FF2B5EF4-FFF2-40B4-BE49-F238E27FC236}">
                <a16:creationId xmlns:a16="http://schemas.microsoft.com/office/drawing/2014/main" id="{79E4DB09-D900-BAC8-007F-DA58DFDBDC2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CD0A760-B852-761D-A05F-6D85A9CE939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source-citations">
            <a:extLst>
              <a:ext uri="{FF2B5EF4-FFF2-40B4-BE49-F238E27FC236}">
                <a16:creationId xmlns:a16="http://schemas.microsoft.com/office/drawing/2014/main" id="{20263965-79F1-4ADD-9BD3-17952F655AA7}"/>
              </a:ext>
            </a:extLst>
          </p:cNvPr>
          <p:cNvSpPr>
            <a:spLocks noGrp="1"/>
          </p:cNvSpPr>
          <p:nvPr/>
        </p:nvSpPr>
        <p:spPr>
          <a:xfrm>
            <a:off x="581271" y="6347260"/>
            <a:ext cx="10096500" cy="228600"/>
          </a:xfrm>
          <a:prstGeom prst="rect">
            <a:avLst/>
          </a:prstGeom>
          <a:noFill/>
          <a:ln w="0">
            <a:noFill/>
          </a:ln>
        </p:spPr>
        <p:txBody>
          <a:bodyPr wrap="square" lIns="0" tIns="0" rIns="0" bIns="0" anchor="t">
            <a:noAutofit/>
          </a:bodyPr>
          <a:lstStyle>
            <a:defPPr algn="l">
              <a:defRPr lang="en-US" sz="1125" b="0">
                <a:solidFill>
                  <a:srgbClr val="656B73"/>
                </a:solidFill>
                <a:latin typeface="Roboto"/>
                <a:ea typeface="Roboto"/>
                <a:cs typeface="Roboto"/>
              </a:defRPr>
            </a:defPPr>
            <a:lvl1pPr algn="l">
              <a:defRPr lang="en-US" sz="1125" b="0">
                <a:solidFill>
                  <a:srgbClr val="656B73"/>
                </a:solidFill>
                <a:latin typeface="Roboto"/>
                <a:ea typeface="Roboto"/>
                <a:cs typeface="Roboto"/>
              </a:defRPr>
            </a:lvl1pPr>
            <a:lvl2pPr algn="l">
              <a:defRPr lang="en-US" sz="1125" b="0">
                <a:solidFill>
                  <a:srgbClr val="656B73"/>
                </a:solidFill>
                <a:latin typeface="Roboto"/>
                <a:ea typeface="Roboto"/>
                <a:cs typeface="Roboto"/>
              </a:defRPr>
            </a:lvl2pPr>
            <a:lvl3pPr algn="l">
              <a:defRPr lang="en-US" sz="1125" b="0">
                <a:solidFill>
                  <a:srgbClr val="656B73"/>
                </a:solidFill>
                <a:latin typeface="Roboto"/>
                <a:ea typeface="Roboto"/>
                <a:cs typeface="Roboto"/>
              </a:defRPr>
            </a:lvl3pPr>
            <a:lvl4pPr algn="l">
              <a:defRPr lang="en-US" sz="1125" b="0">
                <a:solidFill>
                  <a:srgbClr val="656B73"/>
                </a:solidFill>
                <a:latin typeface="Roboto"/>
                <a:ea typeface="Roboto"/>
                <a:cs typeface="Roboto"/>
              </a:defRPr>
            </a:lvl4pPr>
            <a:lvl5pPr algn="l">
              <a:defRPr lang="en-US" sz="1125" b="0">
                <a:solidFill>
                  <a:srgbClr val="656B73"/>
                </a:solidFill>
                <a:latin typeface="Roboto"/>
                <a:ea typeface="Roboto"/>
                <a:cs typeface="Roboto"/>
              </a:defRPr>
            </a:lvl5pPr>
            <a:lvl6pPr algn="l">
              <a:defRPr lang="en-US" sz="1125" b="0">
                <a:solidFill>
                  <a:srgbClr val="656B73"/>
                </a:solidFill>
                <a:latin typeface="Roboto"/>
                <a:ea typeface="Roboto"/>
                <a:cs typeface="Roboto"/>
              </a:defRPr>
            </a:lvl6pPr>
            <a:lvl7pPr algn="l">
              <a:defRPr lang="en-US" sz="1125" b="0">
                <a:solidFill>
                  <a:srgbClr val="656B73"/>
                </a:solidFill>
                <a:latin typeface="Roboto"/>
                <a:ea typeface="Roboto"/>
                <a:cs typeface="Roboto"/>
              </a:defRPr>
            </a:lvl7pPr>
            <a:lvl8pPr algn="l">
              <a:defRPr lang="en-US" sz="1125" b="0">
                <a:solidFill>
                  <a:srgbClr val="656B73"/>
                </a:solidFill>
                <a:latin typeface="Roboto"/>
                <a:ea typeface="Roboto"/>
                <a:cs typeface="Roboto"/>
              </a:defRPr>
            </a:lvl8pPr>
            <a:lvl9pPr algn="l">
              <a:defRPr lang="en-US" sz="1125" b="0">
                <a:solidFill>
                  <a:srgbClr val="656B73"/>
                </a:solidFill>
                <a:latin typeface="Roboto"/>
                <a:ea typeface="Roboto"/>
                <a:cs typeface="Roboto"/>
              </a:defRPr>
            </a:lvl9pPr>
          </a:lstStyle>
          <a:p>
            <a:pPr algn="l">
              <a:defRPr lang="en-US" sz="1125" b="0">
                <a:solidFill>
                  <a:srgbClr val="656B73"/>
                </a:solidFill>
                <a:latin typeface="Roboto"/>
                <a:ea typeface="Roboto"/>
                <a:cs typeface="Roboto"/>
              </a:defRPr>
            </a:pPr>
            <a:r>
              <a:rPr lang="en-US" sz="1125" b="0" dirty="0">
                <a:solidFill>
                  <a:srgbClr val="656B73"/>
                </a:solidFill>
                <a:latin typeface="Roboto"/>
                <a:ea typeface="Roboto"/>
                <a:cs typeface="Roboto"/>
              </a:rPr>
              <a:t>[18] [19]</a:t>
            </a:r>
          </a:p>
        </p:txBody>
      </p:sp>
      <p:sp>
        <p:nvSpPr>
          <p:cNvPr id="8" name="Segnaposto contenuto 5">
            <a:extLst>
              <a:ext uri="{FF2B5EF4-FFF2-40B4-BE49-F238E27FC236}">
                <a16:creationId xmlns:a16="http://schemas.microsoft.com/office/drawing/2014/main" id="{643E6AE6-153F-3104-B4C0-67AFFF71905E}"/>
              </a:ext>
            </a:extLst>
          </p:cNvPr>
          <p:cNvSpPr>
            <a:spLocks noGrp="1"/>
          </p:cNvSpPr>
          <p:nvPr>
            <p:ph idx="1"/>
          </p:nvPr>
        </p:nvSpPr>
        <p:spPr>
          <a:xfrm>
            <a:off x="1184564" y="2407516"/>
            <a:ext cx="4572000" cy="4351338"/>
          </a:xfrm>
        </p:spPr>
        <p:txBody>
          <a:bodyPr/>
          <a:lstStyle/>
          <a:p>
            <a:pPr marL="0" indent="0">
              <a:buNone/>
            </a:pPr>
            <a:r>
              <a:rPr lang="en-US" noProof="0" dirty="0"/>
              <a:t>1 </a:t>
            </a:r>
            <a:r>
              <a:rPr lang="en-US" b="1" noProof="0" dirty="0">
                <a:solidFill>
                  <a:srgbClr val="822433"/>
                </a:solidFill>
              </a:rPr>
              <a:t>SuperSimpleNet</a:t>
            </a:r>
            <a:br>
              <a:rPr lang="en-US" b="1" noProof="0" dirty="0">
                <a:solidFill>
                  <a:srgbClr val="822433"/>
                </a:solidFill>
              </a:rPr>
            </a:br>
            <a:r>
              <a:rPr lang="en-US" sz="2200" b="1" noProof="0" dirty="0">
                <a:solidFill>
                  <a:srgbClr val="822433"/>
                </a:solidFill>
              </a:rPr>
              <a:t>- </a:t>
            </a:r>
            <a:r>
              <a:rPr lang="en-US" sz="2200" noProof="0" dirty="0"/>
              <a:t>Synthetic anomalies created by</a:t>
            </a:r>
            <a:br>
              <a:rPr lang="en-US" sz="2200" noProof="0" dirty="0"/>
            </a:br>
            <a:r>
              <a:rPr lang="en-US" sz="2200" noProof="0" dirty="0"/>
              <a:t>  localized </a:t>
            </a:r>
            <a:r>
              <a:rPr lang="en-US" sz="2200" noProof="0" dirty="0">
                <a:solidFill>
                  <a:srgbClr val="822433"/>
                </a:solidFill>
              </a:rPr>
              <a:t>gaussian noise </a:t>
            </a:r>
            <a:r>
              <a:rPr lang="en-US" sz="2200" noProof="0" dirty="0"/>
              <a:t>to</a:t>
            </a:r>
            <a:br>
              <a:rPr lang="en-US" sz="2200" noProof="0" dirty="0"/>
            </a:br>
            <a:r>
              <a:rPr lang="en-US" sz="2200" noProof="0" dirty="0"/>
              <a:t>  features</a:t>
            </a:r>
          </a:p>
          <a:p>
            <a:pPr marL="0" indent="0">
              <a:buNone/>
            </a:pPr>
            <a:r>
              <a:rPr lang="en-US" sz="2200" noProof="0" dirty="0">
                <a:solidFill>
                  <a:srgbClr val="822433"/>
                </a:solidFill>
              </a:rPr>
              <a:t>-</a:t>
            </a:r>
            <a:r>
              <a:rPr lang="en-US" sz="2200" noProof="0" dirty="0"/>
              <a:t> </a:t>
            </a:r>
            <a:r>
              <a:rPr lang="en-US" sz="2200" noProof="0" dirty="0">
                <a:solidFill>
                  <a:srgbClr val="822433"/>
                </a:solidFill>
              </a:rPr>
              <a:t>Separate heads </a:t>
            </a:r>
            <a:r>
              <a:rPr lang="en-US" sz="2200" noProof="0" dirty="0"/>
              <a:t>for image</a:t>
            </a:r>
            <a:br>
              <a:rPr lang="en-US" sz="2200" noProof="0" dirty="0"/>
            </a:br>
            <a:r>
              <a:rPr lang="en-US" sz="2200" noProof="0" dirty="0"/>
              <a:t>  detection and spatial localization</a:t>
            </a:r>
            <a:br>
              <a:rPr lang="en-US" noProof="0" dirty="0"/>
            </a:br>
            <a:endParaRPr lang="en-US" noProof="0" dirty="0"/>
          </a:p>
        </p:txBody>
      </p:sp>
      <p:sp>
        <p:nvSpPr>
          <p:cNvPr id="10" name="Segnaposto contenuto 5">
            <a:extLst>
              <a:ext uri="{FF2B5EF4-FFF2-40B4-BE49-F238E27FC236}">
                <a16:creationId xmlns:a16="http://schemas.microsoft.com/office/drawing/2014/main" id="{6A12BA27-D799-F0C4-85D4-A2EB79E44B5A}"/>
              </a:ext>
            </a:extLst>
          </p:cNvPr>
          <p:cNvSpPr txBox="1">
            <a:spLocks/>
          </p:cNvSpPr>
          <p:nvPr/>
        </p:nvSpPr>
        <p:spPr>
          <a:xfrm>
            <a:off x="6352032" y="2407516"/>
            <a:ext cx="4572000" cy="4351338"/>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Font typeface="Arial" panose="020B0604020202020204" pitchFamily="34" charset="0"/>
              <a:buChar char="•"/>
              <a:defRPr sz="2800" kern="1200">
                <a:solidFill>
                  <a:schemeClr val="tx1"/>
                </a:solidFill>
                <a:latin typeface="Roboto" panose="02000000000000000000" pitchFamily="2" charset="0"/>
                <a:ea typeface="Roboto" panose="02000000000000000000" pitchFamily="2" charset="0"/>
                <a:cs typeface="Roboto" panose="02000000000000000000" pitchFamily="2" charset="0"/>
              </a:defRPr>
            </a:lvl1pPr>
            <a:lvl2pPr marL="685800" indent="-228600" algn="l" defTabSz="914400" rtl="0" eaLnBrk="1" latinLnBrk="0" hangingPunct="1">
              <a:lnSpc>
                <a:spcPct val="100000"/>
              </a:lnSpc>
              <a:spcBef>
                <a:spcPts val="500"/>
              </a:spcBef>
              <a:buFont typeface="Arial" panose="020B0604020202020204" pitchFamily="34" charset="0"/>
              <a:buChar char="•"/>
              <a:defRPr sz="2400" kern="1200">
                <a:solidFill>
                  <a:schemeClr val="tx1"/>
                </a:solidFill>
                <a:latin typeface="Roboto" panose="02000000000000000000" pitchFamily="2" charset="0"/>
                <a:ea typeface="Roboto" panose="02000000000000000000" pitchFamily="2" charset="0"/>
                <a:cs typeface="Roboto" panose="02000000000000000000" pitchFamily="2" charset="0"/>
              </a:defRPr>
            </a:lvl2pPr>
            <a:lvl3pPr marL="1143000" indent="-228600" algn="l" defTabSz="914400" rtl="0" eaLnBrk="1" latinLnBrk="0" hangingPunct="1">
              <a:lnSpc>
                <a:spcPct val="100000"/>
              </a:lnSpc>
              <a:spcBef>
                <a:spcPts val="500"/>
              </a:spcBef>
              <a:buFont typeface="Arial" panose="020B0604020202020204" pitchFamily="34" charset="0"/>
              <a:buChar char="•"/>
              <a:defRPr sz="2000" kern="1200">
                <a:solidFill>
                  <a:schemeClr val="tx1"/>
                </a:solidFill>
                <a:latin typeface="Roboto" panose="02000000000000000000" pitchFamily="2" charset="0"/>
                <a:ea typeface="Roboto" panose="02000000000000000000" pitchFamily="2" charset="0"/>
                <a:cs typeface="Roboto" panose="02000000000000000000" pitchFamily="2" charset="0"/>
              </a:defRPr>
            </a:lvl3pPr>
            <a:lvl4pPr marL="16002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4pPr>
            <a:lvl5pPr marL="2057400" indent="-228600" algn="l" defTabSz="914400" rtl="0" eaLnBrk="1" latinLnBrk="0" hangingPunct="1">
              <a:lnSpc>
                <a:spcPct val="100000"/>
              </a:lnSpc>
              <a:spcBef>
                <a:spcPts val="500"/>
              </a:spcBef>
              <a:buFont typeface="Arial" panose="020B0604020202020204" pitchFamily="34" charset="0"/>
              <a:buChar char="•"/>
              <a:defRPr sz="1800" kern="1200">
                <a:solidFill>
                  <a:schemeClr val="tx1"/>
                </a:solidFill>
                <a:latin typeface="Roboto" panose="02000000000000000000" pitchFamily="2" charset="0"/>
                <a:ea typeface="Roboto" panose="02000000000000000000" pitchFamily="2" charset="0"/>
                <a:cs typeface="Roboto" panose="02000000000000000000" pitchFamily="2" charset="0"/>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Font typeface="Arial" panose="020B0604020202020204" pitchFamily="34" charset="0"/>
              <a:buNone/>
            </a:pPr>
            <a:r>
              <a:rPr lang="en-US" noProof="0" dirty="0"/>
              <a:t>2 </a:t>
            </a:r>
            <a:r>
              <a:rPr lang="en-US" b="1" noProof="0" dirty="0">
                <a:solidFill>
                  <a:srgbClr val="822433"/>
                </a:solidFill>
              </a:rPr>
              <a:t>TinyGLASS</a:t>
            </a:r>
            <a:br>
              <a:rPr lang="en-US" b="1" noProof="0" dirty="0">
                <a:solidFill>
                  <a:srgbClr val="822433"/>
                </a:solidFill>
              </a:rPr>
            </a:br>
            <a:r>
              <a:rPr lang="en-US" sz="2200" b="1" noProof="0" dirty="0">
                <a:solidFill>
                  <a:srgbClr val="822433"/>
                </a:solidFill>
              </a:rPr>
              <a:t>- </a:t>
            </a:r>
            <a:r>
              <a:rPr lang="en-US" sz="2200" noProof="0" dirty="0">
                <a:solidFill>
                  <a:srgbClr val="822433"/>
                </a:solidFill>
              </a:rPr>
              <a:t>Compact</a:t>
            </a:r>
            <a:r>
              <a:rPr lang="en-US" sz="2200" noProof="0" dirty="0"/>
              <a:t> ResNet18 backbone</a:t>
            </a:r>
          </a:p>
          <a:p>
            <a:pPr marL="0" indent="0">
              <a:buFont typeface="Arial" panose="020B0604020202020204" pitchFamily="34" charset="0"/>
              <a:buNone/>
            </a:pPr>
            <a:r>
              <a:rPr lang="en-US" sz="2200" noProof="0" dirty="0">
                <a:solidFill>
                  <a:srgbClr val="822433"/>
                </a:solidFill>
              </a:rPr>
              <a:t>-</a:t>
            </a:r>
            <a:r>
              <a:rPr lang="en-US" sz="2200" noProof="0" dirty="0"/>
              <a:t> Combines </a:t>
            </a:r>
            <a:r>
              <a:rPr lang="en-US" sz="2200" noProof="0" dirty="0">
                <a:solidFill>
                  <a:srgbClr val="822433"/>
                </a:solidFill>
              </a:rPr>
              <a:t>image-space</a:t>
            </a:r>
            <a:br>
              <a:rPr lang="en-US" sz="2200" noProof="0" dirty="0"/>
            </a:br>
            <a:r>
              <a:rPr lang="en-US" sz="2200" noProof="0" dirty="0"/>
              <a:t>  alterations with </a:t>
            </a:r>
            <a:r>
              <a:rPr lang="en-US" sz="2200" noProof="0" dirty="0">
                <a:solidFill>
                  <a:srgbClr val="822433"/>
                </a:solidFill>
              </a:rPr>
              <a:t>features-space</a:t>
            </a:r>
            <a:br>
              <a:rPr lang="en-US" sz="2200" noProof="0" dirty="0"/>
            </a:br>
            <a:r>
              <a:rPr lang="en-US" sz="2200" noProof="0" dirty="0"/>
              <a:t>  perturbations</a:t>
            </a:r>
          </a:p>
          <a:p>
            <a:pPr marL="0" indent="0">
              <a:buFont typeface="Arial" panose="020B0604020202020204" pitchFamily="34" charset="0"/>
              <a:buNone/>
            </a:pPr>
            <a:r>
              <a:rPr lang="en-US" sz="2200" noProof="0" dirty="0">
                <a:solidFill>
                  <a:srgbClr val="822433"/>
                </a:solidFill>
              </a:rPr>
              <a:t>-</a:t>
            </a:r>
            <a:r>
              <a:rPr lang="en-US" sz="2200" noProof="0" dirty="0"/>
              <a:t> </a:t>
            </a:r>
            <a:r>
              <a:rPr lang="en-US" sz="2200" noProof="0" dirty="0">
                <a:solidFill>
                  <a:srgbClr val="822433"/>
                </a:solidFill>
              </a:rPr>
              <a:t>Adapted</a:t>
            </a:r>
            <a:r>
              <a:rPr lang="en-US" sz="2200" noProof="0" dirty="0"/>
              <a:t> to create specialized</a:t>
            </a:r>
            <a:br>
              <a:rPr lang="en-US" sz="2200" noProof="0" dirty="0"/>
            </a:br>
            <a:r>
              <a:rPr lang="en-US" sz="2200" noProof="0" dirty="0"/>
              <a:t>  </a:t>
            </a:r>
            <a:r>
              <a:rPr lang="en-US" sz="2200" dirty="0">
                <a:solidFill>
                  <a:srgbClr val="822433"/>
                </a:solidFill>
              </a:rPr>
              <a:t>h</a:t>
            </a:r>
            <a:r>
              <a:rPr lang="en-US" sz="2200" noProof="0" dirty="0">
                <a:solidFill>
                  <a:srgbClr val="822433"/>
                </a:solidFill>
              </a:rPr>
              <a:t>ole like</a:t>
            </a:r>
            <a:r>
              <a:rPr lang="en-US" sz="2200" noProof="0" dirty="0">
                <a:solidFill>
                  <a:schemeClr val="tx1">
                    <a:lumMod val="95000"/>
                    <a:lumOff val="5000"/>
                  </a:schemeClr>
                </a:solidFill>
              </a:rPr>
              <a:t> alterations</a:t>
            </a:r>
            <a:br>
              <a:rPr lang="en-US" noProof="0" dirty="0"/>
            </a:br>
            <a:endParaRPr lang="en-US" noProof="0" dirty="0"/>
          </a:p>
        </p:txBody>
      </p:sp>
      <p:sp>
        <p:nvSpPr>
          <p:cNvPr id="12" name="CasellaDiTesto 11">
            <a:extLst>
              <a:ext uri="{FF2B5EF4-FFF2-40B4-BE49-F238E27FC236}">
                <a16:creationId xmlns:a16="http://schemas.microsoft.com/office/drawing/2014/main" id="{26C0AD4E-3E56-CD77-9AF5-2B5E0B06CC86}"/>
              </a:ext>
            </a:extLst>
          </p:cNvPr>
          <p:cNvSpPr txBox="1"/>
          <p:nvPr/>
        </p:nvSpPr>
        <p:spPr>
          <a:xfrm>
            <a:off x="1184564" y="1604159"/>
            <a:ext cx="9587345" cy="400110"/>
          </a:xfrm>
          <a:prstGeom prst="rect">
            <a:avLst/>
          </a:prstGeom>
          <a:noFill/>
        </p:spPr>
        <p:txBody>
          <a:bodyPr wrap="square" rtlCol="0">
            <a:spAutoFit/>
          </a:bodyPr>
          <a:lstStyle/>
          <a:p>
            <a:r>
              <a:rPr lang="it-IT" sz="2000" b="1" dirty="0">
                <a:solidFill>
                  <a:srgbClr val="822433"/>
                </a:solidFill>
                <a:latin typeface="Roboto" panose="02000000000000000000" pitchFamily="2" charset="0"/>
                <a:ea typeface="Roboto" panose="02000000000000000000" pitchFamily="2" charset="0"/>
              </a:rPr>
              <a:t>Goal: </a:t>
            </a:r>
            <a:r>
              <a:rPr lang="it-IT" sz="2000" dirty="0">
                <a:latin typeface="Roboto" panose="02000000000000000000" pitchFamily="2" charset="0"/>
                <a:ea typeface="Roboto" panose="02000000000000000000" pitchFamily="2" charset="0"/>
              </a:rPr>
              <a:t>Compare AD </a:t>
            </a:r>
            <a:r>
              <a:rPr lang="it-IT" sz="2000" dirty="0" err="1">
                <a:latin typeface="Roboto" panose="02000000000000000000" pitchFamily="2" charset="0"/>
                <a:ea typeface="Roboto" panose="02000000000000000000" pitchFamily="2" charset="0"/>
              </a:rPr>
              <a:t>approaches</a:t>
            </a:r>
            <a:r>
              <a:rPr lang="it-IT" sz="2000" dirty="0">
                <a:latin typeface="Roboto" panose="02000000000000000000" pitchFamily="2" charset="0"/>
                <a:ea typeface="Roboto" panose="02000000000000000000" pitchFamily="2" charset="0"/>
              </a:rPr>
              <a:t> in </a:t>
            </a:r>
            <a:r>
              <a:rPr lang="it-IT" sz="2000" dirty="0" err="1">
                <a:latin typeface="Roboto" panose="02000000000000000000" pitchFamily="2" charset="0"/>
                <a:ea typeface="Roboto" panose="02000000000000000000" pitchFamily="2" charset="0"/>
              </a:rPr>
              <a:t>term</a:t>
            </a:r>
            <a:r>
              <a:rPr lang="it-IT" sz="2000" dirty="0">
                <a:latin typeface="Roboto" panose="02000000000000000000" pitchFamily="2" charset="0"/>
                <a:ea typeface="Roboto" panose="02000000000000000000" pitchFamily="2" charset="0"/>
              </a:rPr>
              <a:t> of </a:t>
            </a:r>
            <a:r>
              <a:rPr lang="it-IT" sz="2000" dirty="0" err="1">
                <a:latin typeface="Roboto" panose="02000000000000000000" pitchFamily="2" charset="0"/>
                <a:ea typeface="Roboto" panose="02000000000000000000" pitchFamily="2" charset="0"/>
              </a:rPr>
              <a:t>accuracy</a:t>
            </a:r>
            <a:r>
              <a:rPr lang="it-IT" sz="2000" dirty="0">
                <a:latin typeface="Roboto" panose="02000000000000000000" pitchFamily="2" charset="0"/>
                <a:ea typeface="Roboto" panose="02000000000000000000" pitchFamily="2" charset="0"/>
              </a:rPr>
              <a:t> and </a:t>
            </a:r>
            <a:r>
              <a:rPr lang="it-IT" sz="2000" dirty="0" err="1">
                <a:latin typeface="Roboto" panose="02000000000000000000" pitchFamily="2" charset="0"/>
                <a:ea typeface="Roboto" panose="02000000000000000000" pitchFamily="2" charset="0"/>
              </a:rPr>
              <a:t>computational</a:t>
            </a:r>
            <a:r>
              <a:rPr lang="it-IT" sz="2000" dirty="0">
                <a:latin typeface="Roboto" panose="02000000000000000000" pitchFamily="2" charset="0"/>
                <a:ea typeface="Roboto" panose="02000000000000000000" pitchFamily="2" charset="0"/>
              </a:rPr>
              <a:t> cost</a:t>
            </a:r>
          </a:p>
        </p:txBody>
      </p:sp>
    </p:spTree>
    <p:extLst>
      <p:ext uri="{BB962C8B-B14F-4D97-AF65-F5344CB8AC3E}">
        <p14:creationId xmlns:p14="http://schemas.microsoft.com/office/powerpoint/2010/main" val="212289242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4D974E-45DA-3F68-01D9-7A37586BA78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1A6707-7D1D-0F74-464D-A1283F66F368}"/>
              </a:ext>
            </a:extLst>
          </p:cNvPr>
          <p:cNvSpPr>
            <a:spLocks noGrp="1"/>
          </p:cNvSpPr>
          <p:nvPr>
            <p:ph type="title"/>
          </p:nvPr>
        </p:nvSpPr>
        <p:spPr>
          <a:xfrm>
            <a:off x="838200" y="365125"/>
            <a:ext cx="8384177" cy="835787"/>
          </a:xfrm>
        </p:spPr>
        <p:txBody>
          <a:bodyPr/>
          <a:lstStyle/>
          <a:p>
            <a:r>
              <a:rPr lang="en-US" dirty="0">
                <a:solidFill>
                  <a:srgbClr val="822433"/>
                </a:solidFill>
              </a:rPr>
              <a:t>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5172196D-A79E-15D0-59EB-B039391B953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F0CCFBA-1ECA-8AFC-C625-E97B7DA3D08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0" name="Immagine 9">
            <a:extLst>
              <a:ext uri="{FF2B5EF4-FFF2-40B4-BE49-F238E27FC236}">
                <a16:creationId xmlns:a16="http://schemas.microsoft.com/office/drawing/2014/main" id="{05C01783-730C-D87E-7BE6-CEE8057363F6}"/>
              </a:ext>
            </a:extLst>
          </p:cNvPr>
          <p:cNvPicPr>
            <a:picLocks noChangeAspect="1"/>
          </p:cNvPicPr>
          <p:nvPr/>
        </p:nvPicPr>
        <p:blipFill>
          <a:blip r:embed="rId3"/>
          <a:stretch/>
        </p:blipFill>
        <p:spPr>
          <a:xfrm>
            <a:off x="1478973" y="2260643"/>
            <a:ext cx="8707582" cy="3990975"/>
          </a:xfrm>
          <a:prstGeom prst="rect">
            <a:avLst/>
          </a:prstGeom>
        </p:spPr>
      </p:pic>
      <p:sp>
        <p:nvSpPr>
          <p:cNvPr id="11" name="CasellaDiTesto 10">
            <a:extLst>
              <a:ext uri="{FF2B5EF4-FFF2-40B4-BE49-F238E27FC236}">
                <a16:creationId xmlns:a16="http://schemas.microsoft.com/office/drawing/2014/main" id="{FD7F7CA6-4CA5-B94E-130A-BDDDEEA5990A}"/>
              </a:ext>
            </a:extLst>
          </p:cNvPr>
          <p:cNvSpPr txBox="1"/>
          <p:nvPr/>
        </p:nvSpPr>
        <p:spPr>
          <a:xfrm>
            <a:off x="1143001" y="1614312"/>
            <a:ext cx="10094430" cy="646331"/>
          </a:xfrm>
          <a:prstGeom prst="rect">
            <a:avLst/>
          </a:prstGeom>
          <a:noFill/>
        </p:spPr>
        <p:txBody>
          <a:bodyPr wrap="none" rtlCol="0">
            <a:spAutoFit/>
          </a:bodyPr>
          <a:lstStyle/>
          <a:p>
            <a:r>
              <a:rPr lang="en-US" noProof="0" dirty="0">
                <a:latin typeface="Roboto" panose="02000000000000000000" pitchFamily="2" charset="0"/>
                <a:ea typeface="Roboto" panose="02000000000000000000" pitchFamily="2" charset="0"/>
                <a:cs typeface="Roboto" panose="02000000000000000000" pitchFamily="2" charset="0"/>
              </a:rPr>
              <a:t>Based on preliminary experiments, a fixed 720 × 720 crop and only one camera pose A was used </a:t>
            </a:r>
            <a:br>
              <a:rPr lang="en-US" noProof="0" dirty="0">
                <a:latin typeface="Roboto" panose="02000000000000000000" pitchFamily="2" charset="0"/>
                <a:ea typeface="Roboto" panose="02000000000000000000" pitchFamily="2" charset="0"/>
                <a:cs typeface="Roboto" panose="02000000000000000000" pitchFamily="2" charset="0"/>
              </a:rPr>
            </a:br>
            <a:r>
              <a:rPr lang="en-US" noProof="0" dirty="0">
                <a:latin typeface="Roboto" panose="02000000000000000000" pitchFamily="2" charset="0"/>
                <a:ea typeface="Roboto" panose="02000000000000000000" pitchFamily="2" charset="0"/>
                <a:cs typeface="Roboto" panose="02000000000000000000" pitchFamily="2" charset="0"/>
              </a:rPr>
              <a:t>for training, because it helped having a single normal reference</a:t>
            </a:r>
          </a:p>
        </p:txBody>
      </p:sp>
    </p:spTree>
    <p:extLst>
      <p:ext uri="{BB962C8B-B14F-4D97-AF65-F5344CB8AC3E}">
        <p14:creationId xmlns:p14="http://schemas.microsoft.com/office/powerpoint/2010/main" val="337180031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03EAF4-FF6C-CAF5-B270-07F0A75C744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705D1C1-A403-9683-648A-F12A013998C7}"/>
              </a:ext>
            </a:extLst>
          </p:cNvPr>
          <p:cNvSpPr>
            <a:spLocks noGrp="1"/>
          </p:cNvSpPr>
          <p:nvPr>
            <p:ph type="title"/>
          </p:nvPr>
        </p:nvSpPr>
        <p:spPr/>
        <p:txBody>
          <a:bodyPr>
            <a:normAutofit/>
          </a:bodyPr>
          <a:lstStyle/>
          <a:p>
            <a:r>
              <a:rPr lang="it-IT" sz="5400" dirty="0" err="1">
                <a:solidFill>
                  <a:srgbClr val="822433"/>
                </a:solidFill>
              </a:rPr>
              <a:t>Results</a:t>
            </a:r>
            <a:endParaRPr lang="it-IT" sz="5400" dirty="0">
              <a:solidFill>
                <a:srgbClr val="822433"/>
              </a:solidFill>
            </a:endParaRPr>
          </a:p>
        </p:txBody>
      </p:sp>
      <p:sp>
        <p:nvSpPr>
          <p:cNvPr id="3" name="Segnaposto testo 2">
            <a:extLst>
              <a:ext uri="{FF2B5EF4-FFF2-40B4-BE49-F238E27FC236}">
                <a16:creationId xmlns:a16="http://schemas.microsoft.com/office/drawing/2014/main" id="{61BFE22E-331F-BA2C-8863-9ED455C5ADA3}"/>
              </a:ext>
            </a:extLst>
          </p:cNvPr>
          <p:cNvSpPr>
            <a:spLocks noGrp="1"/>
          </p:cNvSpPr>
          <p:nvPr>
            <p:ph type="body" idx="1"/>
          </p:nvPr>
        </p:nvSpPr>
        <p:spPr>
          <a:xfrm>
            <a:off x="844550" y="2345259"/>
            <a:ext cx="10515600" cy="1544002"/>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1A17498E-FA1D-2807-FFFF-0D4BA57DF4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22</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76173B0E-A155-AF15-A232-F9574D652BC7}"/>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D3DC633C-8853-9424-6E25-22C6917DC5B2}"/>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r>
              <a:rPr lang="en-US" dirty="0"/>
              <a:t>Conclusions</a:t>
            </a:r>
            <a:endParaRPr lang="it-IT" dirty="0"/>
          </a:p>
        </p:txBody>
      </p:sp>
    </p:spTree>
    <p:extLst>
      <p:ext uri="{BB962C8B-B14F-4D97-AF65-F5344CB8AC3E}">
        <p14:creationId xmlns:p14="http://schemas.microsoft.com/office/powerpoint/2010/main" val="15438325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8D659-1EC5-A9E1-89C0-B2C99E86295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7AB4C88-3498-D11C-BB58-096E1DFC2913}"/>
              </a:ext>
            </a:extLst>
          </p:cNvPr>
          <p:cNvSpPr>
            <a:spLocks noGrp="1"/>
          </p:cNvSpPr>
          <p:nvPr>
            <p:ph type="title"/>
          </p:nvPr>
        </p:nvSpPr>
        <p:spPr>
          <a:xfrm>
            <a:off x="838200" y="365125"/>
            <a:ext cx="8384177" cy="835787"/>
          </a:xfrm>
        </p:spPr>
        <p:txBody>
          <a:bodyPr/>
          <a:lstStyle/>
          <a:p>
            <a:r>
              <a:rPr lang="en-US" dirty="0">
                <a:solidFill>
                  <a:srgbClr val="822433"/>
                </a:solidFill>
              </a:rPr>
              <a:t>Semantic Segmentation: Quality</a:t>
            </a:r>
            <a:endParaRPr lang="en-US" noProof="0" dirty="0">
              <a:solidFill>
                <a:srgbClr val="822433"/>
              </a:solidFill>
            </a:endParaRPr>
          </a:p>
        </p:txBody>
      </p:sp>
      <p:sp>
        <p:nvSpPr>
          <p:cNvPr id="4" name="Google Shape;102;p14">
            <a:extLst>
              <a:ext uri="{FF2B5EF4-FFF2-40B4-BE49-F238E27FC236}">
                <a16:creationId xmlns:a16="http://schemas.microsoft.com/office/drawing/2014/main" id="{828421EA-6AD6-06E7-F9E4-764739558A9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75859FAA-366C-F762-DB80-430840E54E9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Chart">
            <a:extLst>
              <a:ext uri="{FF2B5EF4-FFF2-40B4-BE49-F238E27FC236}">
                <a16:creationId xmlns:a16="http://schemas.microsoft.com/office/drawing/2014/main" id="{140DAC26-A801-17B6-4C89-DCD77DDACB30}"/>
              </a:ext>
            </a:extLst>
          </p:cNvPr>
          <p:cNvGraphicFramePr/>
          <p:nvPr>
            <p:extLst>
              <p:ext uri="{D42A27DB-BD31-4B8C-83A1-F6EECF244321}">
                <p14:modId xmlns:p14="http://schemas.microsoft.com/office/powerpoint/2010/main" val="837873225"/>
              </p:ext>
            </p:extLst>
          </p:nvPr>
        </p:nvGraphicFramePr>
        <p:xfrm>
          <a:off x="958948" y="1556678"/>
          <a:ext cx="7715250" cy="4171950"/>
        </p:xfrm>
        <a:graphic>
          <a:graphicData uri="http://schemas.openxmlformats.org/drawingml/2006/chart">
            <c:chart xmlns:c="http://schemas.openxmlformats.org/drawingml/2006/chart" xmlns:r="http://schemas.openxmlformats.org/officeDocument/2006/relationships" r:id="rId3"/>
          </a:graphicData>
        </a:graphic>
      </p:graphicFrame>
      <p:sp>
        <p:nvSpPr>
          <p:cNvPr id="14" name="segmetric">
            <a:extLst>
              <a:ext uri="{FF2B5EF4-FFF2-40B4-BE49-F238E27FC236}">
                <a16:creationId xmlns:a16="http://schemas.microsoft.com/office/drawing/2014/main" id="{683F8C51-DDD6-899A-A679-32684091905B}"/>
              </a:ext>
            </a:extLst>
          </p:cNvPr>
          <p:cNvSpPr>
            <a:spLocks noGrp="1"/>
          </p:cNvSpPr>
          <p:nvPr/>
        </p:nvSpPr>
        <p:spPr>
          <a:xfrm>
            <a:off x="2761077" y="5684502"/>
            <a:ext cx="10096500" cy="333375"/>
          </a:xfrm>
          <a:prstGeom prst="rect">
            <a:avLst/>
          </a:prstGeom>
          <a:noFill/>
          <a:ln w="0">
            <a:noFill/>
          </a:ln>
        </p:spPr>
        <p:txBody>
          <a:bodyPr wrap="square" lIns="0" tIns="0" rIns="0" bIns="0" anchor="t">
            <a:noAutofit/>
          </a:bodyPr>
          <a:lstStyle>
            <a:defPPr algn="l">
              <a:defRPr lang="en-US" sz="1875" b="0">
                <a:solidFill>
                  <a:srgbClr val="656B73"/>
                </a:solidFill>
                <a:latin typeface="Roboto"/>
                <a:ea typeface="Roboto"/>
                <a:cs typeface="Roboto"/>
              </a:defRPr>
            </a:defPPr>
            <a:lvl1pPr algn="l">
              <a:defRPr lang="en-US" sz="1875" b="0">
                <a:solidFill>
                  <a:srgbClr val="656B73"/>
                </a:solidFill>
                <a:latin typeface="Roboto"/>
                <a:ea typeface="Roboto"/>
                <a:cs typeface="Roboto"/>
              </a:defRPr>
            </a:lvl1pPr>
            <a:lvl2pPr algn="l">
              <a:defRPr lang="en-US" sz="1875" b="0">
                <a:solidFill>
                  <a:srgbClr val="656B73"/>
                </a:solidFill>
                <a:latin typeface="Roboto"/>
                <a:ea typeface="Roboto"/>
                <a:cs typeface="Roboto"/>
              </a:defRPr>
            </a:lvl2pPr>
            <a:lvl3pPr algn="l">
              <a:defRPr lang="en-US" sz="1875" b="0">
                <a:solidFill>
                  <a:srgbClr val="656B73"/>
                </a:solidFill>
                <a:latin typeface="Roboto"/>
                <a:ea typeface="Roboto"/>
                <a:cs typeface="Roboto"/>
              </a:defRPr>
            </a:lvl3pPr>
            <a:lvl4pPr algn="l">
              <a:defRPr lang="en-US" sz="1875" b="0">
                <a:solidFill>
                  <a:srgbClr val="656B73"/>
                </a:solidFill>
                <a:latin typeface="Roboto"/>
                <a:ea typeface="Roboto"/>
                <a:cs typeface="Roboto"/>
              </a:defRPr>
            </a:lvl4pPr>
            <a:lvl5pPr algn="l">
              <a:defRPr lang="en-US" sz="1875" b="0">
                <a:solidFill>
                  <a:srgbClr val="656B73"/>
                </a:solidFill>
                <a:latin typeface="Roboto"/>
                <a:ea typeface="Roboto"/>
                <a:cs typeface="Roboto"/>
              </a:defRPr>
            </a:lvl5pPr>
            <a:lvl6pPr algn="l">
              <a:defRPr lang="en-US" sz="1875" b="0">
                <a:solidFill>
                  <a:srgbClr val="656B73"/>
                </a:solidFill>
                <a:latin typeface="Roboto"/>
                <a:ea typeface="Roboto"/>
                <a:cs typeface="Roboto"/>
              </a:defRPr>
            </a:lvl6pPr>
            <a:lvl7pPr algn="l">
              <a:defRPr lang="en-US" sz="1875" b="0">
                <a:solidFill>
                  <a:srgbClr val="656B73"/>
                </a:solidFill>
                <a:latin typeface="Roboto"/>
                <a:ea typeface="Roboto"/>
                <a:cs typeface="Roboto"/>
              </a:defRPr>
            </a:lvl7pPr>
            <a:lvl8pPr algn="l">
              <a:defRPr lang="en-US" sz="1875" b="0">
                <a:solidFill>
                  <a:srgbClr val="656B73"/>
                </a:solidFill>
                <a:latin typeface="Roboto"/>
                <a:ea typeface="Roboto"/>
                <a:cs typeface="Roboto"/>
              </a:defRPr>
            </a:lvl8pPr>
            <a:lvl9pPr algn="l">
              <a:defRPr lang="en-US" sz="1875" b="0">
                <a:solidFill>
                  <a:srgbClr val="656B73"/>
                </a:solidFill>
                <a:latin typeface="Roboto"/>
                <a:ea typeface="Roboto"/>
                <a:cs typeface="Roboto"/>
              </a:defRPr>
            </a:lvl9pPr>
          </a:lstStyle>
          <a:p>
            <a:pPr algn="l">
              <a:defRPr lang="en-US" sz="1875" b="0">
                <a:solidFill>
                  <a:srgbClr val="656B73"/>
                </a:solidFill>
                <a:latin typeface="Roboto"/>
                <a:ea typeface="Roboto"/>
                <a:cs typeface="Roboto"/>
              </a:defRPr>
            </a:pPr>
            <a:r>
              <a:rPr lang="en-US" sz="1600" b="0" dirty="0" err="1">
                <a:solidFill>
                  <a:srgbClr val="656B73"/>
                </a:solidFill>
                <a:latin typeface="Roboto"/>
                <a:ea typeface="Roboto"/>
                <a:cs typeface="Roboto"/>
              </a:rPr>
              <a:t>S⁵Mars</a:t>
            </a:r>
            <a:r>
              <a:rPr lang="en-US" sz="1600" b="0" dirty="0">
                <a:solidFill>
                  <a:srgbClr val="656B73"/>
                </a:solidFill>
                <a:latin typeface="Roboto"/>
                <a:ea typeface="Roboto"/>
                <a:cs typeface="Roboto"/>
              </a:rPr>
              <a:t> test </a:t>
            </a:r>
            <a:r>
              <a:rPr lang="en-US" sz="1600" b="0" dirty="0" err="1">
                <a:solidFill>
                  <a:srgbClr val="656B73"/>
                </a:solidFill>
                <a:latin typeface="Roboto"/>
                <a:ea typeface="Roboto"/>
                <a:cs typeface="Roboto"/>
              </a:rPr>
              <a:t>mIoU</a:t>
            </a:r>
            <a:r>
              <a:rPr lang="en-US" sz="1600" b="0" dirty="0">
                <a:solidFill>
                  <a:srgbClr val="656B73"/>
                </a:solidFill>
                <a:latin typeface="Roboto"/>
                <a:ea typeface="Roboto"/>
                <a:cs typeface="Roboto"/>
              </a:rPr>
              <a:t>, FP32 configurations</a:t>
            </a:r>
          </a:p>
        </p:txBody>
      </p:sp>
      <p:sp>
        <p:nvSpPr>
          <p:cNvPr id="16" name="best-seg-value">
            <a:extLst>
              <a:ext uri="{FF2B5EF4-FFF2-40B4-BE49-F238E27FC236}">
                <a16:creationId xmlns:a16="http://schemas.microsoft.com/office/drawing/2014/main" id="{D8CD169C-FF17-51E5-43BA-647C1168C841}"/>
              </a:ext>
            </a:extLst>
          </p:cNvPr>
          <p:cNvSpPr>
            <a:spLocks noGrp="1"/>
          </p:cNvSpPr>
          <p:nvPr/>
        </p:nvSpPr>
        <p:spPr>
          <a:xfrm>
            <a:off x="8828796" y="2885263"/>
            <a:ext cx="2905125"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75.55%</a:t>
            </a:r>
          </a:p>
        </p:txBody>
      </p:sp>
      <p:sp>
        <p:nvSpPr>
          <p:cNvPr id="18" name="best-seg-model">
            <a:extLst>
              <a:ext uri="{FF2B5EF4-FFF2-40B4-BE49-F238E27FC236}">
                <a16:creationId xmlns:a16="http://schemas.microsoft.com/office/drawing/2014/main" id="{B34A71A2-9C61-8B85-A2C8-FDA132BD775D}"/>
              </a:ext>
            </a:extLst>
          </p:cNvPr>
          <p:cNvSpPr>
            <a:spLocks noGrp="1"/>
          </p:cNvSpPr>
          <p:nvPr/>
        </p:nvSpPr>
        <p:spPr>
          <a:xfrm>
            <a:off x="8914521" y="3561538"/>
            <a:ext cx="2762250" cy="438150"/>
          </a:xfrm>
          <a:prstGeom prst="rect">
            <a:avLst/>
          </a:prstGeom>
          <a:noFill/>
          <a:ln w="0">
            <a:noFill/>
          </a:ln>
        </p:spPr>
        <p:txBody>
          <a:bodyPr wrap="square" lIns="0" tIns="0" rIns="0" bIns="0" anchor="t">
            <a:noAutofit/>
          </a:bodyPr>
          <a:lstStyle>
            <a:defPPr algn="ctr">
              <a:defRPr lang="en-US" sz="2175" b="1">
                <a:solidFill>
                  <a:srgbClr val="202124"/>
                </a:solidFill>
                <a:latin typeface="Roboto"/>
                <a:ea typeface="Roboto"/>
                <a:cs typeface="Roboto"/>
              </a:defRPr>
            </a:defPPr>
            <a:lvl1pPr algn="ctr">
              <a:defRPr lang="en-US" sz="2175" b="1">
                <a:solidFill>
                  <a:srgbClr val="202124"/>
                </a:solidFill>
                <a:latin typeface="Roboto"/>
                <a:ea typeface="Roboto"/>
                <a:cs typeface="Roboto"/>
              </a:defRPr>
            </a:lvl1pPr>
            <a:lvl2pPr algn="ctr">
              <a:defRPr lang="en-US" sz="2175" b="1">
                <a:solidFill>
                  <a:srgbClr val="202124"/>
                </a:solidFill>
                <a:latin typeface="Roboto"/>
                <a:ea typeface="Roboto"/>
                <a:cs typeface="Roboto"/>
              </a:defRPr>
            </a:lvl2pPr>
            <a:lvl3pPr algn="ctr">
              <a:defRPr lang="en-US" sz="2175" b="1">
                <a:solidFill>
                  <a:srgbClr val="202124"/>
                </a:solidFill>
                <a:latin typeface="Roboto"/>
                <a:ea typeface="Roboto"/>
                <a:cs typeface="Roboto"/>
              </a:defRPr>
            </a:lvl3pPr>
            <a:lvl4pPr algn="ctr">
              <a:defRPr lang="en-US" sz="2175" b="1">
                <a:solidFill>
                  <a:srgbClr val="202124"/>
                </a:solidFill>
                <a:latin typeface="Roboto"/>
                <a:ea typeface="Roboto"/>
                <a:cs typeface="Roboto"/>
              </a:defRPr>
            </a:lvl4pPr>
            <a:lvl5pPr algn="ctr">
              <a:defRPr lang="en-US" sz="2175" b="1">
                <a:solidFill>
                  <a:srgbClr val="202124"/>
                </a:solidFill>
                <a:latin typeface="Roboto"/>
                <a:ea typeface="Roboto"/>
                <a:cs typeface="Roboto"/>
              </a:defRPr>
            </a:lvl5pPr>
            <a:lvl6pPr algn="ctr">
              <a:defRPr lang="en-US" sz="2175" b="1">
                <a:solidFill>
                  <a:srgbClr val="202124"/>
                </a:solidFill>
                <a:latin typeface="Roboto"/>
                <a:ea typeface="Roboto"/>
                <a:cs typeface="Roboto"/>
              </a:defRPr>
            </a:lvl6pPr>
            <a:lvl7pPr algn="ctr">
              <a:defRPr lang="en-US" sz="2175" b="1">
                <a:solidFill>
                  <a:srgbClr val="202124"/>
                </a:solidFill>
                <a:latin typeface="Roboto"/>
                <a:ea typeface="Roboto"/>
                <a:cs typeface="Roboto"/>
              </a:defRPr>
            </a:lvl7pPr>
            <a:lvl8pPr algn="ctr">
              <a:defRPr lang="en-US" sz="2175" b="1">
                <a:solidFill>
                  <a:srgbClr val="202124"/>
                </a:solidFill>
                <a:latin typeface="Roboto"/>
                <a:ea typeface="Roboto"/>
                <a:cs typeface="Roboto"/>
              </a:defRPr>
            </a:lvl8pPr>
            <a:lvl9pPr algn="ctr">
              <a:defRPr lang="en-US" sz="2175" b="1">
                <a:solidFill>
                  <a:srgbClr val="202124"/>
                </a:solidFill>
                <a:latin typeface="Roboto"/>
                <a:ea typeface="Roboto"/>
                <a:cs typeface="Roboto"/>
              </a:defRPr>
            </a:lvl9pPr>
          </a:lstStyle>
          <a:p>
            <a:pPr algn="ctr">
              <a:defRPr lang="en-US" sz="2175" b="1">
                <a:solidFill>
                  <a:srgbClr val="202124"/>
                </a:solidFill>
                <a:latin typeface="Roboto"/>
                <a:ea typeface="Roboto"/>
                <a:cs typeface="Roboto"/>
              </a:defRPr>
            </a:pPr>
            <a:r>
              <a:rPr lang="en-US" sz="2175" b="1" dirty="0">
                <a:solidFill>
                  <a:srgbClr val="202124"/>
                </a:solidFill>
                <a:latin typeface="Roboto"/>
                <a:ea typeface="Roboto"/>
                <a:cs typeface="Roboto"/>
              </a:rPr>
              <a:t>SegFormer-B0</a:t>
            </a:r>
          </a:p>
        </p:txBody>
      </p:sp>
      <p:sp>
        <p:nvSpPr>
          <p:cNvPr id="20" name="best-seg-params">
            <a:extLst>
              <a:ext uri="{FF2B5EF4-FFF2-40B4-BE49-F238E27FC236}">
                <a16:creationId xmlns:a16="http://schemas.microsoft.com/office/drawing/2014/main" id="{7E44B55A-E98F-B8F2-F6C9-AD2769C124EC}"/>
              </a:ext>
            </a:extLst>
          </p:cNvPr>
          <p:cNvSpPr>
            <a:spLocks noGrp="1"/>
          </p:cNvSpPr>
          <p:nvPr/>
        </p:nvSpPr>
        <p:spPr>
          <a:xfrm>
            <a:off x="8900233" y="4025736"/>
            <a:ext cx="2762250"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3.72M parameters</a:t>
            </a:r>
          </a:p>
        </p:txBody>
      </p:sp>
    </p:spTree>
    <p:extLst>
      <p:ext uri="{BB962C8B-B14F-4D97-AF65-F5344CB8AC3E}">
        <p14:creationId xmlns:p14="http://schemas.microsoft.com/office/powerpoint/2010/main" val="191454813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12A7E0-036F-0FAB-F318-6F34781F658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753354-8731-0F2D-72DE-450BAAB8D057}"/>
              </a:ext>
            </a:extLst>
          </p:cNvPr>
          <p:cNvSpPr>
            <a:spLocks noGrp="1"/>
          </p:cNvSpPr>
          <p:nvPr>
            <p:ph type="title"/>
          </p:nvPr>
        </p:nvSpPr>
        <p:spPr>
          <a:xfrm>
            <a:off x="838200" y="365125"/>
            <a:ext cx="8384177" cy="835787"/>
          </a:xfrm>
        </p:spPr>
        <p:txBody>
          <a:bodyPr/>
          <a:lstStyle/>
          <a:p>
            <a:r>
              <a:rPr lang="en-US" dirty="0">
                <a:solidFill>
                  <a:srgbClr val="822433"/>
                </a:solidFill>
              </a:rPr>
              <a:t>Cross-generalization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66AD3EA7-99DC-21B4-74D2-984BAFDF260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2AF55B1C-2B8D-F4C6-7953-117E91C8BA8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1FC2143-848E-85BB-337E-A033457A48BC}"/>
              </a:ext>
            </a:extLst>
          </p:cNvPr>
          <p:cNvGraphicFramePr/>
          <p:nvPr>
            <p:extLst>
              <p:ext uri="{D42A27DB-BD31-4B8C-83A1-F6EECF244321}">
                <p14:modId xmlns:p14="http://schemas.microsoft.com/office/powerpoint/2010/main" val="1118548531"/>
              </p:ext>
            </p:extLst>
          </p:nvPr>
        </p:nvGraphicFramePr>
        <p:xfrm>
          <a:off x="838200" y="2155261"/>
          <a:ext cx="10668000" cy="2790825"/>
        </p:xfrm>
        <a:graphic>
          <a:graphicData uri="http://schemas.openxmlformats.org/drawingml/2006/table">
            <a:tbl>
              <a:tblPr>
                <a:effectLst>
                  <a:outerShdw blurRad="50800" dist="38100" dir="2700000" algn="tl" rotWithShape="0">
                    <a:prstClr val="black">
                      <a:alpha val="40000"/>
                    </a:prstClr>
                  </a:outerShdw>
                </a:effectLst>
              </a:tblPr>
              <a:tblGrid>
                <a:gridCol w="3048000">
                  <a:extLst>
                    <a:ext uri="{9D8B030D-6E8A-4147-A177-3AD203B41FA5}">
                      <a16:colId xmlns:a16="http://schemas.microsoft.com/office/drawing/2014/main" val="20000"/>
                    </a:ext>
                  </a:extLst>
                </a:gridCol>
                <a:gridCol w="1905000">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1905000">
                  <a:extLst>
                    <a:ext uri="{9D8B030D-6E8A-4147-A177-3AD203B41FA5}">
                      <a16:colId xmlns:a16="http://schemas.microsoft.com/office/drawing/2014/main" val="20004"/>
                    </a:ext>
                  </a:extLst>
                </a:gridCol>
              </a:tblGrid>
              <a:tr h="558165">
                <a:tc rowSpan="2">
                  <a:txBody>
                    <a:bodyPr/>
                    <a:lstStyle/>
                    <a:p>
                      <a:pPr algn="ctr"/>
                      <a:r>
                        <a:rPr lang="en-US" sz="1950" b="1" dirty="0">
                          <a:solidFill>
                            <a:schemeClr val="bg1"/>
                          </a:solidFill>
                          <a:latin typeface="Roboto"/>
                          <a:ea typeface="Roboto"/>
                          <a:cs typeface="Roboto"/>
                        </a:rPr>
                        <a:t>Model</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gridSpan="2">
                  <a:txBody>
                    <a:bodyPr/>
                    <a:lstStyle/>
                    <a:p>
                      <a:pPr algn="ctr"/>
                      <a:r>
                        <a:rPr lang="en-US" sz="1950" b="1" dirty="0">
                          <a:solidFill>
                            <a:schemeClr val="bg1"/>
                          </a:solidFill>
                          <a:latin typeface="Roboto"/>
                          <a:ea typeface="Roboto"/>
                          <a:cs typeface="Roboto"/>
                        </a:rPr>
                        <a:t>MSL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gridSpan="2">
                  <a:txBody>
                    <a:bodyPr/>
                    <a:lstStyle/>
                    <a:p>
                      <a:pPr algn="ctr"/>
                      <a:r>
                        <a:rPr lang="en-US" sz="1950" b="1" dirty="0">
                          <a:solidFill>
                            <a:schemeClr val="bg1"/>
                          </a:solidFill>
                          <a:latin typeface="Roboto"/>
                          <a:ea typeface="Roboto"/>
                          <a:cs typeface="Roboto"/>
                        </a:rPr>
                        <a:t>MER training </a:t>
                      </a:r>
                      <a:r>
                        <a:rPr lang="en-US" sz="1950" b="1" dirty="0" err="1">
                          <a:solidFill>
                            <a:schemeClr val="bg1"/>
                          </a:solidFill>
                          <a:latin typeface="Roboto"/>
                          <a:ea typeface="Roboto"/>
                          <a:cs typeface="Roboto"/>
                        </a:rPr>
                        <a:t>mIoU</a:t>
                      </a:r>
                      <a:endParaRPr lang="en-US" sz="1950" b="1" dirty="0">
                        <a:solidFill>
                          <a:schemeClr val="bg1"/>
                        </a:solidFill>
                        <a:latin typeface="Roboto"/>
                        <a:ea typeface="Roboto"/>
                        <a:cs typeface="Roboto"/>
                      </a:endParaRP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822433"/>
                    </a:solidFill>
                  </a:tcPr>
                </a:tc>
                <a:tc h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558165">
                <a:tc vMerge="1">
                  <a:txBody>
                    <a:bodyPr/>
                    <a:lstStyle/>
                    <a:p>
                      <a:pPr algn="ctr"/>
                      <a:endParaRP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MSL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MER test</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1950" b="1" dirty="0">
                          <a:solidFill>
                            <a:srgbClr val="202124"/>
                          </a:solidFill>
                          <a:latin typeface="Roboto"/>
                          <a:ea typeface="Roboto"/>
                          <a:cs typeface="Roboto"/>
                        </a:rPr>
                        <a:t>MER test</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1950" b="1" dirty="0">
                          <a:solidFill>
                            <a:srgbClr val="822433"/>
                          </a:solidFill>
                          <a:latin typeface="Roboto"/>
                          <a:ea typeface="Roboto"/>
                          <a:cs typeface="Roboto"/>
                        </a:rPr>
                        <a:t>MSL test</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558165">
                <a:tc>
                  <a:txBody>
                    <a:bodyPr/>
                    <a:lstStyle/>
                    <a:p>
                      <a:pPr algn="l"/>
                      <a:r>
                        <a:rPr lang="en-US" sz="2100" dirty="0">
                          <a:solidFill>
                            <a:srgbClr val="202124"/>
                          </a:solidFill>
                          <a:latin typeface="Roboto"/>
                          <a:ea typeface="Roboto"/>
                          <a:cs typeface="Roboto"/>
                        </a:rPr>
                        <a:t>SegFormer-B0</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70.63%</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52.06%</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66.75%</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b="1" dirty="0">
                          <a:solidFill>
                            <a:srgbClr val="822433"/>
                          </a:solidFill>
                          <a:latin typeface="Roboto"/>
                          <a:ea typeface="Roboto"/>
                          <a:cs typeface="Roboto"/>
                        </a:rPr>
                        <a:t>48.11%</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558165">
                <a:tc>
                  <a:txBody>
                    <a:bodyPr/>
                    <a:lstStyle/>
                    <a:p>
                      <a:pPr algn="l"/>
                      <a:r>
                        <a:rPr lang="en-US" sz="2100" dirty="0">
                          <a:solidFill>
                            <a:srgbClr val="202124"/>
                          </a:solidFill>
                          <a:latin typeface="Roboto"/>
                          <a:ea typeface="Roboto"/>
                          <a:cs typeface="Roboto"/>
                        </a:rPr>
                        <a:t>U-Net R34</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71.80%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27.43%</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rgbClr val="FFFFFF"/>
                    </a:solidFill>
                  </a:tcPr>
                </a:tc>
                <a:tc>
                  <a:txBody>
                    <a:bodyPr/>
                    <a:lstStyle/>
                    <a:p>
                      <a:pPr algn="ctr"/>
                      <a:r>
                        <a:rPr lang="en-US" sz="2400" b="1" dirty="0">
                          <a:solidFill>
                            <a:srgbClr val="202124"/>
                          </a:solidFill>
                          <a:latin typeface="Roboto"/>
                          <a:ea typeface="Roboto"/>
                          <a:cs typeface="Roboto"/>
                        </a:rPr>
                        <a:t>67.76%</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400" dirty="0">
                          <a:solidFill>
                            <a:srgbClr val="822433"/>
                          </a:solidFill>
                          <a:latin typeface="Roboto"/>
                          <a:ea typeface="Roboto"/>
                          <a:cs typeface="Roboto"/>
                        </a:rPr>
                        <a:t>13.82%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558165">
                <a:tc>
                  <a:txBody>
                    <a:bodyPr/>
                    <a:lstStyle/>
                    <a:p>
                      <a:pPr algn="l"/>
                      <a:r>
                        <a:rPr lang="en-US" sz="2100" dirty="0">
                          <a:solidFill>
                            <a:srgbClr val="202124"/>
                          </a:solidFill>
                          <a:latin typeface="Roboto"/>
                          <a:ea typeface="Roboto"/>
                          <a:cs typeface="Roboto"/>
                        </a:rPr>
                        <a:t>DeepLabV3+ MV2</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68.98%</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822433"/>
                          </a:solidFill>
                          <a:latin typeface="Roboto"/>
                          <a:ea typeface="Roboto"/>
                          <a:cs typeface="Roboto"/>
                        </a:rPr>
                        <a:t>38.27%</a:t>
                      </a:r>
                    </a:p>
                  </a:txBody>
                  <a:tcPr marL="76200" marR="76200" marT="47625" marB="47625" anchor="ctr">
                    <a:lnL w="0">
                      <a:noFill/>
                    </a:lnL>
                    <a:lnR w="12700" cap="flat" cmpd="sng" algn="ctr">
                      <a:solidFill>
                        <a:schemeClr val="tx1"/>
                      </a:solidFill>
                      <a:prstDash val="solid"/>
                      <a:round/>
                      <a:headEnd type="none" w="med" len="med"/>
                      <a:tailEnd type="none" w="med" len="med"/>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202124"/>
                          </a:solidFill>
                          <a:latin typeface="Roboto"/>
                          <a:ea typeface="Roboto"/>
                          <a:cs typeface="Roboto"/>
                        </a:rPr>
                        <a:t>65.10%</a:t>
                      </a:r>
                    </a:p>
                  </a:txBody>
                  <a:tcPr marL="76200" marR="76200" marT="47625" marB="47625"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400" dirty="0">
                          <a:solidFill>
                            <a:srgbClr val="822433"/>
                          </a:solidFill>
                          <a:latin typeface="Roboto"/>
                          <a:ea typeface="Roboto"/>
                          <a:cs typeface="Roboto"/>
                        </a:rPr>
                        <a:t>12.86%</a:t>
                      </a:r>
                    </a:p>
                  </a:txBody>
                  <a:tcPr marL="76200" marR="76200" marT="47625" marB="47625"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bl>
          </a:graphicData>
        </a:graphic>
      </p:graphicFrame>
      <p:sp>
        <p:nvSpPr>
          <p:cNvPr id="10" name="cross-scope">
            <a:extLst>
              <a:ext uri="{FF2B5EF4-FFF2-40B4-BE49-F238E27FC236}">
                <a16:creationId xmlns:a16="http://schemas.microsoft.com/office/drawing/2014/main" id="{1FAB7C16-D544-C895-8174-86F62D812A8F}"/>
              </a:ext>
            </a:extLst>
          </p:cNvPr>
          <p:cNvSpPr>
            <a:spLocks noGrp="1"/>
          </p:cNvSpPr>
          <p:nvPr/>
        </p:nvSpPr>
        <p:spPr>
          <a:xfrm>
            <a:off x="838200" y="5076953"/>
            <a:ext cx="10668000" cy="333375"/>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400" b="0" dirty="0">
                <a:solidFill>
                  <a:srgbClr val="656B73"/>
                </a:solidFill>
                <a:latin typeface="Roboto"/>
                <a:ea typeface="Roboto"/>
                <a:cs typeface="Roboto"/>
              </a:rPr>
              <a:t>Separate training runs, no target fine-tuning</a:t>
            </a:r>
          </a:p>
        </p:txBody>
      </p:sp>
    </p:spTree>
    <p:extLst>
      <p:ext uri="{BB962C8B-B14F-4D97-AF65-F5344CB8AC3E}">
        <p14:creationId xmlns:p14="http://schemas.microsoft.com/office/powerpoint/2010/main" val="2793047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Semantic Segmentation: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ella 5">
            <a:extLst>
              <a:ext uri="{FF2B5EF4-FFF2-40B4-BE49-F238E27FC236}">
                <a16:creationId xmlns:a16="http://schemas.microsoft.com/office/drawing/2014/main" id="{100EDF0A-48F2-63D9-C838-736981AF5462}"/>
              </a:ext>
            </a:extLst>
          </p:cNvPr>
          <p:cNvGraphicFramePr/>
          <p:nvPr>
            <p:extLst>
              <p:ext uri="{D42A27DB-BD31-4B8C-83A1-F6EECF244321}">
                <p14:modId xmlns:p14="http://schemas.microsoft.com/office/powerpoint/2010/main" val="1085277147"/>
              </p:ext>
            </p:extLst>
          </p:nvPr>
        </p:nvGraphicFramePr>
        <p:xfrm>
          <a:off x="762000" y="1665316"/>
          <a:ext cx="10668000" cy="4053840"/>
        </p:xfrm>
        <a:graphic>
          <a:graphicData uri="http://schemas.openxmlformats.org/drawingml/2006/table">
            <a:tbl>
              <a:tblPr>
                <a:effectLst>
                  <a:outerShdw blurRad="50800" dist="38100" dir="2700000" algn="tl" rotWithShape="0">
                    <a:prstClr val="black">
                      <a:alpha val="40000"/>
                    </a:prstClr>
                  </a:outerShdw>
                </a:effectLst>
              </a:tblPr>
              <a:tblGrid>
                <a:gridCol w="2714625">
                  <a:extLst>
                    <a:ext uri="{9D8B030D-6E8A-4147-A177-3AD203B41FA5}">
                      <a16:colId xmlns:a16="http://schemas.microsoft.com/office/drawing/2014/main" val="20000"/>
                    </a:ext>
                  </a:extLst>
                </a:gridCol>
                <a:gridCol w="1857375">
                  <a:extLst>
                    <a:ext uri="{9D8B030D-6E8A-4147-A177-3AD203B41FA5}">
                      <a16:colId xmlns:a16="http://schemas.microsoft.com/office/drawing/2014/main" val="20001"/>
                    </a:ext>
                  </a:extLst>
                </a:gridCol>
                <a:gridCol w="1905000">
                  <a:extLst>
                    <a:ext uri="{9D8B030D-6E8A-4147-A177-3AD203B41FA5}">
                      <a16:colId xmlns:a16="http://schemas.microsoft.com/office/drawing/2014/main" val="20002"/>
                    </a:ext>
                  </a:extLst>
                </a:gridCol>
                <a:gridCol w="190500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tblGrid>
              <a:tr h="609600">
                <a:tc>
                  <a:txBody>
                    <a:bodyPr/>
                    <a:lstStyle/>
                    <a:p>
                      <a:pPr algn="ctr"/>
                      <a:r>
                        <a:rPr lang="en-US" sz="1800" b="1" dirty="0">
                          <a:solidFill>
                            <a:schemeClr val="bg1"/>
                          </a:solidFill>
                          <a:latin typeface="Roboto"/>
                          <a:ea typeface="Roboto"/>
                          <a:cs typeface="Roboto"/>
                        </a:rPr>
                        <a:t>Model</a:t>
                      </a:r>
                    </a:p>
                  </a:txBody>
                  <a:tcPr marL="76200" marR="76200" marT="38100" marB="38100" anchor="ctr">
                    <a:lnL w="0">
                      <a:noFill/>
                    </a:lnL>
                    <a:lnR w="12700" cap="flat" cmpd="sng" algn="ctr">
                      <a:solidFill>
                        <a:schemeClr val="tx1"/>
                      </a:solidFill>
                      <a:prstDash val="solid"/>
                      <a:round/>
                      <a:headEnd type="none" w="med" len="med"/>
                      <a:tailEnd type="none" w="med" len="med"/>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Variant</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Test </a:t>
                      </a:r>
                      <a:r>
                        <a:rPr lang="en-US" sz="1800" b="1" dirty="0" err="1">
                          <a:solidFill>
                            <a:schemeClr val="bg1"/>
                          </a:solidFill>
                          <a:latin typeface="Roboto"/>
                          <a:ea typeface="Roboto"/>
                          <a:cs typeface="Roboto"/>
                        </a:rPr>
                        <a:t>mIoU</a:t>
                      </a:r>
                      <a:endParaRPr lang="en-US" sz="1800" b="1" dirty="0">
                        <a:solidFill>
                          <a:schemeClr val="bg1"/>
                        </a:solidFill>
                        <a:latin typeface="Roboto"/>
                        <a:ea typeface="Roboto"/>
                        <a:cs typeface="Roboto"/>
                      </a:endParaRPr>
                    </a:p>
                    <a:p>
                      <a:pPr algn="ct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Latency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ms</a:t>
                      </a:r>
                      <a:r>
                        <a:rPr lang="en-US" sz="180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800" b="1" dirty="0">
                          <a:solidFill>
                            <a:schemeClr val="bg1"/>
                          </a:solidFill>
                          <a:latin typeface="Roboto"/>
                          <a:ea typeface="Roboto"/>
                          <a:cs typeface="Roboto"/>
                        </a:rPr>
                        <a:t>Energy</a:t>
                      </a:r>
                    </a:p>
                    <a:p>
                      <a:pPr algn="ctr"/>
                      <a:r>
                        <a:rPr lang="en-US" sz="1800" b="1" dirty="0">
                          <a:solidFill>
                            <a:schemeClr val="bg1"/>
                          </a:solidFill>
                          <a:latin typeface="Roboto"/>
                          <a:ea typeface="Roboto"/>
                          <a:cs typeface="Roboto"/>
                        </a:rPr>
                        <a:t>(</a:t>
                      </a:r>
                      <a:r>
                        <a:rPr lang="en-US" sz="1800" b="1" dirty="0" err="1">
                          <a:solidFill>
                            <a:schemeClr val="bg1"/>
                          </a:solidFill>
                          <a:latin typeface="Roboto"/>
                          <a:ea typeface="Roboto"/>
                          <a:cs typeface="Roboto"/>
                        </a:rPr>
                        <a:t>mJ</a:t>
                      </a:r>
                      <a:r>
                        <a:rPr lang="en-US" sz="1800" b="1" dirty="0">
                          <a:solidFill>
                            <a:schemeClr val="bg1"/>
                          </a:solidFill>
                          <a:latin typeface="Roboto"/>
                          <a:ea typeface="Roboto"/>
                          <a:cs typeface="Roboto"/>
                        </a:rPr>
                        <a:t>/image)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28625">
                <a:tc rowSpan="4">
                  <a:txBody>
                    <a:bodyPr/>
                    <a:lstStyle/>
                    <a:p>
                      <a:pPr algn="l"/>
                      <a:r>
                        <a:rPr lang="en-US" sz="2025" b="1" dirty="0">
                          <a:solidFill>
                            <a:srgbClr val="202124"/>
                          </a:solidFill>
                          <a:latin typeface="Roboto"/>
                          <a:ea typeface="Roboto"/>
                          <a:cs typeface="Roboto"/>
                        </a:rPr>
                        <a:t>DeepLabV3+</a:t>
                      </a:r>
                    </a:p>
                    <a:p>
                      <a:pPr algn="l"/>
                      <a:r>
                        <a:rPr lang="en-US" sz="2025" b="1" dirty="0">
                          <a:solidFill>
                            <a:srgbClr val="202124"/>
                          </a:solidFill>
                          <a:latin typeface="Roboto"/>
                          <a:ea typeface="Roboto"/>
                          <a:cs typeface="Roboto"/>
                        </a:rPr>
                        <a:t>MobileNetV2</a:t>
                      </a:r>
                    </a:p>
                  </a:txBody>
                  <a:tcPr marL="76200" marR="76200" marT="38100" marB="38100" anchor="ctr">
                    <a:lnL w="12700" cap="flat" cmpd="sng" algn="ctr">
                      <a:no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64.07</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653.72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1"/>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64.07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6.03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377.88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2"/>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59.14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4.02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159.19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3"/>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65.63</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3.01</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115.34</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chemeClr val="bg1">
                        <a:lumMod val="95000"/>
                      </a:schemeClr>
                    </a:solidFill>
                  </a:tcPr>
                </a:tc>
                <a:extLst>
                  <a:ext uri="{0D108BD9-81ED-4DB2-BD59-A6C34878D82A}">
                    <a16:rowId xmlns:a16="http://schemas.microsoft.com/office/drawing/2014/main" val="10004"/>
                  </a:ext>
                </a:extLst>
              </a:tr>
              <a:tr h="428625">
                <a:tc rowSpan="4">
                  <a:txBody>
                    <a:bodyPr/>
                    <a:lstStyle/>
                    <a:p>
                      <a:pPr algn="l"/>
                      <a:r>
                        <a:rPr lang="en-US" sz="2025" b="1" dirty="0">
                          <a:solidFill>
                            <a:srgbClr val="202124"/>
                          </a:solidFill>
                          <a:latin typeface="Roboto"/>
                          <a:ea typeface="Roboto"/>
                          <a:cs typeface="Roboto"/>
                        </a:rPr>
                        <a:t>SegFormer-B0</a:t>
                      </a:r>
                    </a:p>
                  </a:txBody>
                  <a:tcPr marL="76200" marR="76200" marT="38100" marB="38100" anchor="ctr">
                    <a:lnL w="0">
                      <a:noFill/>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FP32</a:t>
                      </a:r>
                    </a:p>
                  </a:txBody>
                  <a:tcPr marL="76200" marR="76200" marT="38100" marB="38100" anchor="ctr">
                    <a:lnL w="12700" cap="flat" cmpd="sng" algn="ctr">
                      <a:solidFill>
                        <a:schemeClr val="tx1"/>
                      </a:solidFill>
                      <a:prstDash val="solid"/>
                      <a:round/>
                      <a:headEnd type="none" w="med" len="med"/>
                      <a:tailEnd type="none" w="med" len="med"/>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75.55</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11.88</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tc>
                  <a:txBody>
                    <a:bodyPr/>
                    <a:lstStyle/>
                    <a:p>
                      <a:pPr algn="ctr"/>
                      <a:r>
                        <a:rPr lang="en-US" sz="2025">
                          <a:solidFill>
                            <a:srgbClr val="202124"/>
                          </a:solidFill>
                          <a:latin typeface="Roboto"/>
                          <a:ea typeface="Roboto"/>
                          <a:cs typeface="Roboto"/>
                        </a:rPr>
                        <a:t>835.72</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rgbClr val="FFFFFF"/>
                    </a:solidFill>
                  </a:tcPr>
                </a:tc>
                <a:extLst>
                  <a:ext uri="{0D108BD9-81ED-4DB2-BD59-A6C34878D82A}">
                    <a16:rowId xmlns:a16="http://schemas.microsoft.com/office/drawing/2014/main" val="10005"/>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FP16</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75.55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7.17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dirty="0">
                          <a:solidFill>
                            <a:srgbClr val="202124"/>
                          </a:solidFill>
                          <a:latin typeface="Roboto"/>
                          <a:ea typeface="Roboto"/>
                          <a:cs typeface="Roboto"/>
                        </a:rPr>
                        <a:t>432.07</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6"/>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PTQ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75.60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5.92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dirty="0">
                          <a:solidFill>
                            <a:srgbClr val="202124"/>
                          </a:solidFill>
                          <a:latin typeface="Roboto"/>
                          <a:ea typeface="Roboto"/>
                          <a:cs typeface="Roboto"/>
                        </a:rPr>
                        <a:t>327.99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7"/>
                  </a:ext>
                </a:extLst>
              </a:tr>
              <a:tr h="428625">
                <a:tc vMerge="1">
                  <a:txBody>
                    <a:bodyPr/>
                    <a:lstStyle/>
                    <a:p>
                      <a:pPr algn="ctr"/>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025" b="1" dirty="0">
                          <a:solidFill>
                            <a:srgbClr val="822433"/>
                          </a:solidFill>
                          <a:latin typeface="Roboto"/>
                          <a:ea typeface="Roboto"/>
                          <a:cs typeface="Roboto"/>
                        </a:rPr>
                        <a:t>QAT INT8</a:t>
                      </a:r>
                    </a:p>
                  </a:txBody>
                  <a:tcPr marL="76200" marR="76200" marT="38100" marB="38100" anchor="ctr">
                    <a:lnL w="12700" cap="flat" cmpd="sng" algn="ctr">
                      <a:solidFill>
                        <a:schemeClr val="tx1"/>
                      </a:solidFill>
                      <a:prstDash val="solid"/>
                      <a:round/>
                      <a:headEnd type="none" w="med" len="med"/>
                      <a:tailEnd type="none" w="med" len="med"/>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76.93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5.66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025" b="1" dirty="0">
                          <a:solidFill>
                            <a:srgbClr val="822433"/>
                          </a:solidFill>
                          <a:latin typeface="Roboto"/>
                          <a:ea typeface="Roboto"/>
                          <a:cs typeface="Roboto"/>
                        </a:rPr>
                        <a:t>291.76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8"/>
                  </a:ext>
                </a:extLst>
              </a:tr>
            </a:tbl>
          </a:graphicData>
        </a:graphic>
      </p:graphicFrame>
      <p:sp>
        <p:nvSpPr>
          <p:cNvPr id="8" name="benchmark-scope">
            <a:extLst>
              <a:ext uri="{FF2B5EF4-FFF2-40B4-BE49-F238E27FC236}">
                <a16:creationId xmlns:a16="http://schemas.microsoft.com/office/drawing/2014/main" id="{E420B95F-C84B-F185-58E3-DF14E120C93D}"/>
              </a:ext>
            </a:extLst>
          </p:cNvPr>
          <p:cNvSpPr>
            <a:spLocks noGrp="1"/>
          </p:cNvSpPr>
          <p:nvPr/>
        </p:nvSpPr>
        <p:spPr>
          <a:xfrm>
            <a:off x="762000" y="5611091"/>
            <a:ext cx="10763250"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defRPr lang="en-US" sz="1725" b="0">
                <a:solidFill>
                  <a:srgbClr val="656B73"/>
                </a:solidFill>
                <a:latin typeface="Roboto"/>
                <a:ea typeface="Roboto"/>
                <a:cs typeface="Roboto"/>
              </a:defRPr>
            </a:pPr>
            <a:r>
              <a:rPr lang="en-US" sz="1400" dirty="0"/>
              <a:t>Best two results, </a:t>
            </a:r>
            <a:r>
              <a:rPr lang="en-US" sz="1400" b="0" dirty="0">
                <a:solidFill>
                  <a:srgbClr val="656B73"/>
                </a:solidFill>
                <a:latin typeface="Roboto"/>
                <a:ea typeface="Roboto"/>
                <a:cs typeface="Roboto"/>
              </a:rPr>
              <a:t>NVIDIA T4, batch 1, </a:t>
            </a:r>
            <a:r>
              <a:rPr lang="en-US" sz="1400" dirty="0"/>
              <a:t>f</a:t>
            </a:r>
            <a:r>
              <a:rPr lang="en-US" sz="1400" b="0" dirty="0">
                <a:solidFill>
                  <a:srgbClr val="656B73"/>
                </a:solidFill>
                <a:latin typeface="Roboto"/>
                <a:ea typeface="Roboto"/>
                <a:cs typeface="Roboto"/>
              </a:rPr>
              <a:t>orward pass only, preprocessing excluded</a:t>
            </a:r>
          </a:p>
        </p:txBody>
      </p:sp>
    </p:spTree>
    <p:extLst>
      <p:ext uri="{BB962C8B-B14F-4D97-AF65-F5344CB8AC3E}">
        <p14:creationId xmlns:p14="http://schemas.microsoft.com/office/powerpoint/2010/main" val="36509643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A574E0-A803-9799-B3EE-F1EB4BC0D46C}"/>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18B4D3FC-ADFB-10F4-78F3-E24B2F982387}"/>
              </a:ext>
            </a:extLst>
          </p:cNvPr>
          <p:cNvSpPr>
            <a:spLocks noGrp="1"/>
          </p:cNvSpPr>
          <p:nvPr>
            <p:ph type="title"/>
          </p:nvPr>
        </p:nvSpPr>
        <p:spPr>
          <a:xfrm>
            <a:off x="838200" y="365125"/>
            <a:ext cx="8384177" cy="835787"/>
          </a:xfrm>
        </p:spPr>
        <p:txBody>
          <a:bodyPr/>
          <a:lstStyle/>
          <a:p>
            <a:r>
              <a:rPr lang="en-US" dirty="0">
                <a:solidFill>
                  <a:srgbClr val="822433"/>
                </a:solidFill>
              </a:rPr>
              <a:t>Damage Inspection: Detection</a:t>
            </a:r>
            <a:endParaRPr lang="en-US" noProof="0" dirty="0">
              <a:solidFill>
                <a:srgbClr val="822433"/>
              </a:solidFill>
            </a:endParaRPr>
          </a:p>
        </p:txBody>
      </p:sp>
      <p:sp>
        <p:nvSpPr>
          <p:cNvPr id="4" name="Google Shape;102;p14">
            <a:extLst>
              <a:ext uri="{FF2B5EF4-FFF2-40B4-BE49-F238E27FC236}">
                <a16:creationId xmlns:a16="http://schemas.microsoft.com/office/drawing/2014/main" id="{5CC8E176-C497-BECA-9F7F-0450BF15F75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74077C5-673F-DCC8-C8A5-AB973C1711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1EF5FD2C-5DFB-2189-1B94-317B10DA47DA}"/>
              </a:ext>
            </a:extLst>
          </p:cNvPr>
          <p:cNvGraphicFramePr/>
          <p:nvPr>
            <p:extLst>
              <p:ext uri="{D42A27DB-BD31-4B8C-83A1-F6EECF244321}">
                <p14:modId xmlns:p14="http://schemas.microsoft.com/office/powerpoint/2010/main" val="2844569967"/>
              </p:ext>
            </p:extLst>
          </p:nvPr>
        </p:nvGraphicFramePr>
        <p:xfrm>
          <a:off x="762000" y="1543050"/>
          <a:ext cx="7810500" cy="4143375"/>
        </p:xfrm>
        <a:graphic>
          <a:graphicData uri="http://schemas.openxmlformats.org/drawingml/2006/chart">
            <c:chart xmlns:c="http://schemas.openxmlformats.org/drawingml/2006/chart" xmlns:r="http://schemas.openxmlformats.org/officeDocument/2006/relationships" r:id="rId3"/>
          </a:graphicData>
        </a:graphic>
      </p:graphicFrame>
      <p:sp>
        <p:nvSpPr>
          <p:cNvPr id="10" name="ad-best-value">
            <a:extLst>
              <a:ext uri="{FF2B5EF4-FFF2-40B4-BE49-F238E27FC236}">
                <a16:creationId xmlns:a16="http://schemas.microsoft.com/office/drawing/2014/main" id="{AF75B76F-6498-5BC1-4F5C-9F494B2B03FE}"/>
              </a:ext>
            </a:extLst>
          </p:cNvPr>
          <p:cNvSpPr>
            <a:spLocks noGrp="1"/>
          </p:cNvSpPr>
          <p:nvPr/>
        </p:nvSpPr>
        <p:spPr>
          <a:xfrm>
            <a:off x="8882061" y="3048381"/>
            <a:ext cx="2819400" cy="895350"/>
          </a:xfrm>
          <a:prstGeom prst="rect">
            <a:avLst/>
          </a:prstGeom>
          <a:noFill/>
          <a:ln w="0">
            <a:noFill/>
          </a:ln>
        </p:spPr>
        <p:txBody>
          <a:bodyPr wrap="square" lIns="0" tIns="0" rIns="0" bIns="0" anchor="t">
            <a:noAutofit/>
          </a:bodyPr>
          <a:lstStyle>
            <a:defPPr algn="ctr">
              <a:defRPr lang="en-US" sz="4800" b="1">
                <a:solidFill>
                  <a:srgbClr val="822433"/>
                </a:solidFill>
                <a:latin typeface="Roboto"/>
                <a:ea typeface="Roboto"/>
                <a:cs typeface="Roboto"/>
              </a:defRPr>
            </a:defPPr>
            <a:lvl1pPr algn="ctr">
              <a:defRPr lang="en-US" sz="4800" b="1">
                <a:solidFill>
                  <a:srgbClr val="822433"/>
                </a:solidFill>
                <a:latin typeface="Roboto"/>
                <a:ea typeface="Roboto"/>
                <a:cs typeface="Roboto"/>
              </a:defRPr>
            </a:lvl1pPr>
            <a:lvl2pPr algn="ctr">
              <a:defRPr lang="en-US" sz="4800" b="1">
                <a:solidFill>
                  <a:srgbClr val="822433"/>
                </a:solidFill>
                <a:latin typeface="Roboto"/>
                <a:ea typeface="Roboto"/>
                <a:cs typeface="Roboto"/>
              </a:defRPr>
            </a:lvl2pPr>
            <a:lvl3pPr algn="ctr">
              <a:defRPr lang="en-US" sz="4800" b="1">
                <a:solidFill>
                  <a:srgbClr val="822433"/>
                </a:solidFill>
                <a:latin typeface="Roboto"/>
                <a:ea typeface="Roboto"/>
                <a:cs typeface="Roboto"/>
              </a:defRPr>
            </a:lvl3pPr>
            <a:lvl4pPr algn="ctr">
              <a:defRPr lang="en-US" sz="4800" b="1">
                <a:solidFill>
                  <a:srgbClr val="822433"/>
                </a:solidFill>
                <a:latin typeface="Roboto"/>
                <a:ea typeface="Roboto"/>
                <a:cs typeface="Roboto"/>
              </a:defRPr>
            </a:lvl4pPr>
            <a:lvl5pPr algn="ctr">
              <a:defRPr lang="en-US" sz="4800" b="1">
                <a:solidFill>
                  <a:srgbClr val="822433"/>
                </a:solidFill>
                <a:latin typeface="Roboto"/>
                <a:ea typeface="Roboto"/>
                <a:cs typeface="Roboto"/>
              </a:defRPr>
            </a:lvl5pPr>
            <a:lvl6pPr algn="ctr">
              <a:defRPr lang="en-US" sz="4800" b="1">
                <a:solidFill>
                  <a:srgbClr val="822433"/>
                </a:solidFill>
                <a:latin typeface="Roboto"/>
                <a:ea typeface="Roboto"/>
                <a:cs typeface="Roboto"/>
              </a:defRPr>
            </a:lvl6pPr>
            <a:lvl7pPr algn="ctr">
              <a:defRPr lang="en-US" sz="4800" b="1">
                <a:solidFill>
                  <a:srgbClr val="822433"/>
                </a:solidFill>
                <a:latin typeface="Roboto"/>
                <a:ea typeface="Roboto"/>
                <a:cs typeface="Roboto"/>
              </a:defRPr>
            </a:lvl7pPr>
            <a:lvl8pPr algn="ctr">
              <a:defRPr lang="en-US" sz="4800" b="1">
                <a:solidFill>
                  <a:srgbClr val="822433"/>
                </a:solidFill>
                <a:latin typeface="Roboto"/>
                <a:ea typeface="Roboto"/>
                <a:cs typeface="Roboto"/>
              </a:defRPr>
            </a:lvl8pPr>
            <a:lvl9pPr algn="ctr">
              <a:defRPr lang="en-US" sz="4800" b="1">
                <a:solidFill>
                  <a:srgbClr val="822433"/>
                </a:solidFill>
                <a:latin typeface="Roboto"/>
                <a:ea typeface="Roboto"/>
                <a:cs typeface="Roboto"/>
              </a:defRPr>
            </a:lvl9pPr>
          </a:lstStyle>
          <a:p>
            <a:pPr algn="ctr">
              <a:defRPr lang="en-US" sz="4800" b="1">
                <a:solidFill>
                  <a:srgbClr val="822433"/>
                </a:solidFill>
                <a:latin typeface="Roboto"/>
                <a:ea typeface="Roboto"/>
                <a:cs typeface="Roboto"/>
              </a:defRPr>
            </a:pPr>
            <a:r>
              <a:rPr lang="en-US" sz="4800" b="1" dirty="0">
                <a:solidFill>
                  <a:srgbClr val="822433"/>
                </a:solidFill>
                <a:latin typeface="Roboto"/>
                <a:ea typeface="Roboto"/>
                <a:cs typeface="Roboto"/>
              </a:rPr>
              <a:t>86.43%</a:t>
            </a:r>
          </a:p>
        </p:txBody>
      </p:sp>
      <p:sp>
        <p:nvSpPr>
          <p:cNvPr id="12" name="ad-best-model">
            <a:extLst>
              <a:ext uri="{FF2B5EF4-FFF2-40B4-BE49-F238E27FC236}">
                <a16:creationId xmlns:a16="http://schemas.microsoft.com/office/drawing/2014/main" id="{ACAE6630-8D59-DAF8-0EEC-01DA46019B8A}"/>
              </a:ext>
            </a:extLst>
          </p:cNvPr>
          <p:cNvSpPr>
            <a:spLocks noGrp="1"/>
          </p:cNvSpPr>
          <p:nvPr/>
        </p:nvSpPr>
        <p:spPr>
          <a:xfrm>
            <a:off x="8958261" y="3695701"/>
            <a:ext cx="2667000" cy="438150"/>
          </a:xfrm>
          <a:prstGeom prst="rect">
            <a:avLst/>
          </a:prstGeom>
          <a:noFill/>
          <a:ln w="0">
            <a:noFill/>
          </a:ln>
        </p:spPr>
        <p:txBody>
          <a:bodyPr wrap="square" lIns="0" tIns="0" rIns="0" bIns="0" anchor="t">
            <a:noAutofit/>
          </a:bodyPr>
          <a:lstStyle>
            <a:defPPr algn="ctr">
              <a:defRPr lang="en-US" sz="2250" b="1">
                <a:solidFill>
                  <a:srgbClr val="202124"/>
                </a:solidFill>
                <a:latin typeface="Roboto"/>
                <a:ea typeface="Roboto"/>
                <a:cs typeface="Roboto"/>
              </a:defRPr>
            </a:defPPr>
            <a:lvl1pPr algn="ctr">
              <a:defRPr lang="en-US" sz="2250" b="1">
                <a:solidFill>
                  <a:srgbClr val="202124"/>
                </a:solidFill>
                <a:latin typeface="Roboto"/>
                <a:ea typeface="Roboto"/>
                <a:cs typeface="Roboto"/>
              </a:defRPr>
            </a:lvl1pPr>
            <a:lvl2pPr algn="ctr">
              <a:defRPr lang="en-US" sz="2250" b="1">
                <a:solidFill>
                  <a:srgbClr val="202124"/>
                </a:solidFill>
                <a:latin typeface="Roboto"/>
                <a:ea typeface="Roboto"/>
                <a:cs typeface="Roboto"/>
              </a:defRPr>
            </a:lvl2pPr>
            <a:lvl3pPr algn="ctr">
              <a:defRPr lang="en-US" sz="2250" b="1">
                <a:solidFill>
                  <a:srgbClr val="202124"/>
                </a:solidFill>
                <a:latin typeface="Roboto"/>
                <a:ea typeface="Roboto"/>
                <a:cs typeface="Roboto"/>
              </a:defRPr>
            </a:lvl3pPr>
            <a:lvl4pPr algn="ctr">
              <a:defRPr lang="en-US" sz="2250" b="1">
                <a:solidFill>
                  <a:srgbClr val="202124"/>
                </a:solidFill>
                <a:latin typeface="Roboto"/>
                <a:ea typeface="Roboto"/>
                <a:cs typeface="Roboto"/>
              </a:defRPr>
            </a:lvl4pPr>
            <a:lvl5pPr algn="ctr">
              <a:defRPr lang="en-US" sz="2250" b="1">
                <a:solidFill>
                  <a:srgbClr val="202124"/>
                </a:solidFill>
                <a:latin typeface="Roboto"/>
                <a:ea typeface="Roboto"/>
                <a:cs typeface="Roboto"/>
              </a:defRPr>
            </a:lvl5pPr>
            <a:lvl6pPr algn="ctr">
              <a:defRPr lang="en-US" sz="2250" b="1">
                <a:solidFill>
                  <a:srgbClr val="202124"/>
                </a:solidFill>
                <a:latin typeface="Roboto"/>
                <a:ea typeface="Roboto"/>
                <a:cs typeface="Roboto"/>
              </a:defRPr>
            </a:lvl6pPr>
            <a:lvl7pPr algn="ctr">
              <a:defRPr lang="en-US" sz="2250" b="1">
                <a:solidFill>
                  <a:srgbClr val="202124"/>
                </a:solidFill>
                <a:latin typeface="Roboto"/>
                <a:ea typeface="Roboto"/>
                <a:cs typeface="Roboto"/>
              </a:defRPr>
            </a:lvl7pPr>
            <a:lvl8pPr algn="ctr">
              <a:defRPr lang="en-US" sz="2250" b="1">
                <a:solidFill>
                  <a:srgbClr val="202124"/>
                </a:solidFill>
                <a:latin typeface="Roboto"/>
                <a:ea typeface="Roboto"/>
                <a:cs typeface="Roboto"/>
              </a:defRPr>
            </a:lvl8pPr>
            <a:lvl9pPr algn="ctr">
              <a:defRPr lang="en-US" sz="2250" b="1">
                <a:solidFill>
                  <a:srgbClr val="202124"/>
                </a:solidFill>
                <a:latin typeface="Roboto"/>
                <a:ea typeface="Roboto"/>
                <a:cs typeface="Roboto"/>
              </a:defRPr>
            </a:lvl9pPr>
          </a:lstStyle>
          <a:p>
            <a:pPr algn="ctr">
              <a:defRPr lang="en-US" sz="2250" b="1">
                <a:solidFill>
                  <a:srgbClr val="202124"/>
                </a:solidFill>
                <a:latin typeface="Roboto"/>
                <a:ea typeface="Roboto"/>
                <a:cs typeface="Roboto"/>
              </a:defRPr>
            </a:pPr>
            <a:r>
              <a:rPr lang="en-US" sz="2250" b="1" dirty="0">
                <a:solidFill>
                  <a:srgbClr val="202124"/>
                </a:solidFill>
                <a:latin typeface="Roboto"/>
                <a:ea typeface="Roboto"/>
                <a:cs typeface="Roboto"/>
              </a:rPr>
              <a:t>PatchCore-L</a:t>
            </a:r>
          </a:p>
        </p:txBody>
      </p:sp>
      <p:sp>
        <p:nvSpPr>
          <p:cNvPr id="14" name="ad-best-scope">
            <a:extLst>
              <a:ext uri="{FF2B5EF4-FFF2-40B4-BE49-F238E27FC236}">
                <a16:creationId xmlns:a16="http://schemas.microsoft.com/office/drawing/2014/main" id="{3BDC17C2-FC1F-08A8-6287-61729627D614}"/>
              </a:ext>
            </a:extLst>
          </p:cNvPr>
          <p:cNvSpPr>
            <a:spLocks noGrp="1"/>
          </p:cNvSpPr>
          <p:nvPr/>
        </p:nvSpPr>
        <p:spPr>
          <a:xfrm>
            <a:off x="8772524" y="4073793"/>
            <a:ext cx="3038475" cy="40957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Synthetic pose-A test</a:t>
            </a:r>
          </a:p>
        </p:txBody>
      </p:sp>
      <p:sp>
        <p:nvSpPr>
          <p:cNvPr id="16" name="admetric">
            <a:extLst>
              <a:ext uri="{FF2B5EF4-FFF2-40B4-BE49-F238E27FC236}">
                <a16:creationId xmlns:a16="http://schemas.microsoft.com/office/drawing/2014/main" id="{FAC88116-C676-604C-A8F3-7D1F3C96AC64}"/>
              </a:ext>
            </a:extLst>
          </p:cNvPr>
          <p:cNvSpPr>
            <a:spLocks noGrp="1"/>
          </p:cNvSpPr>
          <p:nvPr/>
        </p:nvSpPr>
        <p:spPr>
          <a:xfrm>
            <a:off x="838200" y="5640274"/>
            <a:ext cx="10287000" cy="352425"/>
          </a:xfrm>
          <a:prstGeom prst="rect">
            <a:avLst/>
          </a:prstGeom>
          <a:noFill/>
          <a:ln w="0">
            <a:noFill/>
          </a:ln>
        </p:spPr>
        <p:txBody>
          <a:bodyPr wrap="square" lIns="0" tIns="0" rIns="0" bIns="0" anchor="t">
            <a:noAutofit/>
          </a:bodyPr>
          <a:lstStyle>
            <a:defPPr algn="l">
              <a:defRPr lang="en-US" sz="1800" b="0">
                <a:solidFill>
                  <a:srgbClr val="656B73"/>
                </a:solidFill>
                <a:latin typeface="Roboto"/>
                <a:ea typeface="Roboto"/>
                <a:cs typeface="Roboto"/>
              </a:defRPr>
            </a:defPPr>
            <a:lvl1pPr algn="l">
              <a:defRPr lang="en-US" sz="1800" b="0">
                <a:solidFill>
                  <a:srgbClr val="656B73"/>
                </a:solidFill>
                <a:latin typeface="Roboto"/>
                <a:ea typeface="Roboto"/>
                <a:cs typeface="Roboto"/>
              </a:defRPr>
            </a:lvl1pPr>
            <a:lvl2pPr algn="l">
              <a:defRPr lang="en-US" sz="1800" b="0">
                <a:solidFill>
                  <a:srgbClr val="656B73"/>
                </a:solidFill>
                <a:latin typeface="Roboto"/>
                <a:ea typeface="Roboto"/>
                <a:cs typeface="Roboto"/>
              </a:defRPr>
            </a:lvl2pPr>
            <a:lvl3pPr algn="l">
              <a:defRPr lang="en-US" sz="1800" b="0">
                <a:solidFill>
                  <a:srgbClr val="656B73"/>
                </a:solidFill>
                <a:latin typeface="Roboto"/>
                <a:ea typeface="Roboto"/>
                <a:cs typeface="Roboto"/>
              </a:defRPr>
            </a:lvl3pPr>
            <a:lvl4pPr algn="l">
              <a:defRPr lang="en-US" sz="1800" b="0">
                <a:solidFill>
                  <a:srgbClr val="656B73"/>
                </a:solidFill>
                <a:latin typeface="Roboto"/>
                <a:ea typeface="Roboto"/>
                <a:cs typeface="Roboto"/>
              </a:defRPr>
            </a:lvl4pPr>
            <a:lvl5pPr algn="l">
              <a:defRPr lang="en-US" sz="1800" b="0">
                <a:solidFill>
                  <a:srgbClr val="656B73"/>
                </a:solidFill>
                <a:latin typeface="Roboto"/>
                <a:ea typeface="Roboto"/>
                <a:cs typeface="Roboto"/>
              </a:defRPr>
            </a:lvl5pPr>
            <a:lvl6pPr algn="l">
              <a:defRPr lang="en-US" sz="1800" b="0">
                <a:solidFill>
                  <a:srgbClr val="656B73"/>
                </a:solidFill>
                <a:latin typeface="Roboto"/>
                <a:ea typeface="Roboto"/>
                <a:cs typeface="Roboto"/>
              </a:defRPr>
            </a:lvl6pPr>
            <a:lvl7pPr algn="l">
              <a:defRPr lang="en-US" sz="1800" b="0">
                <a:solidFill>
                  <a:srgbClr val="656B73"/>
                </a:solidFill>
                <a:latin typeface="Roboto"/>
                <a:ea typeface="Roboto"/>
                <a:cs typeface="Roboto"/>
              </a:defRPr>
            </a:lvl7pPr>
            <a:lvl8pPr algn="l">
              <a:defRPr lang="en-US" sz="1800" b="0">
                <a:solidFill>
                  <a:srgbClr val="656B73"/>
                </a:solidFill>
                <a:latin typeface="Roboto"/>
                <a:ea typeface="Roboto"/>
                <a:cs typeface="Roboto"/>
              </a:defRPr>
            </a:lvl8pPr>
            <a:lvl9pPr algn="l">
              <a:defRPr lang="en-US" sz="1800" b="0">
                <a:solidFill>
                  <a:srgbClr val="656B73"/>
                </a:solidFill>
                <a:latin typeface="Roboto"/>
                <a:ea typeface="Roboto"/>
                <a:cs typeface="Roboto"/>
              </a:defRPr>
            </a:lvl9pPr>
          </a:lstStyle>
          <a:p>
            <a:pPr algn="l">
              <a:defRPr lang="en-US" sz="1800" b="0">
                <a:solidFill>
                  <a:srgbClr val="656B73"/>
                </a:solidFill>
                <a:latin typeface="Roboto"/>
                <a:ea typeface="Roboto"/>
                <a:cs typeface="Roboto"/>
              </a:defRPr>
            </a:pPr>
            <a:r>
              <a:rPr lang="en-US" sz="1800" b="0" dirty="0">
                <a:solidFill>
                  <a:srgbClr val="656B73"/>
                </a:solidFill>
                <a:latin typeface="Roboto"/>
                <a:ea typeface="Roboto"/>
                <a:cs typeface="Roboto"/>
              </a:rPr>
              <a:t>Image AUROC on the test split</a:t>
            </a:r>
          </a:p>
        </p:txBody>
      </p:sp>
    </p:spTree>
    <p:extLst>
      <p:ext uri="{BB962C8B-B14F-4D97-AF65-F5344CB8AC3E}">
        <p14:creationId xmlns:p14="http://schemas.microsoft.com/office/powerpoint/2010/main" val="277964112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E62A9-CB18-A19C-A614-05F64918621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C528257-3203-028A-0523-756BB753A6EB}"/>
              </a:ext>
            </a:extLst>
          </p:cNvPr>
          <p:cNvSpPr>
            <a:spLocks noGrp="1"/>
          </p:cNvSpPr>
          <p:nvPr>
            <p:ph type="title"/>
          </p:nvPr>
        </p:nvSpPr>
        <p:spPr>
          <a:xfrm>
            <a:off x="838200" y="365125"/>
            <a:ext cx="8384177" cy="835787"/>
          </a:xfrm>
        </p:spPr>
        <p:txBody>
          <a:bodyPr/>
          <a:lstStyle/>
          <a:p>
            <a:r>
              <a:rPr lang="en-US" dirty="0">
                <a:solidFill>
                  <a:srgbClr val="822433"/>
                </a:solidFill>
              </a:rPr>
              <a:t>Damage Inspection: Efficiency</a:t>
            </a:r>
            <a:endParaRPr lang="en-US" noProof="0" dirty="0">
              <a:solidFill>
                <a:srgbClr val="822433"/>
              </a:solidFill>
            </a:endParaRPr>
          </a:p>
        </p:txBody>
      </p:sp>
      <p:sp>
        <p:nvSpPr>
          <p:cNvPr id="4" name="Google Shape;102;p14">
            <a:extLst>
              <a:ext uri="{FF2B5EF4-FFF2-40B4-BE49-F238E27FC236}">
                <a16:creationId xmlns:a16="http://schemas.microsoft.com/office/drawing/2014/main" id="{8FD17F6C-164E-3587-02F7-1AF0BE1A15A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5161605-37A6-DCB9-4B19-CEC53B5E01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12" name="Tabella 11">
            <a:extLst>
              <a:ext uri="{FF2B5EF4-FFF2-40B4-BE49-F238E27FC236}">
                <a16:creationId xmlns:a16="http://schemas.microsoft.com/office/drawing/2014/main" id="{5D1293E6-A870-FBF8-E38C-E06508BE6B24}"/>
              </a:ext>
            </a:extLst>
          </p:cNvPr>
          <p:cNvGraphicFramePr/>
          <p:nvPr>
            <p:extLst>
              <p:ext uri="{D42A27DB-BD31-4B8C-83A1-F6EECF244321}">
                <p14:modId xmlns:p14="http://schemas.microsoft.com/office/powerpoint/2010/main" val="1727332733"/>
              </p:ext>
            </p:extLst>
          </p:nvPr>
        </p:nvGraphicFramePr>
        <p:xfrm>
          <a:off x="2244436" y="1699922"/>
          <a:ext cx="8096250" cy="3528060"/>
        </p:xfrm>
        <a:graphic>
          <a:graphicData uri="http://schemas.openxmlformats.org/drawingml/2006/table">
            <a:tbl>
              <a:tblPr>
                <a:effectLst>
                  <a:outerShdw blurRad="50800" dist="38100" dir="2700000" algn="tl" rotWithShape="0">
                    <a:prstClr val="black">
                      <a:alpha val="40000"/>
                    </a:prstClr>
                  </a:outerShdw>
                </a:effectLst>
              </a:tblPr>
              <a:tblGrid>
                <a:gridCol w="3333750">
                  <a:extLst>
                    <a:ext uri="{9D8B030D-6E8A-4147-A177-3AD203B41FA5}">
                      <a16:colId xmlns:a16="http://schemas.microsoft.com/office/drawing/2014/main" val="20000"/>
                    </a:ext>
                  </a:extLst>
                </a:gridCol>
                <a:gridCol w="2381250">
                  <a:extLst>
                    <a:ext uri="{9D8B030D-6E8A-4147-A177-3AD203B41FA5}">
                      <a16:colId xmlns:a16="http://schemas.microsoft.com/office/drawing/2014/main" val="20001"/>
                    </a:ext>
                  </a:extLst>
                </a:gridCol>
                <a:gridCol w="2381250">
                  <a:extLst>
                    <a:ext uri="{9D8B030D-6E8A-4147-A177-3AD203B41FA5}">
                      <a16:colId xmlns:a16="http://schemas.microsoft.com/office/drawing/2014/main" val="20002"/>
                    </a:ext>
                  </a:extLst>
                </a:gridCol>
              </a:tblGrid>
              <a:tr h="609600">
                <a:tc>
                  <a:txBody>
                    <a:bodyPr/>
                    <a:lstStyle/>
                    <a:p>
                      <a:pPr algn="ctr"/>
                      <a:r>
                        <a:rPr lang="en-US" sz="1950" b="1" dirty="0">
                          <a:solidFill>
                            <a:schemeClr val="bg1"/>
                          </a:solidFill>
                          <a:latin typeface="Roboto"/>
                          <a:ea typeface="Roboto"/>
                          <a:cs typeface="Roboto"/>
                        </a:rPr>
                        <a:t>Model</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Latency</a:t>
                      </a:r>
                    </a:p>
                    <a:p>
                      <a:pPr algn="ctr"/>
                      <a:r>
                        <a:rPr lang="en-US" sz="1950" b="1" dirty="0">
                          <a:solidFill>
                            <a:schemeClr val="bg1"/>
                          </a:solidFill>
                          <a:latin typeface="Roboto"/>
                          <a:ea typeface="Roboto"/>
                          <a:cs typeface="Roboto"/>
                        </a:rPr>
                        <a:t>(</a:t>
                      </a:r>
                      <a:r>
                        <a:rPr lang="en-US" sz="1950" b="1" dirty="0" err="1">
                          <a:solidFill>
                            <a:schemeClr val="bg1"/>
                          </a:solidFill>
                          <a:latin typeface="Roboto"/>
                          <a:ea typeface="Roboto"/>
                          <a:cs typeface="Roboto"/>
                        </a:rPr>
                        <a:t>ms</a:t>
                      </a:r>
                      <a:r>
                        <a:rPr lang="en-US" sz="1950" b="1" dirty="0">
                          <a:solidFill>
                            <a:schemeClr val="bg1"/>
                          </a:solidFill>
                          <a:latin typeface="Roboto"/>
                          <a:ea typeface="Roboto"/>
                          <a:cs typeface="Roboto"/>
                        </a:rPr>
                        <a:t>)</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tc>
                  <a:txBody>
                    <a:bodyPr/>
                    <a:lstStyle/>
                    <a:p>
                      <a:pPr algn="ctr"/>
                      <a:r>
                        <a:rPr lang="en-US" sz="1950" b="1" dirty="0">
                          <a:solidFill>
                            <a:schemeClr val="bg1"/>
                          </a:solidFill>
                          <a:latin typeface="Roboto"/>
                          <a:ea typeface="Roboto"/>
                          <a:cs typeface="Roboto"/>
                        </a:rPr>
                        <a:t>GPU energy</a:t>
                      </a:r>
                    </a:p>
                    <a:p>
                      <a:pPr algn="ctr"/>
                      <a:r>
                        <a:rPr lang="en-US" sz="1950" b="1" dirty="0">
                          <a:solidFill>
                            <a:schemeClr val="bg1"/>
                          </a:solidFill>
                          <a:latin typeface="Roboto"/>
                          <a:ea typeface="Roboto"/>
                          <a:cs typeface="Roboto"/>
                        </a:rPr>
                        <a:t>(J/image)</a:t>
                      </a:r>
                    </a:p>
                  </a:txBody>
                  <a:tcPr marL="76200" marR="76200" marT="38100" marB="38100" anchor="ctr">
                    <a:lnL w="0">
                      <a:noFill/>
                    </a:lnL>
                    <a:lnR w="0">
                      <a:noFill/>
                    </a:lnR>
                    <a:lnT w="0">
                      <a:noFill/>
                    </a:lnT>
                    <a:lnB w="12700" cap="flat" cmpd="sng" algn="ctr">
                      <a:solidFill>
                        <a:schemeClr val="tx1"/>
                      </a:solidFill>
                      <a:prstDash val="solid"/>
                      <a:round/>
                      <a:headEnd type="none" w="med" len="med"/>
                      <a:tailEnd type="none" w="med" len="med"/>
                    </a:lnB>
                    <a:lnTlToBr w="0">
                      <a:noFill/>
                    </a:lnTlToBr>
                    <a:lnBlToTr w="0">
                      <a:noFill/>
                    </a:lnBlToTr>
                    <a:solidFill>
                      <a:srgbClr val="822433"/>
                    </a:solidFill>
                  </a:tcPr>
                </a:tc>
                <a:extLst>
                  <a:ext uri="{0D108BD9-81ED-4DB2-BD59-A6C34878D82A}">
                    <a16:rowId xmlns:a16="http://schemas.microsoft.com/office/drawing/2014/main" val="10000"/>
                  </a:ext>
                </a:extLst>
              </a:tr>
              <a:tr h="476250">
                <a:tc>
                  <a:txBody>
                    <a:bodyPr/>
                    <a:lstStyle/>
                    <a:p>
                      <a:pPr algn="l"/>
                      <a:r>
                        <a:rPr lang="en-US" sz="2100" b="1" dirty="0">
                          <a:solidFill>
                            <a:srgbClr val="822433"/>
                          </a:solidFill>
                          <a:latin typeface="Roboto"/>
                          <a:ea typeface="Roboto"/>
                          <a:cs typeface="Roboto"/>
                        </a:rPr>
                        <a:t>TinyGLASS-384</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5.13</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tc>
                  <a:txBody>
                    <a:bodyPr/>
                    <a:lstStyle/>
                    <a:p>
                      <a:pPr algn="ctr"/>
                      <a:r>
                        <a:rPr lang="en-US" sz="2250" b="1" dirty="0">
                          <a:solidFill>
                            <a:srgbClr val="822433"/>
                          </a:solidFill>
                          <a:latin typeface="Roboto"/>
                          <a:ea typeface="Roboto"/>
                          <a:cs typeface="Roboto"/>
                        </a:rPr>
                        <a:t>0.239</a:t>
                      </a:r>
                    </a:p>
                  </a:txBody>
                  <a:tcPr marL="76200" marR="76200" marT="38100" marB="38100" anchor="ctr">
                    <a:lnL w="0">
                      <a:noFill/>
                    </a:lnL>
                    <a:lnR w="0">
                      <a:noFill/>
                    </a:lnR>
                    <a:lnT w="12700" cap="flat" cmpd="sng" algn="ctr">
                      <a:solidFill>
                        <a:schemeClr val="tx1"/>
                      </a:solidFill>
                      <a:prstDash val="solid"/>
                      <a:round/>
                      <a:headEnd type="none" w="med" len="med"/>
                      <a:tailEnd type="none" w="med" len="med"/>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76250">
                <a:tc>
                  <a:txBody>
                    <a:bodyPr/>
                    <a:lstStyle/>
                    <a:p>
                      <a:pPr algn="l"/>
                      <a:r>
                        <a:rPr lang="en-US" sz="2100">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6.29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0.369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76250">
                <a:tc>
                  <a:txBody>
                    <a:bodyPr/>
                    <a:lstStyle/>
                    <a:p>
                      <a:pPr algn="l"/>
                      <a:r>
                        <a:rPr lang="en-US" sz="2100" dirty="0">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27.54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1.939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76250">
                <a:tc>
                  <a:txBody>
                    <a:bodyPr/>
                    <a:lstStyle/>
                    <a:p>
                      <a:pPr algn="l"/>
                      <a:r>
                        <a:rPr lang="en-US" sz="210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57.72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a:solidFill>
                            <a:srgbClr val="202124"/>
                          </a:solidFill>
                          <a:latin typeface="Roboto"/>
                          <a:ea typeface="Roboto"/>
                          <a:cs typeface="Roboto"/>
                        </a:rPr>
                        <a:t>4.032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76250">
                <a:tc>
                  <a:txBody>
                    <a:bodyPr/>
                    <a:lstStyle/>
                    <a:p>
                      <a:pPr algn="l"/>
                      <a:r>
                        <a:rPr lang="en-US" sz="2100" dirty="0">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62.89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250" dirty="0">
                          <a:solidFill>
                            <a:srgbClr val="202124"/>
                          </a:solidFill>
                          <a:latin typeface="Roboto"/>
                          <a:ea typeface="Roboto"/>
                          <a:cs typeface="Roboto"/>
                        </a:rPr>
                        <a:t>4.116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76250">
                <a:tc>
                  <a:txBody>
                    <a:bodyPr/>
                    <a:lstStyle/>
                    <a:p>
                      <a:pPr algn="l"/>
                      <a:r>
                        <a:rPr lang="en-US" sz="210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101.21</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250" dirty="0">
                          <a:solidFill>
                            <a:srgbClr val="202124"/>
                          </a:solidFill>
                          <a:latin typeface="Roboto"/>
                          <a:ea typeface="Roboto"/>
                          <a:cs typeface="Roboto"/>
                        </a:rPr>
                        <a:t>6.849</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4" name="benchmark-scope">
            <a:extLst>
              <a:ext uri="{FF2B5EF4-FFF2-40B4-BE49-F238E27FC236}">
                <a16:creationId xmlns:a16="http://schemas.microsoft.com/office/drawing/2014/main" id="{6D7A6928-DF49-078F-464E-0E452485A636}"/>
              </a:ext>
            </a:extLst>
          </p:cNvPr>
          <p:cNvSpPr>
            <a:spLocks noGrp="1"/>
          </p:cNvSpPr>
          <p:nvPr/>
        </p:nvSpPr>
        <p:spPr>
          <a:xfrm>
            <a:off x="2244436" y="5297632"/>
            <a:ext cx="7926506" cy="30480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NVIDIA T4, batch 1, forward pass only, preprocessing excluded</a:t>
            </a:r>
          </a:p>
        </p:txBody>
      </p:sp>
    </p:spTree>
    <p:extLst>
      <p:ext uri="{BB962C8B-B14F-4D97-AF65-F5344CB8AC3E}">
        <p14:creationId xmlns:p14="http://schemas.microsoft.com/office/powerpoint/2010/main" val="364158301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C4CF57-C8A4-A657-ABEC-780253A1ADF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978870A-69F8-437B-9A37-7525C89A6C54}"/>
              </a:ext>
            </a:extLst>
          </p:cNvPr>
          <p:cNvSpPr>
            <a:spLocks noGrp="1"/>
          </p:cNvSpPr>
          <p:nvPr>
            <p:ph type="title"/>
          </p:nvPr>
        </p:nvSpPr>
        <p:spPr>
          <a:xfrm>
            <a:off x="838200" y="365125"/>
            <a:ext cx="8384177" cy="835787"/>
          </a:xfrm>
        </p:spPr>
        <p:txBody>
          <a:bodyPr/>
          <a:lstStyle/>
          <a:p>
            <a:r>
              <a:rPr lang="en-US" dirty="0">
                <a:solidFill>
                  <a:srgbClr val="822433"/>
                </a:solidFill>
              </a:rPr>
              <a:t>Damage Inspection: Localization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256F4F28-1777-39B3-CBB3-A6EC1258A91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9BB6370-1573-C10B-BF23-AEC2559855E2}"/>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6" name="label-damage-rgb.png">
            <a:extLst>
              <a:ext uri="{FF2B5EF4-FFF2-40B4-BE49-F238E27FC236}">
                <a16:creationId xmlns:a16="http://schemas.microsoft.com/office/drawing/2014/main" id="{EEA0D960-7396-9D62-3616-03ACBC2F2E0A}"/>
              </a:ext>
            </a:extLst>
          </p:cNvPr>
          <p:cNvSpPr>
            <a:spLocks noGrp="1"/>
          </p:cNvSpPr>
          <p:nvPr/>
        </p:nvSpPr>
        <p:spPr>
          <a:xfrm>
            <a:off x="76200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Observation</a:t>
            </a:r>
          </a:p>
        </p:txBody>
      </p:sp>
      <p:pic>
        <p:nvPicPr>
          <p:cNvPr id="8" name="Immagine 7">
            <a:extLst>
              <a:ext uri="{FF2B5EF4-FFF2-40B4-BE49-F238E27FC236}">
                <a16:creationId xmlns:a16="http://schemas.microsoft.com/office/drawing/2014/main" id="{A1EB0A69-1EBD-CFCB-4513-4654CBD17C44}"/>
              </a:ext>
            </a:extLst>
          </p:cNvPr>
          <p:cNvPicPr>
            <a:picLocks noChangeAspect="1"/>
          </p:cNvPicPr>
          <p:nvPr/>
        </p:nvPicPr>
        <p:blipFill>
          <a:blip r:embed="rId3"/>
          <a:stretch/>
        </p:blipFill>
        <p:spPr>
          <a:xfrm>
            <a:off x="762000" y="2181225"/>
            <a:ext cx="2381250" cy="2381250"/>
          </a:xfrm>
          <a:prstGeom prst="rect">
            <a:avLst/>
          </a:prstGeom>
        </p:spPr>
      </p:pic>
      <p:sp>
        <p:nvSpPr>
          <p:cNvPr id="10" name="label-damage-ground-truth.png">
            <a:extLst>
              <a:ext uri="{FF2B5EF4-FFF2-40B4-BE49-F238E27FC236}">
                <a16:creationId xmlns:a16="http://schemas.microsoft.com/office/drawing/2014/main" id="{C571C057-ACE2-218F-DB46-DAC3C7541056}"/>
              </a:ext>
            </a:extLst>
          </p:cNvPr>
          <p:cNvSpPr>
            <a:spLocks noGrp="1"/>
          </p:cNvSpPr>
          <p:nvPr/>
        </p:nvSpPr>
        <p:spPr>
          <a:xfrm>
            <a:off x="349567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Ground truth</a:t>
            </a:r>
          </a:p>
        </p:txBody>
      </p:sp>
      <p:pic>
        <p:nvPicPr>
          <p:cNvPr id="12" name="Immagine 11">
            <a:extLst>
              <a:ext uri="{FF2B5EF4-FFF2-40B4-BE49-F238E27FC236}">
                <a16:creationId xmlns:a16="http://schemas.microsoft.com/office/drawing/2014/main" id="{42C9BA10-EBFA-86BF-891A-766DA20CABCE}"/>
              </a:ext>
            </a:extLst>
          </p:cNvPr>
          <p:cNvPicPr>
            <a:picLocks noChangeAspect="1"/>
          </p:cNvPicPr>
          <p:nvPr/>
        </p:nvPicPr>
        <p:blipFill>
          <a:blip r:embed="rId4"/>
          <a:stretch/>
        </p:blipFill>
        <p:spPr>
          <a:xfrm>
            <a:off x="3495675" y="2181225"/>
            <a:ext cx="2381250" cy="2381250"/>
          </a:xfrm>
          <a:prstGeom prst="rect">
            <a:avLst/>
          </a:prstGeom>
        </p:spPr>
      </p:pic>
      <p:sp>
        <p:nvSpPr>
          <p:cNvPr id="14" name="label-damage-ssn.png">
            <a:extLst>
              <a:ext uri="{FF2B5EF4-FFF2-40B4-BE49-F238E27FC236}">
                <a16:creationId xmlns:a16="http://schemas.microsoft.com/office/drawing/2014/main" id="{D95D8403-961A-DDB9-A992-8C7DE4CA454A}"/>
              </a:ext>
            </a:extLst>
          </p:cNvPr>
          <p:cNvSpPr>
            <a:spLocks noGrp="1"/>
          </p:cNvSpPr>
          <p:nvPr/>
        </p:nvSpPr>
        <p:spPr>
          <a:xfrm>
            <a:off x="6229350"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SuperSimpleNet</a:t>
            </a:r>
          </a:p>
        </p:txBody>
      </p:sp>
      <p:pic>
        <p:nvPicPr>
          <p:cNvPr id="16" name="Immagine 15">
            <a:extLst>
              <a:ext uri="{FF2B5EF4-FFF2-40B4-BE49-F238E27FC236}">
                <a16:creationId xmlns:a16="http://schemas.microsoft.com/office/drawing/2014/main" id="{513CA2F7-5FEA-FE00-1E0D-A2AA6373A1F0}"/>
              </a:ext>
            </a:extLst>
          </p:cNvPr>
          <p:cNvPicPr>
            <a:picLocks noChangeAspect="1"/>
          </p:cNvPicPr>
          <p:nvPr/>
        </p:nvPicPr>
        <p:blipFill>
          <a:blip r:embed="rId5"/>
          <a:stretch/>
        </p:blipFill>
        <p:spPr>
          <a:xfrm>
            <a:off x="6229350" y="2181225"/>
            <a:ext cx="2381250" cy="2381250"/>
          </a:xfrm>
          <a:prstGeom prst="rect">
            <a:avLst/>
          </a:prstGeom>
        </p:spPr>
      </p:pic>
      <p:sp>
        <p:nvSpPr>
          <p:cNvPr id="18" name="label-damage-tg512.png">
            <a:extLst>
              <a:ext uri="{FF2B5EF4-FFF2-40B4-BE49-F238E27FC236}">
                <a16:creationId xmlns:a16="http://schemas.microsoft.com/office/drawing/2014/main" id="{692F7F91-6D2A-A262-4004-6A1B7EC08070}"/>
              </a:ext>
            </a:extLst>
          </p:cNvPr>
          <p:cNvSpPr>
            <a:spLocks noGrp="1"/>
          </p:cNvSpPr>
          <p:nvPr/>
        </p:nvSpPr>
        <p:spPr>
          <a:xfrm>
            <a:off x="8963025" y="1590675"/>
            <a:ext cx="2381250" cy="361950"/>
          </a:xfrm>
          <a:prstGeom prst="rect">
            <a:avLst/>
          </a:prstGeom>
          <a:noFill/>
          <a:ln w="0">
            <a:noFill/>
          </a:ln>
        </p:spPr>
        <p:txBody>
          <a:bodyPr wrap="square" lIns="0" tIns="0" rIns="0" bIns="0" anchor="t">
            <a:noAutofit/>
          </a:bodyPr>
          <a:lstStyle>
            <a:defPPr algn="ctr">
              <a:defRPr lang="en-US" sz="1950" b="1">
                <a:solidFill>
                  <a:srgbClr val="202124"/>
                </a:solidFill>
                <a:latin typeface="Roboto"/>
                <a:ea typeface="Roboto"/>
                <a:cs typeface="Roboto"/>
              </a:defRPr>
            </a:defPPr>
            <a:lvl1pPr algn="ctr">
              <a:defRPr lang="en-US" sz="1950" b="1">
                <a:solidFill>
                  <a:srgbClr val="202124"/>
                </a:solidFill>
                <a:latin typeface="Roboto"/>
                <a:ea typeface="Roboto"/>
                <a:cs typeface="Roboto"/>
              </a:defRPr>
            </a:lvl1pPr>
            <a:lvl2pPr algn="ctr">
              <a:defRPr lang="en-US" sz="1950" b="1">
                <a:solidFill>
                  <a:srgbClr val="202124"/>
                </a:solidFill>
                <a:latin typeface="Roboto"/>
                <a:ea typeface="Roboto"/>
                <a:cs typeface="Roboto"/>
              </a:defRPr>
            </a:lvl2pPr>
            <a:lvl3pPr algn="ctr">
              <a:defRPr lang="en-US" sz="1950" b="1">
                <a:solidFill>
                  <a:srgbClr val="202124"/>
                </a:solidFill>
                <a:latin typeface="Roboto"/>
                <a:ea typeface="Roboto"/>
                <a:cs typeface="Roboto"/>
              </a:defRPr>
            </a:lvl3pPr>
            <a:lvl4pPr algn="ctr">
              <a:defRPr lang="en-US" sz="1950" b="1">
                <a:solidFill>
                  <a:srgbClr val="202124"/>
                </a:solidFill>
                <a:latin typeface="Roboto"/>
                <a:ea typeface="Roboto"/>
                <a:cs typeface="Roboto"/>
              </a:defRPr>
            </a:lvl4pPr>
            <a:lvl5pPr algn="ctr">
              <a:defRPr lang="en-US" sz="1950" b="1">
                <a:solidFill>
                  <a:srgbClr val="202124"/>
                </a:solidFill>
                <a:latin typeface="Roboto"/>
                <a:ea typeface="Roboto"/>
                <a:cs typeface="Roboto"/>
              </a:defRPr>
            </a:lvl5pPr>
            <a:lvl6pPr algn="ctr">
              <a:defRPr lang="en-US" sz="1950" b="1">
                <a:solidFill>
                  <a:srgbClr val="202124"/>
                </a:solidFill>
                <a:latin typeface="Roboto"/>
                <a:ea typeface="Roboto"/>
                <a:cs typeface="Roboto"/>
              </a:defRPr>
            </a:lvl6pPr>
            <a:lvl7pPr algn="ctr">
              <a:defRPr lang="en-US" sz="1950" b="1">
                <a:solidFill>
                  <a:srgbClr val="202124"/>
                </a:solidFill>
                <a:latin typeface="Roboto"/>
                <a:ea typeface="Roboto"/>
                <a:cs typeface="Roboto"/>
              </a:defRPr>
            </a:lvl7pPr>
            <a:lvl8pPr algn="ctr">
              <a:defRPr lang="en-US" sz="1950" b="1">
                <a:solidFill>
                  <a:srgbClr val="202124"/>
                </a:solidFill>
                <a:latin typeface="Roboto"/>
                <a:ea typeface="Roboto"/>
                <a:cs typeface="Roboto"/>
              </a:defRPr>
            </a:lvl8pPr>
            <a:lvl9pPr algn="ctr">
              <a:defRPr lang="en-US" sz="1950" b="1">
                <a:solidFill>
                  <a:srgbClr val="202124"/>
                </a:solidFill>
                <a:latin typeface="Roboto"/>
                <a:ea typeface="Roboto"/>
                <a:cs typeface="Roboto"/>
              </a:defRPr>
            </a:lvl9pPr>
          </a:lstStyle>
          <a:p>
            <a:pPr algn="ctr">
              <a:defRPr lang="en-US" sz="1950" b="1">
                <a:solidFill>
                  <a:srgbClr val="202124"/>
                </a:solidFill>
                <a:latin typeface="Roboto"/>
                <a:ea typeface="Roboto"/>
                <a:cs typeface="Roboto"/>
              </a:defRPr>
            </a:pPr>
            <a:r>
              <a:rPr lang="en-US" sz="1950" b="1">
                <a:solidFill>
                  <a:srgbClr val="202124"/>
                </a:solidFill>
                <a:latin typeface="Roboto"/>
                <a:ea typeface="Roboto"/>
                <a:cs typeface="Roboto"/>
              </a:rPr>
              <a:t>TinyGLASS-512</a:t>
            </a:r>
          </a:p>
        </p:txBody>
      </p:sp>
      <p:pic>
        <p:nvPicPr>
          <p:cNvPr id="20" name="Immagine 19">
            <a:extLst>
              <a:ext uri="{FF2B5EF4-FFF2-40B4-BE49-F238E27FC236}">
                <a16:creationId xmlns:a16="http://schemas.microsoft.com/office/drawing/2014/main" id="{672271A9-C6B1-C898-99CC-A739BB111654}"/>
              </a:ext>
            </a:extLst>
          </p:cNvPr>
          <p:cNvPicPr>
            <a:picLocks noChangeAspect="1"/>
          </p:cNvPicPr>
          <p:nvPr/>
        </p:nvPicPr>
        <p:blipFill>
          <a:blip r:embed="rId6"/>
          <a:stretch/>
        </p:blipFill>
        <p:spPr>
          <a:xfrm>
            <a:off x="8963025" y="2181225"/>
            <a:ext cx="2381250" cy="2381250"/>
          </a:xfrm>
          <a:prstGeom prst="rect">
            <a:avLst/>
          </a:prstGeom>
        </p:spPr>
      </p:pic>
      <p:sp>
        <p:nvSpPr>
          <p:cNvPr id="22" name="ssn-map-ap">
            <a:extLst>
              <a:ext uri="{FF2B5EF4-FFF2-40B4-BE49-F238E27FC236}">
                <a16:creationId xmlns:a16="http://schemas.microsoft.com/office/drawing/2014/main" id="{3E0E1F39-A802-BB5F-CF2E-48B7F6993070}"/>
              </a:ext>
            </a:extLst>
          </p:cNvPr>
          <p:cNvSpPr>
            <a:spLocks noGrp="1"/>
          </p:cNvSpPr>
          <p:nvPr/>
        </p:nvSpPr>
        <p:spPr>
          <a:xfrm>
            <a:off x="6229350" y="4995862"/>
            <a:ext cx="2381250" cy="542925"/>
          </a:xfrm>
          <a:prstGeom prst="rect">
            <a:avLst/>
          </a:prstGeom>
          <a:noFill/>
          <a:ln w="0">
            <a:noFill/>
          </a:ln>
        </p:spPr>
        <p:txBody>
          <a:bodyPr wrap="square" lIns="0" tIns="0" rIns="0" bIns="0" anchor="t">
            <a:noAutofit/>
          </a:bodyPr>
          <a:lstStyle>
            <a:defPPr algn="ctr">
              <a:defRPr lang="en-US" sz="3000" b="1">
                <a:solidFill>
                  <a:srgbClr val="2C8390"/>
                </a:solidFill>
                <a:latin typeface="Roboto"/>
                <a:ea typeface="Roboto"/>
                <a:cs typeface="Roboto"/>
              </a:defRPr>
            </a:defPPr>
            <a:lvl1pPr algn="ctr">
              <a:defRPr lang="en-US" sz="3000" b="1">
                <a:solidFill>
                  <a:srgbClr val="2C8390"/>
                </a:solidFill>
                <a:latin typeface="Roboto"/>
                <a:ea typeface="Roboto"/>
                <a:cs typeface="Roboto"/>
              </a:defRPr>
            </a:lvl1pPr>
            <a:lvl2pPr algn="ctr">
              <a:defRPr lang="en-US" sz="3000" b="1">
                <a:solidFill>
                  <a:srgbClr val="2C8390"/>
                </a:solidFill>
                <a:latin typeface="Roboto"/>
                <a:ea typeface="Roboto"/>
                <a:cs typeface="Roboto"/>
              </a:defRPr>
            </a:lvl2pPr>
            <a:lvl3pPr algn="ctr">
              <a:defRPr lang="en-US" sz="3000" b="1">
                <a:solidFill>
                  <a:srgbClr val="2C8390"/>
                </a:solidFill>
                <a:latin typeface="Roboto"/>
                <a:ea typeface="Roboto"/>
                <a:cs typeface="Roboto"/>
              </a:defRPr>
            </a:lvl3pPr>
            <a:lvl4pPr algn="ctr">
              <a:defRPr lang="en-US" sz="3000" b="1">
                <a:solidFill>
                  <a:srgbClr val="2C8390"/>
                </a:solidFill>
                <a:latin typeface="Roboto"/>
                <a:ea typeface="Roboto"/>
                <a:cs typeface="Roboto"/>
              </a:defRPr>
            </a:lvl4pPr>
            <a:lvl5pPr algn="ctr">
              <a:defRPr lang="en-US" sz="3000" b="1">
                <a:solidFill>
                  <a:srgbClr val="2C8390"/>
                </a:solidFill>
                <a:latin typeface="Roboto"/>
                <a:ea typeface="Roboto"/>
                <a:cs typeface="Roboto"/>
              </a:defRPr>
            </a:lvl5pPr>
            <a:lvl6pPr algn="ctr">
              <a:defRPr lang="en-US" sz="3000" b="1">
                <a:solidFill>
                  <a:srgbClr val="2C8390"/>
                </a:solidFill>
                <a:latin typeface="Roboto"/>
                <a:ea typeface="Roboto"/>
                <a:cs typeface="Roboto"/>
              </a:defRPr>
            </a:lvl6pPr>
            <a:lvl7pPr algn="ctr">
              <a:defRPr lang="en-US" sz="3000" b="1">
                <a:solidFill>
                  <a:srgbClr val="2C8390"/>
                </a:solidFill>
                <a:latin typeface="Roboto"/>
                <a:ea typeface="Roboto"/>
                <a:cs typeface="Roboto"/>
              </a:defRPr>
            </a:lvl7pPr>
            <a:lvl8pPr algn="ctr">
              <a:defRPr lang="en-US" sz="3000" b="1">
                <a:solidFill>
                  <a:srgbClr val="2C8390"/>
                </a:solidFill>
                <a:latin typeface="Roboto"/>
                <a:ea typeface="Roboto"/>
                <a:cs typeface="Roboto"/>
              </a:defRPr>
            </a:lvl8pPr>
            <a:lvl9pPr algn="ctr">
              <a:defRPr lang="en-US" sz="3000" b="1">
                <a:solidFill>
                  <a:srgbClr val="2C8390"/>
                </a:solidFill>
                <a:latin typeface="Roboto"/>
                <a:ea typeface="Roboto"/>
                <a:cs typeface="Roboto"/>
              </a:defRPr>
            </a:lvl9pPr>
          </a:lstStyle>
          <a:p>
            <a:pPr algn="ctr">
              <a:defRPr lang="en-US" sz="3000" b="1">
                <a:solidFill>
                  <a:srgbClr val="2C8390"/>
                </a:solidFill>
                <a:latin typeface="Roboto"/>
                <a:ea typeface="Roboto"/>
                <a:cs typeface="Roboto"/>
              </a:defRPr>
            </a:pPr>
            <a:r>
              <a:rPr lang="en-US" sz="3000" b="1" dirty="0">
                <a:solidFill>
                  <a:srgbClr val="2C8390"/>
                </a:solidFill>
                <a:latin typeface="Roboto"/>
                <a:ea typeface="Roboto"/>
                <a:cs typeface="Roboto"/>
              </a:rPr>
              <a:t>19.10%</a:t>
            </a:r>
          </a:p>
        </p:txBody>
      </p:sp>
      <p:sp>
        <p:nvSpPr>
          <p:cNvPr id="24" name="tg-map-ap">
            <a:extLst>
              <a:ext uri="{FF2B5EF4-FFF2-40B4-BE49-F238E27FC236}">
                <a16:creationId xmlns:a16="http://schemas.microsoft.com/office/drawing/2014/main" id="{18E1BF7C-1D9A-BE8D-2D38-295F482979CB}"/>
              </a:ext>
            </a:extLst>
          </p:cNvPr>
          <p:cNvSpPr>
            <a:spLocks noGrp="1"/>
          </p:cNvSpPr>
          <p:nvPr/>
        </p:nvSpPr>
        <p:spPr>
          <a:xfrm>
            <a:off x="8963025" y="4995862"/>
            <a:ext cx="2381250" cy="542925"/>
          </a:xfrm>
          <a:prstGeom prst="rect">
            <a:avLst/>
          </a:prstGeom>
          <a:noFill/>
          <a:ln w="0">
            <a:noFill/>
          </a:ln>
        </p:spPr>
        <p:txBody>
          <a:bodyPr wrap="square" lIns="0" tIns="0" rIns="0" bIns="0" anchor="t">
            <a:noAutofit/>
          </a:bodyPr>
          <a:lstStyle>
            <a:defPPr algn="ctr">
              <a:defRPr lang="en-US" sz="3000" b="1">
                <a:solidFill>
                  <a:srgbClr val="822433"/>
                </a:solidFill>
                <a:latin typeface="Roboto"/>
                <a:ea typeface="Roboto"/>
                <a:cs typeface="Roboto"/>
              </a:defRPr>
            </a:defPPr>
            <a:lvl1pPr algn="ctr">
              <a:defRPr lang="en-US" sz="3000" b="1">
                <a:solidFill>
                  <a:srgbClr val="822433"/>
                </a:solidFill>
                <a:latin typeface="Roboto"/>
                <a:ea typeface="Roboto"/>
                <a:cs typeface="Roboto"/>
              </a:defRPr>
            </a:lvl1pPr>
            <a:lvl2pPr algn="ctr">
              <a:defRPr lang="en-US" sz="3000" b="1">
                <a:solidFill>
                  <a:srgbClr val="822433"/>
                </a:solidFill>
                <a:latin typeface="Roboto"/>
                <a:ea typeface="Roboto"/>
                <a:cs typeface="Roboto"/>
              </a:defRPr>
            </a:lvl2pPr>
            <a:lvl3pPr algn="ctr">
              <a:defRPr lang="en-US" sz="3000" b="1">
                <a:solidFill>
                  <a:srgbClr val="822433"/>
                </a:solidFill>
                <a:latin typeface="Roboto"/>
                <a:ea typeface="Roboto"/>
                <a:cs typeface="Roboto"/>
              </a:defRPr>
            </a:lvl3pPr>
            <a:lvl4pPr algn="ctr">
              <a:defRPr lang="en-US" sz="3000" b="1">
                <a:solidFill>
                  <a:srgbClr val="822433"/>
                </a:solidFill>
                <a:latin typeface="Roboto"/>
                <a:ea typeface="Roboto"/>
                <a:cs typeface="Roboto"/>
              </a:defRPr>
            </a:lvl4pPr>
            <a:lvl5pPr algn="ctr">
              <a:defRPr lang="en-US" sz="3000" b="1">
                <a:solidFill>
                  <a:srgbClr val="822433"/>
                </a:solidFill>
                <a:latin typeface="Roboto"/>
                <a:ea typeface="Roboto"/>
                <a:cs typeface="Roboto"/>
              </a:defRPr>
            </a:lvl5pPr>
            <a:lvl6pPr algn="ctr">
              <a:defRPr lang="en-US" sz="3000" b="1">
                <a:solidFill>
                  <a:srgbClr val="822433"/>
                </a:solidFill>
                <a:latin typeface="Roboto"/>
                <a:ea typeface="Roboto"/>
                <a:cs typeface="Roboto"/>
              </a:defRPr>
            </a:lvl6pPr>
            <a:lvl7pPr algn="ctr">
              <a:defRPr lang="en-US" sz="3000" b="1">
                <a:solidFill>
                  <a:srgbClr val="822433"/>
                </a:solidFill>
                <a:latin typeface="Roboto"/>
                <a:ea typeface="Roboto"/>
                <a:cs typeface="Roboto"/>
              </a:defRPr>
            </a:lvl7pPr>
            <a:lvl8pPr algn="ctr">
              <a:defRPr lang="en-US" sz="3000" b="1">
                <a:solidFill>
                  <a:srgbClr val="822433"/>
                </a:solidFill>
                <a:latin typeface="Roboto"/>
                <a:ea typeface="Roboto"/>
                <a:cs typeface="Roboto"/>
              </a:defRPr>
            </a:lvl8pPr>
            <a:lvl9pPr algn="ctr">
              <a:defRPr lang="en-US" sz="3000" b="1">
                <a:solidFill>
                  <a:srgbClr val="822433"/>
                </a:solidFill>
                <a:latin typeface="Roboto"/>
                <a:ea typeface="Roboto"/>
                <a:cs typeface="Roboto"/>
              </a:defRPr>
            </a:lvl9pPr>
          </a:lstStyle>
          <a:p>
            <a:pPr algn="ctr">
              <a:defRPr lang="en-US" sz="3000" b="1">
                <a:solidFill>
                  <a:srgbClr val="822433"/>
                </a:solidFill>
                <a:latin typeface="Roboto"/>
                <a:ea typeface="Roboto"/>
                <a:cs typeface="Roboto"/>
              </a:defRPr>
            </a:pPr>
            <a:r>
              <a:rPr lang="en-US" sz="3000" b="1" dirty="0">
                <a:solidFill>
                  <a:srgbClr val="822433"/>
                </a:solidFill>
                <a:latin typeface="Roboto"/>
                <a:ea typeface="Roboto"/>
                <a:cs typeface="Roboto"/>
              </a:rPr>
              <a:t>27.59%</a:t>
            </a:r>
          </a:p>
        </p:txBody>
      </p:sp>
      <p:sp>
        <p:nvSpPr>
          <p:cNvPr id="26" name="map-precision-label">
            <a:extLst>
              <a:ext uri="{FF2B5EF4-FFF2-40B4-BE49-F238E27FC236}">
                <a16:creationId xmlns:a16="http://schemas.microsoft.com/office/drawing/2014/main" id="{1DE0493D-174C-32D7-0729-C6BAE7EF43CC}"/>
              </a:ext>
            </a:extLst>
          </p:cNvPr>
          <p:cNvSpPr>
            <a:spLocks noGrp="1"/>
          </p:cNvSpPr>
          <p:nvPr/>
        </p:nvSpPr>
        <p:spPr>
          <a:xfrm>
            <a:off x="4840431" y="5072061"/>
            <a:ext cx="1324841" cy="3905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2400" b="0" dirty="0">
                <a:solidFill>
                  <a:sysClr val="windowText" lastClr="000000"/>
                </a:solidFill>
                <a:latin typeface="Roboto"/>
                <a:ea typeface="Roboto"/>
                <a:cs typeface="Roboto"/>
              </a:rPr>
              <a:t>Pixel AP</a:t>
            </a:r>
            <a:r>
              <a:rPr lang="en-US" sz="2400" dirty="0">
                <a:solidFill>
                  <a:sysClr val="windowText" lastClr="000000"/>
                </a:solidFill>
              </a:rPr>
              <a:t>:</a:t>
            </a:r>
            <a:endParaRPr lang="en-US" sz="2400" b="0" dirty="0">
              <a:solidFill>
                <a:sysClr val="windowText" lastClr="000000"/>
              </a:solidFill>
              <a:latin typeface="Roboto"/>
              <a:ea typeface="Roboto"/>
              <a:cs typeface="Roboto"/>
            </a:endParaRPr>
          </a:p>
        </p:txBody>
      </p:sp>
    </p:spTree>
    <p:extLst>
      <p:ext uri="{BB962C8B-B14F-4D97-AF65-F5344CB8AC3E}">
        <p14:creationId xmlns:p14="http://schemas.microsoft.com/office/powerpoint/2010/main" val="1735588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D3D7AC-1FA9-417F-BDB9-3185684DCBE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BA15373B-52F9-2A08-CE83-957040FF5924}"/>
              </a:ext>
            </a:extLst>
          </p:cNvPr>
          <p:cNvSpPr>
            <a:spLocks noGrp="1"/>
          </p:cNvSpPr>
          <p:nvPr>
            <p:ph type="title"/>
          </p:nvPr>
        </p:nvSpPr>
        <p:spPr/>
        <p:txBody>
          <a:bodyPr>
            <a:normAutofit/>
          </a:bodyPr>
          <a:lstStyle/>
          <a:p>
            <a:r>
              <a:rPr lang="it-IT" sz="5400" dirty="0" err="1">
                <a:solidFill>
                  <a:srgbClr val="822433"/>
                </a:solidFill>
              </a:rPr>
              <a:t>Conclusions</a:t>
            </a:r>
            <a:endParaRPr lang="it-IT" sz="5400" dirty="0">
              <a:solidFill>
                <a:srgbClr val="822433"/>
              </a:solidFill>
            </a:endParaRPr>
          </a:p>
        </p:txBody>
      </p:sp>
      <p:sp>
        <p:nvSpPr>
          <p:cNvPr id="3" name="Segnaposto testo 2">
            <a:extLst>
              <a:ext uri="{FF2B5EF4-FFF2-40B4-BE49-F238E27FC236}">
                <a16:creationId xmlns:a16="http://schemas.microsoft.com/office/drawing/2014/main" id="{1FF580B9-178F-76BA-F22D-C1F0D3CE5302}"/>
              </a:ext>
            </a:extLst>
          </p:cNvPr>
          <p:cNvSpPr>
            <a:spLocks noGrp="1"/>
          </p:cNvSpPr>
          <p:nvPr>
            <p:ph type="body" idx="1"/>
          </p:nvPr>
        </p:nvSpPr>
        <p:spPr>
          <a:xfrm>
            <a:off x="844550" y="2085109"/>
            <a:ext cx="10515600" cy="1859570"/>
          </a:xfrm>
        </p:spPr>
        <p:txBody>
          <a:bodyPr>
            <a:normAutofit lnSpcReduction="10000"/>
          </a:bodyPr>
          <a:lstStyle/>
          <a:p>
            <a:r>
              <a:rPr lang="it-IT" dirty="0" err="1"/>
              <a:t>Introduction</a:t>
            </a:r>
            <a:br>
              <a:rPr lang="it-IT" dirty="0"/>
            </a:br>
            <a:r>
              <a:rPr lang="it-IT" dirty="0" err="1">
                <a:solidFill>
                  <a:schemeClr val="bg1">
                    <a:lumMod val="50000"/>
                  </a:schemeClr>
                </a:solidFill>
              </a:rPr>
              <a:t>Lightweight</a:t>
            </a:r>
            <a:r>
              <a:rPr lang="it-IT" dirty="0">
                <a:solidFill>
                  <a:schemeClr val="bg1">
                    <a:lumMod val="50000"/>
                  </a:schemeClr>
                </a:solidFill>
              </a:rPr>
              <a:t> Scene </a:t>
            </a:r>
            <a:r>
              <a:rPr lang="it-IT" dirty="0" err="1">
                <a:solidFill>
                  <a:schemeClr val="bg1">
                    <a:lumMod val="50000"/>
                  </a:schemeClr>
                </a:solidFill>
              </a:rPr>
              <a:t>Understanding</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Dataset Generation</a:t>
            </a:r>
            <a:br>
              <a:rPr lang="it-IT" dirty="0">
                <a:solidFill>
                  <a:schemeClr val="bg1">
                    <a:lumMod val="50000"/>
                  </a:schemeClr>
                </a:solidFill>
              </a:rPr>
            </a:br>
            <a:r>
              <a:rPr lang="it-IT" dirty="0" err="1">
                <a:solidFill>
                  <a:schemeClr val="bg1">
                    <a:lumMod val="50000"/>
                  </a:schemeClr>
                </a:solidFill>
              </a:rPr>
              <a:t>Synthetic</a:t>
            </a:r>
            <a:r>
              <a:rPr lang="it-IT" dirty="0">
                <a:solidFill>
                  <a:schemeClr val="bg1">
                    <a:lumMod val="50000"/>
                  </a:schemeClr>
                </a:solidFill>
              </a:rPr>
              <a:t> </a:t>
            </a:r>
            <a:r>
              <a:rPr lang="it-IT" dirty="0" err="1">
                <a:solidFill>
                  <a:schemeClr val="bg1">
                    <a:lumMod val="50000"/>
                  </a:schemeClr>
                </a:solidFill>
              </a:rPr>
              <a:t>Damage</a:t>
            </a:r>
            <a:r>
              <a:rPr lang="it-IT" dirty="0">
                <a:solidFill>
                  <a:schemeClr val="bg1">
                    <a:lumMod val="50000"/>
                  </a:schemeClr>
                </a:solidFill>
              </a:rPr>
              <a:t> </a:t>
            </a:r>
            <a:r>
              <a:rPr lang="it-IT" dirty="0" err="1">
                <a:solidFill>
                  <a:schemeClr val="bg1">
                    <a:lumMod val="50000"/>
                  </a:schemeClr>
                </a:solidFill>
              </a:rPr>
              <a:t>Inspection</a:t>
            </a:r>
            <a:br>
              <a:rPr lang="it-IT" dirty="0">
                <a:solidFill>
                  <a:schemeClr val="bg1">
                    <a:lumMod val="50000"/>
                  </a:schemeClr>
                </a:solidFill>
              </a:rPr>
            </a:br>
            <a:r>
              <a:rPr lang="it-IT" dirty="0" err="1">
                <a:solidFill>
                  <a:schemeClr val="bg1">
                    <a:lumMod val="50000"/>
                  </a:schemeClr>
                </a:solidFill>
              </a:rPr>
              <a:t>Results</a:t>
            </a:r>
            <a:endParaRPr lang="it-IT" dirty="0">
              <a:solidFill>
                <a:schemeClr val="bg1">
                  <a:lumMod val="50000"/>
                </a:schemeClr>
              </a:solidFill>
            </a:endParaRPr>
          </a:p>
        </p:txBody>
      </p:sp>
      <p:sp>
        <p:nvSpPr>
          <p:cNvPr id="4" name="Google Shape;102;p14">
            <a:extLst>
              <a:ext uri="{FF2B5EF4-FFF2-40B4-BE49-F238E27FC236}">
                <a16:creationId xmlns:a16="http://schemas.microsoft.com/office/drawing/2014/main" id="{2786C3E9-D1B2-CF4D-3DE5-4C6223359D9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it-IT" sz="100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29</a:t>
            </a:fld>
            <a:r>
              <a:rPr lang="it-IT" sz="1000" dirty="0">
                <a:solidFill>
                  <a:srgbClr val="822433"/>
                </a:solidFill>
                <a:latin typeface="Roboto" panose="02000000000000000000" pitchFamily="2" charset="0"/>
                <a:ea typeface="Roboto" panose="02000000000000000000" pitchFamily="2" charset="0"/>
              </a:rPr>
              <a:t>/25</a:t>
            </a:r>
            <a:endParaRPr sz="1000" dirty="0">
              <a:solidFill>
                <a:srgbClr val="822433"/>
              </a:solidFill>
              <a:latin typeface="Roboto" panose="02000000000000000000" pitchFamily="2" charset="0"/>
              <a:ea typeface="Roboto" panose="02000000000000000000" pitchFamily="2" charset="0"/>
            </a:endParaRPr>
          </a:p>
        </p:txBody>
      </p:sp>
      <p:sp>
        <p:nvSpPr>
          <p:cNvPr id="5" name="Google Shape;103;p14">
            <a:extLst>
              <a:ext uri="{FF2B5EF4-FFF2-40B4-BE49-F238E27FC236}">
                <a16:creationId xmlns:a16="http://schemas.microsoft.com/office/drawing/2014/main" id="{1A9A2193-642E-7EE8-6381-A6BC5414C22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endParaRPr lang="it-IT" sz="1000" dirty="0">
              <a:solidFill>
                <a:srgbClr val="822433"/>
              </a:solidFill>
              <a:latin typeface="Roboto" panose="02000000000000000000" pitchFamily="2" charset="0"/>
              <a:ea typeface="Roboto" panose="02000000000000000000" pitchFamily="2" charset="0"/>
            </a:endParaRPr>
          </a:p>
        </p:txBody>
      </p:sp>
      <p:sp>
        <p:nvSpPr>
          <p:cNvPr id="8" name="Segnaposto testo 2">
            <a:extLst>
              <a:ext uri="{FF2B5EF4-FFF2-40B4-BE49-F238E27FC236}">
                <a16:creationId xmlns:a16="http://schemas.microsoft.com/office/drawing/2014/main" id="{60ECD5A8-A0CB-A08A-9347-40A53FDBBC1F}"/>
              </a:ext>
            </a:extLst>
          </p:cNvPr>
          <p:cNvSpPr txBox="1">
            <a:spLocks/>
          </p:cNvSpPr>
          <p:nvPr/>
        </p:nvSpPr>
        <p:spPr>
          <a:xfrm>
            <a:off x="844550" y="4562475"/>
            <a:ext cx="10515600" cy="1544003"/>
          </a:xfrm>
          <a:prstGeom prst="rect">
            <a:avLst/>
          </a:prstGeom>
        </p:spPr>
        <p:txBody>
          <a:bodyPr vert="horz" lIns="91440" tIns="45720" rIns="91440" bIns="45720" rtlCol="0">
            <a:normAutofit/>
          </a:bodyPr>
          <a:lstStyle>
            <a:lvl1pPr marL="0" indent="0" algn="l" defTabSz="914400" rtl="0" eaLnBrk="1" latinLnBrk="0" hangingPunct="1">
              <a:lnSpc>
                <a:spcPct val="100000"/>
              </a:lnSpc>
              <a:spcBef>
                <a:spcPts val="1000"/>
              </a:spcBef>
              <a:buFont typeface="Arial" panose="020B0604020202020204" pitchFamily="34" charset="0"/>
              <a:buNone/>
              <a:defRPr sz="24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1pPr>
            <a:lvl2pPr marL="457200" indent="0" algn="l" defTabSz="914400" rtl="0" eaLnBrk="1" latinLnBrk="0" hangingPunct="1">
              <a:lnSpc>
                <a:spcPct val="100000"/>
              </a:lnSpc>
              <a:spcBef>
                <a:spcPts val="500"/>
              </a:spcBef>
              <a:buFont typeface="Arial" panose="020B0604020202020204" pitchFamily="34" charset="0"/>
              <a:buNone/>
              <a:defRPr sz="20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2pPr>
            <a:lvl3pPr marL="914400" indent="0" algn="l" defTabSz="914400" rtl="0" eaLnBrk="1" latinLnBrk="0" hangingPunct="1">
              <a:lnSpc>
                <a:spcPct val="100000"/>
              </a:lnSpc>
              <a:spcBef>
                <a:spcPts val="500"/>
              </a:spcBef>
              <a:buFont typeface="Arial" panose="020B0604020202020204" pitchFamily="34" charset="0"/>
              <a:buNone/>
              <a:defRPr sz="18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3pPr>
            <a:lvl4pPr marL="13716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4pPr>
            <a:lvl5pPr marL="1828800" indent="0" algn="l" defTabSz="914400" rtl="0" eaLnBrk="1" latinLnBrk="0" hangingPunct="1">
              <a:lnSpc>
                <a:spcPct val="100000"/>
              </a:lnSpc>
              <a:spcBef>
                <a:spcPts val="500"/>
              </a:spcBef>
              <a:buFont typeface="Arial" panose="020B0604020202020204" pitchFamily="34" charset="0"/>
              <a:buNone/>
              <a:defRPr sz="1600" kern="1200">
                <a:solidFill>
                  <a:schemeClr val="tx1">
                    <a:tint val="75000"/>
                  </a:schemeClr>
                </a:solidFill>
                <a:latin typeface="Roboto" panose="02000000000000000000" pitchFamily="2" charset="0"/>
                <a:ea typeface="Roboto" panose="02000000000000000000" pitchFamily="2" charset="0"/>
                <a:cs typeface="Roboto" panose="02000000000000000000" pitchFamily="2" charset="0"/>
              </a:defRPr>
            </a:lvl5pPr>
            <a:lvl6pPr marL="22860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6pPr>
            <a:lvl7pPr marL="27432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7pPr>
            <a:lvl8pPr marL="32004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8pPr>
            <a:lvl9pPr marL="3657600" indent="0" algn="l" defTabSz="914400" rtl="0" eaLnBrk="1" latinLnBrk="0" hangingPunct="1">
              <a:lnSpc>
                <a:spcPct val="90000"/>
              </a:lnSpc>
              <a:spcBef>
                <a:spcPts val="500"/>
              </a:spcBef>
              <a:buFont typeface="Arial" panose="020B0604020202020204" pitchFamily="34" charset="0"/>
              <a:buNone/>
              <a:defRPr sz="1600" kern="1200">
                <a:solidFill>
                  <a:schemeClr val="tx1">
                    <a:tint val="75000"/>
                  </a:schemeClr>
                </a:solidFill>
                <a:latin typeface="+mn-lt"/>
                <a:ea typeface="+mn-ea"/>
                <a:cs typeface="+mn-cs"/>
              </a:defRPr>
            </a:lvl9pPr>
          </a:lstStyle>
          <a:p>
            <a:endParaRPr lang="it-IT" dirty="0"/>
          </a:p>
        </p:txBody>
      </p:sp>
    </p:spTree>
    <p:extLst>
      <p:ext uri="{BB962C8B-B14F-4D97-AF65-F5344CB8AC3E}">
        <p14:creationId xmlns:p14="http://schemas.microsoft.com/office/powerpoint/2010/main" val="313909260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Conclusions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dirty="0">
                <a:solidFill>
                  <a:srgbClr val="822433"/>
                </a:solidFill>
                <a:latin typeface="Roboto"/>
                <a:ea typeface="Roboto"/>
                <a:cs typeface="Roboto"/>
              </a:rPr>
              <a:t>               Lightweight Scene Understanding and Synthetic Data-Driven Damage Inspection for Martian Rovers                                                                     27/10/2026</a:t>
            </a:r>
          </a:p>
        </p:txBody>
      </p:sp>
      <p:sp>
        <p:nvSpPr>
          <p:cNvPr id="6" name="segmentation-heading">
            <a:extLst>
              <a:ext uri="{FF2B5EF4-FFF2-40B4-BE49-F238E27FC236}">
                <a16:creationId xmlns:a16="http://schemas.microsoft.com/office/drawing/2014/main" id="{B7325B3D-7F2B-47A3-8C78-382A15EA48F9}"/>
              </a:ext>
            </a:extLst>
          </p:cNvPr>
          <p:cNvSpPr>
            <a:spLocks noGrp="1"/>
          </p:cNvSpPr>
          <p:nvPr/>
        </p:nvSpPr>
        <p:spPr>
          <a:xfrm>
            <a:off x="1453861" y="1616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Lightweight segmentation</a:t>
            </a:r>
          </a:p>
        </p:txBody>
      </p:sp>
      <p:sp>
        <p:nvSpPr>
          <p:cNvPr id="7" name="segmentation-conclusion">
            <a:extLst>
              <a:ext uri="{FF2B5EF4-FFF2-40B4-BE49-F238E27FC236}">
                <a16:creationId xmlns:a16="http://schemas.microsoft.com/office/drawing/2014/main" id="{5837311F-4BC9-4BAA-8E99-2BA14664A04F}"/>
              </a:ext>
            </a:extLst>
          </p:cNvPr>
          <p:cNvSpPr>
            <a:spLocks noGrp="1"/>
          </p:cNvSpPr>
          <p:nvPr/>
        </p:nvSpPr>
        <p:spPr>
          <a:xfrm>
            <a:off x="1952625" y="2054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Selective quantization lowers inference costs,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accuracy preserved.</a:t>
            </a:r>
          </a:p>
        </p:txBody>
      </p:sp>
      <p:sp>
        <p:nvSpPr>
          <p:cNvPr id="8" name="dataset-heading">
            <a:extLst>
              <a:ext uri="{FF2B5EF4-FFF2-40B4-BE49-F238E27FC236}">
                <a16:creationId xmlns:a16="http://schemas.microsoft.com/office/drawing/2014/main" id="{32875869-91FC-46A7-85B7-79FA341C7C7D}"/>
              </a:ext>
            </a:extLst>
          </p:cNvPr>
          <p:cNvSpPr>
            <a:spLocks noGrp="1"/>
          </p:cNvSpPr>
          <p:nvPr/>
        </p:nvSpPr>
        <p:spPr>
          <a:xfrm>
            <a:off x="1453861" y="3140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10,000 annotated synthetic images</a:t>
            </a:r>
          </a:p>
        </p:txBody>
      </p:sp>
      <p:sp>
        <p:nvSpPr>
          <p:cNvPr id="9" name="dataset-conclusion">
            <a:extLst>
              <a:ext uri="{FF2B5EF4-FFF2-40B4-BE49-F238E27FC236}">
                <a16:creationId xmlns:a16="http://schemas.microsoft.com/office/drawing/2014/main" id="{54F99695-6CCE-4730-8A5B-E56780BB4BA1}"/>
              </a:ext>
            </a:extLst>
          </p:cNvPr>
          <p:cNvSpPr>
            <a:spLocks noGrp="1"/>
          </p:cNvSpPr>
          <p:nvPr/>
        </p:nvSpPr>
        <p:spPr>
          <a:xfrm>
            <a:off x="1952625" y="3569278"/>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A pilot dataset for rover wheel inspection,</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with scope to improve visual realism.</a:t>
            </a:r>
          </a:p>
        </p:txBody>
      </p:sp>
      <p:sp>
        <p:nvSpPr>
          <p:cNvPr id="10" name="anomaly-heading">
            <a:extLst>
              <a:ext uri="{FF2B5EF4-FFF2-40B4-BE49-F238E27FC236}">
                <a16:creationId xmlns:a16="http://schemas.microsoft.com/office/drawing/2014/main" id="{5E292AE1-D6B0-4716-A763-7657D64C2944}"/>
              </a:ext>
            </a:extLst>
          </p:cNvPr>
          <p:cNvSpPr>
            <a:spLocks noGrp="1"/>
          </p:cNvSpPr>
          <p:nvPr/>
        </p:nvSpPr>
        <p:spPr>
          <a:xfrm>
            <a:off x="1453861" y="4664653"/>
            <a:ext cx="8858250" cy="428625"/>
          </a:xfrm>
          <a:prstGeom prst="rect">
            <a:avLst/>
          </a:prstGeom>
          <a:noFill/>
          <a:ln w="0">
            <a:noFill/>
          </a:ln>
        </p:spPr>
        <p:txBody>
          <a:bodyPr wrap="square" lIns="0" tIns="0" rIns="0" bIns="0" anchor="t">
            <a:noAutofit/>
          </a:bodyPr>
          <a:lstStyle>
            <a:defPPr algn="l">
              <a:defRPr sz="2600" b="1">
                <a:solidFill>
                  <a:srgbClr val="822433"/>
                </a:solidFill>
                <a:latin typeface="Roboto"/>
                <a:ea typeface="Roboto"/>
                <a:cs typeface="Roboto"/>
              </a:defRPr>
            </a:defPPr>
            <a:lvl1pPr algn="l">
              <a:defRPr sz="2600" b="1">
                <a:solidFill>
                  <a:srgbClr val="822433"/>
                </a:solidFill>
                <a:latin typeface="Roboto"/>
                <a:ea typeface="Roboto"/>
                <a:cs typeface="Roboto"/>
              </a:defRPr>
            </a:lvl1pPr>
            <a:lvl2pPr algn="l">
              <a:defRPr sz="2600" b="1">
                <a:solidFill>
                  <a:srgbClr val="822433"/>
                </a:solidFill>
                <a:latin typeface="Roboto"/>
                <a:ea typeface="Roboto"/>
                <a:cs typeface="Roboto"/>
              </a:defRPr>
            </a:lvl2pPr>
            <a:lvl3pPr algn="l">
              <a:defRPr sz="2600" b="1">
                <a:solidFill>
                  <a:srgbClr val="822433"/>
                </a:solidFill>
                <a:latin typeface="Roboto"/>
                <a:ea typeface="Roboto"/>
                <a:cs typeface="Roboto"/>
              </a:defRPr>
            </a:lvl3pPr>
            <a:lvl4pPr algn="l">
              <a:defRPr sz="2600" b="1">
                <a:solidFill>
                  <a:srgbClr val="822433"/>
                </a:solidFill>
                <a:latin typeface="Roboto"/>
                <a:ea typeface="Roboto"/>
                <a:cs typeface="Roboto"/>
              </a:defRPr>
            </a:lvl4pPr>
            <a:lvl5pPr algn="l">
              <a:defRPr sz="2600" b="1">
                <a:solidFill>
                  <a:srgbClr val="822433"/>
                </a:solidFill>
                <a:latin typeface="Roboto"/>
                <a:ea typeface="Roboto"/>
                <a:cs typeface="Roboto"/>
              </a:defRPr>
            </a:lvl5pPr>
            <a:lvl6pPr algn="l">
              <a:defRPr sz="2600" b="1">
                <a:solidFill>
                  <a:srgbClr val="822433"/>
                </a:solidFill>
                <a:latin typeface="Roboto"/>
                <a:ea typeface="Roboto"/>
                <a:cs typeface="Roboto"/>
              </a:defRPr>
            </a:lvl6pPr>
            <a:lvl7pPr algn="l">
              <a:defRPr sz="2600" b="1">
                <a:solidFill>
                  <a:srgbClr val="822433"/>
                </a:solidFill>
                <a:latin typeface="Roboto"/>
                <a:ea typeface="Roboto"/>
                <a:cs typeface="Roboto"/>
              </a:defRPr>
            </a:lvl7pPr>
            <a:lvl8pPr algn="l">
              <a:defRPr sz="2600" b="1">
                <a:solidFill>
                  <a:srgbClr val="822433"/>
                </a:solidFill>
                <a:latin typeface="Roboto"/>
                <a:ea typeface="Roboto"/>
                <a:cs typeface="Roboto"/>
              </a:defRPr>
            </a:lvl8pPr>
            <a:lvl9pPr algn="l">
              <a:defRPr sz="2600" b="1">
                <a:solidFill>
                  <a:srgbClr val="822433"/>
                </a:solidFill>
                <a:latin typeface="Roboto"/>
                <a:ea typeface="Roboto"/>
                <a:cs typeface="Roboto"/>
              </a:defRPr>
            </a:lvl9pPr>
          </a:lstStyle>
          <a:p>
            <a:pPr marL="457200" indent="-457200" algn="l">
              <a:buFont typeface="Arial" panose="020B0604020202020204" pitchFamily="34" charset="0"/>
              <a:buChar char="•"/>
              <a:defRPr sz="2600" b="1">
                <a:solidFill>
                  <a:srgbClr val="822433"/>
                </a:solidFill>
                <a:latin typeface="Roboto"/>
                <a:ea typeface="Roboto"/>
                <a:cs typeface="Roboto"/>
              </a:defRPr>
            </a:pPr>
            <a:r>
              <a:rPr sz="2600" b="1" dirty="0">
                <a:solidFill>
                  <a:srgbClr val="822433"/>
                </a:solidFill>
                <a:latin typeface="Roboto"/>
                <a:ea typeface="Roboto"/>
                <a:cs typeface="Roboto"/>
              </a:rPr>
              <a:t>Anomaly detection and localization</a:t>
            </a:r>
          </a:p>
        </p:txBody>
      </p:sp>
      <p:sp>
        <p:nvSpPr>
          <p:cNvPr id="11" name="anomaly-conclusion">
            <a:extLst>
              <a:ext uri="{FF2B5EF4-FFF2-40B4-BE49-F238E27FC236}">
                <a16:creationId xmlns:a16="http://schemas.microsoft.com/office/drawing/2014/main" id="{F268A950-9C78-4163-BFF3-040D63F9B9CF}"/>
              </a:ext>
            </a:extLst>
          </p:cNvPr>
          <p:cNvSpPr>
            <a:spLocks noGrp="1"/>
          </p:cNvSpPr>
          <p:nvPr/>
        </p:nvSpPr>
        <p:spPr>
          <a:xfrm>
            <a:off x="1952625" y="5102803"/>
            <a:ext cx="8858250" cy="714375"/>
          </a:xfrm>
          <a:prstGeom prst="rect">
            <a:avLst/>
          </a:prstGeom>
          <a:noFill/>
          <a:ln w="0">
            <a:noFill/>
          </a:ln>
        </p:spPr>
        <p:txBody>
          <a:bodyPr wrap="square" lIns="0" tIns="0" rIns="0" bIns="0" anchor="t">
            <a:noAutofit/>
          </a:bodyPr>
          <a:lstStyle>
            <a:defPPr algn="l">
              <a:defRPr sz="2000" b="0">
                <a:solidFill>
                  <a:srgbClr val="252525"/>
                </a:solidFill>
                <a:latin typeface="Calibri"/>
                <a:ea typeface="Calibri"/>
                <a:cs typeface="Calibri"/>
              </a:defRPr>
            </a:defPPr>
            <a:lvl1pPr algn="l">
              <a:defRPr sz="2000" b="0">
                <a:solidFill>
                  <a:srgbClr val="252525"/>
                </a:solidFill>
                <a:latin typeface="Calibri"/>
                <a:ea typeface="Calibri"/>
                <a:cs typeface="Calibri"/>
              </a:defRPr>
            </a:lvl1pPr>
            <a:lvl2pPr algn="l">
              <a:defRPr sz="2000" b="0">
                <a:solidFill>
                  <a:srgbClr val="252525"/>
                </a:solidFill>
                <a:latin typeface="Calibri"/>
                <a:ea typeface="Calibri"/>
                <a:cs typeface="Calibri"/>
              </a:defRPr>
            </a:lvl2pPr>
            <a:lvl3pPr algn="l">
              <a:defRPr sz="2000" b="0">
                <a:solidFill>
                  <a:srgbClr val="252525"/>
                </a:solidFill>
                <a:latin typeface="Calibri"/>
                <a:ea typeface="Calibri"/>
                <a:cs typeface="Calibri"/>
              </a:defRPr>
            </a:lvl3pPr>
            <a:lvl4pPr algn="l">
              <a:defRPr sz="2000" b="0">
                <a:solidFill>
                  <a:srgbClr val="252525"/>
                </a:solidFill>
                <a:latin typeface="Calibri"/>
                <a:ea typeface="Calibri"/>
                <a:cs typeface="Calibri"/>
              </a:defRPr>
            </a:lvl4pPr>
            <a:lvl5pPr algn="l">
              <a:defRPr sz="2000" b="0">
                <a:solidFill>
                  <a:srgbClr val="252525"/>
                </a:solidFill>
                <a:latin typeface="Calibri"/>
                <a:ea typeface="Calibri"/>
                <a:cs typeface="Calibri"/>
              </a:defRPr>
            </a:lvl5pPr>
            <a:lvl6pPr algn="l">
              <a:defRPr sz="2000" b="0">
                <a:solidFill>
                  <a:srgbClr val="252525"/>
                </a:solidFill>
                <a:latin typeface="Calibri"/>
                <a:ea typeface="Calibri"/>
                <a:cs typeface="Calibri"/>
              </a:defRPr>
            </a:lvl6pPr>
            <a:lvl7pPr algn="l">
              <a:defRPr sz="2000" b="0">
                <a:solidFill>
                  <a:srgbClr val="252525"/>
                </a:solidFill>
                <a:latin typeface="Calibri"/>
                <a:ea typeface="Calibri"/>
                <a:cs typeface="Calibri"/>
              </a:defRPr>
            </a:lvl7pPr>
            <a:lvl8pPr algn="l">
              <a:defRPr sz="2000" b="0">
                <a:solidFill>
                  <a:srgbClr val="252525"/>
                </a:solidFill>
                <a:latin typeface="Calibri"/>
                <a:ea typeface="Calibri"/>
                <a:cs typeface="Calibri"/>
              </a:defRPr>
            </a:lvl8pPr>
            <a:lvl9pPr algn="l">
              <a:defRPr sz="2000" b="0">
                <a:solidFill>
                  <a:srgbClr val="252525"/>
                </a:solidFill>
                <a:latin typeface="Calibri"/>
                <a:ea typeface="Calibri"/>
                <a:cs typeface="Calibri"/>
              </a:defRPr>
            </a:lvl9pPr>
          </a:lstStyle>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Four </a:t>
            </a:r>
            <a:r>
              <a:rPr lang="it-IT" sz="2000" b="0" dirty="0">
                <a:solidFill>
                  <a:srgbClr val="252525"/>
                </a:solidFill>
                <a:latin typeface="Calibri"/>
                <a:ea typeface="Calibri"/>
                <a:cs typeface="Calibri"/>
              </a:rPr>
              <a:t>SOTA </a:t>
            </a:r>
            <a:r>
              <a:rPr sz="2000" b="0" dirty="0">
                <a:solidFill>
                  <a:srgbClr val="252525"/>
                </a:solidFill>
                <a:latin typeface="Calibri"/>
                <a:ea typeface="Calibri"/>
                <a:cs typeface="Calibri"/>
              </a:rPr>
              <a:t>model families compared using configurations</a:t>
            </a:r>
          </a:p>
          <a:p>
            <a:pPr algn="l">
              <a:defRPr sz="2000" b="0">
                <a:solidFill>
                  <a:srgbClr val="252525"/>
                </a:solidFill>
                <a:latin typeface="Calibri"/>
                <a:ea typeface="Calibri"/>
                <a:cs typeface="Calibri"/>
              </a:defRPr>
            </a:pPr>
            <a:r>
              <a:rPr sz="2000" b="0" dirty="0">
                <a:solidFill>
                  <a:srgbClr val="252525"/>
                </a:solidFill>
                <a:latin typeface="Calibri"/>
                <a:ea typeface="Calibri"/>
                <a:cs typeface="Calibri"/>
              </a:rPr>
              <a:t>tailored to wheel damage inspection.</a:t>
            </a:r>
          </a:p>
        </p:txBody>
      </p:sp>
      <p:sp>
        <p:nvSpPr>
          <p:cNvPr id="3" name="Google Shape;102;p14">
            <a:extLst>
              <a:ext uri="{FF2B5EF4-FFF2-40B4-BE49-F238E27FC236}">
                <a16:creationId xmlns:a16="http://schemas.microsoft.com/office/drawing/2014/main" id="{795D8C77-C9FA-2C6A-4ED0-7E23FD286AA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4" name="CasellaDiTesto 3">
            <a:extLst>
              <a:ext uri="{FF2B5EF4-FFF2-40B4-BE49-F238E27FC236}">
                <a16:creationId xmlns:a16="http://schemas.microsoft.com/office/drawing/2014/main" id="{AA4C893B-FAB3-ED33-1ABB-CF63158F2349}"/>
              </a:ext>
            </a:extLst>
          </p:cNvPr>
          <p:cNvSpPr txBox="1"/>
          <p:nvPr/>
        </p:nvSpPr>
        <p:spPr>
          <a:xfrm>
            <a:off x="838200" y="5912428"/>
            <a:ext cx="10792690" cy="369332"/>
          </a:xfrm>
          <a:prstGeom prst="rect">
            <a:avLst/>
          </a:prstGeom>
          <a:noFill/>
        </p:spPr>
        <p:txBody>
          <a:bodyPr wrap="square" rtlCol="0">
            <a:spAutoFit/>
          </a:bodyPr>
          <a:lstStyle/>
          <a:p>
            <a:r>
              <a:rPr lang="en-US" noProof="0">
                <a:solidFill>
                  <a:schemeClr val="tx1">
                    <a:lumMod val="65000"/>
                    <a:lumOff val="35000"/>
                  </a:schemeClr>
                </a:solidFill>
              </a:rPr>
              <a:t>Manuscript in preparation for submission to </a:t>
            </a:r>
            <a:r>
              <a:rPr lang="en-US" b="1" noProof="0">
                <a:solidFill>
                  <a:srgbClr val="822433"/>
                </a:solidFill>
              </a:rPr>
              <a:t>IEEE Transactions on Industrial Informatics</a:t>
            </a:r>
            <a:endParaRPr lang="en-US" noProof="0">
              <a:solidFill>
                <a:srgbClr val="822433"/>
              </a:solidFill>
            </a:endParaRPr>
          </a:p>
        </p:txBody>
      </p:sp>
    </p:spTree>
    <p:extLst>
      <p:ext uri="{BB962C8B-B14F-4D97-AF65-F5344CB8AC3E}">
        <p14:creationId xmlns:p14="http://schemas.microsoft.com/office/powerpoint/2010/main" val="273179464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F1F065-7255-9B3F-381A-AE4514C567E2}"/>
            </a:ext>
          </a:extLst>
        </p:cNvPr>
        <p:cNvGrpSpPr/>
        <p:nvPr/>
      </p:nvGrpSpPr>
      <p:grpSpPr>
        <a:xfrm>
          <a:off x="0" y="0"/>
          <a:ext cx="0" cy="0"/>
          <a:chOff x="0" y="0"/>
          <a:chExt cx="0" cy="0"/>
        </a:xfrm>
      </p:grpSpPr>
      <p:sp>
        <p:nvSpPr>
          <p:cNvPr id="7" name="future-1-heading">
            <a:extLst>
              <a:ext uri="{FF2B5EF4-FFF2-40B4-BE49-F238E27FC236}">
                <a16:creationId xmlns:a16="http://schemas.microsoft.com/office/drawing/2014/main" id="{18C9854F-5529-4B4C-CA48-A412591AD457}"/>
              </a:ext>
            </a:extLst>
          </p:cNvPr>
          <p:cNvSpPr>
            <a:spLocks noGrp="1"/>
          </p:cNvSpPr>
          <p:nvPr/>
        </p:nvSpPr>
        <p:spPr>
          <a:xfrm>
            <a:off x="1422689" y="1631994"/>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Real-image validation</a:t>
            </a:r>
          </a:p>
        </p:txBody>
      </p:sp>
      <p:sp>
        <p:nvSpPr>
          <p:cNvPr id="9" name="future-1-body">
            <a:extLst>
              <a:ext uri="{FF2B5EF4-FFF2-40B4-BE49-F238E27FC236}">
                <a16:creationId xmlns:a16="http://schemas.microsoft.com/office/drawing/2014/main" id="{B1B0549C-34E2-2B43-FB34-208FAF10ED06}"/>
              </a:ext>
            </a:extLst>
          </p:cNvPr>
          <p:cNvSpPr>
            <a:spLocks noGrp="1"/>
          </p:cNvSpPr>
          <p:nvPr/>
        </p:nvSpPr>
        <p:spPr>
          <a:xfrm>
            <a:off x="1952622" y="2050289"/>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Validate synthetic-to-real transfer on rover images.</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Extend domain variation and damage coverage.</a:t>
            </a:r>
          </a:p>
        </p:txBody>
      </p:sp>
      <p:sp>
        <p:nvSpPr>
          <p:cNvPr id="11" name="future-2-heading">
            <a:extLst>
              <a:ext uri="{FF2B5EF4-FFF2-40B4-BE49-F238E27FC236}">
                <a16:creationId xmlns:a16="http://schemas.microsoft.com/office/drawing/2014/main" id="{32A27B6C-8E24-D478-3006-A19C185DAF9C}"/>
              </a:ext>
            </a:extLst>
          </p:cNvPr>
          <p:cNvSpPr>
            <a:spLocks noGrp="1"/>
          </p:cNvSpPr>
          <p:nvPr/>
        </p:nvSpPr>
        <p:spPr>
          <a:xfrm>
            <a:off x="1450397" y="313316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Efficiency and deployment</a:t>
            </a:r>
          </a:p>
        </p:txBody>
      </p:sp>
      <p:sp>
        <p:nvSpPr>
          <p:cNvPr id="13" name="future-2-body">
            <a:extLst>
              <a:ext uri="{FF2B5EF4-FFF2-40B4-BE49-F238E27FC236}">
                <a16:creationId xmlns:a16="http://schemas.microsoft.com/office/drawing/2014/main" id="{B3CA27CF-1D66-E02B-A554-05892551C487}"/>
              </a:ext>
            </a:extLst>
          </p:cNvPr>
          <p:cNvSpPr>
            <a:spLocks noGrp="1"/>
          </p:cNvSpPr>
          <p:nvPr/>
        </p:nvSpPr>
        <p:spPr>
          <a:xfrm>
            <a:off x="1952624" y="3568845"/>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Explore lighter models, augmentation and quantization.</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Benchmark the full pipeline on representative hardware.</a:t>
            </a:r>
          </a:p>
        </p:txBody>
      </p:sp>
      <p:sp>
        <p:nvSpPr>
          <p:cNvPr id="15" name="future-3-heading">
            <a:extLst>
              <a:ext uri="{FF2B5EF4-FFF2-40B4-BE49-F238E27FC236}">
                <a16:creationId xmlns:a16="http://schemas.microsoft.com/office/drawing/2014/main" id="{F67AB9D7-B568-5C84-2FB9-CCD621E4C675}"/>
              </a:ext>
            </a:extLst>
          </p:cNvPr>
          <p:cNvSpPr>
            <a:spLocks noGrp="1"/>
          </p:cNvSpPr>
          <p:nvPr/>
        </p:nvSpPr>
        <p:spPr>
          <a:xfrm>
            <a:off x="1450397" y="4653519"/>
            <a:ext cx="8191500" cy="361950"/>
          </a:xfrm>
          <a:prstGeom prst="rect">
            <a:avLst/>
          </a:prstGeom>
          <a:noFill/>
          <a:ln w="0">
            <a:noFill/>
          </a:ln>
        </p:spPr>
        <p:txBody>
          <a:bodyPr wrap="square" lIns="0" tIns="0" rIns="0" bIns="0" anchor="t">
            <a:noAutofit/>
          </a:bodyPr>
          <a:lstStyle>
            <a:defPPr algn="l">
              <a:defRPr sz="2100" b="1">
                <a:solidFill>
                  <a:srgbClr val="822433"/>
                </a:solidFill>
                <a:latin typeface="Roboto"/>
                <a:ea typeface="Roboto"/>
                <a:cs typeface="Roboto"/>
              </a:defRPr>
            </a:defPPr>
            <a:lvl1pPr algn="l">
              <a:defRPr sz="2100" b="1">
                <a:solidFill>
                  <a:srgbClr val="822433"/>
                </a:solidFill>
                <a:latin typeface="Roboto"/>
                <a:ea typeface="Roboto"/>
                <a:cs typeface="Roboto"/>
              </a:defRPr>
            </a:lvl1pPr>
            <a:lvl2pPr algn="l">
              <a:defRPr sz="2100" b="1">
                <a:solidFill>
                  <a:srgbClr val="822433"/>
                </a:solidFill>
                <a:latin typeface="Roboto"/>
                <a:ea typeface="Roboto"/>
                <a:cs typeface="Roboto"/>
              </a:defRPr>
            </a:lvl2pPr>
            <a:lvl3pPr algn="l">
              <a:defRPr sz="2100" b="1">
                <a:solidFill>
                  <a:srgbClr val="822433"/>
                </a:solidFill>
                <a:latin typeface="Roboto"/>
                <a:ea typeface="Roboto"/>
                <a:cs typeface="Roboto"/>
              </a:defRPr>
            </a:lvl3pPr>
            <a:lvl4pPr algn="l">
              <a:defRPr sz="2100" b="1">
                <a:solidFill>
                  <a:srgbClr val="822433"/>
                </a:solidFill>
                <a:latin typeface="Roboto"/>
                <a:ea typeface="Roboto"/>
                <a:cs typeface="Roboto"/>
              </a:defRPr>
            </a:lvl4pPr>
            <a:lvl5pPr algn="l">
              <a:defRPr sz="2100" b="1">
                <a:solidFill>
                  <a:srgbClr val="822433"/>
                </a:solidFill>
                <a:latin typeface="Roboto"/>
                <a:ea typeface="Roboto"/>
                <a:cs typeface="Roboto"/>
              </a:defRPr>
            </a:lvl5pPr>
            <a:lvl6pPr algn="l">
              <a:defRPr sz="2100" b="1">
                <a:solidFill>
                  <a:srgbClr val="822433"/>
                </a:solidFill>
                <a:latin typeface="Roboto"/>
                <a:ea typeface="Roboto"/>
                <a:cs typeface="Roboto"/>
              </a:defRPr>
            </a:lvl6pPr>
            <a:lvl7pPr algn="l">
              <a:defRPr sz="2100" b="1">
                <a:solidFill>
                  <a:srgbClr val="822433"/>
                </a:solidFill>
                <a:latin typeface="Roboto"/>
                <a:ea typeface="Roboto"/>
                <a:cs typeface="Roboto"/>
              </a:defRPr>
            </a:lvl7pPr>
            <a:lvl8pPr algn="l">
              <a:defRPr sz="2100" b="1">
                <a:solidFill>
                  <a:srgbClr val="822433"/>
                </a:solidFill>
                <a:latin typeface="Roboto"/>
                <a:ea typeface="Roboto"/>
                <a:cs typeface="Roboto"/>
              </a:defRPr>
            </a:lvl8pPr>
            <a:lvl9pPr algn="l">
              <a:defRPr sz="2100" b="1">
                <a:solidFill>
                  <a:srgbClr val="822433"/>
                </a:solidFill>
                <a:latin typeface="Roboto"/>
                <a:ea typeface="Roboto"/>
                <a:cs typeface="Roboto"/>
              </a:defRPr>
            </a:lvl9pPr>
          </a:lstStyle>
          <a:p>
            <a:pPr marL="342900" indent="-342900" algn="l">
              <a:buFont typeface="Arial" panose="020B0604020202020204" pitchFamily="34" charset="0"/>
              <a:buChar char="•"/>
              <a:defRPr sz="2100" b="1">
                <a:solidFill>
                  <a:srgbClr val="822433"/>
                </a:solidFill>
                <a:latin typeface="Roboto"/>
                <a:ea typeface="Roboto"/>
                <a:cs typeface="Roboto"/>
              </a:defRPr>
            </a:pPr>
            <a:r>
              <a:rPr lang="en-US" sz="2600" b="1" noProof="0" dirty="0">
                <a:solidFill>
                  <a:srgbClr val="822433"/>
                </a:solidFill>
                <a:latin typeface="Roboto"/>
                <a:ea typeface="Roboto"/>
                <a:cs typeface="Roboto"/>
              </a:rPr>
              <a:t>  Branch Integration</a:t>
            </a:r>
          </a:p>
        </p:txBody>
      </p:sp>
      <p:sp>
        <p:nvSpPr>
          <p:cNvPr id="17" name="future-3-body">
            <a:extLst>
              <a:ext uri="{FF2B5EF4-FFF2-40B4-BE49-F238E27FC236}">
                <a16:creationId xmlns:a16="http://schemas.microsoft.com/office/drawing/2014/main" id="{5B67EA93-C8C7-DBB3-D4DE-0DFAD38D8EAF}"/>
              </a:ext>
            </a:extLst>
          </p:cNvPr>
          <p:cNvSpPr>
            <a:spLocks noGrp="1"/>
          </p:cNvSpPr>
          <p:nvPr/>
        </p:nvSpPr>
        <p:spPr>
          <a:xfrm>
            <a:off x="1952623" y="5093278"/>
            <a:ext cx="8239125" cy="666750"/>
          </a:xfrm>
          <a:prstGeom prst="rect">
            <a:avLst/>
          </a:prstGeom>
          <a:noFill/>
          <a:ln w="0">
            <a:noFill/>
          </a:ln>
        </p:spPr>
        <p:txBody>
          <a:bodyPr wrap="square" lIns="0" tIns="0" rIns="0" bIns="0" anchor="t">
            <a:noAutofit/>
          </a:bodyPr>
          <a:lstStyle>
            <a:defPPr algn="l">
              <a:defRPr sz="1800" b="0">
                <a:solidFill>
                  <a:srgbClr val="252525"/>
                </a:solidFill>
                <a:latin typeface="Calibri"/>
                <a:ea typeface="Calibri"/>
                <a:cs typeface="Calibri"/>
              </a:defRPr>
            </a:defPPr>
            <a:lvl1pPr algn="l">
              <a:defRPr sz="1800" b="0">
                <a:solidFill>
                  <a:srgbClr val="252525"/>
                </a:solidFill>
                <a:latin typeface="Calibri"/>
                <a:ea typeface="Calibri"/>
                <a:cs typeface="Calibri"/>
              </a:defRPr>
            </a:lvl1pPr>
            <a:lvl2pPr algn="l">
              <a:defRPr sz="1800" b="0">
                <a:solidFill>
                  <a:srgbClr val="252525"/>
                </a:solidFill>
                <a:latin typeface="Calibri"/>
                <a:ea typeface="Calibri"/>
                <a:cs typeface="Calibri"/>
              </a:defRPr>
            </a:lvl2pPr>
            <a:lvl3pPr algn="l">
              <a:defRPr sz="1800" b="0">
                <a:solidFill>
                  <a:srgbClr val="252525"/>
                </a:solidFill>
                <a:latin typeface="Calibri"/>
                <a:ea typeface="Calibri"/>
                <a:cs typeface="Calibri"/>
              </a:defRPr>
            </a:lvl3pPr>
            <a:lvl4pPr algn="l">
              <a:defRPr sz="1800" b="0">
                <a:solidFill>
                  <a:srgbClr val="252525"/>
                </a:solidFill>
                <a:latin typeface="Calibri"/>
                <a:ea typeface="Calibri"/>
                <a:cs typeface="Calibri"/>
              </a:defRPr>
            </a:lvl4pPr>
            <a:lvl5pPr algn="l">
              <a:defRPr sz="1800" b="0">
                <a:solidFill>
                  <a:srgbClr val="252525"/>
                </a:solidFill>
                <a:latin typeface="Calibri"/>
                <a:ea typeface="Calibri"/>
                <a:cs typeface="Calibri"/>
              </a:defRPr>
            </a:lvl5pPr>
            <a:lvl6pPr algn="l">
              <a:defRPr sz="1800" b="0">
                <a:solidFill>
                  <a:srgbClr val="252525"/>
                </a:solidFill>
                <a:latin typeface="Calibri"/>
                <a:ea typeface="Calibri"/>
                <a:cs typeface="Calibri"/>
              </a:defRPr>
            </a:lvl6pPr>
            <a:lvl7pPr algn="l">
              <a:defRPr sz="1800" b="0">
                <a:solidFill>
                  <a:srgbClr val="252525"/>
                </a:solidFill>
                <a:latin typeface="Calibri"/>
                <a:ea typeface="Calibri"/>
                <a:cs typeface="Calibri"/>
              </a:defRPr>
            </a:lvl7pPr>
            <a:lvl8pPr algn="l">
              <a:defRPr sz="1800" b="0">
                <a:solidFill>
                  <a:srgbClr val="252525"/>
                </a:solidFill>
                <a:latin typeface="Calibri"/>
                <a:ea typeface="Calibri"/>
                <a:cs typeface="Calibri"/>
              </a:defRPr>
            </a:lvl8pPr>
            <a:lvl9pPr algn="l">
              <a:defRPr sz="1800" b="0">
                <a:solidFill>
                  <a:srgbClr val="252525"/>
                </a:solidFill>
                <a:latin typeface="Calibri"/>
                <a:ea typeface="Calibri"/>
                <a:cs typeface="Calibri"/>
              </a:defRPr>
            </a:lvl9pPr>
          </a:lstStyle>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Assess whether Rover semantic masks can help subsequent </a:t>
            </a:r>
          </a:p>
          <a:p>
            <a:pPr algn="l">
              <a:defRPr sz="1800" b="0">
                <a:solidFill>
                  <a:srgbClr val="252525"/>
                </a:solidFill>
                <a:latin typeface="Calibri"/>
                <a:ea typeface="Calibri"/>
                <a:cs typeface="Calibri"/>
              </a:defRPr>
            </a:pPr>
            <a:r>
              <a:rPr lang="en-US" sz="2000" b="0" noProof="0" dirty="0">
                <a:solidFill>
                  <a:srgbClr val="252525"/>
                </a:solidFill>
                <a:latin typeface="Calibri"/>
                <a:ea typeface="Calibri"/>
                <a:cs typeface="Calibri"/>
              </a:rPr>
              <a:t>damage inspection.</a:t>
            </a:r>
          </a:p>
        </p:txBody>
      </p:sp>
      <p:sp>
        <p:nvSpPr>
          <p:cNvPr id="2" name="Titolo 1">
            <a:extLst>
              <a:ext uri="{FF2B5EF4-FFF2-40B4-BE49-F238E27FC236}">
                <a16:creationId xmlns:a16="http://schemas.microsoft.com/office/drawing/2014/main" id="{439C9465-AFA3-A871-3C47-057862547A40}"/>
              </a:ext>
            </a:extLst>
          </p:cNvPr>
          <p:cNvSpPr>
            <a:spLocks noGrp="1"/>
          </p:cNvSpPr>
          <p:nvPr>
            <p:ph type="title"/>
          </p:nvPr>
        </p:nvSpPr>
        <p:spPr>
          <a:xfrm>
            <a:off x="838200" y="365125"/>
            <a:ext cx="8384177" cy="835787"/>
          </a:xfrm>
        </p:spPr>
        <p:txBody>
          <a:bodyPr/>
          <a:lstStyle/>
          <a:p>
            <a:r>
              <a:rPr lang="en-US" noProof="0" dirty="0">
                <a:solidFill>
                  <a:srgbClr val="822433"/>
                </a:solidFill>
              </a:rPr>
              <a:t>Future Work</a:t>
            </a:r>
          </a:p>
        </p:txBody>
      </p:sp>
      <p:sp>
        <p:nvSpPr>
          <p:cNvPr id="4" name="Google Shape;102;p14">
            <a:extLst>
              <a:ext uri="{FF2B5EF4-FFF2-40B4-BE49-F238E27FC236}">
                <a16:creationId xmlns:a16="http://schemas.microsoft.com/office/drawing/2014/main" id="{CABADCA2-FBDC-3F17-EAB3-72BAE5D0CCF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CA17F8C-08C6-2A09-B4C4-4FD5F8D22E6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Tree>
    <p:extLst>
      <p:ext uri="{BB962C8B-B14F-4D97-AF65-F5344CB8AC3E}">
        <p14:creationId xmlns:p14="http://schemas.microsoft.com/office/powerpoint/2010/main" val="357241780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CA24DDDD-3E7D-352D-39CE-05E259100A91}"/>
              </a:ext>
            </a:extLst>
          </p:cNvPr>
          <p:cNvSpPr>
            <a:spLocks noGrp="1"/>
          </p:cNvSpPr>
          <p:nvPr>
            <p:ph type="ctrTitle"/>
          </p:nvPr>
        </p:nvSpPr>
        <p:spPr/>
        <p:txBody>
          <a:bodyPr>
            <a:normAutofit/>
          </a:bodyPr>
          <a:lstStyle/>
          <a:p>
            <a:r>
              <a:rPr lang="en-US" sz="5400" noProof="0" dirty="0">
                <a:solidFill>
                  <a:srgbClr val="822433"/>
                </a:solidFill>
              </a:rPr>
              <a:t>Thank you for your attention</a:t>
            </a:r>
          </a:p>
        </p:txBody>
      </p:sp>
      <p:sp>
        <p:nvSpPr>
          <p:cNvPr id="3" name="Sottotitolo 2">
            <a:extLst>
              <a:ext uri="{FF2B5EF4-FFF2-40B4-BE49-F238E27FC236}">
                <a16:creationId xmlns:a16="http://schemas.microsoft.com/office/drawing/2014/main" id="{0800D48E-7799-4E3F-2241-A8646C7C67DB}"/>
              </a:ext>
            </a:extLst>
          </p:cNvPr>
          <p:cNvSpPr>
            <a:spLocks noGrp="1"/>
          </p:cNvSpPr>
          <p:nvPr>
            <p:ph type="subTitle" idx="1"/>
          </p:nvPr>
        </p:nvSpPr>
        <p:spPr/>
        <p:txBody>
          <a:bodyPr>
            <a:normAutofit/>
          </a:bodyPr>
          <a:lstStyle/>
          <a:p>
            <a:r>
              <a:rPr lang="en-US" sz="2800" noProof="0" dirty="0">
                <a:solidFill>
                  <a:srgbClr val="822433"/>
                </a:solidFill>
              </a:rPr>
              <a:t>Questions?</a:t>
            </a:r>
          </a:p>
        </p:txBody>
      </p:sp>
      <p:sp>
        <p:nvSpPr>
          <p:cNvPr id="4" name="TextBox 3">
            <a:extLst>
              <a:ext uri="{FF2B5EF4-FFF2-40B4-BE49-F238E27FC236}">
                <a16:creationId xmlns:a16="http://schemas.microsoft.com/office/drawing/2014/main" id="{6548035F-B0D3-808A-9245-DAED2703C2E6}"/>
              </a:ext>
            </a:extLst>
          </p:cNvPr>
          <p:cNvSpPr txBox="1"/>
          <p:nvPr/>
        </p:nvSpPr>
        <p:spPr>
          <a:xfrm>
            <a:off x="1524000" y="5550971"/>
            <a:ext cx="1181734" cy="369332"/>
          </a:xfrm>
          <a:prstGeom prst="rect">
            <a:avLst/>
          </a:prstGeom>
          <a:noFill/>
        </p:spPr>
        <p:txBody>
          <a:bodyPr wrap="none" rtlCol="0">
            <a:spAutoFit/>
          </a:bodyPr>
          <a:lstStyle/>
          <a:p>
            <a:r>
              <a:rPr lang="en-US" noProof="0" dirty="0"/>
              <a:t>QR GitHub</a:t>
            </a:r>
          </a:p>
        </p:txBody>
      </p:sp>
      <p:sp>
        <p:nvSpPr>
          <p:cNvPr id="5" name="TextBox 4">
            <a:extLst>
              <a:ext uri="{FF2B5EF4-FFF2-40B4-BE49-F238E27FC236}">
                <a16:creationId xmlns:a16="http://schemas.microsoft.com/office/drawing/2014/main" id="{C731605D-24BE-13B8-BEDF-A2965F41674D}"/>
              </a:ext>
            </a:extLst>
          </p:cNvPr>
          <p:cNvSpPr txBox="1"/>
          <p:nvPr/>
        </p:nvSpPr>
        <p:spPr>
          <a:xfrm>
            <a:off x="9315450" y="5523983"/>
            <a:ext cx="1133515" cy="369332"/>
          </a:xfrm>
          <a:prstGeom prst="rect">
            <a:avLst/>
          </a:prstGeom>
          <a:noFill/>
        </p:spPr>
        <p:txBody>
          <a:bodyPr wrap="none" rtlCol="0">
            <a:spAutoFit/>
          </a:bodyPr>
          <a:lstStyle/>
          <a:p>
            <a:r>
              <a:rPr lang="en-US" noProof="0" dirty="0"/>
              <a:t>QR Kaggle</a:t>
            </a:r>
          </a:p>
        </p:txBody>
      </p:sp>
      <p:pic>
        <p:nvPicPr>
          <p:cNvPr id="7" name="Immagine 6">
            <a:extLst>
              <a:ext uri="{FF2B5EF4-FFF2-40B4-BE49-F238E27FC236}">
                <a16:creationId xmlns:a16="http://schemas.microsoft.com/office/drawing/2014/main" id="{C75ECEB7-2709-5B8E-DBA1-25FB8050EBC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237154" y="4248440"/>
            <a:ext cx="2937160" cy="2202870"/>
          </a:xfrm>
          <a:prstGeom prst="rect">
            <a:avLst/>
          </a:prstGeom>
        </p:spPr>
      </p:pic>
      <p:pic>
        <p:nvPicPr>
          <p:cNvPr id="9" name="Immagine 8">
            <a:extLst>
              <a:ext uri="{FF2B5EF4-FFF2-40B4-BE49-F238E27FC236}">
                <a16:creationId xmlns:a16="http://schemas.microsoft.com/office/drawing/2014/main" id="{E618CC33-8C3A-C88B-02C5-420876C2A84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8022883" y="4248440"/>
            <a:ext cx="2937160" cy="2202868"/>
          </a:xfrm>
          <a:prstGeom prst="rect">
            <a:avLst/>
          </a:prstGeom>
        </p:spPr>
      </p:pic>
    </p:spTree>
    <p:extLst>
      <p:ext uri="{BB962C8B-B14F-4D97-AF65-F5344CB8AC3E}">
        <p14:creationId xmlns:p14="http://schemas.microsoft.com/office/powerpoint/2010/main" val="134604344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title">
            <a:extLst>
              <a:ext uri="{FF2B5EF4-FFF2-40B4-BE49-F238E27FC236}">
                <a16:creationId xmlns:a16="http://schemas.microsoft.com/office/drawing/2014/main" id="{11FAAC68-AECF-CAFA-AC40-DA4762FFC624}"/>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7" name="ref-number-1">
            <a:extLst>
              <a:ext uri="{FF2B5EF4-FFF2-40B4-BE49-F238E27FC236}">
                <a16:creationId xmlns:a16="http://schemas.microsoft.com/office/drawing/2014/main" id="{D50755D4-B4E1-65DD-504A-4F2865A756CA}"/>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a:t>
            </a:r>
          </a:p>
        </p:txBody>
      </p:sp>
      <p:sp>
        <p:nvSpPr>
          <p:cNvPr id="9" name="ref-venue-1">
            <a:extLst>
              <a:ext uri="{FF2B5EF4-FFF2-40B4-BE49-F238E27FC236}">
                <a16:creationId xmlns:a16="http://schemas.microsoft.com/office/drawing/2014/main" id="{9A3DBDDA-9EE5-30F6-6C93-C609B598A47B}"/>
              </a:ext>
            </a:extLst>
          </p:cNvPr>
          <p:cNvSpPr>
            <a:spLocks noGrp="1"/>
          </p:cNvSpPr>
          <p:nvPr/>
        </p:nvSpPr>
        <p:spPr>
          <a:xfrm>
            <a:off x="1409700" y="16611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On a Mission, Season 4, Episode 8, 25 August 2022.</a:t>
            </a:r>
          </a:p>
        </p:txBody>
      </p:sp>
      <p:sp>
        <p:nvSpPr>
          <p:cNvPr id="11" name="ref-link-1">
            <a:extLst>
              <a:ext uri="{FF2B5EF4-FFF2-40B4-BE49-F238E27FC236}">
                <a16:creationId xmlns:a16="http://schemas.microsoft.com/office/drawing/2014/main" id="{24A6E2EC-21AA-1DAF-ED0A-BA3D9031ABD8}"/>
              </a:ext>
            </a:extLst>
          </p:cNvPr>
          <p:cNvSpPr>
            <a:spLocks noGrp="1"/>
          </p:cNvSpPr>
          <p:nvPr/>
        </p:nvSpPr>
        <p:spPr>
          <a:xfrm>
            <a:off x="1409700" y="18802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3"/>
              </a:rPr>
              <a:t>jpl.nasa.gov, On a Mission, S4 E8</a:t>
            </a:r>
          </a:p>
        </p:txBody>
      </p:sp>
      <p:sp>
        <p:nvSpPr>
          <p:cNvPr id="13" name="ref-number-2">
            <a:extLst>
              <a:ext uri="{FF2B5EF4-FFF2-40B4-BE49-F238E27FC236}">
                <a16:creationId xmlns:a16="http://schemas.microsoft.com/office/drawing/2014/main" id="{D55F48A7-441D-7F69-04A9-72E95C14352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a:t>
            </a:r>
          </a:p>
        </p:txBody>
      </p:sp>
      <p:sp>
        <p:nvSpPr>
          <p:cNvPr id="15" name="ref-venue-2">
            <a:extLst>
              <a:ext uri="{FF2B5EF4-FFF2-40B4-BE49-F238E27FC236}">
                <a16:creationId xmlns:a16="http://schemas.microsoft.com/office/drawing/2014/main" id="{4CBED393-95E4-3EB9-C029-02170483DE12}"/>
              </a:ext>
            </a:extLst>
          </p:cNvPr>
          <p:cNvSpPr>
            <a:spLocks noGrp="1"/>
          </p:cNvSpPr>
          <p:nvPr/>
        </p:nvSpPr>
        <p:spPr>
          <a:xfrm>
            <a:off x="1409700" y="2619375"/>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Aerospace Conference, 2022, pp. 1–19.</a:t>
            </a:r>
          </a:p>
        </p:txBody>
      </p:sp>
      <p:sp>
        <p:nvSpPr>
          <p:cNvPr id="17" name="ref-link-2">
            <a:extLst>
              <a:ext uri="{FF2B5EF4-FFF2-40B4-BE49-F238E27FC236}">
                <a16:creationId xmlns:a16="http://schemas.microsoft.com/office/drawing/2014/main" id="{984AE361-FE62-52A9-BF4D-91C9D8195ABA}"/>
              </a:ext>
            </a:extLst>
          </p:cNvPr>
          <p:cNvSpPr>
            <a:spLocks noGrp="1"/>
          </p:cNvSpPr>
          <p:nvPr/>
        </p:nvSpPr>
        <p:spPr>
          <a:xfrm>
            <a:off x="1409700" y="2838450"/>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robotics.jpl.nasa.gov, fmwi-rankin-2022-0225-final.pdf</a:t>
            </a:r>
          </a:p>
        </p:txBody>
      </p:sp>
      <p:sp>
        <p:nvSpPr>
          <p:cNvPr id="19" name="ref-number-3">
            <a:extLst>
              <a:ext uri="{FF2B5EF4-FFF2-40B4-BE49-F238E27FC236}">
                <a16:creationId xmlns:a16="http://schemas.microsoft.com/office/drawing/2014/main" id="{C611492B-0942-5E6D-A907-E73FF1A2384F}"/>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[3]</a:t>
            </a:r>
          </a:p>
        </p:txBody>
      </p:sp>
      <p:sp>
        <p:nvSpPr>
          <p:cNvPr id="21" name="ref-venue-3">
            <a:extLst>
              <a:ext uri="{FF2B5EF4-FFF2-40B4-BE49-F238E27FC236}">
                <a16:creationId xmlns:a16="http://schemas.microsoft.com/office/drawing/2014/main" id="{0C546CD6-B2A4-5591-2F6C-8AF4F8AF97D0}"/>
              </a:ext>
            </a:extLst>
          </p:cNvPr>
          <p:cNvSpPr>
            <a:spLocks noGrp="1"/>
          </p:cNvSpPr>
          <p:nvPr/>
        </p:nvSpPr>
        <p:spPr>
          <a:xfrm>
            <a:off x="1409700" y="36195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NASA Science, 27 April 2016. Image PIA20334.</a:t>
            </a:r>
          </a:p>
        </p:txBody>
      </p:sp>
      <p:sp>
        <p:nvSpPr>
          <p:cNvPr id="23" name="ref-link-3">
            <a:extLst>
              <a:ext uri="{FF2B5EF4-FFF2-40B4-BE49-F238E27FC236}">
                <a16:creationId xmlns:a16="http://schemas.microsoft.com/office/drawing/2014/main" id="{093EA0D9-A04B-7576-4AE1-663BC3FAB39F}"/>
              </a:ext>
            </a:extLst>
          </p:cNvPr>
          <p:cNvSpPr>
            <a:spLocks noGrp="1"/>
          </p:cNvSpPr>
          <p:nvPr/>
        </p:nvSpPr>
        <p:spPr>
          <a:xfrm>
            <a:off x="1409700" y="38385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science.nasa.gov/resource/routine-inspection-of-rover-wheel-wear-and-tear/</a:t>
            </a:r>
          </a:p>
        </p:txBody>
      </p:sp>
      <p:sp>
        <p:nvSpPr>
          <p:cNvPr id="25" name="ref-number-4">
            <a:extLst>
              <a:ext uri="{FF2B5EF4-FFF2-40B4-BE49-F238E27FC236}">
                <a16:creationId xmlns:a16="http://schemas.microsoft.com/office/drawing/2014/main" id="{2D1FF007-E8BE-C0DA-2CB9-26D4EC5AA1C4}"/>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[4]</a:t>
            </a:r>
          </a:p>
        </p:txBody>
      </p:sp>
      <p:sp>
        <p:nvSpPr>
          <p:cNvPr id="27" name="ref-venue-4">
            <a:extLst>
              <a:ext uri="{FF2B5EF4-FFF2-40B4-BE49-F238E27FC236}">
                <a16:creationId xmlns:a16="http://schemas.microsoft.com/office/drawing/2014/main" id="{C417F74B-C6C3-4725-C3A2-8AADF0C0FCBA}"/>
              </a:ext>
            </a:extLst>
          </p:cNvPr>
          <p:cNvSpPr>
            <a:spLocks noGrp="1"/>
          </p:cNvSpPr>
          <p:nvPr/>
        </p:nvSpPr>
        <p:spPr>
          <a:xfrm>
            <a:off x="1409700" y="45910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 Transactions on Geoscience and Remote Sensing, vol. 62, 2024.</a:t>
            </a:r>
          </a:p>
        </p:txBody>
      </p:sp>
      <p:sp>
        <p:nvSpPr>
          <p:cNvPr id="29" name="ref-link-4">
            <a:extLst>
              <a:ext uri="{FF2B5EF4-FFF2-40B4-BE49-F238E27FC236}">
                <a16:creationId xmlns:a16="http://schemas.microsoft.com/office/drawing/2014/main" id="{7C82B286-6523-E1AD-FFB4-E1AA8D8F75CE}"/>
              </a:ext>
            </a:extLst>
          </p:cNvPr>
          <p:cNvSpPr>
            <a:spLocks noGrp="1"/>
          </p:cNvSpPr>
          <p:nvPr/>
        </p:nvSpPr>
        <p:spPr>
          <a:xfrm>
            <a:off x="1409700" y="48101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10.1109/TGRS.2024.3386756</a:t>
            </a:r>
          </a:p>
        </p:txBody>
      </p:sp>
      <p:sp>
        <p:nvSpPr>
          <p:cNvPr id="31" name="ref-number-5">
            <a:extLst>
              <a:ext uri="{FF2B5EF4-FFF2-40B4-BE49-F238E27FC236}">
                <a16:creationId xmlns:a16="http://schemas.microsoft.com/office/drawing/2014/main" id="{2EE45169-9D4A-B330-5141-F63ACE6B7E6B}"/>
              </a:ext>
            </a:extLst>
          </p:cNvPr>
          <p:cNvSpPr>
            <a:spLocks noGrp="1"/>
          </p:cNvSpPr>
          <p:nvPr/>
        </p:nvSpPr>
        <p:spPr>
          <a:xfrm>
            <a:off x="762000" y="542353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[5]</a:t>
            </a:r>
          </a:p>
        </p:txBody>
      </p:sp>
      <p:sp>
        <p:nvSpPr>
          <p:cNvPr id="33" name="ref-venue-5">
            <a:extLst>
              <a:ext uri="{FF2B5EF4-FFF2-40B4-BE49-F238E27FC236}">
                <a16:creationId xmlns:a16="http://schemas.microsoft.com/office/drawing/2014/main" id="{B4BD0FC3-3765-F007-8439-2EC257514D41}"/>
              </a:ext>
            </a:extLst>
          </p:cNvPr>
          <p:cNvSpPr>
            <a:spLocks noGrp="1"/>
          </p:cNvSpPr>
          <p:nvPr/>
        </p:nvSpPr>
        <p:spPr>
          <a:xfrm>
            <a:off x="1409700" y="566166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NeurIPS, Datasets and Benchmarks Track, 2025.</a:t>
            </a:r>
          </a:p>
        </p:txBody>
      </p:sp>
      <p:sp>
        <p:nvSpPr>
          <p:cNvPr id="35" name="ref-link-5">
            <a:extLst>
              <a:ext uri="{FF2B5EF4-FFF2-40B4-BE49-F238E27FC236}">
                <a16:creationId xmlns:a16="http://schemas.microsoft.com/office/drawing/2014/main" id="{3C667E7A-1303-5AD7-A76E-CFA7C9ACC0E9}"/>
              </a:ext>
            </a:extLst>
          </p:cNvPr>
          <p:cNvSpPr>
            <a:spLocks noGrp="1"/>
          </p:cNvSpPr>
          <p:nvPr/>
        </p:nvSpPr>
        <p:spPr>
          <a:xfrm>
            <a:off x="1409700" y="588073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10.52202/085713-4098</a:t>
            </a:r>
          </a:p>
        </p:txBody>
      </p:sp>
      <p:sp>
        <p:nvSpPr>
          <p:cNvPr id="69" name="ref-title-1">
            <a:extLst>
              <a:ext uri="{FF2B5EF4-FFF2-40B4-BE49-F238E27FC236}">
                <a16:creationId xmlns:a16="http://schemas.microsoft.com/office/drawing/2014/main" id="{F7A6C1EC-2256-D2C6-D031-0E00C75D45AE}"/>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Jet Propulsion Laboratory. How to Drive a Mars Rover.</a:t>
            </a:r>
          </a:p>
        </p:txBody>
      </p:sp>
      <p:sp>
        <p:nvSpPr>
          <p:cNvPr id="71" name="ref-title-2">
            <a:extLst>
              <a:ext uri="{FF2B5EF4-FFF2-40B4-BE49-F238E27FC236}">
                <a16:creationId xmlns:a16="http://schemas.microsoft.com/office/drawing/2014/main" id="{C3263381-F1DA-58F3-4F31-DC8C35BB01E8}"/>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A. Rankin et al. Assessing Mars Curiosity Rover Wheel Damage.</a:t>
            </a:r>
          </a:p>
        </p:txBody>
      </p:sp>
      <p:sp>
        <p:nvSpPr>
          <p:cNvPr id="73" name="ref-title-3">
            <a:extLst>
              <a:ext uri="{FF2B5EF4-FFF2-40B4-BE49-F238E27FC236}">
                <a16:creationId xmlns:a16="http://schemas.microsoft.com/office/drawing/2014/main" id="{2656BE13-A19E-D028-2960-41FD285C71E6}"/>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Routine Inspection of Rover Wheel Wear and Tear.</a:t>
            </a:r>
          </a:p>
        </p:txBody>
      </p:sp>
      <p:sp>
        <p:nvSpPr>
          <p:cNvPr id="75" name="ref-title-4">
            <a:extLst>
              <a:ext uri="{FF2B5EF4-FFF2-40B4-BE49-F238E27FC236}">
                <a16:creationId xmlns:a16="http://schemas.microsoft.com/office/drawing/2014/main" id="{1BAC2FE3-8211-36CF-8850-BF0F83ECD79C}"/>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Zhang et al. S⁵Mars: Semi-Supervised Learning for Mars Semantic Segmentation.</a:t>
            </a:r>
          </a:p>
        </p:txBody>
      </p:sp>
      <p:sp>
        <p:nvSpPr>
          <p:cNvPr id="77" name="ref-title-5">
            <a:extLst>
              <a:ext uri="{FF2B5EF4-FFF2-40B4-BE49-F238E27FC236}">
                <a16:creationId xmlns:a16="http://schemas.microsoft.com/office/drawing/2014/main" id="{F9485071-B946-77AC-B470-AE0619F88C79}"/>
              </a:ext>
            </a:extLst>
          </p:cNvPr>
          <p:cNvSpPr>
            <a:spLocks noGrp="1"/>
          </p:cNvSpPr>
          <p:nvPr/>
        </p:nvSpPr>
        <p:spPr>
          <a:xfrm>
            <a:off x="1409700" y="542353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M. Purohit et al. Mars-Bench: A Benchmark for Evaluating Foundation Models for Mars Science Tasks.</a:t>
            </a:r>
          </a:p>
        </p:txBody>
      </p:sp>
    </p:spTree>
    <p:extLst>
      <p:ext uri="{BB962C8B-B14F-4D97-AF65-F5344CB8AC3E}">
        <p14:creationId xmlns:p14="http://schemas.microsoft.com/office/powerpoint/2010/main" val="405851421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5FA7A4-2D70-A483-E334-948C47D5A11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E76EB4E8-00F3-F458-0AAD-B82EF38CAF42}"/>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6">
            <a:extLst>
              <a:ext uri="{FF2B5EF4-FFF2-40B4-BE49-F238E27FC236}">
                <a16:creationId xmlns:a16="http://schemas.microsoft.com/office/drawing/2014/main" id="{0821FF25-ECD2-F4D9-F150-CBC60522B100}"/>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[6]</a:t>
            </a:r>
          </a:p>
        </p:txBody>
      </p:sp>
      <p:sp>
        <p:nvSpPr>
          <p:cNvPr id="6" name="ref-title-6">
            <a:extLst>
              <a:ext uri="{FF2B5EF4-FFF2-40B4-BE49-F238E27FC236}">
                <a16:creationId xmlns:a16="http://schemas.microsoft.com/office/drawing/2014/main" id="{297A56C7-9061-098D-3131-FA7C18DC6853}"/>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O. Ronneberger, P. Fischer and T. Brox. U-Net: Convolutional Networks for Biomedical Image Segmentation.</a:t>
            </a:r>
          </a:p>
        </p:txBody>
      </p:sp>
      <p:sp>
        <p:nvSpPr>
          <p:cNvPr id="10" name="ref-venue-6">
            <a:extLst>
              <a:ext uri="{FF2B5EF4-FFF2-40B4-BE49-F238E27FC236}">
                <a16:creationId xmlns:a16="http://schemas.microsoft.com/office/drawing/2014/main" id="{9AAA3DC0-381C-A5F8-8CDC-3A1EA4B4937B}"/>
              </a:ext>
            </a:extLst>
          </p:cNvPr>
          <p:cNvSpPr>
            <a:spLocks noGrp="1"/>
          </p:cNvSpPr>
          <p:nvPr/>
        </p:nvSpPr>
        <p:spPr>
          <a:xfrm>
            <a:off x="1409700" y="16495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MICCAI, 2015, pp. 234–241.</a:t>
            </a:r>
          </a:p>
        </p:txBody>
      </p:sp>
      <p:sp>
        <p:nvSpPr>
          <p:cNvPr id="14" name="ref-link-6">
            <a:extLst>
              <a:ext uri="{FF2B5EF4-FFF2-40B4-BE49-F238E27FC236}">
                <a16:creationId xmlns:a16="http://schemas.microsoft.com/office/drawing/2014/main" id="{53B0F193-568C-EAD1-5CE2-84CA26A8B470}"/>
              </a:ext>
            </a:extLst>
          </p:cNvPr>
          <p:cNvSpPr>
            <a:spLocks noGrp="1"/>
          </p:cNvSpPr>
          <p:nvPr/>
        </p:nvSpPr>
        <p:spPr>
          <a:xfrm>
            <a:off x="1409700" y="18686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err="1">
                <a:solidFill>
                  <a:srgbClr val="822433"/>
                </a:solidFill>
                <a:latin typeface="Roboto"/>
                <a:ea typeface="Roboto"/>
                <a:cs typeface="Roboto"/>
                <a:hlinkClick r:id="rId3"/>
              </a:rPr>
              <a:t>doi</a:t>
            </a:r>
            <a:r>
              <a:rPr lang="en-US" sz="1275" b="0" dirty="0">
                <a:solidFill>
                  <a:srgbClr val="822433"/>
                </a:solidFill>
                <a:latin typeface="Roboto"/>
                <a:ea typeface="Roboto"/>
                <a:cs typeface="Roboto"/>
                <a:hlinkClick r:id="rId3"/>
              </a:rPr>
              <a:t>: 10.1007/978-3-319-24574-4_28</a:t>
            </a:r>
          </a:p>
        </p:txBody>
      </p:sp>
      <p:sp>
        <p:nvSpPr>
          <p:cNvPr id="18" name="ref-number-7">
            <a:extLst>
              <a:ext uri="{FF2B5EF4-FFF2-40B4-BE49-F238E27FC236}">
                <a16:creationId xmlns:a16="http://schemas.microsoft.com/office/drawing/2014/main" id="{D24575B9-18DE-0F01-BC21-49C24CB2777B}"/>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[7]</a:t>
            </a:r>
          </a:p>
        </p:txBody>
      </p:sp>
      <p:sp>
        <p:nvSpPr>
          <p:cNvPr id="22" name="ref-title-7">
            <a:extLst>
              <a:ext uri="{FF2B5EF4-FFF2-40B4-BE49-F238E27FC236}">
                <a16:creationId xmlns:a16="http://schemas.microsoft.com/office/drawing/2014/main" id="{CEF36257-7668-348F-51B1-CD13545A3062}"/>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Rethinking Atrous Convolution for Semantic Image Segmentation.</a:t>
            </a:r>
          </a:p>
        </p:txBody>
      </p:sp>
      <p:sp>
        <p:nvSpPr>
          <p:cNvPr id="26" name="ref-venue-7">
            <a:extLst>
              <a:ext uri="{FF2B5EF4-FFF2-40B4-BE49-F238E27FC236}">
                <a16:creationId xmlns:a16="http://schemas.microsoft.com/office/drawing/2014/main" id="{F880F072-8991-F778-8255-43B3C18CBAE5}"/>
              </a:ext>
            </a:extLst>
          </p:cNvPr>
          <p:cNvSpPr>
            <a:spLocks noGrp="1"/>
          </p:cNvSpPr>
          <p:nvPr/>
        </p:nvSpPr>
        <p:spPr>
          <a:xfrm>
            <a:off x="1409700" y="263323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arXiv:1706.05587, 2017.</a:t>
            </a:r>
          </a:p>
        </p:txBody>
      </p:sp>
      <p:sp>
        <p:nvSpPr>
          <p:cNvPr id="30" name="ref-link-7">
            <a:extLst>
              <a:ext uri="{FF2B5EF4-FFF2-40B4-BE49-F238E27FC236}">
                <a16:creationId xmlns:a16="http://schemas.microsoft.com/office/drawing/2014/main" id="{FCB372AD-8AF8-4DCE-37E9-23DE7325BA2F}"/>
              </a:ext>
            </a:extLst>
          </p:cNvPr>
          <p:cNvSpPr>
            <a:spLocks noGrp="1"/>
          </p:cNvSpPr>
          <p:nvPr/>
        </p:nvSpPr>
        <p:spPr>
          <a:xfrm>
            <a:off x="1409700" y="285230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arxiv.org/abs/1706.05587</a:t>
            </a:r>
          </a:p>
        </p:txBody>
      </p:sp>
      <p:sp>
        <p:nvSpPr>
          <p:cNvPr id="34" name="ref-number-8">
            <a:extLst>
              <a:ext uri="{FF2B5EF4-FFF2-40B4-BE49-F238E27FC236}">
                <a16:creationId xmlns:a16="http://schemas.microsoft.com/office/drawing/2014/main" id="{4499402C-6023-07DA-17A8-B73FF0A8C28A}"/>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[8]</a:t>
            </a:r>
          </a:p>
        </p:txBody>
      </p:sp>
      <p:sp>
        <p:nvSpPr>
          <p:cNvPr id="37" name="ref-title-8">
            <a:extLst>
              <a:ext uri="{FF2B5EF4-FFF2-40B4-BE49-F238E27FC236}">
                <a16:creationId xmlns:a16="http://schemas.microsoft.com/office/drawing/2014/main" id="{1FEF7ADE-0A42-982B-8D4E-2DE087A0D36D}"/>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L.-C. Chen et al. Encoder-Decoder with Atrous Separable Convolution for Semantic Image Segmentation.</a:t>
            </a:r>
          </a:p>
        </p:txBody>
      </p:sp>
      <p:sp>
        <p:nvSpPr>
          <p:cNvPr id="39" name="ref-venue-8">
            <a:extLst>
              <a:ext uri="{FF2B5EF4-FFF2-40B4-BE49-F238E27FC236}">
                <a16:creationId xmlns:a16="http://schemas.microsoft.com/office/drawing/2014/main" id="{93F68481-2A7A-CAF7-A9CA-26FAB4A4CF3F}"/>
              </a:ext>
            </a:extLst>
          </p:cNvPr>
          <p:cNvSpPr>
            <a:spLocks noGrp="1"/>
          </p:cNvSpPr>
          <p:nvPr/>
        </p:nvSpPr>
        <p:spPr>
          <a:xfrm>
            <a:off x="1409700" y="359265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ECCV, 2018, pp. 833–851.</a:t>
            </a:r>
          </a:p>
        </p:txBody>
      </p:sp>
      <p:sp>
        <p:nvSpPr>
          <p:cNvPr id="41" name="ref-link-8">
            <a:extLst>
              <a:ext uri="{FF2B5EF4-FFF2-40B4-BE49-F238E27FC236}">
                <a16:creationId xmlns:a16="http://schemas.microsoft.com/office/drawing/2014/main" id="{9544EA9A-86B7-BBF0-E609-160FA64BBAFC}"/>
              </a:ext>
            </a:extLst>
          </p:cNvPr>
          <p:cNvSpPr>
            <a:spLocks noGrp="1"/>
          </p:cNvSpPr>
          <p:nvPr/>
        </p:nvSpPr>
        <p:spPr>
          <a:xfrm>
            <a:off x="1409700" y="381173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10.1007/978-3-030-01234-2_49</a:t>
            </a:r>
          </a:p>
        </p:txBody>
      </p:sp>
      <p:sp>
        <p:nvSpPr>
          <p:cNvPr id="43" name="ref-number-9">
            <a:extLst>
              <a:ext uri="{FF2B5EF4-FFF2-40B4-BE49-F238E27FC236}">
                <a16:creationId xmlns:a16="http://schemas.microsoft.com/office/drawing/2014/main" id="{C730D5B4-0AC9-A910-1955-5B5501ECBEB2}"/>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[9]</a:t>
            </a:r>
          </a:p>
        </p:txBody>
      </p:sp>
      <p:sp>
        <p:nvSpPr>
          <p:cNvPr id="45" name="ref-title-9">
            <a:extLst>
              <a:ext uri="{FF2B5EF4-FFF2-40B4-BE49-F238E27FC236}">
                <a16:creationId xmlns:a16="http://schemas.microsoft.com/office/drawing/2014/main" id="{148C544D-2D22-F2E2-591B-54FB35A1F30E}"/>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E. Xie et al. SegFormer: Simple and Efficient Design for Semantic Segmentation with Transformers.</a:t>
            </a:r>
          </a:p>
        </p:txBody>
      </p:sp>
      <p:sp>
        <p:nvSpPr>
          <p:cNvPr id="47" name="ref-venue-9">
            <a:extLst>
              <a:ext uri="{FF2B5EF4-FFF2-40B4-BE49-F238E27FC236}">
                <a16:creationId xmlns:a16="http://schemas.microsoft.com/office/drawing/2014/main" id="{EECB0CBB-A035-8C10-62C3-3D41A3AA4B1F}"/>
              </a:ext>
            </a:extLst>
          </p:cNvPr>
          <p:cNvSpPr>
            <a:spLocks noGrp="1"/>
          </p:cNvSpPr>
          <p:nvPr/>
        </p:nvSpPr>
        <p:spPr>
          <a:xfrm>
            <a:off x="1409700" y="4579793"/>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err="1">
                <a:solidFill>
                  <a:srgbClr val="656B73"/>
                </a:solidFill>
                <a:latin typeface="Roboto"/>
                <a:ea typeface="Roboto"/>
                <a:cs typeface="Roboto"/>
              </a:rPr>
              <a:t>NeurIPS</a:t>
            </a:r>
            <a:r>
              <a:rPr lang="en-US" sz="1313" b="0" dirty="0">
                <a:solidFill>
                  <a:srgbClr val="656B73"/>
                </a:solidFill>
                <a:latin typeface="Roboto"/>
                <a:ea typeface="Roboto"/>
                <a:cs typeface="Roboto"/>
              </a:rPr>
              <a:t>, vol. 34, 2021, pp. 12077–12090.</a:t>
            </a:r>
          </a:p>
        </p:txBody>
      </p:sp>
      <p:sp>
        <p:nvSpPr>
          <p:cNvPr id="49" name="ref-link-9">
            <a:extLst>
              <a:ext uri="{FF2B5EF4-FFF2-40B4-BE49-F238E27FC236}">
                <a16:creationId xmlns:a16="http://schemas.microsoft.com/office/drawing/2014/main" id="{CC9DC076-C5AB-84BB-6982-441CD70B6F46}"/>
              </a:ext>
            </a:extLst>
          </p:cNvPr>
          <p:cNvSpPr>
            <a:spLocks noGrp="1"/>
          </p:cNvSpPr>
          <p:nvPr/>
        </p:nvSpPr>
        <p:spPr>
          <a:xfrm>
            <a:off x="1409700" y="4798868"/>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arxiv.org/abs/2105.15203</a:t>
            </a:r>
          </a:p>
        </p:txBody>
      </p:sp>
      <p:sp>
        <p:nvSpPr>
          <p:cNvPr id="51" name="ref-number-10">
            <a:extLst>
              <a:ext uri="{FF2B5EF4-FFF2-40B4-BE49-F238E27FC236}">
                <a16:creationId xmlns:a16="http://schemas.microsoft.com/office/drawing/2014/main" id="{F1CF2FC5-9EA2-537B-8DBA-61E73F56DB5F}"/>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[10]</a:t>
            </a:r>
          </a:p>
        </p:txBody>
      </p:sp>
      <p:sp>
        <p:nvSpPr>
          <p:cNvPr id="53" name="ref-title-10">
            <a:extLst>
              <a:ext uri="{FF2B5EF4-FFF2-40B4-BE49-F238E27FC236}">
                <a16:creationId xmlns:a16="http://schemas.microsoft.com/office/drawing/2014/main" id="{84E8B91A-ED19-1731-5EB4-2285CE38C9DC}"/>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M. Shi et al. Lightweight Context-Aware Network Using Partial-Channel Transformation for Real-Time Semantic Segmentation.</a:t>
            </a:r>
          </a:p>
        </p:txBody>
      </p:sp>
      <p:sp>
        <p:nvSpPr>
          <p:cNvPr id="55" name="ref-venue-10">
            <a:extLst>
              <a:ext uri="{FF2B5EF4-FFF2-40B4-BE49-F238E27FC236}">
                <a16:creationId xmlns:a16="http://schemas.microsoft.com/office/drawing/2014/main" id="{B37CCFF1-E1B8-BC42-4E2A-291E470FFA2A}"/>
              </a:ext>
            </a:extLst>
          </p:cNvPr>
          <p:cNvSpPr>
            <a:spLocks noGrp="1"/>
          </p:cNvSpPr>
          <p:nvPr/>
        </p:nvSpPr>
        <p:spPr>
          <a:xfrm>
            <a:off x="1409700" y="57912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IEEE Transactions on Intelligent Transportation Systems, 25(7), 2024.</a:t>
            </a:r>
          </a:p>
        </p:txBody>
      </p:sp>
      <p:sp>
        <p:nvSpPr>
          <p:cNvPr id="57" name="ref-link-10">
            <a:extLst>
              <a:ext uri="{FF2B5EF4-FFF2-40B4-BE49-F238E27FC236}">
                <a16:creationId xmlns:a16="http://schemas.microsoft.com/office/drawing/2014/main" id="{22646CC2-4C05-842B-FEC0-FC9648FA9AA7}"/>
              </a:ext>
            </a:extLst>
          </p:cNvPr>
          <p:cNvSpPr>
            <a:spLocks noGrp="1"/>
          </p:cNvSpPr>
          <p:nvPr/>
        </p:nvSpPr>
        <p:spPr>
          <a:xfrm>
            <a:off x="1409700" y="60102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10.1109/TITS.2023.3348631</a:t>
            </a:r>
          </a:p>
        </p:txBody>
      </p:sp>
    </p:spTree>
    <p:extLst>
      <p:ext uri="{BB962C8B-B14F-4D97-AF65-F5344CB8AC3E}">
        <p14:creationId xmlns:p14="http://schemas.microsoft.com/office/powerpoint/2010/main" val="7405035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27F767-E65D-BD54-9A7B-3974EE4C2CE1}"/>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C680000B-601D-6466-9E1B-4D1A19FA2AE6}"/>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3" name="ref-number-11">
            <a:extLst>
              <a:ext uri="{FF2B5EF4-FFF2-40B4-BE49-F238E27FC236}">
                <a16:creationId xmlns:a16="http://schemas.microsoft.com/office/drawing/2014/main" id="{565BEFDF-341E-CDC0-A8F6-3F63D7B75A2B}"/>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[11]</a:t>
            </a:r>
          </a:p>
        </p:txBody>
      </p:sp>
      <p:sp>
        <p:nvSpPr>
          <p:cNvPr id="6" name="ref-title-11">
            <a:extLst>
              <a:ext uri="{FF2B5EF4-FFF2-40B4-BE49-F238E27FC236}">
                <a16:creationId xmlns:a16="http://schemas.microsoft.com/office/drawing/2014/main" id="{325CAD5A-E533-9F40-367A-4B2AF0848C6B}"/>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Jacob et al. Quantization and Training of Neural Networks for Efficient Integer-Arithmetic-Only Inference.</a:t>
            </a:r>
          </a:p>
        </p:txBody>
      </p:sp>
      <p:sp>
        <p:nvSpPr>
          <p:cNvPr id="10" name="ref-venue-11">
            <a:extLst>
              <a:ext uri="{FF2B5EF4-FFF2-40B4-BE49-F238E27FC236}">
                <a16:creationId xmlns:a16="http://schemas.microsoft.com/office/drawing/2014/main" id="{89802A4F-8B9F-B632-B6D5-53DE2B93A602}"/>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dirty="0">
                <a:solidFill>
                  <a:srgbClr val="656B73"/>
                </a:solidFill>
                <a:latin typeface="Roboto"/>
                <a:ea typeface="Roboto"/>
                <a:cs typeface="Roboto"/>
              </a:rPr>
              <a:t>CVPR, 2018, pp. 2704–2713.</a:t>
            </a:r>
          </a:p>
        </p:txBody>
      </p:sp>
      <p:sp>
        <p:nvSpPr>
          <p:cNvPr id="14" name="ref-link-11">
            <a:extLst>
              <a:ext uri="{FF2B5EF4-FFF2-40B4-BE49-F238E27FC236}">
                <a16:creationId xmlns:a16="http://schemas.microsoft.com/office/drawing/2014/main" id="{29F9B77A-7FD7-99DF-C07C-EE8EB59EB011}"/>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arxiv.org/abs/1712.05877</a:t>
            </a:r>
          </a:p>
        </p:txBody>
      </p:sp>
      <p:sp>
        <p:nvSpPr>
          <p:cNvPr id="18" name="ref-number-12">
            <a:extLst>
              <a:ext uri="{FF2B5EF4-FFF2-40B4-BE49-F238E27FC236}">
                <a16:creationId xmlns:a16="http://schemas.microsoft.com/office/drawing/2014/main" id="{DE8B9118-5DF0-9F8A-04E5-641884AE3C53}"/>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[12]</a:t>
            </a:r>
          </a:p>
        </p:txBody>
      </p:sp>
      <p:sp>
        <p:nvSpPr>
          <p:cNvPr id="22" name="ref-title-12">
            <a:extLst>
              <a:ext uri="{FF2B5EF4-FFF2-40B4-BE49-F238E27FC236}">
                <a16:creationId xmlns:a16="http://schemas.microsoft.com/office/drawing/2014/main" id="{F024849A-4BE0-559D-9683-4B0DE8801825}"/>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NASA Visualization Technology Applications and Development. Curiosity 3D Model.</a:t>
            </a:r>
          </a:p>
        </p:txBody>
      </p:sp>
      <p:sp>
        <p:nvSpPr>
          <p:cNvPr id="26" name="ref-venue-12">
            <a:extLst>
              <a:ext uri="{FF2B5EF4-FFF2-40B4-BE49-F238E27FC236}">
                <a16:creationId xmlns:a16="http://schemas.microsoft.com/office/drawing/2014/main" id="{76BE68B3-154F-2175-3927-FE070B2D1F2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NASA Science, 22 April 2019.</a:t>
            </a:r>
          </a:p>
        </p:txBody>
      </p:sp>
      <p:sp>
        <p:nvSpPr>
          <p:cNvPr id="30" name="ref-link-12">
            <a:extLst>
              <a:ext uri="{FF2B5EF4-FFF2-40B4-BE49-F238E27FC236}">
                <a16:creationId xmlns:a16="http://schemas.microsoft.com/office/drawing/2014/main" id="{CF711D89-6489-0356-A22E-DDE749EA9523}"/>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science.nasa.gov/resource/curiosity-3d-model/</a:t>
            </a:r>
          </a:p>
        </p:txBody>
      </p:sp>
      <p:sp>
        <p:nvSpPr>
          <p:cNvPr id="34" name="ref-number-13">
            <a:extLst>
              <a:ext uri="{FF2B5EF4-FFF2-40B4-BE49-F238E27FC236}">
                <a16:creationId xmlns:a16="http://schemas.microsoft.com/office/drawing/2014/main" id="{FE3F6B81-D87E-A447-565F-F8DF8849AD48}"/>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[13]</a:t>
            </a:r>
          </a:p>
        </p:txBody>
      </p:sp>
      <p:sp>
        <p:nvSpPr>
          <p:cNvPr id="37" name="ref-title-13">
            <a:extLst>
              <a:ext uri="{FF2B5EF4-FFF2-40B4-BE49-F238E27FC236}">
                <a16:creationId xmlns:a16="http://schemas.microsoft.com/office/drawing/2014/main" id="{1AC1527C-3165-EB7F-3CAF-05431708A481}"/>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HiRISE. Possible MSL Landing Site in Gale Crater.</a:t>
            </a:r>
          </a:p>
        </p:txBody>
      </p:sp>
      <p:sp>
        <p:nvSpPr>
          <p:cNvPr id="39" name="ref-venue-13">
            <a:extLst>
              <a:ext uri="{FF2B5EF4-FFF2-40B4-BE49-F238E27FC236}">
                <a16:creationId xmlns:a16="http://schemas.microsoft.com/office/drawing/2014/main" id="{87625E2A-1C63-2266-6C91-CD73BFA32D1D}"/>
              </a:ext>
            </a:extLst>
          </p:cNvPr>
          <p:cNvSpPr>
            <a:spLocks noGrp="1"/>
          </p:cNvSpPr>
          <p:nvPr/>
        </p:nvSpPr>
        <p:spPr>
          <a:xfrm>
            <a:off x="1409700" y="35766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DTM and orthoimage, PSP_010573_1755 and PSP_010639_1755.</a:t>
            </a:r>
          </a:p>
        </p:txBody>
      </p:sp>
      <p:sp>
        <p:nvSpPr>
          <p:cNvPr id="41" name="ref-link-13">
            <a:extLst>
              <a:ext uri="{FF2B5EF4-FFF2-40B4-BE49-F238E27FC236}">
                <a16:creationId xmlns:a16="http://schemas.microsoft.com/office/drawing/2014/main" id="{A04981A3-0668-0C7C-DAA6-07681E686CC9}"/>
              </a:ext>
            </a:extLst>
          </p:cNvPr>
          <p:cNvSpPr>
            <a:spLocks noGrp="1"/>
          </p:cNvSpPr>
          <p:nvPr/>
        </p:nvSpPr>
        <p:spPr>
          <a:xfrm>
            <a:off x="1409700" y="37957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5"/>
              </a:rPr>
              <a:t>hirise.lpl.arizona.edu/</a:t>
            </a:r>
            <a:r>
              <a:rPr lang="en-US" sz="1275" b="0" dirty="0" err="1">
                <a:solidFill>
                  <a:srgbClr val="822433"/>
                </a:solidFill>
                <a:latin typeface="Roboto"/>
                <a:ea typeface="Roboto"/>
                <a:cs typeface="Roboto"/>
                <a:hlinkClick r:id="rId5"/>
              </a:rPr>
              <a:t>dtm</a:t>
            </a:r>
            <a:r>
              <a:rPr lang="en-US" sz="1275" b="0" dirty="0">
                <a:solidFill>
                  <a:srgbClr val="822433"/>
                </a:solidFill>
                <a:latin typeface="Roboto"/>
                <a:ea typeface="Roboto"/>
                <a:cs typeface="Roboto"/>
                <a:hlinkClick r:id="rId5"/>
              </a:rPr>
              <a:t>/</a:t>
            </a:r>
            <a:r>
              <a:rPr lang="en-US" sz="1275" b="0" dirty="0" err="1">
                <a:solidFill>
                  <a:srgbClr val="822433"/>
                </a:solidFill>
                <a:latin typeface="Roboto"/>
                <a:ea typeface="Roboto"/>
                <a:cs typeface="Roboto"/>
                <a:hlinkClick r:id="rId5"/>
              </a:rPr>
              <a:t>dtm.php?ID</a:t>
            </a:r>
            <a:r>
              <a:rPr lang="en-US" sz="1275" b="0" dirty="0">
                <a:solidFill>
                  <a:srgbClr val="822433"/>
                </a:solidFill>
                <a:latin typeface="Roboto"/>
                <a:ea typeface="Roboto"/>
                <a:cs typeface="Roboto"/>
                <a:hlinkClick r:id="rId5"/>
              </a:rPr>
              <a:t>=PSP_010573_1755</a:t>
            </a:r>
          </a:p>
        </p:txBody>
      </p:sp>
      <p:sp>
        <p:nvSpPr>
          <p:cNvPr id="43" name="ref-number-14">
            <a:extLst>
              <a:ext uri="{FF2B5EF4-FFF2-40B4-BE49-F238E27FC236}">
                <a16:creationId xmlns:a16="http://schemas.microsoft.com/office/drawing/2014/main" id="{AC6B1B1E-A916-03C9-0855-DF32E5CC4C9A}"/>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[14]</a:t>
            </a:r>
          </a:p>
        </p:txBody>
      </p:sp>
      <p:sp>
        <p:nvSpPr>
          <p:cNvPr id="45" name="ref-title-14">
            <a:extLst>
              <a:ext uri="{FF2B5EF4-FFF2-40B4-BE49-F238E27FC236}">
                <a16:creationId xmlns:a16="http://schemas.microsoft.com/office/drawing/2014/main" id="{1509D3C1-18E5-F43F-6ABB-92537436C319}"/>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J. Tobin et al. Domain Randomization for Transferring Deep Neural Networks from Simulation to the Real World.</a:t>
            </a:r>
          </a:p>
        </p:txBody>
      </p:sp>
      <p:sp>
        <p:nvSpPr>
          <p:cNvPr id="47" name="ref-venue-14">
            <a:extLst>
              <a:ext uri="{FF2B5EF4-FFF2-40B4-BE49-F238E27FC236}">
                <a16:creationId xmlns:a16="http://schemas.microsoft.com/office/drawing/2014/main" id="{90CA55B2-5AFA-DDBF-83C5-9BCD4AFB0351}"/>
              </a:ext>
            </a:extLst>
          </p:cNvPr>
          <p:cNvSpPr>
            <a:spLocks noGrp="1"/>
          </p:cNvSpPr>
          <p:nvPr/>
        </p:nvSpPr>
        <p:spPr>
          <a:xfrm>
            <a:off x="1409700" y="45481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IEEE/RSJ IROS, 2017, pp. 23–30.</a:t>
            </a:r>
          </a:p>
        </p:txBody>
      </p:sp>
      <p:sp>
        <p:nvSpPr>
          <p:cNvPr id="49" name="ref-link-14">
            <a:extLst>
              <a:ext uri="{FF2B5EF4-FFF2-40B4-BE49-F238E27FC236}">
                <a16:creationId xmlns:a16="http://schemas.microsoft.com/office/drawing/2014/main" id="{A92D3111-7D97-4187-34D5-16CB163567D6}"/>
              </a:ext>
            </a:extLst>
          </p:cNvPr>
          <p:cNvSpPr>
            <a:spLocks noGrp="1"/>
          </p:cNvSpPr>
          <p:nvPr/>
        </p:nvSpPr>
        <p:spPr>
          <a:xfrm>
            <a:off x="1409700" y="47672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10.1109/IROS.2017.8202133</a:t>
            </a:r>
          </a:p>
        </p:txBody>
      </p:sp>
      <p:sp>
        <p:nvSpPr>
          <p:cNvPr id="51" name="ref-number-15">
            <a:extLst>
              <a:ext uri="{FF2B5EF4-FFF2-40B4-BE49-F238E27FC236}">
                <a16:creationId xmlns:a16="http://schemas.microsoft.com/office/drawing/2014/main" id="{EC736862-BAD5-A7E5-AA8C-B0C385FFCE17}"/>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[15]</a:t>
            </a:r>
          </a:p>
        </p:txBody>
      </p:sp>
      <p:sp>
        <p:nvSpPr>
          <p:cNvPr id="53" name="ref-title-15">
            <a:extLst>
              <a:ext uri="{FF2B5EF4-FFF2-40B4-BE49-F238E27FC236}">
                <a16:creationId xmlns:a16="http://schemas.microsoft.com/office/drawing/2014/main" id="{8188A915-CA54-75A2-D2D0-3F65597B8CC3}"/>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P. Bergmann et al. MVTec AD: A Comprehensive Real-World Dataset for Unsupervised Anomaly Detection.</a:t>
            </a:r>
          </a:p>
        </p:txBody>
      </p:sp>
      <p:sp>
        <p:nvSpPr>
          <p:cNvPr id="55" name="ref-venue-15">
            <a:extLst>
              <a:ext uri="{FF2B5EF4-FFF2-40B4-BE49-F238E27FC236}">
                <a16:creationId xmlns:a16="http://schemas.microsoft.com/office/drawing/2014/main" id="{A39FFE36-0AB7-6B5C-0813-B6F514873DFF}"/>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2019, pp. 9584–9592.</a:t>
            </a:r>
          </a:p>
        </p:txBody>
      </p:sp>
      <p:sp>
        <p:nvSpPr>
          <p:cNvPr id="57" name="ref-link-15">
            <a:extLst>
              <a:ext uri="{FF2B5EF4-FFF2-40B4-BE49-F238E27FC236}">
                <a16:creationId xmlns:a16="http://schemas.microsoft.com/office/drawing/2014/main" id="{DF69B8D8-422E-7C21-2011-28CC15B6A3AF}"/>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7"/>
              </a:rPr>
              <a:t>doi: 10.1109/CVPR.2019.00982</a:t>
            </a:r>
          </a:p>
        </p:txBody>
      </p:sp>
    </p:spTree>
    <p:extLst>
      <p:ext uri="{BB962C8B-B14F-4D97-AF65-F5344CB8AC3E}">
        <p14:creationId xmlns:p14="http://schemas.microsoft.com/office/powerpoint/2010/main" val="240506975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8ECB4-4F84-2D53-0116-86C33BF71553}"/>
            </a:ext>
          </a:extLst>
        </p:cNvPr>
        <p:cNvGrpSpPr/>
        <p:nvPr/>
      </p:nvGrpSpPr>
      <p:grpSpPr>
        <a:xfrm>
          <a:off x="0" y="0"/>
          <a:ext cx="0" cy="0"/>
          <a:chOff x="0" y="0"/>
          <a:chExt cx="0" cy="0"/>
        </a:xfrm>
      </p:grpSpPr>
      <p:sp>
        <p:nvSpPr>
          <p:cNvPr id="5" name="slide-title">
            <a:extLst>
              <a:ext uri="{FF2B5EF4-FFF2-40B4-BE49-F238E27FC236}">
                <a16:creationId xmlns:a16="http://schemas.microsoft.com/office/drawing/2014/main" id="{2252B152-DCA6-4692-7EBA-165BDDC6D93A}"/>
              </a:ext>
            </a:extLst>
          </p:cNvPr>
          <p:cNvSpPr>
            <a:spLocks noGrp="1"/>
          </p:cNvSpPr>
          <p:nvPr/>
        </p:nvSpPr>
        <p:spPr>
          <a:xfrm>
            <a:off x="762000" y="485775"/>
            <a:ext cx="9858375" cy="857250"/>
          </a:xfrm>
          <a:prstGeom prst="rect">
            <a:avLst/>
          </a:prstGeom>
          <a:noFill/>
          <a:ln w="0">
            <a:noFill/>
          </a:ln>
        </p:spPr>
        <p:txBody>
          <a:bodyPr wrap="square" lIns="0" tIns="0" rIns="0" bIns="0" anchor="t">
            <a:noAutofit/>
          </a:bodyPr>
          <a:lstStyle>
            <a:defPPr algn="l">
              <a:defRPr lang="en-US" sz="3200" b="0">
                <a:solidFill>
                  <a:srgbClr val="202124"/>
                </a:solidFill>
                <a:latin typeface="Roboto"/>
                <a:ea typeface="Roboto"/>
                <a:cs typeface="Roboto"/>
              </a:defRPr>
            </a:defPPr>
            <a:lvl1pPr algn="l">
              <a:defRPr lang="en-US" sz="3200" b="0">
                <a:solidFill>
                  <a:srgbClr val="202124"/>
                </a:solidFill>
                <a:latin typeface="Roboto"/>
                <a:ea typeface="Roboto"/>
                <a:cs typeface="Roboto"/>
              </a:defRPr>
            </a:lvl1pPr>
            <a:lvl2pPr algn="l">
              <a:defRPr lang="en-US" sz="3200" b="0">
                <a:solidFill>
                  <a:srgbClr val="202124"/>
                </a:solidFill>
                <a:latin typeface="Roboto"/>
                <a:ea typeface="Roboto"/>
                <a:cs typeface="Roboto"/>
              </a:defRPr>
            </a:lvl2pPr>
            <a:lvl3pPr algn="l">
              <a:defRPr lang="en-US" sz="3200" b="0">
                <a:solidFill>
                  <a:srgbClr val="202124"/>
                </a:solidFill>
                <a:latin typeface="Roboto"/>
                <a:ea typeface="Roboto"/>
                <a:cs typeface="Roboto"/>
              </a:defRPr>
            </a:lvl3pPr>
            <a:lvl4pPr algn="l">
              <a:defRPr lang="en-US" sz="3200" b="0">
                <a:solidFill>
                  <a:srgbClr val="202124"/>
                </a:solidFill>
                <a:latin typeface="Roboto"/>
                <a:ea typeface="Roboto"/>
                <a:cs typeface="Roboto"/>
              </a:defRPr>
            </a:lvl4pPr>
            <a:lvl5pPr algn="l">
              <a:defRPr lang="en-US" sz="3200" b="0">
                <a:solidFill>
                  <a:srgbClr val="202124"/>
                </a:solidFill>
                <a:latin typeface="Roboto"/>
                <a:ea typeface="Roboto"/>
                <a:cs typeface="Roboto"/>
              </a:defRPr>
            </a:lvl5pPr>
            <a:lvl6pPr algn="l">
              <a:defRPr lang="en-US" sz="3200" b="0">
                <a:solidFill>
                  <a:srgbClr val="202124"/>
                </a:solidFill>
                <a:latin typeface="Roboto"/>
                <a:ea typeface="Roboto"/>
                <a:cs typeface="Roboto"/>
              </a:defRPr>
            </a:lvl6pPr>
            <a:lvl7pPr algn="l">
              <a:defRPr lang="en-US" sz="3200" b="0">
                <a:solidFill>
                  <a:srgbClr val="202124"/>
                </a:solidFill>
                <a:latin typeface="Roboto"/>
                <a:ea typeface="Roboto"/>
                <a:cs typeface="Roboto"/>
              </a:defRPr>
            </a:lvl7pPr>
            <a:lvl8pPr algn="l">
              <a:defRPr lang="en-US" sz="3200" b="0">
                <a:solidFill>
                  <a:srgbClr val="202124"/>
                </a:solidFill>
                <a:latin typeface="Roboto"/>
                <a:ea typeface="Roboto"/>
                <a:cs typeface="Roboto"/>
              </a:defRPr>
            </a:lvl8pPr>
            <a:lvl9pPr algn="l">
              <a:defRPr lang="en-US" sz="3200" b="0">
                <a:solidFill>
                  <a:srgbClr val="202124"/>
                </a:solidFill>
                <a:latin typeface="Roboto"/>
                <a:ea typeface="Roboto"/>
                <a:cs typeface="Roboto"/>
              </a:defRPr>
            </a:lvl9pPr>
          </a:lstStyle>
          <a:p>
            <a:pPr algn="l">
              <a:defRPr lang="en-US" sz="3200" b="0">
                <a:solidFill>
                  <a:srgbClr val="202124"/>
                </a:solidFill>
                <a:latin typeface="Roboto"/>
                <a:ea typeface="Roboto"/>
                <a:cs typeface="Roboto"/>
              </a:defRPr>
            </a:pPr>
            <a:r>
              <a:rPr lang="en-US" sz="3200" b="0" dirty="0">
                <a:solidFill>
                  <a:srgbClr val="202124"/>
                </a:solidFill>
                <a:latin typeface="Roboto"/>
                <a:ea typeface="Roboto"/>
                <a:cs typeface="Roboto"/>
              </a:rPr>
              <a:t>References</a:t>
            </a:r>
          </a:p>
        </p:txBody>
      </p:sp>
      <p:sp>
        <p:nvSpPr>
          <p:cNvPr id="4" name="ref-number-16">
            <a:extLst>
              <a:ext uri="{FF2B5EF4-FFF2-40B4-BE49-F238E27FC236}">
                <a16:creationId xmlns:a16="http://schemas.microsoft.com/office/drawing/2014/main" id="{4652C0B3-28E8-167F-6EAD-A324C0ADDD66}"/>
              </a:ext>
            </a:extLst>
          </p:cNvPr>
          <p:cNvSpPr>
            <a:spLocks noGrp="1"/>
          </p:cNvSpPr>
          <p:nvPr/>
        </p:nvSpPr>
        <p:spPr>
          <a:xfrm>
            <a:off x="762000" y="14001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[16]</a:t>
            </a:r>
          </a:p>
        </p:txBody>
      </p:sp>
      <p:sp>
        <p:nvSpPr>
          <p:cNvPr id="8" name="ref-title-16">
            <a:extLst>
              <a:ext uri="{FF2B5EF4-FFF2-40B4-BE49-F238E27FC236}">
                <a16:creationId xmlns:a16="http://schemas.microsoft.com/office/drawing/2014/main" id="{F1855BDD-AAB5-498E-326A-E555710F21C9}"/>
              </a:ext>
            </a:extLst>
          </p:cNvPr>
          <p:cNvSpPr>
            <a:spLocks noGrp="1"/>
          </p:cNvSpPr>
          <p:nvPr/>
        </p:nvSpPr>
        <p:spPr>
          <a:xfrm>
            <a:off x="1409700" y="14001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K. Roth et al. Towards Total Recall in Industrial Anomaly Detection.</a:t>
            </a:r>
          </a:p>
        </p:txBody>
      </p:sp>
      <p:sp>
        <p:nvSpPr>
          <p:cNvPr id="11" name="ref-venue-16">
            <a:extLst>
              <a:ext uri="{FF2B5EF4-FFF2-40B4-BE49-F238E27FC236}">
                <a16:creationId xmlns:a16="http://schemas.microsoft.com/office/drawing/2014/main" id="{FBB04C09-D8CA-8FE4-5A33-403390C15BD1}"/>
              </a:ext>
            </a:extLst>
          </p:cNvPr>
          <p:cNvSpPr>
            <a:spLocks noGrp="1"/>
          </p:cNvSpPr>
          <p:nvPr/>
        </p:nvSpPr>
        <p:spPr>
          <a:xfrm>
            <a:off x="1409700" y="16335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CVPR, 2022, pp. 14318–14328.</a:t>
            </a:r>
          </a:p>
        </p:txBody>
      </p:sp>
      <p:sp>
        <p:nvSpPr>
          <p:cNvPr id="13" name="ref-link-16">
            <a:extLst>
              <a:ext uri="{FF2B5EF4-FFF2-40B4-BE49-F238E27FC236}">
                <a16:creationId xmlns:a16="http://schemas.microsoft.com/office/drawing/2014/main" id="{AF67AF79-CB36-89C6-40E3-2A138CA241C7}"/>
              </a:ext>
            </a:extLst>
          </p:cNvPr>
          <p:cNvSpPr>
            <a:spLocks noGrp="1"/>
          </p:cNvSpPr>
          <p:nvPr/>
        </p:nvSpPr>
        <p:spPr>
          <a:xfrm>
            <a:off x="1409700" y="18526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3"/>
              </a:rPr>
              <a:t>arxiv.org/abs/2106.08265</a:t>
            </a:r>
          </a:p>
        </p:txBody>
      </p:sp>
      <p:sp>
        <p:nvSpPr>
          <p:cNvPr id="16" name="ref-number-17">
            <a:extLst>
              <a:ext uri="{FF2B5EF4-FFF2-40B4-BE49-F238E27FC236}">
                <a16:creationId xmlns:a16="http://schemas.microsoft.com/office/drawing/2014/main" id="{79FC4092-FFF5-4B74-D689-0F80DB42B9F5}"/>
              </a:ext>
            </a:extLst>
          </p:cNvPr>
          <p:cNvSpPr>
            <a:spLocks noGrp="1"/>
          </p:cNvSpPr>
          <p:nvPr/>
        </p:nvSpPr>
        <p:spPr>
          <a:xfrm>
            <a:off x="762000" y="23717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[17]</a:t>
            </a:r>
          </a:p>
        </p:txBody>
      </p:sp>
      <p:sp>
        <p:nvSpPr>
          <p:cNvPr id="19" name="ref-title-17">
            <a:extLst>
              <a:ext uri="{FF2B5EF4-FFF2-40B4-BE49-F238E27FC236}">
                <a16:creationId xmlns:a16="http://schemas.microsoft.com/office/drawing/2014/main" id="{65712436-652E-EA09-E670-172794677CFE}"/>
              </a:ext>
            </a:extLst>
          </p:cNvPr>
          <p:cNvSpPr>
            <a:spLocks noGrp="1"/>
          </p:cNvSpPr>
          <p:nvPr/>
        </p:nvSpPr>
        <p:spPr>
          <a:xfrm>
            <a:off x="1409700" y="23717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K. </a:t>
            </a:r>
            <a:r>
              <a:rPr lang="en-US" sz="1538" b="0" dirty="0" err="1">
                <a:solidFill>
                  <a:srgbClr val="202124"/>
                </a:solidFill>
                <a:latin typeface="Roboto"/>
                <a:ea typeface="Roboto"/>
                <a:cs typeface="Roboto"/>
              </a:rPr>
              <a:t>Batzner</a:t>
            </a:r>
            <a:r>
              <a:rPr lang="en-US" sz="1538" b="0" dirty="0">
                <a:solidFill>
                  <a:srgbClr val="202124"/>
                </a:solidFill>
                <a:latin typeface="Roboto"/>
                <a:ea typeface="Roboto"/>
                <a:cs typeface="Roboto"/>
              </a:rPr>
              <a:t>, L. Heckler and R. König. EfficientAD: Accurate Visual Anomaly Detection at Millisecond-Level Latencies.</a:t>
            </a:r>
          </a:p>
        </p:txBody>
      </p:sp>
      <p:sp>
        <p:nvSpPr>
          <p:cNvPr id="21" name="ref-venue-17">
            <a:extLst>
              <a:ext uri="{FF2B5EF4-FFF2-40B4-BE49-F238E27FC236}">
                <a16:creationId xmlns:a16="http://schemas.microsoft.com/office/drawing/2014/main" id="{8DD79526-C41C-CE30-99CA-9E8C49D11EB5}"/>
              </a:ext>
            </a:extLst>
          </p:cNvPr>
          <p:cNvSpPr>
            <a:spLocks noGrp="1"/>
          </p:cNvSpPr>
          <p:nvPr/>
        </p:nvSpPr>
        <p:spPr>
          <a:xfrm>
            <a:off x="1409700" y="260508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WACV, 2024, pp. 128–138.</a:t>
            </a:r>
          </a:p>
        </p:txBody>
      </p:sp>
      <p:sp>
        <p:nvSpPr>
          <p:cNvPr id="24" name="ref-link-17">
            <a:extLst>
              <a:ext uri="{FF2B5EF4-FFF2-40B4-BE49-F238E27FC236}">
                <a16:creationId xmlns:a16="http://schemas.microsoft.com/office/drawing/2014/main" id="{E8A8DBC0-3B69-EA26-2E18-CD4A9B37C047}"/>
              </a:ext>
            </a:extLst>
          </p:cNvPr>
          <p:cNvSpPr>
            <a:spLocks noGrp="1"/>
          </p:cNvSpPr>
          <p:nvPr/>
        </p:nvSpPr>
        <p:spPr>
          <a:xfrm>
            <a:off x="1409700" y="282416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4"/>
              </a:rPr>
              <a:t>arxiv.org/abs/2303.14535</a:t>
            </a:r>
          </a:p>
        </p:txBody>
      </p:sp>
      <p:sp>
        <p:nvSpPr>
          <p:cNvPr id="27" name="ref-number-18">
            <a:extLst>
              <a:ext uri="{FF2B5EF4-FFF2-40B4-BE49-F238E27FC236}">
                <a16:creationId xmlns:a16="http://schemas.microsoft.com/office/drawing/2014/main" id="{0333A43C-4B6F-6F25-ADF8-518AE10E9E5E}"/>
              </a:ext>
            </a:extLst>
          </p:cNvPr>
          <p:cNvSpPr>
            <a:spLocks noGrp="1"/>
          </p:cNvSpPr>
          <p:nvPr/>
        </p:nvSpPr>
        <p:spPr>
          <a:xfrm>
            <a:off x="762000" y="33432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[18]</a:t>
            </a:r>
          </a:p>
        </p:txBody>
      </p:sp>
      <p:sp>
        <p:nvSpPr>
          <p:cNvPr id="29" name="ref-title-18">
            <a:extLst>
              <a:ext uri="{FF2B5EF4-FFF2-40B4-BE49-F238E27FC236}">
                <a16:creationId xmlns:a16="http://schemas.microsoft.com/office/drawing/2014/main" id="{7EE751B4-7402-D159-AC31-041B5EEDE99A}"/>
              </a:ext>
            </a:extLst>
          </p:cNvPr>
          <p:cNvSpPr>
            <a:spLocks noGrp="1"/>
          </p:cNvSpPr>
          <p:nvPr/>
        </p:nvSpPr>
        <p:spPr>
          <a:xfrm>
            <a:off x="1409700" y="33432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B. </a:t>
            </a:r>
            <a:r>
              <a:rPr lang="en-US" sz="1538" b="0" dirty="0" err="1">
                <a:solidFill>
                  <a:srgbClr val="202124"/>
                </a:solidFill>
                <a:latin typeface="Roboto"/>
                <a:ea typeface="Roboto"/>
                <a:cs typeface="Roboto"/>
              </a:rPr>
              <a:t>Rolih</a:t>
            </a:r>
            <a:r>
              <a:rPr lang="en-US" sz="1538" b="0" dirty="0">
                <a:solidFill>
                  <a:srgbClr val="202124"/>
                </a:solidFill>
                <a:latin typeface="Roboto"/>
                <a:ea typeface="Roboto"/>
                <a:cs typeface="Roboto"/>
              </a:rPr>
              <a:t>, M. </a:t>
            </a:r>
            <a:r>
              <a:rPr lang="en-US" sz="1538" b="0" dirty="0" err="1">
                <a:solidFill>
                  <a:srgbClr val="202124"/>
                </a:solidFill>
                <a:latin typeface="Roboto"/>
                <a:ea typeface="Roboto"/>
                <a:cs typeface="Roboto"/>
              </a:rPr>
              <a:t>Fučka</a:t>
            </a:r>
            <a:r>
              <a:rPr lang="en-US" sz="1538" b="0" dirty="0">
                <a:solidFill>
                  <a:srgbClr val="202124"/>
                </a:solidFill>
                <a:latin typeface="Roboto"/>
                <a:ea typeface="Roboto"/>
                <a:cs typeface="Roboto"/>
              </a:rPr>
              <a:t> and D. </a:t>
            </a:r>
            <a:r>
              <a:rPr lang="en-US" sz="1538" b="0" dirty="0" err="1">
                <a:solidFill>
                  <a:srgbClr val="202124"/>
                </a:solidFill>
                <a:latin typeface="Roboto"/>
                <a:ea typeface="Roboto"/>
                <a:cs typeface="Roboto"/>
              </a:rPr>
              <a:t>Skočaj</a:t>
            </a:r>
            <a:r>
              <a:rPr lang="en-US" sz="1538" b="0" dirty="0">
                <a:solidFill>
                  <a:srgbClr val="202124"/>
                </a:solidFill>
                <a:latin typeface="Roboto"/>
                <a:ea typeface="Roboto"/>
                <a:cs typeface="Roboto"/>
              </a:rPr>
              <a:t>. SuperSimpleNet: Unifying Unsupervised and Supervised Learning for Fast and Reliable Surface Defect Detection.</a:t>
            </a:r>
          </a:p>
        </p:txBody>
      </p:sp>
      <p:sp>
        <p:nvSpPr>
          <p:cNvPr id="32" name="ref-venue-18">
            <a:extLst>
              <a:ext uri="{FF2B5EF4-FFF2-40B4-BE49-F238E27FC236}">
                <a16:creationId xmlns:a16="http://schemas.microsoft.com/office/drawing/2014/main" id="{4DD9BEB6-647B-37F1-8610-120CB9AA5547}"/>
              </a:ext>
            </a:extLst>
          </p:cNvPr>
          <p:cNvSpPr>
            <a:spLocks noGrp="1"/>
          </p:cNvSpPr>
          <p:nvPr/>
        </p:nvSpPr>
        <p:spPr>
          <a:xfrm>
            <a:off x="1409700" y="384810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ICPR 2024, LNCS 15310, Springer, 2025, pp. 47–65.</a:t>
            </a:r>
          </a:p>
        </p:txBody>
      </p:sp>
      <p:sp>
        <p:nvSpPr>
          <p:cNvPr id="35" name="ref-link-18">
            <a:extLst>
              <a:ext uri="{FF2B5EF4-FFF2-40B4-BE49-F238E27FC236}">
                <a16:creationId xmlns:a16="http://schemas.microsoft.com/office/drawing/2014/main" id="{01FC4B5F-1686-0ACC-D335-73FD8943F85E}"/>
              </a:ext>
            </a:extLst>
          </p:cNvPr>
          <p:cNvSpPr>
            <a:spLocks noGrp="1"/>
          </p:cNvSpPr>
          <p:nvPr/>
        </p:nvSpPr>
        <p:spPr>
          <a:xfrm>
            <a:off x="1409700" y="406717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5"/>
              </a:rPr>
              <a:t>doi: 10.1007/978-3-031-78192-6_4</a:t>
            </a:r>
          </a:p>
        </p:txBody>
      </p:sp>
      <p:sp>
        <p:nvSpPr>
          <p:cNvPr id="38" name="ref-number-19">
            <a:extLst>
              <a:ext uri="{FF2B5EF4-FFF2-40B4-BE49-F238E27FC236}">
                <a16:creationId xmlns:a16="http://schemas.microsoft.com/office/drawing/2014/main" id="{761407C1-B46B-0893-39FC-5052BFF36BC1}"/>
              </a:ext>
            </a:extLst>
          </p:cNvPr>
          <p:cNvSpPr>
            <a:spLocks noGrp="1"/>
          </p:cNvSpPr>
          <p:nvPr/>
        </p:nvSpPr>
        <p:spPr>
          <a:xfrm>
            <a:off x="762000" y="431482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[19]</a:t>
            </a:r>
          </a:p>
        </p:txBody>
      </p:sp>
      <p:sp>
        <p:nvSpPr>
          <p:cNvPr id="42" name="ref-title-19">
            <a:extLst>
              <a:ext uri="{FF2B5EF4-FFF2-40B4-BE49-F238E27FC236}">
                <a16:creationId xmlns:a16="http://schemas.microsoft.com/office/drawing/2014/main" id="{8A19A991-154E-29CF-1DE8-CCA322112B50}"/>
              </a:ext>
            </a:extLst>
          </p:cNvPr>
          <p:cNvSpPr>
            <a:spLocks noGrp="1"/>
          </p:cNvSpPr>
          <p:nvPr/>
        </p:nvSpPr>
        <p:spPr>
          <a:xfrm>
            <a:off x="1409700" y="431482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a:solidFill>
                  <a:srgbClr val="202124"/>
                </a:solidFill>
                <a:latin typeface="Roboto"/>
                <a:ea typeface="Roboto"/>
                <a:cs typeface="Roboto"/>
              </a:rPr>
              <a:t>B. Rolih, M. Fučka and D. Skočaj. No Label Left Behind: A Unified Surface Defect Detection Model for All Supervision Regimes.</a:t>
            </a:r>
          </a:p>
        </p:txBody>
      </p:sp>
      <p:sp>
        <p:nvSpPr>
          <p:cNvPr id="46" name="ref-venue-19">
            <a:extLst>
              <a:ext uri="{FF2B5EF4-FFF2-40B4-BE49-F238E27FC236}">
                <a16:creationId xmlns:a16="http://schemas.microsoft.com/office/drawing/2014/main" id="{7D90B736-2565-056D-C80B-0864F3CBA0F5}"/>
              </a:ext>
            </a:extLst>
          </p:cNvPr>
          <p:cNvSpPr>
            <a:spLocks noGrp="1"/>
          </p:cNvSpPr>
          <p:nvPr/>
        </p:nvSpPr>
        <p:spPr>
          <a:xfrm>
            <a:off x="1409700" y="4819650"/>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Journal of Intelligent Manufacturing, vol. 37, 2026, pp. 3189–3209.</a:t>
            </a:r>
          </a:p>
        </p:txBody>
      </p:sp>
      <p:sp>
        <p:nvSpPr>
          <p:cNvPr id="50" name="ref-link-19">
            <a:extLst>
              <a:ext uri="{FF2B5EF4-FFF2-40B4-BE49-F238E27FC236}">
                <a16:creationId xmlns:a16="http://schemas.microsoft.com/office/drawing/2014/main" id="{9A371867-7D84-96C5-7F86-84808D67C29B}"/>
              </a:ext>
            </a:extLst>
          </p:cNvPr>
          <p:cNvSpPr>
            <a:spLocks noGrp="1"/>
          </p:cNvSpPr>
          <p:nvPr/>
        </p:nvSpPr>
        <p:spPr>
          <a:xfrm>
            <a:off x="1409700" y="5038725"/>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a:solidFill>
                  <a:srgbClr val="822433"/>
                </a:solidFill>
                <a:latin typeface="Roboto"/>
                <a:ea typeface="Roboto"/>
                <a:cs typeface="Roboto"/>
                <a:hlinkClick r:id="rId6"/>
              </a:rPr>
              <a:t>doi: 10.1007/s10845-025-02680-8</a:t>
            </a:r>
          </a:p>
        </p:txBody>
      </p:sp>
      <p:sp>
        <p:nvSpPr>
          <p:cNvPr id="54" name="ref-number-20">
            <a:extLst>
              <a:ext uri="{FF2B5EF4-FFF2-40B4-BE49-F238E27FC236}">
                <a16:creationId xmlns:a16="http://schemas.microsoft.com/office/drawing/2014/main" id="{ABBF4884-3BAF-05F3-3E6A-A35FC6E52AE4}"/>
              </a:ext>
            </a:extLst>
          </p:cNvPr>
          <p:cNvSpPr>
            <a:spLocks noGrp="1"/>
          </p:cNvSpPr>
          <p:nvPr/>
        </p:nvSpPr>
        <p:spPr>
          <a:xfrm>
            <a:off x="762000" y="5286375"/>
            <a:ext cx="514350" cy="342900"/>
          </a:xfrm>
          <a:prstGeom prst="rect">
            <a:avLst/>
          </a:prstGeom>
          <a:noFill/>
          <a:ln w="0">
            <a:noFill/>
          </a:ln>
        </p:spPr>
        <p:txBody>
          <a:bodyPr wrap="square" lIns="0" tIns="0" rIns="0" bIns="0" anchor="t">
            <a:noAutofit/>
          </a:bodyPr>
          <a:lstStyle>
            <a:defPPr algn="l">
              <a:defRPr lang="en-US" sz="1650" b="1">
                <a:solidFill>
                  <a:srgbClr val="822433"/>
                </a:solidFill>
                <a:latin typeface="Roboto"/>
                <a:ea typeface="Roboto"/>
                <a:cs typeface="Roboto"/>
              </a:defRPr>
            </a:defPPr>
            <a:lvl1pPr algn="l">
              <a:defRPr lang="en-US" sz="1650" b="1">
                <a:solidFill>
                  <a:srgbClr val="822433"/>
                </a:solidFill>
                <a:latin typeface="Roboto"/>
                <a:ea typeface="Roboto"/>
                <a:cs typeface="Roboto"/>
              </a:defRPr>
            </a:lvl1pPr>
            <a:lvl2pPr algn="l">
              <a:defRPr lang="en-US" sz="1650" b="1">
                <a:solidFill>
                  <a:srgbClr val="822433"/>
                </a:solidFill>
                <a:latin typeface="Roboto"/>
                <a:ea typeface="Roboto"/>
                <a:cs typeface="Roboto"/>
              </a:defRPr>
            </a:lvl2pPr>
            <a:lvl3pPr algn="l">
              <a:defRPr lang="en-US" sz="1650" b="1">
                <a:solidFill>
                  <a:srgbClr val="822433"/>
                </a:solidFill>
                <a:latin typeface="Roboto"/>
                <a:ea typeface="Roboto"/>
                <a:cs typeface="Roboto"/>
              </a:defRPr>
            </a:lvl3pPr>
            <a:lvl4pPr algn="l">
              <a:defRPr lang="en-US" sz="1650" b="1">
                <a:solidFill>
                  <a:srgbClr val="822433"/>
                </a:solidFill>
                <a:latin typeface="Roboto"/>
                <a:ea typeface="Roboto"/>
                <a:cs typeface="Roboto"/>
              </a:defRPr>
            </a:lvl4pPr>
            <a:lvl5pPr algn="l">
              <a:defRPr lang="en-US" sz="1650" b="1">
                <a:solidFill>
                  <a:srgbClr val="822433"/>
                </a:solidFill>
                <a:latin typeface="Roboto"/>
                <a:ea typeface="Roboto"/>
                <a:cs typeface="Roboto"/>
              </a:defRPr>
            </a:lvl5pPr>
            <a:lvl6pPr algn="l">
              <a:defRPr lang="en-US" sz="1650" b="1">
                <a:solidFill>
                  <a:srgbClr val="822433"/>
                </a:solidFill>
                <a:latin typeface="Roboto"/>
                <a:ea typeface="Roboto"/>
                <a:cs typeface="Roboto"/>
              </a:defRPr>
            </a:lvl6pPr>
            <a:lvl7pPr algn="l">
              <a:defRPr lang="en-US" sz="1650" b="1">
                <a:solidFill>
                  <a:srgbClr val="822433"/>
                </a:solidFill>
                <a:latin typeface="Roboto"/>
                <a:ea typeface="Roboto"/>
                <a:cs typeface="Roboto"/>
              </a:defRPr>
            </a:lvl7pPr>
            <a:lvl8pPr algn="l">
              <a:defRPr lang="en-US" sz="1650" b="1">
                <a:solidFill>
                  <a:srgbClr val="822433"/>
                </a:solidFill>
                <a:latin typeface="Roboto"/>
                <a:ea typeface="Roboto"/>
                <a:cs typeface="Roboto"/>
              </a:defRPr>
            </a:lvl8pPr>
            <a:lvl9pPr algn="l">
              <a:defRPr lang="en-US" sz="1650" b="1">
                <a:solidFill>
                  <a:srgbClr val="822433"/>
                </a:solidFill>
                <a:latin typeface="Roboto"/>
                <a:ea typeface="Roboto"/>
                <a:cs typeface="Roboto"/>
              </a:defRPr>
            </a:lvl9pPr>
          </a:lstStyle>
          <a:p>
            <a:pPr algn="l">
              <a:defRPr lang="en-US" sz="1650" b="1">
                <a:solidFill>
                  <a:srgbClr val="822433"/>
                </a:solidFill>
                <a:latin typeface="Roboto"/>
                <a:ea typeface="Roboto"/>
                <a:cs typeface="Roboto"/>
              </a:defRPr>
            </a:pPr>
            <a:r>
              <a:rPr lang="en-US" sz="1650" b="1">
                <a:solidFill>
                  <a:srgbClr val="822433"/>
                </a:solidFill>
                <a:latin typeface="Roboto"/>
                <a:ea typeface="Roboto"/>
                <a:cs typeface="Roboto"/>
              </a:rPr>
              <a:t>[20]</a:t>
            </a:r>
          </a:p>
        </p:txBody>
      </p:sp>
      <p:sp>
        <p:nvSpPr>
          <p:cNvPr id="58" name="ref-title-20">
            <a:extLst>
              <a:ext uri="{FF2B5EF4-FFF2-40B4-BE49-F238E27FC236}">
                <a16:creationId xmlns:a16="http://schemas.microsoft.com/office/drawing/2014/main" id="{132BECD1-4465-50E1-1E38-E47521D25CE1}"/>
              </a:ext>
            </a:extLst>
          </p:cNvPr>
          <p:cNvSpPr>
            <a:spLocks noGrp="1"/>
          </p:cNvSpPr>
          <p:nvPr/>
        </p:nvSpPr>
        <p:spPr>
          <a:xfrm>
            <a:off x="1409700" y="5286375"/>
            <a:ext cx="10001250" cy="495300"/>
          </a:xfrm>
          <a:prstGeom prst="rect">
            <a:avLst/>
          </a:prstGeom>
          <a:noFill/>
          <a:ln w="0">
            <a:noFill/>
          </a:ln>
        </p:spPr>
        <p:txBody>
          <a:bodyPr wrap="square" lIns="0" tIns="0" rIns="0" bIns="0" anchor="t">
            <a:noAutofit/>
          </a:bodyPr>
          <a:lstStyle>
            <a:defPPr algn="l">
              <a:defRPr lang="en-US" sz="1538" b="0">
                <a:solidFill>
                  <a:srgbClr val="202124"/>
                </a:solidFill>
                <a:latin typeface="Roboto"/>
                <a:ea typeface="Roboto"/>
                <a:cs typeface="Roboto"/>
              </a:defRPr>
            </a:defPPr>
            <a:lvl1pPr algn="l">
              <a:defRPr lang="en-US" sz="1538" b="0">
                <a:solidFill>
                  <a:srgbClr val="202124"/>
                </a:solidFill>
                <a:latin typeface="Roboto"/>
                <a:ea typeface="Roboto"/>
                <a:cs typeface="Roboto"/>
              </a:defRPr>
            </a:lvl1pPr>
            <a:lvl2pPr algn="l">
              <a:defRPr lang="en-US" sz="1538" b="0">
                <a:solidFill>
                  <a:srgbClr val="202124"/>
                </a:solidFill>
                <a:latin typeface="Roboto"/>
                <a:ea typeface="Roboto"/>
                <a:cs typeface="Roboto"/>
              </a:defRPr>
            </a:lvl2pPr>
            <a:lvl3pPr algn="l">
              <a:defRPr lang="en-US" sz="1538" b="0">
                <a:solidFill>
                  <a:srgbClr val="202124"/>
                </a:solidFill>
                <a:latin typeface="Roboto"/>
                <a:ea typeface="Roboto"/>
                <a:cs typeface="Roboto"/>
              </a:defRPr>
            </a:lvl3pPr>
            <a:lvl4pPr algn="l">
              <a:defRPr lang="en-US" sz="1538" b="0">
                <a:solidFill>
                  <a:srgbClr val="202124"/>
                </a:solidFill>
                <a:latin typeface="Roboto"/>
                <a:ea typeface="Roboto"/>
                <a:cs typeface="Roboto"/>
              </a:defRPr>
            </a:lvl4pPr>
            <a:lvl5pPr algn="l">
              <a:defRPr lang="en-US" sz="1538" b="0">
                <a:solidFill>
                  <a:srgbClr val="202124"/>
                </a:solidFill>
                <a:latin typeface="Roboto"/>
                <a:ea typeface="Roboto"/>
                <a:cs typeface="Roboto"/>
              </a:defRPr>
            </a:lvl5pPr>
            <a:lvl6pPr algn="l">
              <a:defRPr lang="en-US" sz="1538" b="0">
                <a:solidFill>
                  <a:srgbClr val="202124"/>
                </a:solidFill>
                <a:latin typeface="Roboto"/>
                <a:ea typeface="Roboto"/>
                <a:cs typeface="Roboto"/>
              </a:defRPr>
            </a:lvl6pPr>
            <a:lvl7pPr algn="l">
              <a:defRPr lang="en-US" sz="1538" b="0">
                <a:solidFill>
                  <a:srgbClr val="202124"/>
                </a:solidFill>
                <a:latin typeface="Roboto"/>
                <a:ea typeface="Roboto"/>
                <a:cs typeface="Roboto"/>
              </a:defRPr>
            </a:lvl7pPr>
            <a:lvl8pPr algn="l">
              <a:defRPr lang="en-US" sz="1538" b="0">
                <a:solidFill>
                  <a:srgbClr val="202124"/>
                </a:solidFill>
                <a:latin typeface="Roboto"/>
                <a:ea typeface="Roboto"/>
                <a:cs typeface="Roboto"/>
              </a:defRPr>
            </a:lvl8pPr>
            <a:lvl9pPr algn="l">
              <a:defRPr lang="en-US" sz="1538" b="0">
                <a:solidFill>
                  <a:srgbClr val="202124"/>
                </a:solidFill>
                <a:latin typeface="Roboto"/>
                <a:ea typeface="Roboto"/>
                <a:cs typeface="Roboto"/>
              </a:defRPr>
            </a:lvl9pPr>
          </a:lstStyle>
          <a:p>
            <a:pPr algn="l">
              <a:defRPr lang="en-US" sz="1538" b="0">
                <a:solidFill>
                  <a:srgbClr val="202124"/>
                </a:solidFill>
                <a:latin typeface="Roboto"/>
                <a:ea typeface="Roboto"/>
                <a:cs typeface="Roboto"/>
              </a:defRPr>
            </a:pPr>
            <a:r>
              <a:rPr lang="en-US" sz="1538" b="0" dirty="0">
                <a:solidFill>
                  <a:srgbClr val="202124"/>
                </a:solidFill>
                <a:latin typeface="Roboto"/>
                <a:ea typeface="Roboto"/>
                <a:cs typeface="Roboto"/>
              </a:rPr>
              <a:t>P. Bonazzi et al. TinyGLASS: Real-Time Self-Supervised In-Sensor Anomaly Detection.</a:t>
            </a:r>
          </a:p>
        </p:txBody>
      </p:sp>
      <p:sp>
        <p:nvSpPr>
          <p:cNvPr id="60" name="ref-venue-20">
            <a:extLst>
              <a:ext uri="{FF2B5EF4-FFF2-40B4-BE49-F238E27FC236}">
                <a16:creationId xmlns:a16="http://schemas.microsoft.com/office/drawing/2014/main" id="{DF021030-E9F8-1106-FD32-7CD0CD434FC6}"/>
              </a:ext>
            </a:extLst>
          </p:cNvPr>
          <p:cNvSpPr>
            <a:spLocks noGrp="1"/>
          </p:cNvSpPr>
          <p:nvPr/>
        </p:nvSpPr>
        <p:spPr>
          <a:xfrm>
            <a:off x="1409700" y="5519737"/>
            <a:ext cx="9667875" cy="219075"/>
          </a:xfrm>
          <a:prstGeom prst="rect">
            <a:avLst/>
          </a:prstGeom>
          <a:noFill/>
          <a:ln w="0">
            <a:noFill/>
          </a:ln>
        </p:spPr>
        <p:txBody>
          <a:bodyPr wrap="square" lIns="0" tIns="0" rIns="0" bIns="0" anchor="t">
            <a:noAutofit/>
          </a:bodyPr>
          <a:lstStyle>
            <a:defPPr algn="l">
              <a:defRPr lang="en-US" sz="1313" b="0">
                <a:solidFill>
                  <a:srgbClr val="656B73"/>
                </a:solidFill>
                <a:latin typeface="Roboto"/>
                <a:ea typeface="Roboto"/>
                <a:cs typeface="Roboto"/>
              </a:defRPr>
            </a:defPPr>
            <a:lvl1pPr algn="l">
              <a:defRPr lang="en-US" sz="1313" b="0">
                <a:solidFill>
                  <a:srgbClr val="656B73"/>
                </a:solidFill>
                <a:latin typeface="Roboto"/>
                <a:ea typeface="Roboto"/>
                <a:cs typeface="Roboto"/>
              </a:defRPr>
            </a:lvl1pPr>
            <a:lvl2pPr algn="l">
              <a:defRPr lang="en-US" sz="1313" b="0">
                <a:solidFill>
                  <a:srgbClr val="656B73"/>
                </a:solidFill>
                <a:latin typeface="Roboto"/>
                <a:ea typeface="Roboto"/>
                <a:cs typeface="Roboto"/>
              </a:defRPr>
            </a:lvl2pPr>
            <a:lvl3pPr algn="l">
              <a:defRPr lang="en-US" sz="1313" b="0">
                <a:solidFill>
                  <a:srgbClr val="656B73"/>
                </a:solidFill>
                <a:latin typeface="Roboto"/>
                <a:ea typeface="Roboto"/>
                <a:cs typeface="Roboto"/>
              </a:defRPr>
            </a:lvl3pPr>
            <a:lvl4pPr algn="l">
              <a:defRPr lang="en-US" sz="1313" b="0">
                <a:solidFill>
                  <a:srgbClr val="656B73"/>
                </a:solidFill>
                <a:latin typeface="Roboto"/>
                <a:ea typeface="Roboto"/>
                <a:cs typeface="Roboto"/>
              </a:defRPr>
            </a:lvl4pPr>
            <a:lvl5pPr algn="l">
              <a:defRPr lang="en-US" sz="1313" b="0">
                <a:solidFill>
                  <a:srgbClr val="656B73"/>
                </a:solidFill>
                <a:latin typeface="Roboto"/>
                <a:ea typeface="Roboto"/>
                <a:cs typeface="Roboto"/>
              </a:defRPr>
            </a:lvl5pPr>
            <a:lvl6pPr algn="l">
              <a:defRPr lang="en-US" sz="1313" b="0">
                <a:solidFill>
                  <a:srgbClr val="656B73"/>
                </a:solidFill>
                <a:latin typeface="Roboto"/>
                <a:ea typeface="Roboto"/>
                <a:cs typeface="Roboto"/>
              </a:defRPr>
            </a:lvl6pPr>
            <a:lvl7pPr algn="l">
              <a:defRPr lang="en-US" sz="1313" b="0">
                <a:solidFill>
                  <a:srgbClr val="656B73"/>
                </a:solidFill>
                <a:latin typeface="Roboto"/>
                <a:ea typeface="Roboto"/>
                <a:cs typeface="Roboto"/>
              </a:defRPr>
            </a:lvl7pPr>
            <a:lvl8pPr algn="l">
              <a:defRPr lang="en-US" sz="1313" b="0">
                <a:solidFill>
                  <a:srgbClr val="656B73"/>
                </a:solidFill>
                <a:latin typeface="Roboto"/>
                <a:ea typeface="Roboto"/>
                <a:cs typeface="Roboto"/>
              </a:defRPr>
            </a:lvl8pPr>
            <a:lvl9pPr algn="l">
              <a:defRPr lang="en-US" sz="1313" b="0">
                <a:solidFill>
                  <a:srgbClr val="656B73"/>
                </a:solidFill>
                <a:latin typeface="Roboto"/>
                <a:ea typeface="Roboto"/>
                <a:cs typeface="Roboto"/>
              </a:defRPr>
            </a:lvl9pPr>
          </a:lstStyle>
          <a:p>
            <a:pPr algn="l">
              <a:defRPr lang="en-US" sz="1313" b="0">
                <a:solidFill>
                  <a:srgbClr val="656B73"/>
                </a:solidFill>
                <a:latin typeface="Roboto"/>
                <a:ea typeface="Roboto"/>
                <a:cs typeface="Roboto"/>
              </a:defRPr>
            </a:pPr>
            <a:r>
              <a:rPr lang="en-US" sz="1313" b="0">
                <a:solidFill>
                  <a:srgbClr val="656B73"/>
                </a:solidFill>
                <a:latin typeface="Roboto"/>
                <a:ea typeface="Roboto"/>
                <a:cs typeface="Roboto"/>
              </a:rPr>
              <a:t>arXiv:2603.16451v3, 2026. Accepted at AICAS 2026.</a:t>
            </a:r>
          </a:p>
        </p:txBody>
      </p:sp>
      <p:sp>
        <p:nvSpPr>
          <p:cNvPr id="62" name="ref-link-20">
            <a:extLst>
              <a:ext uri="{FF2B5EF4-FFF2-40B4-BE49-F238E27FC236}">
                <a16:creationId xmlns:a16="http://schemas.microsoft.com/office/drawing/2014/main" id="{6530BCF0-A591-D5ED-9E89-D282E01540C8}"/>
              </a:ext>
            </a:extLst>
          </p:cNvPr>
          <p:cNvSpPr>
            <a:spLocks noGrp="1"/>
          </p:cNvSpPr>
          <p:nvPr/>
        </p:nvSpPr>
        <p:spPr>
          <a:xfrm>
            <a:off x="1409700" y="5738812"/>
            <a:ext cx="9667875" cy="219075"/>
          </a:xfrm>
          <a:prstGeom prst="rect">
            <a:avLst/>
          </a:prstGeom>
          <a:noFill/>
          <a:ln w="0">
            <a:noFill/>
          </a:ln>
        </p:spPr>
        <p:txBody>
          <a:bodyPr wrap="square" lIns="0" tIns="0" rIns="0" bIns="0" anchor="t">
            <a:noAutofit/>
          </a:bodyPr>
          <a:lstStyle>
            <a:defPPr algn="l">
              <a:defRPr lang="en-US" sz="1275" b="0">
                <a:solidFill>
                  <a:srgbClr val="822433"/>
                </a:solidFill>
                <a:latin typeface="Roboto"/>
                <a:ea typeface="Roboto"/>
                <a:cs typeface="Roboto"/>
              </a:defRPr>
            </a:defPPr>
            <a:lvl1pPr algn="l">
              <a:defRPr lang="en-US" sz="1275" b="0">
                <a:solidFill>
                  <a:srgbClr val="822433"/>
                </a:solidFill>
                <a:latin typeface="Roboto"/>
                <a:ea typeface="Roboto"/>
                <a:cs typeface="Roboto"/>
              </a:defRPr>
            </a:lvl1pPr>
            <a:lvl2pPr algn="l">
              <a:defRPr lang="en-US" sz="1275" b="0">
                <a:solidFill>
                  <a:srgbClr val="822433"/>
                </a:solidFill>
                <a:latin typeface="Roboto"/>
                <a:ea typeface="Roboto"/>
                <a:cs typeface="Roboto"/>
              </a:defRPr>
            </a:lvl2pPr>
            <a:lvl3pPr algn="l">
              <a:defRPr lang="en-US" sz="1275" b="0">
                <a:solidFill>
                  <a:srgbClr val="822433"/>
                </a:solidFill>
                <a:latin typeface="Roboto"/>
                <a:ea typeface="Roboto"/>
                <a:cs typeface="Roboto"/>
              </a:defRPr>
            </a:lvl3pPr>
            <a:lvl4pPr algn="l">
              <a:defRPr lang="en-US" sz="1275" b="0">
                <a:solidFill>
                  <a:srgbClr val="822433"/>
                </a:solidFill>
                <a:latin typeface="Roboto"/>
                <a:ea typeface="Roboto"/>
                <a:cs typeface="Roboto"/>
              </a:defRPr>
            </a:lvl4pPr>
            <a:lvl5pPr algn="l">
              <a:defRPr lang="en-US" sz="1275" b="0">
                <a:solidFill>
                  <a:srgbClr val="822433"/>
                </a:solidFill>
                <a:latin typeface="Roboto"/>
                <a:ea typeface="Roboto"/>
                <a:cs typeface="Roboto"/>
              </a:defRPr>
            </a:lvl5pPr>
            <a:lvl6pPr algn="l">
              <a:defRPr lang="en-US" sz="1275" b="0">
                <a:solidFill>
                  <a:srgbClr val="822433"/>
                </a:solidFill>
                <a:latin typeface="Roboto"/>
                <a:ea typeface="Roboto"/>
                <a:cs typeface="Roboto"/>
              </a:defRPr>
            </a:lvl6pPr>
            <a:lvl7pPr algn="l">
              <a:defRPr lang="en-US" sz="1275" b="0">
                <a:solidFill>
                  <a:srgbClr val="822433"/>
                </a:solidFill>
                <a:latin typeface="Roboto"/>
                <a:ea typeface="Roboto"/>
                <a:cs typeface="Roboto"/>
              </a:defRPr>
            </a:lvl7pPr>
            <a:lvl8pPr algn="l">
              <a:defRPr lang="en-US" sz="1275" b="0">
                <a:solidFill>
                  <a:srgbClr val="822433"/>
                </a:solidFill>
                <a:latin typeface="Roboto"/>
                <a:ea typeface="Roboto"/>
                <a:cs typeface="Roboto"/>
              </a:defRPr>
            </a:lvl8pPr>
            <a:lvl9pPr algn="l">
              <a:defRPr lang="en-US" sz="1275" b="0">
                <a:solidFill>
                  <a:srgbClr val="822433"/>
                </a:solidFill>
                <a:latin typeface="Roboto"/>
                <a:ea typeface="Roboto"/>
                <a:cs typeface="Roboto"/>
              </a:defRPr>
            </a:lvl9pPr>
          </a:lstStyle>
          <a:p>
            <a:pPr algn="l">
              <a:defRPr lang="en-US" sz="1275" b="0">
                <a:solidFill>
                  <a:srgbClr val="822433"/>
                </a:solidFill>
                <a:latin typeface="Roboto"/>
                <a:ea typeface="Roboto"/>
                <a:cs typeface="Roboto"/>
              </a:defRPr>
            </a:pPr>
            <a:r>
              <a:rPr lang="en-US" sz="1275" b="0" dirty="0">
                <a:solidFill>
                  <a:srgbClr val="822433"/>
                </a:solidFill>
                <a:latin typeface="Roboto"/>
                <a:ea typeface="Roboto"/>
                <a:cs typeface="Roboto"/>
                <a:hlinkClick r:id="rId7"/>
              </a:rPr>
              <a:t>arxiv.org/abs/2603.16451v3</a:t>
            </a:r>
          </a:p>
        </p:txBody>
      </p:sp>
    </p:spTree>
    <p:extLst>
      <p:ext uri="{BB962C8B-B14F-4D97-AF65-F5344CB8AC3E}">
        <p14:creationId xmlns:p14="http://schemas.microsoft.com/office/powerpoint/2010/main" val="208957553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FEFA7B-AE05-0E93-F6DA-08BF15B9696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69F7ED5-325C-0858-A07E-DD81E90EB74E}"/>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50753634-C5AA-8F05-2C47-1F18EC91E80F}"/>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46DF103-68A5-4471-67BA-0ABE7A64E13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12" name="Immagine 11">
            <a:extLst>
              <a:ext uri="{FF2B5EF4-FFF2-40B4-BE49-F238E27FC236}">
                <a16:creationId xmlns:a16="http://schemas.microsoft.com/office/drawing/2014/main" id="{994A5306-9AB1-EB3A-9F4B-62E554A0C662}"/>
              </a:ext>
            </a:extLst>
          </p:cNvPr>
          <p:cNvPicPr>
            <a:picLocks noChangeAspect="1"/>
          </p:cNvPicPr>
          <p:nvPr/>
        </p:nvPicPr>
        <p:blipFill>
          <a:blip r:embed="rId3"/>
          <a:stretch/>
        </p:blipFill>
        <p:spPr>
          <a:xfrm>
            <a:off x="2944375" y="1264260"/>
            <a:ext cx="3151625" cy="2363720"/>
          </a:xfrm>
          <a:prstGeom prst="rect">
            <a:avLst/>
          </a:prstGeom>
        </p:spPr>
      </p:pic>
      <p:sp>
        <p:nvSpPr>
          <p:cNvPr id="14" name="extra-caption-1">
            <a:extLst>
              <a:ext uri="{FF2B5EF4-FFF2-40B4-BE49-F238E27FC236}">
                <a16:creationId xmlns:a16="http://schemas.microsoft.com/office/drawing/2014/main" id="{D2347A2E-B4E2-561A-C329-06B52ABA1C61}"/>
              </a:ext>
            </a:extLst>
          </p:cNvPr>
          <p:cNvSpPr>
            <a:spLocks noGrp="1"/>
          </p:cNvSpPr>
          <p:nvPr/>
        </p:nvSpPr>
        <p:spPr>
          <a:xfrm>
            <a:off x="838200"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Dusty (75%)</a:t>
            </a:r>
          </a:p>
        </p:txBody>
      </p:sp>
      <p:pic>
        <p:nvPicPr>
          <p:cNvPr id="16" name="Immagine 15">
            <a:extLst>
              <a:ext uri="{FF2B5EF4-FFF2-40B4-BE49-F238E27FC236}">
                <a16:creationId xmlns:a16="http://schemas.microsoft.com/office/drawing/2014/main" id="{57D13467-A6C8-1982-4A35-BB5FF81E8173}"/>
              </a:ext>
            </a:extLst>
          </p:cNvPr>
          <p:cNvPicPr>
            <a:picLocks noChangeAspect="1"/>
          </p:cNvPicPr>
          <p:nvPr/>
        </p:nvPicPr>
        <p:blipFill>
          <a:blip r:embed="rId4"/>
          <a:stretch/>
        </p:blipFill>
        <p:spPr>
          <a:xfrm>
            <a:off x="6488542" y="1259963"/>
            <a:ext cx="3151625" cy="2363720"/>
          </a:xfrm>
          <a:prstGeom prst="rect">
            <a:avLst/>
          </a:prstGeom>
        </p:spPr>
      </p:pic>
      <p:sp>
        <p:nvSpPr>
          <p:cNvPr id="18" name="extra-caption-2">
            <a:extLst>
              <a:ext uri="{FF2B5EF4-FFF2-40B4-BE49-F238E27FC236}">
                <a16:creationId xmlns:a16="http://schemas.microsoft.com/office/drawing/2014/main" id="{D6C813FB-75DB-F059-F3AF-61ABB92A4DEB}"/>
              </a:ext>
            </a:extLst>
          </p:cNvPr>
          <p:cNvSpPr>
            <a:spLocks noGrp="1"/>
          </p:cNvSpPr>
          <p:nvPr/>
        </p:nvSpPr>
        <p:spPr>
          <a:xfrm>
            <a:off x="9247625" y="2296160"/>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Lighting: Clear (25%)</a:t>
            </a:r>
          </a:p>
        </p:txBody>
      </p:sp>
      <p:pic>
        <p:nvPicPr>
          <p:cNvPr id="20" name="Immagine 19">
            <a:extLst>
              <a:ext uri="{FF2B5EF4-FFF2-40B4-BE49-F238E27FC236}">
                <a16:creationId xmlns:a16="http://schemas.microsoft.com/office/drawing/2014/main" id="{94EFBD83-00E7-7053-6115-2C5DA9FC3781}"/>
              </a:ext>
            </a:extLst>
          </p:cNvPr>
          <p:cNvPicPr>
            <a:picLocks noChangeAspect="1"/>
          </p:cNvPicPr>
          <p:nvPr/>
        </p:nvPicPr>
        <p:blipFill>
          <a:blip r:embed="rId3"/>
          <a:stretch/>
        </p:blipFill>
        <p:spPr>
          <a:xfrm>
            <a:off x="1033455" y="3792548"/>
            <a:ext cx="3151625" cy="2363720"/>
          </a:xfrm>
          <a:prstGeom prst="rect">
            <a:avLst/>
          </a:prstGeom>
        </p:spPr>
      </p:pic>
      <p:sp>
        <p:nvSpPr>
          <p:cNvPr id="22" name="extra-caption-3">
            <a:extLst>
              <a:ext uri="{FF2B5EF4-FFF2-40B4-BE49-F238E27FC236}">
                <a16:creationId xmlns:a16="http://schemas.microsoft.com/office/drawing/2014/main" id="{BB7F0C39-7105-95F3-4BA4-0669E65EBF9E}"/>
              </a:ext>
            </a:extLst>
          </p:cNvPr>
          <p:cNvSpPr>
            <a:spLocks noGrp="1"/>
          </p:cNvSpPr>
          <p:nvPr/>
        </p:nvSpPr>
        <p:spPr>
          <a:xfrm>
            <a:off x="1382373" y="6254968"/>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None added (20%)</a:t>
            </a:r>
          </a:p>
        </p:txBody>
      </p:sp>
      <p:pic>
        <p:nvPicPr>
          <p:cNvPr id="24" name="Immagine 23">
            <a:extLst>
              <a:ext uri="{FF2B5EF4-FFF2-40B4-BE49-F238E27FC236}">
                <a16:creationId xmlns:a16="http://schemas.microsoft.com/office/drawing/2014/main" id="{DA7290F4-888E-5BD1-B3B6-B12D813480F1}"/>
              </a:ext>
            </a:extLst>
          </p:cNvPr>
          <p:cNvPicPr>
            <a:picLocks noChangeAspect="1"/>
          </p:cNvPicPr>
          <p:nvPr/>
        </p:nvPicPr>
        <p:blipFill>
          <a:blip r:embed="rId5"/>
          <a:stretch/>
        </p:blipFill>
        <p:spPr>
          <a:xfrm>
            <a:off x="4706641" y="3776379"/>
            <a:ext cx="3151625" cy="2363720"/>
          </a:xfrm>
          <a:prstGeom prst="rect">
            <a:avLst/>
          </a:prstGeom>
        </p:spPr>
      </p:pic>
      <p:sp>
        <p:nvSpPr>
          <p:cNvPr id="26" name="extra-caption-4">
            <a:extLst>
              <a:ext uri="{FF2B5EF4-FFF2-40B4-BE49-F238E27FC236}">
                <a16:creationId xmlns:a16="http://schemas.microsoft.com/office/drawing/2014/main" id="{69C2F15E-4859-F7BF-78E4-C4B8AAB7672C}"/>
              </a:ext>
            </a:extLst>
          </p:cNvPr>
          <p:cNvSpPr>
            <a:spLocks noGrp="1"/>
          </p:cNvSpPr>
          <p:nvPr/>
        </p:nvSpPr>
        <p:spPr>
          <a:xfrm>
            <a:off x="8678203"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Light (45%)</a:t>
            </a:r>
          </a:p>
        </p:txBody>
      </p:sp>
      <p:pic>
        <p:nvPicPr>
          <p:cNvPr id="28" name="Immagine 27">
            <a:extLst>
              <a:ext uri="{FF2B5EF4-FFF2-40B4-BE49-F238E27FC236}">
                <a16:creationId xmlns:a16="http://schemas.microsoft.com/office/drawing/2014/main" id="{3015F56D-57FD-8F33-C81A-950218238CF2}"/>
              </a:ext>
            </a:extLst>
          </p:cNvPr>
          <p:cNvPicPr>
            <a:picLocks noChangeAspect="1"/>
          </p:cNvPicPr>
          <p:nvPr/>
        </p:nvPicPr>
        <p:blipFill>
          <a:blip r:embed="rId6"/>
          <a:stretch/>
        </p:blipFill>
        <p:spPr>
          <a:xfrm>
            <a:off x="8379828" y="3776379"/>
            <a:ext cx="3151625" cy="2363720"/>
          </a:xfrm>
          <a:prstGeom prst="rect">
            <a:avLst/>
          </a:prstGeom>
        </p:spPr>
      </p:pic>
      <p:sp>
        <p:nvSpPr>
          <p:cNvPr id="30" name="extra-caption-5">
            <a:extLst>
              <a:ext uri="{FF2B5EF4-FFF2-40B4-BE49-F238E27FC236}">
                <a16:creationId xmlns:a16="http://schemas.microsoft.com/office/drawing/2014/main" id="{BC758623-D8C4-4BE0-48A6-86904C9CF19F}"/>
              </a:ext>
            </a:extLst>
          </p:cNvPr>
          <p:cNvSpPr>
            <a:spLocks noGrp="1"/>
          </p:cNvSpPr>
          <p:nvPr/>
        </p:nvSpPr>
        <p:spPr>
          <a:xfrm>
            <a:off x="5030288" y="6254307"/>
            <a:ext cx="2514600" cy="270048"/>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Wear: Evident (35%)</a:t>
            </a:r>
          </a:p>
        </p:txBody>
      </p:sp>
    </p:spTree>
    <p:extLst>
      <p:ext uri="{BB962C8B-B14F-4D97-AF65-F5344CB8AC3E}">
        <p14:creationId xmlns:p14="http://schemas.microsoft.com/office/powerpoint/2010/main" val="370500819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F0CEF5-92DD-848B-C55B-04F929CD593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A61F077-600E-A55F-AD3D-45E5700B6846}"/>
              </a:ext>
            </a:extLst>
          </p:cNvPr>
          <p:cNvSpPr>
            <a:spLocks noGrp="1"/>
          </p:cNvSpPr>
          <p:nvPr>
            <p:ph type="title"/>
          </p:nvPr>
        </p:nvSpPr>
        <p:spPr>
          <a:xfrm>
            <a:off x="838200" y="365125"/>
            <a:ext cx="8384177" cy="835787"/>
          </a:xfrm>
        </p:spPr>
        <p:txBody>
          <a:bodyPr/>
          <a:lstStyle/>
          <a:p>
            <a:r>
              <a:rPr lang="en-US" noProof="0" dirty="0">
                <a:solidFill>
                  <a:srgbClr val="822433"/>
                </a:solidFill>
              </a:rPr>
              <a:t>Extra: variations</a:t>
            </a:r>
          </a:p>
        </p:txBody>
      </p:sp>
      <p:sp>
        <p:nvSpPr>
          <p:cNvPr id="4" name="Google Shape;102;p14">
            <a:extLst>
              <a:ext uri="{FF2B5EF4-FFF2-40B4-BE49-F238E27FC236}">
                <a16:creationId xmlns:a16="http://schemas.microsoft.com/office/drawing/2014/main" id="{F525E9FE-F12F-0F9C-ED49-19599FADF364}"/>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D2596891-FC2D-C927-6511-997D290A2D0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32" name="Immagine 31">
            <a:extLst>
              <a:ext uri="{FF2B5EF4-FFF2-40B4-BE49-F238E27FC236}">
                <a16:creationId xmlns:a16="http://schemas.microsoft.com/office/drawing/2014/main" id="{18955CA9-EF13-4308-9116-555620D9B123}"/>
              </a:ext>
            </a:extLst>
          </p:cNvPr>
          <p:cNvPicPr>
            <a:picLocks noChangeAspect="1"/>
          </p:cNvPicPr>
          <p:nvPr/>
        </p:nvPicPr>
        <p:blipFill>
          <a:blip r:embed="rId3"/>
          <a:stretch/>
        </p:blipFill>
        <p:spPr>
          <a:xfrm>
            <a:off x="734313" y="1458918"/>
            <a:ext cx="2719821" cy="2039867"/>
          </a:xfrm>
          <a:prstGeom prst="rect">
            <a:avLst/>
          </a:prstGeom>
        </p:spPr>
      </p:pic>
      <p:sp>
        <p:nvSpPr>
          <p:cNvPr id="34" name="extra-caption-6">
            <a:extLst>
              <a:ext uri="{FF2B5EF4-FFF2-40B4-BE49-F238E27FC236}">
                <a16:creationId xmlns:a16="http://schemas.microsoft.com/office/drawing/2014/main" id="{88FB0E5A-8D8B-3AE4-5054-07B36256B72E}"/>
              </a:ext>
            </a:extLst>
          </p:cNvPr>
          <p:cNvSpPr>
            <a:spLocks noGrp="1"/>
          </p:cNvSpPr>
          <p:nvPr/>
        </p:nvSpPr>
        <p:spPr>
          <a:xfrm>
            <a:off x="860935" y="3531366"/>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a:solidFill>
                  <a:srgbClr val="202124"/>
                </a:solidFill>
                <a:latin typeface="Roboto"/>
                <a:ea typeface="Roboto"/>
                <a:cs typeface="Roboto"/>
              </a:rPr>
              <a:t>View A: Overhead (40%)</a:t>
            </a:r>
          </a:p>
        </p:txBody>
      </p:sp>
      <p:pic>
        <p:nvPicPr>
          <p:cNvPr id="36" name="Immagine 35">
            <a:extLst>
              <a:ext uri="{FF2B5EF4-FFF2-40B4-BE49-F238E27FC236}">
                <a16:creationId xmlns:a16="http://schemas.microsoft.com/office/drawing/2014/main" id="{06C6D9E1-5C88-C1A6-4798-66AD56BBE2EA}"/>
              </a:ext>
            </a:extLst>
          </p:cNvPr>
          <p:cNvPicPr>
            <a:picLocks noChangeAspect="1"/>
          </p:cNvPicPr>
          <p:nvPr/>
        </p:nvPicPr>
        <p:blipFill>
          <a:blip r:embed="rId4"/>
          <a:stretch/>
        </p:blipFill>
        <p:spPr>
          <a:xfrm>
            <a:off x="3522739" y="1458918"/>
            <a:ext cx="2719821" cy="2039867"/>
          </a:xfrm>
          <a:prstGeom prst="rect">
            <a:avLst/>
          </a:prstGeom>
        </p:spPr>
      </p:pic>
      <p:sp>
        <p:nvSpPr>
          <p:cNvPr id="38" name="extra-caption-7">
            <a:extLst>
              <a:ext uri="{FF2B5EF4-FFF2-40B4-BE49-F238E27FC236}">
                <a16:creationId xmlns:a16="http://schemas.microsoft.com/office/drawing/2014/main" id="{894FB89F-1F73-6B52-09D3-6E2FB4CFAFF5}"/>
              </a:ext>
            </a:extLst>
          </p:cNvPr>
          <p:cNvSpPr>
            <a:spLocks noGrp="1"/>
          </p:cNvSpPr>
          <p:nvPr/>
        </p:nvSpPr>
        <p:spPr>
          <a:xfrm>
            <a:off x="3683563" y="353136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C1: Leading (27.5%)</a:t>
            </a:r>
          </a:p>
        </p:txBody>
      </p:sp>
      <p:pic>
        <p:nvPicPr>
          <p:cNvPr id="40" name="Immagine 39">
            <a:extLst>
              <a:ext uri="{FF2B5EF4-FFF2-40B4-BE49-F238E27FC236}">
                <a16:creationId xmlns:a16="http://schemas.microsoft.com/office/drawing/2014/main" id="{9FC969FC-21E4-CF79-3946-C7FD2E5F15CA}"/>
              </a:ext>
            </a:extLst>
          </p:cNvPr>
          <p:cNvPicPr>
            <a:picLocks noChangeAspect="1"/>
          </p:cNvPicPr>
          <p:nvPr/>
        </p:nvPicPr>
        <p:blipFill>
          <a:blip r:embed="rId5"/>
          <a:stretch/>
        </p:blipFill>
        <p:spPr>
          <a:xfrm>
            <a:off x="6330214" y="1458918"/>
            <a:ext cx="2719821" cy="2039867"/>
          </a:xfrm>
          <a:prstGeom prst="rect">
            <a:avLst/>
          </a:prstGeom>
        </p:spPr>
      </p:pic>
      <p:sp>
        <p:nvSpPr>
          <p:cNvPr id="42" name="extra-caption-8">
            <a:extLst>
              <a:ext uri="{FF2B5EF4-FFF2-40B4-BE49-F238E27FC236}">
                <a16:creationId xmlns:a16="http://schemas.microsoft.com/office/drawing/2014/main" id="{66702C7C-350C-6B5A-7394-8E5465C7D857}"/>
              </a:ext>
            </a:extLst>
          </p:cNvPr>
          <p:cNvSpPr>
            <a:spLocks noGrp="1"/>
          </p:cNvSpPr>
          <p:nvPr/>
        </p:nvSpPr>
        <p:spPr>
          <a:xfrm>
            <a:off x="6432824" y="3539252"/>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C2: Trailing (27.5%)</a:t>
            </a:r>
          </a:p>
        </p:txBody>
      </p:sp>
      <p:pic>
        <p:nvPicPr>
          <p:cNvPr id="44" name="Immagine 43">
            <a:extLst>
              <a:ext uri="{FF2B5EF4-FFF2-40B4-BE49-F238E27FC236}">
                <a16:creationId xmlns:a16="http://schemas.microsoft.com/office/drawing/2014/main" id="{3090CBA4-61E4-1361-4845-0AE693510AC0}"/>
              </a:ext>
            </a:extLst>
          </p:cNvPr>
          <p:cNvPicPr>
            <a:picLocks noChangeAspect="1"/>
          </p:cNvPicPr>
          <p:nvPr/>
        </p:nvPicPr>
        <p:blipFill>
          <a:blip r:embed="rId6"/>
          <a:stretch/>
        </p:blipFill>
        <p:spPr>
          <a:xfrm>
            <a:off x="9137689" y="1458917"/>
            <a:ext cx="2719821" cy="2039867"/>
          </a:xfrm>
          <a:prstGeom prst="rect">
            <a:avLst/>
          </a:prstGeom>
        </p:spPr>
      </p:pic>
      <p:sp>
        <p:nvSpPr>
          <p:cNvPr id="46" name="extra-caption-9">
            <a:extLst>
              <a:ext uri="{FF2B5EF4-FFF2-40B4-BE49-F238E27FC236}">
                <a16:creationId xmlns:a16="http://schemas.microsoft.com/office/drawing/2014/main" id="{F06F78EE-BA1D-D5DC-95D0-E2D1ABB1282E}"/>
              </a:ext>
            </a:extLst>
          </p:cNvPr>
          <p:cNvSpPr>
            <a:spLocks noGrp="1"/>
          </p:cNvSpPr>
          <p:nvPr/>
        </p:nvSpPr>
        <p:spPr>
          <a:xfrm>
            <a:off x="9240299" y="3559069"/>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View D: Upper detail (5%)</a:t>
            </a:r>
          </a:p>
        </p:txBody>
      </p:sp>
      <p:pic>
        <p:nvPicPr>
          <p:cNvPr id="48" name="Immagine 47">
            <a:extLst>
              <a:ext uri="{FF2B5EF4-FFF2-40B4-BE49-F238E27FC236}">
                <a16:creationId xmlns:a16="http://schemas.microsoft.com/office/drawing/2014/main" id="{43D31A3E-9BEB-113E-6FD1-6682D56C1DAF}"/>
              </a:ext>
            </a:extLst>
          </p:cNvPr>
          <p:cNvPicPr>
            <a:picLocks noChangeAspect="1"/>
          </p:cNvPicPr>
          <p:nvPr/>
        </p:nvPicPr>
        <p:blipFill>
          <a:blip r:embed="rId7"/>
          <a:stretch/>
        </p:blipFill>
        <p:spPr>
          <a:xfrm>
            <a:off x="1322576" y="3907343"/>
            <a:ext cx="2719821" cy="2039867"/>
          </a:xfrm>
          <a:prstGeom prst="rect">
            <a:avLst/>
          </a:prstGeom>
        </p:spPr>
      </p:pic>
      <p:sp>
        <p:nvSpPr>
          <p:cNvPr id="50" name="extra-caption-10">
            <a:extLst>
              <a:ext uri="{FF2B5EF4-FFF2-40B4-BE49-F238E27FC236}">
                <a16:creationId xmlns:a16="http://schemas.microsoft.com/office/drawing/2014/main" id="{8FE51700-9143-B829-C052-FBE53EF6D888}"/>
              </a:ext>
            </a:extLst>
          </p:cNvPr>
          <p:cNvSpPr>
            <a:spLocks noGrp="1"/>
          </p:cNvSpPr>
          <p:nvPr/>
        </p:nvSpPr>
        <p:spPr>
          <a:xfrm>
            <a:off x="1402994"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Small hole: 50%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2.7–4.1 cm</a:t>
            </a:r>
          </a:p>
        </p:txBody>
      </p:sp>
      <p:pic>
        <p:nvPicPr>
          <p:cNvPr id="52" name="Immagine 51">
            <a:extLst>
              <a:ext uri="{FF2B5EF4-FFF2-40B4-BE49-F238E27FC236}">
                <a16:creationId xmlns:a16="http://schemas.microsoft.com/office/drawing/2014/main" id="{72E58E8A-680E-484A-966D-6CDAF7C802C6}"/>
              </a:ext>
            </a:extLst>
          </p:cNvPr>
          <p:cNvPicPr>
            <a:picLocks noChangeAspect="1"/>
          </p:cNvPicPr>
          <p:nvPr/>
        </p:nvPicPr>
        <p:blipFill>
          <a:blip r:embed="rId8"/>
          <a:stretch/>
        </p:blipFill>
        <p:spPr>
          <a:xfrm>
            <a:off x="4980337" y="3907343"/>
            <a:ext cx="2719821" cy="2039867"/>
          </a:xfrm>
          <a:prstGeom prst="rect">
            <a:avLst/>
          </a:prstGeom>
        </p:spPr>
      </p:pic>
      <p:sp>
        <p:nvSpPr>
          <p:cNvPr id="54" name="extra-caption-11">
            <a:extLst>
              <a:ext uri="{FF2B5EF4-FFF2-40B4-BE49-F238E27FC236}">
                <a16:creationId xmlns:a16="http://schemas.microsoft.com/office/drawing/2014/main" id="{461F54F3-E83D-8CCF-0C72-0EF0554BED93}"/>
              </a:ext>
            </a:extLst>
          </p:cNvPr>
          <p:cNvSpPr>
            <a:spLocks noGrp="1"/>
          </p:cNvSpPr>
          <p:nvPr/>
        </p:nvSpPr>
        <p:spPr>
          <a:xfrm>
            <a:off x="5071851"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Medium hole: 40%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4.4–6.8 cm</a:t>
            </a:r>
          </a:p>
        </p:txBody>
      </p:sp>
      <p:pic>
        <p:nvPicPr>
          <p:cNvPr id="56" name="Immagine 55">
            <a:extLst>
              <a:ext uri="{FF2B5EF4-FFF2-40B4-BE49-F238E27FC236}">
                <a16:creationId xmlns:a16="http://schemas.microsoft.com/office/drawing/2014/main" id="{37AB3CC2-AF20-7F12-0A1E-5417CA65FE07}"/>
              </a:ext>
            </a:extLst>
          </p:cNvPr>
          <p:cNvPicPr>
            <a:picLocks noChangeAspect="1"/>
          </p:cNvPicPr>
          <p:nvPr/>
        </p:nvPicPr>
        <p:blipFill>
          <a:blip r:embed="rId9"/>
          <a:stretch/>
        </p:blipFill>
        <p:spPr>
          <a:xfrm>
            <a:off x="8638098" y="3922439"/>
            <a:ext cx="2719821" cy="2039867"/>
          </a:xfrm>
          <a:prstGeom prst="rect">
            <a:avLst/>
          </a:prstGeom>
        </p:spPr>
      </p:pic>
      <p:sp>
        <p:nvSpPr>
          <p:cNvPr id="58" name="extra-caption-12">
            <a:extLst>
              <a:ext uri="{FF2B5EF4-FFF2-40B4-BE49-F238E27FC236}">
                <a16:creationId xmlns:a16="http://schemas.microsoft.com/office/drawing/2014/main" id="{1AF8C803-E063-7A7B-E80C-2A31243957AB}"/>
              </a:ext>
            </a:extLst>
          </p:cNvPr>
          <p:cNvSpPr>
            <a:spLocks noGrp="1"/>
          </p:cNvSpPr>
          <p:nvPr/>
        </p:nvSpPr>
        <p:spPr>
          <a:xfrm>
            <a:off x="8740708" y="5994835"/>
            <a:ext cx="2514600" cy="466725"/>
          </a:xfrm>
          <a:prstGeom prst="rect">
            <a:avLst/>
          </a:prstGeom>
          <a:noFill/>
          <a:ln w="0">
            <a:noFill/>
          </a:ln>
        </p:spPr>
        <p:txBody>
          <a:bodyPr wrap="square" lIns="0" tIns="0" rIns="0" bIns="0" anchor="t">
            <a:noAutofit/>
          </a:bodyPr>
          <a:lstStyle>
            <a:defPPr algn="ctr">
              <a:defRPr sz="1538" b="0">
                <a:solidFill>
                  <a:srgbClr val="202124"/>
                </a:solidFill>
                <a:latin typeface="Roboto"/>
                <a:ea typeface="Roboto"/>
                <a:cs typeface="Roboto"/>
              </a:defRPr>
            </a:defPPr>
            <a:lvl1pPr algn="ctr">
              <a:defRPr sz="1538" b="0">
                <a:solidFill>
                  <a:srgbClr val="202124"/>
                </a:solidFill>
                <a:latin typeface="Roboto"/>
                <a:ea typeface="Roboto"/>
                <a:cs typeface="Roboto"/>
              </a:defRPr>
            </a:lvl1pPr>
            <a:lvl2pPr algn="ctr">
              <a:defRPr sz="1538" b="0">
                <a:solidFill>
                  <a:srgbClr val="202124"/>
                </a:solidFill>
                <a:latin typeface="Roboto"/>
                <a:ea typeface="Roboto"/>
                <a:cs typeface="Roboto"/>
              </a:defRPr>
            </a:lvl2pPr>
            <a:lvl3pPr algn="ctr">
              <a:defRPr sz="1538" b="0">
                <a:solidFill>
                  <a:srgbClr val="202124"/>
                </a:solidFill>
                <a:latin typeface="Roboto"/>
                <a:ea typeface="Roboto"/>
                <a:cs typeface="Roboto"/>
              </a:defRPr>
            </a:lvl3pPr>
            <a:lvl4pPr algn="ctr">
              <a:defRPr sz="1538" b="0">
                <a:solidFill>
                  <a:srgbClr val="202124"/>
                </a:solidFill>
                <a:latin typeface="Roboto"/>
                <a:ea typeface="Roboto"/>
                <a:cs typeface="Roboto"/>
              </a:defRPr>
            </a:lvl4pPr>
            <a:lvl5pPr algn="ctr">
              <a:defRPr sz="1538" b="0">
                <a:solidFill>
                  <a:srgbClr val="202124"/>
                </a:solidFill>
                <a:latin typeface="Roboto"/>
                <a:ea typeface="Roboto"/>
                <a:cs typeface="Roboto"/>
              </a:defRPr>
            </a:lvl5pPr>
            <a:lvl6pPr algn="ctr">
              <a:defRPr sz="1538" b="0">
                <a:solidFill>
                  <a:srgbClr val="202124"/>
                </a:solidFill>
                <a:latin typeface="Roboto"/>
                <a:ea typeface="Roboto"/>
                <a:cs typeface="Roboto"/>
              </a:defRPr>
            </a:lvl6pPr>
            <a:lvl7pPr algn="ctr">
              <a:defRPr sz="1538" b="0">
                <a:solidFill>
                  <a:srgbClr val="202124"/>
                </a:solidFill>
                <a:latin typeface="Roboto"/>
                <a:ea typeface="Roboto"/>
                <a:cs typeface="Roboto"/>
              </a:defRPr>
            </a:lvl7pPr>
            <a:lvl8pPr algn="ctr">
              <a:defRPr sz="1538" b="0">
                <a:solidFill>
                  <a:srgbClr val="202124"/>
                </a:solidFill>
                <a:latin typeface="Roboto"/>
                <a:ea typeface="Roboto"/>
                <a:cs typeface="Roboto"/>
              </a:defRPr>
            </a:lvl8pPr>
            <a:lvl9pPr algn="ctr">
              <a:defRPr sz="1538" b="0">
                <a:solidFill>
                  <a:srgbClr val="202124"/>
                </a:solidFill>
                <a:latin typeface="Roboto"/>
                <a:ea typeface="Roboto"/>
                <a:cs typeface="Roboto"/>
              </a:defRPr>
            </a:lvl9pPr>
          </a:lstStyle>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Large hole: 10%</a:t>
            </a:r>
          </a:p>
          <a:p>
            <a:pPr algn="ctr">
              <a:defRPr sz="1538" b="0">
                <a:solidFill>
                  <a:srgbClr val="202124"/>
                </a:solidFill>
                <a:latin typeface="Roboto"/>
                <a:ea typeface="Roboto"/>
                <a:cs typeface="Roboto"/>
              </a:defRPr>
            </a:pPr>
            <a:r>
              <a:rPr sz="1100" b="0" dirty="0">
                <a:solidFill>
                  <a:srgbClr val="202124"/>
                </a:solidFill>
                <a:latin typeface="Roboto"/>
                <a:ea typeface="Roboto"/>
                <a:cs typeface="Roboto"/>
              </a:rPr>
              <a:t>7.3–11.6 cm</a:t>
            </a:r>
          </a:p>
        </p:txBody>
      </p:sp>
    </p:spTree>
    <p:extLst>
      <p:ext uri="{BB962C8B-B14F-4D97-AF65-F5344CB8AC3E}">
        <p14:creationId xmlns:p14="http://schemas.microsoft.com/office/powerpoint/2010/main" val="305511366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028767-0239-DD82-079D-9327F2EE38F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E3868458-DB65-8F2D-299C-82C5725BD62E}"/>
              </a:ext>
            </a:extLst>
          </p:cNvPr>
          <p:cNvSpPr>
            <a:spLocks noGrp="1"/>
          </p:cNvSpPr>
          <p:nvPr>
            <p:ph type="title"/>
          </p:nvPr>
        </p:nvSpPr>
        <p:spPr>
          <a:xfrm>
            <a:off x="838200" y="365125"/>
            <a:ext cx="8384177" cy="835787"/>
          </a:xfrm>
        </p:spPr>
        <p:txBody>
          <a:bodyPr/>
          <a:lstStyle/>
          <a:p>
            <a:r>
              <a:rPr lang="en-US" dirty="0">
                <a:solidFill>
                  <a:srgbClr val="822433"/>
                </a:solidFill>
              </a:rPr>
              <a:t>Extra: Loss function ablation</a:t>
            </a:r>
            <a:endParaRPr lang="en-US" noProof="0" dirty="0">
              <a:solidFill>
                <a:srgbClr val="822433"/>
              </a:solidFill>
            </a:endParaRPr>
          </a:p>
        </p:txBody>
      </p:sp>
      <p:sp>
        <p:nvSpPr>
          <p:cNvPr id="4" name="Google Shape;102;p14">
            <a:extLst>
              <a:ext uri="{FF2B5EF4-FFF2-40B4-BE49-F238E27FC236}">
                <a16:creationId xmlns:a16="http://schemas.microsoft.com/office/drawing/2014/main" id="{055A6A55-C5AD-1A50-F4C2-7450CE79D246}"/>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39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60426956-E2EA-9C7E-FA84-ECDD00CC2095}"/>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6A3FFCA-0B3B-C26F-FD48-531654BA2AEE}"/>
              </a:ext>
            </a:extLst>
          </p:cNvPr>
          <p:cNvGraphicFramePr/>
          <p:nvPr>
            <p:extLst>
              <p:ext uri="{D42A27DB-BD31-4B8C-83A1-F6EECF244321}">
                <p14:modId xmlns:p14="http://schemas.microsoft.com/office/powerpoint/2010/main" val="3167910254"/>
              </p:ext>
            </p:extLst>
          </p:nvPr>
        </p:nvGraphicFramePr>
        <p:xfrm>
          <a:off x="2798618" y="1803133"/>
          <a:ext cx="7429500" cy="2905125"/>
        </p:xfrm>
        <a:graphic>
          <a:graphicData uri="http://schemas.openxmlformats.org/drawingml/2006/chart">
            <c:chart xmlns:c="http://schemas.openxmlformats.org/drawingml/2006/chart" xmlns:r="http://schemas.openxmlformats.org/officeDocument/2006/relationships" r:id="rId3"/>
          </a:graphicData>
        </a:graphic>
      </p:graphicFrame>
      <p:sp>
        <p:nvSpPr>
          <p:cNvPr id="14" name="weighting-title">
            <a:extLst>
              <a:ext uri="{FF2B5EF4-FFF2-40B4-BE49-F238E27FC236}">
                <a16:creationId xmlns:a16="http://schemas.microsoft.com/office/drawing/2014/main" id="{542CBF3B-BBA9-9DA7-A88C-6DAF7D4FAA73}"/>
              </a:ext>
            </a:extLst>
          </p:cNvPr>
          <p:cNvSpPr>
            <a:spLocks noGrp="1"/>
          </p:cNvSpPr>
          <p:nvPr/>
        </p:nvSpPr>
        <p:spPr>
          <a:xfrm>
            <a:off x="3740727" y="4931143"/>
            <a:ext cx="5153891" cy="409575"/>
          </a:xfrm>
          <a:prstGeom prst="rect">
            <a:avLst/>
          </a:prstGeom>
          <a:noFill/>
          <a:ln w="0">
            <a:noFill/>
          </a:ln>
        </p:spPr>
        <p:txBody>
          <a:bodyPr wrap="square" lIns="0" tIns="0" rIns="0" bIns="0" anchor="t">
            <a:noAutofit/>
          </a:bodyPr>
          <a:lstStyle>
            <a:defPPr algn="l">
              <a:defRPr lang="en-US" sz="2100" b="0">
                <a:solidFill>
                  <a:srgbClr val="202124"/>
                </a:solidFill>
                <a:latin typeface="Roboto"/>
                <a:ea typeface="Roboto"/>
                <a:cs typeface="Roboto"/>
              </a:defRPr>
            </a:defPPr>
            <a:lvl1pPr algn="l">
              <a:defRPr lang="en-US" sz="2100" b="0">
                <a:solidFill>
                  <a:srgbClr val="202124"/>
                </a:solidFill>
                <a:latin typeface="Roboto"/>
                <a:ea typeface="Roboto"/>
                <a:cs typeface="Roboto"/>
              </a:defRPr>
            </a:lvl1pPr>
            <a:lvl2pPr algn="l">
              <a:defRPr lang="en-US" sz="2100" b="0">
                <a:solidFill>
                  <a:srgbClr val="202124"/>
                </a:solidFill>
                <a:latin typeface="Roboto"/>
                <a:ea typeface="Roboto"/>
                <a:cs typeface="Roboto"/>
              </a:defRPr>
            </a:lvl2pPr>
            <a:lvl3pPr algn="l">
              <a:defRPr lang="en-US" sz="2100" b="0">
                <a:solidFill>
                  <a:srgbClr val="202124"/>
                </a:solidFill>
                <a:latin typeface="Roboto"/>
                <a:ea typeface="Roboto"/>
                <a:cs typeface="Roboto"/>
              </a:defRPr>
            </a:lvl3pPr>
            <a:lvl4pPr algn="l">
              <a:defRPr lang="en-US" sz="2100" b="0">
                <a:solidFill>
                  <a:srgbClr val="202124"/>
                </a:solidFill>
                <a:latin typeface="Roboto"/>
                <a:ea typeface="Roboto"/>
                <a:cs typeface="Roboto"/>
              </a:defRPr>
            </a:lvl4pPr>
            <a:lvl5pPr algn="l">
              <a:defRPr lang="en-US" sz="2100" b="0">
                <a:solidFill>
                  <a:srgbClr val="202124"/>
                </a:solidFill>
                <a:latin typeface="Roboto"/>
                <a:ea typeface="Roboto"/>
                <a:cs typeface="Roboto"/>
              </a:defRPr>
            </a:lvl5pPr>
            <a:lvl6pPr algn="l">
              <a:defRPr lang="en-US" sz="2100" b="0">
                <a:solidFill>
                  <a:srgbClr val="202124"/>
                </a:solidFill>
                <a:latin typeface="Roboto"/>
                <a:ea typeface="Roboto"/>
                <a:cs typeface="Roboto"/>
              </a:defRPr>
            </a:lvl6pPr>
            <a:lvl7pPr algn="l">
              <a:defRPr lang="en-US" sz="2100" b="0">
                <a:solidFill>
                  <a:srgbClr val="202124"/>
                </a:solidFill>
                <a:latin typeface="Roboto"/>
                <a:ea typeface="Roboto"/>
                <a:cs typeface="Roboto"/>
              </a:defRPr>
            </a:lvl7pPr>
            <a:lvl8pPr algn="l">
              <a:defRPr lang="en-US" sz="2100" b="0">
                <a:solidFill>
                  <a:srgbClr val="202124"/>
                </a:solidFill>
                <a:latin typeface="Roboto"/>
                <a:ea typeface="Roboto"/>
                <a:cs typeface="Roboto"/>
              </a:defRPr>
            </a:lvl8pPr>
            <a:lvl9pPr algn="l">
              <a:defRPr lang="en-US" sz="2100" b="0">
                <a:solidFill>
                  <a:srgbClr val="202124"/>
                </a:solidFill>
                <a:latin typeface="Roboto"/>
                <a:ea typeface="Roboto"/>
                <a:cs typeface="Roboto"/>
              </a:defRPr>
            </a:lvl9pPr>
          </a:lstStyle>
          <a:p>
            <a:pPr algn="l">
              <a:defRPr lang="en-US" sz="2100" b="0">
                <a:solidFill>
                  <a:srgbClr val="202124"/>
                </a:solidFill>
                <a:latin typeface="Roboto"/>
                <a:ea typeface="Roboto"/>
                <a:cs typeface="Roboto"/>
              </a:defRPr>
            </a:pPr>
            <a:r>
              <a:rPr lang="en-US" sz="2100" b="0" u="sng" dirty="0">
                <a:solidFill>
                  <a:srgbClr val="202124"/>
                </a:solidFill>
                <a:latin typeface="Roboto"/>
                <a:ea typeface="Roboto"/>
                <a:cs typeface="Roboto"/>
              </a:rPr>
              <a:t>U-Net R34: Dice weighting within CE + GDL</a:t>
            </a:r>
          </a:p>
        </p:txBody>
      </p:sp>
      <p:graphicFrame>
        <p:nvGraphicFramePr>
          <p:cNvPr id="16" name="Tabella 15">
            <a:extLst>
              <a:ext uri="{FF2B5EF4-FFF2-40B4-BE49-F238E27FC236}">
                <a16:creationId xmlns:a16="http://schemas.microsoft.com/office/drawing/2014/main" id="{9AF89638-339F-0DB8-7503-6218661B1C45}"/>
              </a:ext>
            </a:extLst>
          </p:cNvPr>
          <p:cNvGraphicFramePr/>
          <p:nvPr/>
        </p:nvGraphicFramePr>
        <p:xfrm>
          <a:off x="904875" y="5286375"/>
          <a:ext cx="10382250" cy="874395"/>
        </p:xfrm>
        <a:graphic>
          <a:graphicData uri="http://schemas.openxmlformats.org/drawingml/2006/table">
            <a:tbl>
              <a:tblPr/>
              <a:tblGrid>
                <a:gridCol w="3457575">
                  <a:extLst>
                    <a:ext uri="{9D8B030D-6E8A-4147-A177-3AD203B41FA5}">
                      <a16:colId xmlns:a16="http://schemas.microsoft.com/office/drawing/2014/main" val="20000"/>
                    </a:ext>
                  </a:extLst>
                </a:gridCol>
                <a:gridCol w="3467100">
                  <a:extLst>
                    <a:ext uri="{9D8B030D-6E8A-4147-A177-3AD203B41FA5}">
                      <a16:colId xmlns:a16="http://schemas.microsoft.com/office/drawing/2014/main" val="20001"/>
                    </a:ext>
                  </a:extLst>
                </a:gridCol>
                <a:gridCol w="3457575">
                  <a:extLst>
                    <a:ext uri="{9D8B030D-6E8A-4147-A177-3AD203B41FA5}">
                      <a16:colId xmlns:a16="http://schemas.microsoft.com/office/drawing/2014/main" val="20002"/>
                    </a:ext>
                  </a:extLst>
                </a:gridCol>
              </a:tblGrid>
              <a:tr h="390525">
                <a:tc>
                  <a:txBody>
                    <a:bodyPr/>
                    <a:lstStyle/>
                    <a:p>
                      <a:pPr algn="ctr"/>
                      <a:r>
                        <a:rPr lang="en-US" sz="1875">
                          <a:solidFill>
                            <a:srgbClr val="202124"/>
                          </a:solidFill>
                          <a:latin typeface="Roboto"/>
                          <a:ea typeface="Roboto"/>
                          <a:cs typeface="Roboto"/>
                        </a:rPr>
                        <a:t>Inverse square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Inverse volume</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1875">
                          <a:solidFill>
                            <a:srgbClr val="202124"/>
                          </a:solidFill>
                          <a:latin typeface="Roboto"/>
                          <a:ea typeface="Roboto"/>
                          <a:cs typeface="Roboto"/>
                        </a:rPr>
                        <a:t>Uniform</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0"/>
                  </a:ext>
                </a:extLst>
              </a:tr>
              <a:tr h="390525">
                <a:tc>
                  <a:txBody>
                    <a:bodyPr/>
                    <a:lstStyle/>
                    <a:p>
                      <a:pPr algn="ctr"/>
                      <a:r>
                        <a:rPr lang="en-US" sz="2550" b="1">
                          <a:solidFill>
                            <a:srgbClr val="822433"/>
                          </a:solidFill>
                          <a:latin typeface="Roboto"/>
                          <a:ea typeface="Roboto"/>
                          <a:cs typeface="Roboto"/>
                        </a:rPr>
                        <a:t>64.5</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57.2</a:t>
                      </a:r>
                    </a:p>
                  </a:txBody>
                  <a:tcPr marL="76200" marR="76200" marT="47625" marB="47625"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62.2</a:t>
                      </a:r>
                    </a:p>
                  </a:txBody>
                  <a:tcPr marL="76200" marR="76200" marT="47625" marB="47625"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1"/>
                  </a:ext>
                </a:extLst>
              </a:tr>
            </a:tbl>
          </a:graphicData>
        </a:graphic>
      </p:graphicFrame>
    </p:spTree>
    <p:extLst>
      <p:ext uri="{BB962C8B-B14F-4D97-AF65-F5344CB8AC3E}">
        <p14:creationId xmlns:p14="http://schemas.microsoft.com/office/powerpoint/2010/main" val="345729194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02A263-024C-5473-90F1-F6EAEFE353A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4AFB3F7-0C8F-EA3A-4B5C-950064476B76}"/>
              </a:ext>
            </a:extLst>
          </p:cNvPr>
          <p:cNvSpPr>
            <a:spLocks noGrp="1"/>
          </p:cNvSpPr>
          <p:nvPr>
            <p:ph type="title"/>
          </p:nvPr>
        </p:nvSpPr>
        <p:spPr>
          <a:xfrm>
            <a:off x="838200" y="365125"/>
            <a:ext cx="8384177" cy="835787"/>
          </a:xfrm>
        </p:spPr>
        <p:txBody>
          <a:bodyPr/>
          <a:lstStyle/>
          <a:p>
            <a:r>
              <a:rPr lang="en-US" dirty="0">
                <a:solidFill>
                  <a:srgbClr val="822433"/>
                </a:solidFill>
              </a:rPr>
              <a:t>Extra: P</a:t>
            </a:r>
            <a:r>
              <a:rPr lang="en-US" noProof="0" dirty="0">
                <a:solidFill>
                  <a:srgbClr val="822433"/>
                </a:solidFill>
              </a:rPr>
              <a:t>reprocessing</a:t>
            </a:r>
          </a:p>
        </p:txBody>
      </p:sp>
      <p:sp>
        <p:nvSpPr>
          <p:cNvPr id="4" name="Google Shape;102;p14">
            <a:extLst>
              <a:ext uri="{FF2B5EF4-FFF2-40B4-BE49-F238E27FC236}">
                <a16:creationId xmlns:a16="http://schemas.microsoft.com/office/drawing/2014/main" id="{E086F621-31B2-9F0E-AFA3-DABF507F90C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48C1BFEE-7512-864B-37AE-7FCE2D1A68E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Chart">
            <a:extLst>
              <a:ext uri="{FF2B5EF4-FFF2-40B4-BE49-F238E27FC236}">
                <a16:creationId xmlns:a16="http://schemas.microsoft.com/office/drawing/2014/main" id="{C953AD1A-D91F-F1FA-8BD7-2E6BB57D0BF1}"/>
              </a:ext>
            </a:extLst>
          </p:cNvPr>
          <p:cNvGraphicFramePr/>
          <p:nvPr/>
        </p:nvGraphicFramePr>
        <p:xfrm>
          <a:off x="762000" y="1657350"/>
          <a:ext cx="8048625" cy="3781425"/>
        </p:xfrm>
        <a:graphic>
          <a:graphicData uri="http://schemas.openxmlformats.org/drawingml/2006/chart">
            <c:chart xmlns:c="http://schemas.openxmlformats.org/drawingml/2006/chart" xmlns:r="http://schemas.openxmlformats.org/officeDocument/2006/relationships" r:id="rId3"/>
          </a:graphicData>
        </a:graphic>
      </p:graphicFrame>
      <p:sp>
        <p:nvSpPr>
          <p:cNvPr id="10" name="ablation-best">
            <a:extLst>
              <a:ext uri="{FF2B5EF4-FFF2-40B4-BE49-F238E27FC236}">
                <a16:creationId xmlns:a16="http://schemas.microsoft.com/office/drawing/2014/main" id="{83A1DE4B-DAC2-9C5D-ACEF-AFE0E7232134}"/>
              </a:ext>
            </a:extLst>
          </p:cNvPr>
          <p:cNvSpPr>
            <a:spLocks noGrp="1"/>
          </p:cNvSpPr>
          <p:nvPr/>
        </p:nvSpPr>
        <p:spPr>
          <a:xfrm>
            <a:off x="8839200" y="2815590"/>
            <a:ext cx="2857500" cy="838200"/>
          </a:xfrm>
          <a:prstGeom prst="rect">
            <a:avLst/>
          </a:prstGeom>
          <a:noFill/>
          <a:ln w="0">
            <a:noFill/>
          </a:ln>
        </p:spPr>
        <p:txBody>
          <a:bodyPr wrap="square" lIns="0" tIns="0" rIns="0" bIns="0" anchor="t">
            <a:noAutofit/>
          </a:bodyPr>
          <a:lstStyle>
            <a:defPPr algn="ctr">
              <a:defRPr lang="en-US" sz="4350" b="1">
                <a:solidFill>
                  <a:srgbClr val="822433"/>
                </a:solidFill>
                <a:latin typeface="Roboto"/>
                <a:ea typeface="Roboto"/>
                <a:cs typeface="Roboto"/>
              </a:defRPr>
            </a:defPPr>
            <a:lvl1pPr algn="ctr">
              <a:defRPr lang="en-US" sz="4350" b="1">
                <a:solidFill>
                  <a:srgbClr val="822433"/>
                </a:solidFill>
                <a:latin typeface="Roboto"/>
                <a:ea typeface="Roboto"/>
                <a:cs typeface="Roboto"/>
              </a:defRPr>
            </a:lvl1pPr>
            <a:lvl2pPr algn="ctr">
              <a:defRPr lang="en-US" sz="4350" b="1">
                <a:solidFill>
                  <a:srgbClr val="822433"/>
                </a:solidFill>
                <a:latin typeface="Roboto"/>
                <a:ea typeface="Roboto"/>
                <a:cs typeface="Roboto"/>
              </a:defRPr>
            </a:lvl2pPr>
            <a:lvl3pPr algn="ctr">
              <a:defRPr lang="en-US" sz="4350" b="1">
                <a:solidFill>
                  <a:srgbClr val="822433"/>
                </a:solidFill>
                <a:latin typeface="Roboto"/>
                <a:ea typeface="Roboto"/>
                <a:cs typeface="Roboto"/>
              </a:defRPr>
            </a:lvl3pPr>
            <a:lvl4pPr algn="ctr">
              <a:defRPr lang="en-US" sz="4350" b="1">
                <a:solidFill>
                  <a:srgbClr val="822433"/>
                </a:solidFill>
                <a:latin typeface="Roboto"/>
                <a:ea typeface="Roboto"/>
                <a:cs typeface="Roboto"/>
              </a:defRPr>
            </a:lvl4pPr>
            <a:lvl5pPr algn="ctr">
              <a:defRPr lang="en-US" sz="4350" b="1">
                <a:solidFill>
                  <a:srgbClr val="822433"/>
                </a:solidFill>
                <a:latin typeface="Roboto"/>
                <a:ea typeface="Roboto"/>
                <a:cs typeface="Roboto"/>
              </a:defRPr>
            </a:lvl5pPr>
            <a:lvl6pPr algn="ctr">
              <a:defRPr lang="en-US" sz="4350" b="1">
                <a:solidFill>
                  <a:srgbClr val="822433"/>
                </a:solidFill>
                <a:latin typeface="Roboto"/>
                <a:ea typeface="Roboto"/>
                <a:cs typeface="Roboto"/>
              </a:defRPr>
            </a:lvl6pPr>
            <a:lvl7pPr algn="ctr">
              <a:defRPr lang="en-US" sz="4350" b="1">
                <a:solidFill>
                  <a:srgbClr val="822433"/>
                </a:solidFill>
                <a:latin typeface="Roboto"/>
                <a:ea typeface="Roboto"/>
                <a:cs typeface="Roboto"/>
              </a:defRPr>
            </a:lvl7pPr>
            <a:lvl8pPr algn="ctr">
              <a:defRPr lang="en-US" sz="4350" b="1">
                <a:solidFill>
                  <a:srgbClr val="822433"/>
                </a:solidFill>
                <a:latin typeface="Roboto"/>
                <a:ea typeface="Roboto"/>
                <a:cs typeface="Roboto"/>
              </a:defRPr>
            </a:lvl8pPr>
            <a:lvl9pPr algn="ctr">
              <a:defRPr lang="en-US" sz="4350" b="1">
                <a:solidFill>
                  <a:srgbClr val="822433"/>
                </a:solidFill>
                <a:latin typeface="Roboto"/>
                <a:ea typeface="Roboto"/>
                <a:cs typeface="Roboto"/>
              </a:defRPr>
            </a:lvl9pPr>
          </a:lstStyle>
          <a:p>
            <a:pPr algn="ctr">
              <a:defRPr lang="en-US" sz="4350" b="1">
                <a:solidFill>
                  <a:srgbClr val="822433"/>
                </a:solidFill>
                <a:latin typeface="Roboto"/>
                <a:ea typeface="Roboto"/>
                <a:cs typeface="Roboto"/>
              </a:defRPr>
            </a:pPr>
            <a:r>
              <a:rPr lang="en-US" sz="4350" b="1" dirty="0">
                <a:solidFill>
                  <a:srgbClr val="822433"/>
                </a:solidFill>
                <a:latin typeface="Roboto"/>
                <a:ea typeface="Roboto"/>
                <a:cs typeface="Roboto"/>
              </a:rPr>
              <a:t>75.55%</a:t>
            </a:r>
          </a:p>
        </p:txBody>
      </p:sp>
      <p:sp>
        <p:nvSpPr>
          <p:cNvPr id="12" name="ablation-best-label">
            <a:extLst>
              <a:ext uri="{FF2B5EF4-FFF2-40B4-BE49-F238E27FC236}">
                <a16:creationId xmlns:a16="http://schemas.microsoft.com/office/drawing/2014/main" id="{B6C6D0D9-3437-ACE2-C9A3-91C4FEBB2622}"/>
              </a:ext>
            </a:extLst>
          </p:cNvPr>
          <p:cNvSpPr>
            <a:spLocks noGrp="1"/>
          </p:cNvSpPr>
          <p:nvPr/>
        </p:nvSpPr>
        <p:spPr>
          <a:xfrm>
            <a:off x="8839200" y="3501390"/>
            <a:ext cx="2857500" cy="447675"/>
          </a:xfrm>
          <a:prstGeom prst="rect">
            <a:avLst/>
          </a:prstGeom>
          <a:noFill/>
          <a:ln w="0">
            <a:noFill/>
          </a:ln>
        </p:spPr>
        <p:txBody>
          <a:bodyPr wrap="square" lIns="0" tIns="0" rIns="0" bIns="0" anchor="t">
            <a:noAutofit/>
          </a:bodyPr>
          <a:lstStyle>
            <a:defPPr algn="ctr">
              <a:defRPr lang="en-US" sz="1950" b="0">
                <a:solidFill>
                  <a:srgbClr val="202124"/>
                </a:solidFill>
                <a:latin typeface="Roboto"/>
                <a:ea typeface="Roboto"/>
                <a:cs typeface="Roboto"/>
              </a:defRPr>
            </a:defPPr>
            <a:lvl1pPr algn="ctr">
              <a:defRPr lang="en-US" sz="1950" b="0">
                <a:solidFill>
                  <a:srgbClr val="202124"/>
                </a:solidFill>
                <a:latin typeface="Roboto"/>
                <a:ea typeface="Roboto"/>
                <a:cs typeface="Roboto"/>
              </a:defRPr>
            </a:lvl1pPr>
            <a:lvl2pPr algn="ctr">
              <a:defRPr lang="en-US" sz="1950" b="0">
                <a:solidFill>
                  <a:srgbClr val="202124"/>
                </a:solidFill>
                <a:latin typeface="Roboto"/>
                <a:ea typeface="Roboto"/>
                <a:cs typeface="Roboto"/>
              </a:defRPr>
            </a:lvl2pPr>
            <a:lvl3pPr algn="ctr">
              <a:defRPr lang="en-US" sz="1950" b="0">
                <a:solidFill>
                  <a:srgbClr val="202124"/>
                </a:solidFill>
                <a:latin typeface="Roboto"/>
                <a:ea typeface="Roboto"/>
                <a:cs typeface="Roboto"/>
              </a:defRPr>
            </a:lvl3pPr>
            <a:lvl4pPr algn="ctr">
              <a:defRPr lang="en-US" sz="1950" b="0">
                <a:solidFill>
                  <a:srgbClr val="202124"/>
                </a:solidFill>
                <a:latin typeface="Roboto"/>
                <a:ea typeface="Roboto"/>
                <a:cs typeface="Roboto"/>
              </a:defRPr>
            </a:lvl4pPr>
            <a:lvl5pPr algn="ctr">
              <a:defRPr lang="en-US" sz="1950" b="0">
                <a:solidFill>
                  <a:srgbClr val="202124"/>
                </a:solidFill>
                <a:latin typeface="Roboto"/>
                <a:ea typeface="Roboto"/>
                <a:cs typeface="Roboto"/>
              </a:defRPr>
            </a:lvl5pPr>
            <a:lvl6pPr algn="ctr">
              <a:defRPr lang="en-US" sz="1950" b="0">
                <a:solidFill>
                  <a:srgbClr val="202124"/>
                </a:solidFill>
                <a:latin typeface="Roboto"/>
                <a:ea typeface="Roboto"/>
                <a:cs typeface="Roboto"/>
              </a:defRPr>
            </a:lvl6pPr>
            <a:lvl7pPr algn="ctr">
              <a:defRPr lang="en-US" sz="1950" b="0">
                <a:solidFill>
                  <a:srgbClr val="202124"/>
                </a:solidFill>
                <a:latin typeface="Roboto"/>
                <a:ea typeface="Roboto"/>
                <a:cs typeface="Roboto"/>
              </a:defRPr>
            </a:lvl7pPr>
            <a:lvl8pPr algn="ctr">
              <a:defRPr lang="en-US" sz="1950" b="0">
                <a:solidFill>
                  <a:srgbClr val="202124"/>
                </a:solidFill>
                <a:latin typeface="Roboto"/>
                <a:ea typeface="Roboto"/>
                <a:cs typeface="Roboto"/>
              </a:defRPr>
            </a:lvl8pPr>
            <a:lvl9pPr algn="ctr">
              <a:defRPr lang="en-US" sz="1950" b="0">
                <a:solidFill>
                  <a:srgbClr val="202124"/>
                </a:solidFill>
                <a:latin typeface="Roboto"/>
                <a:ea typeface="Roboto"/>
                <a:cs typeface="Roboto"/>
              </a:defRPr>
            </a:lvl9pPr>
          </a:lstStyle>
          <a:p>
            <a:pPr algn="ctr">
              <a:defRPr lang="en-US" sz="1950" b="0">
                <a:solidFill>
                  <a:srgbClr val="202124"/>
                </a:solidFill>
                <a:latin typeface="Roboto"/>
                <a:ea typeface="Roboto"/>
                <a:cs typeface="Roboto"/>
              </a:defRPr>
            </a:pPr>
            <a:r>
              <a:rPr lang="en-US" sz="1950" b="0" dirty="0">
                <a:solidFill>
                  <a:srgbClr val="202124"/>
                </a:solidFill>
                <a:latin typeface="Roboto"/>
                <a:ea typeface="Roboto"/>
                <a:cs typeface="Roboto"/>
              </a:rPr>
              <a:t>Default test </a:t>
            </a:r>
            <a:r>
              <a:rPr lang="en-US" sz="1950" b="0" dirty="0" err="1">
                <a:solidFill>
                  <a:srgbClr val="202124"/>
                </a:solidFill>
                <a:latin typeface="Roboto"/>
                <a:ea typeface="Roboto"/>
                <a:cs typeface="Roboto"/>
              </a:rPr>
              <a:t>mIoU</a:t>
            </a:r>
            <a:endParaRPr lang="en-US" sz="1950" b="0" dirty="0">
              <a:solidFill>
                <a:srgbClr val="202124"/>
              </a:solidFill>
              <a:latin typeface="Roboto"/>
              <a:ea typeface="Roboto"/>
              <a:cs typeface="Roboto"/>
            </a:endParaRPr>
          </a:p>
        </p:txBody>
      </p:sp>
      <p:sp>
        <p:nvSpPr>
          <p:cNvPr id="14" name="ablation-model">
            <a:extLst>
              <a:ext uri="{FF2B5EF4-FFF2-40B4-BE49-F238E27FC236}">
                <a16:creationId xmlns:a16="http://schemas.microsoft.com/office/drawing/2014/main" id="{28D9F4D6-2E9A-F2A8-E213-9326D33919D7}"/>
              </a:ext>
            </a:extLst>
          </p:cNvPr>
          <p:cNvSpPr>
            <a:spLocks noGrp="1"/>
          </p:cNvSpPr>
          <p:nvPr/>
        </p:nvSpPr>
        <p:spPr>
          <a:xfrm>
            <a:off x="8839200" y="3867050"/>
            <a:ext cx="2857500" cy="809625"/>
          </a:xfrm>
          <a:prstGeom prst="rect">
            <a:avLst/>
          </a:prstGeom>
          <a:noFill/>
          <a:ln w="0">
            <a:noFill/>
          </a:ln>
        </p:spPr>
        <p:txBody>
          <a:bodyPr wrap="square" lIns="0" tIns="0" rIns="0" bIns="0" anchor="t">
            <a:noAutofit/>
          </a:bodyPr>
          <a:lstStyle>
            <a:defPPr algn="ctr">
              <a:defRPr lang="en-US" sz="1875" b="0">
                <a:solidFill>
                  <a:srgbClr val="656B73"/>
                </a:solidFill>
                <a:latin typeface="Roboto"/>
                <a:ea typeface="Roboto"/>
                <a:cs typeface="Roboto"/>
              </a:defRPr>
            </a:defPPr>
            <a:lvl1pPr algn="ctr">
              <a:defRPr lang="en-US" sz="1875" b="0">
                <a:solidFill>
                  <a:srgbClr val="656B73"/>
                </a:solidFill>
                <a:latin typeface="Roboto"/>
                <a:ea typeface="Roboto"/>
                <a:cs typeface="Roboto"/>
              </a:defRPr>
            </a:lvl1pPr>
            <a:lvl2pPr algn="ctr">
              <a:defRPr lang="en-US" sz="1875" b="0">
                <a:solidFill>
                  <a:srgbClr val="656B73"/>
                </a:solidFill>
                <a:latin typeface="Roboto"/>
                <a:ea typeface="Roboto"/>
                <a:cs typeface="Roboto"/>
              </a:defRPr>
            </a:lvl2pPr>
            <a:lvl3pPr algn="ctr">
              <a:defRPr lang="en-US" sz="1875" b="0">
                <a:solidFill>
                  <a:srgbClr val="656B73"/>
                </a:solidFill>
                <a:latin typeface="Roboto"/>
                <a:ea typeface="Roboto"/>
                <a:cs typeface="Roboto"/>
              </a:defRPr>
            </a:lvl3pPr>
            <a:lvl4pPr algn="ctr">
              <a:defRPr lang="en-US" sz="1875" b="0">
                <a:solidFill>
                  <a:srgbClr val="656B73"/>
                </a:solidFill>
                <a:latin typeface="Roboto"/>
                <a:ea typeface="Roboto"/>
                <a:cs typeface="Roboto"/>
              </a:defRPr>
            </a:lvl4pPr>
            <a:lvl5pPr algn="ctr">
              <a:defRPr lang="en-US" sz="1875" b="0">
                <a:solidFill>
                  <a:srgbClr val="656B73"/>
                </a:solidFill>
                <a:latin typeface="Roboto"/>
                <a:ea typeface="Roboto"/>
                <a:cs typeface="Roboto"/>
              </a:defRPr>
            </a:lvl5pPr>
            <a:lvl6pPr algn="ctr">
              <a:defRPr lang="en-US" sz="1875" b="0">
                <a:solidFill>
                  <a:srgbClr val="656B73"/>
                </a:solidFill>
                <a:latin typeface="Roboto"/>
                <a:ea typeface="Roboto"/>
                <a:cs typeface="Roboto"/>
              </a:defRPr>
            </a:lvl6pPr>
            <a:lvl7pPr algn="ctr">
              <a:defRPr lang="en-US" sz="1875" b="0">
                <a:solidFill>
                  <a:srgbClr val="656B73"/>
                </a:solidFill>
                <a:latin typeface="Roboto"/>
                <a:ea typeface="Roboto"/>
                <a:cs typeface="Roboto"/>
              </a:defRPr>
            </a:lvl7pPr>
            <a:lvl8pPr algn="ctr">
              <a:defRPr lang="en-US" sz="1875" b="0">
                <a:solidFill>
                  <a:srgbClr val="656B73"/>
                </a:solidFill>
                <a:latin typeface="Roboto"/>
                <a:ea typeface="Roboto"/>
                <a:cs typeface="Roboto"/>
              </a:defRPr>
            </a:lvl8pPr>
            <a:lvl9pPr algn="ctr">
              <a:defRPr lang="en-US" sz="1875" b="0">
                <a:solidFill>
                  <a:srgbClr val="656B73"/>
                </a:solidFill>
                <a:latin typeface="Roboto"/>
                <a:ea typeface="Roboto"/>
                <a:cs typeface="Roboto"/>
              </a:defRPr>
            </a:lvl9pPr>
          </a:lstStyle>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SegFormer-B0</a:t>
            </a:r>
          </a:p>
          <a:p>
            <a:pPr algn="ctr">
              <a:defRPr lang="en-US" sz="1875" b="0">
                <a:solidFill>
                  <a:srgbClr val="656B73"/>
                </a:solidFill>
                <a:latin typeface="Roboto"/>
                <a:ea typeface="Roboto"/>
                <a:cs typeface="Roboto"/>
              </a:defRPr>
            </a:pPr>
            <a:r>
              <a:rPr lang="en-US" sz="1875" b="0" dirty="0">
                <a:solidFill>
                  <a:srgbClr val="656B73"/>
                </a:solidFill>
                <a:latin typeface="Roboto"/>
                <a:ea typeface="Roboto"/>
                <a:cs typeface="Roboto"/>
              </a:rPr>
              <a:t>CE + GDL</a:t>
            </a:r>
          </a:p>
        </p:txBody>
      </p:sp>
      <p:sp>
        <p:nvSpPr>
          <p:cNvPr id="16" name="ablation-policy">
            <a:extLst>
              <a:ext uri="{FF2B5EF4-FFF2-40B4-BE49-F238E27FC236}">
                <a16:creationId xmlns:a16="http://schemas.microsoft.com/office/drawing/2014/main" id="{5B027FAD-4B73-C724-7B3F-8E54B71DA9BF}"/>
              </a:ext>
            </a:extLst>
          </p:cNvPr>
          <p:cNvSpPr>
            <a:spLocks noGrp="1"/>
          </p:cNvSpPr>
          <p:nvPr/>
        </p:nvSpPr>
        <p:spPr>
          <a:xfrm>
            <a:off x="701575" y="5471060"/>
            <a:ext cx="10858500" cy="361950"/>
          </a:xfrm>
          <a:prstGeom prst="rect">
            <a:avLst/>
          </a:prstGeom>
          <a:noFill/>
          <a:ln w="0">
            <a:noFill/>
          </a:ln>
        </p:spPr>
        <p:txBody>
          <a:bodyPr wrap="square" lIns="0" tIns="0" rIns="0" bIns="0" anchor="t">
            <a:noAutofit/>
          </a:bodyPr>
          <a:lstStyle>
            <a:defPPr algn="l">
              <a:defRPr lang="en-US" sz="1725" b="0">
                <a:solidFill>
                  <a:srgbClr val="656B73"/>
                </a:solidFill>
                <a:latin typeface="Roboto"/>
                <a:ea typeface="Roboto"/>
                <a:cs typeface="Roboto"/>
              </a:defRPr>
            </a:defPPr>
            <a:lvl1pPr algn="l">
              <a:defRPr lang="en-US" sz="1725" b="0">
                <a:solidFill>
                  <a:srgbClr val="656B73"/>
                </a:solidFill>
                <a:latin typeface="Roboto"/>
                <a:ea typeface="Roboto"/>
                <a:cs typeface="Roboto"/>
              </a:defRPr>
            </a:lvl1pPr>
            <a:lvl2pPr algn="l">
              <a:defRPr lang="en-US" sz="1725" b="0">
                <a:solidFill>
                  <a:srgbClr val="656B73"/>
                </a:solidFill>
                <a:latin typeface="Roboto"/>
                <a:ea typeface="Roboto"/>
                <a:cs typeface="Roboto"/>
              </a:defRPr>
            </a:lvl2pPr>
            <a:lvl3pPr algn="l">
              <a:defRPr lang="en-US" sz="1725" b="0">
                <a:solidFill>
                  <a:srgbClr val="656B73"/>
                </a:solidFill>
                <a:latin typeface="Roboto"/>
                <a:ea typeface="Roboto"/>
                <a:cs typeface="Roboto"/>
              </a:defRPr>
            </a:lvl3pPr>
            <a:lvl4pPr algn="l">
              <a:defRPr lang="en-US" sz="1725" b="0">
                <a:solidFill>
                  <a:srgbClr val="656B73"/>
                </a:solidFill>
                <a:latin typeface="Roboto"/>
                <a:ea typeface="Roboto"/>
                <a:cs typeface="Roboto"/>
              </a:defRPr>
            </a:lvl4pPr>
            <a:lvl5pPr algn="l">
              <a:defRPr lang="en-US" sz="1725" b="0">
                <a:solidFill>
                  <a:srgbClr val="656B73"/>
                </a:solidFill>
                <a:latin typeface="Roboto"/>
                <a:ea typeface="Roboto"/>
                <a:cs typeface="Roboto"/>
              </a:defRPr>
            </a:lvl5pPr>
            <a:lvl6pPr algn="l">
              <a:defRPr lang="en-US" sz="1725" b="0">
                <a:solidFill>
                  <a:srgbClr val="656B73"/>
                </a:solidFill>
                <a:latin typeface="Roboto"/>
                <a:ea typeface="Roboto"/>
                <a:cs typeface="Roboto"/>
              </a:defRPr>
            </a:lvl6pPr>
            <a:lvl7pPr algn="l">
              <a:defRPr lang="en-US" sz="1725" b="0">
                <a:solidFill>
                  <a:srgbClr val="656B73"/>
                </a:solidFill>
                <a:latin typeface="Roboto"/>
                <a:ea typeface="Roboto"/>
                <a:cs typeface="Roboto"/>
              </a:defRPr>
            </a:lvl7pPr>
            <a:lvl8pPr algn="l">
              <a:defRPr lang="en-US" sz="1725" b="0">
                <a:solidFill>
                  <a:srgbClr val="656B73"/>
                </a:solidFill>
                <a:latin typeface="Roboto"/>
                <a:ea typeface="Roboto"/>
                <a:cs typeface="Roboto"/>
              </a:defRPr>
            </a:lvl8pPr>
            <a:lvl9pPr algn="l">
              <a:defRPr lang="en-US" sz="1725" b="0">
                <a:solidFill>
                  <a:srgbClr val="656B73"/>
                </a:solidFill>
                <a:latin typeface="Roboto"/>
                <a:ea typeface="Roboto"/>
                <a:cs typeface="Roboto"/>
              </a:defRPr>
            </a:lvl9pPr>
          </a:lstStyle>
          <a:p>
            <a:pPr algn="l">
              <a:defRPr lang="en-US" sz="1725" b="0">
                <a:solidFill>
                  <a:srgbClr val="656B73"/>
                </a:solidFill>
                <a:latin typeface="Roboto"/>
                <a:ea typeface="Roboto"/>
                <a:cs typeface="Roboto"/>
              </a:defRPr>
            </a:pPr>
            <a:r>
              <a:rPr lang="en-US" sz="1725" b="0" dirty="0">
                <a:solidFill>
                  <a:srgbClr val="656B73"/>
                </a:solidFill>
                <a:latin typeface="Roboto"/>
                <a:ea typeface="Roboto"/>
                <a:cs typeface="Roboto"/>
              </a:rPr>
              <a:t>Flips and 90° rotations, training only. Oversampling based on class frequency in the dataset.</a:t>
            </a:r>
          </a:p>
        </p:txBody>
      </p:sp>
    </p:spTree>
    <p:extLst>
      <p:ext uri="{BB962C8B-B14F-4D97-AF65-F5344CB8AC3E}">
        <p14:creationId xmlns:p14="http://schemas.microsoft.com/office/powerpoint/2010/main" val="2391350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04D8585C-6547-3DF2-5F9C-75F0EB87C360}"/>
              </a:ext>
            </a:extLst>
          </p:cNvPr>
          <p:cNvSpPr>
            <a:spLocks noGrp="1"/>
          </p:cNvSpPr>
          <p:nvPr>
            <p:ph type="title"/>
          </p:nvPr>
        </p:nvSpPr>
        <p:spPr>
          <a:xfrm>
            <a:off x="838200" y="365125"/>
            <a:ext cx="8384177" cy="835787"/>
          </a:xfrm>
        </p:spPr>
        <p:txBody>
          <a:bodyPr/>
          <a:lstStyle/>
          <a:p>
            <a:r>
              <a:rPr>
                <a:solidFill>
                  <a:srgbClr val="822433"/>
                </a:solidFill>
              </a:rPr>
              <a:t>Extra: SegFormer IoU per class</a:t>
            </a:r>
          </a:p>
        </p:txBody>
      </p:sp>
      <p:sp>
        <p:nvSpPr>
          <p:cNvPr id="5" name="Google Shape;103;p14">
            <a:extLst>
              <a:ext uri="{FF2B5EF4-FFF2-40B4-BE49-F238E27FC236}">
                <a16:creationId xmlns:a16="http://schemas.microsoft.com/office/drawing/2014/main" id="{9729A674-1148-4E3C-8155-19C360C96032}"/>
              </a:ext>
            </a:extLst>
          </p:cNvPr>
          <p:cNvSpPr>
            <a:spLocks noGrp="1"/>
          </p:cNvSpPr>
          <p:nvPr>
            <p:ph type="ftr" idx="11"/>
          </p:nvPr>
        </p:nvSpPr>
        <p:spPr>
          <a:xfrm>
            <a:off x="59537" y="6489369"/>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sp>
        <p:nvSpPr>
          <p:cNvPr id="6" name="test-context">
            <a:extLst>
              <a:ext uri="{FF2B5EF4-FFF2-40B4-BE49-F238E27FC236}">
                <a16:creationId xmlns:a16="http://schemas.microsoft.com/office/drawing/2014/main" id="{5A9B8C7C-09F5-4585-948B-7C9EE4BFCDBE}"/>
              </a:ext>
            </a:extLst>
          </p:cNvPr>
          <p:cNvSpPr>
            <a:spLocks noGrp="1"/>
          </p:cNvSpPr>
          <p:nvPr/>
        </p:nvSpPr>
        <p:spPr>
          <a:xfrm>
            <a:off x="952500" y="5733111"/>
            <a:ext cx="10287000" cy="323850"/>
          </a:xfrm>
          <a:prstGeom prst="rect">
            <a:avLst/>
          </a:prstGeom>
          <a:noFill/>
          <a:ln w="0">
            <a:noFill/>
          </a:ln>
        </p:spPr>
        <p:txBody>
          <a:bodyPr wrap="square" lIns="0" tIns="0" rIns="0" bIns="0" anchor="t">
            <a:noAutofit/>
          </a:bodyPr>
          <a:lstStyle>
            <a:defPPr algn="l">
              <a:defRPr sz="1700" b="0">
                <a:solidFill>
                  <a:srgbClr val="646464"/>
                </a:solidFill>
                <a:latin typeface="Roboto"/>
                <a:ea typeface="Roboto"/>
                <a:cs typeface="Roboto"/>
              </a:defRPr>
            </a:defPPr>
            <a:lvl1pPr algn="l">
              <a:defRPr sz="1700" b="0">
                <a:solidFill>
                  <a:srgbClr val="646464"/>
                </a:solidFill>
                <a:latin typeface="Roboto"/>
                <a:ea typeface="Roboto"/>
                <a:cs typeface="Roboto"/>
              </a:defRPr>
            </a:lvl1pPr>
            <a:lvl2pPr algn="l">
              <a:defRPr sz="1700" b="0">
                <a:solidFill>
                  <a:srgbClr val="646464"/>
                </a:solidFill>
                <a:latin typeface="Roboto"/>
                <a:ea typeface="Roboto"/>
                <a:cs typeface="Roboto"/>
              </a:defRPr>
            </a:lvl2pPr>
            <a:lvl3pPr algn="l">
              <a:defRPr sz="1700" b="0">
                <a:solidFill>
                  <a:srgbClr val="646464"/>
                </a:solidFill>
                <a:latin typeface="Roboto"/>
                <a:ea typeface="Roboto"/>
                <a:cs typeface="Roboto"/>
              </a:defRPr>
            </a:lvl3pPr>
            <a:lvl4pPr algn="l">
              <a:defRPr sz="1700" b="0">
                <a:solidFill>
                  <a:srgbClr val="646464"/>
                </a:solidFill>
                <a:latin typeface="Roboto"/>
                <a:ea typeface="Roboto"/>
                <a:cs typeface="Roboto"/>
              </a:defRPr>
            </a:lvl4pPr>
            <a:lvl5pPr algn="l">
              <a:defRPr sz="1700" b="0">
                <a:solidFill>
                  <a:srgbClr val="646464"/>
                </a:solidFill>
                <a:latin typeface="Roboto"/>
                <a:ea typeface="Roboto"/>
                <a:cs typeface="Roboto"/>
              </a:defRPr>
            </a:lvl5pPr>
            <a:lvl6pPr algn="l">
              <a:defRPr sz="1700" b="0">
                <a:solidFill>
                  <a:srgbClr val="646464"/>
                </a:solidFill>
                <a:latin typeface="Roboto"/>
                <a:ea typeface="Roboto"/>
                <a:cs typeface="Roboto"/>
              </a:defRPr>
            </a:lvl6pPr>
            <a:lvl7pPr algn="l">
              <a:defRPr sz="1700" b="0">
                <a:solidFill>
                  <a:srgbClr val="646464"/>
                </a:solidFill>
                <a:latin typeface="Roboto"/>
                <a:ea typeface="Roboto"/>
                <a:cs typeface="Roboto"/>
              </a:defRPr>
            </a:lvl7pPr>
            <a:lvl8pPr algn="l">
              <a:defRPr sz="1700" b="0">
                <a:solidFill>
                  <a:srgbClr val="646464"/>
                </a:solidFill>
                <a:latin typeface="Roboto"/>
                <a:ea typeface="Roboto"/>
                <a:cs typeface="Roboto"/>
              </a:defRPr>
            </a:lvl8pPr>
            <a:lvl9pPr algn="l">
              <a:defRPr sz="1700" b="0">
                <a:solidFill>
                  <a:srgbClr val="646464"/>
                </a:solidFill>
                <a:latin typeface="Roboto"/>
                <a:ea typeface="Roboto"/>
                <a:cs typeface="Roboto"/>
              </a:defRPr>
            </a:lvl9pPr>
          </a:lstStyle>
          <a:p>
            <a:pPr algn="l">
              <a:defRPr sz="1700" b="0">
                <a:solidFill>
                  <a:srgbClr val="646464"/>
                </a:solidFill>
                <a:latin typeface="Roboto"/>
                <a:ea typeface="Roboto"/>
                <a:cs typeface="Roboto"/>
              </a:defRPr>
            </a:pPr>
            <a:r>
              <a:rPr sz="1400" b="0" dirty="0">
                <a:solidFill>
                  <a:srgbClr val="646464"/>
                </a:solidFill>
                <a:latin typeface="Roboto"/>
                <a:ea typeface="Roboto"/>
                <a:cs typeface="Roboto"/>
              </a:rPr>
              <a:t>S5Mars test</a:t>
            </a:r>
            <a:r>
              <a:rPr lang="it-IT" sz="1400" dirty="0"/>
              <a:t> </a:t>
            </a:r>
            <a:r>
              <a:rPr lang="it-IT" sz="1400" b="0" dirty="0">
                <a:solidFill>
                  <a:srgbClr val="646464"/>
                </a:solidFill>
                <a:latin typeface="Roboto"/>
                <a:ea typeface="Roboto"/>
                <a:cs typeface="Roboto"/>
              </a:rPr>
              <a:t>m</a:t>
            </a:r>
            <a:r>
              <a:rPr sz="1400" b="0" dirty="0" err="1">
                <a:solidFill>
                  <a:srgbClr val="646464"/>
                </a:solidFill>
                <a:latin typeface="Roboto"/>
                <a:ea typeface="Roboto"/>
                <a:cs typeface="Roboto"/>
              </a:rPr>
              <a:t>IoU</a:t>
            </a:r>
            <a:r>
              <a:rPr sz="1400" b="0" dirty="0">
                <a:solidFill>
                  <a:srgbClr val="646464"/>
                </a:solidFill>
                <a:latin typeface="Roboto"/>
                <a:ea typeface="Roboto"/>
                <a:cs typeface="Roboto"/>
              </a:rPr>
              <a:t> (%)</a:t>
            </a:r>
          </a:p>
        </p:txBody>
      </p:sp>
      <p:graphicFrame>
        <p:nvGraphicFramePr>
          <p:cNvPr id="7" name="Tabella 6">
            <a:extLst>
              <a:ext uri="{FF2B5EF4-FFF2-40B4-BE49-F238E27FC236}">
                <a16:creationId xmlns:a16="http://schemas.microsoft.com/office/drawing/2014/main" id="{43798053-638C-40A1-9875-4BFB6FE8F975}"/>
              </a:ext>
            </a:extLst>
          </p:cNvPr>
          <p:cNvGraphicFramePr/>
          <p:nvPr>
            <p:extLst>
              <p:ext uri="{D42A27DB-BD31-4B8C-83A1-F6EECF244321}">
                <p14:modId xmlns:p14="http://schemas.microsoft.com/office/powerpoint/2010/main" val="3034805815"/>
              </p:ext>
            </p:extLst>
          </p:nvPr>
        </p:nvGraphicFramePr>
        <p:xfrm>
          <a:off x="952500" y="1857375"/>
          <a:ext cx="10287000" cy="3783330"/>
        </p:xfrm>
        <a:graphic>
          <a:graphicData uri="http://schemas.openxmlformats.org/drawingml/2006/table">
            <a:tbl>
              <a:tblPr/>
              <a:tblGrid>
                <a:gridCol w="3238500">
                  <a:extLst>
                    <a:ext uri="{9D8B030D-6E8A-4147-A177-3AD203B41FA5}">
                      <a16:colId xmlns:a16="http://schemas.microsoft.com/office/drawing/2014/main" val="20000"/>
                    </a:ext>
                  </a:extLst>
                </a:gridCol>
                <a:gridCol w="1666875">
                  <a:extLst>
                    <a:ext uri="{9D8B030D-6E8A-4147-A177-3AD203B41FA5}">
                      <a16:colId xmlns:a16="http://schemas.microsoft.com/office/drawing/2014/main" val="20001"/>
                    </a:ext>
                  </a:extLst>
                </a:gridCol>
                <a:gridCol w="1666875">
                  <a:extLst>
                    <a:ext uri="{9D8B030D-6E8A-4147-A177-3AD203B41FA5}">
                      <a16:colId xmlns:a16="http://schemas.microsoft.com/office/drawing/2014/main" val="20002"/>
                    </a:ext>
                  </a:extLst>
                </a:gridCol>
                <a:gridCol w="1857375">
                  <a:extLst>
                    <a:ext uri="{9D8B030D-6E8A-4147-A177-3AD203B41FA5}">
                      <a16:colId xmlns:a16="http://schemas.microsoft.com/office/drawing/2014/main" val="20003"/>
                    </a:ext>
                  </a:extLst>
                </a:gridCol>
                <a:gridCol w="1857375">
                  <a:extLst>
                    <a:ext uri="{9D8B030D-6E8A-4147-A177-3AD203B41FA5}">
                      <a16:colId xmlns:a16="http://schemas.microsoft.com/office/drawing/2014/main" val="20004"/>
                    </a:ext>
                  </a:extLst>
                </a:gridCol>
              </a:tblGrid>
              <a:tr h="438150">
                <a:tc>
                  <a:txBody>
                    <a:bodyPr/>
                    <a:lstStyle/>
                    <a:p>
                      <a:pPr algn="l"/>
                      <a:r>
                        <a:rPr sz="1800" b="1" dirty="0">
                          <a:solidFill>
                            <a:schemeClr val="bg1"/>
                          </a:solidFill>
                          <a:latin typeface="Roboto"/>
                          <a:ea typeface="Roboto"/>
                          <a:cs typeface="Roboto"/>
                        </a:rPr>
                        <a:t>Class</a:t>
                      </a:r>
                    </a:p>
                  </a:txBody>
                  <a:tcPr marL="114300" marR="114300" marT="38100" marB="38100" anchor="ctr">
                    <a:lnL w="953">
                      <a:solidFill>
                        <a:srgbClr val="FFFFFF"/>
                      </a:solidFill>
                      <a:prstDash val="soli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FP32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FP16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PTQ</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tc>
                  <a:txBody>
                    <a:bodyPr/>
                    <a:lstStyle/>
                    <a:p>
                      <a:pPr algn="ctr"/>
                      <a:r>
                        <a:rPr sz="1800" b="1" dirty="0">
                          <a:solidFill>
                            <a:schemeClr val="bg1"/>
                          </a:solidFill>
                          <a:latin typeface="Roboto"/>
                          <a:ea typeface="Roboto"/>
                          <a:cs typeface="Roboto"/>
                        </a:rPr>
                        <a:t>INT8 QAT</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a:solidFill>
                        <a:srgbClr val="FFFFFF"/>
                      </a:solidFill>
                      <a:prstDash val="solid"/>
                    </a:lnT>
                    <a:lnB w="12700" cap="flat" cmpd="sng" algn="ctr">
                      <a:solidFill>
                        <a:schemeClr val="tx1"/>
                      </a:solidFill>
                      <a:prstDash val="solid"/>
                      <a:round/>
                      <a:headEnd type="none" w="med" len="med"/>
                      <a:tailEnd type="none" w="med" len="med"/>
                    </a:lnB>
                    <a:solidFill>
                      <a:srgbClr val="822433"/>
                    </a:solidFill>
                  </a:tcPr>
                </a:tc>
                <a:extLst>
                  <a:ext uri="{0D108BD9-81ED-4DB2-BD59-A6C34878D82A}">
                    <a16:rowId xmlns:a16="http://schemas.microsoft.com/office/drawing/2014/main" val="10000"/>
                  </a:ext>
                </a:extLst>
              </a:tr>
              <a:tr h="342900">
                <a:tc>
                  <a:txBody>
                    <a:bodyPr/>
                    <a:lstStyle/>
                    <a:p>
                      <a:pPr algn="l"/>
                      <a:r>
                        <a:rPr sz="1900">
                          <a:solidFill>
                            <a:srgbClr val="252525"/>
                          </a:solidFill>
                          <a:latin typeface="Roboto"/>
                          <a:ea typeface="Roboto"/>
                          <a:cs typeface="Roboto"/>
                        </a:rPr>
                        <a:t>Bedrock</a:t>
                      </a:r>
                    </a:p>
                  </a:txBody>
                  <a:tcPr marL="114300" marR="114300" marT="38100" marB="38100" anchor="ctr">
                    <a:lnL w="953">
                      <a:solidFill>
                        <a:srgbClr val="FFFFFF"/>
                      </a:solidFill>
                      <a:prstDash val="soli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71.75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72.70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12700" cap="flat" cmpd="sng" algn="ctr">
                      <a:solidFill>
                        <a:schemeClr val="tx1"/>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1"/>
                  </a:ext>
                </a:extLst>
              </a:tr>
              <a:tr h="342900">
                <a:tc>
                  <a:txBody>
                    <a:bodyPr/>
                    <a:lstStyle/>
                    <a:p>
                      <a:pPr algn="l"/>
                      <a:r>
                        <a:rPr sz="1900">
                          <a:solidFill>
                            <a:srgbClr val="252525"/>
                          </a:solidFill>
                          <a:latin typeface="Roboto"/>
                          <a:ea typeface="Roboto"/>
                          <a:cs typeface="Roboto"/>
                        </a:rPr>
                        <a:t>Hole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78.12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78.86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79.92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2"/>
                  </a:ext>
                </a:extLst>
              </a:tr>
              <a:tr h="342900">
                <a:tc>
                  <a:txBody>
                    <a:bodyPr/>
                    <a:lstStyle/>
                    <a:p>
                      <a:pPr algn="l"/>
                      <a:r>
                        <a:rPr sz="1900">
                          <a:solidFill>
                            <a:srgbClr val="252525"/>
                          </a:solidFill>
                          <a:latin typeface="Roboto"/>
                          <a:ea typeface="Roboto"/>
                          <a:cs typeface="Roboto"/>
                        </a:rPr>
                        <a:t>Ridge</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90.20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89.94</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90.96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3"/>
                  </a:ext>
                </a:extLst>
              </a:tr>
              <a:tr h="342900">
                <a:tc>
                  <a:txBody>
                    <a:bodyPr/>
                    <a:lstStyle/>
                    <a:p>
                      <a:pPr algn="l"/>
                      <a:r>
                        <a:rPr sz="1900" dirty="0">
                          <a:solidFill>
                            <a:srgbClr val="252525"/>
                          </a:solidFill>
                          <a:latin typeface="Roboto"/>
                          <a:ea typeface="Roboto"/>
                          <a:cs typeface="Roboto"/>
                        </a:rPr>
                        <a:t>Rock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21.75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21.67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26.15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4"/>
                  </a:ext>
                </a:extLst>
              </a:tr>
              <a:tr h="342900">
                <a:tc>
                  <a:txBody>
                    <a:bodyPr/>
                    <a:lstStyle/>
                    <a:p>
                      <a:pPr algn="l"/>
                      <a:r>
                        <a:rPr sz="1900">
                          <a:solidFill>
                            <a:srgbClr val="252525"/>
                          </a:solidFill>
                          <a:latin typeface="Roboto"/>
                          <a:ea typeface="Roboto"/>
                          <a:cs typeface="Roboto"/>
                        </a:rPr>
                        <a:t>Rover</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83.33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84.60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5"/>
                  </a:ext>
                </a:extLst>
              </a:tr>
              <a:tr h="342900">
                <a:tc>
                  <a:txBody>
                    <a:bodyPr/>
                    <a:lstStyle/>
                    <a:p>
                      <a:pPr algn="l"/>
                      <a:r>
                        <a:rPr sz="1900">
                          <a:solidFill>
                            <a:srgbClr val="252525"/>
                          </a:solidFill>
                          <a:latin typeface="Roboto"/>
                          <a:ea typeface="Roboto"/>
                          <a:cs typeface="Roboto"/>
                        </a:rPr>
                        <a:t>Sand / Soil</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89.43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89.78</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6"/>
                  </a:ext>
                </a:extLst>
              </a:tr>
              <a:tr h="342900">
                <a:tc>
                  <a:txBody>
                    <a:bodyPr/>
                    <a:lstStyle/>
                    <a:p>
                      <a:pPr algn="l"/>
                      <a:r>
                        <a:rPr sz="1900">
                          <a:solidFill>
                            <a:srgbClr val="252525"/>
                          </a:solidFill>
                          <a:latin typeface="Roboto"/>
                          <a:ea typeface="Roboto"/>
                          <a:cs typeface="Roboto"/>
                        </a:rPr>
                        <a:t>Sky</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94.02</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94.03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a:solidFill>
                            <a:srgbClr val="252525"/>
                          </a:solidFill>
                          <a:latin typeface="Roboto"/>
                          <a:ea typeface="Roboto"/>
                          <a:cs typeface="Roboto"/>
                        </a:rPr>
                        <a:t>93.85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3F3F3"/>
                    </a:solidFill>
                  </a:tcPr>
                </a:tc>
                <a:tc>
                  <a:txBody>
                    <a:bodyPr/>
                    <a:lstStyle/>
                    <a:p>
                      <a:pPr algn="ctr"/>
                      <a:r>
                        <a:rPr sz="1900" b="1">
                          <a:solidFill>
                            <a:srgbClr val="822433"/>
                          </a:solidFill>
                          <a:latin typeface="Roboto"/>
                          <a:ea typeface="Roboto"/>
                          <a:cs typeface="Roboto"/>
                        </a:rPr>
                        <a:t>95.13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7"/>
                  </a:ext>
                </a:extLst>
              </a:tr>
              <a:tr h="342900">
                <a:tc>
                  <a:txBody>
                    <a:bodyPr/>
                    <a:lstStyle/>
                    <a:p>
                      <a:pPr algn="l"/>
                      <a:r>
                        <a:rPr sz="1900">
                          <a:solidFill>
                            <a:srgbClr val="252525"/>
                          </a:solidFill>
                          <a:latin typeface="Roboto"/>
                          <a:ea typeface="Roboto"/>
                          <a:cs typeface="Roboto"/>
                        </a:rPr>
                        <a:t>Track</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75.96</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75.97</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a:solidFill>
                            <a:srgbClr val="252525"/>
                          </a:solidFill>
                          <a:latin typeface="Roboto"/>
                          <a:ea typeface="Roboto"/>
                          <a:cs typeface="Roboto"/>
                        </a:rPr>
                        <a:t>76.01</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FFFFF"/>
                    </a:solidFill>
                  </a:tcPr>
                </a:tc>
                <a:tc>
                  <a:txBody>
                    <a:bodyPr/>
                    <a:lstStyle/>
                    <a:p>
                      <a:pPr algn="ctr"/>
                      <a:r>
                        <a:rPr sz="1900" b="1">
                          <a:solidFill>
                            <a:srgbClr val="822433"/>
                          </a:solidFill>
                          <a:latin typeface="Roboto"/>
                          <a:ea typeface="Roboto"/>
                          <a:cs typeface="Roboto"/>
                        </a:rPr>
                        <a:t>76.19</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F8EFF1"/>
                    </a:solidFill>
                  </a:tcPr>
                </a:tc>
                <a:extLst>
                  <a:ext uri="{0D108BD9-81ED-4DB2-BD59-A6C34878D82A}">
                    <a16:rowId xmlns:a16="http://schemas.microsoft.com/office/drawing/2014/main" val="10008"/>
                  </a:ext>
                </a:extLst>
              </a:tr>
              <a:tr h="419100">
                <a:tc>
                  <a:txBody>
                    <a:bodyPr/>
                    <a:lstStyle/>
                    <a:p>
                      <a:pPr algn="l"/>
                      <a:r>
                        <a:rPr sz="2000" b="1">
                          <a:solidFill>
                            <a:srgbClr val="822433"/>
                          </a:solidFill>
                          <a:latin typeface="Roboto"/>
                          <a:ea typeface="Roboto"/>
                          <a:cs typeface="Roboto"/>
                        </a:rPr>
                        <a:t>mIoU</a:t>
                      </a:r>
                    </a:p>
                  </a:txBody>
                  <a:tcPr marL="114300" marR="114300" marT="38100" marB="38100" anchor="ctr">
                    <a:lnL w="953">
                      <a:solidFill>
                        <a:srgbClr val="FFFFFF"/>
                      </a:solidFill>
                      <a:prstDash val="soli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75.55</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a:solidFill>
                            <a:srgbClr val="822433"/>
                          </a:solidFill>
                          <a:latin typeface="Roboto"/>
                          <a:ea typeface="Roboto"/>
                          <a:cs typeface="Roboto"/>
                        </a:rPr>
                        <a:t>75.60</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tc>
                  <a:txBody>
                    <a:bodyPr/>
                    <a:lstStyle/>
                    <a:p>
                      <a:pPr algn="ctr"/>
                      <a:r>
                        <a:rPr sz="2000" b="1" dirty="0">
                          <a:solidFill>
                            <a:srgbClr val="822433"/>
                          </a:solidFill>
                          <a:latin typeface="Roboto"/>
                          <a:ea typeface="Roboto"/>
                          <a:cs typeface="Roboto"/>
                        </a:rPr>
                        <a:t>76.93</a:t>
                      </a:r>
                    </a:p>
                  </a:txBody>
                  <a:tcPr marL="114300" marR="114300" marT="38100" marB="38100" anchor="ctr">
                    <a:lnL w="953" cap="flat" cmpd="sng" algn="ctr">
                      <a:solidFill>
                        <a:srgbClr val="FFFFFF"/>
                      </a:solidFill>
                      <a:prstDash val="solid"/>
                      <a:round/>
                      <a:headEnd type="none" w="med" len="med"/>
                      <a:tailEnd type="none" w="med" len="med"/>
                    </a:lnL>
                    <a:lnR w="953">
                      <a:solidFill>
                        <a:srgbClr val="FFFFFF"/>
                      </a:solidFill>
                      <a:prstDash val="solid"/>
                    </a:lnR>
                    <a:lnT w="953" cap="flat" cmpd="sng" algn="ctr">
                      <a:solidFill>
                        <a:srgbClr val="FFFFFF"/>
                      </a:solidFill>
                      <a:prstDash val="solid"/>
                      <a:round/>
                      <a:headEnd type="none" w="med" len="med"/>
                      <a:tailEnd type="none" w="med" len="med"/>
                    </a:lnT>
                    <a:lnB w="953">
                      <a:solidFill>
                        <a:srgbClr val="FFFFFF"/>
                      </a:solidFill>
                      <a:prstDash val="solid"/>
                    </a:lnB>
                    <a:solidFill>
                      <a:srgbClr val="EFE5E7"/>
                    </a:solidFill>
                  </a:tcPr>
                </a:tc>
                <a:extLst>
                  <a:ext uri="{0D108BD9-81ED-4DB2-BD59-A6C34878D82A}">
                    <a16:rowId xmlns:a16="http://schemas.microsoft.com/office/drawing/2014/main" val="10009"/>
                  </a:ext>
                </a:extLst>
              </a:tr>
            </a:tbl>
          </a:graphicData>
        </a:graphic>
      </p:graphicFrame>
      <p:sp>
        <p:nvSpPr>
          <p:cNvPr id="10" name="extra-footer">
            <a:extLst>
              <a:ext uri="{FF2B5EF4-FFF2-40B4-BE49-F238E27FC236}">
                <a16:creationId xmlns:a16="http://schemas.microsoft.com/office/drawing/2014/main" id="{8DF6B8C2-EE4D-4F84-8853-D2989DEE6FEB}"/>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sz="1000" b="0">
                <a:solidFill>
                  <a:srgbClr val="822433"/>
                </a:solidFill>
                <a:latin typeface="Roboto"/>
                <a:ea typeface="Roboto"/>
                <a:cs typeface="Roboto"/>
              </a:rPr>
              <a:t>Extra</a:t>
            </a:r>
          </a:p>
        </p:txBody>
      </p:sp>
    </p:spTree>
    <p:extLst>
      <p:ext uri="{BB962C8B-B14F-4D97-AF65-F5344CB8AC3E}">
        <p14:creationId xmlns:p14="http://schemas.microsoft.com/office/powerpoint/2010/main" val="285966152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a:solidFill>
                  <a:srgbClr val="822433"/>
                </a:solidFill>
              </a:rPr>
              <a:t>Extra: Mars-Bench</a:t>
            </a:r>
          </a:p>
        </p:txBody>
      </p:sp>
      <p:sp>
        <p:nvSpPr>
          <p:cNvPr id="5" name="Google Shape;103;p14">
            <a:extLst>
              <a:ext uri="{FF2B5EF4-FFF2-40B4-BE49-F238E27FC236}">
                <a16:creationId xmlns:a16="http://schemas.microsoft.com/office/drawing/2014/main" id="{504A17F8-E2ED-6EF8-07F5-9ABB93526B54}"/>
              </a:ext>
            </a:extLst>
          </p:cNvPr>
          <p:cNvSpPr>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oAutofit/>
          </a:bodyPr>
          <a:lstStyle/>
          <a:p>
            <a:pPr lvl="0" algn="l">
              <a:buClr>
                <a:schemeClr val="dk1"/>
              </a:buClr>
              <a:buNone/>
            </a:pPr>
            <a:r>
              <a:rPr sz="1000">
                <a:solidFill>
                  <a:srgbClr val="822433"/>
                </a:solidFill>
                <a:latin typeface="Roboto"/>
                <a:ea typeface="Roboto"/>
                <a:cs typeface="Roboto"/>
              </a:rPr>
              <a:t>               Lightweight Scene Understanding and Synthetic Data-Driven Damage Inspection for Martian Rovers                                                                     27/10/2026</a:t>
            </a:r>
          </a:p>
        </p:txBody>
      </p:sp>
      <p:graphicFrame>
        <p:nvGraphicFramePr>
          <p:cNvPr id="7" name="Tabella 6">
            <a:extLst>
              <a:ext uri="{FF2B5EF4-FFF2-40B4-BE49-F238E27FC236}">
                <a16:creationId xmlns:a16="http://schemas.microsoft.com/office/drawing/2014/main" id="{07A263A2-2D32-4627-BA96-49465B84C7A6}"/>
              </a:ext>
            </a:extLst>
          </p:cNvPr>
          <p:cNvGraphicFramePr/>
          <p:nvPr>
            <p:extLst>
              <p:ext uri="{D42A27DB-BD31-4B8C-83A1-F6EECF244321}">
                <p14:modId xmlns:p14="http://schemas.microsoft.com/office/powerpoint/2010/main" val="3962991662"/>
              </p:ext>
            </p:extLst>
          </p:nvPr>
        </p:nvGraphicFramePr>
        <p:xfrm>
          <a:off x="952500" y="1866900"/>
          <a:ext cx="10287000" cy="3356610"/>
        </p:xfrm>
        <a:graphic>
          <a:graphicData uri="http://schemas.openxmlformats.org/drawingml/2006/table">
            <a:tbl>
              <a:tblPr/>
              <a:tblGrid>
                <a:gridCol w="5905500">
                  <a:extLst>
                    <a:ext uri="{9D8B030D-6E8A-4147-A177-3AD203B41FA5}">
                      <a16:colId xmlns:a16="http://schemas.microsoft.com/office/drawing/2014/main" val="20000"/>
                    </a:ext>
                  </a:extLst>
                </a:gridCol>
                <a:gridCol w="209550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tblGrid>
              <a:tr h="571500">
                <a:tc>
                  <a:txBody>
                    <a:bodyPr/>
                    <a:lstStyle/>
                    <a:p>
                      <a:pPr algn="l"/>
                      <a:r>
                        <a:rPr sz="1700" b="1">
                          <a:solidFill>
                            <a:srgbClr val="FFFFFF"/>
                          </a:solidFill>
                          <a:latin typeface="Roboto"/>
                          <a:ea typeface="Roboto"/>
                          <a:cs typeface="Roboto"/>
                        </a:rPr>
                        <a:t>Model</a:t>
                      </a:r>
                    </a:p>
                  </a:txBody>
                  <a:tcPr marL="152400" marR="152400" marT="76200" marB="76200" anchor="ctr">
                    <a:lnL w="6191">
                      <a:solidFill>
                        <a:srgbClr val="DADADA"/>
                      </a:solidFill>
                      <a:prstDash val="soli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S5Mars mIoU</a:t>
                      </a:r>
                    </a:p>
                    <a:p>
                      <a:pPr algn="ctr"/>
                      <a:r>
                        <a:rPr sz="1700" b="1">
                          <a:solidFill>
                            <a:srgbClr val="FFFFFF"/>
                          </a:solidFill>
                          <a:latin typeface="Roboto"/>
                          <a:ea typeface="Roboto"/>
                          <a:cs typeface="Roboto"/>
                        </a:rPr>
                        <a:t>(%)</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tc>
                  <a:txBody>
                    <a:bodyPr/>
                    <a:lstStyle/>
                    <a:p>
                      <a:pPr algn="ctr"/>
                      <a:r>
                        <a:rPr sz="1700" b="1">
                          <a:solidFill>
                            <a:srgbClr val="FFFFFF"/>
                          </a:solidFill>
                          <a:latin typeface="Roboto"/>
                          <a:ea typeface="Roboto"/>
                          <a:cs typeface="Roboto"/>
                        </a:rPr>
                        <a:t>Total parameters</a:t>
                      </a:r>
                    </a:p>
                    <a:p>
                      <a:pPr algn="ctr"/>
                      <a:r>
                        <a:rPr sz="1700" b="1">
                          <a:solidFill>
                            <a:srgbClr val="FFFFFF"/>
                          </a:solidFill>
                          <a:latin typeface="Roboto"/>
                          <a:ea typeface="Roboto"/>
                          <a:cs typeface="Roboto"/>
                        </a:rPr>
                        <a:t>(M)</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a:solidFill>
                        <a:srgbClr val="DADADA"/>
                      </a:solidFill>
                      <a:prstDash val="solid"/>
                    </a:lnT>
                    <a:lnB w="6191">
                      <a:solidFill>
                        <a:srgbClr val="DADADA"/>
                      </a:solidFill>
                      <a:prstDash val="solid"/>
                    </a:lnB>
                    <a:solidFill>
                      <a:srgbClr val="822433"/>
                    </a:solidFill>
                  </a:tcPr>
                </a:tc>
                <a:extLst>
                  <a:ext uri="{0D108BD9-81ED-4DB2-BD59-A6C34878D82A}">
                    <a16:rowId xmlns:a16="http://schemas.microsoft.com/office/drawing/2014/main" val="10000"/>
                  </a:ext>
                </a:extLst>
              </a:tr>
              <a:tr h="447675">
                <a:tc>
                  <a:txBody>
                    <a:bodyPr/>
                    <a:lstStyle/>
                    <a:p>
                      <a:pPr algn="l"/>
                      <a:r>
                        <a:rPr sz="1800" b="1" dirty="0">
                          <a:solidFill>
                            <a:srgbClr val="252525"/>
                          </a:solidFill>
                          <a:latin typeface="Calibri"/>
                          <a:ea typeface="Calibri"/>
                          <a:cs typeface="Calibri"/>
                        </a:rPr>
                        <a:t>SegFormer-B0 (this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7</a:t>
                      </a:r>
                      <a:r>
                        <a:rPr lang="it-IT" sz="1800" b="1" dirty="0">
                          <a:solidFill>
                            <a:srgbClr val="822433"/>
                          </a:solidFill>
                          <a:latin typeface="Calibri"/>
                          <a:ea typeface="Calibri"/>
                          <a:cs typeface="Calibri"/>
                        </a:rPr>
                        <a:t>5</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55</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3.72</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1"/>
                  </a:ext>
                </a:extLst>
              </a:tr>
              <a:tr h="447675">
                <a:tc>
                  <a:txBody>
                    <a:bodyPr/>
                    <a:lstStyle/>
                    <a:p>
                      <a:pPr algn="l"/>
                      <a:r>
                        <a:rPr sz="1800" b="1" dirty="0">
                          <a:solidFill>
                            <a:srgbClr val="252525"/>
                          </a:solidFill>
                          <a:latin typeface="Calibri"/>
                          <a:ea typeface="Calibri"/>
                          <a:cs typeface="Calibri"/>
                        </a:rPr>
                        <a:t>DeepLabV3+ / MobileNetV2 </a:t>
                      </a:r>
                      <a:r>
                        <a:rPr lang="it-IT" sz="1800" b="1" dirty="0">
                          <a:solidFill>
                            <a:srgbClr val="252525"/>
                          </a:solidFill>
                          <a:latin typeface="Calibri"/>
                          <a:ea typeface="Calibri"/>
                          <a:cs typeface="Calibri"/>
                        </a:rPr>
                        <a:t>(</a:t>
                      </a:r>
                      <a:r>
                        <a:rPr sz="1800" b="1" dirty="0">
                          <a:solidFill>
                            <a:srgbClr val="252525"/>
                          </a:solidFill>
                          <a:latin typeface="Calibri"/>
                          <a:ea typeface="Calibri"/>
                          <a:cs typeface="Calibri"/>
                        </a:rPr>
                        <a:t>this thesis)</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dirty="0">
                          <a:solidFill>
                            <a:srgbClr val="822433"/>
                          </a:solidFill>
                          <a:latin typeface="Calibri"/>
                          <a:ea typeface="Calibri"/>
                          <a:cs typeface="Calibri"/>
                        </a:rPr>
                        <a:t>6</a:t>
                      </a:r>
                      <a:r>
                        <a:rPr lang="it-IT" sz="1800" b="1" dirty="0">
                          <a:solidFill>
                            <a:srgbClr val="822433"/>
                          </a:solidFill>
                          <a:latin typeface="Calibri"/>
                          <a:ea typeface="Calibri"/>
                          <a:cs typeface="Calibri"/>
                        </a:rPr>
                        <a:t>4</a:t>
                      </a:r>
                      <a:r>
                        <a:rPr sz="1800" b="1" dirty="0">
                          <a:solidFill>
                            <a:srgbClr val="822433"/>
                          </a:solidFill>
                          <a:latin typeface="Calibri"/>
                          <a:ea typeface="Calibri"/>
                          <a:cs typeface="Calibri"/>
                        </a:rPr>
                        <a:t>.</a:t>
                      </a:r>
                      <a:r>
                        <a:rPr lang="it-IT" sz="1800" b="1" dirty="0">
                          <a:solidFill>
                            <a:srgbClr val="822433"/>
                          </a:solidFill>
                          <a:latin typeface="Calibri"/>
                          <a:ea typeface="Calibri"/>
                          <a:cs typeface="Calibri"/>
                        </a:rPr>
                        <a:t>07</a:t>
                      </a:r>
                      <a:endParaRPr sz="1800" b="1" dirty="0">
                        <a:solidFill>
                          <a:srgbClr val="822433"/>
                        </a:solidFill>
                        <a:latin typeface="Calibri"/>
                        <a:ea typeface="Calibri"/>
                        <a:cs typeface="Calibri"/>
                      </a:endParaRP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tc>
                  <a:txBody>
                    <a:bodyPr/>
                    <a:lstStyle/>
                    <a:p>
                      <a:pPr algn="ctr"/>
                      <a:r>
                        <a:rPr sz="1800" b="1">
                          <a:solidFill>
                            <a:srgbClr val="822433"/>
                          </a:solidFill>
                          <a:latin typeface="Calibri"/>
                          <a:ea typeface="Calibri"/>
                          <a:cs typeface="Calibri"/>
                        </a:rPr>
                        <a:t>4.38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7ECEE"/>
                    </a:solidFill>
                  </a:tcPr>
                </a:tc>
                <a:extLst>
                  <a:ext uri="{0D108BD9-81ED-4DB2-BD59-A6C34878D82A}">
                    <a16:rowId xmlns:a16="http://schemas.microsoft.com/office/drawing/2014/main" val="10002"/>
                  </a:ext>
                </a:extLst>
              </a:tr>
              <a:tr h="447675">
                <a:tc>
                  <a:txBody>
                    <a:bodyPr/>
                    <a:lstStyle/>
                    <a:p>
                      <a:pPr algn="l"/>
                      <a:r>
                        <a:rPr sz="1800" b="0">
                          <a:solidFill>
                            <a:srgbClr val="252525"/>
                          </a:solidFill>
                          <a:latin typeface="Calibri"/>
                          <a:ea typeface="Calibri"/>
                          <a:cs typeface="Calibri"/>
                        </a:rPr>
                        <a:t>U-Net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17.77</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24.4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3"/>
                  </a:ext>
                </a:extLst>
              </a:tr>
              <a:tr h="447675">
                <a:tc>
                  <a:txBody>
                    <a:bodyPr/>
                    <a:lstStyle/>
                    <a:p>
                      <a:pPr algn="l"/>
                      <a:r>
                        <a:rPr sz="1800" b="0" dirty="0">
                          <a:solidFill>
                            <a:srgbClr val="252525"/>
                          </a:solidFill>
                          <a:latin typeface="Calibri"/>
                          <a:ea typeface="Calibri"/>
                          <a:cs typeface="Calibri"/>
                        </a:rPr>
                        <a:t>DeepLabV3+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16.74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22.4</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4"/>
                  </a:ext>
                </a:extLst>
              </a:tr>
              <a:tr h="447675">
                <a:tc>
                  <a:txBody>
                    <a:bodyPr/>
                    <a:lstStyle/>
                    <a:p>
                      <a:pPr algn="l"/>
                      <a:r>
                        <a:rPr sz="1800" b="0">
                          <a:solidFill>
                            <a:srgbClr val="252525"/>
                          </a:solidFill>
                          <a:latin typeface="Calibri"/>
                          <a:ea typeface="Calibri"/>
                          <a:cs typeface="Calibri"/>
                        </a:rPr>
                        <a:t>SegFormer / ResNet34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16.06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tc>
                  <a:txBody>
                    <a:bodyPr/>
                    <a:lstStyle/>
                    <a:p>
                      <a:pPr algn="ctr"/>
                      <a:r>
                        <a:rPr sz="1800">
                          <a:solidFill>
                            <a:srgbClr val="252525"/>
                          </a:solidFill>
                          <a:latin typeface="Calibri"/>
                          <a:ea typeface="Calibri"/>
                          <a:cs typeface="Calibri"/>
                        </a:rPr>
                        <a:t>≈ 21.9</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rgbClr val="FFFFFF"/>
                    </a:solidFill>
                  </a:tcPr>
                </a:tc>
                <a:extLst>
                  <a:ext uri="{0D108BD9-81ED-4DB2-BD59-A6C34878D82A}">
                    <a16:rowId xmlns:a16="http://schemas.microsoft.com/office/drawing/2014/main" val="10005"/>
                  </a:ext>
                </a:extLst>
              </a:tr>
              <a:tr h="447675">
                <a:tc>
                  <a:txBody>
                    <a:bodyPr/>
                    <a:lstStyle/>
                    <a:p>
                      <a:pPr algn="l"/>
                      <a:r>
                        <a:rPr sz="1800" b="0" dirty="0">
                          <a:solidFill>
                            <a:srgbClr val="252525"/>
                          </a:solidFill>
                          <a:latin typeface="Calibri"/>
                          <a:ea typeface="Calibri"/>
                          <a:cs typeface="Calibri"/>
                        </a:rPr>
                        <a:t>DPT / </a:t>
                      </a:r>
                      <a:r>
                        <a:rPr sz="1800" b="0" dirty="0" err="1">
                          <a:solidFill>
                            <a:srgbClr val="252525"/>
                          </a:solidFill>
                          <a:latin typeface="Calibri"/>
                          <a:ea typeface="Calibri"/>
                          <a:cs typeface="Calibri"/>
                        </a:rPr>
                        <a:t>ViT</a:t>
                      </a:r>
                      <a:r>
                        <a:rPr sz="1800" b="0" dirty="0">
                          <a:solidFill>
                            <a:srgbClr val="252525"/>
                          </a:solidFill>
                          <a:latin typeface="Calibri"/>
                          <a:ea typeface="Calibri"/>
                          <a:cs typeface="Calibri"/>
                        </a:rPr>
                        <a:t>-Base (Mars-Bench)</a:t>
                      </a:r>
                    </a:p>
                  </a:txBody>
                  <a:tcPr marL="152400" marR="152400" marT="76200" marB="76200" anchor="ctr">
                    <a:lnL w="6191">
                      <a:solidFill>
                        <a:srgbClr val="DADADA"/>
                      </a:solidFill>
                      <a:prstDash val="soli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18.06</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tc>
                  <a:txBody>
                    <a:bodyPr/>
                    <a:lstStyle/>
                    <a:p>
                      <a:pPr algn="ctr"/>
                      <a:r>
                        <a:rPr sz="1800" dirty="0">
                          <a:solidFill>
                            <a:srgbClr val="252525"/>
                          </a:solidFill>
                          <a:latin typeface="Calibri"/>
                          <a:ea typeface="Calibri"/>
                          <a:cs typeface="Calibri"/>
                        </a:rPr>
                        <a:t>≈ 137.8</a:t>
                      </a:r>
                    </a:p>
                  </a:txBody>
                  <a:tcPr marL="152400" marR="152400" marT="76200" marB="76200" anchor="ctr">
                    <a:lnL w="6191" cap="flat" cmpd="sng" algn="ctr">
                      <a:solidFill>
                        <a:srgbClr val="DADADA"/>
                      </a:solidFill>
                      <a:prstDash val="solid"/>
                      <a:round/>
                      <a:headEnd type="none" w="med" len="med"/>
                      <a:tailEnd type="none" w="med" len="med"/>
                    </a:lnL>
                    <a:lnR w="6191">
                      <a:solidFill>
                        <a:srgbClr val="DADADA"/>
                      </a:solidFill>
                      <a:prstDash val="solid"/>
                    </a:lnR>
                    <a:lnT w="6191" cap="flat" cmpd="sng" algn="ctr">
                      <a:solidFill>
                        <a:srgbClr val="DADADA"/>
                      </a:solidFill>
                      <a:prstDash val="solid"/>
                      <a:round/>
                      <a:headEnd type="none" w="med" len="med"/>
                      <a:tailEnd type="none" w="med" len="med"/>
                    </a:lnT>
                    <a:lnB w="6191">
                      <a:solidFill>
                        <a:srgbClr val="DADADA"/>
                      </a:solidFill>
                      <a:prstDash val="solid"/>
                    </a:lnB>
                    <a:solidFill>
                      <a:schemeClr val="bg1">
                        <a:lumMod val="95000"/>
                      </a:schemeClr>
                    </a:solidFill>
                  </a:tcPr>
                </a:tc>
                <a:extLst>
                  <a:ext uri="{0D108BD9-81ED-4DB2-BD59-A6C34878D82A}">
                    <a16:rowId xmlns:a16="http://schemas.microsoft.com/office/drawing/2014/main" val="10006"/>
                  </a:ext>
                </a:extLst>
              </a:tr>
            </a:tbl>
          </a:graphicData>
        </a:graphic>
      </p:graphicFrame>
      <p:sp>
        <p:nvSpPr>
          <p:cNvPr id="8" name="parameter-estimate-note">
            <a:extLst>
              <a:ext uri="{FF2B5EF4-FFF2-40B4-BE49-F238E27FC236}">
                <a16:creationId xmlns:a16="http://schemas.microsoft.com/office/drawing/2014/main" id="{AE04627B-048A-4D71-99BD-E3A503E20991}"/>
              </a:ext>
            </a:extLst>
          </p:cNvPr>
          <p:cNvSpPr>
            <a:spLocks noGrp="1"/>
          </p:cNvSpPr>
          <p:nvPr/>
        </p:nvSpPr>
        <p:spPr>
          <a:xfrm>
            <a:off x="952500" y="5362575"/>
            <a:ext cx="10287000" cy="257175"/>
          </a:xfrm>
          <a:prstGeom prst="rect">
            <a:avLst/>
          </a:prstGeom>
          <a:noFill/>
          <a:ln w="0">
            <a:noFill/>
          </a:ln>
        </p:spPr>
        <p:txBody>
          <a:bodyPr wrap="square" lIns="0" tIns="0" rIns="0" bIns="0" anchor="t">
            <a:noAutofit/>
          </a:bodyPr>
          <a:lstStyle>
            <a:defPPr algn="l">
              <a:defRPr sz="1300" b="0">
                <a:solidFill>
                  <a:srgbClr val="656565"/>
                </a:solidFill>
                <a:latin typeface="Calibri"/>
                <a:ea typeface="Calibri"/>
                <a:cs typeface="Calibri"/>
              </a:defRPr>
            </a:defPPr>
            <a:lvl1pPr algn="l">
              <a:defRPr sz="1300" b="0">
                <a:solidFill>
                  <a:srgbClr val="656565"/>
                </a:solidFill>
                <a:latin typeface="Calibri"/>
                <a:ea typeface="Calibri"/>
                <a:cs typeface="Calibri"/>
              </a:defRPr>
            </a:lvl1pPr>
            <a:lvl2pPr algn="l">
              <a:defRPr sz="1300" b="0">
                <a:solidFill>
                  <a:srgbClr val="656565"/>
                </a:solidFill>
                <a:latin typeface="Calibri"/>
                <a:ea typeface="Calibri"/>
                <a:cs typeface="Calibri"/>
              </a:defRPr>
            </a:lvl2pPr>
            <a:lvl3pPr algn="l">
              <a:defRPr sz="1300" b="0">
                <a:solidFill>
                  <a:srgbClr val="656565"/>
                </a:solidFill>
                <a:latin typeface="Calibri"/>
                <a:ea typeface="Calibri"/>
                <a:cs typeface="Calibri"/>
              </a:defRPr>
            </a:lvl3pPr>
            <a:lvl4pPr algn="l">
              <a:defRPr sz="1300" b="0">
                <a:solidFill>
                  <a:srgbClr val="656565"/>
                </a:solidFill>
                <a:latin typeface="Calibri"/>
                <a:ea typeface="Calibri"/>
                <a:cs typeface="Calibri"/>
              </a:defRPr>
            </a:lvl4pPr>
            <a:lvl5pPr algn="l">
              <a:defRPr sz="1300" b="0">
                <a:solidFill>
                  <a:srgbClr val="656565"/>
                </a:solidFill>
                <a:latin typeface="Calibri"/>
                <a:ea typeface="Calibri"/>
                <a:cs typeface="Calibri"/>
              </a:defRPr>
            </a:lvl5pPr>
            <a:lvl6pPr algn="l">
              <a:defRPr sz="1300" b="0">
                <a:solidFill>
                  <a:srgbClr val="656565"/>
                </a:solidFill>
                <a:latin typeface="Calibri"/>
                <a:ea typeface="Calibri"/>
                <a:cs typeface="Calibri"/>
              </a:defRPr>
            </a:lvl6pPr>
            <a:lvl7pPr algn="l">
              <a:defRPr sz="1300" b="0">
                <a:solidFill>
                  <a:srgbClr val="656565"/>
                </a:solidFill>
                <a:latin typeface="Calibri"/>
                <a:ea typeface="Calibri"/>
                <a:cs typeface="Calibri"/>
              </a:defRPr>
            </a:lvl7pPr>
            <a:lvl8pPr algn="l">
              <a:defRPr sz="1300" b="0">
                <a:solidFill>
                  <a:srgbClr val="656565"/>
                </a:solidFill>
                <a:latin typeface="Calibri"/>
                <a:ea typeface="Calibri"/>
                <a:cs typeface="Calibri"/>
              </a:defRPr>
            </a:lvl8pPr>
            <a:lvl9pPr algn="l">
              <a:defRPr sz="1300" b="0">
                <a:solidFill>
                  <a:srgbClr val="656565"/>
                </a:solidFill>
                <a:latin typeface="Calibri"/>
                <a:ea typeface="Calibri"/>
                <a:cs typeface="Calibri"/>
              </a:defRPr>
            </a:lvl9pPr>
          </a:lstStyle>
          <a:p>
            <a:pPr algn="l">
              <a:defRPr sz="1300" b="0">
                <a:solidFill>
                  <a:srgbClr val="656565"/>
                </a:solidFill>
                <a:latin typeface="Calibri"/>
                <a:ea typeface="Calibri"/>
                <a:cs typeface="Calibri"/>
              </a:defRPr>
            </a:pPr>
            <a:r>
              <a:rPr sz="1300" b="0" dirty="0">
                <a:solidFill>
                  <a:srgbClr val="656565"/>
                </a:solidFill>
                <a:latin typeface="Calibri"/>
                <a:ea typeface="Calibri"/>
                <a:cs typeface="Calibri"/>
              </a:rPr>
              <a:t>≈ Total parameter estimates from released configurations.</a:t>
            </a:r>
          </a:p>
        </p:txBody>
      </p:sp>
      <p:sp>
        <p:nvSpPr>
          <p:cNvPr id="10" name="extra-page-number">
            <a:extLst>
              <a:ext uri="{FF2B5EF4-FFF2-40B4-BE49-F238E27FC236}">
                <a16:creationId xmlns:a16="http://schemas.microsoft.com/office/drawing/2014/main" id="{1E1CBBD5-BAD6-4EF3-8BDB-8F2AC971E295}"/>
              </a:ext>
            </a:extLst>
          </p:cNvPr>
          <p:cNvSpPr>
            <a:spLocks noGrp="1"/>
          </p:cNvSpPr>
          <p:nvPr/>
        </p:nvSpPr>
        <p:spPr>
          <a:xfrm>
            <a:off x="10810875" y="6581775"/>
            <a:ext cx="914400" cy="219075"/>
          </a:xfrm>
          <a:prstGeom prst="rect">
            <a:avLst/>
          </a:prstGeom>
          <a:noFill/>
          <a:ln w="0">
            <a:noFill/>
          </a:ln>
        </p:spPr>
        <p:txBody>
          <a:bodyPr wrap="square" lIns="0" tIns="0" rIns="0" bIns="0" anchor="t">
            <a:noAutofit/>
          </a:bodyPr>
          <a:lstStyle>
            <a:defPPr algn="r">
              <a:defRPr sz="1000" b="0">
                <a:solidFill>
                  <a:srgbClr val="822433"/>
                </a:solidFill>
                <a:latin typeface="Roboto"/>
                <a:ea typeface="Roboto"/>
                <a:cs typeface="Roboto"/>
              </a:defRPr>
            </a:defPPr>
            <a:lvl1pPr algn="r">
              <a:defRPr sz="1000" b="0">
                <a:solidFill>
                  <a:srgbClr val="822433"/>
                </a:solidFill>
                <a:latin typeface="Roboto"/>
                <a:ea typeface="Roboto"/>
                <a:cs typeface="Roboto"/>
              </a:defRPr>
            </a:lvl1pPr>
            <a:lvl2pPr algn="r">
              <a:defRPr sz="1000" b="0">
                <a:solidFill>
                  <a:srgbClr val="822433"/>
                </a:solidFill>
                <a:latin typeface="Roboto"/>
                <a:ea typeface="Roboto"/>
                <a:cs typeface="Roboto"/>
              </a:defRPr>
            </a:lvl2pPr>
            <a:lvl3pPr algn="r">
              <a:defRPr sz="1000" b="0">
                <a:solidFill>
                  <a:srgbClr val="822433"/>
                </a:solidFill>
                <a:latin typeface="Roboto"/>
                <a:ea typeface="Roboto"/>
                <a:cs typeface="Roboto"/>
              </a:defRPr>
            </a:lvl3pPr>
            <a:lvl4pPr algn="r">
              <a:defRPr sz="1000" b="0">
                <a:solidFill>
                  <a:srgbClr val="822433"/>
                </a:solidFill>
                <a:latin typeface="Roboto"/>
                <a:ea typeface="Roboto"/>
                <a:cs typeface="Roboto"/>
              </a:defRPr>
            </a:lvl4pPr>
            <a:lvl5pPr algn="r">
              <a:defRPr sz="1000" b="0">
                <a:solidFill>
                  <a:srgbClr val="822433"/>
                </a:solidFill>
                <a:latin typeface="Roboto"/>
                <a:ea typeface="Roboto"/>
                <a:cs typeface="Roboto"/>
              </a:defRPr>
            </a:lvl5pPr>
            <a:lvl6pPr algn="r">
              <a:defRPr sz="1000" b="0">
                <a:solidFill>
                  <a:srgbClr val="822433"/>
                </a:solidFill>
                <a:latin typeface="Roboto"/>
                <a:ea typeface="Roboto"/>
                <a:cs typeface="Roboto"/>
              </a:defRPr>
            </a:lvl6pPr>
            <a:lvl7pPr algn="r">
              <a:defRPr sz="1000" b="0">
                <a:solidFill>
                  <a:srgbClr val="822433"/>
                </a:solidFill>
                <a:latin typeface="Roboto"/>
                <a:ea typeface="Roboto"/>
                <a:cs typeface="Roboto"/>
              </a:defRPr>
            </a:lvl7pPr>
            <a:lvl8pPr algn="r">
              <a:defRPr sz="1000" b="0">
                <a:solidFill>
                  <a:srgbClr val="822433"/>
                </a:solidFill>
                <a:latin typeface="Roboto"/>
                <a:ea typeface="Roboto"/>
                <a:cs typeface="Roboto"/>
              </a:defRPr>
            </a:lvl8pPr>
            <a:lvl9pPr algn="r">
              <a:defRPr sz="1000" b="0">
                <a:solidFill>
                  <a:srgbClr val="822433"/>
                </a:solidFill>
                <a:latin typeface="Roboto"/>
                <a:ea typeface="Roboto"/>
                <a:cs typeface="Roboto"/>
              </a:defRPr>
            </a:lvl9pPr>
          </a:lstStyle>
          <a:p>
            <a:pPr algn="r">
              <a:defRPr sz="1000" b="0">
                <a:solidFill>
                  <a:srgbClr val="822433"/>
                </a:solidFill>
                <a:latin typeface="Roboto"/>
                <a:ea typeface="Roboto"/>
                <a:cs typeface="Roboto"/>
              </a:defRPr>
            </a:pPr>
            <a:r>
              <a:rPr lang="it-IT" sz="1000" b="0">
                <a:solidFill>
                  <a:srgbClr val="822433"/>
                </a:solidFill>
                <a:latin typeface="Roboto"/>
                <a:ea typeface="Roboto"/>
                <a:cs typeface="Roboto"/>
              </a:rPr>
              <a:t>54 / 54</a:t>
            </a:r>
            <a:endParaRPr sz="1000" b="0">
              <a:solidFill>
                <a:srgbClr val="822433"/>
              </a:solidFill>
              <a:latin typeface="Roboto"/>
              <a:ea typeface="Roboto"/>
              <a:cs typeface="Roboto"/>
            </a:endParaRPr>
          </a:p>
        </p:txBody>
      </p:sp>
    </p:spTree>
    <p:extLst>
      <p:ext uri="{BB962C8B-B14F-4D97-AF65-F5344CB8AC3E}">
        <p14:creationId xmlns:p14="http://schemas.microsoft.com/office/powerpoint/2010/main" val="107099342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E308B2-58D6-FEE9-4C01-9AA2D12956EB}"/>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A3894003-A9B7-8E92-4D48-270852ADEB05}"/>
              </a:ext>
            </a:extLst>
          </p:cNvPr>
          <p:cNvSpPr>
            <a:spLocks noGrp="1"/>
          </p:cNvSpPr>
          <p:nvPr>
            <p:ph type="title"/>
          </p:nvPr>
        </p:nvSpPr>
        <p:spPr>
          <a:xfrm>
            <a:off x="838200" y="365125"/>
            <a:ext cx="9386455" cy="835787"/>
          </a:xfrm>
        </p:spPr>
        <p:txBody>
          <a:bodyPr>
            <a:normAutofit/>
          </a:bodyPr>
          <a:lstStyle/>
          <a:p>
            <a:r>
              <a:rPr lang="en-US" dirty="0">
                <a:solidFill>
                  <a:srgbClr val="822433"/>
                </a:solidFill>
              </a:rPr>
              <a:t>Extra: Full Quantization results</a:t>
            </a:r>
            <a:endParaRPr lang="en-US" noProof="0" dirty="0">
              <a:solidFill>
                <a:srgbClr val="822433"/>
              </a:solidFill>
            </a:endParaRPr>
          </a:p>
        </p:txBody>
      </p:sp>
      <p:sp>
        <p:nvSpPr>
          <p:cNvPr id="4" name="Google Shape;102;p14">
            <a:extLst>
              <a:ext uri="{FF2B5EF4-FFF2-40B4-BE49-F238E27FC236}">
                <a16:creationId xmlns:a16="http://schemas.microsoft.com/office/drawing/2014/main" id="{7CEC75DA-4BEC-E538-8FC5-C0F3CA89D3CD}"/>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1150DABA-181E-0A37-54AC-D552EFF142B1}"/>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graphicFrame>
        <p:nvGraphicFramePr>
          <p:cNvPr id="6" name="Table 5">
            <a:extLst>
              <a:ext uri="{FF2B5EF4-FFF2-40B4-BE49-F238E27FC236}">
                <a16:creationId xmlns:a16="http://schemas.microsoft.com/office/drawing/2014/main" id="{E1814047-410B-4ECB-A748-0C0643B8EBAC}"/>
              </a:ext>
            </a:extLst>
          </p:cNvPr>
          <p:cNvGraphicFramePr/>
          <p:nvPr>
            <p:extLst>
              <p:ext uri="{D42A27DB-BD31-4B8C-83A1-F6EECF244321}">
                <p14:modId xmlns:p14="http://schemas.microsoft.com/office/powerpoint/2010/main" val="2319314835"/>
              </p:ext>
            </p:extLst>
          </p:nvPr>
        </p:nvGraphicFramePr>
        <p:xfrm>
          <a:off x="762000" y="1381125"/>
          <a:ext cx="5105400" cy="472821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U-Net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16.30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1213.08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659.76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64.51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5.82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304.10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65.24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4.81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231.42</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U-Net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64.57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11.87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878.80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64.61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8.16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523.07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61.55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199.96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65.00</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3.57</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162.66</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r h="285750">
                <a:tc gridSpan="4">
                  <a:txBody>
                    <a:bodyPr/>
                    <a:lstStyle/>
                    <a:p>
                      <a:pPr algn="l">
                        <a:buNone/>
                      </a:pPr>
                      <a:r>
                        <a:rPr sz="1725" b="1" dirty="0">
                          <a:solidFill>
                            <a:srgbClr val="822433"/>
                          </a:solidFill>
                          <a:latin typeface="Roboto"/>
                          <a:ea typeface="Roboto"/>
                          <a:cs typeface="Roboto"/>
                        </a:rPr>
                        <a:t>DeepLabV3 / ResNet34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1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56.27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3977.25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73.79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14.03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1016.14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1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73.55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455.34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14"/>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73.62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8.65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523.71</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5"/>
                  </a:ext>
                </a:extLst>
              </a:tr>
            </a:tbl>
          </a:graphicData>
        </a:graphic>
      </p:graphicFrame>
      <p:graphicFrame>
        <p:nvGraphicFramePr>
          <p:cNvPr id="7" name="Table 6">
            <a:extLst>
              <a:ext uri="{FF2B5EF4-FFF2-40B4-BE49-F238E27FC236}">
                <a16:creationId xmlns:a16="http://schemas.microsoft.com/office/drawing/2014/main" id="{08F79596-053E-42BE-94ED-A552A8820A02}"/>
              </a:ext>
            </a:extLst>
          </p:cNvPr>
          <p:cNvGraphicFramePr/>
          <p:nvPr>
            <p:extLst>
              <p:ext uri="{D42A27DB-BD31-4B8C-83A1-F6EECF244321}">
                <p14:modId xmlns:p14="http://schemas.microsoft.com/office/powerpoint/2010/main" val="1858978139"/>
              </p:ext>
            </p:extLst>
          </p:nvPr>
        </p:nvGraphicFramePr>
        <p:xfrm>
          <a:off x="6324600" y="1381125"/>
          <a:ext cx="5105400" cy="3299460"/>
        </p:xfrm>
        <a:graphic>
          <a:graphicData uri="http://schemas.openxmlformats.org/drawingml/2006/table">
            <a:tbl>
              <a:tblPr>
                <a:effectLst>
                  <a:outerShdw blurRad="50800" dist="38100" dir="2700000" algn="tl" rotWithShape="0">
                    <a:prstClr val="black">
                      <a:alpha val="40000"/>
                    </a:prstClr>
                  </a:outerShdw>
                </a:effectLst>
              </a:tblPr>
              <a:tblGrid>
                <a:gridCol w="1390650">
                  <a:extLst>
                    <a:ext uri="{9D8B030D-6E8A-4147-A177-3AD203B41FA5}">
                      <a16:colId xmlns:a16="http://schemas.microsoft.com/office/drawing/2014/main" val="20000"/>
                    </a:ext>
                  </a:extLst>
                </a:gridCol>
                <a:gridCol w="1162050">
                  <a:extLst>
                    <a:ext uri="{9D8B030D-6E8A-4147-A177-3AD203B41FA5}">
                      <a16:colId xmlns:a16="http://schemas.microsoft.com/office/drawing/2014/main" val="20001"/>
                    </a:ext>
                  </a:extLst>
                </a:gridCol>
                <a:gridCol w="1066800">
                  <a:extLst>
                    <a:ext uri="{9D8B030D-6E8A-4147-A177-3AD203B41FA5}">
                      <a16:colId xmlns:a16="http://schemas.microsoft.com/office/drawing/2014/main" val="20002"/>
                    </a:ext>
                  </a:extLst>
                </a:gridCol>
                <a:gridCol w="1485900">
                  <a:extLst>
                    <a:ext uri="{9D8B030D-6E8A-4147-A177-3AD203B41FA5}">
                      <a16:colId xmlns:a16="http://schemas.microsoft.com/office/drawing/2014/main" val="20003"/>
                    </a:ext>
                  </a:extLst>
                </a:gridCol>
              </a:tblGrid>
              <a:tr h="419100">
                <a:tc>
                  <a:txBody>
                    <a:bodyPr/>
                    <a:lstStyle/>
                    <a:p>
                      <a:pPr algn="l">
                        <a:buNone/>
                      </a:pPr>
                      <a:r>
                        <a:rPr sz="1450" b="1" dirty="0">
                          <a:solidFill>
                            <a:schemeClr val="bg1"/>
                          </a:solidFill>
                          <a:latin typeface="Roboto"/>
                          <a:ea typeface="Roboto"/>
                          <a:cs typeface="Roboto"/>
                        </a:rPr>
                        <a:t>Precision</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Test </a:t>
                      </a:r>
                      <a:r>
                        <a:rPr sz="1450" b="1" dirty="0" err="1">
                          <a:solidFill>
                            <a:schemeClr val="bg1"/>
                          </a:solidFill>
                          <a:latin typeface="Roboto"/>
                          <a:ea typeface="Roboto"/>
                          <a:cs typeface="Roboto"/>
                        </a:rPr>
                        <a:t>mIoU</a:t>
                      </a:r>
                      <a:endParaRPr sz="1450" b="1" dirty="0">
                        <a:solidFill>
                          <a:schemeClr val="bg1"/>
                        </a:solidFill>
                        <a:latin typeface="Roboto"/>
                        <a:ea typeface="Roboto"/>
                        <a:cs typeface="Roboto"/>
                      </a:endParaRPr>
                    </a:p>
                    <a:p>
                      <a:pPr algn="ctr">
                        <a:buNone/>
                      </a:pP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Latency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ms</a:t>
                      </a:r>
                      <a:r>
                        <a:rPr sz="1450" b="1" dirty="0">
                          <a:solidFill>
                            <a:schemeClr val="bg1"/>
                          </a:solidFill>
                          <a:latin typeface="Roboto"/>
                          <a:ea typeface="Roboto"/>
                          <a:cs typeface="Roboto"/>
                        </a:rPr>
                        <a:t>)</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tc>
                  <a:txBody>
                    <a:bodyPr/>
                    <a:lstStyle/>
                    <a:p>
                      <a:pPr algn="ctr">
                        <a:buNone/>
                      </a:pPr>
                      <a:r>
                        <a:rPr sz="1450" b="1" dirty="0">
                          <a:solidFill>
                            <a:schemeClr val="bg1"/>
                          </a:solidFill>
                          <a:latin typeface="Roboto"/>
                          <a:ea typeface="Roboto"/>
                          <a:cs typeface="Roboto"/>
                        </a:rPr>
                        <a:t>Energy</a:t>
                      </a:r>
                    </a:p>
                    <a:p>
                      <a:pPr algn="ctr">
                        <a:buNone/>
                      </a:pPr>
                      <a:r>
                        <a:rPr sz="1450" b="1" dirty="0">
                          <a:solidFill>
                            <a:schemeClr val="bg1"/>
                          </a:solidFill>
                          <a:latin typeface="Roboto"/>
                          <a:ea typeface="Roboto"/>
                          <a:cs typeface="Roboto"/>
                        </a:rPr>
                        <a:t>(</a:t>
                      </a:r>
                      <a:r>
                        <a:rPr sz="1450" b="1" dirty="0" err="1">
                          <a:solidFill>
                            <a:schemeClr val="bg1"/>
                          </a:solidFill>
                          <a:latin typeface="Roboto"/>
                          <a:ea typeface="Roboto"/>
                          <a:cs typeface="Roboto"/>
                        </a:rPr>
                        <a:t>mJ</a:t>
                      </a:r>
                      <a:r>
                        <a:rPr sz="1450" b="1" dirty="0">
                          <a:solidFill>
                            <a:schemeClr val="bg1"/>
                          </a:solidFill>
                          <a:latin typeface="Roboto"/>
                          <a:ea typeface="Roboto"/>
                          <a:cs typeface="Roboto"/>
                        </a:rPr>
                        <a:t>/image)</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822433"/>
                    </a:solidFill>
                  </a:tcPr>
                </a:tc>
                <a:extLst>
                  <a:ext uri="{0D108BD9-81ED-4DB2-BD59-A6C34878D82A}">
                    <a16:rowId xmlns:a16="http://schemas.microsoft.com/office/drawing/2014/main" val="10000"/>
                  </a:ext>
                </a:extLst>
              </a:tr>
              <a:tr h="285750">
                <a:tc gridSpan="4">
                  <a:txBody>
                    <a:bodyPr/>
                    <a:lstStyle/>
                    <a:p>
                      <a:pPr algn="l">
                        <a:buNone/>
                      </a:pPr>
                      <a:r>
                        <a:rPr sz="1725" b="1" dirty="0">
                          <a:solidFill>
                            <a:srgbClr val="822433"/>
                          </a:solidFill>
                          <a:latin typeface="Roboto"/>
                          <a:ea typeface="Roboto"/>
                          <a:cs typeface="Roboto"/>
                        </a:rPr>
                        <a:t>DeepLabV3+ / MobileNetV2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1"/>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8.84</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653.72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64.07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6.03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377.88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3"/>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59.14</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4.02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159.19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4"/>
                  </a:ext>
                </a:extLst>
              </a:tr>
              <a:tr h="285750">
                <a:tc>
                  <a:txBody>
                    <a:bodyPr/>
                    <a:lstStyle/>
                    <a:p>
                      <a:pPr algn="l">
                        <a:buNone/>
                      </a:pPr>
                      <a:r>
                        <a:rPr sz="1700" b="1" dirty="0">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65.63</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3.01</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115.34</a:t>
                      </a:r>
                    </a:p>
                  </a:txBody>
                  <a:tcPr marL="85725" marR="85725" marT="0" marB="0" anchor="ctr">
                    <a:lnL w="12700" cmpd="sng">
                      <a:noFill/>
                      <a:prstDash val="solid"/>
                    </a:lnL>
                    <a:lnR w="12700" cmpd="sng">
                      <a:noFill/>
                      <a:prstDash val="solid"/>
                    </a:lnR>
                    <a:lnT w="12700" cmpd="sng">
                      <a:noFill/>
                      <a:prstDash val="soli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05"/>
                  </a:ext>
                </a:extLst>
              </a:tr>
              <a:tr h="285750">
                <a:tc gridSpan="4">
                  <a:txBody>
                    <a:bodyPr/>
                    <a:lstStyle/>
                    <a:p>
                      <a:pPr algn="l">
                        <a:buNone/>
                      </a:pPr>
                      <a:r>
                        <a:rPr sz="1725" b="1" dirty="0">
                          <a:solidFill>
                            <a:srgbClr val="822433"/>
                          </a:solidFill>
                          <a:latin typeface="Roboto"/>
                          <a:ea typeface="Roboto"/>
                          <a:cs typeface="Roboto"/>
                        </a:rPr>
                        <a:t>SegFormer-B0</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tc hMerge="1">
                  <a:txBody>
                    <a:bodyPr/>
                    <a:lstStyle/>
                    <a:p>
                      <a:pPr>
                        <a:lnSpc>
                          <a:spcPct val="100000"/>
                        </a:lnSpc>
                      </a:pPr>
                      <a:endParaRPr/>
                    </a:p>
                  </a:txBody>
                  <a:tcPr marL="85725" marR="85725" marT="0" marB="0" anchor="ctr">
                    <a:solidFill>
                      <a:srgbClr val="FFFFFF"/>
                    </a:solidFill>
                  </a:tcPr>
                </a:tc>
                <a:extLst>
                  <a:ext uri="{0D108BD9-81ED-4DB2-BD59-A6C34878D82A}">
                    <a16:rowId xmlns:a16="http://schemas.microsoft.com/office/drawing/2014/main" val="10006"/>
                  </a:ext>
                </a:extLst>
              </a:tr>
              <a:tr h="285750">
                <a:tc>
                  <a:txBody>
                    <a:bodyPr/>
                    <a:lstStyle/>
                    <a:p>
                      <a:pPr algn="l">
                        <a:buNone/>
                      </a:pPr>
                      <a:r>
                        <a:rPr sz="1700" b="0">
                          <a:solidFill>
                            <a:srgbClr val="202124"/>
                          </a:solidFill>
                          <a:latin typeface="Roboto"/>
                          <a:ea typeface="Roboto"/>
                          <a:cs typeface="Roboto"/>
                        </a:rPr>
                        <a:t>FP32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11.88</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835.72</a:t>
                      </a:r>
                    </a:p>
                  </a:txBody>
                  <a:tcPr marL="85725" marR="85725" marT="0" marB="0" anchor="ctr">
                    <a:lnL w="12700" cmpd="sng">
                      <a:noFill/>
                      <a:prstDash val="solid"/>
                    </a:lnL>
                    <a:lnR w="12700" cmpd="sng">
                      <a:noFill/>
                      <a:prstDash val="solid"/>
                    </a:lnR>
                    <a:lnT w="12700" cap="flat" cmpd="sng" algn="ctr">
                      <a:solidFill>
                        <a:schemeClr val="tx1"/>
                      </a:solidFill>
                      <a:prstDash val="solid"/>
                      <a:round/>
                      <a:headEnd type="none" w="med" len="med"/>
                      <a:tailEnd type="none" w="med" len="me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7"/>
                  </a:ext>
                </a:extLst>
              </a:tr>
              <a:tr h="285750">
                <a:tc>
                  <a:txBody>
                    <a:bodyPr/>
                    <a:lstStyle/>
                    <a:p>
                      <a:pPr algn="l">
                        <a:buNone/>
                      </a:pPr>
                      <a:r>
                        <a:rPr sz="1700" b="0">
                          <a:solidFill>
                            <a:srgbClr val="202124"/>
                          </a:solidFill>
                          <a:latin typeface="Roboto"/>
                          <a:ea typeface="Roboto"/>
                          <a:cs typeface="Roboto"/>
                        </a:rPr>
                        <a:t>FP16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75.55</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a:solidFill>
                            <a:srgbClr val="202124"/>
                          </a:solidFill>
                          <a:latin typeface="Roboto"/>
                          <a:ea typeface="Roboto"/>
                          <a:cs typeface="Roboto"/>
                        </a:rPr>
                        <a:t>7.17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tc>
                  <a:txBody>
                    <a:bodyPr/>
                    <a:lstStyle/>
                    <a:p>
                      <a:pPr algn="r">
                        <a:buNone/>
                      </a:pPr>
                      <a:r>
                        <a:rPr sz="1700" b="0" dirty="0">
                          <a:solidFill>
                            <a:srgbClr val="202124"/>
                          </a:solidFill>
                          <a:latin typeface="Roboto"/>
                          <a:ea typeface="Roboto"/>
                          <a:cs typeface="Roboto"/>
                        </a:rPr>
                        <a:t>432.07</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0008"/>
                  </a:ext>
                </a:extLst>
              </a:tr>
              <a:tr h="285750">
                <a:tc>
                  <a:txBody>
                    <a:bodyPr/>
                    <a:lstStyle/>
                    <a:p>
                      <a:pPr algn="l">
                        <a:buNone/>
                      </a:pPr>
                      <a:r>
                        <a:rPr sz="1700" b="0">
                          <a:solidFill>
                            <a:srgbClr val="202124"/>
                          </a:solidFill>
                          <a:latin typeface="Roboto"/>
                          <a:ea typeface="Roboto"/>
                          <a:cs typeface="Roboto"/>
                        </a:rPr>
                        <a:t>PTQ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75.60</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a:solidFill>
                            <a:srgbClr val="202124"/>
                          </a:solidFill>
                          <a:latin typeface="Roboto"/>
                          <a:ea typeface="Roboto"/>
                          <a:cs typeface="Roboto"/>
                        </a:rPr>
                        <a:t>5.92</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tc>
                  <a:txBody>
                    <a:bodyPr/>
                    <a:lstStyle/>
                    <a:p>
                      <a:pPr algn="r">
                        <a:buNone/>
                      </a:pPr>
                      <a:r>
                        <a:rPr sz="1700" b="0" dirty="0">
                          <a:solidFill>
                            <a:srgbClr val="202124"/>
                          </a:solidFill>
                          <a:latin typeface="Roboto"/>
                          <a:ea typeface="Roboto"/>
                          <a:cs typeface="Roboto"/>
                        </a:rPr>
                        <a:t>327.99</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9"/>
                  </a:ext>
                </a:extLst>
              </a:tr>
              <a:tr h="285750">
                <a:tc>
                  <a:txBody>
                    <a:bodyPr/>
                    <a:lstStyle/>
                    <a:p>
                      <a:pPr algn="l">
                        <a:buNone/>
                      </a:pPr>
                      <a:r>
                        <a:rPr sz="1700" b="1">
                          <a:solidFill>
                            <a:srgbClr val="822433"/>
                          </a:solidFill>
                          <a:latin typeface="Roboto"/>
                          <a:ea typeface="Roboto"/>
                          <a:cs typeface="Roboto"/>
                        </a:rPr>
                        <a:t>QAT INT8</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76.93</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a:solidFill>
                            <a:srgbClr val="822433"/>
                          </a:solidFill>
                          <a:latin typeface="Roboto"/>
                          <a:ea typeface="Roboto"/>
                          <a:cs typeface="Roboto"/>
                        </a:rPr>
                        <a:t>5.66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tc>
                  <a:txBody>
                    <a:bodyPr/>
                    <a:lstStyle/>
                    <a:p>
                      <a:pPr algn="r">
                        <a:buNone/>
                      </a:pPr>
                      <a:r>
                        <a:rPr sz="1700" b="1" dirty="0">
                          <a:solidFill>
                            <a:srgbClr val="822433"/>
                          </a:solidFill>
                          <a:latin typeface="Roboto"/>
                          <a:ea typeface="Roboto"/>
                          <a:cs typeface="Roboto"/>
                        </a:rPr>
                        <a:t>291.76</a:t>
                      </a:r>
                    </a:p>
                  </a:txBody>
                  <a:tcPr marL="85725" marR="85725" marT="0" marB="0"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rgbClr val="F5EDEF"/>
                    </a:solidFill>
                  </a:tcPr>
                </a:tc>
                <a:extLst>
                  <a:ext uri="{0D108BD9-81ED-4DB2-BD59-A6C34878D82A}">
                    <a16:rowId xmlns:a16="http://schemas.microsoft.com/office/drawing/2014/main" val="10010"/>
                  </a:ext>
                </a:extLst>
              </a:tr>
            </a:tbl>
          </a:graphicData>
        </a:graphic>
      </p:graphicFrame>
      <p:sp>
        <p:nvSpPr>
          <p:cNvPr id="8" name="accuracy-summary-label">
            <a:extLst>
              <a:ext uri="{FF2B5EF4-FFF2-40B4-BE49-F238E27FC236}">
                <a16:creationId xmlns:a16="http://schemas.microsoft.com/office/drawing/2014/main" id="{243EFCED-DB94-4E9E-ABB4-C36D15C79B31}"/>
              </a:ext>
            </a:extLst>
          </p:cNvPr>
          <p:cNvSpPr>
            <a:spLocks noGrp="1"/>
          </p:cNvSpPr>
          <p:nvPr/>
        </p:nvSpPr>
        <p:spPr>
          <a:xfrm>
            <a:off x="6410325" y="4895850"/>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Highest test mIoU</a:t>
            </a:r>
          </a:p>
        </p:txBody>
      </p:sp>
      <p:sp>
        <p:nvSpPr>
          <p:cNvPr id="9" name="accuracy-summary">
            <a:extLst>
              <a:ext uri="{FF2B5EF4-FFF2-40B4-BE49-F238E27FC236}">
                <a16:creationId xmlns:a16="http://schemas.microsoft.com/office/drawing/2014/main" id="{19821EED-1E10-4718-BA03-6A68623EF573}"/>
              </a:ext>
            </a:extLst>
          </p:cNvPr>
          <p:cNvSpPr>
            <a:spLocks noGrp="1"/>
          </p:cNvSpPr>
          <p:nvPr/>
        </p:nvSpPr>
        <p:spPr>
          <a:xfrm>
            <a:off x="6410325" y="5124450"/>
            <a:ext cx="4857750" cy="276225"/>
          </a:xfrm>
          <a:prstGeom prst="rect">
            <a:avLst/>
          </a:prstGeom>
          <a:noFill/>
          <a:ln w="0">
            <a:noFill/>
          </a:ln>
        </p:spPr>
        <p:txBody>
          <a:bodyPr wrap="none" lIns="0" tIns="0" rIns="0" bIns="0" anchor="t">
            <a:noAutofit/>
          </a:bodyPr>
          <a:lstStyle>
            <a:defPPr algn="l">
              <a:defRPr sz="1900" b="1">
                <a:solidFill>
                  <a:srgbClr val="822433"/>
                </a:solidFill>
                <a:latin typeface="Roboto"/>
                <a:ea typeface="Roboto"/>
                <a:cs typeface="Roboto"/>
              </a:defRPr>
            </a:defPPr>
            <a:lvl1pPr algn="l">
              <a:defRPr sz="1900" b="1">
                <a:solidFill>
                  <a:srgbClr val="822433"/>
                </a:solidFill>
                <a:latin typeface="Roboto"/>
                <a:ea typeface="Roboto"/>
                <a:cs typeface="Roboto"/>
              </a:defRPr>
            </a:lvl1pPr>
            <a:lvl2pPr algn="l">
              <a:defRPr sz="1900" b="1">
                <a:solidFill>
                  <a:srgbClr val="822433"/>
                </a:solidFill>
                <a:latin typeface="Roboto"/>
                <a:ea typeface="Roboto"/>
                <a:cs typeface="Roboto"/>
              </a:defRPr>
            </a:lvl2pPr>
            <a:lvl3pPr algn="l">
              <a:defRPr sz="1900" b="1">
                <a:solidFill>
                  <a:srgbClr val="822433"/>
                </a:solidFill>
                <a:latin typeface="Roboto"/>
                <a:ea typeface="Roboto"/>
                <a:cs typeface="Roboto"/>
              </a:defRPr>
            </a:lvl3pPr>
            <a:lvl4pPr algn="l">
              <a:defRPr sz="1900" b="1">
                <a:solidFill>
                  <a:srgbClr val="822433"/>
                </a:solidFill>
                <a:latin typeface="Roboto"/>
                <a:ea typeface="Roboto"/>
                <a:cs typeface="Roboto"/>
              </a:defRPr>
            </a:lvl4pPr>
            <a:lvl5pPr algn="l">
              <a:defRPr sz="1900" b="1">
                <a:solidFill>
                  <a:srgbClr val="822433"/>
                </a:solidFill>
                <a:latin typeface="Roboto"/>
                <a:ea typeface="Roboto"/>
                <a:cs typeface="Roboto"/>
              </a:defRPr>
            </a:lvl5pPr>
            <a:lvl6pPr algn="l">
              <a:defRPr sz="1900" b="1">
                <a:solidFill>
                  <a:srgbClr val="822433"/>
                </a:solidFill>
                <a:latin typeface="Roboto"/>
                <a:ea typeface="Roboto"/>
                <a:cs typeface="Roboto"/>
              </a:defRPr>
            </a:lvl6pPr>
            <a:lvl7pPr algn="l">
              <a:defRPr sz="1900" b="1">
                <a:solidFill>
                  <a:srgbClr val="822433"/>
                </a:solidFill>
                <a:latin typeface="Roboto"/>
                <a:ea typeface="Roboto"/>
                <a:cs typeface="Roboto"/>
              </a:defRPr>
            </a:lvl7pPr>
            <a:lvl8pPr algn="l">
              <a:defRPr sz="1900" b="1">
                <a:solidFill>
                  <a:srgbClr val="822433"/>
                </a:solidFill>
                <a:latin typeface="Roboto"/>
                <a:ea typeface="Roboto"/>
                <a:cs typeface="Roboto"/>
              </a:defRPr>
            </a:lvl8pPr>
            <a:lvl9pPr algn="l">
              <a:defRPr sz="1900" b="1">
                <a:solidFill>
                  <a:srgbClr val="822433"/>
                </a:solidFill>
                <a:latin typeface="Roboto"/>
                <a:ea typeface="Roboto"/>
                <a:cs typeface="Roboto"/>
              </a:defRPr>
            </a:lvl9pPr>
          </a:lstStyle>
          <a:p>
            <a:pPr algn="l">
              <a:lnSpc>
                <a:spcPct val="100000"/>
              </a:lnSpc>
              <a:buNone/>
              <a:defRPr sz="1900" b="1">
                <a:solidFill>
                  <a:srgbClr val="822433"/>
                </a:solidFill>
                <a:latin typeface="Roboto"/>
                <a:ea typeface="Roboto"/>
                <a:cs typeface="Roboto"/>
              </a:defRPr>
            </a:pPr>
            <a:r>
              <a:rPr sz="1900" b="1">
                <a:solidFill>
                  <a:srgbClr val="822433"/>
                </a:solidFill>
                <a:latin typeface="Roboto"/>
                <a:ea typeface="Roboto"/>
                <a:cs typeface="Roboto"/>
              </a:rPr>
              <a:t>SegFormer-B0 QAT: 76.93%</a:t>
            </a:r>
          </a:p>
        </p:txBody>
      </p:sp>
      <p:sp>
        <p:nvSpPr>
          <p:cNvPr id="10" name="energy-summary-label">
            <a:extLst>
              <a:ext uri="{FF2B5EF4-FFF2-40B4-BE49-F238E27FC236}">
                <a16:creationId xmlns:a16="http://schemas.microsoft.com/office/drawing/2014/main" id="{2999E3CE-B449-4A09-84BD-C24529650A77}"/>
              </a:ext>
            </a:extLst>
          </p:cNvPr>
          <p:cNvSpPr>
            <a:spLocks noGrp="1"/>
          </p:cNvSpPr>
          <p:nvPr/>
        </p:nvSpPr>
        <p:spPr>
          <a:xfrm>
            <a:off x="6410325" y="5534025"/>
            <a:ext cx="4857750" cy="209550"/>
          </a:xfrm>
          <a:prstGeom prst="rect">
            <a:avLst/>
          </a:prstGeom>
          <a:noFill/>
          <a:ln w="0">
            <a:noFill/>
          </a:ln>
        </p:spPr>
        <p:txBody>
          <a:bodyPr wrap="none" lIns="0" tIns="0" rIns="0" bIns="0" anchor="t">
            <a:noAutofit/>
          </a:bodyPr>
          <a:lstStyle>
            <a:defPPr algn="l">
              <a:defRPr sz="1400" b="0">
                <a:solidFill>
                  <a:srgbClr val="656B73"/>
                </a:solidFill>
                <a:latin typeface="Roboto"/>
                <a:ea typeface="Roboto"/>
                <a:cs typeface="Roboto"/>
              </a:defRPr>
            </a:defPPr>
            <a:lvl1pPr algn="l">
              <a:defRPr sz="1400" b="0">
                <a:solidFill>
                  <a:srgbClr val="656B73"/>
                </a:solidFill>
                <a:latin typeface="Roboto"/>
                <a:ea typeface="Roboto"/>
                <a:cs typeface="Roboto"/>
              </a:defRPr>
            </a:lvl1pPr>
            <a:lvl2pPr algn="l">
              <a:defRPr sz="1400" b="0">
                <a:solidFill>
                  <a:srgbClr val="656B73"/>
                </a:solidFill>
                <a:latin typeface="Roboto"/>
                <a:ea typeface="Roboto"/>
                <a:cs typeface="Roboto"/>
              </a:defRPr>
            </a:lvl2pPr>
            <a:lvl3pPr algn="l">
              <a:defRPr sz="1400" b="0">
                <a:solidFill>
                  <a:srgbClr val="656B73"/>
                </a:solidFill>
                <a:latin typeface="Roboto"/>
                <a:ea typeface="Roboto"/>
                <a:cs typeface="Roboto"/>
              </a:defRPr>
            </a:lvl3pPr>
            <a:lvl4pPr algn="l">
              <a:defRPr sz="1400" b="0">
                <a:solidFill>
                  <a:srgbClr val="656B73"/>
                </a:solidFill>
                <a:latin typeface="Roboto"/>
                <a:ea typeface="Roboto"/>
                <a:cs typeface="Roboto"/>
              </a:defRPr>
            </a:lvl4pPr>
            <a:lvl5pPr algn="l">
              <a:defRPr sz="1400" b="0">
                <a:solidFill>
                  <a:srgbClr val="656B73"/>
                </a:solidFill>
                <a:latin typeface="Roboto"/>
                <a:ea typeface="Roboto"/>
                <a:cs typeface="Roboto"/>
              </a:defRPr>
            </a:lvl5pPr>
            <a:lvl6pPr algn="l">
              <a:defRPr sz="1400" b="0">
                <a:solidFill>
                  <a:srgbClr val="656B73"/>
                </a:solidFill>
                <a:latin typeface="Roboto"/>
                <a:ea typeface="Roboto"/>
                <a:cs typeface="Roboto"/>
              </a:defRPr>
            </a:lvl6pPr>
            <a:lvl7pPr algn="l">
              <a:defRPr sz="1400" b="0">
                <a:solidFill>
                  <a:srgbClr val="656B73"/>
                </a:solidFill>
                <a:latin typeface="Roboto"/>
                <a:ea typeface="Roboto"/>
                <a:cs typeface="Roboto"/>
              </a:defRPr>
            </a:lvl7pPr>
            <a:lvl8pPr algn="l">
              <a:defRPr sz="1400" b="0">
                <a:solidFill>
                  <a:srgbClr val="656B73"/>
                </a:solidFill>
                <a:latin typeface="Roboto"/>
                <a:ea typeface="Roboto"/>
                <a:cs typeface="Roboto"/>
              </a:defRPr>
            </a:lvl8pPr>
            <a:lvl9pPr algn="l">
              <a:defRPr sz="1400" b="0">
                <a:solidFill>
                  <a:srgbClr val="656B73"/>
                </a:solidFill>
                <a:latin typeface="Roboto"/>
                <a:ea typeface="Roboto"/>
                <a:cs typeface="Roboto"/>
              </a:defRPr>
            </a:lvl9pPr>
          </a:lstStyle>
          <a:p>
            <a:pPr algn="l">
              <a:lnSpc>
                <a:spcPct val="100000"/>
              </a:lnSpc>
              <a:buNone/>
              <a:defRPr sz="1400" b="0">
                <a:solidFill>
                  <a:srgbClr val="656B73"/>
                </a:solidFill>
                <a:latin typeface="Roboto"/>
                <a:ea typeface="Roboto"/>
                <a:cs typeface="Roboto"/>
              </a:defRPr>
            </a:pPr>
            <a:r>
              <a:rPr sz="1400" b="0">
                <a:solidFill>
                  <a:srgbClr val="656B73"/>
                </a:solidFill>
                <a:latin typeface="Roboto"/>
                <a:ea typeface="Roboto"/>
                <a:cs typeface="Roboto"/>
              </a:rPr>
              <a:t>Lowest GPU energy per image</a:t>
            </a:r>
          </a:p>
        </p:txBody>
      </p:sp>
      <p:sp>
        <p:nvSpPr>
          <p:cNvPr id="11" name="energy-summary">
            <a:extLst>
              <a:ext uri="{FF2B5EF4-FFF2-40B4-BE49-F238E27FC236}">
                <a16:creationId xmlns:a16="http://schemas.microsoft.com/office/drawing/2014/main" id="{2C79F46B-F2B1-485E-92F4-E820581C6990}"/>
              </a:ext>
            </a:extLst>
          </p:cNvPr>
          <p:cNvSpPr>
            <a:spLocks noGrp="1"/>
          </p:cNvSpPr>
          <p:nvPr/>
        </p:nvSpPr>
        <p:spPr>
          <a:xfrm>
            <a:off x="6410325" y="5762625"/>
            <a:ext cx="4857750" cy="276225"/>
          </a:xfrm>
          <a:prstGeom prst="rect">
            <a:avLst/>
          </a:prstGeom>
          <a:noFill/>
          <a:ln w="0">
            <a:noFill/>
          </a:ln>
        </p:spPr>
        <p:txBody>
          <a:bodyPr wrap="none" lIns="0" tIns="0" rIns="0" bIns="0" anchor="t">
            <a:noAutofit/>
          </a:bodyPr>
          <a:lstStyle>
            <a:defPPr algn="l">
              <a:defRPr sz="1800" b="1">
                <a:solidFill>
                  <a:srgbClr val="822433"/>
                </a:solidFill>
                <a:latin typeface="Roboto"/>
                <a:ea typeface="Roboto"/>
                <a:cs typeface="Roboto"/>
              </a:defRPr>
            </a:defPPr>
            <a:lvl1pPr algn="l">
              <a:defRPr sz="1800" b="1">
                <a:solidFill>
                  <a:srgbClr val="822433"/>
                </a:solidFill>
                <a:latin typeface="Roboto"/>
                <a:ea typeface="Roboto"/>
                <a:cs typeface="Roboto"/>
              </a:defRPr>
            </a:lvl1pPr>
            <a:lvl2pPr algn="l">
              <a:defRPr sz="1800" b="1">
                <a:solidFill>
                  <a:srgbClr val="822433"/>
                </a:solidFill>
                <a:latin typeface="Roboto"/>
                <a:ea typeface="Roboto"/>
                <a:cs typeface="Roboto"/>
              </a:defRPr>
            </a:lvl2pPr>
            <a:lvl3pPr algn="l">
              <a:defRPr sz="1800" b="1">
                <a:solidFill>
                  <a:srgbClr val="822433"/>
                </a:solidFill>
                <a:latin typeface="Roboto"/>
                <a:ea typeface="Roboto"/>
                <a:cs typeface="Roboto"/>
              </a:defRPr>
            </a:lvl3pPr>
            <a:lvl4pPr algn="l">
              <a:defRPr sz="1800" b="1">
                <a:solidFill>
                  <a:srgbClr val="822433"/>
                </a:solidFill>
                <a:latin typeface="Roboto"/>
                <a:ea typeface="Roboto"/>
                <a:cs typeface="Roboto"/>
              </a:defRPr>
            </a:lvl4pPr>
            <a:lvl5pPr algn="l">
              <a:defRPr sz="1800" b="1">
                <a:solidFill>
                  <a:srgbClr val="822433"/>
                </a:solidFill>
                <a:latin typeface="Roboto"/>
                <a:ea typeface="Roboto"/>
                <a:cs typeface="Roboto"/>
              </a:defRPr>
            </a:lvl5pPr>
            <a:lvl6pPr algn="l">
              <a:defRPr sz="1800" b="1">
                <a:solidFill>
                  <a:srgbClr val="822433"/>
                </a:solidFill>
                <a:latin typeface="Roboto"/>
                <a:ea typeface="Roboto"/>
                <a:cs typeface="Roboto"/>
              </a:defRPr>
            </a:lvl6pPr>
            <a:lvl7pPr algn="l">
              <a:defRPr sz="1800" b="1">
                <a:solidFill>
                  <a:srgbClr val="822433"/>
                </a:solidFill>
                <a:latin typeface="Roboto"/>
                <a:ea typeface="Roboto"/>
                <a:cs typeface="Roboto"/>
              </a:defRPr>
            </a:lvl7pPr>
            <a:lvl8pPr algn="l">
              <a:defRPr sz="1800" b="1">
                <a:solidFill>
                  <a:srgbClr val="822433"/>
                </a:solidFill>
                <a:latin typeface="Roboto"/>
                <a:ea typeface="Roboto"/>
                <a:cs typeface="Roboto"/>
              </a:defRPr>
            </a:lvl8pPr>
            <a:lvl9pPr algn="l">
              <a:defRPr sz="1800" b="1">
                <a:solidFill>
                  <a:srgbClr val="822433"/>
                </a:solidFill>
                <a:latin typeface="Roboto"/>
                <a:ea typeface="Roboto"/>
                <a:cs typeface="Roboto"/>
              </a:defRPr>
            </a:lvl9pPr>
          </a:lstStyle>
          <a:p>
            <a:pPr algn="l">
              <a:lnSpc>
                <a:spcPct val="100000"/>
              </a:lnSpc>
              <a:buNone/>
              <a:defRPr sz="1800" b="1">
                <a:solidFill>
                  <a:srgbClr val="822433"/>
                </a:solidFill>
                <a:latin typeface="Roboto"/>
                <a:ea typeface="Roboto"/>
                <a:cs typeface="Roboto"/>
              </a:defRPr>
            </a:pPr>
            <a:r>
              <a:rPr sz="1800" b="1">
                <a:solidFill>
                  <a:srgbClr val="822433"/>
                </a:solidFill>
                <a:latin typeface="Roboto"/>
                <a:ea typeface="Roboto"/>
                <a:cs typeface="Roboto"/>
              </a:rPr>
              <a:t>DeepLabV3+ MV2 QAT: 115.34 mJ</a:t>
            </a:r>
          </a:p>
        </p:txBody>
      </p:sp>
      <p:sp>
        <p:nvSpPr>
          <p:cNvPr id="12" name="benchmark-scope">
            <a:extLst>
              <a:ext uri="{FF2B5EF4-FFF2-40B4-BE49-F238E27FC236}">
                <a16:creationId xmlns:a16="http://schemas.microsoft.com/office/drawing/2014/main" id="{7041C165-033B-44F4-BD89-ADA6924AAD65}"/>
              </a:ext>
            </a:extLst>
          </p:cNvPr>
          <p:cNvSpPr>
            <a:spLocks noGrp="1"/>
          </p:cNvSpPr>
          <p:nvPr/>
        </p:nvSpPr>
        <p:spPr>
          <a:xfrm>
            <a:off x="762000" y="6143625"/>
            <a:ext cx="10668000" cy="171450"/>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S5Mars test. NVIDIA T4, batch 1.</a:t>
            </a:r>
          </a:p>
        </p:txBody>
      </p:sp>
      <p:sp>
        <p:nvSpPr>
          <p:cNvPr id="13" name="quantization-scope">
            <a:extLst>
              <a:ext uri="{FF2B5EF4-FFF2-40B4-BE49-F238E27FC236}">
                <a16:creationId xmlns:a16="http://schemas.microsoft.com/office/drawing/2014/main" id="{893B8B5D-7633-4E10-B6BA-309CBF6F78DE}"/>
              </a:ext>
            </a:extLst>
          </p:cNvPr>
          <p:cNvSpPr>
            <a:spLocks noGrp="1"/>
          </p:cNvSpPr>
          <p:nvPr/>
        </p:nvSpPr>
        <p:spPr>
          <a:xfrm>
            <a:off x="762000" y="6324600"/>
            <a:ext cx="10668000" cy="161925"/>
          </a:xfrm>
          <a:prstGeom prst="rect">
            <a:avLst/>
          </a:prstGeom>
          <a:noFill/>
          <a:ln w="0">
            <a:noFill/>
          </a:ln>
        </p:spPr>
        <p:txBody>
          <a:bodyPr wrap="none" lIns="0" tIns="0" rIns="0" bIns="0" anchor="t">
            <a:noAutofit/>
          </a:bodyPr>
          <a:lstStyle>
            <a:defPPr algn="l">
              <a:defRPr sz="1200" b="0">
                <a:solidFill>
                  <a:srgbClr val="656B73"/>
                </a:solidFill>
                <a:latin typeface="Roboto"/>
                <a:ea typeface="Roboto"/>
                <a:cs typeface="Roboto"/>
              </a:defRPr>
            </a:defPPr>
            <a:lvl1pPr algn="l">
              <a:defRPr sz="1200" b="0">
                <a:solidFill>
                  <a:srgbClr val="656B73"/>
                </a:solidFill>
                <a:latin typeface="Roboto"/>
                <a:ea typeface="Roboto"/>
                <a:cs typeface="Roboto"/>
              </a:defRPr>
            </a:lvl1pPr>
            <a:lvl2pPr algn="l">
              <a:defRPr sz="1200" b="0">
                <a:solidFill>
                  <a:srgbClr val="656B73"/>
                </a:solidFill>
                <a:latin typeface="Roboto"/>
                <a:ea typeface="Roboto"/>
                <a:cs typeface="Roboto"/>
              </a:defRPr>
            </a:lvl2pPr>
            <a:lvl3pPr algn="l">
              <a:defRPr sz="1200" b="0">
                <a:solidFill>
                  <a:srgbClr val="656B73"/>
                </a:solidFill>
                <a:latin typeface="Roboto"/>
                <a:ea typeface="Roboto"/>
                <a:cs typeface="Roboto"/>
              </a:defRPr>
            </a:lvl3pPr>
            <a:lvl4pPr algn="l">
              <a:defRPr sz="1200" b="0">
                <a:solidFill>
                  <a:srgbClr val="656B73"/>
                </a:solidFill>
                <a:latin typeface="Roboto"/>
                <a:ea typeface="Roboto"/>
                <a:cs typeface="Roboto"/>
              </a:defRPr>
            </a:lvl4pPr>
            <a:lvl5pPr algn="l">
              <a:defRPr sz="1200" b="0">
                <a:solidFill>
                  <a:srgbClr val="656B73"/>
                </a:solidFill>
                <a:latin typeface="Roboto"/>
                <a:ea typeface="Roboto"/>
                <a:cs typeface="Roboto"/>
              </a:defRPr>
            </a:lvl5pPr>
            <a:lvl6pPr algn="l">
              <a:defRPr sz="1200" b="0">
                <a:solidFill>
                  <a:srgbClr val="656B73"/>
                </a:solidFill>
                <a:latin typeface="Roboto"/>
                <a:ea typeface="Roboto"/>
                <a:cs typeface="Roboto"/>
              </a:defRPr>
            </a:lvl6pPr>
            <a:lvl7pPr algn="l">
              <a:defRPr sz="1200" b="0">
                <a:solidFill>
                  <a:srgbClr val="656B73"/>
                </a:solidFill>
                <a:latin typeface="Roboto"/>
                <a:ea typeface="Roboto"/>
                <a:cs typeface="Roboto"/>
              </a:defRPr>
            </a:lvl7pPr>
            <a:lvl8pPr algn="l">
              <a:defRPr sz="1200" b="0">
                <a:solidFill>
                  <a:srgbClr val="656B73"/>
                </a:solidFill>
                <a:latin typeface="Roboto"/>
                <a:ea typeface="Roboto"/>
                <a:cs typeface="Roboto"/>
              </a:defRPr>
            </a:lvl8pPr>
            <a:lvl9pPr algn="l">
              <a:defRPr sz="1200" b="0">
                <a:solidFill>
                  <a:srgbClr val="656B73"/>
                </a:solidFill>
                <a:latin typeface="Roboto"/>
                <a:ea typeface="Roboto"/>
                <a:cs typeface="Roboto"/>
              </a:defRPr>
            </a:lvl9pPr>
          </a:lstStyle>
          <a:p>
            <a:pPr algn="l">
              <a:lnSpc>
                <a:spcPct val="100000"/>
              </a:lnSpc>
              <a:buNone/>
              <a:defRPr sz="1200" b="0">
                <a:solidFill>
                  <a:srgbClr val="656B73"/>
                </a:solidFill>
                <a:latin typeface="Roboto"/>
                <a:ea typeface="Roboto"/>
                <a:cs typeface="Roboto"/>
              </a:defRPr>
            </a:pPr>
            <a:r>
              <a:rPr sz="1200" b="0" dirty="0">
                <a:solidFill>
                  <a:srgbClr val="656B73"/>
                </a:solidFill>
                <a:latin typeface="Roboto"/>
                <a:ea typeface="Roboto"/>
                <a:cs typeface="Roboto"/>
              </a:rPr>
              <a:t>INT8 uses selective mixed precision (</a:t>
            </a:r>
            <a:r>
              <a:rPr sz="1200" b="0" dirty="0" err="1">
                <a:solidFill>
                  <a:srgbClr val="656B73"/>
                </a:solidFill>
                <a:latin typeface="Roboto"/>
                <a:ea typeface="Roboto"/>
                <a:cs typeface="Roboto"/>
              </a:rPr>
              <a:t>SegFormer</a:t>
            </a:r>
            <a:r>
              <a:rPr sz="1200" b="0" dirty="0">
                <a:solidFill>
                  <a:srgbClr val="656B73"/>
                </a:solidFill>
                <a:latin typeface="Roboto"/>
                <a:ea typeface="Roboto"/>
                <a:cs typeface="Roboto"/>
              </a:rPr>
              <a:t>: Conv-only).</a:t>
            </a:r>
          </a:p>
        </p:txBody>
      </p:sp>
    </p:spTree>
    <p:extLst>
      <p:ext uri="{BB962C8B-B14F-4D97-AF65-F5344CB8AC3E}">
        <p14:creationId xmlns:p14="http://schemas.microsoft.com/office/powerpoint/2010/main" val="21172161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3D9198-F4A3-DA17-DFEC-5A14495D4A4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473940F-76E2-3D3D-173D-4D0E93D9C989}"/>
              </a:ext>
            </a:extLst>
          </p:cNvPr>
          <p:cNvSpPr>
            <a:spLocks noGrp="1"/>
          </p:cNvSpPr>
          <p:nvPr>
            <p:ph type="title"/>
          </p:nvPr>
        </p:nvSpPr>
        <p:spPr>
          <a:xfrm>
            <a:off x="838200" y="365125"/>
            <a:ext cx="8943109" cy="835787"/>
          </a:xfrm>
        </p:spPr>
        <p:txBody>
          <a:bodyPr>
            <a:normAutofit/>
          </a:bodyPr>
          <a:lstStyle/>
          <a:p>
            <a:r>
              <a:rPr lang="en-US" noProof="0" dirty="0">
                <a:solidFill>
                  <a:srgbClr val="822433"/>
                </a:solidFill>
              </a:rPr>
              <a:t>Extra: Anomaly Detection Results </a:t>
            </a:r>
          </a:p>
        </p:txBody>
      </p:sp>
      <p:sp>
        <p:nvSpPr>
          <p:cNvPr id="4" name="Google Shape;102;p14">
            <a:extLst>
              <a:ext uri="{FF2B5EF4-FFF2-40B4-BE49-F238E27FC236}">
                <a16:creationId xmlns:a16="http://schemas.microsoft.com/office/drawing/2014/main" id="{592AE08C-E482-EC6B-7548-14433CB345D2}"/>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340E6D81-0E0D-AF99-DDA2-50BDC08B6D8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9" name="metric-context">
            <a:extLst>
              <a:ext uri="{FF2B5EF4-FFF2-40B4-BE49-F238E27FC236}">
                <a16:creationId xmlns:a16="http://schemas.microsoft.com/office/drawing/2014/main" id="{3F4688D1-1688-88AB-61B3-0C850EFEA790}"/>
              </a:ext>
            </a:extLst>
          </p:cNvPr>
          <p:cNvSpPr>
            <a:spLocks noGrp="1"/>
          </p:cNvSpPr>
          <p:nvPr/>
        </p:nvSpPr>
        <p:spPr>
          <a:xfrm>
            <a:off x="838200" y="5543259"/>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600" b="0" dirty="0">
                <a:solidFill>
                  <a:srgbClr val="656B73"/>
                </a:solidFill>
                <a:latin typeface="Roboto"/>
                <a:ea typeface="Roboto"/>
                <a:cs typeface="Roboto"/>
              </a:rPr>
              <a:t>Image-level metrics, pose-A test, 808 images</a:t>
            </a:r>
          </a:p>
        </p:txBody>
      </p:sp>
      <p:graphicFrame>
        <p:nvGraphicFramePr>
          <p:cNvPr id="11" name="Tabella 10">
            <a:extLst>
              <a:ext uri="{FF2B5EF4-FFF2-40B4-BE49-F238E27FC236}">
                <a16:creationId xmlns:a16="http://schemas.microsoft.com/office/drawing/2014/main" id="{6F7435D5-EF9E-DA9B-DB57-5A36E9AD425C}"/>
              </a:ext>
            </a:extLst>
          </p:cNvPr>
          <p:cNvGraphicFramePr/>
          <p:nvPr>
            <p:extLst>
              <p:ext uri="{D42A27DB-BD31-4B8C-83A1-F6EECF244321}">
                <p14:modId xmlns:p14="http://schemas.microsoft.com/office/powerpoint/2010/main" val="3911279964"/>
              </p:ext>
            </p:extLst>
          </p:nvPr>
        </p:nvGraphicFramePr>
        <p:xfrm>
          <a:off x="762000" y="2143125"/>
          <a:ext cx="10668000" cy="3379470"/>
        </p:xfrm>
        <a:graphic>
          <a:graphicData uri="http://schemas.openxmlformats.org/drawingml/2006/table">
            <a:tbl>
              <a:tblPr>
                <a:effectLst>
                  <a:outerShdw blurRad="50800" dist="38100" dir="2700000" algn="tl" rotWithShape="0">
                    <a:prstClr val="black">
                      <a:alpha val="40000"/>
                    </a:prstClr>
                  </a:outerShdw>
                </a:effectLst>
              </a:tblPr>
              <a:tblGrid>
                <a:gridCol w="4572000">
                  <a:extLst>
                    <a:ext uri="{9D8B030D-6E8A-4147-A177-3AD203B41FA5}">
                      <a16:colId xmlns:a16="http://schemas.microsoft.com/office/drawing/2014/main" val="20000"/>
                    </a:ext>
                  </a:extLst>
                </a:gridCol>
                <a:gridCol w="3048000">
                  <a:extLst>
                    <a:ext uri="{9D8B030D-6E8A-4147-A177-3AD203B41FA5}">
                      <a16:colId xmlns:a16="http://schemas.microsoft.com/office/drawing/2014/main" val="20001"/>
                    </a:ext>
                  </a:extLst>
                </a:gridCol>
                <a:gridCol w="3048000">
                  <a:extLst>
                    <a:ext uri="{9D8B030D-6E8A-4147-A177-3AD203B41FA5}">
                      <a16:colId xmlns:a16="http://schemas.microsoft.com/office/drawing/2014/main" val="20002"/>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Image AP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77.49</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b="1">
                          <a:solidFill>
                            <a:srgbClr val="822433"/>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dirty="0">
                          <a:solidFill>
                            <a:srgbClr val="822433"/>
                          </a:solidFill>
                          <a:latin typeface="Roboto"/>
                          <a:ea typeface="Roboto"/>
                          <a:cs typeface="Roboto"/>
                        </a:rPr>
                        <a:t>86.43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b="1">
                          <a:solidFill>
                            <a:srgbClr val="822433"/>
                          </a:solidFill>
                          <a:latin typeface="Roboto"/>
                          <a:ea typeface="Roboto"/>
                          <a:cs typeface="Roboto"/>
                        </a:rPr>
                        <a:t>88.63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66.50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64.74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dirty="0" err="1">
                          <a:solidFill>
                            <a:srgbClr val="202124"/>
                          </a:solidFill>
                          <a:latin typeface="Roboto"/>
                          <a:ea typeface="Roboto"/>
                          <a:cs typeface="Roboto"/>
                        </a:rPr>
                        <a:t>SuperSimpleNet</a:t>
                      </a:r>
                      <a:endParaRPr lang="en-US" sz="2025" dirty="0">
                        <a:solidFill>
                          <a:srgbClr val="202124"/>
                        </a:solidFill>
                        <a:latin typeface="Roboto"/>
                        <a:ea typeface="Roboto"/>
                        <a:cs typeface="Roboto"/>
                      </a:endParaRP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82.72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86.08</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77.52</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550" dirty="0">
                          <a:solidFill>
                            <a:srgbClr val="202124"/>
                          </a:solidFill>
                          <a:latin typeface="Roboto"/>
                          <a:ea typeface="Roboto"/>
                          <a:cs typeface="Roboto"/>
                        </a:rPr>
                        <a:t>79.28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a:solidFill>
                            <a:srgbClr val="202124"/>
                          </a:solidFill>
                          <a:latin typeface="Roboto"/>
                          <a:ea typeface="Roboto"/>
                          <a:cs typeface="Roboto"/>
                        </a:rPr>
                        <a:t>77.33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550" dirty="0">
                          <a:solidFill>
                            <a:srgbClr val="202124"/>
                          </a:solidFill>
                          <a:latin typeface="Roboto"/>
                          <a:ea typeface="Roboto"/>
                          <a:cs typeface="Roboto"/>
                        </a:rPr>
                        <a:t>81.12</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41960015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0445D-7C09-D000-8FB3-DEF2E5FB6EB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C67F964E-E6F7-3923-599F-EF74CBA5FC4B}"/>
              </a:ext>
            </a:extLst>
          </p:cNvPr>
          <p:cNvSpPr>
            <a:spLocks noGrp="1"/>
          </p:cNvSpPr>
          <p:nvPr>
            <p:ph type="title"/>
          </p:nvPr>
        </p:nvSpPr>
        <p:spPr>
          <a:xfrm>
            <a:off x="838200" y="365125"/>
            <a:ext cx="8384177" cy="835787"/>
          </a:xfrm>
        </p:spPr>
        <p:txBody>
          <a:bodyPr/>
          <a:lstStyle/>
          <a:p>
            <a:r>
              <a:rPr lang="en-US" noProof="0" dirty="0">
                <a:solidFill>
                  <a:srgbClr val="822433"/>
                </a:solidFill>
              </a:rPr>
              <a:t>Extra: Localization Results</a:t>
            </a:r>
          </a:p>
        </p:txBody>
      </p:sp>
      <p:sp>
        <p:nvSpPr>
          <p:cNvPr id="4" name="Google Shape;102;p14">
            <a:extLst>
              <a:ext uri="{FF2B5EF4-FFF2-40B4-BE49-F238E27FC236}">
                <a16:creationId xmlns:a16="http://schemas.microsoft.com/office/drawing/2014/main" id="{BE1BC039-D2AD-531B-2D9C-57D112B1C3D3}"/>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45</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BA391CC-934B-73DA-2F66-727D82A6E1D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sp>
        <p:nvSpPr>
          <p:cNvPr id="7" name="metric-context">
            <a:extLst>
              <a:ext uri="{FF2B5EF4-FFF2-40B4-BE49-F238E27FC236}">
                <a16:creationId xmlns:a16="http://schemas.microsoft.com/office/drawing/2014/main" id="{D776CE94-E202-0B44-374F-BCC03E644389}"/>
              </a:ext>
            </a:extLst>
          </p:cNvPr>
          <p:cNvSpPr>
            <a:spLocks noGrp="1"/>
          </p:cNvSpPr>
          <p:nvPr/>
        </p:nvSpPr>
        <p:spPr>
          <a:xfrm>
            <a:off x="762000" y="5610225"/>
            <a:ext cx="9906000" cy="447675"/>
          </a:xfrm>
          <a:prstGeom prst="rect">
            <a:avLst/>
          </a:prstGeom>
          <a:noFill/>
          <a:ln w="0">
            <a:noFill/>
          </a:ln>
        </p:spPr>
        <p:txBody>
          <a:bodyPr wrap="square" lIns="0" tIns="0" rIns="0" bIns="0" anchor="t">
            <a:noAutofit/>
          </a:bodyPr>
          <a:lstStyle>
            <a:defPPr algn="l">
              <a:defRPr lang="en-US" sz="2025" b="0">
                <a:solidFill>
                  <a:srgbClr val="656B73"/>
                </a:solidFill>
                <a:latin typeface="Roboto"/>
                <a:ea typeface="Roboto"/>
                <a:cs typeface="Roboto"/>
              </a:defRPr>
            </a:defPPr>
            <a:lvl1pPr algn="l">
              <a:defRPr lang="en-US" sz="2025" b="0">
                <a:solidFill>
                  <a:srgbClr val="656B73"/>
                </a:solidFill>
                <a:latin typeface="Roboto"/>
                <a:ea typeface="Roboto"/>
                <a:cs typeface="Roboto"/>
              </a:defRPr>
            </a:lvl1pPr>
            <a:lvl2pPr algn="l">
              <a:defRPr lang="en-US" sz="2025" b="0">
                <a:solidFill>
                  <a:srgbClr val="656B73"/>
                </a:solidFill>
                <a:latin typeface="Roboto"/>
                <a:ea typeface="Roboto"/>
                <a:cs typeface="Roboto"/>
              </a:defRPr>
            </a:lvl2pPr>
            <a:lvl3pPr algn="l">
              <a:defRPr lang="en-US" sz="2025" b="0">
                <a:solidFill>
                  <a:srgbClr val="656B73"/>
                </a:solidFill>
                <a:latin typeface="Roboto"/>
                <a:ea typeface="Roboto"/>
                <a:cs typeface="Roboto"/>
              </a:defRPr>
            </a:lvl3pPr>
            <a:lvl4pPr algn="l">
              <a:defRPr lang="en-US" sz="2025" b="0">
                <a:solidFill>
                  <a:srgbClr val="656B73"/>
                </a:solidFill>
                <a:latin typeface="Roboto"/>
                <a:ea typeface="Roboto"/>
                <a:cs typeface="Roboto"/>
              </a:defRPr>
            </a:lvl4pPr>
            <a:lvl5pPr algn="l">
              <a:defRPr lang="en-US" sz="2025" b="0">
                <a:solidFill>
                  <a:srgbClr val="656B73"/>
                </a:solidFill>
                <a:latin typeface="Roboto"/>
                <a:ea typeface="Roboto"/>
                <a:cs typeface="Roboto"/>
              </a:defRPr>
            </a:lvl5pPr>
            <a:lvl6pPr algn="l">
              <a:defRPr lang="en-US" sz="2025" b="0">
                <a:solidFill>
                  <a:srgbClr val="656B73"/>
                </a:solidFill>
                <a:latin typeface="Roboto"/>
                <a:ea typeface="Roboto"/>
                <a:cs typeface="Roboto"/>
              </a:defRPr>
            </a:lvl6pPr>
            <a:lvl7pPr algn="l">
              <a:defRPr lang="en-US" sz="2025" b="0">
                <a:solidFill>
                  <a:srgbClr val="656B73"/>
                </a:solidFill>
                <a:latin typeface="Roboto"/>
                <a:ea typeface="Roboto"/>
                <a:cs typeface="Roboto"/>
              </a:defRPr>
            </a:lvl7pPr>
            <a:lvl8pPr algn="l">
              <a:defRPr lang="en-US" sz="2025" b="0">
                <a:solidFill>
                  <a:srgbClr val="656B73"/>
                </a:solidFill>
                <a:latin typeface="Roboto"/>
                <a:ea typeface="Roboto"/>
                <a:cs typeface="Roboto"/>
              </a:defRPr>
            </a:lvl8pPr>
            <a:lvl9pPr algn="l">
              <a:defRPr lang="en-US" sz="2025" b="0">
                <a:solidFill>
                  <a:srgbClr val="656B73"/>
                </a:solidFill>
                <a:latin typeface="Roboto"/>
                <a:ea typeface="Roboto"/>
                <a:cs typeface="Roboto"/>
              </a:defRPr>
            </a:lvl9pPr>
          </a:lstStyle>
          <a:p>
            <a:pPr algn="l">
              <a:defRPr lang="en-US" sz="2025" b="0">
                <a:solidFill>
                  <a:srgbClr val="656B73"/>
                </a:solidFill>
                <a:latin typeface="Roboto"/>
                <a:ea typeface="Roboto"/>
                <a:cs typeface="Roboto"/>
              </a:defRPr>
            </a:pPr>
            <a:r>
              <a:rPr lang="en-US" sz="1400" b="0" dirty="0">
                <a:solidFill>
                  <a:srgbClr val="656B73"/>
                </a:solidFill>
                <a:latin typeface="Roboto"/>
                <a:ea typeface="Roboto"/>
                <a:cs typeface="Roboto"/>
              </a:rPr>
              <a:t>Pixel and region metrics, same pose-A test split</a:t>
            </a:r>
          </a:p>
        </p:txBody>
      </p:sp>
      <p:graphicFrame>
        <p:nvGraphicFramePr>
          <p:cNvPr id="9" name="Tabella 8">
            <a:extLst>
              <a:ext uri="{FF2B5EF4-FFF2-40B4-BE49-F238E27FC236}">
                <a16:creationId xmlns:a16="http://schemas.microsoft.com/office/drawing/2014/main" id="{4B2D504A-AE70-2F5B-21D9-44ED3A3C4D20}"/>
              </a:ext>
            </a:extLst>
          </p:cNvPr>
          <p:cNvGraphicFramePr/>
          <p:nvPr>
            <p:extLst>
              <p:ext uri="{D42A27DB-BD31-4B8C-83A1-F6EECF244321}">
                <p14:modId xmlns:p14="http://schemas.microsoft.com/office/powerpoint/2010/main" val="2507650453"/>
              </p:ext>
            </p:extLst>
          </p:nvPr>
        </p:nvGraphicFramePr>
        <p:xfrm>
          <a:off x="762000" y="2024063"/>
          <a:ext cx="10668000" cy="3390900"/>
        </p:xfrm>
        <a:graphic>
          <a:graphicData uri="http://schemas.openxmlformats.org/drawingml/2006/table">
            <a:tbl>
              <a:tblPr>
                <a:effectLst>
                  <a:outerShdw blurRad="50800" dist="38100" dir="2700000" algn="tl" rotWithShape="0">
                    <a:prstClr val="black">
                      <a:alpha val="40000"/>
                    </a:prstClr>
                  </a:outerShdw>
                </a:effectLst>
              </a:tblPr>
              <a:tblGrid>
                <a:gridCol w="2905125">
                  <a:extLst>
                    <a:ext uri="{9D8B030D-6E8A-4147-A177-3AD203B41FA5}">
                      <a16:colId xmlns:a16="http://schemas.microsoft.com/office/drawing/2014/main" val="20000"/>
                    </a:ext>
                  </a:extLst>
                </a:gridCol>
                <a:gridCol w="1552575">
                  <a:extLst>
                    <a:ext uri="{9D8B030D-6E8A-4147-A177-3AD203B41FA5}">
                      <a16:colId xmlns:a16="http://schemas.microsoft.com/office/drawing/2014/main" val="20001"/>
                    </a:ext>
                  </a:extLst>
                </a:gridCol>
                <a:gridCol w="1552575">
                  <a:extLst>
                    <a:ext uri="{9D8B030D-6E8A-4147-A177-3AD203B41FA5}">
                      <a16:colId xmlns:a16="http://schemas.microsoft.com/office/drawing/2014/main" val="20002"/>
                    </a:ext>
                  </a:extLst>
                </a:gridCol>
                <a:gridCol w="1552575">
                  <a:extLst>
                    <a:ext uri="{9D8B030D-6E8A-4147-A177-3AD203B41FA5}">
                      <a16:colId xmlns:a16="http://schemas.microsoft.com/office/drawing/2014/main" val="20003"/>
                    </a:ext>
                  </a:extLst>
                </a:gridCol>
                <a:gridCol w="1552575">
                  <a:extLst>
                    <a:ext uri="{9D8B030D-6E8A-4147-A177-3AD203B41FA5}">
                      <a16:colId xmlns:a16="http://schemas.microsoft.com/office/drawing/2014/main" val="20004"/>
                    </a:ext>
                  </a:extLst>
                </a:gridCol>
                <a:gridCol w="1552575">
                  <a:extLst>
                    <a:ext uri="{9D8B030D-6E8A-4147-A177-3AD203B41FA5}">
                      <a16:colId xmlns:a16="http://schemas.microsoft.com/office/drawing/2014/main" val="20005"/>
                    </a:ext>
                  </a:extLst>
                </a:gridCol>
              </a:tblGrid>
              <a:tr h="590550">
                <a:tc>
                  <a:txBody>
                    <a:bodyPr/>
                    <a:lstStyle/>
                    <a:p>
                      <a:pPr algn="ctr"/>
                      <a:r>
                        <a:rPr lang="en-US" sz="1875" b="1" dirty="0">
                          <a:solidFill>
                            <a:schemeClr val="bg1"/>
                          </a:solidFill>
                          <a:latin typeface="Roboto"/>
                          <a:ea typeface="Roboto"/>
                          <a:cs typeface="Roboto"/>
                        </a:rPr>
                        <a:t>Model</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AUROC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Pixel</a:t>
                      </a:r>
                    </a:p>
                    <a:p>
                      <a:pPr algn="ctr"/>
                      <a:r>
                        <a:rPr lang="en-US" sz="1875" b="1" dirty="0">
                          <a:solidFill>
                            <a:schemeClr val="bg1"/>
                          </a:solidFill>
                          <a:latin typeface="Roboto"/>
                          <a:ea typeface="Roboto"/>
                          <a:cs typeface="Roboto"/>
                        </a:rPr>
                        <a:t>AP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@0.05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@0.10 (%)</a:t>
                      </a:r>
                    </a:p>
                  </a:txBody>
                  <a:tcPr marL="76200" marR="76200" marT="38100" marB="38100" anchor="ctr">
                    <a:lnL w="0">
                      <a:noFill/>
                    </a:lnL>
                    <a:lnR w="0">
                      <a:noFill/>
                    </a:lnR>
                    <a:lnT w="0">
                      <a:noFill/>
                    </a:lnT>
                    <a:lnB w="0">
                      <a:noFill/>
                    </a:lnB>
                    <a:lnTlToBr w="0">
                      <a:noFill/>
                    </a:lnTlToBr>
                    <a:lnBlToTr w="0">
                      <a:noFill/>
                    </a:lnBlToTr>
                    <a:solidFill>
                      <a:srgbClr val="822433"/>
                    </a:solidFill>
                  </a:tcPr>
                </a:tc>
                <a:tc>
                  <a:txBody>
                    <a:bodyPr/>
                    <a:lstStyle/>
                    <a:p>
                      <a:pPr algn="ctr"/>
                      <a:r>
                        <a:rPr lang="en-US" sz="1875" b="1" dirty="0">
                          <a:solidFill>
                            <a:schemeClr val="bg1"/>
                          </a:solidFill>
                          <a:latin typeface="Roboto"/>
                          <a:ea typeface="Roboto"/>
                          <a:cs typeface="Roboto"/>
                        </a:rPr>
                        <a:t>AUPRO</a:t>
                      </a:r>
                    </a:p>
                    <a:p>
                      <a:pPr algn="ctr"/>
                      <a:r>
                        <a:rPr lang="en-US" sz="1875" b="1" dirty="0">
                          <a:solidFill>
                            <a:schemeClr val="bg1"/>
                          </a:solidFill>
                          <a:latin typeface="Roboto"/>
                          <a:ea typeface="Roboto"/>
                          <a:cs typeface="Roboto"/>
                        </a:rPr>
                        <a:t>@0.30 (%)</a:t>
                      </a:r>
                    </a:p>
                  </a:txBody>
                  <a:tcPr marL="76200" marR="76200" marT="38100" marB="38100" anchor="ctr">
                    <a:lnL w="0">
                      <a:noFill/>
                    </a:lnL>
                    <a:lnR w="0">
                      <a:noFill/>
                    </a:lnR>
                    <a:lnT w="0">
                      <a:noFill/>
                    </a:lnT>
                    <a:lnB w="0">
                      <a:noFill/>
                    </a:lnB>
                    <a:lnTlToBr w="0">
                      <a:noFill/>
                    </a:lnTlToBr>
                    <a:lnBlToTr w="0">
                      <a:noFill/>
                    </a:lnBlToTr>
                    <a:solidFill>
                      <a:srgbClr val="822433"/>
                    </a:solidFill>
                  </a:tcPr>
                </a:tc>
                <a:extLst>
                  <a:ext uri="{0D108BD9-81ED-4DB2-BD59-A6C34878D82A}">
                    <a16:rowId xmlns:a16="http://schemas.microsoft.com/office/drawing/2014/main" val="10000"/>
                  </a:ext>
                </a:extLst>
              </a:tr>
              <a:tr h="457200">
                <a:tc>
                  <a:txBody>
                    <a:bodyPr/>
                    <a:lstStyle/>
                    <a:p>
                      <a:pPr algn="l"/>
                      <a:r>
                        <a:rPr lang="en-US" sz="2025" dirty="0">
                          <a:solidFill>
                            <a:srgbClr val="202124"/>
                          </a:solidFill>
                          <a:latin typeface="Roboto"/>
                          <a:ea typeface="Roboto"/>
                          <a:cs typeface="Roboto"/>
                        </a:rPr>
                        <a:t>PatchCore-S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99.78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41.05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94.93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97.35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b="1" dirty="0">
                          <a:solidFill>
                            <a:srgbClr val="822433"/>
                          </a:solidFill>
                          <a:latin typeface="Roboto"/>
                          <a:ea typeface="Roboto"/>
                          <a:cs typeface="Roboto"/>
                        </a:rPr>
                        <a:t>99.10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1"/>
                  </a:ext>
                </a:extLst>
              </a:tr>
              <a:tr h="457200">
                <a:tc>
                  <a:txBody>
                    <a:bodyPr/>
                    <a:lstStyle/>
                    <a:p>
                      <a:pPr algn="l"/>
                      <a:r>
                        <a:rPr lang="en-US" sz="2025">
                          <a:solidFill>
                            <a:srgbClr val="202124"/>
                          </a:solidFill>
                          <a:latin typeface="Roboto"/>
                          <a:ea typeface="Roboto"/>
                          <a:cs typeface="Roboto"/>
                        </a:rPr>
                        <a:t>PatchCore-L</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99.43</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b="1">
                          <a:solidFill>
                            <a:srgbClr val="822433"/>
                          </a:solidFill>
                          <a:latin typeface="Roboto"/>
                          <a:ea typeface="Roboto"/>
                          <a:cs typeface="Roboto"/>
                        </a:rPr>
                        <a:t>42.89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82.90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89.36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95.44</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2"/>
                  </a:ext>
                </a:extLst>
              </a:tr>
              <a:tr h="457200">
                <a:tc>
                  <a:txBody>
                    <a:bodyPr/>
                    <a:lstStyle/>
                    <a:p>
                      <a:pPr algn="l"/>
                      <a:r>
                        <a:rPr lang="en-US" sz="2025" dirty="0">
                          <a:solidFill>
                            <a:srgbClr val="202124"/>
                          </a:solidFill>
                          <a:latin typeface="Roboto"/>
                          <a:ea typeface="Roboto"/>
                          <a:cs typeface="Roboto"/>
                        </a:rPr>
                        <a:t>EfficientAD-S</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96.36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58.45</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70.36</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84.98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3"/>
                  </a:ext>
                </a:extLst>
              </a:tr>
              <a:tr h="457200">
                <a:tc>
                  <a:txBody>
                    <a:bodyPr/>
                    <a:lstStyle/>
                    <a:p>
                      <a:pPr algn="l"/>
                      <a:r>
                        <a:rPr lang="en-US" sz="2025">
                          <a:solidFill>
                            <a:srgbClr val="202124"/>
                          </a:solidFill>
                          <a:latin typeface="Roboto"/>
                          <a:ea typeface="Roboto"/>
                          <a:cs typeface="Roboto"/>
                        </a:rPr>
                        <a:t>SuperSimpleNet</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96.97</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19.10</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71.62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78.58</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87.53</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4"/>
                  </a:ext>
                </a:extLst>
              </a:tr>
              <a:tr h="457200">
                <a:tc>
                  <a:txBody>
                    <a:bodyPr/>
                    <a:lstStyle/>
                    <a:p>
                      <a:pPr algn="l"/>
                      <a:r>
                        <a:rPr lang="en-US" sz="2025" dirty="0">
                          <a:solidFill>
                            <a:srgbClr val="202124"/>
                          </a:solidFill>
                          <a:latin typeface="Roboto"/>
                          <a:ea typeface="Roboto"/>
                          <a:cs typeface="Roboto"/>
                        </a:rPr>
                        <a:t>TinyGLASS-384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97.21</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25.48</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73.93</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81.10</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tc>
                  <a:txBody>
                    <a:bodyPr/>
                    <a:lstStyle/>
                    <a:p>
                      <a:pPr algn="ctr"/>
                      <a:r>
                        <a:rPr lang="en-US" sz="2175" dirty="0">
                          <a:solidFill>
                            <a:srgbClr val="202124"/>
                          </a:solidFill>
                          <a:latin typeface="Roboto"/>
                          <a:ea typeface="Roboto"/>
                          <a:cs typeface="Roboto"/>
                        </a:rPr>
                        <a:t>90.24</a:t>
                      </a:r>
                    </a:p>
                  </a:txBody>
                  <a:tcPr marL="76200" marR="76200" marT="38100" marB="38100" anchor="ctr">
                    <a:lnL w="0">
                      <a:noFill/>
                    </a:lnL>
                    <a:lnR w="0">
                      <a:noFill/>
                    </a:lnR>
                    <a:lnT w="0">
                      <a:noFill/>
                    </a:lnT>
                    <a:lnB w="0">
                      <a:noFill/>
                    </a:lnB>
                    <a:lnTlToBr w="0">
                      <a:noFill/>
                    </a:lnTlToBr>
                    <a:lnBlToTr w="0">
                      <a:noFill/>
                    </a:lnBlToTr>
                    <a:solidFill>
                      <a:schemeClr val="bg1">
                        <a:lumMod val="95000"/>
                      </a:schemeClr>
                    </a:solidFill>
                  </a:tcPr>
                </a:tc>
                <a:extLst>
                  <a:ext uri="{0D108BD9-81ED-4DB2-BD59-A6C34878D82A}">
                    <a16:rowId xmlns:a16="http://schemas.microsoft.com/office/drawing/2014/main" val="10005"/>
                  </a:ext>
                </a:extLst>
              </a:tr>
              <a:tr h="457200">
                <a:tc>
                  <a:txBody>
                    <a:bodyPr/>
                    <a:lstStyle/>
                    <a:p>
                      <a:pPr algn="l"/>
                      <a:r>
                        <a:rPr lang="en-US" sz="2025">
                          <a:solidFill>
                            <a:srgbClr val="202124"/>
                          </a:solidFill>
                          <a:latin typeface="Roboto"/>
                          <a:ea typeface="Roboto"/>
                          <a:cs typeface="Roboto"/>
                        </a:rPr>
                        <a:t>TinyGLASS-512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97.92</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27.59</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76.54</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a:solidFill>
                            <a:srgbClr val="202124"/>
                          </a:solidFill>
                          <a:latin typeface="Roboto"/>
                          <a:ea typeface="Roboto"/>
                          <a:cs typeface="Roboto"/>
                        </a:rPr>
                        <a:t>83.56</a:t>
                      </a:r>
                    </a:p>
                  </a:txBody>
                  <a:tcPr marL="76200" marR="76200" marT="38100" marB="38100" anchor="ctr">
                    <a:lnL w="0">
                      <a:noFill/>
                    </a:lnL>
                    <a:lnR w="0">
                      <a:noFill/>
                    </a:lnR>
                    <a:lnT w="0">
                      <a:noFill/>
                    </a:lnT>
                    <a:lnB w="0">
                      <a:noFill/>
                    </a:lnB>
                    <a:lnTlToBr w="0">
                      <a:noFill/>
                    </a:lnTlToBr>
                    <a:lnBlToTr w="0">
                      <a:noFill/>
                    </a:lnBlToTr>
                    <a:solidFill>
                      <a:srgbClr val="FFFFFF"/>
                    </a:solidFill>
                  </a:tcPr>
                </a:tc>
                <a:tc>
                  <a:txBody>
                    <a:bodyPr/>
                    <a:lstStyle/>
                    <a:p>
                      <a:pPr algn="ctr"/>
                      <a:r>
                        <a:rPr lang="en-US" sz="2175" dirty="0">
                          <a:solidFill>
                            <a:srgbClr val="202124"/>
                          </a:solidFill>
                          <a:latin typeface="Roboto"/>
                          <a:ea typeface="Roboto"/>
                          <a:cs typeface="Roboto"/>
                        </a:rPr>
                        <a:t>92.01</a:t>
                      </a:r>
                    </a:p>
                  </a:txBody>
                  <a:tcPr marL="76200" marR="76200" marT="38100" marB="38100" anchor="ctr">
                    <a:lnL w="0">
                      <a:noFill/>
                    </a:lnL>
                    <a:lnR w="0">
                      <a:noFill/>
                    </a:lnR>
                    <a:lnT w="0">
                      <a:noFill/>
                    </a:lnT>
                    <a:lnB w="0">
                      <a:noFill/>
                    </a:lnB>
                    <a:lnTlToBr w="0">
                      <a:noFill/>
                    </a:lnTlToBr>
                    <a:lnBlToTr w="0">
                      <a:noFill/>
                    </a:lnBlToTr>
                    <a:solidFill>
                      <a:srgbClr val="FFFFFF"/>
                    </a:solidFill>
                  </a:tcPr>
                </a:tc>
                <a:extLst>
                  <a:ext uri="{0D108BD9-81ED-4DB2-BD59-A6C34878D82A}">
                    <a16:rowId xmlns:a16="http://schemas.microsoft.com/office/drawing/2014/main" val="10006"/>
                  </a:ext>
                </a:extLst>
              </a:tr>
            </a:tbl>
          </a:graphicData>
        </a:graphic>
      </p:graphicFrame>
      <p:sp>
        <p:nvSpPr>
          <p:cNvPr id="11" name="aupro-definition">
            <a:extLst>
              <a:ext uri="{FF2B5EF4-FFF2-40B4-BE49-F238E27FC236}">
                <a16:creationId xmlns:a16="http://schemas.microsoft.com/office/drawing/2014/main" id="{055FB853-8D4A-F143-7DF5-5016746A394B}"/>
              </a:ext>
            </a:extLst>
          </p:cNvPr>
          <p:cNvSpPr>
            <a:spLocks noGrp="1"/>
          </p:cNvSpPr>
          <p:nvPr/>
        </p:nvSpPr>
        <p:spPr>
          <a:xfrm>
            <a:off x="762000" y="5924550"/>
            <a:ext cx="10668000" cy="266700"/>
          </a:xfrm>
          <a:prstGeom prst="rect">
            <a:avLst/>
          </a:prstGeom>
          <a:noFill/>
          <a:ln w="0">
            <a:noFill/>
          </a:ln>
        </p:spPr>
        <p:txBody>
          <a:bodyPr wrap="square" lIns="0" tIns="0" rIns="0" bIns="0" anchor="t">
            <a:noAutofit/>
          </a:bodyPr>
          <a:lstStyle>
            <a:defPPr algn="l">
              <a:defRPr lang="en-US" sz="1575" b="0">
                <a:solidFill>
                  <a:srgbClr val="656B73"/>
                </a:solidFill>
                <a:latin typeface="Roboto"/>
                <a:ea typeface="Roboto"/>
                <a:cs typeface="Roboto"/>
              </a:defRPr>
            </a:defPPr>
            <a:lvl1pPr algn="l">
              <a:defRPr lang="en-US" sz="1575" b="0">
                <a:solidFill>
                  <a:srgbClr val="656B73"/>
                </a:solidFill>
                <a:latin typeface="Roboto"/>
                <a:ea typeface="Roboto"/>
                <a:cs typeface="Roboto"/>
              </a:defRPr>
            </a:lvl1pPr>
            <a:lvl2pPr algn="l">
              <a:defRPr lang="en-US" sz="1575" b="0">
                <a:solidFill>
                  <a:srgbClr val="656B73"/>
                </a:solidFill>
                <a:latin typeface="Roboto"/>
                <a:ea typeface="Roboto"/>
                <a:cs typeface="Roboto"/>
              </a:defRPr>
            </a:lvl2pPr>
            <a:lvl3pPr algn="l">
              <a:defRPr lang="en-US" sz="1575" b="0">
                <a:solidFill>
                  <a:srgbClr val="656B73"/>
                </a:solidFill>
                <a:latin typeface="Roboto"/>
                <a:ea typeface="Roboto"/>
                <a:cs typeface="Roboto"/>
              </a:defRPr>
            </a:lvl3pPr>
            <a:lvl4pPr algn="l">
              <a:defRPr lang="en-US" sz="1575" b="0">
                <a:solidFill>
                  <a:srgbClr val="656B73"/>
                </a:solidFill>
                <a:latin typeface="Roboto"/>
                <a:ea typeface="Roboto"/>
                <a:cs typeface="Roboto"/>
              </a:defRPr>
            </a:lvl4pPr>
            <a:lvl5pPr algn="l">
              <a:defRPr lang="en-US" sz="1575" b="0">
                <a:solidFill>
                  <a:srgbClr val="656B73"/>
                </a:solidFill>
                <a:latin typeface="Roboto"/>
                <a:ea typeface="Roboto"/>
                <a:cs typeface="Roboto"/>
              </a:defRPr>
            </a:lvl5pPr>
            <a:lvl6pPr algn="l">
              <a:defRPr lang="en-US" sz="1575" b="0">
                <a:solidFill>
                  <a:srgbClr val="656B73"/>
                </a:solidFill>
                <a:latin typeface="Roboto"/>
                <a:ea typeface="Roboto"/>
                <a:cs typeface="Roboto"/>
              </a:defRPr>
            </a:lvl6pPr>
            <a:lvl7pPr algn="l">
              <a:defRPr lang="en-US" sz="1575" b="0">
                <a:solidFill>
                  <a:srgbClr val="656B73"/>
                </a:solidFill>
                <a:latin typeface="Roboto"/>
                <a:ea typeface="Roboto"/>
                <a:cs typeface="Roboto"/>
              </a:defRPr>
            </a:lvl7pPr>
            <a:lvl8pPr algn="l">
              <a:defRPr lang="en-US" sz="1575" b="0">
                <a:solidFill>
                  <a:srgbClr val="656B73"/>
                </a:solidFill>
                <a:latin typeface="Roboto"/>
                <a:ea typeface="Roboto"/>
                <a:cs typeface="Roboto"/>
              </a:defRPr>
            </a:lvl8pPr>
            <a:lvl9pPr algn="l">
              <a:defRPr lang="en-US" sz="1575" b="0">
                <a:solidFill>
                  <a:srgbClr val="656B73"/>
                </a:solidFill>
                <a:latin typeface="Roboto"/>
                <a:ea typeface="Roboto"/>
                <a:cs typeface="Roboto"/>
              </a:defRPr>
            </a:lvl9pPr>
          </a:lstStyle>
          <a:p>
            <a:pPr algn="l">
              <a:defRPr lang="en-US" sz="1575" b="0">
                <a:solidFill>
                  <a:srgbClr val="656B73"/>
                </a:solidFill>
                <a:latin typeface="Roboto"/>
                <a:ea typeface="Roboto"/>
                <a:cs typeface="Roboto"/>
              </a:defRPr>
            </a:pPr>
            <a:r>
              <a:rPr lang="en-US" sz="1100" b="0" dirty="0">
                <a:solidFill>
                  <a:srgbClr val="656B73"/>
                </a:solidFill>
                <a:latin typeface="Roboto"/>
                <a:ea typeface="Roboto"/>
                <a:cs typeface="Roboto"/>
              </a:rPr>
              <a:t>AUPRO is normalized up to the false-positive-rate limit stated in each column.</a:t>
            </a:r>
          </a:p>
        </p:txBody>
      </p:sp>
    </p:spTree>
    <p:extLst>
      <p:ext uri="{BB962C8B-B14F-4D97-AF65-F5344CB8AC3E}">
        <p14:creationId xmlns:p14="http://schemas.microsoft.com/office/powerpoint/2010/main" val="20997514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6D02D0-E545-9357-3081-E04B0A194761}"/>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E047581-3586-F681-6ADB-77889F4C3203}"/>
              </a:ext>
            </a:extLst>
          </p:cNvPr>
          <p:cNvSpPr>
            <a:spLocks noGrp="1"/>
          </p:cNvSpPr>
          <p:nvPr>
            <p:ph type="title"/>
          </p:nvPr>
        </p:nvSpPr>
        <p:spPr>
          <a:xfrm>
            <a:off x="838200" y="365125"/>
            <a:ext cx="8384177" cy="835787"/>
          </a:xfrm>
        </p:spPr>
        <p:txBody>
          <a:bodyPr/>
          <a:lstStyle/>
          <a:p>
            <a:r>
              <a:rPr lang="en-US" noProof="0" dirty="0">
                <a:solidFill>
                  <a:srgbClr val="822433"/>
                </a:solidFill>
              </a:rPr>
              <a:t>Extra: U-Net </a:t>
            </a:r>
          </a:p>
        </p:txBody>
      </p:sp>
      <p:sp>
        <p:nvSpPr>
          <p:cNvPr id="4" name="Google Shape;102;p14">
            <a:extLst>
              <a:ext uri="{FF2B5EF4-FFF2-40B4-BE49-F238E27FC236}">
                <a16:creationId xmlns:a16="http://schemas.microsoft.com/office/drawing/2014/main" id="{3814E92D-82A6-F7D4-C7A7-940BF86D40D8}"/>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46</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BF563456-0476-12F2-3F61-AAF23C874DE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BB3AF82F-29C5-2BD8-921E-71DCC5ABC51E}"/>
              </a:ext>
            </a:extLst>
          </p:cNvPr>
          <p:cNvPicPr>
            <a:picLocks noChangeAspect="1"/>
          </p:cNvPicPr>
          <p:nvPr/>
        </p:nvPicPr>
        <p:blipFill>
          <a:blip r:embed="rId3"/>
          <a:stretch/>
        </p:blipFill>
        <p:spPr>
          <a:xfrm>
            <a:off x="2600358" y="1438275"/>
            <a:ext cx="6991283" cy="4762500"/>
          </a:xfrm>
          <a:prstGeom prst="rect">
            <a:avLst/>
          </a:prstGeom>
        </p:spPr>
      </p:pic>
    </p:spTree>
    <p:extLst>
      <p:ext uri="{BB962C8B-B14F-4D97-AF65-F5344CB8AC3E}">
        <p14:creationId xmlns:p14="http://schemas.microsoft.com/office/powerpoint/2010/main" val="31677256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9F3511-D1DD-FA0C-C79E-167C3D246316}"/>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740AD247-09FE-5ABB-19DA-17F5EF83757F}"/>
              </a:ext>
            </a:extLst>
          </p:cNvPr>
          <p:cNvSpPr>
            <a:spLocks noGrp="1"/>
          </p:cNvSpPr>
          <p:nvPr>
            <p:ph type="title"/>
          </p:nvPr>
        </p:nvSpPr>
        <p:spPr>
          <a:xfrm>
            <a:off x="838200" y="365125"/>
            <a:ext cx="8384177" cy="835787"/>
          </a:xfrm>
        </p:spPr>
        <p:txBody>
          <a:bodyPr/>
          <a:lstStyle/>
          <a:p>
            <a:r>
              <a:rPr lang="en-US" noProof="0" dirty="0" err="1">
                <a:solidFill>
                  <a:srgbClr val="822433"/>
                </a:solidFill>
              </a:rPr>
              <a:t>Extr</a:t>
            </a:r>
            <a:r>
              <a:rPr lang="en-US" dirty="0">
                <a:solidFill>
                  <a:srgbClr val="822433"/>
                </a:solidFill>
              </a:rPr>
              <a:t>a: DeepLabV3</a:t>
            </a:r>
            <a:endParaRPr lang="en-US" noProof="0" dirty="0">
              <a:solidFill>
                <a:srgbClr val="822433"/>
              </a:solidFill>
            </a:endParaRPr>
          </a:p>
        </p:txBody>
      </p:sp>
      <p:sp>
        <p:nvSpPr>
          <p:cNvPr id="4" name="Google Shape;102;p14">
            <a:extLst>
              <a:ext uri="{FF2B5EF4-FFF2-40B4-BE49-F238E27FC236}">
                <a16:creationId xmlns:a16="http://schemas.microsoft.com/office/drawing/2014/main" id="{52E03328-F42E-C9B4-E7AC-E0AB13B4B2E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47</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938F5022-DB8F-AEBF-19DB-5D9E5E5F9D96}"/>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001BB378-BE79-2481-F943-5EDF7710FDE7}"/>
              </a:ext>
            </a:extLst>
          </p:cNvPr>
          <p:cNvPicPr>
            <a:picLocks noChangeAspect="1"/>
          </p:cNvPicPr>
          <p:nvPr/>
        </p:nvPicPr>
        <p:blipFill>
          <a:blip r:embed="rId3"/>
          <a:stretch/>
        </p:blipFill>
        <p:spPr>
          <a:xfrm>
            <a:off x="571500" y="2226296"/>
            <a:ext cx="11049000" cy="3186458"/>
          </a:xfrm>
          <a:prstGeom prst="rect">
            <a:avLst/>
          </a:prstGeom>
        </p:spPr>
      </p:pic>
    </p:spTree>
    <p:extLst>
      <p:ext uri="{BB962C8B-B14F-4D97-AF65-F5344CB8AC3E}">
        <p14:creationId xmlns:p14="http://schemas.microsoft.com/office/powerpoint/2010/main" val="3049428647"/>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C0F211-7C3F-90C4-1D6B-1C20D724A269}"/>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09F5608C-8456-9564-36B5-4F72F60A9EA6}"/>
              </a:ext>
            </a:extLst>
          </p:cNvPr>
          <p:cNvSpPr>
            <a:spLocks noGrp="1"/>
          </p:cNvSpPr>
          <p:nvPr>
            <p:ph type="title"/>
          </p:nvPr>
        </p:nvSpPr>
        <p:spPr>
          <a:xfrm>
            <a:off x="838200" y="365125"/>
            <a:ext cx="8384177" cy="835787"/>
          </a:xfrm>
        </p:spPr>
        <p:txBody>
          <a:bodyPr/>
          <a:lstStyle/>
          <a:p>
            <a:r>
              <a:rPr lang="en-US" noProof="0" dirty="0">
                <a:solidFill>
                  <a:srgbClr val="822433"/>
                </a:solidFill>
              </a:rPr>
              <a:t>Extra: DeepLabV3+</a:t>
            </a:r>
          </a:p>
        </p:txBody>
      </p:sp>
      <p:sp>
        <p:nvSpPr>
          <p:cNvPr id="4" name="Google Shape;102;p14">
            <a:extLst>
              <a:ext uri="{FF2B5EF4-FFF2-40B4-BE49-F238E27FC236}">
                <a16:creationId xmlns:a16="http://schemas.microsoft.com/office/drawing/2014/main" id="{8D4B9581-33BD-7008-C8B2-389412B2F8C0}"/>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48</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843571E9-FD88-1B37-0532-EFA46E485EFA}"/>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A3E1238F-D644-8C0A-CE41-6BDE466791B0}"/>
              </a:ext>
            </a:extLst>
          </p:cNvPr>
          <p:cNvPicPr>
            <a:picLocks noChangeAspect="1"/>
          </p:cNvPicPr>
          <p:nvPr/>
        </p:nvPicPr>
        <p:blipFill>
          <a:blip r:embed="rId3"/>
          <a:stretch/>
        </p:blipFill>
        <p:spPr>
          <a:xfrm>
            <a:off x="1589630" y="1438275"/>
            <a:ext cx="9012740" cy="4762500"/>
          </a:xfrm>
          <a:prstGeom prst="rect">
            <a:avLst/>
          </a:prstGeom>
        </p:spPr>
      </p:pic>
    </p:spTree>
    <p:extLst>
      <p:ext uri="{BB962C8B-B14F-4D97-AF65-F5344CB8AC3E}">
        <p14:creationId xmlns:p14="http://schemas.microsoft.com/office/powerpoint/2010/main" val="10093841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7D0187-F69B-6665-49D9-A7EDCB180E30}"/>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D1C9967-C42C-498E-EAC6-97F91760CF4D}"/>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SegFormer</a:t>
            </a:r>
            <a:endParaRPr lang="en-US" noProof="0" dirty="0">
              <a:solidFill>
                <a:srgbClr val="822433"/>
              </a:solidFill>
            </a:endParaRPr>
          </a:p>
        </p:txBody>
      </p:sp>
      <p:sp>
        <p:nvSpPr>
          <p:cNvPr id="4" name="Google Shape;102;p14">
            <a:extLst>
              <a:ext uri="{FF2B5EF4-FFF2-40B4-BE49-F238E27FC236}">
                <a16:creationId xmlns:a16="http://schemas.microsoft.com/office/drawing/2014/main" id="{BC8913E2-29FA-675F-9A15-46B860C04EFB}"/>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49</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D99CB57-9701-A71C-88AF-A2A42CBF04D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9ED6DC49-0F3E-37EC-0613-49FCC70D3DD4}"/>
              </a:ext>
            </a:extLst>
          </p:cNvPr>
          <p:cNvPicPr>
            <a:picLocks noChangeAspect="1"/>
          </p:cNvPicPr>
          <p:nvPr/>
        </p:nvPicPr>
        <p:blipFill>
          <a:blip r:embed="rId3"/>
          <a:stretch/>
        </p:blipFill>
        <p:spPr>
          <a:xfrm>
            <a:off x="1534184" y="1438275"/>
            <a:ext cx="9123632" cy="4762500"/>
          </a:xfrm>
          <a:prstGeom prst="rect">
            <a:avLst/>
          </a:prstGeom>
        </p:spPr>
      </p:pic>
    </p:spTree>
    <p:extLst>
      <p:ext uri="{BB962C8B-B14F-4D97-AF65-F5344CB8AC3E}">
        <p14:creationId xmlns:p14="http://schemas.microsoft.com/office/powerpoint/2010/main" val="323977518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F2258-6651-17A4-609B-B0D1966426BE}"/>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9E5FD825-66B2-2D5E-16ED-1B56C6A79B6A}"/>
              </a:ext>
            </a:extLst>
          </p:cNvPr>
          <p:cNvSpPr>
            <a:spLocks noGrp="1"/>
          </p:cNvSpPr>
          <p:nvPr>
            <p:ph type="title"/>
          </p:nvPr>
        </p:nvSpPr>
        <p:spPr>
          <a:xfrm>
            <a:off x="838200" y="365125"/>
            <a:ext cx="8384177" cy="835787"/>
          </a:xfrm>
        </p:spPr>
        <p:txBody>
          <a:bodyPr/>
          <a:lstStyle/>
          <a:p>
            <a:r>
              <a:rPr lang="en-US" noProof="0" dirty="0">
                <a:solidFill>
                  <a:srgbClr val="822433"/>
                </a:solidFill>
              </a:rPr>
              <a:t>Extra: </a:t>
            </a:r>
            <a:r>
              <a:rPr lang="en-US" noProof="0" dirty="0" err="1">
                <a:solidFill>
                  <a:srgbClr val="822433"/>
                </a:solidFill>
              </a:rPr>
              <a:t>LCNet</a:t>
            </a:r>
            <a:endParaRPr lang="en-US" noProof="0" dirty="0">
              <a:solidFill>
                <a:srgbClr val="822433"/>
              </a:solidFill>
            </a:endParaRPr>
          </a:p>
        </p:txBody>
      </p:sp>
      <p:sp>
        <p:nvSpPr>
          <p:cNvPr id="4" name="Google Shape;102;p14">
            <a:extLst>
              <a:ext uri="{FF2B5EF4-FFF2-40B4-BE49-F238E27FC236}">
                <a16:creationId xmlns:a16="http://schemas.microsoft.com/office/drawing/2014/main" id="{318151EA-E854-867F-F1B4-052717000335}"/>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50</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A82A961C-854B-6626-255C-ABD10EF893E8}"/>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7" name="Immagine 6">
            <a:extLst>
              <a:ext uri="{FF2B5EF4-FFF2-40B4-BE49-F238E27FC236}">
                <a16:creationId xmlns:a16="http://schemas.microsoft.com/office/drawing/2014/main" id="{6EEE0D7E-32D6-205D-4583-18F9BE6A560B}"/>
              </a:ext>
            </a:extLst>
          </p:cNvPr>
          <p:cNvPicPr>
            <a:picLocks noChangeAspect="1"/>
          </p:cNvPicPr>
          <p:nvPr/>
        </p:nvPicPr>
        <p:blipFill>
          <a:blip r:embed="rId3"/>
          <a:stretch/>
        </p:blipFill>
        <p:spPr>
          <a:xfrm>
            <a:off x="765464" y="2123554"/>
            <a:ext cx="11049000" cy="3225687"/>
          </a:xfrm>
          <a:prstGeom prst="rect">
            <a:avLst/>
          </a:prstGeom>
        </p:spPr>
      </p:pic>
    </p:spTree>
    <p:extLst>
      <p:ext uri="{BB962C8B-B14F-4D97-AF65-F5344CB8AC3E}">
        <p14:creationId xmlns:p14="http://schemas.microsoft.com/office/powerpoint/2010/main" val="140963931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A3F61-D5E0-9079-A302-0EAFF8BD567D}"/>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425F778F-14F1-7113-DB49-1A60DA3E5092}"/>
              </a:ext>
            </a:extLst>
          </p:cNvPr>
          <p:cNvSpPr>
            <a:spLocks noGrp="1"/>
          </p:cNvSpPr>
          <p:nvPr>
            <p:ph type="title"/>
          </p:nvPr>
        </p:nvSpPr>
        <p:spPr>
          <a:xfrm>
            <a:off x="838200" y="365125"/>
            <a:ext cx="8384177" cy="835787"/>
          </a:xfrm>
        </p:spPr>
        <p:txBody>
          <a:bodyPr/>
          <a:lstStyle/>
          <a:p>
            <a:r>
              <a:rPr lang="en-US" noProof="0" dirty="0">
                <a:solidFill>
                  <a:srgbClr val="822433"/>
                </a:solidFill>
              </a:rPr>
              <a:t>Extra: PatchCore</a:t>
            </a:r>
          </a:p>
        </p:txBody>
      </p:sp>
      <p:sp>
        <p:nvSpPr>
          <p:cNvPr id="4" name="Google Shape;102;p14">
            <a:extLst>
              <a:ext uri="{FF2B5EF4-FFF2-40B4-BE49-F238E27FC236}">
                <a16:creationId xmlns:a16="http://schemas.microsoft.com/office/drawing/2014/main" id="{CAFB0807-BFE8-DE04-9021-52C8600F6519}"/>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51</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F6A1CBD9-C8EB-C657-22D5-73C285D5C65B}"/>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8525E26E-6AD5-8F35-2E07-127C22FA4D24}"/>
              </a:ext>
            </a:extLst>
          </p:cNvPr>
          <p:cNvPicPr>
            <a:picLocks noChangeAspect="1"/>
          </p:cNvPicPr>
          <p:nvPr/>
        </p:nvPicPr>
        <p:blipFill>
          <a:blip r:embed="rId3"/>
          <a:stretch/>
        </p:blipFill>
        <p:spPr>
          <a:xfrm>
            <a:off x="571500" y="2334739"/>
            <a:ext cx="11049000" cy="2969571"/>
          </a:xfrm>
          <a:prstGeom prst="rect">
            <a:avLst/>
          </a:prstGeom>
        </p:spPr>
      </p:pic>
    </p:spTree>
    <p:extLst>
      <p:ext uri="{BB962C8B-B14F-4D97-AF65-F5344CB8AC3E}">
        <p14:creationId xmlns:p14="http://schemas.microsoft.com/office/powerpoint/2010/main" val="21515754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18D1C2-0E97-2699-60B4-4D177003D783}"/>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F308978D-0EEB-A747-F315-9E622874267E}"/>
              </a:ext>
            </a:extLst>
          </p:cNvPr>
          <p:cNvSpPr>
            <a:spLocks noGrp="1"/>
          </p:cNvSpPr>
          <p:nvPr>
            <p:ph type="title"/>
          </p:nvPr>
        </p:nvSpPr>
        <p:spPr>
          <a:xfrm>
            <a:off x="838200" y="365125"/>
            <a:ext cx="8384177" cy="835787"/>
          </a:xfrm>
        </p:spPr>
        <p:txBody>
          <a:bodyPr/>
          <a:lstStyle/>
          <a:p>
            <a:r>
              <a:rPr lang="en-US" noProof="0" dirty="0">
                <a:solidFill>
                  <a:srgbClr val="822433"/>
                </a:solidFill>
              </a:rPr>
              <a:t>Extra: EfficientAD</a:t>
            </a:r>
          </a:p>
        </p:txBody>
      </p:sp>
      <p:sp>
        <p:nvSpPr>
          <p:cNvPr id="4" name="Google Shape;102;p14">
            <a:extLst>
              <a:ext uri="{FF2B5EF4-FFF2-40B4-BE49-F238E27FC236}">
                <a16:creationId xmlns:a16="http://schemas.microsoft.com/office/drawing/2014/main" id="{2047AA39-A9A9-2E53-E4C7-E3EFBA0B896E}"/>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52</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09275FAD-8C33-F657-6922-F4D1792B745C}"/>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0394FAD-08B2-9BB2-3E21-83B9954E0C21}"/>
              </a:ext>
            </a:extLst>
          </p:cNvPr>
          <p:cNvPicPr>
            <a:picLocks noChangeAspect="1"/>
          </p:cNvPicPr>
          <p:nvPr/>
        </p:nvPicPr>
        <p:blipFill>
          <a:blip r:embed="rId3"/>
          <a:stretch/>
        </p:blipFill>
        <p:spPr>
          <a:xfrm>
            <a:off x="571500" y="2538994"/>
            <a:ext cx="11049000" cy="2561062"/>
          </a:xfrm>
          <a:prstGeom prst="rect">
            <a:avLst/>
          </a:prstGeom>
        </p:spPr>
      </p:pic>
    </p:spTree>
    <p:extLst>
      <p:ext uri="{BB962C8B-B14F-4D97-AF65-F5344CB8AC3E}">
        <p14:creationId xmlns:p14="http://schemas.microsoft.com/office/powerpoint/2010/main" val="207165432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96DC7E-EEF5-CAE0-4F52-26D68CF267B8}"/>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5E06BC20-3C48-224A-75B3-F3208992D08E}"/>
              </a:ext>
            </a:extLst>
          </p:cNvPr>
          <p:cNvSpPr>
            <a:spLocks noGrp="1"/>
          </p:cNvSpPr>
          <p:nvPr>
            <p:ph type="title"/>
          </p:nvPr>
        </p:nvSpPr>
        <p:spPr>
          <a:xfrm>
            <a:off x="838200" y="365125"/>
            <a:ext cx="8384177" cy="835787"/>
          </a:xfrm>
        </p:spPr>
        <p:txBody>
          <a:bodyPr/>
          <a:lstStyle/>
          <a:p>
            <a:r>
              <a:rPr lang="en-US" noProof="0" dirty="0">
                <a:solidFill>
                  <a:srgbClr val="822433"/>
                </a:solidFill>
              </a:rPr>
              <a:t>Extra</a:t>
            </a:r>
            <a:r>
              <a:rPr lang="en-US" dirty="0">
                <a:solidFill>
                  <a:srgbClr val="822433"/>
                </a:solidFill>
              </a:rPr>
              <a:t>: </a:t>
            </a:r>
            <a:r>
              <a:rPr lang="en-US" dirty="0" err="1">
                <a:solidFill>
                  <a:srgbClr val="822433"/>
                </a:solidFill>
              </a:rPr>
              <a:t>SuperSimpleNet</a:t>
            </a:r>
            <a:endParaRPr lang="en-US" noProof="0" dirty="0">
              <a:solidFill>
                <a:srgbClr val="822433"/>
              </a:solidFill>
            </a:endParaRPr>
          </a:p>
        </p:txBody>
      </p:sp>
      <p:sp>
        <p:nvSpPr>
          <p:cNvPr id="4" name="Google Shape;102;p14">
            <a:extLst>
              <a:ext uri="{FF2B5EF4-FFF2-40B4-BE49-F238E27FC236}">
                <a16:creationId xmlns:a16="http://schemas.microsoft.com/office/drawing/2014/main" id="{726F33F8-CB1F-F61C-D755-B8E8F0884C1A}"/>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53</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CCD0A07B-88E3-59CC-D1AD-2A5BB948B7CF}"/>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D61BCDEC-5091-F971-B25C-B47C3255D406}"/>
              </a:ext>
            </a:extLst>
          </p:cNvPr>
          <p:cNvPicPr>
            <a:picLocks noChangeAspect="1"/>
          </p:cNvPicPr>
          <p:nvPr/>
        </p:nvPicPr>
        <p:blipFill>
          <a:blip r:embed="rId3"/>
          <a:stretch/>
        </p:blipFill>
        <p:spPr>
          <a:xfrm>
            <a:off x="1131755" y="1438275"/>
            <a:ext cx="9928490" cy="4762500"/>
          </a:xfrm>
          <a:prstGeom prst="rect">
            <a:avLst/>
          </a:prstGeom>
        </p:spPr>
      </p:pic>
    </p:spTree>
    <p:extLst>
      <p:ext uri="{BB962C8B-B14F-4D97-AF65-F5344CB8AC3E}">
        <p14:creationId xmlns:p14="http://schemas.microsoft.com/office/powerpoint/2010/main" val="1800157719"/>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867D8-00B6-6514-E4C1-A54B2AF62B34}"/>
            </a:ext>
          </a:extLst>
        </p:cNvPr>
        <p:cNvGrpSpPr/>
        <p:nvPr/>
      </p:nvGrpSpPr>
      <p:grpSpPr>
        <a:xfrm>
          <a:off x="0" y="0"/>
          <a:ext cx="0" cy="0"/>
          <a:chOff x="0" y="0"/>
          <a:chExt cx="0" cy="0"/>
        </a:xfrm>
      </p:grpSpPr>
      <p:sp>
        <p:nvSpPr>
          <p:cNvPr id="2" name="Titolo 1">
            <a:extLst>
              <a:ext uri="{FF2B5EF4-FFF2-40B4-BE49-F238E27FC236}">
                <a16:creationId xmlns:a16="http://schemas.microsoft.com/office/drawing/2014/main" id="{8E713CB4-D484-5AC4-B62D-7D85E1523F04}"/>
              </a:ext>
            </a:extLst>
          </p:cNvPr>
          <p:cNvSpPr>
            <a:spLocks noGrp="1"/>
          </p:cNvSpPr>
          <p:nvPr>
            <p:ph type="title"/>
          </p:nvPr>
        </p:nvSpPr>
        <p:spPr>
          <a:xfrm>
            <a:off x="838200" y="365125"/>
            <a:ext cx="8384177" cy="835787"/>
          </a:xfrm>
        </p:spPr>
        <p:txBody>
          <a:bodyPr/>
          <a:lstStyle/>
          <a:p>
            <a:r>
              <a:rPr lang="en-US" noProof="0" dirty="0">
                <a:solidFill>
                  <a:srgbClr val="822433"/>
                </a:solidFill>
              </a:rPr>
              <a:t>Extra: TinyGLASS</a:t>
            </a:r>
          </a:p>
        </p:txBody>
      </p:sp>
      <p:sp>
        <p:nvSpPr>
          <p:cNvPr id="4" name="Google Shape;102;p14">
            <a:extLst>
              <a:ext uri="{FF2B5EF4-FFF2-40B4-BE49-F238E27FC236}">
                <a16:creationId xmlns:a16="http://schemas.microsoft.com/office/drawing/2014/main" id="{F4A11181-F7FA-9D84-A215-23FD578CA981}"/>
              </a:ext>
            </a:extLst>
          </p:cNvPr>
          <p:cNvSpPr txBox="1">
            <a:spLocks noGrp="1"/>
          </p:cNvSpPr>
          <p:nvPr>
            <p:ph type="sldNum" idx="12"/>
          </p:nvPr>
        </p:nvSpPr>
        <p:spPr>
          <a:xfrm>
            <a:off x="10924032" y="6461760"/>
            <a:ext cx="1272087" cy="396240"/>
          </a:xfrm>
          <a:prstGeom prst="rect">
            <a:avLst/>
          </a:prstGeom>
          <a:noFill/>
          <a:ln>
            <a:noFill/>
          </a:ln>
        </p:spPr>
        <p:txBody>
          <a:bodyPr spcFirstLastPara="1" wrap="square" lIns="91425" tIns="45700" rIns="91425" bIns="45700" anchor="ctr" anchorCtr="0">
            <a:noAutofit/>
          </a:bodyPr>
          <a:lstStyle/>
          <a:p>
            <a:pPr marL="0" lvl="0" indent="0" algn="ctr" rtl="0">
              <a:spcBef>
                <a:spcPts val="0"/>
              </a:spcBef>
              <a:spcAft>
                <a:spcPts val="0"/>
              </a:spcAft>
              <a:buNone/>
            </a:pPr>
            <a:fld id="{00000000-1234-1234-1234-123412341234}" type="slidenum">
              <a:rPr lang="en-US" sz="1000" noProof="0" smtClean="0">
                <a:solidFill>
                  <a:srgbClr val="822433"/>
                </a:solidFill>
                <a:latin typeface="Roboto" panose="02000000000000000000" pitchFamily="2" charset="0"/>
                <a:ea typeface="Roboto" panose="02000000000000000000" pitchFamily="2" charset="0"/>
              </a:rPr>
              <a:pPr marL="0" lvl="0" indent="0" algn="ctr" rtl="0">
                <a:spcBef>
                  <a:spcPts val="0"/>
                </a:spcBef>
                <a:spcAft>
                  <a:spcPts val="0"/>
                </a:spcAft>
                <a:buNone/>
              </a:pPr>
              <a:t>54</a:t>
            </a:fld>
            <a:r>
              <a:rPr lang="en-US" sz="1000" noProof="0" dirty="0">
                <a:solidFill>
                  <a:srgbClr val="822433"/>
                </a:solidFill>
                <a:latin typeface="Roboto" panose="02000000000000000000" pitchFamily="2" charset="0"/>
                <a:ea typeface="Roboto" panose="02000000000000000000" pitchFamily="2" charset="0"/>
              </a:rPr>
              <a:t>/25</a:t>
            </a:r>
          </a:p>
        </p:txBody>
      </p:sp>
      <p:sp>
        <p:nvSpPr>
          <p:cNvPr id="5" name="Google Shape;103;p14">
            <a:extLst>
              <a:ext uri="{FF2B5EF4-FFF2-40B4-BE49-F238E27FC236}">
                <a16:creationId xmlns:a16="http://schemas.microsoft.com/office/drawing/2014/main" id="{504A17F8-E2ED-6EF8-07F5-9ABB93526B54}"/>
              </a:ext>
            </a:extLst>
          </p:cNvPr>
          <p:cNvSpPr txBox="1">
            <a:spLocks noGrp="1"/>
          </p:cNvSpPr>
          <p:nvPr>
            <p:ph type="ftr" idx="11"/>
          </p:nvPr>
        </p:nvSpPr>
        <p:spPr>
          <a:xfrm>
            <a:off x="4119" y="6461660"/>
            <a:ext cx="11353800" cy="396240"/>
          </a:xfrm>
          <a:prstGeom prst="rect">
            <a:avLst/>
          </a:prstGeom>
          <a:noFill/>
          <a:ln>
            <a:noFill/>
          </a:ln>
        </p:spPr>
        <p:txBody>
          <a:bodyPr spcFirstLastPara="1" wrap="square" lIns="91425" tIns="45700" rIns="91425" bIns="45700" anchor="ctr" anchorCtr="0">
            <a:noAutofit/>
          </a:bodyPr>
          <a:lstStyle/>
          <a:p>
            <a:pPr lvl="0" algn="l">
              <a:buClr>
                <a:schemeClr val="dk1"/>
              </a:buClr>
            </a:pPr>
            <a:r>
              <a:rPr lang="en-US" sz="1000" noProof="0" dirty="0">
                <a:solidFill>
                  <a:srgbClr val="822433"/>
                </a:solidFill>
                <a:latin typeface="Roboto" panose="02000000000000000000" pitchFamily="2" charset="0"/>
                <a:ea typeface="Roboto" panose="02000000000000000000" pitchFamily="2" charset="0"/>
              </a:rPr>
              <a:t>               Lightweight Scene Understanding and Synthetic Data-Driven Damage Inspection for Martian Rovers                                                                     27/10/2026</a:t>
            </a:r>
          </a:p>
        </p:txBody>
      </p:sp>
      <p:pic>
        <p:nvPicPr>
          <p:cNvPr id="6" name="Immagine 5">
            <a:extLst>
              <a:ext uri="{FF2B5EF4-FFF2-40B4-BE49-F238E27FC236}">
                <a16:creationId xmlns:a16="http://schemas.microsoft.com/office/drawing/2014/main" id="{E6E77152-B182-6BC5-BDF5-7670A09C8496}"/>
              </a:ext>
            </a:extLst>
          </p:cNvPr>
          <p:cNvPicPr>
            <a:picLocks noChangeAspect="1"/>
          </p:cNvPicPr>
          <p:nvPr/>
        </p:nvPicPr>
        <p:blipFill>
          <a:blip r:embed="rId3"/>
          <a:stretch/>
        </p:blipFill>
        <p:spPr>
          <a:xfrm>
            <a:off x="571500" y="2262037"/>
            <a:ext cx="11049000" cy="3114975"/>
          </a:xfrm>
          <a:prstGeom prst="rect">
            <a:avLst/>
          </a:prstGeom>
        </p:spPr>
      </p:pic>
    </p:spTree>
    <p:extLst>
      <p:ext uri="{BB962C8B-B14F-4D97-AF65-F5344CB8AC3E}">
        <p14:creationId xmlns:p14="http://schemas.microsoft.com/office/powerpoint/2010/main" val="4005992787"/>
      </p:ext>
    </p:extLst>
  </p:cSld>
  <p:clrMapOvr>
    <a:masterClrMapping/>
  </p:clrMapOvr>
</p:sld>
</file>

<file path=ppt/theme/theme1.xml><?xml version="1.0" encoding="utf-8"?>
<a:theme xmlns:a="http://schemas.openxmlformats.org/drawingml/2006/main" name="Tema di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i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428"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4DBA696D-3D8F-4102-B0B0-DDBF0E9F0366}">
  <we:reference id="WA200004052" version="1.0.0.2" store="Omex" storeType="OMEX"/>
  <we:alternateReferences>
    <we:reference id="WA200004052" version="1.0.0.2" store="WA200004052"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2426</TotalTime>
  <Words>9402</Words>
  <Application>Microsoft Office PowerPoint</Application>
  <PresentationFormat>Widescreen</PresentationFormat>
  <Paragraphs>1164</Paragraphs>
  <Slides>54</Slides>
  <Notes>54</Notes>
  <HiddenSlides>0</HiddenSlides>
  <MMClips>0</MMClips>
  <ScaleCrop>false</ScaleCrop>
  <HeadingPairs>
    <vt:vector size="6" baseType="variant">
      <vt:variant>
        <vt:lpstr>Caratteri utilizzati</vt:lpstr>
      </vt:variant>
      <vt:variant>
        <vt:i4>4</vt:i4>
      </vt:variant>
      <vt:variant>
        <vt:lpstr>Tema</vt:lpstr>
      </vt:variant>
      <vt:variant>
        <vt:i4>1</vt:i4>
      </vt:variant>
      <vt:variant>
        <vt:lpstr>Titoli diapositive</vt:lpstr>
      </vt:variant>
      <vt:variant>
        <vt:i4>54</vt:i4>
      </vt:variant>
    </vt:vector>
  </HeadingPairs>
  <TitlesOfParts>
    <vt:vector size="59" baseType="lpstr">
      <vt:lpstr>Aptos</vt:lpstr>
      <vt:lpstr>Arial</vt:lpstr>
      <vt:lpstr>Calibri</vt:lpstr>
      <vt:lpstr>Roboto</vt:lpstr>
      <vt:lpstr>Tema di Office</vt:lpstr>
      <vt:lpstr>Lightweight Scene Understanding and Synthetic Data-Driven Damage Inspection for Martian Rovers</vt:lpstr>
      <vt:lpstr>Introduction</vt:lpstr>
      <vt:lpstr>The challenge</vt:lpstr>
      <vt:lpstr>The challenge</vt:lpstr>
      <vt:lpstr>Research objective</vt:lpstr>
      <vt:lpstr>Lightweight Scene Understanding</vt:lpstr>
      <vt:lpstr>Semantic Segmentation</vt:lpstr>
      <vt:lpstr>Datasets</vt:lpstr>
      <vt:lpstr>Model Architectures</vt:lpstr>
      <vt:lpstr>Training procedure</vt:lpstr>
      <vt:lpstr>Synthetic Dataset Generation</vt:lpstr>
      <vt:lpstr>Design Requirements</vt:lpstr>
      <vt:lpstr>Blender Scene</vt:lpstr>
      <vt:lpstr>Synthetic Damage</vt:lpstr>
      <vt:lpstr>Domain Randomization</vt:lpstr>
      <vt:lpstr>Dataset Composition</vt:lpstr>
      <vt:lpstr>Synthetic Damage Inspection</vt:lpstr>
      <vt:lpstr>Anomaly Detection</vt:lpstr>
      <vt:lpstr>Model Architectures</vt:lpstr>
      <vt:lpstr>Model Architectures</vt:lpstr>
      <vt:lpstr>Preprocessing</vt:lpstr>
      <vt:lpstr>Results</vt:lpstr>
      <vt:lpstr>Semantic Segmentation: Quality</vt:lpstr>
      <vt:lpstr>Cross-generalization</vt:lpstr>
      <vt:lpstr>Semantic Segmentation: Efficiency</vt:lpstr>
      <vt:lpstr>Damage Inspection: Detection</vt:lpstr>
      <vt:lpstr>Damage Inspection: Efficiency</vt:lpstr>
      <vt:lpstr>Damage Inspection: Localization</vt:lpstr>
      <vt:lpstr>Conclusions</vt:lpstr>
      <vt:lpstr>Conclusions</vt:lpstr>
      <vt:lpstr>Future Work</vt:lpstr>
      <vt:lpstr>Thank you for your attention</vt:lpstr>
      <vt:lpstr>Presentazione standard di PowerPoint</vt:lpstr>
      <vt:lpstr>Presentazione standard di PowerPoint</vt:lpstr>
      <vt:lpstr>Presentazione standard di PowerPoint</vt:lpstr>
      <vt:lpstr>Presentazione standard di PowerPoint</vt:lpstr>
      <vt:lpstr>Extra: variations</vt:lpstr>
      <vt:lpstr>Extra: variations</vt:lpstr>
      <vt:lpstr>Extra: Loss function ablation</vt:lpstr>
      <vt:lpstr>Extra: Preprocessing</vt:lpstr>
      <vt:lpstr>Extra: SegFormer IoU per class</vt:lpstr>
      <vt:lpstr>Extra: Mars-Bench</vt:lpstr>
      <vt:lpstr>Extra: Full Quantization results</vt:lpstr>
      <vt:lpstr>Extra: Anomaly Detection Results </vt:lpstr>
      <vt:lpstr>Extra: Localization Results</vt:lpstr>
      <vt:lpstr>Extra: U-Net </vt:lpstr>
      <vt:lpstr>Extra: DeepLabV3</vt:lpstr>
      <vt:lpstr>Extra: DeepLabV3+</vt:lpstr>
      <vt:lpstr>Extra: SegFormer</vt:lpstr>
      <vt:lpstr>Extra: LCNet</vt:lpstr>
      <vt:lpstr>Extra: PatchCore</vt:lpstr>
      <vt:lpstr>Extra: EfficientAD</vt:lpstr>
      <vt:lpstr>Extra: SuperSimpleNet</vt:lpstr>
      <vt:lpstr>Extra: TinyGLASS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Presentazione standard di PowerPoint</dc:title>
  <dc:creator>Marco Raoul Marini</dc:creator>
  <cp:lastModifiedBy>Daniele Venturini</cp:lastModifiedBy>
  <cp:revision>32</cp:revision>
  <dcterms:created xsi:type="dcterms:W3CDTF">2022-06-29T08:38:04Z</dcterms:created>
  <dcterms:modified xsi:type="dcterms:W3CDTF">2026-10-25T15:33:51Z</dcterms:modified>
</cp:coreProperties>
</file>